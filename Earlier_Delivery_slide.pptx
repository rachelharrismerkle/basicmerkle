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346" r:id="rId121"/>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121" Type="http://schemas.openxmlformats.org/officeDocument/2006/relationships/slide" Target="slides/slide9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1.jpg"/></Relationships>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Earlier delivery and talent involvement in major pursuits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EARLIER DELIVERY &amp; TALENT IN PURSUITS · DETAIL · DDM QUICK WIN EXAMPLE</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0">
                <a:solidFill>
                  <a:srgbClr val="D6D6DF"/>
                </a:solidFill>
              </a:rPr>
              <a:t>Missy Foristall, Deana Derocha</a:t>
            </a:r>
          </a:p>
        </p:txBody>
      </p:sp>
      <p:sp>
        <p:nvSpPr>
          <p:cNvPr id="8" name="TextBox 7"/>
          <p:cNvSpPr txBox="1"/>
          <p:nvPr/>
        </p:nvSpPr>
        <p:spPr>
          <a:xfrm>
            <a:off x="457200" y="1140000"/>
            <a:ext cx="11277600" cy="594360"/>
          </a:xfrm>
          <a:prstGeom prst="rect">
            <a:avLst/>
          </a:prstGeom>
          <a:noFill/>
        </p:spPr>
        <p:txBody>
          <a:bodyPr wrap="square" lIns="0" rIns="0" tIns="0" bIns="0" anchor="t">
            <a:spAutoFit/>
          </a:bodyPr>
          <a:lstStyle/>
          <a:p>
            <a:pPr algn="l">
              <a:spcBef>
                <a:spcPts val="400"/>
              </a:spcBef>
              <a:spcAft>
                <a:spcPts val="500"/>
              </a:spcAft>
            </a:pPr>
            <a:r>
              <a:rPr sz="1100" b="1" i="0">
                <a:solidFill>
                  <a:srgbClr val="000000"/>
                </a:solidFill>
              </a:rPr>
              <a:t>By bringing SME expertise into upfront deal evaluation, we can increase our win rate on the deal volume we're already capturing. Quick execution is essential to drive Q4 and 2027 revenue.</a:t>
            </a:r>
          </a:p>
        </p:txBody>
      </p:sp>
      <p:sp>
        <p:nvSpPr>
          <p:cNvPr id="9" name="Rounded Rectangle 8"/>
          <p:cNvSpPr/>
          <p:nvPr/>
        </p:nvSpPr>
        <p:spPr>
          <a:xfrm>
            <a:off x="457200" y="1810080"/>
            <a:ext cx="11277600" cy="15949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0" name="Rounded Rectangle 9"/>
          <p:cNvSpPr/>
          <p:nvPr/>
        </p:nvSpPr>
        <p:spPr>
          <a:xfrm>
            <a:off x="640080" y="1901520"/>
            <a:ext cx="868680" cy="256032"/>
          </a:xfrm>
          <a:prstGeom prst="roundRect">
            <a:avLst>
              <a:gd name="adj" fmla="val 50000"/>
            </a:avLst>
          </a:prstGeom>
          <a:solidFill>
            <a:srgbClr val="000000"/>
          </a:solidFill>
          <a:ln>
            <a:noFill/>
          </a:ln>
        </p:spPr>
        <p:txBody>
          <a:bodyPr rtlCol="0" anchor="ctr" lIns="0" rIns="0" tIns="0" bIns="0"/>
          <a:lstStyle/>
          <a:p>
            <a:pPr algn="ctr"/>
            <a:r>
              <a:rPr sz="900" b="1" i="0" cap="all" spc="60">
                <a:solidFill>
                  <a:srgbClr val="FFFFFF"/>
                </a:solidFill>
              </a:rPr>
              <a:t>PHASE 1</a:t>
            </a:r>
          </a:p>
        </p:txBody>
      </p:sp>
      <p:sp>
        <p:nvSpPr>
          <p:cNvPr id="11" name="TextBox 10"/>
          <p:cNvSpPr txBox="1"/>
          <p:nvPr/>
        </p:nvSpPr>
        <p:spPr>
          <a:xfrm>
            <a:off x="1645920" y="1901520"/>
            <a:ext cx="9906000" cy="256032"/>
          </a:xfrm>
          <a:prstGeom prst="rect">
            <a:avLst/>
          </a:prstGeom>
          <a:noFill/>
        </p:spPr>
        <p:txBody>
          <a:bodyPr wrap="square" lIns="0" rIns="0" tIns="0" bIns="0" anchor="ctr">
            <a:spAutoFit/>
          </a:bodyPr>
          <a:lstStyle/>
          <a:p>
            <a:pPr algn="l">
              <a:spcBef>
                <a:spcPts val="400"/>
              </a:spcBef>
              <a:spcAft>
                <a:spcPts val="500"/>
              </a:spcAft>
            </a:pPr>
            <a:r>
              <a:rPr sz="1150" b="1" i="0">
                <a:solidFill>
                  <a:srgbClr val="000000"/>
                </a:solidFill>
              </a:rPr>
              <a:t>Planning and Discovery: Now – 10/30</a:t>
            </a:r>
          </a:p>
        </p:txBody>
      </p:sp>
      <p:sp>
        <p:nvSpPr>
          <p:cNvPr id="12" name="Rounded Rectangle 11"/>
          <p:cNvSpPr/>
          <p:nvPr/>
        </p:nvSpPr>
        <p:spPr>
          <a:xfrm>
            <a:off x="457200" y="3555040"/>
            <a:ext cx="11277600" cy="159496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ctr"/>
          </a:p>
        </p:txBody>
      </p:sp>
      <p:sp>
        <p:nvSpPr>
          <p:cNvPr id="13" name="Rounded Rectangle 12"/>
          <p:cNvSpPr/>
          <p:nvPr/>
        </p:nvSpPr>
        <p:spPr>
          <a:xfrm>
            <a:off x="640080" y="3646480"/>
            <a:ext cx="868680" cy="256032"/>
          </a:xfrm>
          <a:prstGeom prst="roundRect">
            <a:avLst>
              <a:gd name="adj" fmla="val 50000"/>
            </a:avLst>
          </a:prstGeom>
          <a:solidFill>
            <a:srgbClr val="FFFFFF"/>
          </a:solidFill>
          <a:ln>
            <a:noFill/>
          </a:ln>
        </p:spPr>
        <p:txBody>
          <a:bodyPr rtlCol="0" anchor="ctr" lIns="0" rIns="0" tIns="0" bIns="0"/>
          <a:lstStyle/>
          <a:p>
            <a:pPr algn="ctr"/>
            <a:r>
              <a:rPr sz="900" b="1" i="0" cap="all" spc="60">
                <a:solidFill>
                  <a:srgbClr val="000000"/>
                </a:solidFill>
              </a:rPr>
              <a:t>PHASE 2</a:t>
            </a:r>
          </a:p>
        </p:txBody>
      </p:sp>
      <p:sp>
        <p:nvSpPr>
          <p:cNvPr id="14" name="TextBox 13"/>
          <p:cNvSpPr txBox="1"/>
          <p:nvPr/>
        </p:nvSpPr>
        <p:spPr>
          <a:xfrm>
            <a:off x="1645920" y="3646480"/>
            <a:ext cx="9906000" cy="256032"/>
          </a:xfrm>
          <a:prstGeom prst="rect">
            <a:avLst/>
          </a:prstGeom>
          <a:noFill/>
        </p:spPr>
        <p:txBody>
          <a:bodyPr wrap="square" lIns="0" rIns="0" tIns="0" bIns="0" anchor="ctr">
            <a:spAutoFit/>
          </a:bodyPr>
          <a:lstStyle/>
          <a:p>
            <a:pPr algn="l">
              <a:spcBef>
                <a:spcPts val="400"/>
              </a:spcBef>
              <a:spcAft>
                <a:spcPts val="500"/>
              </a:spcAft>
            </a:pPr>
            <a:r>
              <a:rPr sz="1150" b="1" i="0">
                <a:solidFill>
                  <a:srgbClr val="FFFFFF"/>
                </a:solidFill>
              </a:rPr>
              <a:t>Execution on Changes: 11/2 – 12/24</a:t>
            </a:r>
          </a:p>
        </p:txBody>
      </p:sp>
      <p:sp>
        <p:nvSpPr>
          <p:cNvPr id="15" name="Rounded Rectangle 14"/>
          <p:cNvSpPr/>
          <p:nvPr/>
        </p:nvSpPr>
        <p:spPr>
          <a:xfrm>
            <a:off x="594360" y="2221560"/>
            <a:ext cx="3567760" cy="1046320"/>
          </a:xfrm>
          <a:prstGeom prst="roundRect">
            <a:avLst>
              <a:gd name="adj" fmla="val 45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1000" b="1" i="0">
                <a:solidFill>
                  <a:srgbClr val="000000"/>
                </a:solidFill>
              </a:rPr>
              <a:t>Define Roles Needed</a:t>
            </a:r>
          </a:p>
          <a:p>
            <a:pPr algn="l">
              <a:spcAft>
                <a:spcPts val="500"/>
              </a:spcAft>
            </a:pPr>
            <a:r>
              <a:rPr sz="1000" b="0" i="0">
                <a:solidFill>
                  <a:srgbClr val="000000"/>
                </a:solidFill>
              </a:rPr>
              <a:t>Determine the specific roles need for pursuit support (alliance partner, skillset) along with allocations, roles and responsibilities</a:t>
            </a:r>
          </a:p>
        </p:txBody>
      </p:sp>
      <p:sp>
        <p:nvSpPr>
          <p:cNvPr id="16" name="Rounded Rectangle 15"/>
          <p:cNvSpPr/>
          <p:nvPr/>
        </p:nvSpPr>
        <p:spPr>
          <a:xfrm>
            <a:off x="4312120" y="2221560"/>
            <a:ext cx="3567760" cy="1046320"/>
          </a:xfrm>
          <a:prstGeom prst="roundRect">
            <a:avLst>
              <a:gd name="adj" fmla="val 45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1000" b="1" i="0">
                <a:solidFill>
                  <a:srgbClr val="000000"/>
                </a:solidFill>
              </a:rPr>
              <a:t>Clarify if Internal or External Moves</a:t>
            </a:r>
          </a:p>
          <a:p>
            <a:pPr algn="l">
              <a:spcAft>
                <a:spcPts val="500"/>
              </a:spcAft>
            </a:pPr>
            <a:r>
              <a:rPr sz="1000" b="0" i="0">
                <a:solidFill>
                  <a:srgbClr val="000000"/>
                </a:solidFill>
              </a:rPr>
              <a:t>Review existing team roster to see who can move to these new roles and where we need to hire</a:t>
            </a:r>
          </a:p>
        </p:txBody>
      </p:sp>
      <p:sp>
        <p:nvSpPr>
          <p:cNvPr id="17" name="Rounded Rectangle 16"/>
          <p:cNvSpPr/>
          <p:nvPr/>
        </p:nvSpPr>
        <p:spPr>
          <a:xfrm>
            <a:off x="8029880" y="2221560"/>
            <a:ext cx="3567760" cy="1046320"/>
          </a:xfrm>
          <a:prstGeom prst="roundRect">
            <a:avLst>
              <a:gd name="adj" fmla="val 45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1000" b="1" i="0">
                <a:solidFill>
                  <a:srgbClr val="000000"/>
                </a:solidFill>
              </a:rPr>
              <a:t>Update Existing Org Structure</a:t>
            </a:r>
          </a:p>
          <a:p>
            <a:pPr algn="l">
              <a:spcAft>
                <a:spcPts val="500"/>
              </a:spcAft>
            </a:pPr>
            <a:r>
              <a:rPr sz="1000" b="0" i="0">
                <a:solidFill>
                  <a:srgbClr val="000000"/>
                </a:solidFill>
              </a:rPr>
              <a:t>Update the existing org structure (as needed) to best support these roles and the pursuits</a:t>
            </a:r>
          </a:p>
        </p:txBody>
      </p:sp>
      <p:sp>
        <p:nvSpPr>
          <p:cNvPr id="18" name="Rounded Rectangle 17"/>
          <p:cNvSpPr/>
          <p:nvPr/>
        </p:nvSpPr>
        <p:spPr>
          <a:xfrm>
            <a:off x="594360" y="3966520"/>
            <a:ext cx="5426640" cy="1046320"/>
          </a:xfrm>
          <a:prstGeom prst="roundRect">
            <a:avLst>
              <a:gd name="adj" fmla="val 45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1000" b="1" i="0">
                <a:solidFill>
                  <a:srgbClr val="000000"/>
                </a:solidFill>
              </a:rPr>
              <a:t>Open Reqs</a:t>
            </a:r>
          </a:p>
          <a:p>
            <a:pPr algn="l">
              <a:spcAft>
                <a:spcPts val="500"/>
              </a:spcAft>
            </a:pPr>
            <a:r>
              <a:rPr sz="1000" b="0" i="0">
                <a:solidFill>
                  <a:srgbClr val="000000"/>
                </a:solidFill>
              </a:rPr>
              <a:t>Once aligned on the needs, prioritize needs and open reqs for the first set of new roles (or for backfills, if moving existing people into the new roles)</a:t>
            </a:r>
          </a:p>
        </p:txBody>
      </p:sp>
      <p:sp>
        <p:nvSpPr>
          <p:cNvPr id="19" name="Rounded Rectangle 18"/>
          <p:cNvSpPr/>
          <p:nvPr/>
        </p:nvSpPr>
        <p:spPr>
          <a:xfrm>
            <a:off x="6171000" y="3966520"/>
            <a:ext cx="5426640" cy="1046320"/>
          </a:xfrm>
          <a:prstGeom prst="roundRect">
            <a:avLst>
              <a:gd name="adj" fmla="val 45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1000" b="1" i="0">
                <a:solidFill>
                  <a:srgbClr val="000000"/>
                </a:solidFill>
              </a:rPr>
              <a:t>Create Transition Plan</a:t>
            </a:r>
          </a:p>
          <a:p>
            <a:pPr algn="l">
              <a:spcAft>
                <a:spcPts val="500"/>
              </a:spcAft>
            </a:pPr>
            <a:r>
              <a:rPr sz="1000" b="0" i="0">
                <a:solidFill>
                  <a:srgbClr val="000000"/>
                </a:solidFill>
              </a:rPr>
              <a:t>Identify any accounts that need to move to allow people to switch to a new role and create a 30/60 day transition plan</a:t>
            </a:r>
          </a:p>
        </p:txBody>
      </p:sp>
      <p:sp>
        <p:nvSpPr>
          <p:cNvPr id="20" name="Rounded Rectangle 19"/>
          <p:cNvSpPr/>
          <p:nvPr/>
        </p:nvSpPr>
        <p:spPr>
          <a:xfrm>
            <a:off x="457200" y="5300000"/>
            <a:ext cx="1127760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200" b="1" i="0">
                <a:solidFill>
                  <a:srgbClr val="FFFFFF"/>
                </a:solidFill>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