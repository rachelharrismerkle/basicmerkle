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72"/>
  </p:notesMasterIdLst>
  <p:handoutMasterIdLst>
    <p:handoutMasterId r:id="rId73"/>
  </p:handoutMasterIdLst>
  <p:sldIdLst>
    <p:sldId id="256" r:id="rId17"/>
    <p:sldId id="2147483563" r:id="rId18"/>
    <p:sldId id="257" r:id="rId19"/>
    <p:sldId id="258" r:id="rId20"/>
    <p:sldId id="2147483564" r:id="rId21"/>
    <p:sldId id="2147483565" r:id="rId22"/>
    <p:sldId id="2147483566" r:id="rId23"/>
    <p:sldId id="2147483567" r:id="rId24"/>
    <p:sldId id="2147483568" r:id="rId25"/>
    <p:sldId id="2147483569" r:id="rId26"/>
    <p:sldId id="2147483570" r:id="rId27"/>
    <p:sldId id="2147483571" r:id="rId28"/>
    <p:sldId id="2147483572" r:id="rId29"/>
    <p:sldId id="2147483573" r:id="rId30"/>
    <p:sldId id="2147483574" r:id="rId31"/>
    <p:sldId id="2147483580" r:id="rId32"/>
    <p:sldId id="2147483581" r:id="rId33"/>
    <p:sldId id="2147483582" r:id="rId34"/>
    <p:sldId id="2147483589" r:id="rId35"/>
    <p:sldId id="2147483584" r:id="rId36"/>
    <p:sldId id="2147483585" r:id="rId37"/>
    <p:sldId id="2147483586" r:id="rId38"/>
    <p:sldId id="2147483588" r:id="rId39"/>
    <p:sldId id="2147483587" r:id="rId40"/>
    <p:sldId id="2147483575" r:id="rId41"/>
    <p:sldId id="2147483576" r:id="rId42"/>
    <p:sldId id="2147483577" r:id="rId43"/>
    <p:sldId id="2147483578" r:id="rId44"/>
    <p:sldId id="2147483579" r:id="rId45"/>
    <p:sldId id="290" r:id="rId46"/>
    <p:sldId id="259" r:id="rId47"/>
    <p:sldId id="260" r:id="rId48"/>
    <p:sldId id="261" r:id="rId49"/>
    <p:sldId id="262" r:id="rId50"/>
    <p:sldId id="263" r:id="rId51"/>
    <p:sldId id="264" r:id="rId52"/>
    <p:sldId id="265" r:id="rId53"/>
    <p:sldId id="266" r:id="rId54"/>
    <p:sldId id="271" r:id="rId55"/>
    <p:sldId id="272" r:id="rId56"/>
    <p:sldId id="273" r:id="rId57"/>
    <p:sldId id="274" r:id="rId58"/>
    <p:sldId id="275" r:id="rId59"/>
    <p:sldId id="276" r:id="rId60"/>
    <p:sldId id="277" r:id="rId61"/>
    <p:sldId id="278" r:id="rId62"/>
    <p:sldId id="279" r:id="rId63"/>
    <p:sldId id="291" r:id="rId64"/>
    <p:sldId id="292" r:id="rId65"/>
    <p:sldId id="293" r:id="rId66"/>
    <p:sldId id="294" r:id="rId67"/>
    <p:sldId id="295" r:id="rId68"/>
    <p:sldId id="296" r:id="rId69"/>
    <p:sldId id="297" r:id="rId70"/>
    <p:sldId id="300" r:id="rId71"/>
  </p:sldIdLst>
  <p:sldSz cx="12192000" cy="6858000"/>
  <p:notesSz cx="6858000" cy="9144000"/>
  <p:embeddedFontLst>
    <p:embeddedFont>
      <p:font typeface="Proxima Nova" panose="020B0604020202020204" charset="0"/>
      <p:regular r:id="rId74"/>
      <p:bold r:id="rId75"/>
      <p:italic r:id="rId76"/>
      <p:boldItalic r:id="rId77"/>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livery Excellence" id="{236F68AB-0181-46F7-9D38-A0ACE40BA1D1}">
          <p14:sldIdLst>
            <p14:sldId id="256"/>
            <p14:sldId id="2147483563"/>
          </p14:sldIdLst>
        </p14:section>
        <p14:section name="What we’re already doing" id="{9DAD2B03-3DC1-4CE0-9145-15194985816E}">
          <p14:sldIdLst>
            <p14:sldId id="257"/>
            <p14:sldId id="258"/>
          </p14:sldIdLst>
        </p14:section>
        <p14:section name="01 Deal-to-Delivery Playbook" id="{A4AB9235-0588-4886-A78A-6E308247A23D}">
          <p14:sldIdLst>
            <p14:sldId id="2147483564"/>
            <p14:sldId id="2147483565"/>
            <p14:sldId id="2147483566"/>
            <p14:sldId id="2147483567"/>
            <p14:sldId id="2147483568"/>
            <p14:sldId id="2147483569"/>
            <p14:sldId id="2147483570"/>
          </p14:sldIdLst>
        </p14:section>
        <p14:section name="02 Accountability Framework" id="{47732A4A-872F-4724-9B5E-238CDAB21C79}">
          <p14:sldIdLst>
            <p14:sldId id="2147483571"/>
            <p14:sldId id="2147483572"/>
          </p14:sldIdLst>
        </p14:section>
        <p14:section name="03 Leadership Dashboards" id="{57A8BE7A-D2A7-4D92-B05A-5B52BF20E400}">
          <p14:sldIdLst>
            <p14:sldId id="2147483573"/>
            <p14:sldId id="2147483574"/>
          </p14:sldIdLst>
        </p14:section>
        <p14:section name="05 Intake Updates" id="{9C1E740B-5455-4392-86BB-694ADDE87398}">
          <p14:sldIdLst>
            <p14:sldId id="2147483580"/>
            <p14:sldId id="2147483581"/>
          </p14:sldIdLst>
        </p14:section>
        <p14:section name="06 Ops Transformation: Rebuild Scoping &amp; Staffing" id="{19195B0A-E1E6-4AE6-BE5D-5B2056CBAEE4}">
          <p14:sldIdLst>
            <p14:sldId id="2147483582"/>
            <p14:sldId id="2147483589"/>
          </p14:sldIdLst>
        </p14:section>
        <p14:section name="07 Earlier Delivery &amp; Talent in Pursuits" id="{F5EB8D02-56C1-4040-B8C9-F7B9E197759A}">
          <p14:sldIdLst>
            <p14:sldId id="2147483584"/>
            <p14:sldId id="2147483585"/>
          </p14:sldIdLst>
        </p14:section>
        <p14:section name="Client and delivery concerns" id="{0721D5D0-11E1-4222-9361-6C8A5C8072E6}">
          <p14:sldIdLst>
            <p14:sldId id="2147483586"/>
          </p14:sldIdLst>
        </p14:section>
        <p14:section name="Staffing" id="{A4B33691-F470-4898-9150-00CA067A88D4}">
          <p14:sldIdLst>
            <p14:sldId id="2147483588"/>
            <p14:sldId id="2147483587"/>
            <p14:sldId id="2147483575"/>
            <p14:sldId id="2147483576"/>
            <p14:sldId id="2147483577"/>
            <p14:sldId id="2147483578"/>
            <p14:sldId id="2147483579"/>
          </p14:sldIdLst>
        </p14:section>
        <p14:section name="Appendix" id="{DCF88902-184F-4D25-A6F5-37F76B6C080A}">
          <p14:sldIdLst>
            <p14:sldId id="290"/>
            <p14:sldId id="259"/>
            <p14:sldId id="260"/>
            <p14:sldId id="261"/>
            <p14:sldId id="262"/>
            <p14:sldId id="263"/>
            <p14:sldId id="264"/>
            <p14:sldId id="265"/>
            <p14:sldId id="266"/>
            <p14:sldId id="271"/>
            <p14:sldId id="272"/>
            <p14:sldId id="273"/>
            <p14:sldId id="274"/>
            <p14:sldId id="275"/>
            <p14:sldId id="276"/>
            <p14:sldId id="277"/>
            <p14:sldId id="278"/>
            <p14:sldId id="279"/>
            <p14:sldId id="291"/>
            <p14:sldId id="292"/>
            <p14:sldId id="293"/>
            <p14:sldId id="294"/>
            <p14:sldId id="295"/>
            <p14:sldId id="296"/>
            <p14:sldId id="297"/>
            <p14:sldId id="300"/>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88A1"/>
    <a:srgbClr val="0328D1"/>
    <a:srgbClr val="040E4B"/>
    <a:srgbClr val="0391F2"/>
    <a:srgbClr val="D5D5DF"/>
    <a:srgbClr val="030E49"/>
    <a:srgbClr val="0291F0"/>
    <a:srgbClr val="000033"/>
    <a:srgbClr val="041677"/>
    <a:srgbClr val="061F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0F2140-EFC0-4990-A6B0-60F0D53B7DDB}" v="157" dt="2026-10-21T14:18:00.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Relationship Id="rId59" Type="http://schemas.openxmlformats.org/officeDocument/2006/relationships/slide" Target="slides/slide43.xml"/><Relationship Id="rId60" Type="http://schemas.openxmlformats.org/officeDocument/2006/relationships/slide" Target="slides/slide44.xml"/><Relationship Id="rId61" Type="http://schemas.openxmlformats.org/officeDocument/2006/relationships/slide" Target="slides/slide45.xml"/><Relationship Id="rId62" Type="http://schemas.openxmlformats.org/officeDocument/2006/relationships/slide" Target="slides/slide46.xml"/><Relationship Id="rId63" Type="http://schemas.openxmlformats.org/officeDocument/2006/relationships/slide" Target="slides/slide47.xml"/><Relationship Id="rId64" Type="http://schemas.openxmlformats.org/officeDocument/2006/relationships/slide" Target="slides/slide48.xml"/><Relationship Id="rId65" Type="http://schemas.openxmlformats.org/officeDocument/2006/relationships/slide" Target="slides/slide49.xml"/><Relationship Id="rId66" Type="http://schemas.openxmlformats.org/officeDocument/2006/relationships/slide" Target="slides/slide50.xml"/><Relationship Id="rId67" Type="http://schemas.openxmlformats.org/officeDocument/2006/relationships/slide" Target="slides/slide51.xml"/><Relationship Id="rId68" Type="http://schemas.openxmlformats.org/officeDocument/2006/relationships/slide" Target="slides/slide52.xml"/><Relationship Id="rId69" Type="http://schemas.openxmlformats.org/officeDocument/2006/relationships/slide" Target="slides/slide53.xml"/><Relationship Id="rId70" Type="http://schemas.openxmlformats.org/officeDocument/2006/relationships/slide" Target="slides/slide54.xml"/><Relationship Id="rId71" Type="http://schemas.openxmlformats.org/officeDocument/2006/relationships/slide" Target="slides/slide55.xml"/><Relationship Id="rId72" Type="http://schemas.openxmlformats.org/officeDocument/2006/relationships/notesMaster" Target="notesMasters/notesMaster1.xml"/><Relationship Id="rId73" Type="http://schemas.openxmlformats.org/officeDocument/2006/relationships/handoutMaster" Target="handoutMasters/handoutMaster1.xml"/><Relationship Id="rId74" Type="http://schemas.openxmlformats.org/officeDocument/2006/relationships/font" Target="fonts/font1.fntdata"/><Relationship Id="rId75" Type="http://schemas.openxmlformats.org/officeDocument/2006/relationships/font" Target="fonts/font2.fntdata"/><Relationship Id="rId76" Type="http://schemas.openxmlformats.org/officeDocument/2006/relationships/font" Target="fonts/font3.fntdata"/><Relationship Id="rId77" Type="http://schemas.openxmlformats.org/officeDocument/2006/relationships/font" Target="fonts/font4.fntdata"/><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5/10/relationships/revisionInfo" Target="revisionInfo.xml"/><Relationship Id="rId83"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j-lt"/>
              </a:defRPr>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j-lt"/>
              </a:defRPr>
            </a:lvl1pPr>
          </a:lstStyle>
          <a:p>
            <a:fld id="{5B48345A-856D-4626-95BD-B96C1384D864}" type="datetimeFigureOut">
              <a:rPr lang="da-DK" smtClean="0"/>
              <a:pPr/>
              <a:t>20-10-2026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j-lt"/>
              </a:defRPr>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j-lt"/>
              </a:defRPr>
            </a:lvl1pPr>
          </a:lstStyle>
          <a:p>
            <a:fld id="{D85AD6AD-028C-42F2-9F9A-0CB45E44CB25}" type="slidenum">
              <a:rPr lang="da-DK" smtClean="0"/>
              <a:pPr/>
              <a:t>‹#›</a:t>
            </a:fld>
            <a:endParaRPr lang="da-DK"/>
          </a:p>
        </p:txBody>
      </p:sp>
    </p:spTree>
    <p:extLst>
      <p:ext uri="{BB962C8B-B14F-4D97-AF65-F5344CB8AC3E}">
        <p14:creationId xmlns:p14="http://schemas.microsoft.com/office/powerpoint/2010/main" val="1548989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j-lt"/>
        <a:ea typeface="+mn-ea"/>
        <a:cs typeface="+mn-cs"/>
      </a:defRPr>
    </a:lvl1pPr>
    <a:lvl2pPr marL="457200" algn="l" defTabSz="914400" rtl="0" eaLnBrk="1" latinLnBrk="0" hangingPunct="1">
      <a:defRPr sz="1200" b="0" i="0" kern="1200">
        <a:solidFill>
          <a:schemeClr val="tx1"/>
        </a:solidFill>
        <a:latin typeface="+mj-lt"/>
        <a:ea typeface="+mn-ea"/>
        <a:cs typeface="+mn-cs"/>
      </a:defRPr>
    </a:lvl2pPr>
    <a:lvl3pPr marL="914400" algn="l" defTabSz="914400" rtl="0" eaLnBrk="1" latinLnBrk="0" hangingPunct="1">
      <a:defRPr sz="1200" b="0" i="0" kern="1200">
        <a:solidFill>
          <a:schemeClr val="tx1"/>
        </a:solidFill>
        <a:latin typeface="+mj-lt"/>
        <a:ea typeface="+mn-ea"/>
        <a:cs typeface="+mn-cs"/>
      </a:defRPr>
    </a:lvl3pPr>
    <a:lvl4pPr marL="1371600" algn="l" defTabSz="914400" rtl="0" eaLnBrk="1" latinLnBrk="0" hangingPunct="1">
      <a:defRPr sz="1200" b="0" i="0" kern="1200">
        <a:solidFill>
          <a:schemeClr val="tx1"/>
        </a:solidFill>
        <a:latin typeface="+mj-lt"/>
        <a:ea typeface="+mn-ea"/>
        <a:cs typeface="+mn-cs"/>
      </a:defRPr>
    </a:lvl4pPr>
    <a:lvl5pPr marL="1828800" algn="l" defTabSz="914400" rtl="0" eaLnBrk="1" latinLnBrk="0" hangingPunct="1">
      <a:defRPr sz="1200" b="0" i="0" kern="1200">
        <a:solidFill>
          <a:schemeClr val="tx1"/>
        </a:solidFill>
        <a:latin typeface="+mj-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McComas</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5</a:t>
            </a:fld>
            <a:endParaRPr lang="da-DK"/>
          </a:p>
        </p:txBody>
      </p:sp>
    </p:spTree>
    <p:extLst>
      <p:ext uri="{BB962C8B-B14F-4D97-AF65-F5344CB8AC3E}">
        <p14:creationId xmlns:p14="http://schemas.microsoft.com/office/powerpoint/2010/main" val="313116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Chris</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Chris</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Chris</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Chris</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Chris</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Chris</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Ewen</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12</a:t>
            </a:fld>
            <a:endParaRPr lang="da-DK"/>
          </a:p>
        </p:txBody>
      </p:sp>
    </p:spTree>
    <p:extLst>
      <p:ext uri="{BB962C8B-B14F-4D97-AF65-F5344CB8AC3E}">
        <p14:creationId xmlns:p14="http://schemas.microsoft.com/office/powerpoint/2010/main" val="2972981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John</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Deana + Dave</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14</a:t>
            </a:fld>
            <a:endParaRPr lang="da-DK"/>
          </a:p>
        </p:txBody>
      </p:sp>
    </p:spTree>
    <p:extLst>
      <p:ext uri="{BB962C8B-B14F-4D97-AF65-F5344CB8AC3E}">
        <p14:creationId xmlns:p14="http://schemas.microsoft.com/office/powerpoint/2010/main" val="2086700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Deana</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16</a:t>
            </a:fld>
            <a:endParaRPr lang="da-DK"/>
          </a:p>
        </p:txBody>
      </p:sp>
    </p:spTree>
    <p:extLst>
      <p:ext uri="{BB962C8B-B14F-4D97-AF65-F5344CB8AC3E}">
        <p14:creationId xmlns:p14="http://schemas.microsoft.com/office/powerpoint/2010/main" val="1412425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Deana</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Dave</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18</a:t>
            </a:fld>
            <a:endParaRPr lang="da-DK"/>
          </a:p>
        </p:txBody>
      </p:sp>
    </p:spTree>
    <p:extLst>
      <p:ext uri="{BB962C8B-B14F-4D97-AF65-F5344CB8AC3E}">
        <p14:creationId xmlns:p14="http://schemas.microsoft.com/office/powerpoint/2010/main" val="1817641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Deana</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20</a:t>
            </a:fld>
            <a:endParaRPr lang="da-DK"/>
          </a:p>
        </p:txBody>
      </p:sp>
    </p:spTree>
    <p:extLst>
      <p:ext uri="{BB962C8B-B14F-4D97-AF65-F5344CB8AC3E}">
        <p14:creationId xmlns:p14="http://schemas.microsoft.com/office/powerpoint/2010/main" val="1459245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Deana</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Meredith + Brunst</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22</a:t>
            </a:fld>
            <a:endParaRPr lang="da-DK"/>
          </a:p>
        </p:txBody>
      </p:sp>
    </p:spTree>
    <p:extLst>
      <p:ext uri="{BB962C8B-B14F-4D97-AF65-F5344CB8AC3E}">
        <p14:creationId xmlns:p14="http://schemas.microsoft.com/office/powerpoint/2010/main" val="51733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23</a:t>
            </a:fld>
            <a:endParaRPr lang="da-DK"/>
          </a:p>
        </p:txBody>
      </p:sp>
    </p:spTree>
    <p:extLst>
      <p:ext uri="{BB962C8B-B14F-4D97-AF65-F5344CB8AC3E}">
        <p14:creationId xmlns:p14="http://schemas.microsoft.com/office/powerpoint/2010/main" val="206140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Missy gives high level context – then AO to  dig deeper afterwards if needed</a:t>
            </a:r>
          </a:p>
          <a:p>
            <a:r>
              <a:t>⚠️ DESIGNER REVIEW: Custom layout — verify fit and spacing.</a:t>
            </a:r>
          </a:p>
        </p:txBody>
      </p:sp>
      <p:sp>
        <p:nvSpPr>
          <p:cNvPr id="4" name="Slide Number Placeholder 3"/>
          <p:cNvSpPr>
            <a:spLocks noGrp="1"/>
          </p:cNvSpPr>
          <p:nvPr>
            <p:ph type="sldNum" sz="quarter" idx="5"/>
          </p:nvPr>
        </p:nvSpPr>
        <p:spPr/>
        <p:txBody>
          <a:bodyPr/>
          <a:lstStyle/>
          <a:p>
            <a:fld id="{D85AD6AD-028C-42F2-9F9A-0CB45E44CB25}" type="slidenum">
              <a:rPr lang="da-DK" smtClean="0"/>
              <a:pPr/>
              <a:t>24</a:t>
            </a:fld>
            <a:endParaRPr lang="da-DK"/>
          </a:p>
        </p:txBody>
      </p:sp>
    </p:spTree>
    <p:extLst>
      <p:ext uri="{BB962C8B-B14F-4D97-AF65-F5344CB8AC3E}">
        <p14:creationId xmlns:p14="http://schemas.microsoft.com/office/powerpoint/2010/main" val="1201800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AO</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AO</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AO</a:t>
            </a:r>
          </a:p>
          <a:p>
            <a:r>
              <a:t>⚠️ DESIGNER REVIEW: Custom layout — verify fit and spacing.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DESIGNER REVIEW: Custom layout — verify fit and spacing.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DESIGNER REVIEW: Custom layout — verify fit and spacing.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DESIGNER REVIEW: Custom layout — verify fit and spacing.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DESIGNER REVIEW: Custom layout — verify fit and spacing.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DESIGNER REVIEW: Custom layout — verify fit and spacing.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11723"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bg>
      <p:bgPr>
        <a:solidFill>
          <a:schemeClr val="accent5"/>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192B8A04-CAE0-A163-0AEE-90F6CD4678B6}"/>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11723" y="1680518"/>
            <a:ext cx="12192000" cy="5177481"/>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765003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2324994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093076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2530057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24C33D-B737-F9C5-FEEF-BCCE6B68BB0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630058B-B427-5441-01EF-12AB013E778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40302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000266-3898-8EF3-245A-BC5A713B8748}"/>
              </a:ext>
            </a:extLst>
          </p:cNvPr>
          <p:cNvSpPr>
            <a:spLocks noGrp="1"/>
          </p:cNvSpPr>
          <p:nvPr>
            <p:ph type="dt" sz="half" idx="10"/>
          </p:nvPr>
        </p:nvSpPr>
        <p:spPr/>
        <p:txBody>
          <a:bodyPr/>
          <a:lstStyle/>
          <a:p>
            <a:fld id="{356A56AD-59C9-49A6-A4DB-26BD3DAE1E77}" type="datetimeFigureOut">
              <a:rPr lang="en-US" smtClean="0"/>
              <a:t>10/20/2026</a:t>
            </a:fld>
            <a:endParaRPr lang="en-US"/>
          </a:p>
        </p:txBody>
      </p:sp>
      <p:sp>
        <p:nvSpPr>
          <p:cNvPr id="3" name="Footer Placeholder 2">
            <a:extLst>
              <a:ext uri="{FF2B5EF4-FFF2-40B4-BE49-F238E27FC236}">
                <a16:creationId xmlns:a16="http://schemas.microsoft.com/office/drawing/2014/main" id="{70FA1A70-26C8-F697-653B-ADB1C0031F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4DEF5F-B2AB-33A0-2E48-9C7C7AE08460}"/>
              </a:ext>
            </a:extLst>
          </p:cNvPr>
          <p:cNvSpPr>
            <a:spLocks noGrp="1"/>
          </p:cNvSpPr>
          <p:nvPr>
            <p:ph type="sldNum" sz="quarter" idx="12"/>
          </p:nvPr>
        </p:nvSpPr>
        <p:spPr/>
        <p:txBody>
          <a:bodyPr/>
          <a:lstStyle/>
          <a:p>
            <a:fld id="{B0FD4039-54B5-4A64-9CCD-BAE3A4B329A0}" type="slidenum">
              <a:rPr lang="en-US" smtClean="0"/>
              <a:t>‹#›</a:t>
            </a:fld>
            <a:endParaRPr lang="en-US"/>
          </a:p>
        </p:txBody>
      </p:sp>
    </p:spTree>
    <p:extLst>
      <p:ext uri="{BB962C8B-B14F-4D97-AF65-F5344CB8AC3E}">
        <p14:creationId xmlns:p14="http://schemas.microsoft.com/office/powerpoint/2010/main" val="30694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121" r:id="rId18"/>
    <p:sldLayoutId id="2147484122"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3" r:id="rId36"/>
    <p:sldLayoutId id="2147484124" r:id="rId37"/>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 Id="rId3" Type="http://schemas.openxmlformats.org/officeDocument/2006/relationships/notesSlide" Target="../notesSlides/notes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 Id="rId3" Type="http://schemas.openxmlformats.org/officeDocument/2006/relationships/image" Target="../media/image2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3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4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4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3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3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4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3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2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5.jpg"/><Relationship Id="rId3"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3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4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3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6.jpg"/><Relationship Id="rId3" Type="http://schemas.openxmlformats.org/officeDocument/2006/relationships/image" Target="../media/image50.jpg"/><Relationship Id="rId4"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3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4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 Id="rId3" Type="http://schemas.openxmlformats.org/officeDocument/2006/relationships/image" Target="../media/image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4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10.png"/><Relationship Id="rId3" Type="http://schemas.openxmlformats.org/officeDocument/2006/relationships/image" Target="../media/image41.jp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3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4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4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t>OCTOBER 2026</a:t>
            </a:r>
          </a:p>
        </p:txBody>
      </p:sp>
      <p:sp>
        <p:nvSpPr>
          <p:cNvPr id="3" name="Title 2"/>
          <p:cNvSpPr>
            <a:spLocks noGrp="1"/>
          </p:cNvSpPr>
          <p:nvPr>
            <p:ph type="title"/>
          </p:nvPr>
        </p:nvSpPr>
        <p:spPr/>
        <p:txBody>
          <a:bodyPr/>
          <a:lstStyle/>
          <a:p>
            <a:r>
              <a:rPr dirty="0">
                <a:latin typeface="+mn-lt"/>
              </a:rPr>
              <a:t>Delivery Excellence</a:t>
            </a:r>
          </a:p>
        </p:txBody>
      </p:sp>
      <p:sp>
        <p:nvSpPr>
          <p:cNvPr id="4" name="Text Placeholder 3"/>
          <p:cNvSpPr>
            <a:spLocks noGrp="1"/>
          </p:cNvSpPr>
          <p:nvPr>
            <p:ph type="body" sz="quarter" idx="10"/>
          </p:nvPr>
        </p:nvSpPr>
        <p:spPr/>
        <p:txBody>
          <a:bodyPr/>
          <a:lstStyle/>
          <a:p>
            <a:r>
              <a:t>The problems we are trying to solve, from how we define the work to how we watch 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548640"/>
            <a:ext cx="6583680" cy="731520"/>
          </a:xfrm>
        </p:spPr>
        <p:txBody>
          <a:bodyPr/>
          <a:lstStyle/>
          <a:p>
            <a:r>
              <a:rPr sz="3000" b="0" cap="none" spc="0"/>
              <a:t>Agenda</a:t>
            </a:r>
          </a:p>
        </p:txBody>
      </p:sp>
      <p:sp>
        <p:nvSpPr>
          <p:cNvPr id="3" name="TextBox 2"/>
          <p:cNvSpPr txBox="1"/>
          <p:nvPr/>
        </p:nvSpPr>
        <p:spPr>
          <a:xfrm>
            <a:off x="4846320" y="1463040"/>
            <a:ext cx="641201" cy="230832"/>
          </a:xfrm>
          <a:prstGeom prst="rect">
            <a:avLst/>
          </a:prstGeom>
          <a:noFill/>
        </p:spPr>
        <p:txBody>
          <a:bodyPr wrap="none" lIns="0" rIns="0">
            <a:spAutoFit/>
          </a:bodyPr>
          <a:lstStyle/>
          <a:p>
            <a:r>
              <a:rPr sz="900" b="1">
                <a:solidFill>
                  <a:srgbClr val="8888A1"/>
                </a:solidFill>
              </a:rPr>
              <a:t>PRESENTER</a:t>
            </a:r>
          </a:p>
        </p:txBody>
      </p:sp>
      <p:sp>
        <p:nvSpPr>
          <p:cNvPr id="4" name="Rectangle 3"/>
          <p:cNvSpPr/>
          <p:nvPr/>
        </p:nvSpPr>
        <p:spPr>
          <a:xfrm>
            <a:off x="548640" y="1737360"/>
            <a:ext cx="6675120" cy="10973"/>
          </a:xfrm>
          <a:prstGeom prst="rect">
            <a:avLst/>
          </a:prstGeom>
          <a:solidFill>
            <a:srgbClr val="60607D"/>
          </a:solidFill>
          <a:ln>
            <a:noFill/>
          </a:ln>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5" name="TextBox 4"/>
          <p:cNvSpPr txBox="1"/>
          <p:nvPr/>
        </p:nvSpPr>
        <p:spPr>
          <a:xfrm>
            <a:off x="548640" y="2094532"/>
            <a:ext cx="502920" cy="200055"/>
          </a:xfrm>
          <a:prstGeom prst="rect">
            <a:avLst/>
          </a:prstGeom>
          <a:noFill/>
        </p:spPr>
        <p:txBody>
          <a:bodyPr wrap="square" lIns="0" tIns="0" rIns="0" bIns="0" anchor="ctr">
            <a:spAutoFit/>
          </a:bodyPr>
          <a:lstStyle/>
          <a:p>
            <a:r>
              <a:rPr sz="1300" b="1">
                <a:solidFill>
                  <a:srgbClr val="8888A1"/>
                </a:solidFill>
              </a:rPr>
              <a:t>01</a:t>
            </a:r>
          </a:p>
        </p:txBody>
      </p:sp>
      <p:sp>
        <p:nvSpPr>
          <p:cNvPr id="6" name="TextBox 5"/>
          <p:cNvSpPr txBox="1"/>
          <p:nvPr/>
        </p:nvSpPr>
        <p:spPr>
          <a:xfrm>
            <a:off x="1097280" y="1917561"/>
            <a:ext cx="2962656" cy="553998"/>
          </a:xfrm>
          <a:prstGeom prst="rect">
            <a:avLst/>
          </a:prstGeom>
          <a:noFill/>
        </p:spPr>
        <p:txBody>
          <a:bodyPr wrap="square" lIns="0" tIns="0" rIns="0" bIns="0" anchor="ctr">
            <a:spAutoFit/>
          </a:bodyPr>
          <a:lstStyle/>
          <a:p>
            <a:r>
              <a:rPr sz="1800" b="0" dirty="0">
                <a:solidFill>
                  <a:srgbClr val="FFFFFF"/>
                </a:solidFill>
              </a:rPr>
              <a:t>A deeper dive on ops top 4 initiatives + 3</a:t>
            </a:r>
          </a:p>
        </p:txBody>
      </p:sp>
      <p:sp>
        <p:nvSpPr>
          <p:cNvPr id="7" name="TextBox 6"/>
          <p:cNvSpPr txBox="1"/>
          <p:nvPr/>
        </p:nvSpPr>
        <p:spPr>
          <a:xfrm>
            <a:off x="4846320" y="2094532"/>
            <a:ext cx="2286000" cy="200055"/>
          </a:xfrm>
          <a:prstGeom prst="rect">
            <a:avLst/>
          </a:prstGeom>
          <a:noFill/>
        </p:spPr>
        <p:txBody>
          <a:bodyPr wrap="square" lIns="0" tIns="0" rIns="0" bIns="0" anchor="ctr">
            <a:spAutoFit/>
          </a:bodyPr>
          <a:lstStyle/>
          <a:p>
            <a:r>
              <a:rPr sz="1300" b="0">
                <a:solidFill>
                  <a:srgbClr val="D6D6DF"/>
                </a:solidFill>
              </a:rPr>
              <a:t>Ops</a:t>
            </a:r>
          </a:p>
        </p:txBody>
      </p:sp>
      <p:sp>
        <p:nvSpPr>
          <p:cNvPr id="8" name="Rectangle 7"/>
          <p:cNvSpPr/>
          <p:nvPr/>
        </p:nvSpPr>
        <p:spPr>
          <a:xfrm>
            <a:off x="548640" y="2697480"/>
            <a:ext cx="6675120" cy="10973"/>
          </a:xfrm>
          <a:prstGeom prst="rect">
            <a:avLst/>
          </a:prstGeom>
          <a:solidFill>
            <a:srgbClr val="60607D"/>
          </a:solidFill>
          <a:ln>
            <a:noFill/>
          </a:ln>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9" name="TextBox 8"/>
          <p:cNvSpPr txBox="1"/>
          <p:nvPr/>
        </p:nvSpPr>
        <p:spPr>
          <a:xfrm>
            <a:off x="548640" y="3054652"/>
            <a:ext cx="502920" cy="200055"/>
          </a:xfrm>
          <a:prstGeom prst="rect">
            <a:avLst/>
          </a:prstGeom>
          <a:noFill/>
        </p:spPr>
        <p:txBody>
          <a:bodyPr wrap="square" lIns="0" tIns="0" rIns="0" bIns="0" anchor="ctr">
            <a:spAutoFit/>
          </a:bodyPr>
          <a:lstStyle/>
          <a:p>
            <a:r>
              <a:rPr sz="1300" b="1">
                <a:solidFill>
                  <a:srgbClr val="8888A1"/>
                </a:solidFill>
              </a:rPr>
              <a:t>02</a:t>
            </a:r>
          </a:p>
        </p:txBody>
      </p:sp>
      <p:sp>
        <p:nvSpPr>
          <p:cNvPr id="10" name="TextBox 9"/>
          <p:cNvSpPr txBox="1"/>
          <p:nvPr/>
        </p:nvSpPr>
        <p:spPr>
          <a:xfrm>
            <a:off x="1097280" y="3016180"/>
            <a:ext cx="4023360" cy="276999"/>
          </a:xfrm>
          <a:prstGeom prst="rect">
            <a:avLst/>
          </a:prstGeom>
          <a:noFill/>
        </p:spPr>
        <p:txBody>
          <a:bodyPr wrap="square" lIns="0" tIns="0" rIns="0" bIns="0" anchor="ctr">
            <a:spAutoFit/>
          </a:bodyPr>
          <a:lstStyle/>
          <a:p>
            <a:r>
              <a:rPr lang="en-US" sz="1800" b="0" dirty="0">
                <a:solidFill>
                  <a:srgbClr val="FFFFFF"/>
                </a:solidFill>
              </a:rPr>
              <a:t>Client </a:t>
            </a:r>
            <a:r>
              <a:rPr sz="1800" b="0" dirty="0">
                <a:solidFill>
                  <a:srgbClr val="FFFFFF"/>
                </a:solidFill>
              </a:rPr>
              <a:t>and delivery concerns</a:t>
            </a:r>
          </a:p>
        </p:txBody>
      </p:sp>
      <p:sp>
        <p:nvSpPr>
          <p:cNvPr id="11" name="TextBox 10"/>
          <p:cNvSpPr txBox="1"/>
          <p:nvPr/>
        </p:nvSpPr>
        <p:spPr>
          <a:xfrm>
            <a:off x="4846320" y="3054652"/>
            <a:ext cx="2286000" cy="200055"/>
          </a:xfrm>
          <a:prstGeom prst="rect">
            <a:avLst/>
          </a:prstGeom>
          <a:noFill/>
        </p:spPr>
        <p:txBody>
          <a:bodyPr wrap="square" lIns="0" tIns="0" rIns="0" bIns="0" anchor="ctr">
            <a:spAutoFit/>
          </a:bodyPr>
          <a:lstStyle/>
          <a:p>
            <a:r>
              <a:rPr sz="1300" b="0">
                <a:solidFill>
                  <a:srgbClr val="D6D6DF"/>
                </a:solidFill>
              </a:rPr>
              <a:t>Meredith + Brunst</a:t>
            </a:r>
          </a:p>
        </p:txBody>
      </p:sp>
      <p:sp>
        <p:nvSpPr>
          <p:cNvPr id="12" name="Rectangle 11"/>
          <p:cNvSpPr/>
          <p:nvPr/>
        </p:nvSpPr>
        <p:spPr>
          <a:xfrm>
            <a:off x="548640" y="3657600"/>
            <a:ext cx="6675120" cy="10973"/>
          </a:xfrm>
          <a:prstGeom prst="rect">
            <a:avLst/>
          </a:prstGeom>
          <a:solidFill>
            <a:srgbClr val="60607D"/>
          </a:solidFill>
          <a:ln>
            <a:noFill/>
          </a:ln>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13" name="TextBox 12"/>
          <p:cNvSpPr txBox="1"/>
          <p:nvPr/>
        </p:nvSpPr>
        <p:spPr>
          <a:xfrm>
            <a:off x="548640" y="4014772"/>
            <a:ext cx="502920" cy="200055"/>
          </a:xfrm>
          <a:prstGeom prst="rect">
            <a:avLst/>
          </a:prstGeom>
          <a:noFill/>
        </p:spPr>
        <p:txBody>
          <a:bodyPr wrap="square" lIns="0" tIns="0" rIns="0" bIns="0" anchor="ctr">
            <a:spAutoFit/>
          </a:bodyPr>
          <a:lstStyle/>
          <a:p>
            <a:r>
              <a:rPr sz="1300" b="1">
                <a:solidFill>
                  <a:srgbClr val="8888A1"/>
                </a:solidFill>
              </a:rPr>
              <a:t>03</a:t>
            </a:r>
          </a:p>
        </p:txBody>
      </p:sp>
      <p:sp>
        <p:nvSpPr>
          <p:cNvPr id="14" name="TextBox 13"/>
          <p:cNvSpPr txBox="1"/>
          <p:nvPr/>
        </p:nvSpPr>
        <p:spPr>
          <a:xfrm>
            <a:off x="1097280" y="3976300"/>
            <a:ext cx="4023360" cy="276999"/>
          </a:xfrm>
          <a:prstGeom prst="rect">
            <a:avLst/>
          </a:prstGeom>
          <a:noFill/>
        </p:spPr>
        <p:txBody>
          <a:bodyPr wrap="square" lIns="0" tIns="0" rIns="0" bIns="0" anchor="ctr">
            <a:spAutoFit/>
          </a:bodyPr>
          <a:lstStyle/>
          <a:p>
            <a:r>
              <a:rPr sz="1800" b="0">
                <a:solidFill>
                  <a:srgbClr val="FFFFFF"/>
                </a:solidFill>
              </a:rPr>
              <a:t>Staffing</a:t>
            </a:r>
          </a:p>
        </p:txBody>
      </p:sp>
      <p:sp>
        <p:nvSpPr>
          <p:cNvPr id="15" name="TextBox 14"/>
          <p:cNvSpPr txBox="1"/>
          <p:nvPr/>
        </p:nvSpPr>
        <p:spPr>
          <a:xfrm>
            <a:off x="4846320" y="4014772"/>
            <a:ext cx="2286000" cy="200055"/>
          </a:xfrm>
          <a:prstGeom prst="rect">
            <a:avLst/>
          </a:prstGeom>
          <a:noFill/>
        </p:spPr>
        <p:txBody>
          <a:bodyPr wrap="square" lIns="0" tIns="0" rIns="0" bIns="0" anchor="ctr">
            <a:spAutoFit/>
          </a:bodyPr>
          <a:lstStyle/>
          <a:p>
            <a:r>
              <a:rPr sz="1300" b="0">
                <a:solidFill>
                  <a:srgbClr val="D6D6DF"/>
                </a:solidFill>
              </a:rPr>
              <a:t>AO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mn-lt"/>
              </a:rPr>
              <a:t>What we’re already doing</a:t>
            </a:r>
          </a:p>
        </p:txBody>
      </p:sp>
      <p:sp>
        <p:nvSpPr>
          <p:cNvPr id="3" name="Eyebrow"/>
          <p:cNvSpPr txBox="1"/>
          <p:nvPr/>
        </p:nvSpPr>
        <p:spPr>
          <a:xfrm>
            <a:off x="914400" y="932688"/>
            <a:ext cx="6858000" cy="153888"/>
          </a:xfrm>
          <a:prstGeom prst="rect">
            <a:avLst/>
          </a:prstGeom>
          <a:noFill/>
        </p:spPr>
        <p:txBody>
          <a:bodyPr wrap="square" lIns="0" tIns="0" rIns="0" bIns="0" anchor="t">
            <a:spAutoFit/>
          </a:bodyPr>
          <a:lstStyle/>
          <a:p>
            <a:pPr>
              <a:spcAft>
                <a:spcPts val="0"/>
              </a:spcAft>
            </a:pPr>
            <a:r>
              <a:rPr sz="1000" b="1" i="0" cap="all" spc="200">
                <a:solidFill>
                  <a:srgbClr val="0391F2"/>
                </a:solidFill>
              </a:rPr>
              <a:t>WHAT WE’RE DOING</a:t>
            </a:r>
          </a:p>
        </p:txBody>
      </p:sp>
      <p:sp>
        <p:nvSpPr>
          <p:cNvPr id="4" name="Section description"/>
          <p:cNvSpPr txBox="1"/>
          <p:nvPr/>
        </p:nvSpPr>
        <p:spPr>
          <a:xfrm>
            <a:off x="914400" y="3931920"/>
            <a:ext cx="5669280" cy="246221"/>
          </a:xfrm>
          <a:prstGeom prst="rect">
            <a:avLst/>
          </a:prstGeom>
          <a:noFill/>
        </p:spPr>
        <p:txBody>
          <a:bodyPr wrap="square" lIns="0" tIns="0" rIns="0" bIns="0" anchor="t">
            <a:spAutoFit/>
          </a:bodyPr>
          <a:lstStyle/>
          <a:p>
            <a:pPr>
              <a:spcAft>
                <a:spcPts val="0"/>
              </a:spcAft>
            </a:pPr>
            <a:r>
              <a:rPr sz="1600" b="0" i="0">
                <a:solidFill>
                  <a:srgbClr val="FFFFFF"/>
                </a:solidFill>
              </a:rPr>
              <a:t>The priorities already in motion.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descr="k_edge4.jpg"/>
          <p:cNvPicPr>
            <a:picLocks noChangeAspect="1"/>
          </p:cNvPicPr>
          <p:nvPr/>
        </p:nvPicPr>
        <p:blipFill>
          <a:blip r:embed="rId2"/>
          <a:stretch>
            <a:fillRect/>
          </a:stretch>
        </p:blipFill>
        <p:spPr>
          <a:xfrm>
            <a:off x="7894320" y="0"/>
            <a:ext cx="4297680" cy="1207008"/>
          </a:xfrm>
          <a:prstGeom prst="rect">
            <a:avLst/>
          </a:prstGeom>
        </p:spPr>
      </p:pic>
      <p:sp>
        <p:nvSpPr>
          <p:cNvPr id="57" name="Rectangle 56"/>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58" name="Rectangle 57"/>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p:txBody>
          <a:bodyPr/>
          <a:lstStyle/>
          <a:p>
            <a:r>
              <a:rPr>
                <a:latin typeface="+mn-lt"/>
              </a:rPr>
              <a:t>Where we’re focusing</a:t>
            </a:r>
          </a:p>
        </p:txBody>
      </p:sp>
      <p:sp>
        <p:nvSpPr>
          <p:cNvPr id="4" name="Text Placeholder 3"/>
          <p:cNvSpPr>
            <a:spLocks noGrp="1"/>
          </p:cNvSpPr>
          <p:nvPr>
            <p:ph type="body" sz="quarter" idx="12"/>
          </p:nvPr>
        </p:nvSpPr>
        <p:spPr/>
        <p:txBody>
          <a:bodyPr/>
          <a:lstStyle/>
          <a:p>
            <a:r>
              <a:t>WHAT WE’RE DOING</a:t>
            </a:r>
          </a:p>
        </p:txBody>
      </p:sp>
      <p:sp>
        <p:nvSpPr>
          <p:cNvPr id="5" name="Column label"/>
          <p:cNvSpPr txBox="1"/>
          <p:nvPr/>
        </p:nvSpPr>
        <p:spPr>
          <a:xfrm>
            <a:off x="1234440" y="1417320"/>
            <a:ext cx="2743200" cy="138499"/>
          </a:xfrm>
          <a:prstGeom prst="rect">
            <a:avLst/>
          </a:prstGeom>
          <a:noFill/>
        </p:spPr>
        <p:txBody>
          <a:bodyPr wrap="square" lIns="0" tIns="0" rIns="0" bIns="0" anchor="t">
            <a:spAutoFit/>
          </a:bodyPr>
          <a:lstStyle/>
          <a:p>
            <a:pPr>
              <a:spcAft>
                <a:spcPts val="0"/>
              </a:spcAft>
            </a:pPr>
            <a:r>
              <a:rPr sz="900" b="1" i="0" spc="200">
                <a:solidFill>
                  <a:srgbClr val="8888A1"/>
                </a:solidFill>
              </a:rPr>
              <a:t>PRIORITY</a:t>
            </a:r>
          </a:p>
        </p:txBody>
      </p:sp>
      <p:sp>
        <p:nvSpPr>
          <p:cNvPr id="6" name="Column label"/>
          <p:cNvSpPr txBox="1"/>
          <p:nvPr/>
        </p:nvSpPr>
        <p:spPr>
          <a:xfrm>
            <a:off x="4206240" y="1417320"/>
            <a:ext cx="3657600" cy="138499"/>
          </a:xfrm>
          <a:prstGeom prst="rect">
            <a:avLst/>
          </a:prstGeom>
          <a:noFill/>
        </p:spPr>
        <p:txBody>
          <a:bodyPr wrap="square" lIns="0" tIns="0" rIns="0" bIns="0" anchor="t">
            <a:spAutoFit/>
          </a:bodyPr>
          <a:lstStyle/>
          <a:p>
            <a:pPr>
              <a:spcAft>
                <a:spcPts val="0"/>
              </a:spcAft>
            </a:pPr>
            <a:r>
              <a:rPr sz="900" b="1" i="0" spc="200">
                <a:solidFill>
                  <a:srgbClr val="8888A1"/>
                </a:solidFill>
              </a:rPr>
              <a:t>WHAT IT SOLVES</a:t>
            </a:r>
          </a:p>
        </p:txBody>
      </p:sp>
      <p:sp>
        <p:nvSpPr>
          <p:cNvPr id="7" name="Column label"/>
          <p:cNvSpPr txBox="1"/>
          <p:nvPr/>
        </p:nvSpPr>
        <p:spPr>
          <a:xfrm>
            <a:off x="10287000" y="1417320"/>
            <a:ext cx="1371600" cy="138499"/>
          </a:xfrm>
          <a:prstGeom prst="rect">
            <a:avLst/>
          </a:prstGeom>
          <a:noFill/>
        </p:spPr>
        <p:txBody>
          <a:bodyPr wrap="square" lIns="0" tIns="0" rIns="0" bIns="0" anchor="t">
            <a:spAutoFit/>
          </a:bodyPr>
          <a:lstStyle/>
          <a:p>
            <a:pPr>
              <a:spcAft>
                <a:spcPts val="0"/>
              </a:spcAft>
            </a:pPr>
            <a:r>
              <a:rPr sz="900" b="1" i="0" spc="200">
                <a:solidFill>
                  <a:srgbClr val="8888A1"/>
                </a:solidFill>
              </a:rPr>
              <a:t>STATUS</a:t>
            </a:r>
          </a:p>
        </p:txBody>
      </p:sp>
      <p:sp>
        <p:nvSpPr>
          <p:cNvPr id="8" name="Group label"/>
          <p:cNvSpPr txBox="1"/>
          <p:nvPr/>
        </p:nvSpPr>
        <p:spPr>
          <a:xfrm>
            <a:off x="530352" y="1737360"/>
            <a:ext cx="2377440" cy="146194"/>
          </a:xfrm>
          <a:prstGeom prst="rect">
            <a:avLst/>
          </a:prstGeom>
          <a:noFill/>
        </p:spPr>
        <p:txBody>
          <a:bodyPr wrap="square" lIns="0" tIns="0" rIns="0" bIns="0" anchor="t">
            <a:spAutoFit/>
          </a:bodyPr>
          <a:lstStyle/>
          <a:p>
            <a:pPr>
              <a:spcAft>
                <a:spcPts val="0"/>
              </a:spcAft>
            </a:pPr>
            <a:r>
              <a:rPr sz="950" b="1" i="0" spc="200">
                <a:solidFill>
                  <a:srgbClr val="000000"/>
                </a:solidFill>
              </a:rPr>
              <a:t>TOP 4 PRIORITIES</a:t>
            </a:r>
          </a:p>
        </p:txBody>
      </p:sp>
      <p:cxnSp>
        <p:nvCxnSpPr>
          <p:cNvPr id="9" name="Group rule"/>
          <p:cNvCxnSpPr/>
          <p:nvPr/>
        </p:nvCxnSpPr>
        <p:spPr>
          <a:xfrm>
            <a:off x="2468880" y="1828800"/>
            <a:ext cx="9189720" cy="0"/>
          </a:xfrm>
          <a:prstGeom prst="line">
            <a:avLst/>
          </a:prstGeom>
          <a:ln w="9525">
            <a:solidFill>
              <a:srgbClr val="D6D6DF"/>
            </a:solidFill>
          </a:ln>
        </p:spPr>
        <p:style>
          <a:lnRef idx="2">
            <a:srgbClr val="000000"/>
          </a:lnRef>
          <a:fillRef idx="0">
            <a:srgbClr val="000000"/>
          </a:fillRef>
          <a:effectRef idx="1">
            <a:srgbClr val="000000"/>
          </a:effectRef>
          <a:fontRef idx="minor">
            <a:schemeClr val="tx1"/>
          </a:fontRef>
        </p:style>
      </p:cxnSp>
      <p:sp>
        <p:nvSpPr>
          <p:cNvPr id="10" name="Priority row 01"/>
          <p:cNvSpPr/>
          <p:nvPr/>
        </p:nvSpPr>
        <p:spPr>
          <a:xfrm>
            <a:off x="530352" y="1975104"/>
            <a:ext cx="11128248" cy="457200"/>
          </a:xfrm>
          <a:prstGeom prst="roundRect">
            <a:avLst>
              <a:gd name="adj" fmla="val 1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endParaRPr/>
          </a:p>
        </p:txBody>
      </p:sp>
      <p:sp>
        <p:nvSpPr>
          <p:cNvPr id="11" name="Priority number"/>
          <p:cNvSpPr txBox="1"/>
          <p:nvPr/>
        </p:nvSpPr>
        <p:spPr>
          <a:xfrm>
            <a:off x="713232" y="2080593"/>
            <a:ext cx="457200" cy="246221"/>
          </a:xfrm>
          <a:prstGeom prst="rect">
            <a:avLst/>
          </a:prstGeom>
          <a:noFill/>
        </p:spPr>
        <p:txBody>
          <a:bodyPr wrap="square" lIns="0" tIns="0" rIns="0" bIns="0" anchor="ctr">
            <a:spAutoFit/>
          </a:bodyPr>
          <a:lstStyle/>
          <a:p>
            <a:pPr>
              <a:spcAft>
                <a:spcPts val="0"/>
              </a:spcAft>
            </a:pPr>
            <a:r>
              <a:rPr sz="1600" b="1" i="0">
                <a:solidFill>
                  <a:srgbClr val="0391F2"/>
                </a:solidFill>
              </a:rPr>
              <a:t>01</a:t>
            </a:r>
          </a:p>
        </p:txBody>
      </p:sp>
      <p:sp>
        <p:nvSpPr>
          <p:cNvPr id="12" name="Priority name"/>
          <p:cNvSpPr txBox="1"/>
          <p:nvPr/>
        </p:nvSpPr>
        <p:spPr>
          <a:xfrm>
            <a:off x="1234440" y="2107524"/>
            <a:ext cx="2880360" cy="192360"/>
          </a:xfrm>
          <a:prstGeom prst="rect">
            <a:avLst/>
          </a:prstGeom>
          <a:noFill/>
        </p:spPr>
        <p:txBody>
          <a:bodyPr wrap="square" lIns="0" tIns="0" rIns="0" bIns="0" anchor="ctr">
            <a:spAutoFit/>
          </a:bodyPr>
          <a:lstStyle/>
          <a:p>
            <a:pPr>
              <a:spcAft>
                <a:spcPts val="0"/>
              </a:spcAft>
            </a:pPr>
            <a:r>
              <a:rPr sz="1250" b="1" i="0">
                <a:solidFill>
                  <a:srgbClr val="000000"/>
                </a:solidFill>
              </a:rPr>
              <a:t>Deal-to-Delivery Playbook</a:t>
            </a:r>
          </a:p>
        </p:txBody>
      </p:sp>
      <p:sp>
        <p:nvSpPr>
          <p:cNvPr id="13" name="What it solves"/>
          <p:cNvSpPr txBox="1"/>
          <p:nvPr/>
        </p:nvSpPr>
        <p:spPr>
          <a:xfrm>
            <a:off x="4206240" y="2042121"/>
            <a:ext cx="5897880" cy="323165"/>
          </a:xfrm>
          <a:prstGeom prst="rect">
            <a:avLst/>
          </a:prstGeom>
          <a:noFill/>
        </p:spPr>
        <p:txBody>
          <a:bodyPr wrap="square" lIns="0" tIns="0" rIns="0" bIns="0" anchor="ctr">
            <a:spAutoFit/>
          </a:bodyPr>
          <a:lstStyle/>
          <a:p>
            <a:pPr>
              <a:spcAft>
                <a:spcPts val="0"/>
              </a:spcAft>
            </a:pPr>
            <a:r>
              <a:rPr sz="1050" b="0" i="0">
                <a:solidFill>
                  <a:srgbClr val="000000"/>
                </a:solidFill>
              </a:rPr>
              <a:t>Work is sold in shapes we cannot staff or deliver. One playbook ties delivery models, contracts, and methodology together.</a:t>
            </a:r>
          </a:p>
        </p:txBody>
      </p:sp>
      <p:sp>
        <p:nvSpPr>
          <p:cNvPr id="14" name="Status pill"/>
          <p:cNvSpPr/>
          <p:nvPr/>
        </p:nvSpPr>
        <p:spPr>
          <a:xfrm>
            <a:off x="10287000" y="2084832"/>
            <a:ext cx="1298448" cy="237744"/>
          </a:xfrm>
          <a:prstGeom prst="roundRect">
            <a:avLst>
              <a:gd name="adj" fmla="val 50000"/>
            </a:avLst>
          </a:prstGeom>
          <a:solidFill>
            <a:srgbClr val="000000"/>
          </a:solidFill>
          <a:ln>
            <a:no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15" name="Status text"/>
          <p:cNvSpPr txBox="1"/>
          <p:nvPr/>
        </p:nvSpPr>
        <p:spPr>
          <a:xfrm>
            <a:off x="10287000" y="2138301"/>
            <a:ext cx="1298448" cy="130805"/>
          </a:xfrm>
          <a:prstGeom prst="rect">
            <a:avLst/>
          </a:prstGeom>
          <a:noFill/>
        </p:spPr>
        <p:txBody>
          <a:bodyPr wrap="square" lIns="0" tIns="0" rIns="0" bIns="0" anchor="ctr">
            <a:spAutoFit/>
          </a:bodyPr>
          <a:lstStyle/>
          <a:p>
            <a:pPr algn="ctr">
              <a:spcAft>
                <a:spcPts val="0"/>
              </a:spcAft>
            </a:pPr>
            <a:r>
              <a:rPr sz="850" b="1" i="0" spc="100">
                <a:solidFill>
                  <a:srgbClr val="FFFFFF"/>
                </a:solidFill>
              </a:rPr>
              <a:t>FOCUS NOW</a:t>
            </a:r>
          </a:p>
        </p:txBody>
      </p:sp>
      <p:sp>
        <p:nvSpPr>
          <p:cNvPr id="16" name="Priority row 02"/>
          <p:cNvSpPr/>
          <p:nvPr/>
        </p:nvSpPr>
        <p:spPr>
          <a:xfrm>
            <a:off x="530352" y="2487168"/>
            <a:ext cx="11128248" cy="457200"/>
          </a:xfrm>
          <a:prstGeom prst="roundRect">
            <a:avLst>
              <a:gd name="adj" fmla="val 1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endParaRPr/>
          </a:p>
        </p:txBody>
      </p:sp>
      <p:sp>
        <p:nvSpPr>
          <p:cNvPr id="17" name="Priority number"/>
          <p:cNvSpPr txBox="1"/>
          <p:nvPr/>
        </p:nvSpPr>
        <p:spPr>
          <a:xfrm>
            <a:off x="713232" y="2592657"/>
            <a:ext cx="457200" cy="246221"/>
          </a:xfrm>
          <a:prstGeom prst="rect">
            <a:avLst/>
          </a:prstGeom>
          <a:noFill/>
        </p:spPr>
        <p:txBody>
          <a:bodyPr wrap="square" lIns="0" tIns="0" rIns="0" bIns="0" anchor="ctr">
            <a:spAutoFit/>
          </a:bodyPr>
          <a:lstStyle/>
          <a:p>
            <a:pPr>
              <a:spcAft>
                <a:spcPts val="0"/>
              </a:spcAft>
            </a:pPr>
            <a:r>
              <a:rPr sz="1600" b="1" i="0">
                <a:solidFill>
                  <a:srgbClr val="0391F2"/>
                </a:solidFill>
              </a:rPr>
              <a:t>02</a:t>
            </a:r>
          </a:p>
        </p:txBody>
      </p:sp>
      <p:sp>
        <p:nvSpPr>
          <p:cNvPr id="18" name="Priority name"/>
          <p:cNvSpPr txBox="1"/>
          <p:nvPr/>
        </p:nvSpPr>
        <p:spPr>
          <a:xfrm>
            <a:off x="1234440" y="2619588"/>
            <a:ext cx="2880360" cy="192360"/>
          </a:xfrm>
          <a:prstGeom prst="rect">
            <a:avLst/>
          </a:prstGeom>
          <a:noFill/>
        </p:spPr>
        <p:txBody>
          <a:bodyPr wrap="square" lIns="0" tIns="0" rIns="0" bIns="0" anchor="ctr">
            <a:spAutoFit/>
          </a:bodyPr>
          <a:lstStyle/>
          <a:p>
            <a:pPr>
              <a:spcAft>
                <a:spcPts val="0"/>
              </a:spcAft>
            </a:pPr>
            <a:r>
              <a:rPr sz="1250" b="1" i="0">
                <a:solidFill>
                  <a:srgbClr val="000000"/>
                </a:solidFill>
              </a:rPr>
              <a:t>Accountability Framework</a:t>
            </a:r>
          </a:p>
        </p:txBody>
      </p:sp>
      <p:sp>
        <p:nvSpPr>
          <p:cNvPr id="19" name="What it solves"/>
          <p:cNvSpPr txBox="1"/>
          <p:nvPr/>
        </p:nvSpPr>
        <p:spPr>
          <a:xfrm>
            <a:off x="4206240" y="2554185"/>
            <a:ext cx="5897880" cy="323165"/>
          </a:xfrm>
          <a:prstGeom prst="rect">
            <a:avLst/>
          </a:prstGeom>
          <a:noFill/>
        </p:spPr>
        <p:txBody>
          <a:bodyPr wrap="square" lIns="0" tIns="0" rIns="0" bIns="0" anchor="ctr">
            <a:spAutoFit/>
          </a:bodyPr>
          <a:lstStyle/>
          <a:p>
            <a:pPr>
              <a:spcAft>
                <a:spcPts val="0"/>
              </a:spcAft>
            </a:pPr>
            <a:r>
              <a:rPr sz="1050" b="0" i="0">
                <a:solidFill>
                  <a:srgbClr val="000000"/>
                </a:solidFill>
              </a:rPr>
              <a:t>Define accountability for every project, with clear delivery roles, executive sponsorship, and regular reviews that highlight high risk projects.</a:t>
            </a:r>
          </a:p>
        </p:txBody>
      </p:sp>
      <p:sp>
        <p:nvSpPr>
          <p:cNvPr id="20" name="Status pill"/>
          <p:cNvSpPr/>
          <p:nvPr/>
        </p:nvSpPr>
        <p:spPr>
          <a:xfrm>
            <a:off x="10287000" y="2596896"/>
            <a:ext cx="1298448" cy="237744"/>
          </a:xfrm>
          <a:prstGeom prst="roundRect">
            <a:avLst>
              <a:gd name="adj" fmla="val 50000"/>
            </a:avLst>
          </a:prstGeom>
          <a:solidFill>
            <a:srgbClr val="FFFFFF"/>
          </a:solidFill>
          <a:ln w="9525">
            <a:solidFill>
              <a:srgbClr val="0391F2"/>
            </a:solid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21" name="Status text"/>
          <p:cNvSpPr txBox="1"/>
          <p:nvPr/>
        </p:nvSpPr>
        <p:spPr>
          <a:xfrm>
            <a:off x="10287000" y="2650365"/>
            <a:ext cx="1298448" cy="130805"/>
          </a:xfrm>
          <a:prstGeom prst="rect">
            <a:avLst/>
          </a:prstGeom>
          <a:noFill/>
        </p:spPr>
        <p:txBody>
          <a:bodyPr wrap="square" lIns="0" tIns="0" rIns="0" bIns="0" anchor="ctr">
            <a:spAutoFit/>
          </a:bodyPr>
          <a:lstStyle/>
          <a:p>
            <a:pPr algn="ctr">
              <a:spcAft>
                <a:spcPts val="0"/>
              </a:spcAft>
            </a:pPr>
            <a:r>
              <a:rPr sz="850" b="1" i="0" spc="100">
                <a:solidFill>
                  <a:srgbClr val="000000"/>
                </a:solidFill>
              </a:rPr>
              <a:t>NEXT</a:t>
            </a:r>
          </a:p>
        </p:txBody>
      </p:sp>
      <p:sp>
        <p:nvSpPr>
          <p:cNvPr id="22" name="Priority row 03"/>
          <p:cNvSpPr/>
          <p:nvPr/>
        </p:nvSpPr>
        <p:spPr>
          <a:xfrm>
            <a:off x="530352" y="2999232"/>
            <a:ext cx="11128248" cy="457200"/>
          </a:xfrm>
          <a:prstGeom prst="roundRect">
            <a:avLst>
              <a:gd name="adj" fmla="val 1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endParaRPr/>
          </a:p>
        </p:txBody>
      </p:sp>
      <p:sp>
        <p:nvSpPr>
          <p:cNvPr id="23" name="Priority number"/>
          <p:cNvSpPr txBox="1"/>
          <p:nvPr/>
        </p:nvSpPr>
        <p:spPr>
          <a:xfrm>
            <a:off x="713232" y="3104721"/>
            <a:ext cx="457200" cy="246221"/>
          </a:xfrm>
          <a:prstGeom prst="rect">
            <a:avLst/>
          </a:prstGeom>
          <a:noFill/>
        </p:spPr>
        <p:txBody>
          <a:bodyPr wrap="square" lIns="0" tIns="0" rIns="0" bIns="0" anchor="ctr">
            <a:spAutoFit/>
          </a:bodyPr>
          <a:lstStyle/>
          <a:p>
            <a:pPr>
              <a:spcAft>
                <a:spcPts val="0"/>
              </a:spcAft>
            </a:pPr>
            <a:r>
              <a:rPr sz="1600" b="1" i="0">
                <a:solidFill>
                  <a:srgbClr val="0391F2"/>
                </a:solidFill>
              </a:rPr>
              <a:t>03</a:t>
            </a:r>
          </a:p>
        </p:txBody>
      </p:sp>
      <p:sp>
        <p:nvSpPr>
          <p:cNvPr id="24" name="Priority name"/>
          <p:cNvSpPr txBox="1"/>
          <p:nvPr/>
        </p:nvSpPr>
        <p:spPr>
          <a:xfrm>
            <a:off x="1234440" y="3131652"/>
            <a:ext cx="2880360" cy="192360"/>
          </a:xfrm>
          <a:prstGeom prst="rect">
            <a:avLst/>
          </a:prstGeom>
          <a:noFill/>
        </p:spPr>
        <p:txBody>
          <a:bodyPr wrap="square" lIns="0" tIns="0" rIns="0" bIns="0" anchor="ctr">
            <a:spAutoFit/>
          </a:bodyPr>
          <a:lstStyle/>
          <a:p>
            <a:pPr>
              <a:spcAft>
                <a:spcPts val="0"/>
              </a:spcAft>
            </a:pPr>
            <a:r>
              <a:rPr sz="1250" b="1" i="0">
                <a:solidFill>
                  <a:srgbClr val="000000"/>
                </a:solidFill>
              </a:rPr>
              <a:t>Leadership Dashboards</a:t>
            </a:r>
          </a:p>
        </p:txBody>
      </p:sp>
      <p:sp>
        <p:nvSpPr>
          <p:cNvPr id="25" name="What it solves"/>
          <p:cNvSpPr txBox="1"/>
          <p:nvPr/>
        </p:nvSpPr>
        <p:spPr>
          <a:xfrm>
            <a:off x="4206240" y="3147040"/>
            <a:ext cx="5897880" cy="161583"/>
          </a:xfrm>
          <a:prstGeom prst="rect">
            <a:avLst/>
          </a:prstGeom>
          <a:noFill/>
        </p:spPr>
        <p:txBody>
          <a:bodyPr wrap="square" lIns="0" tIns="0" rIns="0" bIns="0" anchor="ctr">
            <a:spAutoFit/>
          </a:bodyPr>
          <a:lstStyle/>
          <a:p>
            <a:pPr>
              <a:spcAft>
                <a:spcPts val="0"/>
              </a:spcAft>
            </a:pPr>
            <a:r>
              <a:rPr sz="1050" b="0" i="0">
                <a:solidFill>
                  <a:srgbClr val="000000"/>
                </a:solidFill>
              </a:rPr>
              <a:t>One leadership dashboard: margin, capacity, forecast, rate cards, burn, and revenue recognition.</a:t>
            </a:r>
          </a:p>
        </p:txBody>
      </p:sp>
      <p:sp>
        <p:nvSpPr>
          <p:cNvPr id="26" name="Status pill"/>
          <p:cNvSpPr/>
          <p:nvPr/>
        </p:nvSpPr>
        <p:spPr>
          <a:xfrm>
            <a:off x="10287000" y="3108960"/>
            <a:ext cx="1298448" cy="237744"/>
          </a:xfrm>
          <a:prstGeom prst="roundRect">
            <a:avLst>
              <a:gd name="adj" fmla="val 50000"/>
            </a:avLst>
          </a:prstGeom>
          <a:solidFill>
            <a:srgbClr val="FFFFFF"/>
          </a:solidFill>
          <a:ln w="9525">
            <a:solidFill>
              <a:srgbClr val="0391F2"/>
            </a:solid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27" name="Status text"/>
          <p:cNvSpPr txBox="1"/>
          <p:nvPr/>
        </p:nvSpPr>
        <p:spPr>
          <a:xfrm>
            <a:off x="10287000" y="3162429"/>
            <a:ext cx="1298448" cy="130805"/>
          </a:xfrm>
          <a:prstGeom prst="rect">
            <a:avLst/>
          </a:prstGeom>
          <a:noFill/>
        </p:spPr>
        <p:txBody>
          <a:bodyPr wrap="square" lIns="0" tIns="0" rIns="0" bIns="0" anchor="ctr">
            <a:spAutoFit/>
          </a:bodyPr>
          <a:lstStyle/>
          <a:p>
            <a:pPr algn="ctr">
              <a:spcAft>
                <a:spcPts val="0"/>
              </a:spcAft>
            </a:pPr>
            <a:r>
              <a:rPr sz="850" b="1" i="0" spc="100">
                <a:solidFill>
                  <a:srgbClr val="000000"/>
                </a:solidFill>
              </a:rPr>
              <a:t>NEXT</a:t>
            </a:r>
          </a:p>
        </p:txBody>
      </p:sp>
      <p:sp>
        <p:nvSpPr>
          <p:cNvPr id="28" name="Priority row 04"/>
          <p:cNvSpPr/>
          <p:nvPr/>
        </p:nvSpPr>
        <p:spPr>
          <a:xfrm>
            <a:off x="530352" y="3511296"/>
            <a:ext cx="11128248" cy="457200"/>
          </a:xfrm>
          <a:prstGeom prst="roundRect">
            <a:avLst>
              <a:gd name="adj" fmla="val 1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endParaRPr/>
          </a:p>
        </p:txBody>
      </p:sp>
      <p:sp>
        <p:nvSpPr>
          <p:cNvPr id="29" name="Priority number"/>
          <p:cNvSpPr txBox="1"/>
          <p:nvPr/>
        </p:nvSpPr>
        <p:spPr>
          <a:xfrm>
            <a:off x="713232" y="3616785"/>
            <a:ext cx="457200" cy="246221"/>
          </a:xfrm>
          <a:prstGeom prst="rect">
            <a:avLst/>
          </a:prstGeom>
          <a:noFill/>
        </p:spPr>
        <p:txBody>
          <a:bodyPr wrap="square" lIns="0" tIns="0" rIns="0" bIns="0" anchor="ctr">
            <a:spAutoFit/>
          </a:bodyPr>
          <a:lstStyle/>
          <a:p>
            <a:pPr>
              <a:spcAft>
                <a:spcPts val="0"/>
              </a:spcAft>
            </a:pPr>
            <a:r>
              <a:rPr sz="1600" b="1" i="0">
                <a:solidFill>
                  <a:srgbClr val="0391F2"/>
                </a:solidFill>
              </a:rPr>
              <a:t>04</a:t>
            </a:r>
          </a:p>
        </p:txBody>
      </p:sp>
      <p:sp>
        <p:nvSpPr>
          <p:cNvPr id="30" name="Priority name"/>
          <p:cNvSpPr txBox="1"/>
          <p:nvPr/>
        </p:nvSpPr>
        <p:spPr>
          <a:xfrm>
            <a:off x="1234440" y="3643716"/>
            <a:ext cx="2880360" cy="192360"/>
          </a:xfrm>
          <a:prstGeom prst="rect">
            <a:avLst/>
          </a:prstGeom>
          <a:noFill/>
        </p:spPr>
        <p:txBody>
          <a:bodyPr wrap="square" lIns="0" tIns="0" rIns="0" bIns="0" anchor="ctr">
            <a:spAutoFit/>
          </a:bodyPr>
          <a:lstStyle/>
          <a:p>
            <a:pPr>
              <a:spcAft>
                <a:spcPts val="0"/>
              </a:spcAft>
            </a:pPr>
            <a:r>
              <a:rPr sz="1250" b="1" i="0">
                <a:solidFill>
                  <a:srgbClr val="000000"/>
                </a:solidFill>
              </a:rPr>
              <a:t>Capacity Planning &amp; Romulus</a:t>
            </a:r>
          </a:p>
        </p:txBody>
      </p:sp>
      <p:sp>
        <p:nvSpPr>
          <p:cNvPr id="31" name="What it solves"/>
          <p:cNvSpPr txBox="1"/>
          <p:nvPr/>
        </p:nvSpPr>
        <p:spPr>
          <a:xfrm>
            <a:off x="4206240" y="3659104"/>
            <a:ext cx="5897880" cy="161583"/>
          </a:xfrm>
          <a:prstGeom prst="rect">
            <a:avLst/>
          </a:prstGeom>
          <a:noFill/>
        </p:spPr>
        <p:txBody>
          <a:bodyPr wrap="square" lIns="0" tIns="0" rIns="0" bIns="0" anchor="ctr">
            <a:spAutoFit/>
          </a:bodyPr>
          <a:lstStyle/>
          <a:p>
            <a:pPr>
              <a:spcAft>
                <a:spcPts val="0"/>
              </a:spcAft>
            </a:pPr>
            <a:r>
              <a:rPr sz="1050" b="0" i="0">
                <a:solidFill>
                  <a:srgbClr val="000000"/>
                </a:solidFill>
              </a:rPr>
              <a:t>Closing the skills and bench visibility gap so we can staff ahead of demand.</a:t>
            </a:r>
          </a:p>
        </p:txBody>
      </p:sp>
      <p:sp>
        <p:nvSpPr>
          <p:cNvPr id="32" name="Status pill"/>
          <p:cNvSpPr/>
          <p:nvPr/>
        </p:nvSpPr>
        <p:spPr>
          <a:xfrm>
            <a:off x="10287000" y="3621024"/>
            <a:ext cx="1298448" cy="237744"/>
          </a:xfrm>
          <a:prstGeom prst="roundRect">
            <a:avLst>
              <a:gd name="adj" fmla="val 50000"/>
            </a:avLst>
          </a:prstGeom>
          <a:solidFill>
            <a:srgbClr val="FFFFFF"/>
          </a:solidFill>
          <a:ln w="9525">
            <a:solidFill>
              <a:srgbClr val="0391F2"/>
            </a:solid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33" name="Status text"/>
          <p:cNvSpPr txBox="1"/>
          <p:nvPr/>
        </p:nvSpPr>
        <p:spPr>
          <a:xfrm>
            <a:off x="10287000" y="3674493"/>
            <a:ext cx="1298448" cy="130805"/>
          </a:xfrm>
          <a:prstGeom prst="rect">
            <a:avLst/>
          </a:prstGeom>
          <a:noFill/>
        </p:spPr>
        <p:txBody>
          <a:bodyPr wrap="square" lIns="0" tIns="0" rIns="0" bIns="0" anchor="ctr">
            <a:spAutoFit/>
          </a:bodyPr>
          <a:lstStyle/>
          <a:p>
            <a:pPr algn="ctr">
              <a:spcAft>
                <a:spcPts val="0"/>
              </a:spcAft>
            </a:pPr>
            <a:r>
              <a:rPr sz="850" b="1" i="0" spc="100">
                <a:solidFill>
                  <a:srgbClr val="000000"/>
                </a:solidFill>
              </a:rPr>
              <a:t>NEXT</a:t>
            </a:r>
          </a:p>
        </p:txBody>
      </p:sp>
      <p:sp>
        <p:nvSpPr>
          <p:cNvPr id="34" name="Group label"/>
          <p:cNvSpPr txBox="1"/>
          <p:nvPr/>
        </p:nvSpPr>
        <p:spPr>
          <a:xfrm>
            <a:off x="530352" y="4114800"/>
            <a:ext cx="2377440" cy="146194"/>
          </a:xfrm>
          <a:prstGeom prst="rect">
            <a:avLst/>
          </a:prstGeom>
          <a:noFill/>
        </p:spPr>
        <p:txBody>
          <a:bodyPr wrap="square" lIns="0" tIns="0" rIns="0" bIns="0" anchor="t">
            <a:spAutoFit/>
          </a:bodyPr>
          <a:lstStyle/>
          <a:p>
            <a:pPr>
              <a:spcAft>
                <a:spcPts val="0"/>
              </a:spcAft>
            </a:pPr>
            <a:r>
              <a:rPr sz="950" b="1" i="0" spc="200">
                <a:solidFill>
                  <a:srgbClr val="000000"/>
                </a:solidFill>
              </a:rPr>
              <a:t>OTHER INITIATIVES</a:t>
            </a:r>
          </a:p>
        </p:txBody>
      </p:sp>
      <p:cxnSp>
        <p:nvCxnSpPr>
          <p:cNvPr id="35" name="Group rule"/>
          <p:cNvCxnSpPr/>
          <p:nvPr/>
        </p:nvCxnSpPr>
        <p:spPr>
          <a:xfrm>
            <a:off x="2468880" y="4206240"/>
            <a:ext cx="9189720" cy="0"/>
          </a:xfrm>
          <a:prstGeom prst="line">
            <a:avLst/>
          </a:prstGeom>
          <a:ln w="9525">
            <a:solidFill>
              <a:srgbClr val="D6D6DF"/>
            </a:solidFill>
          </a:ln>
        </p:spPr>
        <p:style>
          <a:lnRef idx="2">
            <a:srgbClr val="000000"/>
          </a:lnRef>
          <a:fillRef idx="0">
            <a:srgbClr val="000000"/>
          </a:fillRef>
          <a:effectRef idx="1">
            <a:srgbClr val="000000"/>
          </a:effectRef>
          <a:fontRef idx="minor">
            <a:schemeClr val="tx1"/>
          </a:fontRef>
        </p:style>
      </p:cxnSp>
      <p:sp>
        <p:nvSpPr>
          <p:cNvPr id="36" name="Priority row 05"/>
          <p:cNvSpPr/>
          <p:nvPr/>
        </p:nvSpPr>
        <p:spPr>
          <a:xfrm>
            <a:off x="530352" y="4352544"/>
            <a:ext cx="11128248" cy="457200"/>
          </a:xfrm>
          <a:prstGeom prst="roundRect">
            <a:avLst>
              <a:gd name="adj" fmla="val 1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endParaRPr/>
          </a:p>
        </p:txBody>
      </p:sp>
      <p:sp>
        <p:nvSpPr>
          <p:cNvPr id="37" name="Priority number"/>
          <p:cNvSpPr txBox="1"/>
          <p:nvPr/>
        </p:nvSpPr>
        <p:spPr>
          <a:xfrm>
            <a:off x="713232" y="4458033"/>
            <a:ext cx="457200" cy="246221"/>
          </a:xfrm>
          <a:prstGeom prst="rect">
            <a:avLst/>
          </a:prstGeom>
          <a:noFill/>
        </p:spPr>
        <p:txBody>
          <a:bodyPr wrap="square" lIns="0" tIns="0" rIns="0" bIns="0" anchor="ctr">
            <a:spAutoFit/>
          </a:bodyPr>
          <a:lstStyle/>
          <a:p>
            <a:pPr>
              <a:spcAft>
                <a:spcPts val="0"/>
              </a:spcAft>
            </a:pPr>
            <a:r>
              <a:rPr sz="1600" b="1" i="0">
                <a:solidFill>
                  <a:srgbClr val="0391F2"/>
                </a:solidFill>
              </a:rPr>
              <a:t>05</a:t>
            </a:r>
          </a:p>
        </p:txBody>
      </p:sp>
      <p:sp>
        <p:nvSpPr>
          <p:cNvPr id="38" name="Priority name"/>
          <p:cNvSpPr txBox="1"/>
          <p:nvPr/>
        </p:nvSpPr>
        <p:spPr>
          <a:xfrm>
            <a:off x="1234440" y="4484964"/>
            <a:ext cx="2880360" cy="192360"/>
          </a:xfrm>
          <a:prstGeom prst="rect">
            <a:avLst/>
          </a:prstGeom>
          <a:noFill/>
        </p:spPr>
        <p:txBody>
          <a:bodyPr wrap="square" lIns="0" tIns="0" rIns="0" bIns="0" anchor="ctr">
            <a:spAutoFit/>
          </a:bodyPr>
          <a:lstStyle/>
          <a:p>
            <a:pPr>
              <a:spcAft>
                <a:spcPts val="0"/>
              </a:spcAft>
            </a:pPr>
            <a:r>
              <a:rPr sz="1250" b="1" i="0">
                <a:solidFill>
                  <a:srgbClr val="000000"/>
                </a:solidFill>
              </a:rPr>
              <a:t>Intake Updates</a:t>
            </a:r>
          </a:p>
        </p:txBody>
      </p:sp>
      <p:sp>
        <p:nvSpPr>
          <p:cNvPr id="39" name="What it solves"/>
          <p:cNvSpPr txBox="1"/>
          <p:nvPr/>
        </p:nvSpPr>
        <p:spPr>
          <a:xfrm>
            <a:off x="4206240" y="4419561"/>
            <a:ext cx="5897880" cy="323165"/>
          </a:xfrm>
          <a:prstGeom prst="rect">
            <a:avLst/>
          </a:prstGeom>
          <a:noFill/>
        </p:spPr>
        <p:txBody>
          <a:bodyPr wrap="square" lIns="0" tIns="0" rIns="0" bIns="0" anchor="ctr">
            <a:spAutoFit/>
          </a:bodyPr>
          <a:lstStyle/>
          <a:p>
            <a:pPr>
              <a:spcAft>
                <a:spcPts val="0"/>
              </a:spcAft>
            </a:pPr>
            <a:r>
              <a:rPr sz="1050" b="0" i="0">
                <a:solidFill>
                  <a:srgbClr val="000000"/>
                </a:solidFill>
              </a:rPr>
              <a:t>Upstream of delivery models: alias routing is live, with the SME case request tool and RACI updates underway.</a:t>
            </a:r>
          </a:p>
        </p:txBody>
      </p:sp>
      <p:sp>
        <p:nvSpPr>
          <p:cNvPr id="40" name="Status pill"/>
          <p:cNvSpPr/>
          <p:nvPr/>
        </p:nvSpPr>
        <p:spPr>
          <a:xfrm>
            <a:off x="10287000" y="4462272"/>
            <a:ext cx="1298448" cy="237744"/>
          </a:xfrm>
          <a:prstGeom prst="roundRect">
            <a:avLst>
              <a:gd name="adj" fmla="val 50000"/>
            </a:avLst>
          </a:prstGeom>
          <a:solidFill>
            <a:srgbClr val="000000"/>
          </a:solidFill>
          <a:ln>
            <a:no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41" name="Status text"/>
          <p:cNvSpPr txBox="1"/>
          <p:nvPr/>
        </p:nvSpPr>
        <p:spPr>
          <a:xfrm>
            <a:off x="10287000" y="4515741"/>
            <a:ext cx="1298448" cy="130805"/>
          </a:xfrm>
          <a:prstGeom prst="rect">
            <a:avLst/>
          </a:prstGeom>
          <a:noFill/>
        </p:spPr>
        <p:txBody>
          <a:bodyPr wrap="square" lIns="0" tIns="0" rIns="0" bIns="0" anchor="ctr">
            <a:spAutoFit/>
          </a:bodyPr>
          <a:lstStyle/>
          <a:p>
            <a:pPr algn="ctr">
              <a:spcAft>
                <a:spcPts val="0"/>
              </a:spcAft>
            </a:pPr>
            <a:r>
              <a:rPr sz="850" b="1" i="0" spc="100">
                <a:solidFill>
                  <a:srgbClr val="FFFFFF"/>
                </a:solidFill>
              </a:rPr>
              <a:t>IN MOTION</a:t>
            </a:r>
          </a:p>
        </p:txBody>
      </p:sp>
      <p:sp>
        <p:nvSpPr>
          <p:cNvPr id="42" name="Priority row 06"/>
          <p:cNvSpPr/>
          <p:nvPr/>
        </p:nvSpPr>
        <p:spPr>
          <a:xfrm>
            <a:off x="530352" y="4864608"/>
            <a:ext cx="11128248" cy="457200"/>
          </a:xfrm>
          <a:prstGeom prst="roundRect">
            <a:avLst>
              <a:gd name="adj" fmla="val 1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endParaRPr/>
          </a:p>
        </p:txBody>
      </p:sp>
      <p:sp>
        <p:nvSpPr>
          <p:cNvPr id="43" name="Priority number"/>
          <p:cNvSpPr txBox="1"/>
          <p:nvPr/>
        </p:nvSpPr>
        <p:spPr>
          <a:xfrm>
            <a:off x="713232" y="4970097"/>
            <a:ext cx="457200" cy="246221"/>
          </a:xfrm>
          <a:prstGeom prst="rect">
            <a:avLst/>
          </a:prstGeom>
          <a:noFill/>
        </p:spPr>
        <p:txBody>
          <a:bodyPr wrap="square" lIns="0" tIns="0" rIns="0" bIns="0" anchor="ctr">
            <a:spAutoFit/>
          </a:bodyPr>
          <a:lstStyle/>
          <a:p>
            <a:pPr>
              <a:spcAft>
                <a:spcPts val="0"/>
              </a:spcAft>
            </a:pPr>
            <a:r>
              <a:rPr sz="1600" b="1" i="0">
                <a:solidFill>
                  <a:srgbClr val="0391F2"/>
                </a:solidFill>
              </a:rPr>
              <a:t>06</a:t>
            </a:r>
          </a:p>
        </p:txBody>
      </p:sp>
      <p:sp>
        <p:nvSpPr>
          <p:cNvPr id="44" name="Priority name"/>
          <p:cNvSpPr txBox="1"/>
          <p:nvPr/>
        </p:nvSpPr>
        <p:spPr>
          <a:xfrm>
            <a:off x="1234440" y="4900847"/>
            <a:ext cx="2880360" cy="384721"/>
          </a:xfrm>
          <a:prstGeom prst="rect">
            <a:avLst/>
          </a:prstGeom>
          <a:noFill/>
        </p:spPr>
        <p:txBody>
          <a:bodyPr wrap="square" lIns="0" tIns="0" rIns="0" bIns="0" anchor="ctr">
            <a:spAutoFit/>
          </a:bodyPr>
          <a:lstStyle/>
          <a:p>
            <a:pPr>
              <a:spcAft>
                <a:spcPts val="0"/>
              </a:spcAft>
            </a:pPr>
            <a:r>
              <a:rPr sz="1250" b="1" i="0">
                <a:solidFill>
                  <a:srgbClr val="000000"/>
                </a:solidFill>
              </a:rPr>
              <a:t>Ops Transformation: Rebuild Scoping &amp; Staffing</a:t>
            </a:r>
          </a:p>
        </p:txBody>
      </p:sp>
      <p:sp>
        <p:nvSpPr>
          <p:cNvPr id="45" name="What it solves"/>
          <p:cNvSpPr txBox="1"/>
          <p:nvPr/>
        </p:nvSpPr>
        <p:spPr>
          <a:xfrm>
            <a:off x="4206240" y="4931625"/>
            <a:ext cx="5897880" cy="323165"/>
          </a:xfrm>
          <a:prstGeom prst="rect">
            <a:avLst/>
          </a:prstGeom>
          <a:noFill/>
        </p:spPr>
        <p:txBody>
          <a:bodyPr wrap="square" lIns="0" tIns="0" rIns="0" bIns="0" anchor="ctr">
            <a:spAutoFit/>
          </a:bodyPr>
          <a:lstStyle/>
          <a:p>
            <a:pPr>
              <a:spcAft>
                <a:spcPts val="0"/>
              </a:spcAft>
            </a:pPr>
            <a:r>
              <a:rPr sz="1050" b="0" i="0">
                <a:solidFill>
                  <a:srgbClr val="000000"/>
                </a:solidFill>
              </a:rPr>
              <a:t>Deliverables go in, and a timeline and staffing plan come out, with AI doing real work and learning from what we deliver.</a:t>
            </a:r>
          </a:p>
        </p:txBody>
      </p:sp>
      <p:sp>
        <p:nvSpPr>
          <p:cNvPr id="46" name="Status pill"/>
          <p:cNvSpPr/>
          <p:nvPr/>
        </p:nvSpPr>
        <p:spPr>
          <a:xfrm>
            <a:off x="10287000" y="4974336"/>
            <a:ext cx="1298448" cy="237744"/>
          </a:xfrm>
          <a:prstGeom prst="roundRect">
            <a:avLst>
              <a:gd name="adj" fmla="val 50000"/>
            </a:avLst>
          </a:prstGeom>
          <a:solidFill>
            <a:srgbClr val="FFFFFF"/>
          </a:solidFill>
          <a:ln w="9525">
            <a:solidFill>
              <a:srgbClr val="0391F2"/>
            </a:solid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47" name="Status text"/>
          <p:cNvSpPr txBox="1"/>
          <p:nvPr/>
        </p:nvSpPr>
        <p:spPr>
          <a:xfrm>
            <a:off x="10287000" y="5027805"/>
            <a:ext cx="1298448" cy="130805"/>
          </a:xfrm>
          <a:prstGeom prst="rect">
            <a:avLst/>
          </a:prstGeom>
          <a:noFill/>
        </p:spPr>
        <p:txBody>
          <a:bodyPr wrap="square" lIns="0" tIns="0" rIns="0" bIns="0" anchor="ctr">
            <a:spAutoFit/>
          </a:bodyPr>
          <a:lstStyle/>
          <a:p>
            <a:pPr algn="ctr">
              <a:spcAft>
                <a:spcPts val="0"/>
              </a:spcAft>
            </a:pPr>
            <a:r>
              <a:rPr sz="850" b="1" i="0" spc="100">
                <a:solidFill>
                  <a:srgbClr val="000000"/>
                </a:solidFill>
              </a:rPr>
              <a:t>TAKING SHAPE</a:t>
            </a:r>
          </a:p>
        </p:txBody>
      </p:sp>
      <p:sp>
        <p:nvSpPr>
          <p:cNvPr id="48" name="Priority row 07"/>
          <p:cNvSpPr/>
          <p:nvPr/>
        </p:nvSpPr>
        <p:spPr>
          <a:xfrm>
            <a:off x="530352" y="5376672"/>
            <a:ext cx="11128248" cy="457200"/>
          </a:xfrm>
          <a:prstGeom prst="roundRect">
            <a:avLst>
              <a:gd name="adj" fmla="val 1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endParaRPr/>
          </a:p>
        </p:txBody>
      </p:sp>
      <p:sp>
        <p:nvSpPr>
          <p:cNvPr id="49" name="Priority number"/>
          <p:cNvSpPr txBox="1"/>
          <p:nvPr/>
        </p:nvSpPr>
        <p:spPr>
          <a:xfrm>
            <a:off x="713232" y="5482161"/>
            <a:ext cx="457200" cy="246221"/>
          </a:xfrm>
          <a:prstGeom prst="rect">
            <a:avLst/>
          </a:prstGeom>
          <a:noFill/>
        </p:spPr>
        <p:txBody>
          <a:bodyPr wrap="square" lIns="0" tIns="0" rIns="0" bIns="0" anchor="ctr">
            <a:spAutoFit/>
          </a:bodyPr>
          <a:lstStyle/>
          <a:p>
            <a:pPr>
              <a:spcAft>
                <a:spcPts val="0"/>
              </a:spcAft>
            </a:pPr>
            <a:r>
              <a:rPr sz="1600" b="1" i="0">
                <a:solidFill>
                  <a:srgbClr val="0391F2"/>
                </a:solidFill>
              </a:rPr>
              <a:t>07</a:t>
            </a:r>
          </a:p>
        </p:txBody>
      </p:sp>
      <p:sp>
        <p:nvSpPr>
          <p:cNvPr id="50" name="Priority name"/>
          <p:cNvSpPr txBox="1"/>
          <p:nvPr/>
        </p:nvSpPr>
        <p:spPr>
          <a:xfrm>
            <a:off x="1234440" y="5509092"/>
            <a:ext cx="2880360" cy="192360"/>
          </a:xfrm>
          <a:prstGeom prst="rect">
            <a:avLst/>
          </a:prstGeom>
          <a:noFill/>
        </p:spPr>
        <p:txBody>
          <a:bodyPr wrap="square" lIns="0" tIns="0" rIns="0" bIns="0" anchor="ctr">
            <a:spAutoFit/>
          </a:bodyPr>
          <a:lstStyle/>
          <a:p>
            <a:pPr>
              <a:spcAft>
                <a:spcPts val="0"/>
              </a:spcAft>
            </a:pPr>
            <a:r>
              <a:rPr sz="1250" b="1" i="0">
                <a:solidFill>
                  <a:srgbClr val="000000"/>
                </a:solidFill>
              </a:rPr>
              <a:t>Earlier Delivery &amp; Talent in Pursuits</a:t>
            </a:r>
          </a:p>
        </p:txBody>
      </p:sp>
      <p:sp>
        <p:nvSpPr>
          <p:cNvPr id="51" name="What it solves"/>
          <p:cNvSpPr txBox="1"/>
          <p:nvPr/>
        </p:nvSpPr>
        <p:spPr>
          <a:xfrm>
            <a:off x="4206240" y="5524480"/>
            <a:ext cx="5897880" cy="161583"/>
          </a:xfrm>
          <a:prstGeom prst="rect">
            <a:avLst/>
          </a:prstGeom>
          <a:noFill/>
        </p:spPr>
        <p:txBody>
          <a:bodyPr wrap="square" lIns="0" tIns="0" rIns="0" bIns="0" anchor="ctr">
            <a:spAutoFit/>
          </a:bodyPr>
          <a:lstStyle/>
          <a:p>
            <a:pPr>
              <a:spcAft>
                <a:spcPts val="0"/>
              </a:spcAft>
            </a:pPr>
            <a:r>
              <a:rPr sz="1050" b="0" i="0">
                <a:solidFill>
                  <a:srgbClr val="000000"/>
                </a:solidFill>
              </a:rPr>
              <a:t>Bring SME expertise into upfront deal evaluation to lift our win rate on the deals we already capture.</a:t>
            </a:r>
          </a:p>
        </p:txBody>
      </p:sp>
      <p:sp>
        <p:nvSpPr>
          <p:cNvPr id="52" name="Status pill"/>
          <p:cNvSpPr/>
          <p:nvPr/>
        </p:nvSpPr>
        <p:spPr>
          <a:xfrm>
            <a:off x="10287000" y="5486400"/>
            <a:ext cx="1298448" cy="237744"/>
          </a:xfrm>
          <a:prstGeom prst="roundRect">
            <a:avLst>
              <a:gd name="adj" fmla="val 50000"/>
            </a:avLst>
          </a:prstGeom>
          <a:solidFill>
            <a:srgbClr val="FFFFFF"/>
          </a:solidFill>
          <a:ln w="9525">
            <a:solidFill>
              <a:srgbClr val="0391F2"/>
            </a:solid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53" name="Status text"/>
          <p:cNvSpPr txBox="1"/>
          <p:nvPr/>
        </p:nvSpPr>
        <p:spPr>
          <a:xfrm>
            <a:off x="10287000" y="5539869"/>
            <a:ext cx="1298448" cy="130805"/>
          </a:xfrm>
          <a:prstGeom prst="rect">
            <a:avLst/>
          </a:prstGeom>
          <a:noFill/>
        </p:spPr>
        <p:txBody>
          <a:bodyPr wrap="square" lIns="0" tIns="0" rIns="0" bIns="0" anchor="ctr">
            <a:spAutoFit/>
          </a:bodyPr>
          <a:lstStyle/>
          <a:p>
            <a:pPr algn="ctr">
              <a:spcAft>
                <a:spcPts val="0"/>
              </a:spcAft>
            </a:pPr>
            <a:r>
              <a:rPr sz="850" b="1" i="0" spc="100">
                <a:solidFill>
                  <a:srgbClr val="000000"/>
                </a:solidFill>
              </a:rPr>
              <a:t>QUICK WIN</a:t>
            </a:r>
          </a:p>
        </p:txBody>
      </p:sp>
      <p:sp>
        <p:nvSpPr>
          <p:cNvPr id="54" name="Takeaway bar"/>
          <p:cNvSpPr/>
          <p:nvPr/>
        </p:nvSpPr>
        <p:spPr>
          <a:xfrm>
            <a:off x="530352" y="5907024"/>
            <a:ext cx="11128248" cy="457200"/>
          </a:xfrm>
          <a:prstGeom prst="roundRect">
            <a:avLst>
              <a:gd name="adj" fmla="val 16000"/>
            </a:avLst>
          </a:prstGeom>
          <a:solidFill>
            <a:srgbClr val="000000"/>
          </a:solidFill>
          <a:ln>
            <a:noFill/>
          </a:ln>
          <a:effectLst/>
        </p:spPr>
        <p:style>
          <a:lnRef idx="1">
            <a:srgbClr val="000000"/>
          </a:lnRef>
          <a:fillRef idx="3">
            <a:srgbClr val="000000"/>
          </a:fillRef>
          <a:effectRef idx="2">
            <a:srgbClr val="000000"/>
          </a:effectRef>
          <a:fontRef idx="minor">
            <a:schemeClr val="lt1"/>
          </a:fontRef>
        </p:style>
        <p:txBody>
          <a:bodyPr rtlCol="0" anchor="ctr"/>
          <a:lstStyle/>
          <a:p>
            <a:endParaRPr/>
          </a:p>
        </p:txBody>
      </p:sp>
      <p:sp>
        <p:nvSpPr>
          <p:cNvPr id="55" name="Takeaway"/>
          <p:cNvSpPr txBox="1"/>
          <p:nvPr/>
        </p:nvSpPr>
        <p:spPr>
          <a:xfrm>
            <a:off x="777240" y="6043291"/>
            <a:ext cx="10607040" cy="184666"/>
          </a:xfrm>
          <a:prstGeom prst="rect">
            <a:avLst/>
          </a:prstGeom>
          <a:noFill/>
        </p:spPr>
        <p:txBody>
          <a:bodyPr wrap="square" lIns="0" tIns="0" rIns="0" bIns="0" anchor="ctr">
            <a:spAutoFit/>
          </a:bodyPr>
          <a:lstStyle/>
          <a:p>
            <a:pPr>
              <a:spcAft>
                <a:spcPts val="0"/>
              </a:spcAft>
            </a:pPr>
            <a:r>
              <a:rPr sz="1200" b="1" i="0" dirty="0">
                <a:solidFill>
                  <a:srgbClr val="FFFFFF"/>
                </a:solidFill>
              </a:rPr>
              <a:t>Four priorities agreed as a team, with three other initiatives underneath that tie directly to </a:t>
            </a:r>
            <a:r>
              <a:rPr lang="en-US" sz="1200" b="1" i="0" dirty="0">
                <a:solidFill>
                  <a:srgbClr val="FFFFFF"/>
                </a:solidFill>
              </a:rPr>
              <a:t>Delivery Excellence</a:t>
            </a:r>
            <a:endParaRPr sz="1200" b="1" i="0"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5.jpg"/>
          <p:cNvPicPr>
            <a:picLocks noChangeAspect="1"/>
          </p:cNvPicPr>
          <p:nvPr/>
        </p:nvPicPr>
        <p:blipFill>
          <a:blip r:embed="rId3"/>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318719"/>
            <a:ext cx="7000000" cy="2870201"/>
          </a:xfrm>
        </p:spPr>
        <p:txBody>
          <a:bodyPr/>
          <a:lstStyle/>
          <a:p>
            <a:r>
              <a:rPr>
                <a:latin typeface="+mn-lt"/>
              </a:rPr>
              <a:t>Deal-to-Delivery Playbook</a:t>
            </a:r>
          </a:p>
        </p:txBody>
      </p:sp>
      <p:sp>
        <p:nvSpPr>
          <p:cNvPr id="3" name="Text Placeholder 2"/>
          <p:cNvSpPr>
            <a:spLocks noGrp="1"/>
          </p:cNvSpPr>
          <p:nvPr>
            <p:ph type="body" sz="quarter" idx="15"/>
          </p:nvPr>
        </p:nvSpPr>
        <p:spPr/>
        <p:txBody>
          <a:bodyPr/>
          <a:lstStyle/>
          <a:p>
            <a:r>
              <a:rPr>
                <a:latin typeface="+mn-lt"/>
              </a:rPr>
              <a:t>PRIORITY 01</a:t>
            </a:r>
          </a:p>
        </p:txBody>
      </p:sp>
      <p:sp>
        <p:nvSpPr>
          <p:cNvPr id="4" name="TextBox 3"/>
          <p:cNvSpPr txBox="1"/>
          <p:nvPr/>
        </p:nvSpPr>
        <p:spPr>
          <a:xfrm>
            <a:off x="914400" y="4069080"/>
            <a:ext cx="6766560" cy="1015663"/>
          </a:xfrm>
          <a:prstGeom prst="rect">
            <a:avLst/>
          </a:prstGeom>
          <a:noFill/>
        </p:spPr>
        <p:txBody>
          <a:bodyPr wrap="square">
            <a:spAutoFit/>
          </a:bodyPr>
          <a:lstStyle/>
          <a:p>
            <a:r>
              <a:rPr sz="2000">
                <a:solidFill>
                  <a:srgbClr val="FFFFFF"/>
                </a:solidFill>
              </a:rPr>
              <a:t>Work is sold in shapes we cannot staff or deliver. One playbook ties delivery models, contracts, and methodology together.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k_rail6.jpg"/>
          <p:cNvPicPr>
            <a:picLocks noChangeAspect="1"/>
          </p:cNvPicPr>
          <p:nvPr/>
        </p:nvPicPr>
        <p:blipFill>
          <a:blip r:embed="rId4"/>
          <a:stretch>
            <a:fillRect/>
          </a:stretch>
        </p:blipFill>
        <p:spPr>
          <a:xfrm>
            <a:off x="0" y="0"/>
            <a:ext cx="5586984" cy="6858000"/>
          </a:xfrm>
          <a:prstGeom prst="rect">
            <a:avLst/>
          </a:prstGeom>
        </p:spPr>
      </p:pic>
      <p:sp>
        <p:nvSpPr>
          <p:cNvPr id="28" name="Rectangle 27"/>
          <p:cNvSpPr/>
          <p:nvPr/>
        </p:nvSpPr>
        <p:spPr>
          <a:xfrm>
            <a:off x="0" y="0"/>
            <a:ext cx="5586984" cy="6858000"/>
          </a:xfrm>
          <a:prstGeom prst="rect">
            <a:avLst/>
          </a:prstGeom>
          <a:gradFill rotWithShape="1">
            <a:gsLst>
              <a:gs pos="0">
                <a:srgbClr val="000000">
                  <a:alpha val="70000"/>
                </a:srgbClr>
              </a:gs>
              <a:gs pos="50000">
                <a:srgbClr val="000000">
                  <a:alpha val="60000"/>
                </a:srgbClr>
              </a:gs>
              <a:gs pos="100000">
                <a:srgbClr val="000000">
                  <a:alpha val="88000"/>
                </a:srgbClr>
              </a:gs>
            </a:gsLst>
            <a:lin ang="5400000" scaled="0"/>
          </a:gradFill>
          <a:ln>
            <a:noFill/>
          </a:ln>
        </p:spPr>
        <p:txBody>
          <a:bodyPr rtlCol="0" anchor="ctr"/>
          <a:lstStyle/>
          <a:p>
            <a:pPr algn="ctr"/>
          </a:p>
        </p:txBody>
      </p:sp>
      <p:sp>
        <p:nvSpPr>
          <p:cNvPr id="2" name="Title 1"/>
          <p:cNvSpPr>
            <a:spLocks noGrp="1"/>
          </p:cNvSpPr>
          <p:nvPr>
            <p:ph type="title"/>
          </p:nvPr>
        </p:nvSpPr>
        <p:spPr>
          <a:xfrm>
            <a:off x="640080" y="2103120"/>
            <a:ext cx="4306824" cy="2011680"/>
          </a:xfrm>
        </p:spPr>
        <p:txBody>
          <a:bodyPr wrap="square" anchor="t"/>
          <a:lstStyle/>
          <a:p>
            <a:r>
              <a:rPr sz="3400" b="1">
                <a:solidFill>
                  <a:srgbClr val="FFFFFF"/>
                </a:solidFill>
                <a:latin typeface="+mn-lt"/>
              </a:rPr>
              <a:t>Deal-to-Delivery Problem Statement</a:t>
            </a:r>
          </a:p>
        </p:txBody>
      </p:sp>
      <p:sp>
        <p:nvSpPr>
          <p:cNvPr id="21" name="Statement frame"/>
          <p:cNvSpPr/>
          <p:nvPr/>
        </p:nvSpPr>
        <p:spPr>
          <a:xfrm>
            <a:off x="5943600" y="548640"/>
            <a:ext cx="5715000" cy="4206239"/>
          </a:xfrm>
          <a:prstGeom prst="roundRect">
            <a:avLst>
              <a:gd name="adj" fmla="val 1600"/>
            </a:avLst>
          </a:prstGeom>
          <a:solidFill>
            <a:srgbClr val="D6D6DF"/>
          </a:solidFill>
          <a:ln>
            <a:noFill/>
          </a:ln>
        </p:spPr>
        <p:txBody>
          <a:bodyPr/>
          <a:lstStyle/>
          <a:p>
            <a:endParaRPr lang="en-US">
              <a:solidFill>
                <a:srgbClr val="000000"/>
              </a:solidFill>
            </a:endParaRPr>
          </a:p>
        </p:txBody>
      </p:sp>
      <p:sp>
        <p:nvSpPr>
          <p:cNvPr id="22" name="Statement card"/>
          <p:cNvSpPr/>
          <p:nvPr/>
        </p:nvSpPr>
        <p:spPr>
          <a:xfrm>
            <a:off x="6126480" y="731520"/>
            <a:ext cx="5349240" cy="3762375"/>
          </a:xfrm>
          <a:prstGeom prst="roundRect">
            <a:avLst>
              <a:gd name="adj" fmla="val 170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3" name="Quote mark"/>
          <p:cNvSpPr txBox="1"/>
          <p:nvPr/>
        </p:nvSpPr>
        <p:spPr>
          <a:xfrm>
            <a:off x="6355080" y="685800"/>
            <a:ext cx="914400" cy="822960"/>
          </a:xfrm>
          <a:prstGeom prst="rect">
            <a:avLst/>
          </a:prstGeom>
          <a:noFill/>
          <a:ln/>
        </p:spPr>
        <p:txBody>
          <a:bodyPr wrap="square" lIns="0" tIns="0" rIns="0" bIns="0" rtlCol="0" anchor="t"/>
          <a:lstStyle/>
          <a:p>
            <a:pPr marL="0" indent="0">
              <a:buNone/>
            </a:pPr>
            <a:r>
              <a:rPr lang="en-US" sz="6240">
                <a:solidFill>
                  <a:srgbClr val="0391F2"/>
                </a:solidFill>
                <a:ea typeface="Proxima Nova" pitchFamily="34" charset="-122"/>
                <a:cs typeface="Proxima Nova" pitchFamily="34" charset="-120"/>
              </a:rPr>
              <a:t>“</a:t>
            </a:r>
            <a:endParaRPr lang="en-US" sz="8000">
              <a:solidFill>
                <a:srgbClr val="000000"/>
              </a:solidFill>
            </a:endParaRPr>
          </a:p>
        </p:txBody>
      </p:sp>
      <p:sp>
        <p:nvSpPr>
          <p:cNvPr id="24" name="Problem statement"/>
          <p:cNvSpPr txBox="1"/>
          <p:nvPr/>
        </p:nvSpPr>
        <p:spPr>
          <a:xfrm>
            <a:off x="6423660" y="1247775"/>
            <a:ext cx="4892040" cy="3246120"/>
          </a:xfrm>
          <a:prstGeom prst="rect">
            <a:avLst/>
          </a:prstGeom>
          <a:noFill/>
          <a:ln/>
        </p:spPr>
        <p:txBody>
          <a:bodyPr wrap="square" lIns="0" tIns="0" rIns="0" bIns="0" rtlCol="0" anchor="t"/>
          <a:lstStyle/>
          <a:p>
            <a:pPr marL="0" indent="0">
              <a:spcAft>
                <a:spcPts val="1200"/>
              </a:spcAft>
              <a:buNone/>
            </a:pPr>
            <a:r>
              <a:rPr lang="en-US" sz="1400">
                <a:solidFill>
                  <a:srgbClr val="000000"/>
                </a:solidFill>
                <a:ea typeface="Proxima Nova" pitchFamily="34" charset="-122"/>
                <a:cs typeface="Proxima Nova" pitchFamily="34" charset="-120"/>
              </a:rPr>
              <a:t>There is no standardized, named set of delivery models, from which an individual or set of models is required to be declared at the point of sale, carried into contracting, enforced at staffing and used for delivery.</a:t>
            </a:r>
            <a:endParaRPr lang="en-US" sz="1400">
              <a:solidFill>
                <a:srgbClr val="000000"/>
              </a:solidFill>
            </a:endParaRPr>
          </a:p>
          <a:p>
            <a:pPr marL="0" indent="0">
              <a:spcAft>
                <a:spcPts val="1200"/>
              </a:spcAft>
              <a:buNone/>
            </a:pPr>
            <a:r>
              <a:rPr lang="en-US" sz="1400">
                <a:solidFill>
                  <a:srgbClr val="000000"/>
                </a:solidFill>
                <a:ea typeface="Proxima Nova" pitchFamily="34" charset="-122"/>
                <a:cs typeface="Proxima Nova" pitchFamily="34" charset="-120"/>
              </a:rPr>
              <a:t>As a result, the delivery approach for any given engagement, or track within an engagement, is decided implicitly and independently by whoever happens to be making decisions at that moment (executives, Sales, CPs, Delivery leads, etc.), rather than through one shared educated decision.</a:t>
            </a:r>
            <a:endParaRPr lang="en-US" sz="1400">
              <a:solidFill>
                <a:srgbClr val="000000"/>
              </a:solidFill>
            </a:endParaRPr>
          </a:p>
          <a:p>
            <a:pPr marL="0" indent="0">
              <a:buNone/>
            </a:pPr>
            <a:r>
              <a:rPr lang="en-US" sz="1400">
                <a:solidFill>
                  <a:srgbClr val="000000"/>
                </a:solidFill>
                <a:ea typeface="Proxima Nova" pitchFamily="34" charset="-122"/>
                <a:cs typeface="Proxima Nova" pitchFamily="34" charset="-120"/>
              </a:rPr>
              <a:t>When these implicit decisions disagree with the type of engagement or client expectation, often it is not fully understood until the symptoms are already visible to the client, or we are at a point that a pivot will require investment.</a:t>
            </a:r>
            <a:endParaRPr lang="en-US" sz="1400">
              <a:solidFill>
                <a:srgbClr val="000000"/>
              </a:solidFill>
            </a:endParaRPr>
          </a:p>
        </p:txBody>
      </p:sp>
      <p:sp>
        <p:nvSpPr>
          <p:cNvPr id="25" name="Problem statement">
            <a:extLst>
              <a:ext uri="{FF2B5EF4-FFF2-40B4-BE49-F238E27FC236}">
                <a16:creationId xmlns:a16="http://schemas.microsoft.com/office/drawing/2014/main" id="{88ED8A94-7D7C-8610-179A-CA417746F561}"/>
              </a:ext>
            </a:extLst>
          </p:cNvPr>
          <p:cNvSpPr txBox="1"/>
          <p:nvPr/>
        </p:nvSpPr>
        <p:spPr>
          <a:xfrm>
            <a:off x="6065520" y="4937758"/>
            <a:ext cx="5586983" cy="2125981"/>
          </a:xfrm>
          <a:prstGeom prst="rect">
            <a:avLst/>
          </a:prstGeom>
          <a:noFill/>
          <a:ln/>
        </p:spPr>
        <p:txBody>
          <a:bodyPr wrap="square" lIns="0" tIns="0" rIns="0" bIns="0" rtlCol="0" anchor="t"/>
          <a:lstStyle/>
          <a:p>
            <a:pPr marL="0" indent="0">
              <a:spcAft>
                <a:spcPts val="1200"/>
              </a:spcAft>
              <a:buNone/>
            </a:pPr>
            <a:r>
              <a:rPr lang="en-US" sz="1400" b="1">
                <a:solidFill>
                  <a:srgbClr val="000000"/>
                </a:solidFill>
                <a:ea typeface="Proxima Nova" pitchFamily="34" charset="-122"/>
                <a:cs typeface="Proxima Nova" pitchFamily="34" charset="-120"/>
              </a:rPr>
              <a:t>The Takeaway</a:t>
            </a:r>
          </a:p>
          <a:p>
            <a:pPr marL="342900" indent="-342900">
              <a:spcAft>
                <a:spcPts val="600"/>
              </a:spcAft>
              <a:buFont typeface="+mj-lt"/>
              <a:buAutoNum type="arabicPeriod"/>
            </a:pPr>
            <a:r>
              <a:rPr lang="en-US" sz="1400">
                <a:solidFill>
                  <a:srgbClr val="000000"/>
                </a:solidFill>
                <a:ea typeface="Proxima Nova" pitchFamily="34" charset="-122"/>
                <a:cs typeface="Proxima Nova" pitchFamily="34" charset="-120"/>
              </a:rPr>
              <a:t>We need a small set of authorized delivery models</a:t>
            </a:r>
          </a:p>
          <a:p>
            <a:pPr marL="342900" indent="-342900">
              <a:spcAft>
                <a:spcPts val="600"/>
              </a:spcAft>
              <a:buFont typeface="+mj-lt"/>
              <a:buAutoNum type="arabicPeriod"/>
            </a:pPr>
            <a:r>
              <a:rPr lang="en-US" sz="1400">
                <a:solidFill>
                  <a:srgbClr val="000000"/>
                </a:solidFill>
                <a:ea typeface="Proxima Nova" pitchFamily="34" charset="-122"/>
                <a:cs typeface="Proxima Nova" pitchFamily="34" charset="-120"/>
              </a:rPr>
              <a:t>That align approach, contract, and methodology standards</a:t>
            </a:r>
          </a:p>
          <a:p>
            <a:pPr marL="342900" indent="-342900">
              <a:spcAft>
                <a:spcPts val="600"/>
              </a:spcAft>
              <a:buFont typeface="+mj-lt"/>
              <a:buAutoNum type="arabicPeriod"/>
            </a:pPr>
            <a:r>
              <a:rPr lang="en-US" sz="1400">
                <a:solidFill>
                  <a:srgbClr val="000000"/>
                </a:solidFill>
                <a:ea typeface="Proxima Nova" pitchFamily="34" charset="-122"/>
                <a:cs typeface="Proxima Nova" pitchFamily="34" charset="-120"/>
              </a:rPr>
              <a:t>Allowing us to improve how we solution, estimate, and deliver</a:t>
            </a:r>
          </a:p>
          <a:p>
            <a:pPr marL="0" indent="0">
              <a:spcAft>
                <a:spcPts val="600"/>
              </a:spcAft>
              <a:buNone/>
            </a:pPr>
            <a:r>
              <a:rPr lang="en-US" sz="1400">
                <a:solidFill>
                  <a:srgbClr val="000000"/>
                </a:solidFill>
                <a:ea typeface="Proxima Nova" pitchFamily="34" charset="-122"/>
                <a:cs typeface="Proxima Nova" pitchFamily="34" charset="-120"/>
              </a:rPr>
              <a:t> </a:t>
            </a:r>
            <a:endParaRPr lang="en-US" sz="1400">
              <a:solidFill>
                <a:srgbClr val="000000"/>
              </a:solidFill>
            </a:endParaRPr>
          </a:p>
        </p:txBody>
      </p:sp>
      <p:pic>
        <p:nvPicPr>
          <p:cNvPr id="26" name="Picture 25" descr="image.png"/>
          <p:cNvPicPr>
            <a:picLocks noChangeAspect="1"/>
          </p:cNvPicPr>
          <p:nvPr/>
        </p:nvPicPr>
        <p:blipFill>
          <a:blip r:embed="rId3"/>
          <a:stretch>
            <a:fillRect/>
          </a:stretch>
        </p:blipFill>
        <p:spPr>
          <a:xfrm>
            <a:off x="640080" y="6400800"/>
            <a:ext cx="274320" cy="1501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descr="k_edge7.jpg"/>
          <p:cNvPicPr>
            <a:picLocks noChangeAspect="1"/>
          </p:cNvPicPr>
          <p:nvPr/>
        </p:nvPicPr>
        <p:blipFill>
          <a:blip r:embed="rId3"/>
          <a:stretch>
            <a:fillRect/>
          </a:stretch>
        </p:blipFill>
        <p:spPr>
          <a:xfrm>
            <a:off x="7894320" y="0"/>
            <a:ext cx="4297680" cy="1207008"/>
          </a:xfrm>
          <a:prstGeom prst="rect">
            <a:avLst/>
          </a:prstGeom>
        </p:spPr>
      </p:pic>
      <p:sp>
        <p:nvSpPr>
          <p:cNvPr id="29" name="Rectangle 28"/>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30" name="Rectangle 29"/>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a:xfrm>
            <a:off x="530352" y="457200"/>
            <a:ext cx="11128248" cy="566928"/>
          </a:xfrm>
        </p:spPr>
        <p:txBody>
          <a:bodyPr/>
          <a:lstStyle/>
          <a:p>
            <a:r>
              <a:rPr>
                <a:latin typeface="+mn-lt"/>
              </a:rPr>
              <a:t>Deal-to-Delivery Recommendation</a:t>
            </a:r>
          </a:p>
        </p:txBody>
      </p:sp>
      <p:sp>
        <p:nvSpPr>
          <p:cNvPr id="4" name="Text Placeholder 3"/>
          <p:cNvSpPr>
            <a:spLocks noGrp="1"/>
          </p:cNvSpPr>
          <p:nvPr>
            <p:ph type="body" sz="quarter" idx="12"/>
          </p:nvPr>
        </p:nvSpPr>
        <p:spPr>
          <a:xfrm>
            <a:off x="530352" y="256032"/>
            <a:ext cx="11128248" cy="182880"/>
          </a:xfrm>
        </p:spPr>
        <p:txBody>
          <a:bodyPr/>
          <a:lstStyle/>
          <a:p>
            <a:r>
              <a:t>DEAL-TO-DELIVERY PLAYBOOK: CONTINUED</a:t>
            </a:r>
          </a:p>
        </p:txBody>
      </p:sp>
      <p:sp>
        <p:nvSpPr>
          <p:cNvPr id="15" name="Recommendation lead"/>
          <p:cNvSpPr txBox="1"/>
          <p:nvPr/>
        </p:nvSpPr>
        <p:spPr>
          <a:xfrm>
            <a:off x="530352" y="1325880"/>
            <a:ext cx="9144000" cy="914400"/>
          </a:xfrm>
          <a:prstGeom prst="rect">
            <a:avLst/>
          </a:prstGeom>
          <a:noFill/>
          <a:ln/>
        </p:spPr>
        <p:txBody>
          <a:bodyPr wrap="square" lIns="0" tIns="0" rIns="0" bIns="0" rtlCol="0" anchor="t"/>
          <a:lstStyle/>
          <a:p>
            <a:pPr marL="0" indent="0">
              <a:buNone/>
            </a:pPr>
            <a:r>
              <a:rPr lang="en-US" sz="1200">
                <a:solidFill>
                  <a:srgbClr val="000000"/>
                </a:solidFill>
                <a:ea typeface="Proxima Nova" pitchFamily="34" charset="-122"/>
                <a:cs typeface="Proxima Nova" pitchFamily="34" charset="-120"/>
              </a:rPr>
              <a:t>Every engagement, and every track within a multi-track program, must have an explicitly named delivery model (chosen from a small, standard set) declared before review, staffing, etc. and checked at fixed intervals afterward. The model determines governance, staffing, and authority; it is not inferred after the fact by whoever is doing the work.</a:t>
            </a:r>
            <a:endParaRPr lang="en-US" sz="1200">
              <a:solidFill>
                <a:srgbClr val="000000"/>
              </a:solidFill>
            </a:endParaRPr>
          </a:p>
        </p:txBody>
      </p:sp>
      <p:sp>
        <p:nvSpPr>
          <p:cNvPr id="16" name="Recommendation card 1"/>
          <p:cNvSpPr/>
          <p:nvPr/>
        </p:nvSpPr>
        <p:spPr>
          <a:xfrm>
            <a:off x="530352" y="2377440"/>
            <a:ext cx="2487168" cy="3931920"/>
          </a:xfrm>
          <a:prstGeom prst="roundRect">
            <a:avLst>
              <a:gd name="adj" fmla="val 3676"/>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17" name="Card number"/>
          <p:cNvSpPr txBox="1"/>
          <p:nvPr/>
        </p:nvSpPr>
        <p:spPr>
          <a:xfrm>
            <a:off x="804672" y="2468880"/>
            <a:ext cx="1097280" cy="640080"/>
          </a:xfrm>
          <a:prstGeom prst="rect">
            <a:avLst/>
          </a:prstGeom>
          <a:noFill/>
          <a:ln/>
        </p:spPr>
        <p:txBody>
          <a:bodyPr wrap="square" lIns="0" tIns="0" rIns="0" bIns="0" rtlCol="0" anchor="t"/>
          <a:lstStyle/>
          <a:p>
            <a:pPr marL="0" indent="0">
              <a:buNone/>
            </a:pPr>
            <a:r>
              <a:rPr lang="en-US" sz="3120">
                <a:solidFill>
                  <a:srgbClr val="000000"/>
                </a:solidFill>
                <a:ea typeface="Proxima Nova" pitchFamily="34" charset="-122"/>
                <a:cs typeface="Proxima Nova" pitchFamily="34" charset="-120"/>
              </a:rPr>
              <a:t>01</a:t>
            </a:r>
            <a:endParaRPr lang="en-US" sz="4000">
              <a:solidFill>
                <a:srgbClr val="000000"/>
              </a:solidFill>
            </a:endParaRPr>
          </a:p>
        </p:txBody>
      </p:sp>
      <p:sp>
        <p:nvSpPr>
          <p:cNvPr id="18" name="Card copy"/>
          <p:cNvSpPr txBox="1"/>
          <p:nvPr/>
        </p:nvSpPr>
        <p:spPr>
          <a:xfrm>
            <a:off x="653795" y="3163824"/>
            <a:ext cx="2232279" cy="3063240"/>
          </a:xfrm>
          <a:prstGeom prst="rect">
            <a:avLst/>
          </a:prstGeom>
          <a:noFill/>
          <a:ln/>
        </p:spPr>
        <p:txBody>
          <a:bodyPr wrap="square" lIns="0" tIns="0" rIns="0" bIns="0" rtlCol="0" anchor="t"/>
          <a:lstStyle/>
          <a:p>
            <a:pPr marL="0" indent="0">
              <a:buNone/>
            </a:pPr>
            <a:r>
              <a:rPr lang="en-US" sz="1200" b="1">
                <a:solidFill>
                  <a:srgbClr val="000000"/>
                </a:solidFill>
                <a:ea typeface="Proxima Nova" pitchFamily="34" charset="-122"/>
                <a:cs typeface="Proxima Nova" pitchFamily="34" charset="-120"/>
              </a:rPr>
              <a:t>Standardize a small set of named models mapped to commercial structure</a:t>
            </a:r>
          </a:p>
          <a:p>
            <a:pPr marL="0" indent="0">
              <a:buNone/>
            </a:pPr>
            <a:endParaRPr lang="en-US" sz="1200">
              <a:solidFill>
                <a:srgbClr val="000000"/>
              </a:solidFill>
              <a:ea typeface="Proxima Nova" pitchFamily="34" charset="-122"/>
              <a:cs typeface="Proxima Nova" pitchFamily="34" charset="-120"/>
            </a:endParaRPr>
          </a:p>
          <a:p>
            <a:r>
              <a:rPr lang="en-US" sz="1200">
                <a:solidFill>
                  <a:srgbClr val="000000"/>
                </a:solidFill>
                <a:ea typeface="Proxima Nova" pitchFamily="34" charset="-122"/>
                <a:cs typeface="Proxima Nova" pitchFamily="34" charset="-120"/>
              </a:rPr>
              <a:t>No SOW is signed without a model name attached to it, and that name determines governance </a:t>
            </a:r>
          </a:p>
          <a:p>
            <a:endParaRPr lang="en-US" sz="1200">
              <a:solidFill>
                <a:srgbClr val="000000"/>
              </a:solidFill>
              <a:ea typeface="Proxima Nova" pitchFamily="34" charset="-122"/>
              <a:cs typeface="Proxima Nova" pitchFamily="34" charset="-120"/>
            </a:endParaRPr>
          </a:p>
          <a:p>
            <a:r>
              <a:rPr lang="en-US" sz="1200">
                <a:solidFill>
                  <a:srgbClr val="000000"/>
                </a:solidFill>
                <a:ea typeface="Proxima Nova" pitchFamily="34" charset="-122"/>
                <a:cs typeface="Proxima Nova" pitchFamily="34" charset="-120"/>
              </a:rPr>
              <a:t>(e.g., gates vs. PI cadence vs. OKR-anchored backlog)</a:t>
            </a:r>
            <a:endParaRPr lang="en-US" sz="1200">
              <a:solidFill>
                <a:srgbClr val="000000"/>
              </a:solidFill>
            </a:endParaRPr>
          </a:p>
        </p:txBody>
      </p:sp>
      <p:sp>
        <p:nvSpPr>
          <p:cNvPr id="19" name="Recommendation card 2"/>
          <p:cNvSpPr/>
          <p:nvPr/>
        </p:nvSpPr>
        <p:spPr>
          <a:xfrm>
            <a:off x="3319272" y="2377440"/>
            <a:ext cx="2487168" cy="3931920"/>
          </a:xfrm>
          <a:prstGeom prst="roundRect">
            <a:avLst>
              <a:gd name="adj" fmla="val 3676"/>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0" name="Card number"/>
          <p:cNvSpPr txBox="1"/>
          <p:nvPr/>
        </p:nvSpPr>
        <p:spPr>
          <a:xfrm>
            <a:off x="3593592" y="2468880"/>
            <a:ext cx="1097280" cy="640080"/>
          </a:xfrm>
          <a:prstGeom prst="rect">
            <a:avLst/>
          </a:prstGeom>
          <a:noFill/>
          <a:ln/>
        </p:spPr>
        <p:txBody>
          <a:bodyPr wrap="square" lIns="0" tIns="0" rIns="0" bIns="0" rtlCol="0" anchor="t"/>
          <a:lstStyle/>
          <a:p>
            <a:pPr marL="0" indent="0">
              <a:buNone/>
            </a:pPr>
            <a:r>
              <a:rPr lang="en-US" sz="3120">
                <a:solidFill>
                  <a:srgbClr val="0391F2"/>
                </a:solidFill>
                <a:ea typeface="Proxima Nova" pitchFamily="34" charset="-122"/>
                <a:cs typeface="Proxima Nova" pitchFamily="34" charset="-120"/>
              </a:rPr>
              <a:t>02</a:t>
            </a:r>
            <a:endParaRPr lang="en-US" sz="4000">
              <a:solidFill>
                <a:srgbClr val="000000"/>
              </a:solidFill>
            </a:endParaRPr>
          </a:p>
        </p:txBody>
      </p:sp>
      <p:sp>
        <p:nvSpPr>
          <p:cNvPr id="21" name="Card copy"/>
          <p:cNvSpPr txBox="1"/>
          <p:nvPr/>
        </p:nvSpPr>
        <p:spPr>
          <a:xfrm>
            <a:off x="3479291" y="3154680"/>
            <a:ext cx="2188083" cy="3063240"/>
          </a:xfrm>
          <a:prstGeom prst="rect">
            <a:avLst/>
          </a:prstGeom>
          <a:noFill/>
          <a:ln/>
        </p:spPr>
        <p:txBody>
          <a:bodyPr wrap="square" lIns="0" tIns="0" rIns="0" bIns="0" rtlCol="0" anchor="t"/>
          <a:lstStyle/>
          <a:p>
            <a:pPr marL="0" indent="0">
              <a:spcAft>
                <a:spcPts val="600"/>
              </a:spcAft>
              <a:buNone/>
            </a:pPr>
            <a:r>
              <a:rPr lang="en-US" sz="1200" b="1">
                <a:solidFill>
                  <a:srgbClr val="000000"/>
                </a:solidFill>
                <a:ea typeface="Proxima Nova" pitchFamily="34" charset="-122"/>
                <a:cs typeface="Proxima Nova" pitchFamily="34" charset="-120"/>
              </a:rPr>
              <a:t>Treat multi-track programs as portfolios of clearly defined tracks mapped to a model, not one label stretched over the whole account.</a:t>
            </a:r>
            <a:endParaRPr lang="en-US" sz="1050" i="1">
              <a:solidFill>
                <a:srgbClr val="60607D"/>
              </a:solidFill>
              <a:ea typeface="Proxima Nova" pitchFamily="34" charset="-122"/>
              <a:cs typeface="Proxima Nova" pitchFamily="34" charset="-120"/>
            </a:endParaRPr>
          </a:p>
          <a:p>
            <a:pPr marL="0" indent="0" algn="ctr">
              <a:buNone/>
            </a:pPr>
            <a:r>
              <a:rPr lang="en-US" sz="1200" i="1">
                <a:solidFill>
                  <a:srgbClr val="60607D"/>
                </a:solidFill>
                <a:ea typeface="Proxima Nova" pitchFamily="34" charset="-122"/>
                <a:cs typeface="Proxima Nova" pitchFamily="34" charset="-120"/>
              </a:rPr>
              <a:t>Program A: </a:t>
            </a:r>
          </a:p>
          <a:p>
            <a:pPr marL="0" indent="0" algn="ctr">
              <a:buNone/>
            </a:pPr>
            <a:endParaRPr lang="en-US" sz="1200" i="1">
              <a:solidFill>
                <a:srgbClr val="60607D"/>
              </a:solidFill>
              <a:ea typeface="Proxima Nova" pitchFamily="34" charset="-122"/>
              <a:cs typeface="Proxima Nova" pitchFamily="34" charset="-120"/>
            </a:endParaRPr>
          </a:p>
          <a:p>
            <a:pPr marL="0" indent="0" algn="ctr">
              <a:buNone/>
            </a:pPr>
            <a:r>
              <a:rPr lang="en-US" sz="1200" i="1">
                <a:solidFill>
                  <a:srgbClr val="60607D"/>
                </a:solidFill>
                <a:ea typeface="Proxima Nova" pitchFamily="34" charset="-122"/>
                <a:cs typeface="Proxima Nova" pitchFamily="34" charset="-120"/>
              </a:rPr>
              <a:t>Track A: Model 1 (</a:t>
            </a:r>
            <a:r>
              <a:rPr lang="en-US" sz="1200" i="1" err="1">
                <a:solidFill>
                  <a:srgbClr val="60607D"/>
                </a:solidFill>
                <a:ea typeface="Proxima Nova" pitchFamily="34" charset="-122"/>
                <a:cs typeface="Proxima Nova" pitchFamily="34" charset="-120"/>
              </a:rPr>
              <a:t>backcasted</a:t>
            </a:r>
            <a:r>
              <a:rPr lang="en-US" sz="1200" i="1">
                <a:solidFill>
                  <a:srgbClr val="60607D"/>
                </a:solidFill>
                <a:ea typeface="Proxima Nova" pitchFamily="34" charset="-122"/>
                <a:cs typeface="Proxima Nova" pitchFamily="34" charset="-120"/>
              </a:rPr>
              <a:t> platform build) </a:t>
            </a:r>
            <a:br>
              <a:rPr lang="en-US" sz="1200" i="1">
                <a:solidFill>
                  <a:srgbClr val="60607D"/>
                </a:solidFill>
                <a:ea typeface="Proxima Nova" pitchFamily="34" charset="-122"/>
                <a:cs typeface="Proxima Nova" pitchFamily="34" charset="-120"/>
              </a:rPr>
            </a:br>
            <a:r>
              <a:rPr lang="en-US" sz="1200" i="1">
                <a:solidFill>
                  <a:srgbClr val="60607D"/>
                </a:solidFill>
                <a:ea typeface="Proxima Nova" pitchFamily="34" charset="-122"/>
                <a:cs typeface="Proxima Nova" pitchFamily="34" charset="-120"/>
              </a:rPr>
              <a:t>+</a:t>
            </a:r>
            <a:br>
              <a:rPr lang="en-US" sz="1200" i="1">
                <a:solidFill>
                  <a:srgbClr val="60607D"/>
                </a:solidFill>
                <a:ea typeface="Proxima Nova" pitchFamily="34" charset="-122"/>
                <a:cs typeface="Proxima Nova" pitchFamily="34" charset="-120"/>
              </a:rPr>
            </a:br>
            <a:r>
              <a:rPr lang="en-US" sz="1200" i="1">
                <a:solidFill>
                  <a:srgbClr val="60607D"/>
                </a:solidFill>
                <a:ea typeface="Proxima Nova" pitchFamily="34" charset="-122"/>
                <a:cs typeface="Proxima Nova" pitchFamily="34" charset="-120"/>
              </a:rPr>
              <a:t>Track B: Model 3 (outcomes based page performance improvement )</a:t>
            </a:r>
            <a:br>
              <a:rPr lang="en-US" sz="1200" i="1">
                <a:solidFill>
                  <a:srgbClr val="60607D"/>
                </a:solidFill>
                <a:ea typeface="Proxima Nova" pitchFamily="34" charset="-122"/>
                <a:cs typeface="Proxima Nova" pitchFamily="34" charset="-120"/>
              </a:rPr>
            </a:br>
            <a:r>
              <a:rPr lang="en-US" sz="1200" i="1">
                <a:solidFill>
                  <a:srgbClr val="60607D"/>
                </a:solidFill>
                <a:ea typeface="Proxima Nova" pitchFamily="34" charset="-122"/>
                <a:cs typeface="Proxima Nova" pitchFamily="34" charset="-120"/>
              </a:rPr>
              <a:t>+</a:t>
            </a:r>
          </a:p>
          <a:p>
            <a:pPr marL="0" indent="0">
              <a:buNone/>
            </a:pPr>
            <a:r>
              <a:rPr lang="en-US" sz="1200" i="1">
                <a:solidFill>
                  <a:srgbClr val="60607D"/>
                </a:solidFill>
                <a:ea typeface="Proxima Nova" pitchFamily="34" charset="-122"/>
                <a:cs typeface="Proxima Nova" pitchFamily="34" charset="-120"/>
              </a:rPr>
              <a:t>Track C: Model 2 (retainer - ops)</a:t>
            </a:r>
            <a:endParaRPr lang="en-US" sz="1200">
              <a:solidFill>
                <a:srgbClr val="000000"/>
              </a:solidFill>
            </a:endParaRPr>
          </a:p>
        </p:txBody>
      </p:sp>
      <p:sp>
        <p:nvSpPr>
          <p:cNvPr id="22" name="Recommendation card 3"/>
          <p:cNvSpPr/>
          <p:nvPr/>
        </p:nvSpPr>
        <p:spPr>
          <a:xfrm>
            <a:off x="6108192" y="2377440"/>
            <a:ext cx="2487168" cy="3931920"/>
          </a:xfrm>
          <a:prstGeom prst="roundRect">
            <a:avLst>
              <a:gd name="adj" fmla="val 3676"/>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3" name="Card number"/>
          <p:cNvSpPr txBox="1"/>
          <p:nvPr/>
        </p:nvSpPr>
        <p:spPr>
          <a:xfrm>
            <a:off x="6382512" y="2468880"/>
            <a:ext cx="1097280" cy="640080"/>
          </a:xfrm>
          <a:prstGeom prst="rect">
            <a:avLst/>
          </a:prstGeom>
          <a:noFill/>
          <a:ln/>
        </p:spPr>
        <p:txBody>
          <a:bodyPr wrap="square" lIns="0" tIns="0" rIns="0" bIns="0" rtlCol="0" anchor="t"/>
          <a:lstStyle/>
          <a:p>
            <a:pPr marL="0" indent="0">
              <a:buNone/>
            </a:pPr>
            <a:r>
              <a:rPr lang="en-US" sz="3120">
                <a:solidFill>
                  <a:srgbClr val="000000"/>
                </a:solidFill>
                <a:ea typeface="Proxima Nova" pitchFamily="34" charset="-122"/>
                <a:cs typeface="Proxima Nova" pitchFamily="34" charset="-120"/>
              </a:rPr>
              <a:t>03</a:t>
            </a:r>
            <a:endParaRPr lang="en-US" sz="4000">
              <a:solidFill>
                <a:srgbClr val="000000"/>
              </a:solidFill>
            </a:endParaRPr>
          </a:p>
        </p:txBody>
      </p:sp>
      <p:sp>
        <p:nvSpPr>
          <p:cNvPr id="24" name="Card copy"/>
          <p:cNvSpPr txBox="1"/>
          <p:nvPr/>
        </p:nvSpPr>
        <p:spPr>
          <a:xfrm>
            <a:off x="6248400" y="3154680"/>
            <a:ext cx="2200656" cy="3063240"/>
          </a:xfrm>
          <a:prstGeom prst="rect">
            <a:avLst/>
          </a:prstGeom>
          <a:noFill/>
          <a:ln/>
        </p:spPr>
        <p:txBody>
          <a:bodyPr wrap="square" lIns="0" tIns="0" rIns="0" bIns="0" rtlCol="0" anchor="t"/>
          <a:lstStyle/>
          <a:p>
            <a:pPr marL="0" indent="0">
              <a:buNone/>
            </a:pPr>
            <a:r>
              <a:rPr lang="en-US" sz="1200" b="1">
                <a:solidFill>
                  <a:srgbClr val="000000"/>
                </a:solidFill>
                <a:ea typeface="Proxima Nova" pitchFamily="34" charset="-122"/>
                <a:cs typeface="Proxima Nova" pitchFamily="34" charset="-120"/>
              </a:rPr>
              <a:t>Require a kickoff certification.</a:t>
            </a:r>
            <a:r>
              <a:rPr lang="en-US" sz="1200">
                <a:solidFill>
                  <a:srgbClr val="000000"/>
                </a:solidFill>
                <a:ea typeface="Proxima Nova" pitchFamily="34" charset="-122"/>
                <a:cs typeface="Proxima Nova" pitchFamily="34" charset="-120"/>
              </a:rPr>
              <a:t> </a:t>
            </a:r>
          </a:p>
          <a:p>
            <a:pPr marL="0" indent="0">
              <a:buNone/>
            </a:pPr>
            <a:endParaRPr lang="en-US" sz="1200">
              <a:solidFill>
                <a:srgbClr val="000000"/>
              </a:solidFill>
              <a:ea typeface="Proxima Nova" pitchFamily="34" charset="-122"/>
              <a:cs typeface="Proxima Nova" pitchFamily="34" charset="-120"/>
            </a:endParaRPr>
          </a:p>
          <a:p>
            <a:pPr marL="0" indent="0">
              <a:buNone/>
            </a:pPr>
            <a:r>
              <a:rPr lang="en-US" sz="1200">
                <a:solidFill>
                  <a:srgbClr val="000000"/>
                </a:solidFill>
                <a:ea typeface="Proxima Nova" pitchFamily="34" charset="-122"/>
                <a:cs typeface="Proxima Nova" pitchFamily="34" charset="-120"/>
              </a:rPr>
              <a:t>A named accountable role (Program or Account Lead and Delivery Lead) signs off, at kickoff and at defined checkpoints, that the working model, the staffing, and the contract still agree with each other. </a:t>
            </a:r>
            <a:br>
              <a:rPr lang="en-US" sz="1200">
                <a:solidFill>
                  <a:srgbClr val="000000"/>
                </a:solidFill>
                <a:ea typeface="Proxima Nova" pitchFamily="34" charset="-122"/>
                <a:cs typeface="Proxima Nova" pitchFamily="34" charset="-120"/>
              </a:rPr>
            </a:br>
            <a:br>
              <a:rPr lang="en-US" sz="1200">
                <a:solidFill>
                  <a:srgbClr val="000000"/>
                </a:solidFill>
                <a:ea typeface="Proxima Nova" pitchFamily="34" charset="-122"/>
                <a:cs typeface="Proxima Nova" pitchFamily="34" charset="-120"/>
              </a:rPr>
            </a:br>
            <a:r>
              <a:rPr lang="en-US" sz="1200">
                <a:solidFill>
                  <a:srgbClr val="000000"/>
                </a:solidFill>
                <a:ea typeface="Proxima Nova" pitchFamily="34" charset="-122"/>
                <a:cs typeface="Proxima Nova" pitchFamily="34" charset="-120"/>
              </a:rPr>
              <a:t>Shift from "escalate when it's already broken" into "check before it can break."</a:t>
            </a:r>
            <a:endParaRPr lang="en-US" sz="1200">
              <a:solidFill>
                <a:srgbClr val="000000"/>
              </a:solidFill>
            </a:endParaRPr>
          </a:p>
        </p:txBody>
      </p:sp>
      <p:sp>
        <p:nvSpPr>
          <p:cNvPr id="25" name="Recommendation card 4"/>
          <p:cNvSpPr/>
          <p:nvPr/>
        </p:nvSpPr>
        <p:spPr>
          <a:xfrm>
            <a:off x="8897112" y="2377440"/>
            <a:ext cx="2487168" cy="3931920"/>
          </a:xfrm>
          <a:prstGeom prst="roundRect">
            <a:avLst>
              <a:gd name="adj" fmla="val 3676"/>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6" name="Card number"/>
          <p:cNvSpPr txBox="1"/>
          <p:nvPr/>
        </p:nvSpPr>
        <p:spPr>
          <a:xfrm>
            <a:off x="9171432" y="2468880"/>
            <a:ext cx="1097280" cy="640080"/>
          </a:xfrm>
          <a:prstGeom prst="rect">
            <a:avLst/>
          </a:prstGeom>
          <a:noFill/>
          <a:ln/>
        </p:spPr>
        <p:txBody>
          <a:bodyPr wrap="square" lIns="0" tIns="0" rIns="0" bIns="0" rtlCol="0" anchor="t"/>
          <a:lstStyle/>
          <a:p>
            <a:pPr marL="0" indent="0">
              <a:buNone/>
            </a:pPr>
            <a:r>
              <a:rPr lang="en-US" sz="3120">
                <a:solidFill>
                  <a:srgbClr val="0391F2"/>
                </a:solidFill>
                <a:ea typeface="Proxima Nova" pitchFamily="34" charset="-122"/>
                <a:cs typeface="Proxima Nova" pitchFamily="34" charset="-120"/>
              </a:rPr>
              <a:t>04</a:t>
            </a:r>
            <a:endParaRPr lang="en-US" sz="4000">
              <a:solidFill>
                <a:srgbClr val="000000"/>
              </a:solidFill>
            </a:endParaRPr>
          </a:p>
        </p:txBody>
      </p:sp>
      <p:sp>
        <p:nvSpPr>
          <p:cNvPr id="27" name="Card copy"/>
          <p:cNvSpPr txBox="1"/>
          <p:nvPr/>
        </p:nvSpPr>
        <p:spPr>
          <a:xfrm>
            <a:off x="9020175" y="3154680"/>
            <a:ext cx="2201241" cy="3063240"/>
          </a:xfrm>
          <a:prstGeom prst="rect">
            <a:avLst/>
          </a:prstGeom>
          <a:noFill/>
          <a:ln/>
        </p:spPr>
        <p:txBody>
          <a:bodyPr wrap="square" lIns="0" tIns="0" rIns="0" bIns="0" rtlCol="0" anchor="t"/>
          <a:lstStyle/>
          <a:p>
            <a:pPr marL="0" indent="0">
              <a:buNone/>
            </a:pPr>
            <a:r>
              <a:rPr lang="en-US" sz="1200" b="1">
                <a:solidFill>
                  <a:srgbClr val="000000"/>
                </a:solidFill>
                <a:ea typeface="Proxima Nova" pitchFamily="34" charset="-122"/>
                <a:cs typeface="Proxima Nova" pitchFamily="34" charset="-120"/>
              </a:rPr>
              <a:t>Build leading indicators per model.</a:t>
            </a:r>
            <a:r>
              <a:rPr lang="en-US" sz="1200">
                <a:solidFill>
                  <a:srgbClr val="000000"/>
                </a:solidFill>
                <a:ea typeface="Proxima Nova" pitchFamily="34" charset="-122"/>
                <a:cs typeface="Proxima Nova" pitchFamily="34" charset="-120"/>
              </a:rPr>
              <a:t> </a:t>
            </a:r>
          </a:p>
          <a:p>
            <a:pPr marL="0" indent="0">
              <a:buNone/>
            </a:pPr>
            <a:endParaRPr lang="en-US" sz="1200">
              <a:solidFill>
                <a:srgbClr val="000000"/>
              </a:solidFill>
              <a:ea typeface="Proxima Nova" pitchFamily="34" charset="-122"/>
              <a:cs typeface="Proxima Nova" pitchFamily="34" charset="-120"/>
            </a:endParaRPr>
          </a:p>
          <a:p>
            <a:pPr marL="0" indent="0">
              <a:buNone/>
            </a:pPr>
            <a:r>
              <a:rPr lang="en-US" sz="1200">
                <a:solidFill>
                  <a:srgbClr val="000000"/>
                </a:solidFill>
                <a:ea typeface="Proxima Nova" pitchFamily="34" charset="-122"/>
                <a:cs typeface="Proxima Nova" pitchFamily="34" charset="-120"/>
              </a:rPr>
              <a:t>Make drift visible in week 2 to 4 of a track instead of at the next executive review.</a:t>
            </a:r>
          </a:p>
          <a:p>
            <a:pPr marL="0" indent="0">
              <a:buNone/>
            </a:pPr>
            <a:endParaRPr lang="en-US" sz="1200">
              <a:solidFill>
                <a:srgbClr val="000000"/>
              </a:solidFill>
              <a:ea typeface="Proxima Nova" pitchFamily="34" charset="-122"/>
              <a:cs typeface="Proxima Nova" pitchFamily="34" charset="-120"/>
            </a:endParaRPr>
          </a:p>
          <a:p>
            <a:pPr marL="0" indent="0">
              <a:buNone/>
            </a:pPr>
            <a:r>
              <a:rPr lang="en-US" sz="1200">
                <a:solidFill>
                  <a:srgbClr val="000000"/>
                </a:solidFill>
                <a:ea typeface="Proxima Nova" pitchFamily="34" charset="-122"/>
                <a:cs typeface="Proxima Nova" pitchFamily="34" charset="-120"/>
              </a:rPr>
              <a:t>Each model gets 3 to 4 checkable signals </a:t>
            </a:r>
            <a:br>
              <a:rPr lang="en-US" sz="1200">
                <a:solidFill>
                  <a:srgbClr val="000000"/>
                </a:solidFill>
                <a:ea typeface="Proxima Nova" pitchFamily="34" charset="-122"/>
                <a:cs typeface="Proxima Nova" pitchFamily="34" charset="-120"/>
              </a:rPr>
            </a:br>
            <a:br>
              <a:rPr lang="en-US" sz="1200">
                <a:solidFill>
                  <a:srgbClr val="000000"/>
                </a:solidFill>
                <a:ea typeface="Proxima Nova" pitchFamily="34" charset="-122"/>
                <a:cs typeface="Proxima Nova" pitchFamily="34" charset="-120"/>
              </a:rPr>
            </a:br>
            <a:r>
              <a:rPr lang="en-US" sz="1200">
                <a:solidFill>
                  <a:srgbClr val="000000"/>
                </a:solidFill>
                <a:ea typeface="Proxima Nova" pitchFamily="34" charset="-122"/>
                <a:cs typeface="Proxima Nova" pitchFamily="34" charset="-120"/>
              </a:rPr>
              <a:t>(e.g., for Model 1: is there a </a:t>
            </a:r>
            <a:r>
              <a:rPr lang="en-US" sz="1200" err="1">
                <a:solidFill>
                  <a:srgbClr val="000000"/>
                </a:solidFill>
                <a:ea typeface="Proxima Nova" pitchFamily="34" charset="-122"/>
                <a:cs typeface="Proxima Nova" pitchFamily="34" charset="-120"/>
              </a:rPr>
              <a:t>backcasted</a:t>
            </a:r>
            <a:r>
              <a:rPr lang="en-US" sz="1200">
                <a:solidFill>
                  <a:srgbClr val="000000"/>
                </a:solidFill>
                <a:ea typeface="Proxima Nova" pitchFamily="34" charset="-122"/>
                <a:cs typeface="Proxima Nova" pitchFamily="34" charset="-120"/>
              </a:rPr>
              <a:t> plan and is the client tracking to gates; for Model 2: is velocity being reported against contracted throughput)</a:t>
            </a:r>
            <a:endParaRPr lang="en-US" sz="12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k_edge7.jpg"/>
          <p:cNvPicPr>
            <a:picLocks noChangeAspect="1"/>
          </p:cNvPicPr>
          <p:nvPr/>
        </p:nvPicPr>
        <p:blipFill>
          <a:blip r:embed="rId3"/>
          <a:stretch>
            <a:fillRect/>
          </a:stretch>
        </p:blipFill>
        <p:spPr>
          <a:xfrm>
            <a:off x="7894320" y="0"/>
            <a:ext cx="4297680" cy="1207008"/>
          </a:xfrm>
          <a:prstGeom prst="rect">
            <a:avLst/>
          </a:prstGeom>
        </p:spPr>
      </p:pic>
      <p:sp>
        <p:nvSpPr>
          <p:cNvPr id="32" name="Rectangle 31"/>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33" name="Rectangle 32"/>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a:xfrm>
            <a:off x="530352" y="457200"/>
            <a:ext cx="11128248" cy="566928"/>
          </a:xfrm>
        </p:spPr>
        <p:txBody>
          <a:bodyPr/>
          <a:lstStyle/>
          <a:p>
            <a:r>
              <a:rPr>
                <a:latin typeface="+mn-lt"/>
              </a:rPr>
              <a:t>Deal-to-Delivery Model Examples</a:t>
            </a:r>
          </a:p>
        </p:txBody>
      </p:sp>
      <p:sp>
        <p:nvSpPr>
          <p:cNvPr id="4" name="Text Placeholder 3"/>
          <p:cNvSpPr>
            <a:spLocks noGrp="1"/>
          </p:cNvSpPr>
          <p:nvPr>
            <p:ph type="body" sz="quarter" idx="12"/>
          </p:nvPr>
        </p:nvSpPr>
        <p:spPr>
          <a:xfrm>
            <a:off x="530352" y="256032"/>
            <a:ext cx="11128248" cy="182880"/>
          </a:xfrm>
        </p:spPr>
        <p:txBody>
          <a:bodyPr/>
          <a:lstStyle/>
          <a:p>
            <a:r>
              <a:t>DEAL-TO-DELIVERY PLAYBOOK: CONTINUED</a:t>
            </a:r>
          </a:p>
        </p:txBody>
      </p:sp>
      <p:sp>
        <p:nvSpPr>
          <p:cNvPr id="15" name="Model card 1"/>
          <p:cNvSpPr/>
          <p:nvPr/>
        </p:nvSpPr>
        <p:spPr>
          <a:xfrm>
            <a:off x="530352" y="1783080"/>
            <a:ext cx="2697480" cy="4572000"/>
          </a:xfrm>
          <a:prstGeom prst="roundRect">
            <a:avLst>
              <a:gd name="adj" fmla="val 339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17" name="Model name"/>
          <p:cNvSpPr txBox="1"/>
          <p:nvPr/>
        </p:nvSpPr>
        <p:spPr>
          <a:xfrm>
            <a:off x="694944" y="1892808"/>
            <a:ext cx="1865376" cy="640080"/>
          </a:xfrm>
          <a:prstGeom prst="rect">
            <a:avLst/>
          </a:prstGeom>
          <a:noFill/>
          <a:ln/>
        </p:spPr>
        <p:txBody>
          <a:bodyPr wrap="square" lIns="0" tIns="0" rIns="0" bIns="0" rtlCol="0" anchor="t"/>
          <a:lstStyle/>
          <a:p>
            <a:pPr marL="0" indent="0">
              <a:buNone/>
            </a:pPr>
            <a:r>
              <a:rPr lang="en-US" sz="1000" b="1" kern="0" spc="300">
                <a:solidFill>
                  <a:srgbClr val="0328D1"/>
                </a:solidFill>
              </a:rPr>
              <a:t>MODEL 1</a:t>
            </a:r>
            <a:endParaRPr lang="en-US" sz="1000">
              <a:solidFill>
                <a:srgbClr val="000000"/>
              </a:solidFill>
            </a:endParaRPr>
          </a:p>
          <a:p>
            <a:pPr marL="0" indent="0">
              <a:buNone/>
            </a:pPr>
            <a:r>
              <a:rPr lang="en-US" sz="1400" b="1">
                <a:solidFill>
                  <a:srgbClr val="000000"/>
                </a:solidFill>
              </a:rPr>
              <a:t>Fixed Constraint Delivery</a:t>
            </a:r>
            <a:endParaRPr lang="en-US" sz="1000">
              <a:solidFill>
                <a:srgbClr val="000000"/>
              </a:solidFill>
            </a:endParaRPr>
          </a:p>
        </p:txBody>
      </p:sp>
      <p:sp>
        <p:nvSpPr>
          <p:cNvPr id="18" name="Model copy"/>
          <p:cNvSpPr txBox="1"/>
          <p:nvPr/>
        </p:nvSpPr>
        <p:spPr>
          <a:xfrm>
            <a:off x="694944" y="2606040"/>
            <a:ext cx="2368296" cy="3657600"/>
          </a:xfrm>
          <a:prstGeom prst="rect">
            <a:avLst/>
          </a:prstGeom>
          <a:noFill/>
          <a:ln/>
        </p:spPr>
        <p:txBody>
          <a:bodyPr wrap="square" lIns="0" tIns="0" rIns="0" bIns="0" rtlCol="0" anchor="t"/>
          <a:lstStyle/>
          <a:p>
            <a:pPr marL="0" indent="0">
              <a:spcAft>
                <a:spcPts val="500"/>
              </a:spcAft>
              <a:buNone/>
            </a:pPr>
            <a:r>
              <a:rPr lang="en-US" sz="1000">
                <a:solidFill>
                  <a:srgbClr val="000000"/>
                </a:solidFill>
                <a:ea typeface="Proxima Nova" pitchFamily="34" charset="-122"/>
                <a:cs typeface="Proxima Nova" pitchFamily="34" charset="-120"/>
              </a:rPr>
              <a:t>A fixed constraint (budget, deadline, or scope) is set, and delivery is planned backward to it.</a:t>
            </a:r>
            <a:endParaRPr lang="en-US" sz="1000">
              <a:solidFill>
                <a:srgbClr val="000000"/>
              </a:solidFill>
            </a:endParaRPr>
          </a:p>
          <a:p>
            <a:pPr marL="0" indent="0">
              <a:spcAft>
                <a:spcPts val="300"/>
              </a:spcAft>
              <a:buNone/>
            </a:pPr>
            <a:r>
              <a:rPr lang="en-US" sz="1050" b="1">
                <a:solidFill>
                  <a:srgbClr val="0328D1"/>
                </a:solidFill>
                <a:ea typeface="Proxima Nova" pitchFamily="34" charset="-122"/>
                <a:cs typeface="Proxima Nova" pitchFamily="34" charset="-120"/>
              </a:rPr>
              <a:t>Key characteristics</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Backcasted plan is mandatory before build starts — no backcast, no green light</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Scope is fixed and baselined at Gate 1; change flows through CR (constraint-impacting) or Scope Bank (parity swaps)</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Phase-gated structure with formal sign-offs</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Squad Lead = Scrum Master</a:t>
            </a:r>
            <a:endParaRPr lang="en-US" sz="1000">
              <a:solidFill>
                <a:srgbClr val="000000"/>
              </a:solidFill>
            </a:endParaRPr>
          </a:p>
          <a:p>
            <a:pPr marL="342900" indent="-342900">
              <a:buSzPct val="100000"/>
              <a:buChar char="•"/>
            </a:pPr>
            <a:r>
              <a:rPr lang="en-US" sz="1000">
                <a:solidFill>
                  <a:srgbClr val="000000"/>
                </a:solidFill>
                <a:ea typeface="Proxima Nova" pitchFamily="34" charset="-122"/>
                <a:cs typeface="Proxima Nova" pitchFamily="34" charset="-120"/>
              </a:rPr>
              <a:t>Success is binary at the end: did it ship, on time, in budget, to spec</a:t>
            </a:r>
            <a:endParaRPr lang="en-US" sz="1000">
              <a:solidFill>
                <a:srgbClr val="000000"/>
              </a:solidFill>
            </a:endParaRPr>
          </a:p>
        </p:txBody>
      </p:sp>
      <p:sp>
        <p:nvSpPr>
          <p:cNvPr id="19" name="Model card 2"/>
          <p:cNvSpPr/>
          <p:nvPr/>
        </p:nvSpPr>
        <p:spPr>
          <a:xfrm>
            <a:off x="3337560" y="1783080"/>
            <a:ext cx="2697480" cy="4572000"/>
          </a:xfrm>
          <a:prstGeom prst="roundRect">
            <a:avLst>
              <a:gd name="adj" fmla="val 339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1" name="Model name"/>
          <p:cNvSpPr txBox="1"/>
          <p:nvPr/>
        </p:nvSpPr>
        <p:spPr>
          <a:xfrm>
            <a:off x="3502152" y="1892808"/>
            <a:ext cx="1865376" cy="640080"/>
          </a:xfrm>
          <a:prstGeom prst="rect">
            <a:avLst/>
          </a:prstGeom>
          <a:noFill/>
          <a:ln/>
        </p:spPr>
        <p:txBody>
          <a:bodyPr wrap="square" lIns="0" tIns="0" rIns="0" bIns="0" rtlCol="0" anchor="t"/>
          <a:lstStyle/>
          <a:p>
            <a:pPr marL="0" indent="0">
              <a:buNone/>
            </a:pPr>
            <a:r>
              <a:rPr lang="en-US" sz="1000" b="1" kern="0" spc="300">
                <a:solidFill>
                  <a:srgbClr val="000000"/>
                </a:solidFill>
              </a:rPr>
              <a:t>MODEL 2</a:t>
            </a:r>
            <a:endParaRPr lang="en-US" sz="1000">
              <a:solidFill>
                <a:srgbClr val="000000"/>
              </a:solidFill>
            </a:endParaRPr>
          </a:p>
          <a:p>
            <a:pPr marL="0" indent="0">
              <a:buNone/>
            </a:pPr>
            <a:r>
              <a:rPr lang="en-US" sz="1400" b="1">
                <a:solidFill>
                  <a:srgbClr val="000000"/>
                </a:solidFill>
              </a:rPr>
              <a:t>Velocity Based Delivery</a:t>
            </a:r>
            <a:endParaRPr lang="en-US" sz="1000">
              <a:solidFill>
                <a:srgbClr val="000000"/>
              </a:solidFill>
            </a:endParaRPr>
          </a:p>
        </p:txBody>
      </p:sp>
      <p:sp>
        <p:nvSpPr>
          <p:cNvPr id="22" name="Model copy"/>
          <p:cNvSpPr txBox="1"/>
          <p:nvPr/>
        </p:nvSpPr>
        <p:spPr>
          <a:xfrm>
            <a:off x="3502152" y="2606040"/>
            <a:ext cx="2368296" cy="3657600"/>
          </a:xfrm>
          <a:prstGeom prst="rect">
            <a:avLst/>
          </a:prstGeom>
          <a:noFill/>
          <a:ln/>
        </p:spPr>
        <p:txBody>
          <a:bodyPr wrap="square" lIns="0" tIns="0" rIns="0" bIns="0" rtlCol="0" anchor="t"/>
          <a:lstStyle/>
          <a:p>
            <a:pPr marL="0" indent="0">
              <a:spcAft>
                <a:spcPts val="500"/>
              </a:spcAft>
              <a:buNone/>
            </a:pPr>
            <a:r>
              <a:rPr lang="en-US" sz="1000">
                <a:solidFill>
                  <a:srgbClr val="000000"/>
                </a:solidFill>
                <a:ea typeface="Proxima Nova" pitchFamily="34" charset="-122"/>
                <a:cs typeface="Proxima Nova" pitchFamily="34" charset="-120"/>
              </a:rPr>
              <a:t>A contracted team delivers at a predictable, measurable pace; value is demonstrated through throughput and periodic releases, not a fixed feature list.</a:t>
            </a:r>
            <a:endParaRPr lang="en-US" sz="1000">
              <a:solidFill>
                <a:srgbClr val="000000"/>
              </a:solidFill>
            </a:endParaRPr>
          </a:p>
          <a:p>
            <a:pPr marL="0" indent="0">
              <a:spcAft>
                <a:spcPts val="300"/>
              </a:spcAft>
              <a:buNone/>
            </a:pPr>
            <a:r>
              <a:rPr lang="en-US" sz="1050" b="1">
                <a:solidFill>
                  <a:srgbClr val="000000"/>
                </a:solidFill>
                <a:ea typeface="Proxima Nova" pitchFamily="34" charset="-122"/>
                <a:cs typeface="Proxima Nova" pitchFamily="34" charset="-120"/>
              </a:rPr>
              <a:t>Key characteristics</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No fixed scope commitment — backlog is client-prioritized, reordered freely</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Velocity baseline is established and defended</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PI Planning cadence (8–10 weeks) anchors medium-term commitments</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Squad Lead = Scrum Master</a:t>
            </a:r>
            <a:endParaRPr lang="en-US" sz="1000">
              <a:solidFill>
                <a:srgbClr val="000000"/>
              </a:solidFill>
            </a:endParaRPr>
          </a:p>
          <a:p>
            <a:pPr marL="342900" indent="-342900">
              <a:buSzPct val="100000"/>
              <a:buChar char="•"/>
            </a:pPr>
            <a:r>
              <a:rPr lang="en-US" sz="1000">
                <a:solidFill>
                  <a:srgbClr val="000000"/>
                </a:solidFill>
                <a:ea typeface="Proxima Nova" pitchFamily="34" charset="-122"/>
                <a:cs typeface="Proxima Nova" pitchFamily="34" charset="-120"/>
              </a:rPr>
              <a:t>Contract states team capacity/pace is what's being bought — NOT a feature list</a:t>
            </a:r>
            <a:endParaRPr lang="en-US" sz="1000">
              <a:solidFill>
                <a:srgbClr val="000000"/>
              </a:solidFill>
            </a:endParaRPr>
          </a:p>
        </p:txBody>
      </p:sp>
      <p:sp>
        <p:nvSpPr>
          <p:cNvPr id="23" name="Model card 3"/>
          <p:cNvSpPr/>
          <p:nvPr/>
        </p:nvSpPr>
        <p:spPr>
          <a:xfrm>
            <a:off x="6144768" y="1783080"/>
            <a:ext cx="2697480" cy="4572000"/>
          </a:xfrm>
          <a:prstGeom prst="roundRect">
            <a:avLst>
              <a:gd name="adj" fmla="val 339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5" name="Model name"/>
          <p:cNvSpPr txBox="1"/>
          <p:nvPr/>
        </p:nvSpPr>
        <p:spPr>
          <a:xfrm>
            <a:off x="6309360" y="1892808"/>
            <a:ext cx="1865376" cy="640080"/>
          </a:xfrm>
          <a:prstGeom prst="rect">
            <a:avLst/>
          </a:prstGeom>
          <a:noFill/>
          <a:ln/>
        </p:spPr>
        <p:txBody>
          <a:bodyPr wrap="square" lIns="0" tIns="0" rIns="0" bIns="0" rtlCol="0" anchor="t"/>
          <a:lstStyle/>
          <a:p>
            <a:pPr marL="0" indent="0">
              <a:buNone/>
            </a:pPr>
            <a:r>
              <a:rPr lang="en-US" sz="1000" b="1" kern="0" spc="300">
                <a:solidFill>
                  <a:srgbClr val="0328D1"/>
                </a:solidFill>
              </a:rPr>
              <a:t>MODEL 3</a:t>
            </a:r>
            <a:endParaRPr lang="en-US" sz="1000">
              <a:solidFill>
                <a:srgbClr val="000000"/>
              </a:solidFill>
            </a:endParaRPr>
          </a:p>
          <a:p>
            <a:pPr marL="0" indent="0">
              <a:buNone/>
            </a:pPr>
            <a:r>
              <a:rPr lang="en-US" sz="1400" b="1">
                <a:solidFill>
                  <a:srgbClr val="000000"/>
                </a:solidFill>
              </a:rPr>
              <a:t>Outcomes Based Delivery</a:t>
            </a:r>
            <a:endParaRPr lang="en-US" sz="1000">
              <a:solidFill>
                <a:srgbClr val="000000"/>
              </a:solidFill>
            </a:endParaRPr>
          </a:p>
        </p:txBody>
      </p:sp>
      <p:sp>
        <p:nvSpPr>
          <p:cNvPr id="26" name="Model copy"/>
          <p:cNvSpPr txBox="1"/>
          <p:nvPr/>
        </p:nvSpPr>
        <p:spPr>
          <a:xfrm>
            <a:off x="6309360" y="2606040"/>
            <a:ext cx="2368296" cy="3657600"/>
          </a:xfrm>
          <a:prstGeom prst="rect">
            <a:avLst/>
          </a:prstGeom>
          <a:noFill/>
          <a:ln/>
        </p:spPr>
        <p:txBody>
          <a:bodyPr wrap="square" lIns="0" tIns="0" rIns="0" bIns="0" rtlCol="0" anchor="t"/>
          <a:lstStyle/>
          <a:p>
            <a:pPr marL="0" indent="0">
              <a:spcAft>
                <a:spcPts val="500"/>
              </a:spcAft>
              <a:buNone/>
            </a:pPr>
            <a:r>
              <a:rPr lang="en-US" sz="1000">
                <a:solidFill>
                  <a:srgbClr val="000000"/>
                </a:solidFill>
                <a:ea typeface="Proxima Nova" pitchFamily="34" charset="-122"/>
                <a:cs typeface="Proxima Nova" pitchFamily="34" charset="-120"/>
              </a:rPr>
              <a:t>A strategic product partnership; the backlog exists to move measurable business outcomes, not just to ship features.</a:t>
            </a:r>
            <a:endParaRPr lang="en-US" sz="1000">
              <a:solidFill>
                <a:srgbClr val="000000"/>
              </a:solidFill>
            </a:endParaRPr>
          </a:p>
          <a:p>
            <a:pPr marL="0" indent="0">
              <a:spcAft>
                <a:spcPts val="300"/>
              </a:spcAft>
              <a:buNone/>
            </a:pPr>
            <a:r>
              <a:rPr lang="en-US" sz="1050" b="1">
                <a:solidFill>
                  <a:srgbClr val="0328D1"/>
                </a:solidFill>
                <a:ea typeface="Proxima Nova" pitchFamily="34" charset="-122"/>
                <a:cs typeface="Proxima Nova" pitchFamily="34" charset="-120"/>
              </a:rPr>
              <a:t>Key characteristics</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POD Led = Product Owner, with real authority — decision rights and roadmap access should be contractually explicit</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Every backlog item is anchored to an OKR before it enters a sprint</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Client Product Owner co-owns the roadmap (not just consulted)</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Continuous discovery is a funded, scheduled activity</a:t>
            </a:r>
            <a:endParaRPr lang="en-US" sz="1000">
              <a:solidFill>
                <a:srgbClr val="000000"/>
              </a:solidFill>
            </a:endParaRPr>
          </a:p>
          <a:p>
            <a:pPr marL="342900" indent="-342900">
              <a:buSzPct val="100000"/>
              <a:buChar char="•"/>
            </a:pPr>
            <a:r>
              <a:rPr lang="en-US" sz="1000">
                <a:solidFill>
                  <a:srgbClr val="000000"/>
                </a:solidFill>
                <a:ea typeface="Proxima Nova" pitchFamily="34" charset="-122"/>
                <a:cs typeface="Proxima Nova" pitchFamily="34" charset="-120"/>
              </a:rPr>
              <a:t>Quarterly roadmap/OKR review with Exec Sponsor</a:t>
            </a:r>
            <a:endParaRPr lang="en-US" sz="1000">
              <a:solidFill>
                <a:srgbClr val="000000"/>
              </a:solidFill>
            </a:endParaRPr>
          </a:p>
        </p:txBody>
      </p:sp>
      <p:sp>
        <p:nvSpPr>
          <p:cNvPr id="27" name="Model card 4"/>
          <p:cNvSpPr/>
          <p:nvPr/>
        </p:nvSpPr>
        <p:spPr>
          <a:xfrm>
            <a:off x="8951976" y="1783080"/>
            <a:ext cx="2697480" cy="4572000"/>
          </a:xfrm>
          <a:prstGeom prst="roundRect">
            <a:avLst>
              <a:gd name="adj" fmla="val 339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9" name="Model name"/>
          <p:cNvSpPr txBox="1"/>
          <p:nvPr/>
        </p:nvSpPr>
        <p:spPr>
          <a:xfrm>
            <a:off x="9116568" y="1892808"/>
            <a:ext cx="2139696" cy="640080"/>
          </a:xfrm>
          <a:prstGeom prst="rect">
            <a:avLst/>
          </a:prstGeom>
          <a:noFill/>
          <a:ln/>
        </p:spPr>
        <p:txBody>
          <a:bodyPr wrap="square" lIns="0" tIns="0" rIns="0" bIns="0" rtlCol="0" anchor="t"/>
          <a:lstStyle/>
          <a:p>
            <a:pPr marL="0" indent="0">
              <a:buNone/>
            </a:pPr>
            <a:r>
              <a:rPr lang="en-US" sz="1000" b="1" kern="0" spc="300">
                <a:solidFill>
                  <a:srgbClr val="000000"/>
                </a:solidFill>
              </a:rPr>
              <a:t>MODEL 4</a:t>
            </a:r>
            <a:endParaRPr lang="en-US" sz="1000">
              <a:solidFill>
                <a:srgbClr val="000000"/>
              </a:solidFill>
            </a:endParaRPr>
          </a:p>
          <a:p>
            <a:pPr marL="0" indent="0">
              <a:buNone/>
            </a:pPr>
            <a:r>
              <a:rPr lang="en-US" sz="1400" b="1">
                <a:solidFill>
                  <a:srgbClr val="000000"/>
                </a:solidFill>
              </a:rPr>
              <a:t>Retainer</a:t>
            </a:r>
            <a:br>
              <a:rPr lang="en-US" sz="1400" b="1">
                <a:solidFill>
                  <a:srgbClr val="000000"/>
                </a:solidFill>
              </a:rPr>
            </a:br>
            <a:r>
              <a:rPr lang="en-US" sz="1000" b="1">
                <a:solidFill>
                  <a:srgbClr val="000000"/>
                </a:solidFill>
              </a:rPr>
              <a:t>(Site Support Example)</a:t>
            </a:r>
            <a:endParaRPr lang="en-US" sz="1000">
              <a:solidFill>
                <a:srgbClr val="000000"/>
              </a:solidFill>
            </a:endParaRPr>
          </a:p>
        </p:txBody>
      </p:sp>
      <p:sp>
        <p:nvSpPr>
          <p:cNvPr id="30" name="Model copy"/>
          <p:cNvSpPr txBox="1"/>
          <p:nvPr/>
        </p:nvSpPr>
        <p:spPr>
          <a:xfrm>
            <a:off x="9116568" y="2606040"/>
            <a:ext cx="2368296" cy="3657600"/>
          </a:xfrm>
          <a:prstGeom prst="rect">
            <a:avLst/>
          </a:prstGeom>
          <a:noFill/>
          <a:ln/>
        </p:spPr>
        <p:txBody>
          <a:bodyPr wrap="square" lIns="0" tIns="0" rIns="0" bIns="0" rtlCol="0" anchor="t"/>
          <a:lstStyle/>
          <a:p>
            <a:pPr marL="0" indent="0">
              <a:spcAft>
                <a:spcPts val="500"/>
              </a:spcAft>
              <a:buNone/>
            </a:pPr>
            <a:r>
              <a:rPr lang="en-US" sz="1000">
                <a:solidFill>
                  <a:srgbClr val="000000"/>
                </a:solidFill>
                <a:ea typeface="Proxima Nova" pitchFamily="34" charset="-122"/>
                <a:cs typeface="Proxima Nova" pitchFamily="34" charset="-120"/>
              </a:rPr>
              <a:t>Live Ops/Support retainer running and sustaining what's already been built. This is not new development, this is protecting existing value and responding to it.</a:t>
            </a:r>
            <a:endParaRPr lang="en-US" sz="1000">
              <a:solidFill>
                <a:srgbClr val="000000"/>
              </a:solidFill>
            </a:endParaRPr>
          </a:p>
          <a:p>
            <a:pPr marL="0" indent="0">
              <a:spcAft>
                <a:spcPts val="300"/>
              </a:spcAft>
              <a:buNone/>
            </a:pPr>
            <a:r>
              <a:rPr lang="en-US" sz="1050" b="1">
                <a:solidFill>
                  <a:srgbClr val="000000"/>
                </a:solidFill>
                <a:ea typeface="Proxima Nova" pitchFamily="34" charset="-122"/>
                <a:cs typeface="Proxima Nova" pitchFamily="34" charset="-120"/>
              </a:rPr>
              <a:t>Key characteristics</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Scope is reactive + scheduled maintenance</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Governed by SLAs (response/resolution time by severity)</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Staffing is typically lighter-weight and more specialized (support engineers, on-call rotation)</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Escalation tiers are explicit (L1/L2/L3)</a:t>
            </a:r>
            <a:endParaRPr lang="en-US" sz="100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Requires a clear boundary between support and enhancement (CR)</a:t>
            </a:r>
            <a:endParaRPr lang="en-US" sz="1000">
              <a:solidFill>
                <a:srgbClr val="000000"/>
              </a:solidFill>
            </a:endParaRPr>
          </a:p>
          <a:p>
            <a:pPr marL="342900" indent="-342900">
              <a:buSzPct val="100000"/>
              <a:buChar char="•"/>
            </a:pPr>
            <a:r>
              <a:rPr lang="en-US" sz="1000">
                <a:solidFill>
                  <a:srgbClr val="000000"/>
                </a:solidFill>
                <a:ea typeface="Proxima Nova" pitchFamily="34" charset="-122"/>
                <a:cs typeface="Proxima Nova" pitchFamily="34" charset="-120"/>
              </a:rPr>
              <a:t>Often runs alongside another model (e.g., Model 3 team drives new value while Model 4 team keeps the lights on)</a:t>
            </a:r>
            <a:endParaRPr lang="en-US" sz="10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k_rail9.jpg"/>
          <p:cNvPicPr>
            <a:picLocks noChangeAspect="1"/>
          </p:cNvPicPr>
          <p:nvPr/>
        </p:nvPicPr>
        <p:blipFill>
          <a:blip r:embed="rId4"/>
          <a:stretch>
            <a:fillRect/>
          </a:stretch>
        </p:blipFill>
        <p:spPr>
          <a:xfrm>
            <a:off x="0" y="0"/>
            <a:ext cx="5586984" cy="6858000"/>
          </a:xfrm>
          <a:prstGeom prst="rect">
            <a:avLst/>
          </a:prstGeom>
        </p:spPr>
      </p:pic>
      <p:sp>
        <p:nvSpPr>
          <p:cNvPr id="32" name="Rectangle 31"/>
          <p:cNvSpPr/>
          <p:nvPr/>
        </p:nvSpPr>
        <p:spPr>
          <a:xfrm>
            <a:off x="0" y="0"/>
            <a:ext cx="5586984" cy="6858000"/>
          </a:xfrm>
          <a:prstGeom prst="rect">
            <a:avLst/>
          </a:prstGeom>
          <a:gradFill rotWithShape="1">
            <a:gsLst>
              <a:gs pos="0">
                <a:srgbClr val="000000">
                  <a:alpha val="70000"/>
                </a:srgbClr>
              </a:gs>
              <a:gs pos="50000">
                <a:srgbClr val="000000">
                  <a:alpha val="60000"/>
                </a:srgbClr>
              </a:gs>
              <a:gs pos="100000">
                <a:srgbClr val="000000">
                  <a:alpha val="88000"/>
                </a:srgbClr>
              </a:gs>
            </a:gsLst>
            <a:lin ang="5400000" scaled="0"/>
          </a:gradFill>
          <a:ln>
            <a:noFill/>
          </a:ln>
        </p:spPr>
        <p:txBody>
          <a:bodyPr rtlCol="0" anchor="ctr"/>
          <a:lstStyle/>
          <a:p>
            <a:pPr algn="ctr"/>
          </a:p>
        </p:txBody>
      </p:sp>
      <p:sp>
        <p:nvSpPr>
          <p:cNvPr id="2" name="Title 1"/>
          <p:cNvSpPr>
            <a:spLocks noGrp="1"/>
          </p:cNvSpPr>
          <p:nvPr>
            <p:ph type="title"/>
          </p:nvPr>
        </p:nvSpPr>
        <p:spPr>
          <a:xfrm>
            <a:off x="640080" y="2103120"/>
            <a:ext cx="4306824" cy="2011680"/>
          </a:xfrm>
        </p:spPr>
        <p:txBody>
          <a:bodyPr wrap="square" anchor="t"/>
          <a:lstStyle/>
          <a:p>
            <a:r>
              <a:rPr sz="3400" b="1">
                <a:solidFill>
                  <a:srgbClr val="FFFFFF"/>
                </a:solidFill>
                <a:latin typeface="+mn-lt"/>
              </a:rPr>
              <a:t>Timeline, Dependencies &amp; Stakeholders</a:t>
            </a:r>
          </a:p>
        </p:txBody>
      </p:sp>
      <p:sp>
        <p:nvSpPr>
          <p:cNvPr id="13" name="Label"/>
          <p:cNvSpPr txBox="1"/>
          <p:nvPr/>
        </p:nvSpPr>
        <p:spPr>
          <a:xfrm>
            <a:off x="640080" y="1828800"/>
            <a:ext cx="4306824" cy="228600"/>
          </a:xfrm>
          <a:prstGeom prst="rect">
            <a:avLst/>
          </a:prstGeom>
          <a:noFill/>
          <a:ln/>
        </p:spPr>
        <p:txBody>
          <a:bodyPr wrap="square" lIns="0" tIns="0" rIns="0" bIns="0" rtlCol="0" anchor="ctr"/>
          <a:lstStyle/>
          <a:p>
            <a:pPr marL="0" indent="0">
              <a:buNone/>
            </a:pPr>
            <a:r>
              <a:rPr lang="en-US" sz="900" b="1" kern="0" spc="300">
                <a:solidFill>
                  <a:srgbClr val="FFFFFF"/>
                </a:solidFill>
              </a:rPr>
              <a:t>DEAL-TO-DELIVERY PLAYBOOK: CONTINUED</a:t>
            </a:r>
            <a:endParaRPr lang="en-US" sz="900">
              <a:solidFill>
                <a:srgbClr val="FFFFFF"/>
              </a:solidFill>
            </a:endParaRPr>
          </a:p>
        </p:txBody>
      </p:sp>
      <p:sp>
        <p:nvSpPr>
          <p:cNvPr id="16" name="Intro"/>
          <p:cNvSpPr txBox="1"/>
          <p:nvPr/>
        </p:nvSpPr>
        <p:spPr>
          <a:xfrm>
            <a:off x="640080" y="4251960"/>
            <a:ext cx="4206240" cy="640080"/>
          </a:xfrm>
          <a:prstGeom prst="rect">
            <a:avLst/>
          </a:prstGeom>
          <a:noFill/>
          <a:ln/>
        </p:spPr>
        <p:txBody>
          <a:bodyPr wrap="square" lIns="0" tIns="0" rIns="0" bIns="0" rtlCol="0" anchor="t"/>
          <a:lstStyle/>
          <a:p>
            <a:pPr marL="0" indent="0">
              <a:buNone/>
            </a:pPr>
            <a:r>
              <a:rPr lang="en-US" sz="1150">
                <a:solidFill>
                  <a:srgbClr val="D6D6DF"/>
                </a:solidFill>
                <a:ea typeface="Proxima Nova" pitchFamily="34" charset="-122"/>
                <a:cs typeface="Proxima Nova" pitchFamily="34" charset="-120"/>
              </a:rPr>
              <a:t>Defining and refining the models that will ground and stabilize how we approach deals and delivery</a:t>
            </a:r>
            <a:endParaRPr lang="en-US" sz="1150">
              <a:solidFill>
                <a:srgbClr val="FFFFFF"/>
              </a:solidFill>
            </a:endParaRPr>
          </a:p>
        </p:txBody>
      </p:sp>
      <p:sp>
        <p:nvSpPr>
          <p:cNvPr id="17" name="The Ask"/>
          <p:cNvSpPr txBox="1"/>
          <p:nvPr/>
        </p:nvSpPr>
        <p:spPr>
          <a:xfrm>
            <a:off x="640080" y="5029200"/>
            <a:ext cx="4206240" cy="1280160"/>
          </a:xfrm>
          <a:prstGeom prst="rect">
            <a:avLst/>
          </a:prstGeom>
          <a:noFill/>
          <a:ln/>
        </p:spPr>
        <p:txBody>
          <a:bodyPr wrap="square" lIns="0" tIns="0" rIns="0" bIns="0" rtlCol="0" anchor="t"/>
          <a:lstStyle/>
          <a:p>
            <a:pPr marL="0" indent="0">
              <a:spcAft>
                <a:spcPts val="300"/>
              </a:spcAft>
              <a:buNone/>
            </a:pPr>
            <a:r>
              <a:rPr lang="en-US" sz="1000" b="1">
                <a:solidFill>
                  <a:srgbClr val="0391F2"/>
                </a:solidFill>
                <a:ea typeface="Proxima Nova" pitchFamily="34" charset="-122"/>
                <a:cs typeface="Proxima Nova" pitchFamily="34" charset="-120"/>
              </a:rPr>
              <a:t>THE ASK</a:t>
            </a:r>
            <a:endParaRPr lang="en-US" sz="1000">
              <a:solidFill>
                <a:srgbClr val="FFFFFF"/>
              </a:solidFill>
            </a:endParaRPr>
          </a:p>
          <a:p>
            <a:pPr marL="0" indent="0">
              <a:buNone/>
            </a:pPr>
            <a:r>
              <a:rPr lang="en-US" sz="1050">
                <a:solidFill>
                  <a:srgbClr val="FFFFFF"/>
                </a:solidFill>
                <a:ea typeface="Proxima Nova" pitchFamily="34" charset="-122"/>
                <a:cs typeface="Proxima Nova" pitchFamily="34" charset="-120"/>
              </a:rPr>
              <a:t>This will drive the foundation of how we develop programs and agreements for our clients. </a:t>
            </a:r>
            <a:r>
              <a:rPr lang="en-US" sz="1050" b="1">
                <a:solidFill>
                  <a:srgbClr val="FFFFFF"/>
                </a:solidFill>
                <a:ea typeface="Proxima Nova" pitchFamily="34" charset="-122"/>
                <a:cs typeface="Proxima Nova" pitchFamily="34" charset="-120"/>
              </a:rPr>
              <a:t>Everyone</a:t>
            </a:r>
            <a:r>
              <a:rPr lang="en-US" sz="1050">
                <a:solidFill>
                  <a:srgbClr val="FFFFFF"/>
                </a:solidFill>
                <a:ea typeface="Proxima Nova" pitchFamily="34" charset="-122"/>
                <a:cs typeface="Proxima Nova" pitchFamily="34" charset="-120"/>
              </a:rPr>
              <a:t> needs to lean in, support development of, and use these models. Participate, provide insights, give feedback and embrace this initiative.</a:t>
            </a:r>
            <a:endParaRPr lang="en-US" sz="1000">
              <a:solidFill>
                <a:srgbClr val="FFFFFF"/>
              </a:solidFill>
            </a:endParaRPr>
          </a:p>
        </p:txBody>
      </p:sp>
      <p:sp>
        <p:nvSpPr>
          <p:cNvPr id="18" name="Timeline card"/>
          <p:cNvSpPr/>
          <p:nvPr/>
        </p:nvSpPr>
        <p:spPr>
          <a:xfrm>
            <a:off x="6035040" y="457200"/>
            <a:ext cx="5623560" cy="2240280"/>
          </a:xfrm>
          <a:prstGeom prst="roundRect">
            <a:avLst>
              <a:gd name="adj" fmla="val 4082"/>
            </a:avLst>
          </a:prstGeom>
          <a:solidFill>
            <a:srgbClr val="FFFFFF"/>
          </a:solidFill>
          <a:ln/>
        </p:spPr>
        <p:txBody>
          <a:bodyPr/>
          <a:lstStyle/>
          <a:p>
            <a:endParaRPr lang="en-US">
              <a:solidFill>
                <a:srgbClr val="000000"/>
              </a:solidFill>
            </a:endParaRPr>
          </a:p>
        </p:txBody>
      </p:sp>
      <p:sp>
        <p:nvSpPr>
          <p:cNvPr id="19" name="Card heading"/>
          <p:cNvSpPr txBox="1"/>
          <p:nvPr/>
        </p:nvSpPr>
        <p:spPr>
          <a:xfrm>
            <a:off x="6263640" y="566928"/>
            <a:ext cx="5120640" cy="274320"/>
          </a:xfrm>
          <a:prstGeom prst="rect">
            <a:avLst/>
          </a:prstGeom>
          <a:noFill/>
          <a:ln/>
        </p:spPr>
        <p:txBody>
          <a:bodyPr wrap="square" lIns="0" tIns="0" rIns="0" bIns="0" rtlCol="0" anchor="ctr"/>
          <a:lstStyle/>
          <a:p>
            <a:pPr marL="0" indent="0">
              <a:buNone/>
            </a:pPr>
            <a:r>
              <a:rPr lang="en-US" sz="1400" b="1">
                <a:solidFill>
                  <a:srgbClr val="0328D1"/>
                </a:solidFill>
              </a:rPr>
              <a:t>Timeline &amp; Major Milestones</a:t>
            </a:r>
            <a:endParaRPr lang="en-US" sz="1400">
              <a:solidFill>
                <a:srgbClr val="000000"/>
              </a:solidFill>
            </a:endParaRPr>
          </a:p>
        </p:txBody>
      </p:sp>
      <p:sp>
        <p:nvSpPr>
          <p:cNvPr id="20" name="Timeline items"/>
          <p:cNvSpPr txBox="1"/>
          <p:nvPr/>
        </p:nvSpPr>
        <p:spPr>
          <a:xfrm>
            <a:off x="6263640" y="914400"/>
            <a:ext cx="5212080" cy="1737360"/>
          </a:xfrm>
          <a:prstGeom prst="rect">
            <a:avLst/>
          </a:prstGeom>
          <a:noFill/>
          <a:ln/>
        </p:spPr>
        <p:txBody>
          <a:bodyPr wrap="square" lIns="0" tIns="0" rIns="0" bIns="0" rtlCol="0" anchor="t"/>
          <a:lstStyle/>
          <a:p>
            <a:pPr marL="342900" indent="-342900">
              <a:spcAft>
                <a:spcPts val="300"/>
              </a:spcAft>
              <a:buSzPct val="100000"/>
              <a:buFontTx/>
              <a:buChar char="•"/>
            </a:pPr>
            <a:r>
              <a:rPr lang="en-US" sz="1150">
                <a:solidFill>
                  <a:srgbClr val="000000"/>
                </a:solidFill>
                <a:ea typeface="Proxima Nova" pitchFamily="34" charset="-122"/>
                <a:cs typeface="Proxima Nova" pitchFamily="34" charset="-120"/>
              </a:rPr>
              <a:t>Draft Models Gathered — Oct 16</a:t>
            </a:r>
            <a:r>
              <a:rPr lang="en-US" sz="1150" baseline="30000">
                <a:solidFill>
                  <a:srgbClr val="000000"/>
                </a:solidFill>
                <a:ea typeface="Proxima Nova" pitchFamily="34" charset="-122"/>
                <a:cs typeface="Proxima Nova" pitchFamily="34" charset="-120"/>
              </a:rPr>
              <a:t>th</a:t>
            </a:r>
          </a:p>
          <a:p>
            <a:pPr marL="342900" indent="-342900">
              <a:spcAft>
                <a:spcPts val="300"/>
              </a:spcAft>
              <a:buSzPct val="100000"/>
              <a:buFontTx/>
              <a:buChar char="•"/>
            </a:pPr>
            <a:r>
              <a:rPr lang="en-US" sz="1150">
                <a:solidFill>
                  <a:srgbClr val="000000"/>
                </a:solidFill>
                <a:ea typeface="Proxima Nova" pitchFamily="34" charset="-122"/>
                <a:cs typeface="Proxima Nova" pitchFamily="34" charset="-120"/>
              </a:rPr>
              <a:t>Base Model rationalization across groups – Week of Oct. 26</a:t>
            </a:r>
            <a:r>
              <a:rPr lang="en-US" sz="1150" baseline="30000">
                <a:solidFill>
                  <a:srgbClr val="000000"/>
                </a:solidFill>
                <a:ea typeface="Proxima Nova" pitchFamily="34" charset="-122"/>
                <a:cs typeface="Proxima Nova" pitchFamily="34" charset="-120"/>
              </a:rPr>
              <a:t>th</a:t>
            </a:r>
            <a:r>
              <a:rPr lang="en-US" sz="1150">
                <a:solidFill>
                  <a:srgbClr val="000000"/>
                </a:solidFill>
                <a:ea typeface="Proxima Nova" pitchFamily="34" charset="-122"/>
                <a:cs typeface="Proxima Nova" pitchFamily="34" charset="-120"/>
              </a:rPr>
              <a:t> </a:t>
            </a:r>
          </a:p>
          <a:p>
            <a:pPr marL="342900" indent="-342900">
              <a:spcAft>
                <a:spcPts val="300"/>
              </a:spcAft>
              <a:buSzPct val="100000"/>
              <a:buChar char="•"/>
            </a:pPr>
            <a:r>
              <a:rPr lang="en-US" sz="1150">
                <a:solidFill>
                  <a:srgbClr val="000000"/>
                </a:solidFill>
                <a:ea typeface="Proxima Nova" pitchFamily="34" charset="-122"/>
                <a:cs typeface="Proxima Nova" pitchFamily="34" charset="-120"/>
              </a:rPr>
              <a:t>Initial Models Well Defined — Oct 23</a:t>
            </a:r>
            <a:r>
              <a:rPr lang="en-US" sz="1150" baseline="30000">
                <a:solidFill>
                  <a:srgbClr val="000000"/>
                </a:solidFill>
                <a:ea typeface="Proxima Nova" pitchFamily="34" charset="-122"/>
                <a:cs typeface="Proxima Nova" pitchFamily="34" charset="-120"/>
              </a:rPr>
              <a:t>rd</a:t>
            </a:r>
            <a:r>
              <a:rPr lang="en-US" sz="1150">
                <a:solidFill>
                  <a:srgbClr val="000000"/>
                </a:solidFill>
                <a:ea typeface="Proxima Nova" pitchFamily="34" charset="-122"/>
                <a:cs typeface="Proxima Nova" pitchFamily="34" charset="-120"/>
              </a:rPr>
              <a:t> Shifting to Nov 6th</a:t>
            </a:r>
            <a:endParaRPr lang="en-US" sz="1150">
              <a:solidFill>
                <a:srgbClr val="000000"/>
              </a:solidFill>
            </a:endParaRPr>
          </a:p>
          <a:p>
            <a:pPr marL="685800" lvl="1" indent="-342900">
              <a:spcAft>
                <a:spcPts val="300"/>
              </a:spcAft>
              <a:buSzPct val="100000"/>
              <a:buChar char="•"/>
            </a:pPr>
            <a:r>
              <a:rPr lang="en-US" sz="1000" i="1">
                <a:solidFill>
                  <a:srgbClr val="000000"/>
                </a:solidFill>
                <a:ea typeface="Proxima Nova" pitchFamily="34" charset="-122"/>
                <a:cs typeface="Proxima Nova" pitchFamily="34" charset="-120"/>
              </a:rPr>
              <a:t>Will include iterative reviews with department leads and defined SMEs</a:t>
            </a:r>
            <a:endParaRPr lang="en-US" sz="1150">
              <a:solidFill>
                <a:srgbClr val="000000"/>
              </a:solidFill>
            </a:endParaRPr>
          </a:p>
          <a:p>
            <a:pPr marL="342900" indent="-342900">
              <a:spcAft>
                <a:spcPts val="200"/>
              </a:spcAft>
              <a:buSzPct val="100000"/>
              <a:buChar char="•"/>
            </a:pPr>
            <a:r>
              <a:rPr lang="en-US" sz="1150">
                <a:solidFill>
                  <a:srgbClr val="000000"/>
                </a:solidFill>
                <a:ea typeface="Proxima Nova" pitchFamily="34" charset="-122"/>
                <a:cs typeface="Proxima Nova" pitchFamily="34" charset="-120"/>
              </a:rPr>
              <a:t>1st Batch of Models &amp; Program "Stack" Guidance — Nov 13</a:t>
            </a:r>
            <a:r>
              <a:rPr lang="en-US" sz="1150" baseline="30000">
                <a:solidFill>
                  <a:srgbClr val="000000"/>
                </a:solidFill>
                <a:ea typeface="Proxima Nova" pitchFamily="34" charset="-122"/>
                <a:cs typeface="Proxima Nova" pitchFamily="34" charset="-120"/>
              </a:rPr>
              <a:t>th</a:t>
            </a:r>
            <a:r>
              <a:rPr lang="en-US" sz="1150">
                <a:solidFill>
                  <a:srgbClr val="000000"/>
                </a:solidFill>
                <a:ea typeface="Proxima Nova" pitchFamily="34" charset="-122"/>
                <a:cs typeface="Proxima Nova" pitchFamily="34" charset="-120"/>
              </a:rPr>
              <a:t> </a:t>
            </a:r>
            <a:endParaRPr lang="en-US" sz="1150">
              <a:solidFill>
                <a:srgbClr val="000000"/>
              </a:solidFill>
            </a:endParaRPr>
          </a:p>
          <a:p>
            <a:pPr marL="685800" lvl="1" indent="-342900">
              <a:buSzPct val="100000"/>
              <a:buChar char="•"/>
            </a:pPr>
            <a:r>
              <a:rPr lang="en-US" sz="1000" i="1">
                <a:solidFill>
                  <a:srgbClr val="000000"/>
                </a:solidFill>
                <a:ea typeface="Proxima Nova" pitchFamily="34" charset="-122"/>
                <a:cs typeface="Proxima Nova" pitchFamily="34" charset="-120"/>
              </a:rPr>
              <a:t>This will be delivered in an agile manner getting quick guidance out in Q4 and iteratively fleshed out and evolved with feedback loops to drive improvements</a:t>
            </a:r>
            <a:endParaRPr lang="en-US" sz="1150">
              <a:solidFill>
                <a:srgbClr val="000000"/>
              </a:solidFill>
            </a:endParaRPr>
          </a:p>
        </p:txBody>
      </p:sp>
      <p:sp>
        <p:nvSpPr>
          <p:cNvPr id="21" name="Dependencies card"/>
          <p:cNvSpPr/>
          <p:nvPr/>
        </p:nvSpPr>
        <p:spPr>
          <a:xfrm>
            <a:off x="6035040" y="2834640"/>
            <a:ext cx="2743200" cy="2286000"/>
          </a:xfrm>
          <a:prstGeom prst="roundRect">
            <a:avLst>
              <a:gd name="adj" fmla="val 4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2" name="Card heading"/>
          <p:cNvSpPr txBox="1"/>
          <p:nvPr/>
        </p:nvSpPr>
        <p:spPr>
          <a:xfrm>
            <a:off x="6217920" y="2944368"/>
            <a:ext cx="5120640" cy="274320"/>
          </a:xfrm>
          <a:prstGeom prst="rect">
            <a:avLst/>
          </a:prstGeom>
          <a:noFill/>
          <a:ln/>
        </p:spPr>
        <p:txBody>
          <a:bodyPr wrap="square" lIns="0" tIns="0" rIns="0" bIns="0" rtlCol="0" anchor="ctr"/>
          <a:lstStyle/>
          <a:p>
            <a:pPr marL="0" indent="0">
              <a:buNone/>
            </a:pPr>
            <a:r>
              <a:rPr lang="en-US" sz="1400" b="1">
                <a:solidFill>
                  <a:srgbClr val="000000"/>
                </a:solidFill>
              </a:rPr>
              <a:t>Dependencies</a:t>
            </a:r>
            <a:endParaRPr lang="en-US" sz="1400">
              <a:solidFill>
                <a:srgbClr val="000000"/>
              </a:solidFill>
            </a:endParaRPr>
          </a:p>
        </p:txBody>
      </p:sp>
      <p:sp>
        <p:nvSpPr>
          <p:cNvPr id="23" name="Dependency items"/>
          <p:cNvSpPr txBox="1"/>
          <p:nvPr/>
        </p:nvSpPr>
        <p:spPr>
          <a:xfrm>
            <a:off x="6217920" y="3291840"/>
            <a:ext cx="2202180" cy="1783080"/>
          </a:xfrm>
          <a:prstGeom prst="rect">
            <a:avLst/>
          </a:prstGeom>
          <a:noFill/>
          <a:ln/>
        </p:spPr>
        <p:txBody>
          <a:bodyPr wrap="square" lIns="0" tIns="0" rIns="0" bIns="0" rtlCol="0" anchor="t"/>
          <a:lstStyle/>
          <a:p>
            <a:pPr marL="342900" indent="-342900">
              <a:spcAft>
                <a:spcPts val="300"/>
              </a:spcAft>
              <a:buSzPct val="100000"/>
              <a:buChar char="•"/>
            </a:pPr>
            <a:r>
              <a:rPr lang="en-US" sz="1050">
                <a:solidFill>
                  <a:srgbClr val="000000"/>
                </a:solidFill>
                <a:ea typeface="Proxima Nova" pitchFamily="34" charset="-122"/>
                <a:cs typeface="Proxima Nova" pitchFamily="34" charset="-120"/>
              </a:rPr>
              <a:t>Intake routing </a:t>
            </a:r>
          </a:p>
          <a:p>
            <a:pPr marL="342900" indent="-342900">
              <a:spcAft>
                <a:spcPts val="300"/>
              </a:spcAft>
              <a:buSzPct val="100000"/>
              <a:buChar char="•"/>
            </a:pPr>
            <a:r>
              <a:rPr lang="en-US" sz="1050">
                <a:solidFill>
                  <a:srgbClr val="000000"/>
                </a:solidFill>
                <a:ea typeface="Proxima Nova" pitchFamily="34" charset="-122"/>
                <a:cs typeface="Proxima Nova" pitchFamily="34" charset="-120"/>
              </a:rPr>
              <a:t>SME feedback </a:t>
            </a:r>
          </a:p>
          <a:p>
            <a:pPr marL="342900" indent="-342900">
              <a:buSzPct val="100000"/>
              <a:buChar char="•"/>
            </a:pPr>
            <a:r>
              <a:rPr lang="en-US" sz="1050">
                <a:solidFill>
                  <a:srgbClr val="000000"/>
                </a:solidFill>
                <a:ea typeface="Proxima Nova" pitchFamily="34" charset="-122"/>
                <a:cs typeface="Proxima Nova" pitchFamily="34" charset="-120"/>
              </a:rPr>
              <a:t>Alignment on base model set (Delivery/Ops, Legal and Finance)</a:t>
            </a:r>
            <a:endParaRPr lang="en-US" sz="1050">
              <a:solidFill>
                <a:srgbClr val="000000"/>
              </a:solidFill>
            </a:endParaRPr>
          </a:p>
        </p:txBody>
      </p:sp>
      <p:sp>
        <p:nvSpPr>
          <p:cNvPr id="24" name="Risks card"/>
          <p:cNvSpPr/>
          <p:nvPr/>
        </p:nvSpPr>
        <p:spPr>
          <a:xfrm>
            <a:off x="8915400" y="2834640"/>
            <a:ext cx="2743200" cy="2286000"/>
          </a:xfrm>
          <a:prstGeom prst="roundRect">
            <a:avLst>
              <a:gd name="adj" fmla="val 4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5" name="Card heading"/>
          <p:cNvSpPr txBox="1"/>
          <p:nvPr/>
        </p:nvSpPr>
        <p:spPr>
          <a:xfrm>
            <a:off x="9098280" y="2944368"/>
            <a:ext cx="2468880" cy="274320"/>
          </a:xfrm>
          <a:prstGeom prst="rect">
            <a:avLst/>
          </a:prstGeom>
          <a:noFill/>
          <a:ln/>
        </p:spPr>
        <p:txBody>
          <a:bodyPr wrap="square" lIns="0" tIns="0" rIns="0" bIns="0" rtlCol="0" anchor="ctr"/>
          <a:lstStyle/>
          <a:p>
            <a:pPr marL="0" indent="0">
              <a:buNone/>
            </a:pPr>
            <a:r>
              <a:rPr lang="en-US" sz="1300" b="1">
                <a:solidFill>
                  <a:srgbClr val="0328D1"/>
                </a:solidFill>
              </a:rPr>
              <a:t>Top Risks &amp; Failure Points</a:t>
            </a:r>
            <a:endParaRPr lang="en-US" sz="1300">
              <a:solidFill>
                <a:srgbClr val="000000"/>
              </a:solidFill>
            </a:endParaRPr>
          </a:p>
        </p:txBody>
      </p:sp>
      <p:sp>
        <p:nvSpPr>
          <p:cNvPr id="26" name="Risk items"/>
          <p:cNvSpPr txBox="1"/>
          <p:nvPr/>
        </p:nvSpPr>
        <p:spPr>
          <a:xfrm>
            <a:off x="9098280" y="3291840"/>
            <a:ext cx="2423160" cy="1783080"/>
          </a:xfrm>
          <a:prstGeom prst="rect">
            <a:avLst/>
          </a:prstGeom>
          <a:noFill/>
          <a:ln/>
        </p:spPr>
        <p:txBody>
          <a:bodyPr wrap="square" lIns="0" tIns="0" rIns="0" bIns="0" rtlCol="0" anchor="t"/>
          <a:lstStyle/>
          <a:p>
            <a:pPr marL="342900" indent="-342900">
              <a:spcAft>
                <a:spcPts val="300"/>
              </a:spcAft>
              <a:buSzPct val="100000"/>
              <a:buChar char="•"/>
            </a:pPr>
            <a:r>
              <a:rPr lang="en-US" sz="1050">
                <a:solidFill>
                  <a:srgbClr val="000000"/>
                </a:solidFill>
                <a:ea typeface="Proxima Nova" pitchFamily="34" charset="-122"/>
                <a:cs typeface="Proxima Nova" pitchFamily="34" charset="-120"/>
              </a:rPr>
              <a:t>Missed model(s) from assessment</a:t>
            </a:r>
            <a:endParaRPr lang="en-US" sz="1050">
              <a:solidFill>
                <a:srgbClr val="000000"/>
              </a:solidFill>
            </a:endParaRPr>
          </a:p>
          <a:p>
            <a:pPr marL="342900" indent="-342900">
              <a:spcAft>
                <a:spcPts val="300"/>
              </a:spcAft>
              <a:buSzPct val="100000"/>
              <a:buChar char="•"/>
            </a:pPr>
            <a:r>
              <a:rPr lang="en-US" sz="1050">
                <a:solidFill>
                  <a:srgbClr val="000000"/>
                </a:solidFill>
                <a:ea typeface="Proxima Nova" pitchFamily="34" charset="-122"/>
                <a:cs typeface="Proxima Nova" pitchFamily="34" charset="-120"/>
              </a:rPr>
              <a:t>Alignment on Model definition</a:t>
            </a:r>
            <a:endParaRPr lang="en-US" sz="1050">
              <a:solidFill>
                <a:srgbClr val="000000"/>
              </a:solidFill>
            </a:endParaRPr>
          </a:p>
          <a:p>
            <a:pPr marL="342900" indent="-342900">
              <a:spcAft>
                <a:spcPts val="300"/>
              </a:spcAft>
              <a:buSzPct val="100000"/>
              <a:buChar char="•"/>
            </a:pPr>
            <a:r>
              <a:rPr lang="en-US" sz="1050">
                <a:solidFill>
                  <a:srgbClr val="000000"/>
                </a:solidFill>
                <a:ea typeface="Proxima Nova" pitchFamily="34" charset="-122"/>
                <a:cs typeface="Proxima Nova" pitchFamily="34" charset="-120"/>
              </a:rPr>
              <a:t>Poor rollout &amp; communication </a:t>
            </a:r>
            <a:endParaRPr lang="en-US" sz="1050">
              <a:solidFill>
                <a:srgbClr val="000000"/>
              </a:solidFill>
            </a:endParaRPr>
          </a:p>
          <a:p>
            <a:pPr marL="342900" indent="-342900">
              <a:buSzPct val="100000"/>
              <a:buChar char="•"/>
            </a:pPr>
            <a:r>
              <a:rPr lang="en-US" sz="1050">
                <a:solidFill>
                  <a:srgbClr val="000000"/>
                </a:solidFill>
                <a:ea typeface="Proxima Nova" pitchFamily="34" charset="-122"/>
                <a:cs typeface="Proxima Nova" pitchFamily="34" charset="-120"/>
              </a:rPr>
              <a:t>Failure to use models for grounding approaches, contracts, teams.</a:t>
            </a:r>
            <a:endParaRPr lang="en-US" sz="1050">
              <a:solidFill>
                <a:srgbClr val="000000"/>
              </a:solidFill>
            </a:endParaRPr>
          </a:p>
        </p:txBody>
      </p:sp>
      <p:sp>
        <p:nvSpPr>
          <p:cNvPr id="27" name="Stakeholders card"/>
          <p:cNvSpPr/>
          <p:nvPr/>
        </p:nvSpPr>
        <p:spPr>
          <a:xfrm>
            <a:off x="6035040" y="5257800"/>
            <a:ext cx="5623560" cy="1097280"/>
          </a:xfrm>
          <a:prstGeom prst="roundRect">
            <a:avLst>
              <a:gd name="adj" fmla="val 8333"/>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8" name="Card heading"/>
          <p:cNvSpPr txBox="1"/>
          <p:nvPr/>
        </p:nvSpPr>
        <p:spPr>
          <a:xfrm>
            <a:off x="6263640" y="5349240"/>
            <a:ext cx="5120640" cy="274320"/>
          </a:xfrm>
          <a:prstGeom prst="rect">
            <a:avLst/>
          </a:prstGeom>
          <a:noFill/>
          <a:ln/>
        </p:spPr>
        <p:txBody>
          <a:bodyPr wrap="square" lIns="0" tIns="0" rIns="0" bIns="0" rtlCol="0" anchor="ctr"/>
          <a:lstStyle/>
          <a:p>
            <a:pPr marL="0" indent="0">
              <a:buNone/>
            </a:pPr>
            <a:r>
              <a:rPr lang="en-US" sz="1400" b="1">
                <a:solidFill>
                  <a:srgbClr val="000000"/>
                </a:solidFill>
              </a:rPr>
              <a:t>Stakeholders Involved</a:t>
            </a:r>
            <a:endParaRPr lang="en-US" sz="1400">
              <a:solidFill>
                <a:srgbClr val="000000"/>
              </a:solidFill>
            </a:endParaRPr>
          </a:p>
        </p:txBody>
      </p:sp>
      <p:sp>
        <p:nvSpPr>
          <p:cNvPr id="29" name="Stakeholder copy"/>
          <p:cNvSpPr txBox="1"/>
          <p:nvPr/>
        </p:nvSpPr>
        <p:spPr>
          <a:xfrm>
            <a:off x="6263640" y="5669280"/>
            <a:ext cx="5212080" cy="640080"/>
          </a:xfrm>
          <a:prstGeom prst="rect">
            <a:avLst/>
          </a:prstGeom>
          <a:noFill/>
          <a:ln/>
        </p:spPr>
        <p:txBody>
          <a:bodyPr wrap="square" lIns="0" tIns="0" rIns="0" bIns="0" rtlCol="0" anchor="t"/>
          <a:lstStyle/>
          <a:p>
            <a:pPr marL="0" indent="0">
              <a:buNone/>
            </a:pPr>
            <a:r>
              <a:rPr lang="en-US" sz="1100">
                <a:solidFill>
                  <a:srgbClr val="000000"/>
                </a:solidFill>
                <a:ea typeface="Proxima Nova" pitchFamily="34" charset="-122"/>
                <a:cs typeface="Proxima Nova" pitchFamily="34" charset="-120"/>
              </a:rPr>
              <a:t>BU COOs and Delivery Leads partner directly with Enterprise Project Management, Client &amp; Commercial teams, and Finance to build this playbook together.</a:t>
            </a:r>
            <a:endParaRPr lang="en-US" sz="1100">
              <a:solidFill>
                <a:srgbClr val="000000"/>
              </a:solidFill>
            </a:endParaRPr>
          </a:p>
        </p:txBody>
      </p:sp>
      <p:pic>
        <p:nvPicPr>
          <p:cNvPr id="30" name="Picture 29" descr="image.png"/>
          <p:cNvPicPr>
            <a:picLocks noChangeAspect="1"/>
          </p:cNvPicPr>
          <p:nvPr/>
        </p:nvPicPr>
        <p:blipFill>
          <a:blip r:embed="rId3"/>
          <a:stretch>
            <a:fillRect/>
          </a:stretch>
        </p:blipFill>
        <p:spPr>
          <a:xfrm>
            <a:off x="640080" y="6400800"/>
            <a:ext cx="274320" cy="1501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descr="k_rail10.jpg"/>
          <p:cNvPicPr>
            <a:picLocks noChangeAspect="1"/>
          </p:cNvPicPr>
          <p:nvPr/>
        </p:nvPicPr>
        <p:blipFill>
          <a:blip r:embed="rId4"/>
          <a:stretch>
            <a:fillRect/>
          </a:stretch>
        </p:blipFill>
        <p:spPr>
          <a:xfrm>
            <a:off x="0" y="0"/>
            <a:ext cx="3657600" cy="6858000"/>
          </a:xfrm>
          <a:prstGeom prst="rect">
            <a:avLst/>
          </a:prstGeom>
        </p:spPr>
      </p:pic>
      <p:sp>
        <p:nvSpPr>
          <p:cNvPr id="28" name="Rectangle 27"/>
          <p:cNvSpPr/>
          <p:nvPr/>
        </p:nvSpPr>
        <p:spPr>
          <a:xfrm>
            <a:off x="0" y="0"/>
            <a:ext cx="3657600" cy="6858000"/>
          </a:xfrm>
          <a:prstGeom prst="rect">
            <a:avLst/>
          </a:prstGeom>
          <a:gradFill rotWithShape="1">
            <a:gsLst>
              <a:gs pos="0">
                <a:srgbClr val="000000">
                  <a:alpha val="70000"/>
                </a:srgbClr>
              </a:gs>
              <a:gs pos="50000">
                <a:srgbClr val="000000">
                  <a:alpha val="60000"/>
                </a:srgbClr>
              </a:gs>
              <a:gs pos="100000">
                <a:srgbClr val="000000">
                  <a:alpha val="88000"/>
                </a:srgbClr>
              </a:gs>
            </a:gsLst>
            <a:lin ang="5400000" scaled="0"/>
          </a:gradFill>
          <a:ln>
            <a:noFill/>
          </a:ln>
        </p:spPr>
        <p:txBody>
          <a:bodyPr rtlCol="0" anchor="ctr"/>
          <a:lstStyle/>
          <a:p>
            <a:pPr algn="ctr"/>
          </a:p>
        </p:txBody>
      </p:sp>
      <p:sp>
        <p:nvSpPr>
          <p:cNvPr id="2" name="Title 1"/>
          <p:cNvSpPr>
            <a:spLocks noGrp="1"/>
          </p:cNvSpPr>
          <p:nvPr>
            <p:ph type="title"/>
          </p:nvPr>
        </p:nvSpPr>
        <p:spPr>
          <a:xfrm>
            <a:off x="640080" y="2103120"/>
            <a:ext cx="2651760" cy="1325880"/>
          </a:xfrm>
        </p:spPr>
        <p:txBody>
          <a:bodyPr wrap="square" anchor="t"/>
          <a:lstStyle/>
          <a:p>
            <a:r>
              <a:rPr sz="2400" b="1">
                <a:solidFill>
                  <a:srgbClr val="FFFFFF"/>
                </a:solidFill>
                <a:latin typeface="+mn-lt"/>
              </a:rPr>
              <a:t>The Deal-to-Delivery Playbook</a:t>
            </a:r>
          </a:p>
        </p:txBody>
      </p:sp>
      <p:sp>
        <p:nvSpPr>
          <p:cNvPr id="8" name="Label"/>
          <p:cNvSpPr txBox="1"/>
          <p:nvPr/>
        </p:nvSpPr>
        <p:spPr>
          <a:xfrm>
            <a:off x="640080" y="1828800"/>
            <a:ext cx="2377440" cy="228600"/>
          </a:xfrm>
          <a:prstGeom prst="rect">
            <a:avLst/>
          </a:prstGeom>
          <a:noFill/>
          <a:ln/>
        </p:spPr>
        <p:txBody>
          <a:bodyPr wrap="square" lIns="0" tIns="0" rIns="0" bIns="0" rtlCol="0" anchor="ctr"/>
          <a:lstStyle/>
          <a:p>
            <a:pPr marL="0" indent="0">
              <a:buNone/>
            </a:pPr>
            <a:r>
              <a:rPr lang="en-US" sz="900" b="1" kern="0" spc="300">
                <a:solidFill>
                  <a:srgbClr val="FFFFFF"/>
                </a:solidFill>
              </a:rPr>
              <a:t>WIP</a:t>
            </a:r>
            <a:endParaRPr lang="en-US" sz="900">
              <a:solidFill>
                <a:srgbClr val="FFFFFF"/>
              </a:solidFill>
            </a:endParaRPr>
          </a:p>
        </p:txBody>
      </p:sp>
      <p:sp>
        <p:nvSpPr>
          <p:cNvPr id="11" name="Panel copy"/>
          <p:cNvSpPr txBox="1"/>
          <p:nvPr/>
        </p:nvSpPr>
        <p:spPr>
          <a:xfrm>
            <a:off x="640080" y="3703320"/>
            <a:ext cx="2651760" cy="2651760"/>
          </a:xfrm>
          <a:prstGeom prst="rect">
            <a:avLst/>
          </a:prstGeom>
          <a:noFill/>
          <a:ln/>
        </p:spPr>
        <p:txBody>
          <a:bodyPr wrap="square" lIns="0" tIns="0" rIns="0" bIns="0" rtlCol="0" anchor="t"/>
          <a:lstStyle/>
          <a:p>
            <a:pPr marL="0" indent="0">
              <a:spcAft>
                <a:spcPts val="800"/>
              </a:spcAft>
              <a:buNone/>
            </a:pPr>
            <a:r>
              <a:rPr lang="en-US" sz="1150">
                <a:solidFill>
                  <a:srgbClr val="FFFFFF"/>
                </a:solidFill>
                <a:ea typeface="Proxima Nova" pitchFamily="34" charset="-122"/>
                <a:cs typeface="Proxima Nova" pitchFamily="34" charset="-120"/>
              </a:rPr>
              <a:t>As our organization evolves, we have an opportunity to better </a:t>
            </a:r>
            <a:r>
              <a:rPr lang="en-US" sz="1150" b="1">
                <a:solidFill>
                  <a:srgbClr val="FFFFFF"/>
                </a:solidFill>
                <a:ea typeface="Proxima Nova" pitchFamily="34" charset="-122"/>
                <a:cs typeface="Proxima Nova" pitchFamily="34" charset="-120"/>
              </a:rPr>
              <a:t>align how we structure deals upstream with how we execute them downstream</a:t>
            </a:r>
            <a:r>
              <a:rPr lang="en-US" sz="1150">
                <a:solidFill>
                  <a:srgbClr val="FFFFFF"/>
                </a:solidFill>
                <a:ea typeface="Proxima Nova" pitchFamily="34" charset="-122"/>
                <a:cs typeface="Proxima Nova" pitchFamily="34" charset="-120"/>
              </a:rPr>
              <a:t>, ensuring we seamlessly sell for delivery success.</a:t>
            </a:r>
            <a:br>
              <a:rPr lang="en-US" sz="1150">
                <a:solidFill>
                  <a:srgbClr val="FFFFFF"/>
                </a:solidFill>
                <a:ea typeface="Proxima Nova" pitchFamily="34" charset="-122"/>
                <a:cs typeface="Proxima Nova" pitchFamily="34" charset="-120"/>
              </a:rPr>
            </a:br>
            <a:endParaRPr lang="en-US" sz="1150">
              <a:solidFill>
                <a:srgbClr val="FFFFFF"/>
              </a:solidFill>
              <a:ea typeface="Proxima Nova" pitchFamily="34" charset="-122"/>
              <a:cs typeface="Proxima Nova" pitchFamily="34" charset="-120"/>
            </a:endParaRPr>
          </a:p>
          <a:p>
            <a:pPr marL="0" indent="0">
              <a:spcAft>
                <a:spcPts val="800"/>
              </a:spcAft>
              <a:buNone/>
            </a:pPr>
            <a:r>
              <a:rPr lang="en-US" sz="1150">
                <a:solidFill>
                  <a:srgbClr val="FFFFFF"/>
                </a:solidFill>
                <a:ea typeface="Proxima Nova" pitchFamily="34" charset="-122"/>
                <a:cs typeface="Proxima Nova" pitchFamily="34" charset="-120"/>
              </a:rPr>
              <a:t>We are actively shaping a unified playbook to standardize our estimation processes and delivery models.</a:t>
            </a:r>
            <a:endParaRPr lang="en-US" sz="1150">
              <a:solidFill>
                <a:srgbClr val="FFFFFF"/>
              </a:solidFill>
            </a:endParaRPr>
          </a:p>
        </p:txBody>
      </p:sp>
      <p:sp>
        <p:nvSpPr>
          <p:cNvPr id="12" name="Takeaway band"/>
          <p:cNvSpPr/>
          <p:nvPr/>
        </p:nvSpPr>
        <p:spPr>
          <a:xfrm>
            <a:off x="3657600" y="5669280"/>
            <a:ext cx="8534095" cy="1188720"/>
          </a:xfrm>
          <a:prstGeom prst="rect">
            <a:avLst/>
          </a:prstGeom>
          <a:solidFill>
            <a:srgbClr val="000000"/>
          </a:solidFill>
          <a:ln/>
        </p:spPr>
        <p:txBody>
          <a:bodyPr/>
          <a:lstStyle/>
          <a:p>
            <a:endParaRPr lang="en-US">
              <a:solidFill>
                <a:srgbClr val="000000"/>
              </a:solidFill>
            </a:endParaRPr>
          </a:p>
        </p:txBody>
      </p:sp>
      <p:sp>
        <p:nvSpPr>
          <p:cNvPr id="13" name="Key takeaway"/>
          <p:cNvSpPr txBox="1"/>
          <p:nvPr/>
        </p:nvSpPr>
        <p:spPr>
          <a:xfrm>
            <a:off x="4114800" y="5669280"/>
            <a:ext cx="7619695" cy="1188720"/>
          </a:xfrm>
          <a:prstGeom prst="rect">
            <a:avLst/>
          </a:prstGeom>
          <a:noFill/>
          <a:ln/>
        </p:spPr>
        <p:txBody>
          <a:bodyPr wrap="square" lIns="0" tIns="0" rIns="0" bIns="0" rtlCol="0" anchor="ctr"/>
          <a:lstStyle/>
          <a:p>
            <a:pPr marL="0" indent="0">
              <a:buNone/>
            </a:pPr>
            <a:r>
              <a:rPr lang="en-US" sz="1250" b="1">
                <a:solidFill>
                  <a:srgbClr val="0391F2"/>
                </a:solidFill>
                <a:ea typeface="Proxima Nova" pitchFamily="34" charset="-122"/>
                <a:cs typeface="Proxima Nova" pitchFamily="34" charset="-120"/>
              </a:rPr>
              <a:t>The Key Takeaway: </a:t>
            </a:r>
            <a:r>
              <a:rPr lang="en-US" sz="1250">
                <a:solidFill>
                  <a:srgbClr val="FFFFFF"/>
                </a:solidFill>
                <a:ea typeface="Proxima Nova" pitchFamily="34" charset="-122"/>
                <a:cs typeface="Proxima Nova" pitchFamily="34" charset="-120"/>
              </a:rPr>
              <a:t>If we do nothing else, we must stop selling what we cannot properly deliver. This playbook is how we finally align how we scope, how we execute, and what the client expects from day one.</a:t>
            </a:r>
            <a:endParaRPr lang="en-US" sz="1250">
              <a:solidFill>
                <a:srgbClr val="000000"/>
              </a:solidFill>
            </a:endParaRPr>
          </a:p>
        </p:txBody>
      </p:sp>
      <p:sp>
        <p:nvSpPr>
          <p:cNvPr id="14" name="Cell heading"/>
          <p:cNvSpPr txBox="1"/>
          <p:nvPr/>
        </p:nvSpPr>
        <p:spPr>
          <a:xfrm>
            <a:off x="4114800" y="457200"/>
            <a:ext cx="2395728" cy="411480"/>
          </a:xfrm>
          <a:prstGeom prst="rect">
            <a:avLst/>
          </a:prstGeom>
          <a:noFill/>
          <a:ln/>
        </p:spPr>
        <p:txBody>
          <a:bodyPr wrap="square" lIns="0" tIns="0" rIns="0" bIns="0" rtlCol="0" anchor="t"/>
          <a:lstStyle/>
          <a:p>
            <a:pPr marL="0" indent="0">
              <a:buNone/>
            </a:pPr>
            <a:r>
              <a:rPr lang="en-US" sz="1300" b="1">
                <a:solidFill>
                  <a:srgbClr val="0328D1"/>
                </a:solidFill>
              </a:rPr>
              <a:t>Authorized Delivery Models</a:t>
            </a:r>
            <a:endParaRPr lang="en-US" sz="1300">
              <a:solidFill>
                <a:srgbClr val="000000"/>
              </a:solidFill>
            </a:endParaRPr>
          </a:p>
        </p:txBody>
      </p:sp>
      <p:sp>
        <p:nvSpPr>
          <p:cNvPr id="15" name="Cell copy"/>
          <p:cNvSpPr txBox="1"/>
          <p:nvPr/>
        </p:nvSpPr>
        <p:spPr>
          <a:xfrm>
            <a:off x="4114800" y="914400"/>
            <a:ext cx="2395728" cy="2286000"/>
          </a:xfrm>
          <a:prstGeom prst="rect">
            <a:avLst/>
          </a:prstGeom>
          <a:noFill/>
          <a:ln/>
        </p:spPr>
        <p:txBody>
          <a:bodyPr wrap="square" lIns="0" tIns="0" rIns="0" bIns="0" rtlCol="0" anchor="t"/>
          <a:lstStyle/>
          <a:p>
            <a:pPr marL="0" indent="0">
              <a:spcAft>
                <a:spcPts val="200"/>
              </a:spcAft>
              <a:buNone/>
            </a:pPr>
            <a:r>
              <a:rPr lang="en-US" sz="1200">
                <a:solidFill>
                  <a:srgbClr val="000000"/>
                </a:solidFill>
                <a:ea typeface="Proxima Nova" pitchFamily="34" charset="-122"/>
                <a:cs typeface="Proxima Nova" pitchFamily="34" charset="-120"/>
              </a:rPr>
              <a:t>Every deal will be categorized into one of 5-6 core models.</a:t>
            </a:r>
            <a:endParaRPr lang="en-US" sz="1200">
              <a:solidFill>
                <a:srgbClr val="000000"/>
              </a:solidFill>
            </a:endParaRPr>
          </a:p>
          <a:p>
            <a:pPr marL="0" indent="0">
              <a:spcAft>
                <a:spcPts val="300"/>
              </a:spcAft>
              <a:buNone/>
            </a:pPr>
            <a:r>
              <a:rPr lang="en-US" sz="1200">
                <a:solidFill>
                  <a:srgbClr val="000000"/>
                </a:solidFill>
                <a:ea typeface="Proxima Nova" pitchFamily="34" charset="-122"/>
                <a:cs typeface="Proxima Nova" pitchFamily="34" charset="-120"/>
              </a:rPr>
              <a:t>Examples:</a:t>
            </a:r>
            <a:endParaRPr lang="en-US" sz="1200">
              <a:solidFill>
                <a:srgbClr val="000000"/>
              </a:solidFill>
            </a:endParaRPr>
          </a:p>
          <a:p>
            <a:pPr marL="228600" indent="-228600">
              <a:spcAft>
                <a:spcPts val="200"/>
              </a:spcAft>
              <a:buSzPct val="100000"/>
              <a:buFont typeface="+mj-lt"/>
              <a:buAutoNum type="arabicPeriod"/>
            </a:pPr>
            <a:r>
              <a:rPr lang="en-US" sz="1100">
                <a:solidFill>
                  <a:srgbClr val="000000"/>
                </a:solidFill>
                <a:ea typeface="Proxima Nova" pitchFamily="34" charset="-122"/>
                <a:cs typeface="Proxima Nova" pitchFamily="34" charset="-120"/>
              </a:rPr>
              <a:t>Fixed (Scope, Budget, Timeframe) - Phase Gate Delivery</a:t>
            </a:r>
            <a:endParaRPr lang="en-US" sz="1200">
              <a:solidFill>
                <a:srgbClr val="000000"/>
              </a:solidFill>
            </a:endParaRPr>
          </a:p>
          <a:p>
            <a:pPr marL="228600" indent="-228600">
              <a:spcAft>
                <a:spcPts val="200"/>
              </a:spcAft>
              <a:buSzPct val="100000"/>
              <a:buFont typeface="+mj-lt"/>
              <a:buAutoNum type="arabicPeriod"/>
            </a:pPr>
            <a:r>
              <a:rPr lang="en-US" sz="1100">
                <a:solidFill>
                  <a:srgbClr val="000000"/>
                </a:solidFill>
                <a:ea typeface="Proxima Nova" pitchFamily="34" charset="-122"/>
                <a:cs typeface="Proxima Nova" pitchFamily="34" charset="-120"/>
              </a:rPr>
              <a:t>Velocity-based/Staff Aug</a:t>
            </a:r>
            <a:endParaRPr lang="en-US" sz="1200">
              <a:solidFill>
                <a:srgbClr val="000000"/>
              </a:solidFill>
            </a:endParaRPr>
          </a:p>
          <a:p>
            <a:pPr marL="228600" indent="-228600">
              <a:spcAft>
                <a:spcPts val="200"/>
              </a:spcAft>
              <a:buSzPct val="100000"/>
              <a:buFont typeface="+mj-lt"/>
              <a:buAutoNum type="arabicPeriod"/>
            </a:pPr>
            <a:r>
              <a:rPr lang="en-US" sz="1100">
                <a:solidFill>
                  <a:srgbClr val="000000"/>
                </a:solidFill>
                <a:ea typeface="Proxima Nova" pitchFamily="34" charset="-122"/>
                <a:cs typeface="Proxima Nova" pitchFamily="34" charset="-120"/>
              </a:rPr>
              <a:t>Product Oriented Delivery</a:t>
            </a:r>
            <a:endParaRPr lang="en-US" sz="1200">
              <a:solidFill>
                <a:srgbClr val="000000"/>
              </a:solidFill>
            </a:endParaRPr>
          </a:p>
          <a:p>
            <a:pPr marL="228600" indent="-228600">
              <a:spcAft>
                <a:spcPts val="200"/>
              </a:spcAft>
              <a:buSzPct val="100000"/>
              <a:buFont typeface="+mj-lt"/>
              <a:buAutoNum type="arabicPeriod"/>
            </a:pPr>
            <a:r>
              <a:rPr lang="en-US" sz="1100">
                <a:solidFill>
                  <a:srgbClr val="000000"/>
                </a:solidFill>
                <a:ea typeface="Proxima Nova" pitchFamily="34" charset="-122"/>
                <a:cs typeface="Proxima Nova" pitchFamily="34" charset="-120"/>
              </a:rPr>
              <a:t>Retainer/Managed Service/BPO</a:t>
            </a:r>
            <a:endParaRPr lang="en-US" sz="1200">
              <a:solidFill>
                <a:srgbClr val="000000"/>
              </a:solidFill>
            </a:endParaRPr>
          </a:p>
          <a:p>
            <a:pPr marL="228600" indent="-228600">
              <a:spcAft>
                <a:spcPts val="500"/>
              </a:spcAft>
              <a:buSzPct val="100000"/>
              <a:buFont typeface="+mj-lt"/>
              <a:buAutoNum type="arabicPeriod"/>
            </a:pPr>
            <a:r>
              <a:rPr lang="en-US" sz="1100">
                <a:solidFill>
                  <a:srgbClr val="000000"/>
                </a:solidFill>
                <a:ea typeface="Proxima Nova" pitchFamily="34" charset="-122"/>
                <a:cs typeface="Proxima Nova" pitchFamily="34" charset="-120"/>
              </a:rPr>
              <a:t>Outcome / Value Based</a:t>
            </a:r>
            <a:endParaRPr lang="en-US" sz="1200">
              <a:solidFill>
                <a:srgbClr val="000000"/>
              </a:solidFill>
            </a:endParaRPr>
          </a:p>
        </p:txBody>
      </p:sp>
      <p:sp>
        <p:nvSpPr>
          <p:cNvPr id="16" name="Cell heading"/>
          <p:cNvSpPr txBox="1"/>
          <p:nvPr/>
        </p:nvSpPr>
        <p:spPr>
          <a:xfrm>
            <a:off x="6693408" y="457200"/>
            <a:ext cx="2395728" cy="411480"/>
          </a:xfrm>
          <a:prstGeom prst="rect">
            <a:avLst/>
          </a:prstGeom>
          <a:noFill/>
          <a:ln/>
        </p:spPr>
        <p:txBody>
          <a:bodyPr wrap="square" lIns="0" tIns="0" rIns="0" bIns="0" rtlCol="0" anchor="t"/>
          <a:lstStyle/>
          <a:p>
            <a:pPr marL="0" indent="0">
              <a:buNone/>
            </a:pPr>
            <a:r>
              <a:rPr lang="en-US" sz="1300" b="1">
                <a:solidFill>
                  <a:srgbClr val="000000"/>
                </a:solidFill>
              </a:rPr>
              <a:t>Aligning Contracts to Work</a:t>
            </a:r>
            <a:endParaRPr lang="en-US" sz="1300">
              <a:solidFill>
                <a:srgbClr val="000000"/>
              </a:solidFill>
            </a:endParaRPr>
          </a:p>
        </p:txBody>
      </p:sp>
      <p:sp>
        <p:nvSpPr>
          <p:cNvPr id="17" name="Cell copy"/>
          <p:cNvSpPr txBox="1"/>
          <p:nvPr/>
        </p:nvSpPr>
        <p:spPr>
          <a:xfrm>
            <a:off x="6693408" y="914400"/>
            <a:ext cx="2395728" cy="2286000"/>
          </a:xfrm>
          <a:prstGeom prst="rect">
            <a:avLst/>
          </a:prstGeom>
          <a:noFill/>
          <a:ln/>
        </p:spPr>
        <p:txBody>
          <a:bodyPr wrap="square" lIns="0" tIns="0" rIns="0" bIns="0" rtlCol="0" anchor="t"/>
          <a:lstStyle/>
          <a:p>
            <a:pPr marL="0" indent="0">
              <a:spcAft>
                <a:spcPts val="500"/>
              </a:spcAft>
              <a:buNone/>
            </a:pPr>
            <a:r>
              <a:rPr lang="en-US" sz="1200">
                <a:solidFill>
                  <a:srgbClr val="000000"/>
                </a:solidFill>
                <a:ea typeface="Proxima Nova" pitchFamily="34" charset="-122"/>
                <a:cs typeface="Proxima Nova" pitchFamily="34" charset="-120"/>
              </a:rPr>
              <a:t>This ensures we establish authorized contract structures that match terms, scope language, and billing mechanics to the specific model, so we stop agreeing to unfeasible combinations like fixed-price with no scope control.</a:t>
            </a:r>
            <a:endParaRPr lang="en-US" sz="1200">
              <a:solidFill>
                <a:srgbClr val="000000"/>
              </a:solidFill>
            </a:endParaRPr>
          </a:p>
        </p:txBody>
      </p:sp>
      <p:sp>
        <p:nvSpPr>
          <p:cNvPr id="18" name="Cell heading"/>
          <p:cNvSpPr txBox="1"/>
          <p:nvPr/>
        </p:nvSpPr>
        <p:spPr>
          <a:xfrm>
            <a:off x="9272016" y="457200"/>
            <a:ext cx="2395728" cy="411480"/>
          </a:xfrm>
          <a:prstGeom prst="rect">
            <a:avLst/>
          </a:prstGeom>
          <a:noFill/>
          <a:ln/>
        </p:spPr>
        <p:txBody>
          <a:bodyPr wrap="square" lIns="0" tIns="0" rIns="0" bIns="0" rtlCol="0" anchor="t"/>
          <a:lstStyle/>
          <a:p>
            <a:pPr marL="0" indent="0">
              <a:buNone/>
            </a:pPr>
            <a:r>
              <a:rPr lang="en-US" sz="1300" b="1">
                <a:solidFill>
                  <a:srgbClr val="0328D1"/>
                </a:solidFill>
              </a:rPr>
              <a:t>Methodology Standards</a:t>
            </a:r>
            <a:endParaRPr lang="en-US" sz="1300">
              <a:solidFill>
                <a:srgbClr val="000000"/>
              </a:solidFill>
            </a:endParaRPr>
          </a:p>
        </p:txBody>
      </p:sp>
      <p:sp>
        <p:nvSpPr>
          <p:cNvPr id="19" name="Cell copy"/>
          <p:cNvSpPr txBox="1"/>
          <p:nvPr/>
        </p:nvSpPr>
        <p:spPr>
          <a:xfrm>
            <a:off x="9272016" y="914400"/>
            <a:ext cx="2395728" cy="2286000"/>
          </a:xfrm>
          <a:prstGeom prst="rect">
            <a:avLst/>
          </a:prstGeom>
          <a:noFill/>
          <a:ln/>
        </p:spPr>
        <p:txBody>
          <a:bodyPr wrap="square" lIns="0" tIns="0" rIns="0" bIns="0" rtlCol="0" anchor="t"/>
          <a:lstStyle/>
          <a:p>
            <a:pPr marL="0" indent="0">
              <a:spcAft>
                <a:spcPts val="500"/>
              </a:spcAft>
              <a:buNone/>
            </a:pPr>
            <a:r>
              <a:rPr lang="en-US" sz="1200">
                <a:solidFill>
                  <a:srgbClr val="000000"/>
                </a:solidFill>
                <a:ea typeface="Proxima Nova" pitchFamily="34" charset="-122"/>
                <a:cs typeface="Proxima Nova" pitchFamily="34" charset="-120"/>
              </a:rPr>
              <a:t>We will establish clear underlying working practices (e.g., </a:t>
            </a:r>
            <a:r>
              <a:rPr lang="en-US" sz="1200" err="1">
                <a:solidFill>
                  <a:srgbClr val="000000"/>
                </a:solidFill>
                <a:ea typeface="Proxima Nova" pitchFamily="34" charset="-122"/>
                <a:cs typeface="Proxima Nova" pitchFamily="34" charset="-120"/>
              </a:rPr>
              <a:t>SAFe</a:t>
            </a:r>
            <a:r>
              <a:rPr lang="en-US" sz="1200">
                <a:solidFill>
                  <a:srgbClr val="000000"/>
                </a:solidFill>
                <a:ea typeface="Proxima Nova" pitchFamily="34" charset="-122"/>
                <a:cs typeface="Proxima Nova" pitchFamily="34" charset="-120"/>
              </a:rPr>
              <a:t> Agile, Test-Driven Development) so we proactively guide clients toward successful engagements, rather than inheriting confusion from clients or from team preferences </a:t>
            </a:r>
            <a:endParaRPr lang="en-US" sz="1200">
              <a:solidFill>
                <a:srgbClr val="000000"/>
              </a:solidFill>
            </a:endParaRPr>
          </a:p>
        </p:txBody>
      </p:sp>
      <p:sp>
        <p:nvSpPr>
          <p:cNvPr id="20" name="Cell heading"/>
          <p:cNvSpPr txBox="1"/>
          <p:nvPr/>
        </p:nvSpPr>
        <p:spPr>
          <a:xfrm>
            <a:off x="4114800" y="3246120"/>
            <a:ext cx="2395728" cy="411480"/>
          </a:xfrm>
          <a:prstGeom prst="rect">
            <a:avLst/>
          </a:prstGeom>
          <a:noFill/>
          <a:ln/>
        </p:spPr>
        <p:txBody>
          <a:bodyPr wrap="square" lIns="0" tIns="0" rIns="0" bIns="0" rtlCol="0" anchor="t"/>
          <a:lstStyle/>
          <a:p>
            <a:pPr marL="0" indent="0">
              <a:buNone/>
            </a:pPr>
            <a:r>
              <a:rPr lang="en-US" sz="1300" b="1">
                <a:solidFill>
                  <a:srgbClr val="000000"/>
                </a:solidFill>
              </a:rPr>
              <a:t>Layering in AI</a:t>
            </a:r>
            <a:endParaRPr lang="en-US" sz="1300">
              <a:solidFill>
                <a:srgbClr val="000000"/>
              </a:solidFill>
            </a:endParaRPr>
          </a:p>
        </p:txBody>
      </p:sp>
      <p:sp>
        <p:nvSpPr>
          <p:cNvPr id="21" name="Cell copy"/>
          <p:cNvSpPr txBox="1"/>
          <p:nvPr/>
        </p:nvSpPr>
        <p:spPr>
          <a:xfrm>
            <a:off x="4114800" y="3703320"/>
            <a:ext cx="2395728" cy="1920240"/>
          </a:xfrm>
          <a:prstGeom prst="rect">
            <a:avLst/>
          </a:prstGeom>
          <a:noFill/>
          <a:ln/>
        </p:spPr>
        <p:txBody>
          <a:bodyPr wrap="square" lIns="0" tIns="0" rIns="0" bIns="0" rtlCol="0" anchor="t"/>
          <a:lstStyle/>
          <a:p>
            <a:pPr marL="0" indent="0">
              <a:spcAft>
                <a:spcPts val="500"/>
              </a:spcAft>
              <a:buNone/>
            </a:pPr>
            <a:r>
              <a:rPr lang="en-US" sz="1200">
                <a:solidFill>
                  <a:srgbClr val="000000"/>
                </a:solidFill>
                <a:ea typeface="Proxima Nova" pitchFamily="34" charset="-122"/>
                <a:cs typeface="Proxima Nova" pitchFamily="34" charset="-120"/>
              </a:rPr>
              <a:t>We will purposefully weave AI capabilities into these methodologies from the start. This allows us to accurately scope future baseline roles and begin transitioning toward metered or token-based commercial pricing.</a:t>
            </a:r>
            <a:endParaRPr lang="en-US" sz="1200">
              <a:solidFill>
                <a:srgbClr val="000000"/>
              </a:solidFill>
            </a:endParaRPr>
          </a:p>
        </p:txBody>
      </p:sp>
      <p:sp>
        <p:nvSpPr>
          <p:cNvPr id="22" name="Cell heading"/>
          <p:cNvSpPr txBox="1"/>
          <p:nvPr/>
        </p:nvSpPr>
        <p:spPr>
          <a:xfrm>
            <a:off x="6693408" y="3246120"/>
            <a:ext cx="2395728" cy="411480"/>
          </a:xfrm>
          <a:prstGeom prst="rect">
            <a:avLst/>
          </a:prstGeom>
          <a:noFill/>
          <a:ln/>
        </p:spPr>
        <p:txBody>
          <a:bodyPr wrap="square" lIns="0" tIns="0" rIns="0" bIns="0" rtlCol="0" anchor="t"/>
          <a:lstStyle/>
          <a:p>
            <a:pPr marL="0" indent="0">
              <a:buNone/>
            </a:pPr>
            <a:r>
              <a:rPr lang="en-US" sz="1300" b="1">
                <a:solidFill>
                  <a:srgbClr val="0328D1"/>
                </a:solidFill>
              </a:rPr>
              <a:t>Unified Estimation</a:t>
            </a:r>
            <a:endParaRPr lang="en-US" sz="1300">
              <a:solidFill>
                <a:srgbClr val="000000"/>
              </a:solidFill>
            </a:endParaRPr>
          </a:p>
        </p:txBody>
      </p:sp>
      <p:sp>
        <p:nvSpPr>
          <p:cNvPr id="23" name="Cell copy"/>
          <p:cNvSpPr txBox="1"/>
          <p:nvPr/>
        </p:nvSpPr>
        <p:spPr>
          <a:xfrm>
            <a:off x="6693408" y="3703320"/>
            <a:ext cx="2395728" cy="1920240"/>
          </a:xfrm>
          <a:prstGeom prst="rect">
            <a:avLst/>
          </a:prstGeom>
          <a:noFill/>
          <a:ln/>
        </p:spPr>
        <p:txBody>
          <a:bodyPr wrap="square" lIns="0" tIns="0" rIns="0" bIns="0" rtlCol="0" anchor="t"/>
          <a:lstStyle/>
          <a:p>
            <a:pPr marL="0" indent="0">
              <a:spcAft>
                <a:spcPts val="500"/>
              </a:spcAft>
              <a:buNone/>
            </a:pPr>
            <a:r>
              <a:rPr lang="en-US" sz="1200">
                <a:solidFill>
                  <a:srgbClr val="000000"/>
                </a:solidFill>
                <a:ea typeface="Proxima Nova" pitchFamily="34" charset="-122"/>
                <a:cs typeface="Proxima Nova" pitchFamily="34" charset="-120"/>
              </a:rPr>
              <a:t>This playbook ends siloed estimation by bringing the right people in before the deal closes, ensuring our pricing tools reflect true deliverability, not just theoretical margin.</a:t>
            </a:r>
            <a:endParaRPr lang="en-US" sz="1200">
              <a:solidFill>
                <a:srgbClr val="000000"/>
              </a:solidFill>
            </a:endParaRPr>
          </a:p>
        </p:txBody>
      </p:sp>
      <p:sp>
        <p:nvSpPr>
          <p:cNvPr id="24" name="Cell heading"/>
          <p:cNvSpPr txBox="1"/>
          <p:nvPr/>
        </p:nvSpPr>
        <p:spPr>
          <a:xfrm>
            <a:off x="9272016" y="3246120"/>
            <a:ext cx="2395728" cy="411480"/>
          </a:xfrm>
          <a:prstGeom prst="rect">
            <a:avLst/>
          </a:prstGeom>
          <a:noFill/>
          <a:ln/>
        </p:spPr>
        <p:txBody>
          <a:bodyPr wrap="square" lIns="0" tIns="0" rIns="0" bIns="0" rtlCol="0" anchor="t"/>
          <a:lstStyle/>
          <a:p>
            <a:pPr marL="0" indent="0">
              <a:buNone/>
            </a:pPr>
            <a:r>
              <a:rPr lang="en-US" sz="1300" b="1">
                <a:solidFill>
                  <a:srgbClr val="000000"/>
                </a:solidFill>
              </a:rPr>
              <a:t>Next Up</a:t>
            </a:r>
            <a:endParaRPr lang="en-US" sz="1300">
              <a:solidFill>
                <a:srgbClr val="000000"/>
              </a:solidFill>
            </a:endParaRPr>
          </a:p>
        </p:txBody>
      </p:sp>
      <p:sp>
        <p:nvSpPr>
          <p:cNvPr id="25" name="Cell copy"/>
          <p:cNvSpPr txBox="1"/>
          <p:nvPr/>
        </p:nvSpPr>
        <p:spPr>
          <a:xfrm>
            <a:off x="9272016" y="3703320"/>
            <a:ext cx="2395728" cy="1920240"/>
          </a:xfrm>
          <a:prstGeom prst="rect">
            <a:avLst/>
          </a:prstGeom>
          <a:noFill/>
          <a:ln/>
        </p:spPr>
        <p:txBody>
          <a:bodyPr wrap="square" lIns="0" tIns="0" rIns="0" bIns="0" rtlCol="0" anchor="t"/>
          <a:lstStyle/>
          <a:p>
            <a:pPr marL="0" indent="0">
              <a:spcAft>
                <a:spcPts val="500"/>
              </a:spcAft>
              <a:buNone/>
            </a:pPr>
            <a:r>
              <a:rPr lang="en-US" sz="1200">
                <a:solidFill>
                  <a:srgbClr val="000000"/>
                </a:solidFill>
                <a:ea typeface="Proxima Nova" pitchFamily="34" charset="-122"/>
                <a:cs typeface="Proxima Nova" pitchFamily="34" charset="-120"/>
              </a:rPr>
              <a:t>BU COOs and Delivery Leads will partner directly with Enterprise Project Management, Client &amp; Commercial teams, and Finance to </a:t>
            </a:r>
            <a:r>
              <a:rPr lang="en-US" sz="1200" b="1">
                <a:solidFill>
                  <a:srgbClr val="000000"/>
                </a:solidFill>
                <a:ea typeface="Proxima Nova" pitchFamily="34" charset="-122"/>
                <a:cs typeface="Proxima Nova" pitchFamily="34" charset="-120"/>
              </a:rPr>
              <a:t>build this playbook together,</a:t>
            </a:r>
            <a:r>
              <a:rPr lang="en-US" sz="1200">
                <a:solidFill>
                  <a:srgbClr val="000000"/>
                </a:solidFill>
                <a:ea typeface="Proxima Nova" pitchFamily="34" charset="-122"/>
                <a:cs typeface="Proxima Nova" pitchFamily="34" charset="-120"/>
              </a:rPr>
              <a:t> ensuring full organizational alignment.</a:t>
            </a:r>
            <a:endParaRPr lang="en-US" sz="1200">
              <a:solidFill>
                <a:srgbClr val="000000"/>
              </a:solidFill>
            </a:endParaRPr>
          </a:p>
        </p:txBody>
      </p:sp>
      <p:pic>
        <p:nvPicPr>
          <p:cNvPr id="26" name="Picture 25" descr="image.png"/>
          <p:cNvPicPr>
            <a:picLocks noChangeAspect="1"/>
          </p:cNvPicPr>
          <p:nvPr/>
        </p:nvPicPr>
        <p:blipFill>
          <a:blip r:embed="rId3"/>
          <a:stretch>
            <a:fillRect/>
          </a:stretch>
        </p:blipFill>
        <p:spPr>
          <a:xfrm>
            <a:off x="640080" y="6400800"/>
            <a:ext cx="274320" cy="1501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4" name="Picture 33" descr="k_edge7.jpg"/>
          <p:cNvPicPr>
            <a:picLocks noChangeAspect="1"/>
          </p:cNvPicPr>
          <p:nvPr/>
        </p:nvPicPr>
        <p:blipFill>
          <a:blip r:embed="rId3"/>
          <a:stretch>
            <a:fillRect/>
          </a:stretch>
        </p:blipFill>
        <p:spPr>
          <a:xfrm>
            <a:off x="7894320" y="0"/>
            <a:ext cx="4297680" cy="1207008"/>
          </a:xfrm>
          <a:prstGeom prst="rect">
            <a:avLst/>
          </a:prstGeom>
        </p:spPr>
      </p:pic>
      <p:sp>
        <p:nvSpPr>
          <p:cNvPr id="35" name="Rectangle 34"/>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36" name="Rectangle 35"/>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a:xfrm>
            <a:off x="530352" y="457200"/>
            <a:ext cx="11128248" cy="566928"/>
          </a:xfrm>
        </p:spPr>
        <p:txBody>
          <a:bodyPr/>
          <a:lstStyle/>
          <a:p>
            <a:r>
              <a:rPr>
                <a:latin typeface="+mn-lt"/>
              </a:rPr>
              <a:t>Deal-to-Delivery Playbook</a:t>
            </a:r>
          </a:p>
        </p:txBody>
      </p:sp>
      <p:sp>
        <p:nvSpPr>
          <p:cNvPr id="4" name="Text Placeholder 3"/>
          <p:cNvSpPr>
            <a:spLocks noGrp="1"/>
          </p:cNvSpPr>
          <p:nvPr>
            <p:ph type="body" sz="quarter" idx="12"/>
          </p:nvPr>
        </p:nvSpPr>
        <p:spPr>
          <a:xfrm>
            <a:off x="530352" y="256032"/>
            <a:ext cx="11128248" cy="182880"/>
          </a:xfrm>
        </p:spPr>
        <p:txBody>
          <a:bodyPr/>
          <a:lstStyle/>
          <a:p>
            <a:r>
              <a:t>PRIORITY ONE</a:t>
            </a:r>
          </a:p>
        </p:txBody>
      </p:sp>
      <p:sp>
        <p:nvSpPr>
          <p:cNvPr id="14" name="Intro"/>
          <p:cNvSpPr txBox="1"/>
          <p:nvPr/>
        </p:nvSpPr>
        <p:spPr>
          <a:xfrm>
            <a:off x="530352" y="1325880"/>
            <a:ext cx="11128248" cy="731520"/>
          </a:xfrm>
          <a:prstGeom prst="rect">
            <a:avLst/>
          </a:prstGeom>
          <a:noFill/>
          <a:ln/>
        </p:spPr>
        <p:txBody>
          <a:bodyPr wrap="square" lIns="0" tIns="0" rIns="0" bIns="0" rtlCol="0" anchor="t"/>
          <a:lstStyle/>
          <a:p>
            <a:pPr marL="0" indent="0">
              <a:buNone/>
            </a:pPr>
            <a:r>
              <a:rPr lang="en-US" sz="1250" b="1">
                <a:solidFill>
                  <a:srgbClr val="000000"/>
                </a:solidFill>
                <a:ea typeface="Proxima Nova" pitchFamily="34" charset="-122"/>
                <a:cs typeface="Proxima Nova" pitchFamily="34" charset="-120"/>
              </a:rPr>
              <a:t>Why this one, first:</a:t>
            </a:r>
            <a:r>
              <a:rPr lang="en-US" sz="1250">
                <a:solidFill>
                  <a:srgbClr val="000000"/>
                </a:solidFill>
                <a:ea typeface="Proxima Nova" pitchFamily="34" charset="-122"/>
                <a:cs typeface="Proxima Nova" pitchFamily="34" charset="-120"/>
              </a:rPr>
              <a:t> of the four, this is the most urgent to solve. Work is being sold in shapes we cannot staff or deliver, and that's costing us today — not a future risk. It's also our clearest answer to Play to Win's Delivery Excellence ask.</a:t>
            </a:r>
            <a:endParaRPr lang="en-US" sz="1250">
              <a:solidFill>
                <a:srgbClr val="000000"/>
              </a:solidFill>
            </a:endParaRPr>
          </a:p>
        </p:txBody>
      </p:sp>
      <p:sp>
        <p:nvSpPr>
          <p:cNvPr id="15" name="MVP strip"/>
          <p:cNvSpPr/>
          <p:nvPr/>
        </p:nvSpPr>
        <p:spPr>
          <a:xfrm>
            <a:off x="530352" y="2095995"/>
            <a:ext cx="11128248" cy="594360"/>
          </a:xfrm>
          <a:prstGeom prst="roundRect">
            <a:avLst>
              <a:gd name="adj" fmla="val 1538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16" name="Pill MVP"/>
          <p:cNvSpPr/>
          <p:nvPr/>
        </p:nvSpPr>
        <p:spPr>
          <a:xfrm>
            <a:off x="777240" y="2254179"/>
            <a:ext cx="731520" cy="301752"/>
          </a:xfrm>
          <a:prstGeom prst="roundRect">
            <a:avLst>
              <a:gd name="adj" fmla="val 50000"/>
            </a:avLst>
          </a:prstGeom>
          <a:solidFill>
            <a:srgbClr val="000000"/>
          </a:solidFill>
          <a:ln/>
        </p:spPr>
        <p:txBody>
          <a:bodyPr/>
          <a:lstStyle/>
          <a:p>
            <a:endParaRPr lang="en-US">
              <a:solidFill>
                <a:srgbClr val="000000"/>
              </a:solidFill>
            </a:endParaRPr>
          </a:p>
        </p:txBody>
      </p:sp>
      <p:sp>
        <p:nvSpPr>
          <p:cNvPr id="17" name="Pill text"/>
          <p:cNvSpPr txBox="1"/>
          <p:nvPr/>
        </p:nvSpPr>
        <p:spPr>
          <a:xfrm>
            <a:off x="777240" y="2242299"/>
            <a:ext cx="731520" cy="301752"/>
          </a:xfrm>
          <a:prstGeom prst="rect">
            <a:avLst/>
          </a:prstGeom>
          <a:noFill/>
          <a:ln/>
        </p:spPr>
        <p:txBody>
          <a:bodyPr wrap="square" lIns="0" tIns="0" rIns="0" bIns="0" rtlCol="0" anchor="ctr"/>
          <a:lstStyle/>
          <a:p>
            <a:pPr marL="0" indent="0" algn="ctr">
              <a:buNone/>
            </a:pPr>
            <a:r>
              <a:rPr lang="en-US" sz="1000" b="1">
                <a:solidFill>
                  <a:srgbClr val="FFFFFF"/>
                </a:solidFill>
              </a:rPr>
              <a:t>MVP</a:t>
            </a:r>
            <a:endParaRPr lang="en-US" sz="1000">
              <a:solidFill>
                <a:srgbClr val="000000"/>
              </a:solidFill>
            </a:endParaRPr>
          </a:p>
        </p:txBody>
      </p:sp>
      <p:sp>
        <p:nvSpPr>
          <p:cNvPr id="18" name="MVP note"/>
          <p:cNvSpPr txBox="1"/>
          <p:nvPr/>
        </p:nvSpPr>
        <p:spPr>
          <a:xfrm>
            <a:off x="1737360" y="2095995"/>
            <a:ext cx="9692640" cy="594360"/>
          </a:xfrm>
          <a:prstGeom prst="rect">
            <a:avLst/>
          </a:prstGeom>
          <a:noFill/>
          <a:ln/>
        </p:spPr>
        <p:txBody>
          <a:bodyPr wrap="square" lIns="0" tIns="0" rIns="0" bIns="0" rtlCol="0" anchor="ctr"/>
          <a:lstStyle/>
          <a:p>
            <a:pPr marL="0" indent="0">
              <a:buNone/>
            </a:pPr>
            <a:r>
              <a:rPr lang="en-US" sz="1250" i="1">
                <a:solidFill>
                  <a:srgbClr val="000000"/>
                </a:solidFill>
              </a:rPr>
              <a:t>Three stories, not one, because all three must work together for this to work.</a:t>
            </a:r>
            <a:endParaRPr lang="en-US" sz="1250">
              <a:solidFill>
                <a:srgbClr val="000000"/>
              </a:solidFill>
            </a:endParaRPr>
          </a:p>
        </p:txBody>
      </p:sp>
      <p:sp>
        <p:nvSpPr>
          <p:cNvPr id="19" name="Story card Delivery Models"/>
          <p:cNvSpPr/>
          <p:nvPr/>
        </p:nvSpPr>
        <p:spPr>
          <a:xfrm>
            <a:off x="530352" y="3063240"/>
            <a:ext cx="3611880" cy="1691640"/>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0" name="Story label"/>
          <p:cNvSpPr txBox="1"/>
          <p:nvPr/>
        </p:nvSpPr>
        <p:spPr>
          <a:xfrm>
            <a:off x="804672" y="3200400"/>
            <a:ext cx="3063240" cy="228600"/>
          </a:xfrm>
          <a:prstGeom prst="rect">
            <a:avLst/>
          </a:prstGeom>
          <a:noFill/>
          <a:ln/>
        </p:spPr>
        <p:txBody>
          <a:bodyPr wrap="square" lIns="0" tIns="0" rIns="0" bIns="0" rtlCol="0" anchor="ctr"/>
          <a:lstStyle/>
          <a:p>
            <a:pPr marL="0" indent="0">
              <a:buNone/>
            </a:pPr>
            <a:r>
              <a:rPr lang="en-US" sz="1000" b="1" kern="0" spc="300">
                <a:solidFill>
                  <a:srgbClr val="000000"/>
                </a:solidFill>
              </a:rPr>
              <a:t>STORY 1</a:t>
            </a:r>
            <a:endParaRPr lang="en-US" sz="1000">
              <a:solidFill>
                <a:srgbClr val="000000"/>
              </a:solidFill>
            </a:endParaRPr>
          </a:p>
        </p:txBody>
      </p:sp>
      <p:sp>
        <p:nvSpPr>
          <p:cNvPr id="21" name="Story title"/>
          <p:cNvSpPr txBox="1"/>
          <p:nvPr/>
        </p:nvSpPr>
        <p:spPr>
          <a:xfrm>
            <a:off x="804672" y="3474720"/>
            <a:ext cx="3063240" cy="320040"/>
          </a:xfrm>
          <a:prstGeom prst="rect">
            <a:avLst/>
          </a:prstGeom>
          <a:noFill/>
          <a:ln/>
        </p:spPr>
        <p:txBody>
          <a:bodyPr wrap="square" lIns="0" tIns="0" rIns="0" bIns="0" rtlCol="0" anchor="ctr"/>
          <a:lstStyle/>
          <a:p>
            <a:pPr marL="0" indent="0">
              <a:buNone/>
            </a:pPr>
            <a:r>
              <a:rPr lang="en-US" sz="1600" b="1">
                <a:solidFill>
                  <a:srgbClr val="000000"/>
                </a:solidFill>
              </a:rPr>
              <a:t>Delivery Models</a:t>
            </a:r>
            <a:endParaRPr lang="en-US" sz="1600">
              <a:solidFill>
                <a:srgbClr val="000000"/>
              </a:solidFill>
            </a:endParaRPr>
          </a:p>
        </p:txBody>
      </p:sp>
      <p:sp>
        <p:nvSpPr>
          <p:cNvPr id="22" name="Story copy"/>
          <p:cNvSpPr txBox="1"/>
          <p:nvPr/>
        </p:nvSpPr>
        <p:spPr>
          <a:xfrm>
            <a:off x="804672" y="3886200"/>
            <a:ext cx="3063240" cy="822960"/>
          </a:xfrm>
          <a:prstGeom prst="rect">
            <a:avLst/>
          </a:prstGeom>
          <a:noFill/>
          <a:ln/>
        </p:spPr>
        <p:txBody>
          <a:bodyPr wrap="square" lIns="0" tIns="0" rIns="0" bIns="0" rtlCol="0" anchor="t"/>
          <a:lstStyle/>
          <a:p>
            <a:pPr marL="0" indent="0">
              <a:buNone/>
            </a:pPr>
            <a:r>
              <a:rPr lang="en-US" sz="1200">
                <a:solidFill>
                  <a:srgbClr val="000000"/>
                </a:solidFill>
              </a:rPr>
              <a:t>Every deal categorized at qualification into one of 5-6 core models, so pricing and staffing follow a known shape.</a:t>
            </a:r>
          </a:p>
        </p:txBody>
      </p:sp>
      <p:sp>
        <p:nvSpPr>
          <p:cNvPr id="23" name="Story card Contracts"/>
          <p:cNvSpPr/>
          <p:nvPr/>
        </p:nvSpPr>
        <p:spPr>
          <a:xfrm>
            <a:off x="4288536" y="3063240"/>
            <a:ext cx="3611880" cy="1691640"/>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4" name="Story label"/>
          <p:cNvSpPr txBox="1"/>
          <p:nvPr/>
        </p:nvSpPr>
        <p:spPr>
          <a:xfrm>
            <a:off x="4562856" y="3200400"/>
            <a:ext cx="3063240" cy="228600"/>
          </a:xfrm>
          <a:prstGeom prst="rect">
            <a:avLst/>
          </a:prstGeom>
          <a:noFill/>
          <a:ln/>
        </p:spPr>
        <p:txBody>
          <a:bodyPr wrap="square" lIns="0" tIns="0" rIns="0" bIns="0" rtlCol="0" anchor="ctr"/>
          <a:lstStyle/>
          <a:p>
            <a:pPr marL="0" indent="0">
              <a:buNone/>
            </a:pPr>
            <a:r>
              <a:rPr lang="en-US" sz="1000" b="1" kern="0" spc="300">
                <a:solidFill>
                  <a:srgbClr val="0328D1"/>
                </a:solidFill>
              </a:rPr>
              <a:t>STORY 2</a:t>
            </a:r>
            <a:endParaRPr lang="en-US" sz="1000">
              <a:solidFill>
                <a:srgbClr val="000000"/>
              </a:solidFill>
            </a:endParaRPr>
          </a:p>
        </p:txBody>
      </p:sp>
      <p:sp>
        <p:nvSpPr>
          <p:cNvPr id="25" name="Story title"/>
          <p:cNvSpPr txBox="1"/>
          <p:nvPr/>
        </p:nvSpPr>
        <p:spPr>
          <a:xfrm>
            <a:off x="4562856" y="3474720"/>
            <a:ext cx="3063240" cy="320040"/>
          </a:xfrm>
          <a:prstGeom prst="rect">
            <a:avLst/>
          </a:prstGeom>
          <a:noFill/>
          <a:ln/>
        </p:spPr>
        <p:txBody>
          <a:bodyPr wrap="square" lIns="0" tIns="0" rIns="0" bIns="0" rtlCol="0" anchor="ctr"/>
          <a:lstStyle/>
          <a:p>
            <a:pPr marL="0" indent="0">
              <a:buNone/>
            </a:pPr>
            <a:r>
              <a:rPr lang="en-US" sz="1600" b="1">
                <a:solidFill>
                  <a:srgbClr val="000000"/>
                </a:solidFill>
              </a:rPr>
              <a:t>Contracts</a:t>
            </a:r>
            <a:endParaRPr lang="en-US" sz="1600">
              <a:solidFill>
                <a:srgbClr val="000000"/>
              </a:solidFill>
            </a:endParaRPr>
          </a:p>
        </p:txBody>
      </p:sp>
      <p:sp>
        <p:nvSpPr>
          <p:cNvPr id="26" name="Story copy"/>
          <p:cNvSpPr txBox="1"/>
          <p:nvPr/>
        </p:nvSpPr>
        <p:spPr>
          <a:xfrm>
            <a:off x="4562856" y="3886200"/>
            <a:ext cx="3063240" cy="822960"/>
          </a:xfrm>
          <a:prstGeom prst="rect">
            <a:avLst/>
          </a:prstGeom>
          <a:noFill/>
          <a:ln/>
        </p:spPr>
        <p:txBody>
          <a:bodyPr wrap="square" lIns="0" tIns="0" rIns="0" bIns="0" rtlCol="0" anchor="t"/>
          <a:lstStyle/>
          <a:p>
            <a:pPr marL="0" indent="0">
              <a:buNone/>
            </a:pPr>
            <a:r>
              <a:rPr lang="en-US" sz="1200">
                <a:solidFill>
                  <a:srgbClr val="000000"/>
                </a:solidFill>
              </a:rPr>
              <a:t>Terms, scope language, and billing matched to the chosen model — no more fixed price with no scope control.</a:t>
            </a:r>
          </a:p>
        </p:txBody>
      </p:sp>
      <p:sp>
        <p:nvSpPr>
          <p:cNvPr id="27" name="Story card Methodology Standards"/>
          <p:cNvSpPr/>
          <p:nvPr/>
        </p:nvSpPr>
        <p:spPr>
          <a:xfrm>
            <a:off x="8046720" y="3063240"/>
            <a:ext cx="3611880" cy="1691640"/>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8" name="Story label"/>
          <p:cNvSpPr txBox="1"/>
          <p:nvPr/>
        </p:nvSpPr>
        <p:spPr>
          <a:xfrm>
            <a:off x="8321040" y="3200400"/>
            <a:ext cx="3063240" cy="228600"/>
          </a:xfrm>
          <a:prstGeom prst="rect">
            <a:avLst/>
          </a:prstGeom>
          <a:noFill/>
          <a:ln/>
        </p:spPr>
        <p:txBody>
          <a:bodyPr wrap="square" lIns="0" tIns="0" rIns="0" bIns="0" rtlCol="0" anchor="ctr"/>
          <a:lstStyle/>
          <a:p>
            <a:pPr marL="0" indent="0">
              <a:buNone/>
            </a:pPr>
            <a:r>
              <a:rPr lang="en-US" sz="1000" b="1" kern="0" spc="300">
                <a:solidFill>
                  <a:srgbClr val="000000"/>
                </a:solidFill>
              </a:rPr>
              <a:t>STORY 3</a:t>
            </a:r>
            <a:endParaRPr lang="en-US" sz="1000">
              <a:solidFill>
                <a:srgbClr val="000000"/>
              </a:solidFill>
            </a:endParaRPr>
          </a:p>
        </p:txBody>
      </p:sp>
      <p:sp>
        <p:nvSpPr>
          <p:cNvPr id="29" name="Story title"/>
          <p:cNvSpPr txBox="1"/>
          <p:nvPr/>
        </p:nvSpPr>
        <p:spPr>
          <a:xfrm>
            <a:off x="8321040" y="3474720"/>
            <a:ext cx="3063240" cy="320040"/>
          </a:xfrm>
          <a:prstGeom prst="rect">
            <a:avLst/>
          </a:prstGeom>
          <a:noFill/>
          <a:ln/>
        </p:spPr>
        <p:txBody>
          <a:bodyPr wrap="square" lIns="0" tIns="0" rIns="0" bIns="0" rtlCol="0" anchor="ctr"/>
          <a:lstStyle/>
          <a:p>
            <a:pPr marL="0" indent="0">
              <a:buNone/>
            </a:pPr>
            <a:r>
              <a:rPr lang="en-US" sz="1600" b="1">
                <a:solidFill>
                  <a:srgbClr val="000000"/>
                </a:solidFill>
              </a:rPr>
              <a:t>Methodology Standards</a:t>
            </a:r>
            <a:endParaRPr lang="en-US" sz="1600">
              <a:solidFill>
                <a:srgbClr val="000000"/>
              </a:solidFill>
            </a:endParaRPr>
          </a:p>
        </p:txBody>
      </p:sp>
      <p:sp>
        <p:nvSpPr>
          <p:cNvPr id="30" name="Story copy"/>
          <p:cNvSpPr txBox="1"/>
          <p:nvPr/>
        </p:nvSpPr>
        <p:spPr>
          <a:xfrm>
            <a:off x="8321040" y="3886200"/>
            <a:ext cx="3063240" cy="822960"/>
          </a:xfrm>
          <a:prstGeom prst="rect">
            <a:avLst/>
          </a:prstGeom>
          <a:noFill/>
          <a:ln/>
        </p:spPr>
        <p:txBody>
          <a:bodyPr wrap="square" lIns="0" tIns="0" rIns="0" bIns="0" rtlCol="0" anchor="t"/>
          <a:lstStyle/>
          <a:p>
            <a:pPr marL="0" indent="0">
              <a:buNone/>
            </a:pPr>
            <a:r>
              <a:rPr lang="en-US" sz="1200">
                <a:solidFill>
                  <a:srgbClr val="000000"/>
                </a:solidFill>
              </a:rPr>
              <a:t>Clear working practices, so we guide clients into how we work instead of inheriting whatever mix they bring.</a:t>
            </a:r>
          </a:p>
        </p:txBody>
      </p:sp>
      <p:sp>
        <p:nvSpPr>
          <p:cNvPr id="31" name="Then"/>
          <p:cNvSpPr txBox="1"/>
          <p:nvPr/>
        </p:nvSpPr>
        <p:spPr>
          <a:xfrm>
            <a:off x="530352" y="4973385"/>
            <a:ext cx="11128248" cy="320040"/>
          </a:xfrm>
          <a:prstGeom prst="rect">
            <a:avLst/>
          </a:prstGeom>
          <a:noFill/>
          <a:ln/>
        </p:spPr>
        <p:txBody>
          <a:bodyPr wrap="square" lIns="0" tIns="0" rIns="0" bIns="0" rtlCol="0" anchor="t"/>
          <a:lstStyle/>
          <a:p>
            <a:pPr marL="0" indent="0">
              <a:buNone/>
            </a:pPr>
            <a:r>
              <a:rPr lang="en-US" sz="1250" b="1">
                <a:solidFill>
                  <a:srgbClr val="000000"/>
                </a:solidFill>
                <a:ea typeface="Proxima Nova" pitchFamily="34" charset="-122"/>
                <a:cs typeface="Proxima Nova" pitchFamily="34" charset="-120"/>
              </a:rPr>
              <a:t>Supported by AI: </a:t>
            </a:r>
            <a:r>
              <a:rPr lang="en-US" sz="1250">
                <a:solidFill>
                  <a:srgbClr val="000000"/>
                </a:solidFill>
                <a:ea typeface="Proxima Nova" pitchFamily="34" charset="-122"/>
                <a:cs typeface="Proxima Nova" pitchFamily="34" charset="-120"/>
              </a:rPr>
              <a:t>Estimation, Pricing, and Staffing follow once the MVP is solid.</a:t>
            </a:r>
            <a:endParaRPr lang="en-US" sz="1250">
              <a:solidFill>
                <a:srgbClr val="000000"/>
              </a:solidFill>
            </a:endParaRPr>
          </a:p>
        </p:txBody>
      </p:sp>
      <p:sp>
        <p:nvSpPr>
          <p:cNvPr id="32" name="Key takeaway box"/>
          <p:cNvSpPr/>
          <p:nvPr/>
        </p:nvSpPr>
        <p:spPr>
          <a:xfrm>
            <a:off x="530352" y="5440680"/>
            <a:ext cx="11128248" cy="914400"/>
          </a:xfrm>
          <a:prstGeom prst="roundRect">
            <a:avLst>
              <a:gd name="adj" fmla="val 10000"/>
            </a:avLst>
          </a:prstGeom>
          <a:solidFill>
            <a:srgbClr val="000000"/>
          </a:solidFill>
          <a:ln/>
        </p:spPr>
        <p:txBody>
          <a:bodyPr/>
          <a:lstStyle/>
          <a:p>
            <a:endParaRPr lang="en-US">
              <a:solidFill>
                <a:srgbClr val="000000"/>
              </a:solidFill>
            </a:endParaRPr>
          </a:p>
        </p:txBody>
      </p:sp>
      <p:sp>
        <p:nvSpPr>
          <p:cNvPr id="33" name="Key takeaway"/>
          <p:cNvSpPr txBox="1"/>
          <p:nvPr/>
        </p:nvSpPr>
        <p:spPr>
          <a:xfrm>
            <a:off x="758952" y="5440680"/>
            <a:ext cx="10671048" cy="914400"/>
          </a:xfrm>
          <a:prstGeom prst="rect">
            <a:avLst/>
          </a:prstGeom>
          <a:noFill/>
          <a:ln/>
        </p:spPr>
        <p:txBody>
          <a:bodyPr wrap="square" lIns="0" tIns="0" rIns="0" bIns="0" rtlCol="0" anchor="ctr"/>
          <a:lstStyle/>
          <a:p>
            <a:pPr marL="0" indent="0">
              <a:buNone/>
            </a:pPr>
            <a:r>
              <a:rPr lang="en-US" sz="1400" b="1">
                <a:solidFill>
                  <a:srgbClr val="0391F2"/>
                </a:solidFill>
                <a:ea typeface="Proxima Nova" pitchFamily="34" charset="-122"/>
                <a:cs typeface="Proxima Nova" pitchFamily="34" charset="-120"/>
              </a:rPr>
              <a:t>The Key Takeaway: </a:t>
            </a:r>
            <a:r>
              <a:rPr lang="en-US" sz="1400">
                <a:solidFill>
                  <a:srgbClr val="FFFFFF"/>
                </a:solidFill>
                <a:ea typeface="Proxima Nova" pitchFamily="34" charset="-122"/>
                <a:cs typeface="Proxima Nova" pitchFamily="34" charset="-120"/>
              </a:rPr>
              <a:t>If we do nothing else, we must stop selling what we cannot properly deliver. This playbook is how we finally align how we scope, how we execute, and what the client expects from day one.</a:t>
            </a:r>
            <a:endParaRPr lang="en-US" sz="14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12.jpg"/>
          <p:cNvPicPr>
            <a:picLocks noChangeAspect="1"/>
          </p:cNvPicPr>
          <p:nvPr/>
        </p:nvPicPr>
        <p:blipFill>
          <a:blip r:embed="rId3"/>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318719"/>
            <a:ext cx="7000000" cy="2870201"/>
          </a:xfrm>
        </p:spPr>
        <p:txBody>
          <a:bodyPr/>
          <a:lstStyle/>
          <a:p>
            <a:r>
              <a:rPr>
                <a:latin typeface="+mn-lt"/>
              </a:rPr>
              <a:t>Accountability Framework</a:t>
            </a:r>
          </a:p>
        </p:txBody>
      </p:sp>
      <p:sp>
        <p:nvSpPr>
          <p:cNvPr id="3" name="Text Placeholder 2"/>
          <p:cNvSpPr>
            <a:spLocks noGrp="1"/>
          </p:cNvSpPr>
          <p:nvPr>
            <p:ph type="body" sz="quarter" idx="15"/>
          </p:nvPr>
        </p:nvSpPr>
        <p:spPr/>
        <p:txBody>
          <a:bodyPr/>
          <a:lstStyle/>
          <a:p>
            <a:r>
              <a:rPr>
                <a:latin typeface="+mn-lt"/>
              </a:rPr>
              <a:t>PRIORITY 02</a:t>
            </a:r>
          </a:p>
        </p:txBody>
      </p:sp>
      <p:sp>
        <p:nvSpPr>
          <p:cNvPr id="4" name="TextBox 3"/>
          <p:cNvSpPr txBox="1"/>
          <p:nvPr/>
        </p:nvSpPr>
        <p:spPr>
          <a:xfrm>
            <a:off x="914400" y="4069080"/>
            <a:ext cx="6766560" cy="1015663"/>
          </a:xfrm>
          <a:prstGeom prst="rect">
            <a:avLst/>
          </a:prstGeom>
          <a:noFill/>
        </p:spPr>
        <p:txBody>
          <a:bodyPr wrap="square">
            <a:spAutoFit/>
          </a:bodyPr>
          <a:lstStyle/>
          <a:p>
            <a:r>
              <a:rPr sz="2000">
                <a:solidFill>
                  <a:srgbClr val="FFFFFF"/>
                </a:solidFill>
              </a:rPr>
              <a:t>Define accountability for every project, with clear delivery roles, executive sponsorship, and regular reviews that highlight high risk projects.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k_rail13.jpg"/>
          <p:cNvPicPr>
            <a:picLocks noChangeAspect="1"/>
          </p:cNvPicPr>
          <p:nvPr/>
        </p:nvPicPr>
        <p:blipFill>
          <a:blip r:embed="rId4"/>
          <a:stretch>
            <a:fillRect/>
          </a:stretch>
        </p:blipFill>
        <p:spPr>
          <a:xfrm>
            <a:off x="0" y="0"/>
            <a:ext cx="3657600" cy="6858000"/>
          </a:xfrm>
          <a:prstGeom prst="rect">
            <a:avLst/>
          </a:prstGeom>
        </p:spPr>
      </p:pic>
      <p:sp>
        <p:nvSpPr>
          <p:cNvPr id="28" name="Rectangle 27"/>
          <p:cNvSpPr/>
          <p:nvPr/>
        </p:nvSpPr>
        <p:spPr>
          <a:xfrm>
            <a:off x="0" y="0"/>
            <a:ext cx="3657600" cy="6858000"/>
          </a:xfrm>
          <a:prstGeom prst="rect">
            <a:avLst/>
          </a:prstGeom>
          <a:gradFill rotWithShape="1">
            <a:gsLst>
              <a:gs pos="0">
                <a:srgbClr val="000000">
                  <a:alpha val="70000"/>
                </a:srgbClr>
              </a:gs>
              <a:gs pos="50000">
                <a:srgbClr val="000000">
                  <a:alpha val="60000"/>
                </a:srgbClr>
              </a:gs>
              <a:gs pos="100000">
                <a:srgbClr val="000000">
                  <a:alpha val="88000"/>
                </a:srgbClr>
              </a:gs>
            </a:gsLst>
            <a:lin ang="5400000" scaled="0"/>
          </a:gradFill>
          <a:ln>
            <a:noFill/>
          </a:ln>
        </p:spPr>
        <p:txBody>
          <a:bodyPr rtlCol="0" anchor="ctr"/>
          <a:lstStyle/>
          <a:p>
            <a:pPr algn="ctr"/>
          </a:p>
        </p:txBody>
      </p:sp>
      <p:sp>
        <p:nvSpPr>
          <p:cNvPr id="2" name="Title 1"/>
          <p:cNvSpPr>
            <a:spLocks noGrp="1"/>
          </p:cNvSpPr>
          <p:nvPr>
            <p:ph type="title"/>
          </p:nvPr>
        </p:nvSpPr>
        <p:spPr>
          <a:xfrm>
            <a:off x="640080" y="2103120"/>
            <a:ext cx="2754970" cy="1325880"/>
          </a:xfrm>
        </p:spPr>
        <p:txBody>
          <a:bodyPr wrap="square" anchor="t"/>
          <a:lstStyle/>
          <a:p>
            <a:r>
              <a:rPr sz="2400" b="1">
                <a:solidFill>
                  <a:srgbClr val="FFFFFF"/>
                </a:solidFill>
                <a:latin typeface="+mn-lt"/>
              </a:rPr>
              <a:t>Accountability Framework</a:t>
            </a:r>
          </a:p>
        </p:txBody>
      </p:sp>
      <p:sp>
        <p:nvSpPr>
          <p:cNvPr id="8" name="Label"/>
          <p:cNvSpPr txBox="1"/>
          <p:nvPr/>
        </p:nvSpPr>
        <p:spPr>
          <a:xfrm>
            <a:off x="640080" y="1828800"/>
            <a:ext cx="2377440" cy="228600"/>
          </a:xfrm>
          <a:prstGeom prst="rect">
            <a:avLst/>
          </a:prstGeom>
          <a:noFill/>
          <a:ln/>
        </p:spPr>
        <p:txBody>
          <a:bodyPr wrap="square" lIns="0" tIns="0" rIns="0" bIns="0" rtlCol="0" anchor="ctr"/>
          <a:lstStyle/>
          <a:p>
            <a:pPr marL="0" indent="0">
              <a:buNone/>
            </a:pPr>
            <a:r>
              <a:rPr lang="en-US" sz="900" b="1" kern="0" spc="300">
                <a:solidFill>
                  <a:srgbClr val="FFFFFF"/>
                </a:solidFill>
              </a:rPr>
              <a:t>WIP</a:t>
            </a:r>
            <a:endParaRPr lang="en-US" sz="900">
              <a:solidFill>
                <a:srgbClr val="FFFFFF"/>
              </a:solidFill>
            </a:endParaRPr>
          </a:p>
        </p:txBody>
      </p:sp>
      <p:sp>
        <p:nvSpPr>
          <p:cNvPr id="11" name="Panel copy"/>
          <p:cNvSpPr txBox="1"/>
          <p:nvPr/>
        </p:nvSpPr>
        <p:spPr>
          <a:xfrm>
            <a:off x="640080" y="3200400"/>
            <a:ext cx="2651760" cy="2651760"/>
          </a:xfrm>
          <a:prstGeom prst="rect">
            <a:avLst/>
          </a:prstGeom>
          <a:noFill/>
          <a:ln/>
        </p:spPr>
        <p:txBody>
          <a:bodyPr wrap="square" lIns="0" tIns="0" rIns="0" bIns="0" rtlCol="0" anchor="t"/>
          <a:lstStyle/>
          <a:p>
            <a:pPr>
              <a:spcAft>
                <a:spcPts val="800"/>
              </a:spcAft>
            </a:pPr>
            <a:r>
              <a:rPr lang="en-US" sz="1200" dirty="0">
                <a:solidFill>
                  <a:srgbClr val="FFFFFF"/>
                </a:solidFill>
                <a:ea typeface="Proxima Nova" pitchFamily="34" charset="-122"/>
                <a:cs typeface="Proxima Nova" pitchFamily="34" charset="-120"/>
              </a:rPr>
              <a:t>To best support our integrated business units, we are refining </a:t>
            </a:r>
            <a:r>
              <a:rPr lang="en-US" sz="1200" dirty="0">
                <a:solidFill>
                  <a:srgbClr val="FFFFFF"/>
                </a:solidFill>
                <a:cs typeface="Proxima Nova" pitchFamily="34" charset="-120"/>
              </a:rPr>
              <a:t>how we manage accounts with multiple projects or multitrack projects to ensure project teams have precise leadership support, rather than running as one </a:t>
            </a:r>
            <a:r>
              <a:rPr lang="en-US" sz="1200" dirty="0">
                <a:solidFill>
                  <a:srgbClr val="FFFFFF"/>
                </a:solidFill>
                <a:ea typeface="Proxima Nova" pitchFamily="34" charset="-122"/>
                <a:cs typeface="Proxima Nova" pitchFamily="34" charset="-120"/>
              </a:rPr>
              <a:t>giant portfolio.</a:t>
            </a:r>
            <a:endParaRPr lang="en-US" sz="1200" dirty="0">
              <a:solidFill>
                <a:srgbClr val="FFFFFF"/>
              </a:solidFill>
            </a:endParaRPr>
          </a:p>
          <a:p>
            <a:pPr marL="0" indent="0">
              <a:spcAft>
                <a:spcPts val="800"/>
              </a:spcAft>
              <a:buNone/>
            </a:pPr>
            <a:r>
              <a:rPr lang="en-US" sz="1200" dirty="0">
                <a:solidFill>
                  <a:srgbClr val="FFFFFF"/>
                </a:solidFill>
                <a:ea typeface="Proxima Nova" pitchFamily="34" charset="-122"/>
                <a:cs typeface="Proxima Nova" pitchFamily="34" charset="-120"/>
              </a:rPr>
              <a:t>We are launching a workstream to define standard delivery roles and establish clear, supportive project-level structures across all major accounts.</a:t>
            </a:r>
            <a:endParaRPr lang="en-US" sz="1200" dirty="0">
              <a:solidFill>
                <a:srgbClr val="FFFFFF"/>
              </a:solidFill>
            </a:endParaRPr>
          </a:p>
        </p:txBody>
      </p:sp>
      <p:sp>
        <p:nvSpPr>
          <p:cNvPr id="12" name="Takeaway band"/>
          <p:cNvSpPr/>
          <p:nvPr/>
        </p:nvSpPr>
        <p:spPr>
          <a:xfrm>
            <a:off x="3657600" y="5669280"/>
            <a:ext cx="8534095" cy="1188720"/>
          </a:xfrm>
          <a:prstGeom prst="rect">
            <a:avLst/>
          </a:prstGeom>
          <a:solidFill>
            <a:srgbClr val="000000"/>
          </a:solidFill>
          <a:ln/>
        </p:spPr>
        <p:txBody>
          <a:bodyPr/>
          <a:lstStyle/>
          <a:p>
            <a:endParaRPr lang="en-US">
              <a:solidFill>
                <a:srgbClr val="000000"/>
              </a:solidFill>
            </a:endParaRPr>
          </a:p>
        </p:txBody>
      </p:sp>
      <p:sp>
        <p:nvSpPr>
          <p:cNvPr id="13" name="Key takeaway"/>
          <p:cNvSpPr txBox="1"/>
          <p:nvPr/>
        </p:nvSpPr>
        <p:spPr>
          <a:xfrm>
            <a:off x="4114800" y="5669280"/>
            <a:ext cx="7619695" cy="1188720"/>
          </a:xfrm>
          <a:prstGeom prst="rect">
            <a:avLst/>
          </a:prstGeom>
          <a:noFill/>
          <a:ln/>
        </p:spPr>
        <p:txBody>
          <a:bodyPr wrap="square" lIns="0" tIns="0" rIns="0" bIns="0" rtlCol="0" anchor="ctr"/>
          <a:lstStyle/>
          <a:p>
            <a:pPr marL="0" indent="0">
              <a:buNone/>
            </a:pPr>
            <a:r>
              <a:rPr lang="en-US" sz="1250" b="1">
                <a:solidFill>
                  <a:srgbClr val="0391F2"/>
                </a:solidFill>
                <a:ea typeface="Proxima Nova" pitchFamily="34" charset="-122"/>
                <a:cs typeface="Proxima Nova" pitchFamily="34" charset="-120"/>
              </a:rPr>
              <a:t>The Key Takeaway: </a:t>
            </a:r>
            <a:r>
              <a:rPr lang="en-US" sz="1250">
                <a:solidFill>
                  <a:srgbClr val="FFFFFF"/>
                </a:solidFill>
                <a:ea typeface="Proxima Nova" pitchFamily="34" charset="-122"/>
                <a:cs typeface="Proxima Nova" pitchFamily="34" charset="-120"/>
              </a:rPr>
              <a:t>Far too many key projects lack a shared understanding of who is accountable for the work that we do. This initiative is designed to codify and transform delivery leadership and accountability for every project at Merkle.</a:t>
            </a:r>
            <a:endParaRPr lang="en-US" sz="1250">
              <a:solidFill>
                <a:srgbClr val="000000"/>
              </a:solidFill>
            </a:endParaRPr>
          </a:p>
        </p:txBody>
      </p:sp>
      <p:sp>
        <p:nvSpPr>
          <p:cNvPr id="14" name="Cell heading"/>
          <p:cNvSpPr txBox="1"/>
          <p:nvPr/>
        </p:nvSpPr>
        <p:spPr>
          <a:xfrm>
            <a:off x="4114800" y="457200"/>
            <a:ext cx="2395728" cy="411480"/>
          </a:xfrm>
          <a:prstGeom prst="rect">
            <a:avLst/>
          </a:prstGeom>
          <a:noFill/>
          <a:ln/>
        </p:spPr>
        <p:txBody>
          <a:bodyPr wrap="square" lIns="0" tIns="0" rIns="0" bIns="0" rtlCol="0" anchor="t"/>
          <a:lstStyle/>
          <a:p>
            <a:pPr marL="0" indent="0">
              <a:buNone/>
            </a:pPr>
            <a:r>
              <a:rPr lang="en-US" sz="1300" b="1">
                <a:solidFill>
                  <a:srgbClr val="000000"/>
                </a:solidFill>
              </a:rPr>
              <a:t>Accountability Clarified</a:t>
            </a:r>
          </a:p>
          <a:p>
            <a:pPr marL="0" indent="0">
              <a:buNone/>
            </a:pPr>
            <a:endParaRPr lang="en-US" sz="1300" b="1">
              <a:solidFill>
                <a:srgbClr val="000000"/>
              </a:solidFill>
            </a:endParaRPr>
          </a:p>
          <a:p>
            <a:pPr marL="0" indent="0">
              <a:buNone/>
            </a:pPr>
            <a:endParaRPr lang="en-US" sz="1300">
              <a:solidFill>
                <a:srgbClr val="000000"/>
              </a:solidFill>
            </a:endParaRPr>
          </a:p>
        </p:txBody>
      </p:sp>
      <p:sp>
        <p:nvSpPr>
          <p:cNvPr id="15" name="Cell copy"/>
          <p:cNvSpPr txBox="1"/>
          <p:nvPr/>
        </p:nvSpPr>
        <p:spPr>
          <a:xfrm>
            <a:off x="4114800" y="914400"/>
            <a:ext cx="2395728" cy="2286000"/>
          </a:xfrm>
          <a:prstGeom prst="rect">
            <a:avLst/>
          </a:prstGeom>
          <a:noFill/>
          <a:ln/>
        </p:spPr>
        <p:txBody>
          <a:bodyPr wrap="square" lIns="0" tIns="0" rIns="0" bIns="0" rtlCol="0" anchor="t"/>
          <a:lstStyle/>
          <a:p>
            <a:pPr>
              <a:spcAft>
                <a:spcPts val="500"/>
              </a:spcAft>
            </a:pPr>
            <a:r>
              <a:rPr lang="en-US" sz="1200">
                <a:solidFill>
                  <a:srgbClr val="000000"/>
                </a:solidFill>
                <a:ea typeface="Proxima Nova" pitchFamily="34" charset="-122"/>
                <a:cs typeface="Proxima Nova" pitchFamily="34" charset="-120"/>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endParaRPr lang="en-US" sz="1200">
              <a:solidFill>
                <a:srgbClr val="000000"/>
              </a:solidFill>
            </a:endParaRPr>
          </a:p>
        </p:txBody>
      </p:sp>
      <p:sp>
        <p:nvSpPr>
          <p:cNvPr id="16" name="Cell heading"/>
          <p:cNvSpPr txBox="1"/>
          <p:nvPr/>
        </p:nvSpPr>
        <p:spPr>
          <a:xfrm>
            <a:off x="6693408" y="457200"/>
            <a:ext cx="2395728" cy="411480"/>
          </a:xfrm>
          <a:prstGeom prst="rect">
            <a:avLst/>
          </a:prstGeom>
          <a:noFill/>
          <a:ln/>
        </p:spPr>
        <p:txBody>
          <a:bodyPr wrap="square" lIns="0" tIns="0" rIns="0" bIns="0" rtlCol="0" anchor="t"/>
          <a:lstStyle/>
          <a:p>
            <a:pPr marL="0" indent="0">
              <a:buNone/>
            </a:pPr>
            <a:r>
              <a:rPr lang="en-US" sz="1300" b="1">
                <a:solidFill>
                  <a:srgbClr val="0328D1"/>
                </a:solidFill>
              </a:rPr>
              <a:t>Defining Essential Roles</a:t>
            </a:r>
          </a:p>
          <a:p>
            <a:pPr marL="0" indent="0">
              <a:buNone/>
            </a:pPr>
            <a:endParaRPr lang="en-US" sz="1300" b="1">
              <a:solidFill>
                <a:srgbClr val="0328D1"/>
              </a:solidFill>
            </a:endParaRPr>
          </a:p>
          <a:p>
            <a:pPr marL="0" indent="0">
              <a:buNone/>
            </a:pPr>
            <a:endParaRPr lang="en-US" sz="1300" b="1">
              <a:solidFill>
                <a:srgbClr val="0328D1"/>
              </a:solidFill>
            </a:endParaRPr>
          </a:p>
        </p:txBody>
      </p:sp>
      <p:sp>
        <p:nvSpPr>
          <p:cNvPr id="17" name="Cell copy"/>
          <p:cNvSpPr txBox="1"/>
          <p:nvPr/>
        </p:nvSpPr>
        <p:spPr>
          <a:xfrm>
            <a:off x="6693408" y="914400"/>
            <a:ext cx="2395728" cy="2286000"/>
          </a:xfrm>
          <a:prstGeom prst="rect">
            <a:avLst/>
          </a:prstGeom>
          <a:noFill/>
          <a:ln/>
        </p:spPr>
        <p:txBody>
          <a:bodyPr wrap="square" lIns="0" tIns="0" rIns="0" bIns="0" rtlCol="0" anchor="t"/>
          <a:lstStyle/>
          <a:p>
            <a:pPr>
              <a:spcAft>
                <a:spcPts val="500"/>
              </a:spcAft>
            </a:pPr>
            <a:r>
              <a:rPr lang="en-US" sz="1200">
                <a:solidFill>
                  <a:srgbClr val="000000"/>
                </a:solidFill>
                <a:ea typeface="Proxima Nova" pitchFamily="34" charset="-122"/>
                <a:cs typeface="Proxima Nova" pitchFamily="34" charset="-120"/>
              </a:rPr>
              <a:t>As new accountability models are defined, new roles may be necessary. We will establish the </a:t>
            </a:r>
            <a:r>
              <a:rPr lang="en-US" sz="1200" b="1">
                <a:solidFill>
                  <a:srgbClr val="000000"/>
                </a:solidFill>
                <a:ea typeface="Proxima Nova" pitchFamily="34" charset="-122"/>
                <a:cs typeface="Proxima Nova" pitchFamily="34" charset="-120"/>
              </a:rPr>
              <a:t>essential delivery roles needed to support this model</a:t>
            </a:r>
            <a:r>
              <a:rPr lang="en-US" sz="1200">
                <a:solidFill>
                  <a:srgbClr val="000000"/>
                </a:solidFill>
                <a:ea typeface="Proxima Nova" pitchFamily="34" charset="-122"/>
                <a:cs typeface="Proxima Nova" pitchFamily="34" charset="-120"/>
              </a:rPr>
              <a:t> and clarify existing roles to avoid overlap and gaps.</a:t>
            </a:r>
            <a:endParaRPr lang="en-US" sz="1200">
              <a:solidFill>
                <a:srgbClr val="000000"/>
              </a:solidFill>
            </a:endParaRPr>
          </a:p>
          <a:p>
            <a:pPr marL="0" indent="0">
              <a:spcAft>
                <a:spcPts val="500"/>
              </a:spcAft>
              <a:buNone/>
            </a:pPr>
            <a:endParaRPr lang="en-US" sz="1200">
              <a:solidFill>
                <a:srgbClr val="000000"/>
              </a:solidFill>
            </a:endParaRPr>
          </a:p>
        </p:txBody>
      </p:sp>
      <p:sp>
        <p:nvSpPr>
          <p:cNvPr id="18" name="Cell heading"/>
          <p:cNvSpPr txBox="1"/>
          <p:nvPr/>
        </p:nvSpPr>
        <p:spPr>
          <a:xfrm>
            <a:off x="9272016" y="457200"/>
            <a:ext cx="2395728" cy="411480"/>
          </a:xfrm>
          <a:prstGeom prst="rect">
            <a:avLst/>
          </a:prstGeom>
          <a:noFill/>
          <a:ln/>
        </p:spPr>
        <p:txBody>
          <a:bodyPr wrap="square" lIns="0" tIns="0" rIns="0" bIns="0" rtlCol="0" anchor="t"/>
          <a:lstStyle/>
          <a:p>
            <a:pPr marL="0" indent="0">
              <a:buNone/>
            </a:pPr>
            <a:r>
              <a:rPr lang="en-US" sz="1300" b="1">
                <a:solidFill>
                  <a:srgbClr val="000000"/>
                </a:solidFill>
              </a:rPr>
              <a:t>Growth, Client Service and Executive Sponsorship</a:t>
            </a:r>
          </a:p>
          <a:p>
            <a:pPr marL="0" indent="0">
              <a:buNone/>
            </a:pPr>
            <a:endParaRPr lang="en-US" sz="1300" b="1">
              <a:solidFill>
                <a:srgbClr val="000000"/>
              </a:solidFill>
            </a:endParaRPr>
          </a:p>
        </p:txBody>
      </p:sp>
      <p:sp>
        <p:nvSpPr>
          <p:cNvPr id="19" name="Cell copy"/>
          <p:cNvSpPr txBox="1"/>
          <p:nvPr/>
        </p:nvSpPr>
        <p:spPr>
          <a:xfrm>
            <a:off x="9272016" y="914400"/>
            <a:ext cx="2395728" cy="2286000"/>
          </a:xfrm>
          <a:prstGeom prst="rect">
            <a:avLst/>
          </a:prstGeom>
          <a:noFill/>
          <a:ln/>
        </p:spPr>
        <p:txBody>
          <a:bodyPr wrap="square" lIns="0" tIns="0" rIns="0" bIns="0" rtlCol="0" anchor="t"/>
          <a:lstStyle/>
          <a:p>
            <a:pPr>
              <a:spcAft>
                <a:spcPts val="500"/>
              </a:spcAft>
            </a:pPr>
            <a:r>
              <a:rPr lang="en-US" sz="1200">
                <a:solidFill>
                  <a:srgbClr val="000000"/>
                </a:solidFill>
                <a:cs typeface="Proxima Nova" pitchFamily="34" charset="-120"/>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endParaRPr lang="en-US" sz="1200">
              <a:solidFill>
                <a:srgbClr val="000000"/>
              </a:solidFill>
            </a:endParaRPr>
          </a:p>
        </p:txBody>
      </p:sp>
      <p:sp>
        <p:nvSpPr>
          <p:cNvPr id="20" name="Cell heading"/>
          <p:cNvSpPr txBox="1"/>
          <p:nvPr/>
        </p:nvSpPr>
        <p:spPr>
          <a:xfrm>
            <a:off x="4114800" y="3246120"/>
            <a:ext cx="2395728" cy="411480"/>
          </a:xfrm>
          <a:prstGeom prst="rect">
            <a:avLst/>
          </a:prstGeom>
          <a:noFill/>
          <a:ln/>
        </p:spPr>
        <p:txBody>
          <a:bodyPr wrap="square" lIns="0" tIns="0" rIns="0" bIns="0" rtlCol="0" anchor="t"/>
          <a:lstStyle/>
          <a:p>
            <a:pPr marL="0" indent="0">
              <a:buNone/>
            </a:pPr>
            <a:r>
              <a:rPr lang="en-US" sz="1300" b="1">
                <a:solidFill>
                  <a:srgbClr val="0328D1"/>
                </a:solidFill>
              </a:rPr>
              <a:t>Change Management will be Key</a:t>
            </a:r>
            <a:endParaRPr lang="en-US" sz="1300">
              <a:solidFill>
                <a:srgbClr val="000000"/>
              </a:solidFill>
            </a:endParaRPr>
          </a:p>
        </p:txBody>
      </p:sp>
      <p:sp>
        <p:nvSpPr>
          <p:cNvPr id="21" name="Cell copy"/>
          <p:cNvSpPr txBox="1"/>
          <p:nvPr/>
        </p:nvSpPr>
        <p:spPr>
          <a:xfrm>
            <a:off x="4114800" y="3703320"/>
            <a:ext cx="2395728" cy="1920240"/>
          </a:xfrm>
          <a:prstGeom prst="rect">
            <a:avLst/>
          </a:prstGeom>
          <a:noFill/>
          <a:ln/>
        </p:spPr>
        <p:txBody>
          <a:bodyPr wrap="square" lIns="0" tIns="0" rIns="0" bIns="0" rtlCol="0" anchor="t"/>
          <a:lstStyle/>
          <a:p>
            <a:pPr marL="0" indent="0">
              <a:spcAft>
                <a:spcPts val="500"/>
              </a:spcAft>
              <a:buNone/>
            </a:pPr>
            <a:r>
              <a:rPr lang="en-US" sz="1200">
                <a:solidFill>
                  <a:srgbClr val="000000"/>
                </a:solidFill>
                <a:ea typeface="Proxima Nova" pitchFamily="34" charset="-122"/>
                <a:cs typeface="Proxima Nova" pitchFamily="34" charset="-120"/>
              </a:rPr>
              <a:t>These changes will represent modifications to our ways of working and new standards which we will need to taught, supported and enforced. Training and continuous improvement will be key to helping the organization embrace new structures and ensure we learn from what works.</a:t>
            </a:r>
            <a:endParaRPr lang="en-US" sz="1200">
              <a:solidFill>
                <a:srgbClr val="000000"/>
              </a:solidFill>
            </a:endParaRPr>
          </a:p>
        </p:txBody>
      </p:sp>
      <p:sp>
        <p:nvSpPr>
          <p:cNvPr id="22" name="Cell heading"/>
          <p:cNvSpPr txBox="1"/>
          <p:nvPr/>
        </p:nvSpPr>
        <p:spPr>
          <a:xfrm>
            <a:off x="6693408" y="3246120"/>
            <a:ext cx="2395728" cy="411480"/>
          </a:xfrm>
          <a:prstGeom prst="rect">
            <a:avLst/>
          </a:prstGeom>
          <a:noFill/>
          <a:ln/>
        </p:spPr>
        <p:txBody>
          <a:bodyPr wrap="square" lIns="0" tIns="0" rIns="0" bIns="0" rtlCol="0" anchor="t"/>
          <a:lstStyle/>
          <a:p>
            <a:r>
              <a:rPr lang="en-US" sz="1300" b="1">
                <a:solidFill>
                  <a:srgbClr val="000000"/>
                </a:solidFill>
              </a:rPr>
              <a:t>Phased Rollout of Regular Reviews</a:t>
            </a:r>
          </a:p>
        </p:txBody>
      </p:sp>
      <p:sp>
        <p:nvSpPr>
          <p:cNvPr id="23" name="Cell copy"/>
          <p:cNvSpPr txBox="1"/>
          <p:nvPr/>
        </p:nvSpPr>
        <p:spPr>
          <a:xfrm>
            <a:off x="6693408" y="3703320"/>
            <a:ext cx="2395728" cy="1920240"/>
          </a:xfrm>
          <a:prstGeom prst="rect">
            <a:avLst/>
          </a:prstGeom>
          <a:noFill/>
          <a:ln/>
        </p:spPr>
        <p:txBody>
          <a:bodyPr wrap="square" lIns="0" tIns="0" rIns="0" bIns="0" rtlCol="0" anchor="t"/>
          <a:lstStyle/>
          <a:p>
            <a:pPr>
              <a:spcAft>
                <a:spcPts val="500"/>
              </a:spcAft>
            </a:pPr>
            <a:r>
              <a:rPr lang="en-US" sz="1200">
                <a:solidFill>
                  <a:srgbClr val="000000"/>
                </a:solidFill>
                <a:ea typeface="Proxima Nova" pitchFamily="34" charset="-122"/>
                <a:cs typeface="Proxima Nova"/>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endParaRPr lang="en-US" sz="1200">
              <a:solidFill>
                <a:srgbClr val="000000"/>
              </a:solidFill>
              <a:cs typeface="Proxima Nova"/>
            </a:endParaRPr>
          </a:p>
        </p:txBody>
      </p:sp>
      <p:sp>
        <p:nvSpPr>
          <p:cNvPr id="24" name="Cell heading"/>
          <p:cNvSpPr txBox="1"/>
          <p:nvPr/>
        </p:nvSpPr>
        <p:spPr>
          <a:xfrm>
            <a:off x="9272016" y="3246120"/>
            <a:ext cx="2395728" cy="411480"/>
          </a:xfrm>
          <a:prstGeom prst="rect">
            <a:avLst/>
          </a:prstGeom>
          <a:noFill/>
          <a:ln/>
        </p:spPr>
        <p:txBody>
          <a:bodyPr wrap="square" lIns="0" tIns="0" rIns="0" bIns="0" rtlCol="0" anchor="t"/>
          <a:lstStyle/>
          <a:p>
            <a:pPr marL="0" indent="0">
              <a:buNone/>
            </a:pPr>
            <a:r>
              <a:rPr lang="en-US" sz="1300" b="1">
                <a:solidFill>
                  <a:srgbClr val="0328D1"/>
                </a:solidFill>
              </a:rPr>
              <a:t>Next Steps</a:t>
            </a:r>
            <a:endParaRPr lang="en-US" sz="1300">
              <a:solidFill>
                <a:srgbClr val="000000"/>
              </a:solidFill>
            </a:endParaRPr>
          </a:p>
        </p:txBody>
      </p:sp>
      <p:sp>
        <p:nvSpPr>
          <p:cNvPr id="25" name="Cell copy"/>
          <p:cNvSpPr txBox="1"/>
          <p:nvPr/>
        </p:nvSpPr>
        <p:spPr>
          <a:xfrm>
            <a:off x="9272016" y="3703320"/>
            <a:ext cx="2395728" cy="1920240"/>
          </a:xfrm>
          <a:prstGeom prst="rect">
            <a:avLst/>
          </a:prstGeom>
          <a:noFill/>
          <a:ln/>
        </p:spPr>
        <p:txBody>
          <a:bodyPr wrap="square" lIns="0" tIns="0" rIns="0" bIns="0" rtlCol="0" anchor="t"/>
          <a:lstStyle/>
          <a:p>
            <a:pPr marL="0" indent="0">
              <a:spcAft>
                <a:spcPts val="500"/>
              </a:spcAft>
              <a:buNone/>
            </a:pPr>
            <a:r>
              <a:rPr lang="en-US" sz="1200">
                <a:solidFill>
                  <a:srgbClr val="000000"/>
                </a:solidFill>
                <a:ea typeface="Proxima Nova" pitchFamily="34" charset="-122"/>
                <a:cs typeface="Proxima Nova" pitchFamily="34" charset="-120"/>
              </a:rPr>
              <a:t>BU COOs and Enterprise Project Management will co-lead this initiative, partnering to lock in the key accounts in each BU and define the required core roles for the Q4 launch.</a:t>
            </a:r>
            <a:endParaRPr lang="en-US" sz="1200">
              <a:solidFill>
                <a:srgbClr val="000000"/>
              </a:solidFill>
            </a:endParaRPr>
          </a:p>
        </p:txBody>
      </p:sp>
      <p:pic>
        <p:nvPicPr>
          <p:cNvPr id="26" name="Picture 25" descr="image.png"/>
          <p:cNvPicPr>
            <a:picLocks noChangeAspect="1"/>
          </p:cNvPicPr>
          <p:nvPr/>
        </p:nvPicPr>
        <p:blipFill>
          <a:blip r:embed="rId3"/>
          <a:stretch>
            <a:fillRect/>
          </a:stretch>
        </p:blipFill>
        <p:spPr>
          <a:xfrm>
            <a:off x="640080" y="6400800"/>
            <a:ext cx="274320" cy="1501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14.jpg"/>
          <p:cNvPicPr>
            <a:picLocks noChangeAspect="1"/>
          </p:cNvPicPr>
          <p:nvPr/>
        </p:nvPicPr>
        <p:blipFill>
          <a:blip r:embed="rId3"/>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318719"/>
            <a:ext cx="7000000" cy="2870201"/>
          </a:xfrm>
        </p:spPr>
        <p:txBody>
          <a:bodyPr/>
          <a:lstStyle/>
          <a:p>
            <a:r>
              <a:rPr>
                <a:latin typeface="+mn-lt"/>
              </a:rPr>
              <a:t>Leadership Dashboards</a:t>
            </a:r>
          </a:p>
        </p:txBody>
      </p:sp>
      <p:sp>
        <p:nvSpPr>
          <p:cNvPr id="3" name="Text Placeholder 2"/>
          <p:cNvSpPr>
            <a:spLocks noGrp="1"/>
          </p:cNvSpPr>
          <p:nvPr>
            <p:ph type="body" sz="quarter" idx="15"/>
          </p:nvPr>
        </p:nvSpPr>
        <p:spPr/>
        <p:txBody>
          <a:bodyPr/>
          <a:lstStyle/>
          <a:p>
            <a:r>
              <a:rPr>
                <a:latin typeface="+mn-lt"/>
              </a:rPr>
              <a:t>PRIORITY 03</a:t>
            </a:r>
          </a:p>
        </p:txBody>
      </p:sp>
      <p:sp>
        <p:nvSpPr>
          <p:cNvPr id="4" name="TextBox 3"/>
          <p:cNvSpPr txBox="1"/>
          <p:nvPr/>
        </p:nvSpPr>
        <p:spPr>
          <a:xfrm>
            <a:off x="914400" y="4069080"/>
            <a:ext cx="6766560" cy="707886"/>
          </a:xfrm>
          <a:prstGeom prst="rect">
            <a:avLst/>
          </a:prstGeom>
          <a:noFill/>
        </p:spPr>
        <p:txBody>
          <a:bodyPr wrap="square">
            <a:spAutoFit/>
          </a:bodyPr>
          <a:lstStyle/>
          <a:p>
            <a:r>
              <a:rPr sz="2000">
                <a:solidFill>
                  <a:srgbClr val="FFFFFF"/>
                </a:solidFill>
              </a:rPr>
              <a:t>One leadership dashboard: margin, capacity, forecast, rate cards, burn, and revenue recognition.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descr="k_edge15.jpg"/>
          <p:cNvPicPr>
            <a:picLocks noChangeAspect="1"/>
          </p:cNvPicPr>
          <p:nvPr/>
        </p:nvPicPr>
        <p:blipFill>
          <a:blip r:embed="rId2"/>
          <a:stretch>
            <a:fillRect/>
          </a:stretch>
        </p:blipFill>
        <p:spPr>
          <a:xfrm>
            <a:off x="7894320" y="0"/>
            <a:ext cx="4297680" cy="1207008"/>
          </a:xfrm>
          <a:prstGeom prst="rect">
            <a:avLst/>
          </a:prstGeom>
        </p:spPr>
      </p:pic>
      <p:sp>
        <p:nvSpPr>
          <p:cNvPr id="48" name="Rectangle 47"/>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49" name="Rectangle 48"/>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a:xfrm>
            <a:off x="530352" y="457200"/>
            <a:ext cx="11128248" cy="566928"/>
          </a:xfrm>
        </p:spPr>
        <p:txBody>
          <a:bodyPr/>
          <a:lstStyle/>
          <a:p>
            <a:r>
              <a:rPr>
                <a:latin typeface="+mn-lt"/>
              </a:rPr>
              <a:t>Leadership Dashboard</a:t>
            </a:r>
          </a:p>
        </p:txBody>
      </p:sp>
      <p:sp>
        <p:nvSpPr>
          <p:cNvPr id="41" name="Intro"/>
          <p:cNvSpPr txBox="1"/>
          <p:nvPr/>
        </p:nvSpPr>
        <p:spPr>
          <a:xfrm>
            <a:off x="533400" y="1346200"/>
            <a:ext cx="11125200" cy="457200"/>
          </a:xfrm>
          <a:prstGeom prst="rect">
            <a:avLst/>
          </a:prstGeom>
          <a:noFill/>
          <a:ln>
            <a:noFill/>
          </a:ln>
        </p:spPr>
        <p:txBody>
          <a:bodyPr wrap="square" lIns="0" tIns="0" rIns="0" bIns="0" rtlCol="0" anchor="t">
            <a:noAutofit/>
          </a:bodyPr>
          <a:lstStyle/>
          <a:p>
            <a:pPr marL="0" indent="0">
              <a:buNone/>
            </a:pPr>
            <a:r>
              <a:rPr lang="en-US" sz="1250" b="1">
                <a:solidFill>
                  <a:srgbClr val="000000"/>
                </a:solidFill>
              </a:rPr>
              <a:t>One Set of Numbers: </a:t>
            </a:r>
            <a:r>
              <a:rPr lang="en-US" sz="1250">
                <a:solidFill>
                  <a:srgbClr val="000000"/>
                </a:solidFill>
              </a:rPr>
              <a:t>One place to see the metrics that today live in too many reports — with AI doing the reconciliation, not a person.</a:t>
            </a:r>
          </a:p>
        </p:txBody>
      </p:sp>
      <p:sp>
        <p:nvSpPr>
          <p:cNvPr id="42" name="Card Problem"/>
          <p:cNvSpPr/>
          <p:nvPr/>
        </p:nvSpPr>
        <p:spPr>
          <a:xfrm>
            <a:off x="530352" y="1687576"/>
            <a:ext cx="3881285" cy="2286000"/>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54000" tIns="203200" rIns="254000" bIns="177800" rtlCol="0" anchor="t">
            <a:noAutofit/>
          </a:bodyPr>
          <a:lstStyle/>
          <a:p>
            <a:pPr marL="0" indent="0">
              <a:buNone/>
            </a:pPr>
            <a:r>
              <a:rPr lang="en-US" sz="1000" b="1" spc="300">
                <a:solidFill>
                  <a:srgbClr val="000000"/>
                </a:solidFill>
              </a:rPr>
              <a:t>THE PROBLEM</a:t>
            </a:r>
          </a:p>
          <a:p>
            <a:pPr>
              <a:spcBef>
                <a:spcPts val="1000"/>
              </a:spcBef>
            </a:pPr>
            <a:r>
              <a:rPr lang="en-US" sz="1200">
                <a:solidFill>
                  <a:srgbClr val="000000"/>
                </a:solidFill>
              </a:rPr>
              <a:t>We lack a singular place for leaders to go to see the health of their business.  </a:t>
            </a:r>
          </a:p>
          <a:p>
            <a:pPr>
              <a:spcBef>
                <a:spcPts val="1000"/>
              </a:spcBef>
            </a:pPr>
            <a:r>
              <a:rPr lang="en-US" sz="1200">
                <a:solidFill>
                  <a:srgbClr val="000000"/>
                </a:solidFill>
              </a:rPr>
              <a:t>Resource and financial data sit in separate systems, with no rate cards applied, no burn tracking, and no cross-BU revenue visibility (see Ugam/HelloWorld). </a:t>
            </a:r>
          </a:p>
        </p:txBody>
      </p:sp>
      <p:sp>
        <p:nvSpPr>
          <p:cNvPr id="43" name="Card What we need"/>
          <p:cNvSpPr/>
          <p:nvPr/>
        </p:nvSpPr>
        <p:spPr>
          <a:xfrm>
            <a:off x="4726268" y="1687576"/>
            <a:ext cx="3647770" cy="2286000"/>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54000" tIns="203200" rIns="254000" bIns="177800" rtlCol="0" anchor="t">
            <a:noAutofit/>
          </a:bodyPr>
          <a:lstStyle/>
          <a:p>
            <a:pPr marL="0" indent="0">
              <a:buNone/>
            </a:pPr>
            <a:r>
              <a:rPr lang="en-US" sz="1000" b="1" spc="300">
                <a:solidFill>
                  <a:srgbClr val="000000"/>
                </a:solidFill>
              </a:rPr>
              <a:t>WHAT WE NEED TO SOLVE</a:t>
            </a:r>
          </a:p>
          <a:p>
            <a:pPr>
              <a:spcBef>
                <a:spcPts val="1000"/>
              </a:spcBef>
            </a:pPr>
            <a:r>
              <a:rPr lang="en-US" sz="1200">
                <a:solidFill>
                  <a:srgbClr val="000000"/>
                </a:solidFill>
              </a:rPr>
              <a:t>One leadership dashboard, not just a data-reconciliation project. </a:t>
            </a:r>
          </a:p>
          <a:p>
            <a:pPr>
              <a:spcBef>
                <a:spcPts val="1000"/>
              </a:spcBef>
            </a:pPr>
            <a:r>
              <a:rPr lang="en-US" sz="1200">
                <a:solidFill>
                  <a:srgbClr val="000000"/>
                </a:solidFill>
              </a:rPr>
              <a:t>It needs to show revenue, margin, and capacity forecasts, manage rate cards and actuals-for-burn, and tie revenue recognition to operational reporting, all in a single page view.</a:t>
            </a:r>
          </a:p>
        </p:txBody>
      </p:sp>
      <p:sp>
        <p:nvSpPr>
          <p:cNvPr id="44" name="Card Why"/>
          <p:cNvSpPr/>
          <p:nvPr/>
        </p:nvSpPr>
        <p:spPr>
          <a:xfrm>
            <a:off x="8688669" y="1687576"/>
            <a:ext cx="2966884" cy="2286000"/>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54000" tIns="203200" rIns="254000" bIns="177800" rtlCol="0" anchor="t">
            <a:noAutofit/>
          </a:bodyPr>
          <a:lstStyle/>
          <a:p>
            <a:pPr marL="0" indent="0">
              <a:buNone/>
            </a:pPr>
            <a:r>
              <a:rPr lang="en-US" sz="1000" b="1" spc="300">
                <a:solidFill>
                  <a:srgbClr val="000000"/>
                </a:solidFill>
              </a:rPr>
              <a:t>WHY?</a:t>
            </a:r>
          </a:p>
          <a:p>
            <a:pPr marL="0" indent="0">
              <a:spcBef>
                <a:spcPts val="1000"/>
              </a:spcBef>
              <a:buNone/>
            </a:pPr>
            <a:r>
              <a:rPr lang="en-US" sz="1200">
                <a:solidFill>
                  <a:srgbClr val="000000"/>
                </a:solidFill>
              </a:rPr>
              <a:t>We’re running the business off lagging metrics or incomplete ones.  </a:t>
            </a:r>
            <a:br>
              <a:rPr lang="en-US" sz="1200">
                <a:solidFill>
                  <a:srgbClr val="000000"/>
                </a:solidFill>
              </a:rPr>
            </a:br>
            <a:br>
              <a:rPr lang="en-US" sz="1200">
                <a:solidFill>
                  <a:srgbClr val="000000"/>
                </a:solidFill>
              </a:rPr>
            </a:br>
            <a:r>
              <a:rPr lang="en-US" sz="1200" i="1">
                <a:solidFill>
                  <a:srgbClr val="000000"/>
                </a:solidFill>
              </a:rPr>
              <a:t>Example: </a:t>
            </a:r>
            <a:r>
              <a:rPr lang="en-US" sz="1200">
                <a:solidFill>
                  <a:srgbClr val="000000"/>
                </a:solidFill>
              </a:rPr>
              <a:t>We can see client or project margin but not practice margin. And costs live in a Finance spreadsheet that we see once a month.</a:t>
            </a:r>
          </a:p>
        </p:txBody>
      </p:sp>
      <p:sp>
        <p:nvSpPr>
          <p:cNvPr id="45" name="Card Preliminary thoughts"/>
          <p:cNvSpPr/>
          <p:nvPr/>
        </p:nvSpPr>
        <p:spPr>
          <a:xfrm>
            <a:off x="530353" y="4329175"/>
            <a:ext cx="5422900" cy="1900463"/>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54000" tIns="177800" rIns="254000" bIns="152400" rtlCol="0" anchor="t">
            <a:noAutofit/>
          </a:bodyPr>
          <a:lstStyle/>
          <a:p>
            <a:pPr marL="0" indent="0">
              <a:buNone/>
            </a:pPr>
            <a:r>
              <a:rPr lang="en-US" sz="1000" b="1" spc="300">
                <a:solidFill>
                  <a:srgbClr val="000000"/>
                </a:solidFill>
              </a:rPr>
              <a:t>PRELIMINARY THOUGHTS</a:t>
            </a:r>
          </a:p>
          <a:p>
            <a:pPr marL="171450" indent="-171450">
              <a:spcBef>
                <a:spcPts val="800"/>
              </a:spcBef>
              <a:buFont typeface="Arial"/>
              <a:buChar char="•"/>
            </a:pPr>
            <a:r>
              <a:rPr lang="en-US" sz="1200">
                <a:solidFill>
                  <a:srgbClr val="000000"/>
                </a:solidFill>
              </a:rPr>
              <a:t>Dashboard of key metrics by BU (margin, revenue actuals compared to budget), top clients, average client margin, </a:t>
            </a:r>
            <a:r>
              <a:rPr lang="en-US" sz="1200" err="1">
                <a:solidFill>
                  <a:srgbClr val="000000"/>
                </a:solidFill>
              </a:rPr>
              <a:t>etc</a:t>
            </a:r>
            <a:r>
              <a:rPr lang="en-US" sz="1200">
                <a:solidFill>
                  <a:srgbClr val="000000"/>
                </a:solidFill>
              </a:rPr>
              <a:t>, that can be broken down by practice, L3, etc.</a:t>
            </a:r>
          </a:p>
          <a:p>
            <a:pPr marL="171450" indent="-171450">
              <a:spcBef>
                <a:spcPts val="400"/>
              </a:spcBef>
              <a:buFont typeface="Arial"/>
              <a:buChar char="•"/>
            </a:pPr>
            <a:r>
              <a:rPr lang="en-US" sz="1200">
                <a:solidFill>
                  <a:srgbClr val="000000"/>
                </a:solidFill>
              </a:rPr>
              <a:t>Will link out to existing reports for more details – no need to recreate the wheel for all metrics.</a:t>
            </a:r>
          </a:p>
          <a:p>
            <a:pPr marL="171450" indent="-171450">
              <a:spcBef>
                <a:spcPts val="400"/>
              </a:spcBef>
              <a:buFont typeface="Arial"/>
              <a:buChar char="•"/>
            </a:pPr>
            <a:r>
              <a:rPr lang="en-US" sz="1200">
                <a:solidFill>
                  <a:srgbClr val="000000"/>
                </a:solidFill>
              </a:rPr>
              <a:t>May need to be locked down to only key leaders based on what is included.</a:t>
            </a:r>
          </a:p>
        </p:txBody>
      </p:sp>
      <p:sp>
        <p:nvSpPr>
          <p:cNvPr id="46" name="Card Phases"/>
          <p:cNvSpPr/>
          <p:nvPr/>
        </p:nvSpPr>
        <p:spPr>
          <a:xfrm>
            <a:off x="6232653" y="4329175"/>
            <a:ext cx="5422900" cy="1900463"/>
          </a:xfrm>
          <a:prstGeom prst="roundRect">
            <a:avLst>
              <a:gd name="adj" fmla="val 540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54000" tIns="177800" rIns="254000" bIns="152400" rtlCol="0" anchor="t">
            <a:noAutofit/>
          </a:bodyPr>
          <a:lstStyle/>
          <a:p>
            <a:pPr marL="0" indent="0">
              <a:buNone/>
            </a:pPr>
            <a:r>
              <a:rPr lang="en-US" sz="1000" b="1" spc="300">
                <a:solidFill>
                  <a:srgbClr val="000000"/>
                </a:solidFill>
              </a:rPr>
              <a:t>NEXT STEPS</a:t>
            </a:r>
          </a:p>
          <a:p>
            <a:pPr marL="171450" indent="-171450">
              <a:buFont typeface="Arial" panose="020B0604020202020204" pitchFamily="34" charset="0"/>
              <a:buChar char="•"/>
            </a:pPr>
            <a:endParaRPr lang="en-US" sz="1000" b="1" spc="300">
              <a:solidFill>
                <a:srgbClr val="000000"/>
              </a:solidFill>
            </a:endParaRPr>
          </a:p>
          <a:p>
            <a:pPr marL="171450" indent="-171450">
              <a:buFont typeface="Arial" panose="020B0604020202020204" pitchFamily="34" charset="0"/>
              <a:buChar char="•"/>
            </a:pPr>
            <a:r>
              <a:rPr lang="en-US" sz="1200">
                <a:solidFill>
                  <a:srgbClr val="000000"/>
                </a:solidFill>
              </a:rPr>
              <a:t>Determine critical metrics for main dashboard</a:t>
            </a:r>
          </a:p>
          <a:p>
            <a:pPr marL="171450" indent="-171450">
              <a:buFont typeface="Arial" panose="020B0604020202020204" pitchFamily="34" charset="0"/>
              <a:buChar char="•"/>
            </a:pPr>
            <a:r>
              <a:rPr lang="en-US" sz="1200">
                <a:solidFill>
                  <a:srgbClr val="000000"/>
                </a:solidFill>
              </a:rPr>
              <a:t>Determine what’s available now and how to access the rest</a:t>
            </a:r>
          </a:p>
          <a:p>
            <a:pPr marL="171450" indent="-171450">
              <a:buFont typeface="Arial" panose="020B0604020202020204" pitchFamily="34" charset="0"/>
              <a:buChar char="•"/>
            </a:pPr>
            <a:r>
              <a:rPr lang="en-US" sz="1200">
                <a:solidFill>
                  <a:srgbClr val="000000"/>
                </a:solidFill>
              </a:rPr>
              <a:t>Create a demo view for initial phase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16.jpg"/>
          <p:cNvPicPr>
            <a:picLocks noChangeAspect="1"/>
          </p:cNvPicPr>
          <p:nvPr/>
        </p:nvPicPr>
        <p:blipFill>
          <a:blip r:embed="rId3"/>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318719"/>
            <a:ext cx="7000000" cy="2870201"/>
          </a:xfrm>
        </p:spPr>
        <p:txBody>
          <a:bodyPr/>
          <a:lstStyle/>
          <a:p>
            <a:r>
              <a:rPr>
                <a:latin typeface="+mn-lt"/>
              </a:rPr>
              <a:t>Intake Updates</a:t>
            </a:r>
          </a:p>
        </p:txBody>
      </p:sp>
      <p:sp>
        <p:nvSpPr>
          <p:cNvPr id="3" name="Text Placeholder 2"/>
          <p:cNvSpPr>
            <a:spLocks noGrp="1"/>
          </p:cNvSpPr>
          <p:nvPr>
            <p:ph type="body" sz="quarter" idx="15"/>
          </p:nvPr>
        </p:nvSpPr>
        <p:spPr/>
        <p:txBody>
          <a:bodyPr/>
          <a:lstStyle/>
          <a:p>
            <a:r>
              <a:rPr>
                <a:latin typeface="+mn-lt"/>
              </a:rPr>
              <a:t>PRIORITY 05</a:t>
            </a:r>
          </a:p>
        </p:txBody>
      </p:sp>
      <p:sp>
        <p:nvSpPr>
          <p:cNvPr id="4" name="TextBox 3"/>
          <p:cNvSpPr txBox="1"/>
          <p:nvPr/>
        </p:nvSpPr>
        <p:spPr>
          <a:xfrm>
            <a:off x="914400" y="4069080"/>
            <a:ext cx="6766560" cy="707886"/>
          </a:xfrm>
          <a:prstGeom prst="rect">
            <a:avLst/>
          </a:prstGeom>
          <a:noFill/>
        </p:spPr>
        <p:txBody>
          <a:bodyPr wrap="square">
            <a:spAutoFit/>
          </a:bodyPr>
          <a:lstStyle/>
          <a:p>
            <a:r>
              <a:rPr sz="2000">
                <a:solidFill>
                  <a:srgbClr val="FFFFFF"/>
                </a:solidFill>
              </a:rPr>
              <a:t>Upstream of delivery models: alias routing is live, with the SME case request tool and RACI updates underway.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descr="k_rail17.jpg"/>
          <p:cNvPicPr>
            <a:picLocks noChangeAspect="1"/>
          </p:cNvPicPr>
          <p:nvPr/>
        </p:nvPicPr>
        <p:blipFill>
          <a:blip r:embed="rId4"/>
          <a:stretch>
            <a:fillRect/>
          </a:stretch>
        </p:blipFill>
        <p:spPr>
          <a:xfrm>
            <a:off x="0" y="0"/>
            <a:ext cx="5586984" cy="6858000"/>
          </a:xfrm>
          <a:prstGeom prst="rect">
            <a:avLst/>
          </a:prstGeom>
        </p:spPr>
      </p:pic>
      <p:sp>
        <p:nvSpPr>
          <p:cNvPr id="48" name="Rectangle 47"/>
          <p:cNvSpPr/>
          <p:nvPr/>
        </p:nvSpPr>
        <p:spPr>
          <a:xfrm>
            <a:off x="0" y="0"/>
            <a:ext cx="5586984" cy="6858000"/>
          </a:xfrm>
          <a:prstGeom prst="rect">
            <a:avLst/>
          </a:prstGeom>
          <a:gradFill rotWithShape="1">
            <a:gsLst>
              <a:gs pos="0">
                <a:srgbClr val="000000">
                  <a:alpha val="70000"/>
                </a:srgbClr>
              </a:gs>
              <a:gs pos="50000">
                <a:srgbClr val="000000">
                  <a:alpha val="60000"/>
                </a:srgbClr>
              </a:gs>
              <a:gs pos="100000">
                <a:srgbClr val="000000">
                  <a:alpha val="88000"/>
                </a:srgbClr>
              </a:gs>
            </a:gsLst>
            <a:lin ang="5400000" scaled="0"/>
          </a:gradFill>
          <a:ln>
            <a:noFill/>
          </a:ln>
        </p:spPr>
        <p:txBody>
          <a:bodyPr rtlCol="0" anchor="ctr"/>
          <a:lstStyle/>
          <a:p>
            <a:pPr algn="ctr"/>
          </a:p>
        </p:txBody>
      </p:sp>
      <p:sp>
        <p:nvSpPr>
          <p:cNvPr id="2" name="Title 1"/>
          <p:cNvSpPr>
            <a:spLocks noGrp="1"/>
          </p:cNvSpPr>
          <p:nvPr>
            <p:ph type="title"/>
          </p:nvPr>
        </p:nvSpPr>
        <p:spPr>
          <a:xfrm>
            <a:off x="640080" y="2103120"/>
            <a:ext cx="4306824" cy="914400"/>
          </a:xfrm>
        </p:spPr>
        <p:txBody>
          <a:bodyPr wrap="square" anchor="t"/>
          <a:lstStyle/>
          <a:p>
            <a:r>
              <a:rPr sz="3400" b="1">
                <a:solidFill>
                  <a:srgbClr val="FFFFFF"/>
                </a:solidFill>
                <a:latin typeface="+mn-lt"/>
              </a:rPr>
              <a:t>Intake Updates</a:t>
            </a:r>
          </a:p>
        </p:txBody>
      </p:sp>
      <p:sp>
        <p:nvSpPr>
          <p:cNvPr id="13" name="Label"/>
          <p:cNvSpPr txBox="1"/>
          <p:nvPr/>
        </p:nvSpPr>
        <p:spPr>
          <a:xfrm>
            <a:off x="640080" y="1828800"/>
            <a:ext cx="4306824" cy="228600"/>
          </a:xfrm>
          <a:prstGeom prst="rect">
            <a:avLst/>
          </a:prstGeom>
          <a:noFill/>
          <a:ln/>
        </p:spPr>
        <p:txBody>
          <a:bodyPr wrap="square" lIns="0" tIns="0" rIns="0" bIns="0" rtlCol="0" anchor="ctr"/>
          <a:lstStyle/>
          <a:p>
            <a:pPr marL="0" indent="0">
              <a:buNone/>
            </a:pPr>
            <a:r>
              <a:rPr lang="en-US" sz="900" b="1" kern="0" spc="300">
                <a:solidFill>
                  <a:srgbClr val="FFFFFF"/>
                </a:solidFill>
              </a:rPr>
              <a:t>ALREADY IN MOTION</a:t>
            </a:r>
            <a:endParaRPr lang="en-US" sz="900">
              <a:solidFill>
                <a:srgbClr val="FFFFFF"/>
              </a:solidFill>
            </a:endParaRPr>
          </a:p>
        </p:txBody>
      </p:sp>
      <p:sp>
        <p:nvSpPr>
          <p:cNvPr id="16" name="Intro"/>
          <p:cNvSpPr txBox="1"/>
          <p:nvPr/>
        </p:nvSpPr>
        <p:spPr>
          <a:xfrm>
            <a:off x="640080" y="3063240"/>
            <a:ext cx="4206240" cy="731520"/>
          </a:xfrm>
          <a:prstGeom prst="rect">
            <a:avLst/>
          </a:prstGeom>
          <a:noFill/>
          <a:ln/>
        </p:spPr>
        <p:txBody>
          <a:bodyPr wrap="square" lIns="0" tIns="0" rIns="0" bIns="0" rtlCol="0" anchor="t"/>
          <a:lstStyle/>
          <a:p>
            <a:pPr marL="0" indent="0">
              <a:buNone/>
            </a:pPr>
            <a:r>
              <a:rPr lang="en-US" sz="1250" i="1">
                <a:solidFill>
                  <a:srgbClr val="D6D6DF"/>
                </a:solidFill>
              </a:rPr>
              <a:t>Upstream of Delivery Models — how a request even reaches the right people before it becomes a deal.</a:t>
            </a:r>
            <a:endParaRPr lang="en-US" sz="1250">
              <a:solidFill>
                <a:srgbClr val="FFFFFF"/>
              </a:solidFill>
            </a:endParaRPr>
          </a:p>
        </p:txBody>
      </p:sp>
      <p:sp>
        <p:nvSpPr>
          <p:cNvPr id="24" name="Phase 1 card"/>
          <p:cNvSpPr/>
          <p:nvPr/>
        </p:nvSpPr>
        <p:spPr>
          <a:xfrm>
            <a:off x="5943600" y="457200"/>
            <a:ext cx="2880360" cy="5852160"/>
          </a:xfrm>
          <a:prstGeom prst="roundRect">
            <a:avLst>
              <a:gd name="adj" fmla="val 3175"/>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5" name="Phase 2 card"/>
          <p:cNvSpPr/>
          <p:nvPr/>
        </p:nvSpPr>
        <p:spPr>
          <a:xfrm>
            <a:off x="8961120" y="457200"/>
            <a:ext cx="2743200" cy="5852160"/>
          </a:xfrm>
          <a:prstGeom prst="roundRect">
            <a:avLst>
              <a:gd name="adj" fmla="val 3333"/>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6" name="Phase label"/>
          <p:cNvSpPr txBox="1"/>
          <p:nvPr/>
        </p:nvSpPr>
        <p:spPr>
          <a:xfrm>
            <a:off x="6126480" y="594360"/>
            <a:ext cx="2468880" cy="201168"/>
          </a:xfrm>
          <a:prstGeom prst="rect">
            <a:avLst/>
          </a:prstGeom>
          <a:noFill/>
          <a:ln/>
        </p:spPr>
        <p:txBody>
          <a:bodyPr wrap="square" lIns="0" tIns="0" rIns="0" bIns="0" rtlCol="0" anchor="ctr"/>
          <a:lstStyle/>
          <a:p>
            <a:pPr marL="0" indent="0">
              <a:buNone/>
            </a:pPr>
            <a:r>
              <a:rPr lang="en-US" sz="1000" b="1" kern="0" spc="300">
                <a:solidFill>
                  <a:srgbClr val="0328D1"/>
                </a:solidFill>
              </a:rPr>
              <a:t>PHASE 1</a:t>
            </a:r>
            <a:endParaRPr lang="en-US" sz="1000">
              <a:solidFill>
                <a:srgbClr val="000000"/>
              </a:solidFill>
            </a:endParaRPr>
          </a:p>
        </p:txBody>
      </p:sp>
      <p:sp>
        <p:nvSpPr>
          <p:cNvPr id="27" name="Status badge"/>
          <p:cNvSpPr/>
          <p:nvPr/>
        </p:nvSpPr>
        <p:spPr>
          <a:xfrm>
            <a:off x="6126480" y="896112"/>
            <a:ext cx="237744" cy="237744"/>
          </a:xfrm>
          <a:prstGeom prst="ellipse">
            <a:avLst/>
          </a:prstGeom>
          <a:solidFill>
            <a:srgbClr val="0391F2"/>
          </a:solidFill>
          <a:ln/>
        </p:spPr>
        <p:txBody>
          <a:bodyPr/>
          <a:lstStyle/>
          <a:p>
            <a:endParaRPr lang="en-US">
              <a:solidFill>
                <a:srgbClr val="000000"/>
              </a:solidFill>
            </a:endParaRPr>
          </a:p>
        </p:txBody>
      </p:sp>
      <p:sp>
        <p:nvSpPr>
          <p:cNvPr id="28" name="Status badge text"/>
          <p:cNvSpPr txBox="1"/>
          <p:nvPr/>
        </p:nvSpPr>
        <p:spPr>
          <a:xfrm>
            <a:off x="6126480" y="896112"/>
            <a:ext cx="237744" cy="237744"/>
          </a:xfrm>
          <a:prstGeom prst="rect">
            <a:avLst/>
          </a:prstGeom>
          <a:noFill/>
          <a:ln/>
        </p:spPr>
        <p:txBody>
          <a:bodyPr wrap="square" lIns="0" tIns="0" rIns="0" bIns="0" rtlCol="0" anchor="ctr"/>
          <a:lstStyle/>
          <a:p>
            <a:pPr marL="0" indent="0" algn="ctr">
              <a:buNone/>
            </a:pPr>
            <a:r>
              <a:rPr lang="en-US" sz="1000" b="1">
                <a:solidFill>
                  <a:srgbClr val="FFFFFF"/>
                </a:solidFill>
              </a:rPr>
              <a:t>✓</a:t>
            </a:r>
            <a:endParaRPr lang="en-US" sz="1000">
              <a:solidFill>
                <a:srgbClr val="000000"/>
              </a:solidFill>
            </a:endParaRPr>
          </a:p>
        </p:txBody>
      </p:sp>
      <p:sp>
        <p:nvSpPr>
          <p:cNvPr id="29" name="Block heading"/>
          <p:cNvSpPr txBox="1"/>
          <p:nvPr/>
        </p:nvSpPr>
        <p:spPr>
          <a:xfrm>
            <a:off x="6446520" y="886968"/>
            <a:ext cx="2286000" cy="256032"/>
          </a:xfrm>
          <a:prstGeom prst="rect">
            <a:avLst/>
          </a:prstGeom>
          <a:noFill/>
          <a:ln/>
        </p:spPr>
        <p:txBody>
          <a:bodyPr wrap="square" lIns="0" tIns="0" rIns="0" bIns="0" rtlCol="0" anchor="ctr"/>
          <a:lstStyle/>
          <a:p>
            <a:pPr marL="0" indent="0">
              <a:buNone/>
            </a:pPr>
            <a:r>
              <a:rPr lang="en-US" sz="1400" b="1">
                <a:solidFill>
                  <a:srgbClr val="000000"/>
                </a:solidFill>
              </a:rPr>
              <a:t>Alias Creation</a:t>
            </a:r>
            <a:endParaRPr lang="en-US" sz="1400">
              <a:solidFill>
                <a:srgbClr val="000000"/>
              </a:solidFill>
            </a:endParaRPr>
          </a:p>
        </p:txBody>
      </p:sp>
      <p:sp>
        <p:nvSpPr>
          <p:cNvPr id="30" name="Alias copy"/>
          <p:cNvSpPr txBox="1"/>
          <p:nvPr/>
        </p:nvSpPr>
        <p:spPr>
          <a:xfrm>
            <a:off x="6126480" y="1261872"/>
            <a:ext cx="2560320" cy="1371600"/>
          </a:xfrm>
          <a:prstGeom prst="rect">
            <a:avLst/>
          </a:prstGeom>
          <a:noFill/>
          <a:ln/>
        </p:spPr>
        <p:txBody>
          <a:bodyPr wrap="square" lIns="0" tIns="0" rIns="0" bIns="0" rtlCol="0" anchor="t"/>
          <a:lstStyle/>
          <a:p>
            <a:pPr marL="0" indent="0">
              <a:buNone/>
            </a:pPr>
            <a:r>
              <a:rPr lang="en-US" sz="1050" b="1">
                <a:solidFill>
                  <a:srgbClr val="000000"/>
                </a:solidFill>
                <a:ea typeface="Proxima Nova" pitchFamily="34" charset="-122"/>
                <a:cs typeface="Proxima Nova" pitchFamily="34" charset="-120"/>
              </a:rPr>
              <a:t>DDM_Opportunity@merkle.com</a:t>
            </a:r>
            <a:r>
              <a:rPr lang="en-US" sz="1050">
                <a:solidFill>
                  <a:srgbClr val="000000"/>
                </a:solidFill>
                <a:ea typeface="Proxima Nova" pitchFamily="34" charset="-122"/>
                <a:cs typeface="Proxima Nova" pitchFamily="34" charset="-120"/>
              </a:rPr>
              <a:t> and </a:t>
            </a:r>
            <a:r>
              <a:rPr lang="en-US" sz="1050" b="1">
                <a:solidFill>
                  <a:srgbClr val="000000"/>
                </a:solidFill>
                <a:ea typeface="Proxima Nova" pitchFamily="34" charset="-122"/>
                <a:cs typeface="Proxima Nova" pitchFamily="34" charset="-120"/>
              </a:rPr>
              <a:t>DBT_Opportunity@merkle.com</a:t>
            </a:r>
            <a:r>
              <a:rPr lang="en-US" sz="1050">
                <a:solidFill>
                  <a:srgbClr val="000000"/>
                </a:solidFill>
                <a:ea typeface="Proxima Nova" pitchFamily="34" charset="-122"/>
                <a:cs typeface="Proxima Nova" pitchFamily="34" charset="-120"/>
              </a:rPr>
              <a:t> are live, so requests reach the right BU SMEs without needing to know a matrix of names.</a:t>
            </a:r>
            <a:endParaRPr lang="en-US" sz="1050">
              <a:solidFill>
                <a:srgbClr val="000000"/>
              </a:solidFill>
            </a:endParaRPr>
          </a:p>
        </p:txBody>
      </p:sp>
      <p:sp>
        <p:nvSpPr>
          <p:cNvPr id="31" name="Alias details"/>
          <p:cNvSpPr txBox="1"/>
          <p:nvPr/>
        </p:nvSpPr>
        <p:spPr>
          <a:xfrm>
            <a:off x="6126480" y="2194560"/>
            <a:ext cx="2560320" cy="1645920"/>
          </a:xfrm>
          <a:prstGeom prst="rect">
            <a:avLst/>
          </a:prstGeom>
          <a:noFill/>
          <a:ln/>
        </p:spPr>
        <p:txBody>
          <a:bodyPr wrap="square" lIns="0" tIns="0" rIns="0" bIns="0" rtlCol="0" anchor="t"/>
          <a:lstStyle/>
          <a:p>
            <a:pPr marL="0" indent="0">
              <a:spcAft>
                <a:spcPts val="300"/>
              </a:spcAft>
              <a:buNone/>
            </a:pPr>
            <a:r>
              <a:rPr lang="en-US" sz="1050" b="1">
                <a:solidFill>
                  <a:srgbClr val="000000"/>
                </a:solidFill>
                <a:ea typeface="Proxima Nova" pitchFamily="34" charset="-122"/>
                <a:cs typeface="Proxima Nova" pitchFamily="34" charset="-120"/>
              </a:rPr>
              <a:t>What's behind the alias</a:t>
            </a:r>
            <a:endParaRPr lang="en-US" sz="1050">
              <a:solidFill>
                <a:srgbClr val="000000"/>
              </a:solidFill>
            </a:endParaRPr>
          </a:p>
          <a:p>
            <a:pPr marL="342900" indent="-342900">
              <a:spcAft>
                <a:spcPts val="300"/>
              </a:spcAft>
              <a:buSzPct val="100000"/>
              <a:buChar char="•"/>
            </a:pPr>
            <a:r>
              <a:rPr lang="en-US" sz="1000">
                <a:solidFill>
                  <a:srgbClr val="000000"/>
                </a:solidFill>
                <a:ea typeface="Proxima Nova" pitchFamily="34" charset="-122"/>
                <a:cs typeface="Proxima Nova" pitchFamily="34" charset="-120"/>
              </a:rPr>
              <a:t>Request is reviewed and assigned to a lead within the BU</a:t>
            </a:r>
            <a:endParaRPr lang="en-US" sz="1050">
              <a:solidFill>
                <a:srgbClr val="000000"/>
              </a:solidFill>
            </a:endParaRPr>
          </a:p>
          <a:p>
            <a:pPr marL="342900" indent="-342900">
              <a:buSzPct val="100000"/>
              <a:buChar char="•"/>
            </a:pPr>
            <a:r>
              <a:rPr lang="en-US" sz="1000">
                <a:solidFill>
                  <a:srgbClr val="000000"/>
                </a:solidFill>
                <a:ea typeface="Proxima Nova" pitchFamily="34" charset="-122"/>
                <a:cs typeface="Proxima Nova" pitchFamily="34" charset="-120"/>
              </a:rPr>
              <a:t>Lead reaches out to gather more info, pulls in solutioning support, and ensures the request is handled — creds, calls, PT entry, etc.</a:t>
            </a:r>
            <a:endParaRPr lang="en-US" sz="1050">
              <a:solidFill>
                <a:srgbClr val="000000"/>
              </a:solidFill>
            </a:endParaRPr>
          </a:p>
        </p:txBody>
      </p:sp>
      <p:sp>
        <p:nvSpPr>
          <p:cNvPr id="32" name="Status badge"/>
          <p:cNvSpPr/>
          <p:nvPr/>
        </p:nvSpPr>
        <p:spPr>
          <a:xfrm>
            <a:off x="6126480" y="3931920"/>
            <a:ext cx="237744" cy="237744"/>
          </a:xfrm>
          <a:prstGeom prst="ellipse">
            <a:avLst/>
          </a:prstGeom>
          <a:solidFill>
            <a:srgbClr val="DD3038"/>
          </a:solidFill>
          <a:ln/>
        </p:spPr>
        <p:txBody>
          <a:bodyPr/>
          <a:lstStyle/>
          <a:p>
            <a:endParaRPr lang="en-US">
              <a:solidFill>
                <a:srgbClr val="000000"/>
              </a:solidFill>
            </a:endParaRPr>
          </a:p>
        </p:txBody>
      </p:sp>
      <p:sp>
        <p:nvSpPr>
          <p:cNvPr id="33" name="Status badge text"/>
          <p:cNvSpPr txBox="1"/>
          <p:nvPr/>
        </p:nvSpPr>
        <p:spPr>
          <a:xfrm>
            <a:off x="6126480" y="3931920"/>
            <a:ext cx="237744" cy="237744"/>
          </a:xfrm>
          <a:prstGeom prst="rect">
            <a:avLst/>
          </a:prstGeom>
          <a:noFill/>
          <a:ln/>
        </p:spPr>
        <p:txBody>
          <a:bodyPr wrap="square" lIns="0" tIns="0" rIns="0" bIns="0" rtlCol="0" anchor="ctr"/>
          <a:lstStyle/>
          <a:p>
            <a:pPr marL="0" indent="0" algn="ctr">
              <a:buNone/>
            </a:pPr>
            <a:r>
              <a:rPr lang="en-US" sz="1000" b="1">
                <a:solidFill>
                  <a:srgbClr val="FFFFFF"/>
                </a:solidFill>
              </a:rPr>
              <a:t>✗</a:t>
            </a:r>
            <a:endParaRPr lang="en-US" sz="1000">
              <a:solidFill>
                <a:srgbClr val="000000"/>
              </a:solidFill>
            </a:endParaRPr>
          </a:p>
        </p:txBody>
      </p:sp>
      <p:sp>
        <p:nvSpPr>
          <p:cNvPr id="34" name="Block heading"/>
          <p:cNvSpPr txBox="1"/>
          <p:nvPr/>
        </p:nvSpPr>
        <p:spPr>
          <a:xfrm>
            <a:off x="6446520" y="3922776"/>
            <a:ext cx="2286000" cy="256032"/>
          </a:xfrm>
          <a:prstGeom prst="rect">
            <a:avLst/>
          </a:prstGeom>
          <a:noFill/>
          <a:ln/>
        </p:spPr>
        <p:txBody>
          <a:bodyPr wrap="square" lIns="0" tIns="0" rIns="0" bIns="0" rtlCol="0" anchor="ctr"/>
          <a:lstStyle/>
          <a:p>
            <a:pPr marL="0" indent="0">
              <a:buNone/>
            </a:pPr>
            <a:r>
              <a:rPr lang="en-US" sz="1400" b="1">
                <a:solidFill>
                  <a:srgbClr val="000000"/>
                </a:solidFill>
              </a:rPr>
              <a:t>Adoption</a:t>
            </a:r>
            <a:endParaRPr lang="en-US" sz="1400">
              <a:solidFill>
                <a:srgbClr val="000000"/>
              </a:solidFill>
            </a:endParaRPr>
          </a:p>
        </p:txBody>
      </p:sp>
      <p:sp>
        <p:nvSpPr>
          <p:cNvPr id="35" name="Adoption copy"/>
          <p:cNvSpPr txBox="1"/>
          <p:nvPr/>
        </p:nvSpPr>
        <p:spPr>
          <a:xfrm>
            <a:off x="6126480" y="4251960"/>
            <a:ext cx="2560320" cy="1005840"/>
          </a:xfrm>
          <a:prstGeom prst="rect">
            <a:avLst/>
          </a:prstGeom>
          <a:noFill/>
          <a:ln/>
        </p:spPr>
        <p:txBody>
          <a:bodyPr wrap="square" lIns="0" tIns="0" rIns="0" bIns="0" rtlCol="0" anchor="t"/>
          <a:lstStyle/>
          <a:p>
            <a:pPr marL="342900" indent="-342900">
              <a:spcAft>
                <a:spcPts val="300"/>
              </a:spcAft>
              <a:buSzPct val="100000"/>
              <a:buChar char="•"/>
            </a:pPr>
            <a:r>
              <a:rPr lang="en-US" sz="1000">
                <a:solidFill>
                  <a:srgbClr val="000000"/>
                </a:solidFill>
                <a:ea typeface="Proxima Nova" pitchFamily="34" charset="-122"/>
                <a:cs typeface="Proxima Nova" pitchFamily="34" charset="-120"/>
              </a:rPr>
              <a:t>C&amp;C has been informed of the alias and process</a:t>
            </a:r>
            <a:endParaRPr lang="en-US" sz="1000">
              <a:solidFill>
                <a:srgbClr val="000000"/>
              </a:solidFill>
            </a:endParaRPr>
          </a:p>
          <a:p>
            <a:pPr marL="342900" indent="-342900">
              <a:buSzPct val="100000"/>
              <a:buChar char="•"/>
            </a:pPr>
            <a:r>
              <a:rPr lang="en-US" sz="1000">
                <a:solidFill>
                  <a:srgbClr val="000000"/>
                </a:solidFill>
                <a:ea typeface="Proxima Nova" pitchFamily="34" charset="-122"/>
                <a:cs typeface="Proxima Nova" pitchFamily="34" charset="-120"/>
              </a:rPr>
              <a:t>Adoption has been slow: People still go to known individuals for help, cutting into BU visibility and ability to help</a:t>
            </a:r>
            <a:endParaRPr lang="en-US" sz="1000">
              <a:solidFill>
                <a:srgbClr val="000000"/>
              </a:solidFill>
            </a:endParaRPr>
          </a:p>
        </p:txBody>
      </p:sp>
      <p:sp>
        <p:nvSpPr>
          <p:cNvPr id="36" name="Status badge"/>
          <p:cNvSpPr/>
          <p:nvPr/>
        </p:nvSpPr>
        <p:spPr>
          <a:xfrm>
            <a:off x="6126480" y="5349240"/>
            <a:ext cx="237744" cy="237744"/>
          </a:xfrm>
          <a:prstGeom prst="ellipse">
            <a:avLst/>
          </a:prstGeom>
          <a:solidFill>
            <a:srgbClr val="000000"/>
          </a:solidFill>
          <a:ln/>
        </p:spPr>
        <p:txBody>
          <a:bodyPr/>
          <a:lstStyle/>
          <a:p>
            <a:endParaRPr lang="en-US">
              <a:solidFill>
                <a:srgbClr val="000000"/>
              </a:solidFill>
            </a:endParaRPr>
          </a:p>
        </p:txBody>
      </p:sp>
      <p:sp>
        <p:nvSpPr>
          <p:cNvPr id="37" name="Status badge text"/>
          <p:cNvSpPr txBox="1"/>
          <p:nvPr/>
        </p:nvSpPr>
        <p:spPr>
          <a:xfrm>
            <a:off x="6126480" y="5349240"/>
            <a:ext cx="237744" cy="237744"/>
          </a:xfrm>
          <a:prstGeom prst="rect">
            <a:avLst/>
          </a:prstGeom>
          <a:noFill/>
          <a:ln/>
        </p:spPr>
        <p:txBody>
          <a:bodyPr wrap="square" lIns="0" tIns="0" rIns="0" bIns="0" rtlCol="0" anchor="ctr"/>
          <a:lstStyle/>
          <a:p>
            <a:pPr marL="0" indent="0" algn="ctr">
              <a:buNone/>
            </a:pPr>
            <a:r>
              <a:rPr lang="en-US" sz="1000" b="1">
                <a:solidFill>
                  <a:srgbClr val="FFFFFF"/>
                </a:solidFill>
              </a:rPr>
              <a:t>!</a:t>
            </a:r>
            <a:endParaRPr lang="en-US" sz="1000">
              <a:solidFill>
                <a:srgbClr val="000000"/>
              </a:solidFill>
            </a:endParaRPr>
          </a:p>
        </p:txBody>
      </p:sp>
      <p:sp>
        <p:nvSpPr>
          <p:cNvPr id="38" name="Block heading"/>
          <p:cNvSpPr txBox="1"/>
          <p:nvPr/>
        </p:nvSpPr>
        <p:spPr>
          <a:xfrm>
            <a:off x="6446520" y="5340096"/>
            <a:ext cx="2286000" cy="256032"/>
          </a:xfrm>
          <a:prstGeom prst="rect">
            <a:avLst/>
          </a:prstGeom>
          <a:noFill/>
          <a:ln/>
        </p:spPr>
        <p:txBody>
          <a:bodyPr wrap="square" lIns="0" tIns="0" rIns="0" bIns="0" rtlCol="0" anchor="ctr"/>
          <a:lstStyle/>
          <a:p>
            <a:pPr marL="0" indent="0">
              <a:buNone/>
            </a:pPr>
            <a:r>
              <a:rPr lang="en-US" sz="1400" b="1">
                <a:solidFill>
                  <a:srgbClr val="000000"/>
                </a:solidFill>
              </a:rPr>
              <a:t>Leadership Ask</a:t>
            </a:r>
            <a:endParaRPr lang="en-US" sz="1400">
              <a:solidFill>
                <a:srgbClr val="000000"/>
              </a:solidFill>
            </a:endParaRPr>
          </a:p>
        </p:txBody>
      </p:sp>
      <p:sp>
        <p:nvSpPr>
          <p:cNvPr id="39" name="Ask copy"/>
          <p:cNvSpPr txBox="1"/>
          <p:nvPr/>
        </p:nvSpPr>
        <p:spPr>
          <a:xfrm>
            <a:off x="6126480" y="5669280"/>
            <a:ext cx="2560320" cy="457200"/>
          </a:xfrm>
          <a:prstGeom prst="rect">
            <a:avLst/>
          </a:prstGeom>
          <a:noFill/>
          <a:ln/>
        </p:spPr>
        <p:txBody>
          <a:bodyPr wrap="square" lIns="0" tIns="0" rIns="0" bIns="0" rtlCol="0" anchor="t"/>
          <a:lstStyle/>
          <a:p>
            <a:pPr marL="342900" indent="-342900">
              <a:buSzPct val="100000"/>
              <a:buChar char="•"/>
            </a:pPr>
            <a:r>
              <a:rPr lang="en-US" sz="1000">
                <a:solidFill>
                  <a:srgbClr val="000000"/>
                </a:solidFill>
                <a:ea typeface="Proxima Nova" pitchFamily="34" charset="-122"/>
                <a:cs typeface="Proxima Nova" pitchFamily="34" charset="-120"/>
              </a:rPr>
              <a:t>C&amp;C leadership support in redirecting request</a:t>
            </a:r>
            <a:endParaRPr lang="en-US" sz="1000">
              <a:solidFill>
                <a:srgbClr val="000000"/>
              </a:solidFill>
            </a:endParaRPr>
          </a:p>
        </p:txBody>
      </p:sp>
      <p:sp>
        <p:nvSpPr>
          <p:cNvPr id="40" name="Phase label"/>
          <p:cNvSpPr txBox="1"/>
          <p:nvPr/>
        </p:nvSpPr>
        <p:spPr>
          <a:xfrm>
            <a:off x="9144000" y="594360"/>
            <a:ext cx="2377440" cy="201168"/>
          </a:xfrm>
          <a:prstGeom prst="rect">
            <a:avLst/>
          </a:prstGeom>
          <a:noFill/>
          <a:ln/>
        </p:spPr>
        <p:txBody>
          <a:bodyPr wrap="square" lIns="0" tIns="0" rIns="0" bIns="0" rtlCol="0" anchor="ctr"/>
          <a:lstStyle/>
          <a:p>
            <a:pPr marL="0" indent="0">
              <a:buNone/>
            </a:pPr>
            <a:r>
              <a:rPr lang="en-US" sz="1000" b="1" kern="0" spc="300">
                <a:solidFill>
                  <a:srgbClr val="0328D1"/>
                </a:solidFill>
              </a:rPr>
              <a:t>PHASE 2</a:t>
            </a:r>
            <a:endParaRPr lang="en-US" sz="1000">
              <a:solidFill>
                <a:srgbClr val="000000"/>
              </a:solidFill>
            </a:endParaRPr>
          </a:p>
        </p:txBody>
      </p:sp>
      <p:sp>
        <p:nvSpPr>
          <p:cNvPr id="41" name="Block heading"/>
          <p:cNvSpPr txBox="1"/>
          <p:nvPr/>
        </p:nvSpPr>
        <p:spPr>
          <a:xfrm>
            <a:off x="9144000" y="896112"/>
            <a:ext cx="2423160" cy="594360"/>
          </a:xfrm>
          <a:prstGeom prst="rect">
            <a:avLst/>
          </a:prstGeom>
          <a:noFill/>
          <a:ln/>
        </p:spPr>
        <p:txBody>
          <a:bodyPr wrap="square" lIns="0" tIns="0" rIns="0" bIns="0" rtlCol="0" anchor="t"/>
          <a:lstStyle/>
          <a:p>
            <a:pPr marL="0" indent="0">
              <a:buNone/>
            </a:pPr>
            <a:r>
              <a:rPr lang="en-US" sz="1300" b="1">
                <a:solidFill>
                  <a:srgbClr val="000000"/>
                </a:solidFill>
              </a:rPr>
              <a:t>SME Case Request in SF – 10/16 target launch date</a:t>
            </a:r>
            <a:endParaRPr lang="en-US" sz="1300">
              <a:solidFill>
                <a:srgbClr val="000000"/>
              </a:solidFill>
            </a:endParaRPr>
          </a:p>
        </p:txBody>
      </p:sp>
      <p:sp>
        <p:nvSpPr>
          <p:cNvPr id="42" name="Scenario list"/>
          <p:cNvSpPr txBox="1"/>
          <p:nvPr/>
        </p:nvSpPr>
        <p:spPr>
          <a:xfrm>
            <a:off x="9144000" y="1600200"/>
            <a:ext cx="2423160" cy="2194560"/>
          </a:xfrm>
          <a:prstGeom prst="rect">
            <a:avLst/>
          </a:prstGeom>
          <a:noFill/>
          <a:ln/>
        </p:spPr>
        <p:txBody>
          <a:bodyPr wrap="square" lIns="0" tIns="0" rIns="0" bIns="0" rtlCol="0" anchor="t"/>
          <a:lstStyle/>
          <a:p>
            <a:pPr marL="0" indent="0">
              <a:spcAft>
                <a:spcPts val="400"/>
              </a:spcAft>
              <a:buNone/>
            </a:pPr>
            <a:r>
              <a:rPr lang="en-US" sz="1050">
                <a:solidFill>
                  <a:srgbClr val="000000"/>
                </a:solidFill>
                <a:ea typeface="Proxima Nova" pitchFamily="34" charset="-122"/>
                <a:cs typeface="Proxima Nova" pitchFamily="34" charset="-120"/>
              </a:rPr>
              <a:t>Updating the existing tool to cover more scenarios:</a:t>
            </a:r>
            <a:endParaRPr lang="en-US" sz="105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New pursuit or deals under $500k</a:t>
            </a:r>
            <a:endParaRPr lang="en-US" sz="105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Ad-hoc client request for a small new project</a:t>
            </a:r>
            <a:endParaRPr lang="en-US" sz="105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Sprints involving multiple people</a:t>
            </a:r>
            <a:endParaRPr lang="en-US" sz="1050">
              <a:solidFill>
                <a:srgbClr val="000000"/>
              </a:solidFill>
            </a:endParaRPr>
          </a:p>
          <a:p>
            <a:pPr marL="342900" indent="-342900">
              <a:spcAft>
                <a:spcPts val="200"/>
              </a:spcAft>
              <a:buSzPct val="100000"/>
              <a:buChar char="•"/>
            </a:pPr>
            <a:r>
              <a:rPr lang="en-US" sz="1000">
                <a:solidFill>
                  <a:srgbClr val="000000"/>
                </a:solidFill>
                <a:ea typeface="Proxima Nova" pitchFamily="34" charset="-122"/>
                <a:cs typeface="Proxima Nova" pitchFamily="34" charset="-120"/>
              </a:rPr>
              <a:t>Client exec-level meetings needing decks and materials</a:t>
            </a:r>
            <a:endParaRPr lang="en-US" sz="1050">
              <a:solidFill>
                <a:srgbClr val="000000"/>
              </a:solidFill>
            </a:endParaRPr>
          </a:p>
          <a:p>
            <a:pPr marL="342900" indent="-342900">
              <a:buSzPct val="100000"/>
              <a:buChar char="•"/>
            </a:pPr>
            <a:r>
              <a:rPr lang="en-US" sz="1000">
                <a:solidFill>
                  <a:srgbClr val="000000"/>
                </a:solidFill>
                <a:ea typeface="Proxima Nova" pitchFamily="34" charset="-122"/>
                <a:cs typeface="Proxima Nova" pitchFamily="34" charset="-120"/>
              </a:rPr>
              <a:t>Case studies, capability decks, etc.</a:t>
            </a:r>
            <a:endParaRPr lang="en-US" sz="1050">
              <a:solidFill>
                <a:srgbClr val="000000"/>
              </a:solidFill>
            </a:endParaRPr>
          </a:p>
        </p:txBody>
      </p:sp>
      <p:sp>
        <p:nvSpPr>
          <p:cNvPr id="43" name="Alias note"/>
          <p:cNvSpPr txBox="1"/>
          <p:nvPr/>
        </p:nvSpPr>
        <p:spPr>
          <a:xfrm>
            <a:off x="9144000" y="3429000"/>
            <a:ext cx="2423160" cy="731520"/>
          </a:xfrm>
          <a:prstGeom prst="rect">
            <a:avLst/>
          </a:prstGeom>
          <a:noFill/>
          <a:ln/>
        </p:spPr>
        <p:txBody>
          <a:bodyPr wrap="square" lIns="0" tIns="0" rIns="0" bIns="0" rtlCol="0" anchor="t"/>
          <a:lstStyle/>
          <a:p>
            <a:pPr marL="0" indent="0">
              <a:buNone/>
            </a:pPr>
            <a:r>
              <a:rPr lang="en-US" sz="1000" i="1">
                <a:solidFill>
                  <a:srgbClr val="60607D"/>
                </a:solidFill>
                <a:ea typeface="Proxima Nova" pitchFamily="34" charset="-122"/>
                <a:cs typeface="Proxima Nova" pitchFamily="34" charset="-120"/>
              </a:rPr>
              <a:t>Requests get emailed to the right alias AND land in a list for easy review and follow-up.</a:t>
            </a:r>
            <a:endParaRPr lang="en-US" sz="1000">
              <a:solidFill>
                <a:srgbClr val="000000"/>
              </a:solidFill>
            </a:endParaRPr>
          </a:p>
        </p:txBody>
      </p:sp>
      <p:sp>
        <p:nvSpPr>
          <p:cNvPr id="44" name="Block heading"/>
          <p:cNvSpPr txBox="1"/>
          <p:nvPr/>
        </p:nvSpPr>
        <p:spPr>
          <a:xfrm>
            <a:off x="9144000" y="4343400"/>
            <a:ext cx="2423160" cy="502920"/>
          </a:xfrm>
          <a:prstGeom prst="rect">
            <a:avLst/>
          </a:prstGeom>
          <a:noFill/>
          <a:ln/>
        </p:spPr>
        <p:txBody>
          <a:bodyPr wrap="square" lIns="0" tIns="0" rIns="0" bIns="0" rtlCol="0" anchor="t"/>
          <a:lstStyle/>
          <a:p>
            <a:pPr marL="0" indent="0">
              <a:buNone/>
            </a:pPr>
            <a:r>
              <a:rPr lang="en-US" sz="1300" b="1">
                <a:solidFill>
                  <a:srgbClr val="000000"/>
                </a:solidFill>
              </a:rPr>
              <a:t>RACI Updates – 11/1 Estimated Rollout</a:t>
            </a:r>
            <a:endParaRPr lang="en-US" sz="1300">
              <a:solidFill>
                <a:srgbClr val="000000"/>
              </a:solidFill>
            </a:endParaRPr>
          </a:p>
        </p:txBody>
      </p:sp>
      <p:sp>
        <p:nvSpPr>
          <p:cNvPr id="45" name="RACI copy"/>
          <p:cNvSpPr txBox="1"/>
          <p:nvPr/>
        </p:nvSpPr>
        <p:spPr>
          <a:xfrm>
            <a:off x="9144000" y="4892040"/>
            <a:ext cx="2423160" cy="868680"/>
          </a:xfrm>
          <a:prstGeom prst="rect">
            <a:avLst/>
          </a:prstGeom>
          <a:noFill/>
          <a:ln/>
        </p:spPr>
        <p:txBody>
          <a:bodyPr wrap="square" lIns="0" tIns="0" rIns="0" bIns="0" rtlCol="0" anchor="t"/>
          <a:lstStyle/>
          <a:p>
            <a:pPr marL="0" indent="0">
              <a:buNone/>
            </a:pPr>
            <a:r>
              <a:rPr lang="en-US" sz="1050">
                <a:solidFill>
                  <a:srgbClr val="60607D"/>
                </a:solidFill>
                <a:ea typeface="Proxima Nova" pitchFamily="34" charset="-122"/>
                <a:cs typeface="Proxima Nova" pitchFamily="34" charset="-120"/>
              </a:rPr>
              <a:t>Underway, to clearly articulate roles and responsibilities for everyone involved in the intake process.</a:t>
            </a:r>
            <a:endParaRPr lang="en-US" sz="1050">
              <a:solidFill>
                <a:srgbClr val="000000"/>
              </a:solidFill>
            </a:endParaRPr>
          </a:p>
        </p:txBody>
      </p:sp>
      <p:pic>
        <p:nvPicPr>
          <p:cNvPr id="46" name="Picture 45" descr="image.png"/>
          <p:cNvPicPr>
            <a:picLocks noChangeAspect="1"/>
          </p:cNvPicPr>
          <p:nvPr/>
        </p:nvPicPr>
        <p:blipFill>
          <a:blip r:embed="rId3"/>
          <a:stretch>
            <a:fillRect/>
          </a:stretch>
        </p:blipFill>
        <p:spPr>
          <a:xfrm>
            <a:off x="640080" y="6400800"/>
            <a:ext cx="274320" cy="1501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18.jpg"/>
          <p:cNvPicPr>
            <a:picLocks noChangeAspect="1"/>
          </p:cNvPicPr>
          <p:nvPr/>
        </p:nvPicPr>
        <p:blipFill>
          <a:blip r:embed="rId3"/>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p:txBody>
          <a:bodyPr/>
          <a:lstStyle/>
          <a:p>
            <a:r>
              <a:rPr>
                <a:latin typeface="+mn-lt"/>
              </a:rPr>
              <a:t>Ops Transformation: Rebuild Scoping &amp; Staffing</a:t>
            </a:r>
          </a:p>
        </p:txBody>
      </p:sp>
      <p:sp>
        <p:nvSpPr>
          <p:cNvPr id="3" name="Text Placeholder 2"/>
          <p:cNvSpPr>
            <a:spLocks noGrp="1"/>
          </p:cNvSpPr>
          <p:nvPr>
            <p:ph type="body" sz="quarter" idx="15"/>
          </p:nvPr>
        </p:nvSpPr>
        <p:spPr/>
        <p:txBody>
          <a:bodyPr/>
          <a:lstStyle/>
          <a:p>
            <a:r>
              <a:rPr>
                <a:latin typeface="+mn-lt"/>
              </a:rPr>
              <a:t>PRIORITY 06</a:t>
            </a:r>
          </a:p>
        </p:txBody>
      </p:sp>
      <p:sp>
        <p:nvSpPr>
          <p:cNvPr id="4" name="TextBox 3"/>
          <p:cNvSpPr txBox="1"/>
          <p:nvPr/>
        </p:nvSpPr>
        <p:spPr>
          <a:xfrm>
            <a:off x="914400" y="4434840"/>
            <a:ext cx="6766560" cy="1015663"/>
          </a:xfrm>
          <a:prstGeom prst="rect">
            <a:avLst/>
          </a:prstGeom>
          <a:noFill/>
        </p:spPr>
        <p:txBody>
          <a:bodyPr wrap="square">
            <a:spAutoFit/>
          </a:bodyPr>
          <a:lstStyle/>
          <a:p>
            <a:r>
              <a:rPr sz="2000">
                <a:solidFill>
                  <a:srgbClr val="FFFFFF"/>
                </a:solidFill>
              </a:rPr>
              <a:t>Deliverables go in, and a timeline and staffing plan come out, with AI doing real work and learning from what we deliver.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k_edge19.jpg"/>
          <p:cNvPicPr>
            <a:picLocks noChangeAspect="1"/>
          </p:cNvPicPr>
          <p:nvPr/>
        </p:nvPicPr>
        <p:blipFill>
          <a:blip r:embed="rId2"/>
          <a:stretch>
            <a:fillRect/>
          </a:stretch>
        </p:blipFill>
        <p:spPr>
          <a:xfrm>
            <a:off x="7894320" y="0"/>
            <a:ext cx="4297680" cy="1207008"/>
          </a:xfrm>
          <a:prstGeom prst="rect">
            <a:avLst/>
          </a:prstGeom>
        </p:spPr>
      </p:pic>
      <p:sp>
        <p:nvSpPr>
          <p:cNvPr id="22" name="Rectangle 21"/>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23" name="Rectangle 22"/>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p:txBody>
          <a:bodyPr/>
          <a:lstStyle/>
          <a:p>
            <a:r>
              <a:t>Ops Transformation: Rebuild Scoping &amp; Staffing</a:t>
            </a:r>
          </a:p>
        </p:txBody>
      </p:sp>
      <p:sp>
        <p:nvSpPr>
          <p:cNvPr id="4" name="Text Placeholder 3"/>
          <p:cNvSpPr>
            <a:spLocks noGrp="1"/>
          </p:cNvSpPr>
          <p:nvPr>
            <p:ph type="body" sz="quarter" idx="12"/>
          </p:nvPr>
        </p:nvSpPr>
        <p:spPr/>
        <p:txBody>
          <a:bodyPr/>
          <a:lstStyle/>
          <a:p>
            <a:r>
              <a:t>PRIORITY 06</a:t>
            </a:r>
          </a:p>
        </p:txBody>
      </p:sp>
      <p:sp>
        <p:nvSpPr>
          <p:cNvPr id="5" name="TextBox 4"/>
          <p:cNvSpPr txBox="1"/>
          <p:nvPr/>
        </p:nvSpPr>
        <p:spPr>
          <a:xfrm>
            <a:off x="530352" y="1554480"/>
            <a:ext cx="11128248" cy="640080"/>
          </a:xfrm>
          <a:prstGeom prst="rect">
            <a:avLst/>
          </a:prstGeom>
          <a:noFill/>
        </p:spPr>
        <p:txBody>
          <a:bodyPr wrap="square" lIns="0" tIns="0" rIns="0" bIns="0" anchor="t">
            <a:spAutoFit/>
          </a:bodyPr>
          <a:lstStyle/>
          <a:p>
            <a:pPr algn="l"/>
            <a:r>
              <a:rPr sz="1800" b="0" i="0">
                <a:solidFill>
                  <a:srgbClr val="000000"/>
                </a:solidFill>
                <a:latin typeface="Proxima Nova"/>
              </a:rPr>
              <a:t>Deliverables go in, and a timeline and staffing plan come out. AI does the real work of generating the plan, and gets smarter from what we actually deliver.</a:t>
            </a:r>
          </a:p>
        </p:txBody>
      </p:sp>
      <p:sp>
        <p:nvSpPr>
          <p:cNvPr id="6" name="Rounded Rectangle 5"/>
          <p:cNvSpPr/>
          <p:nvPr/>
        </p:nvSpPr>
        <p:spPr>
          <a:xfrm>
            <a:off x="530352" y="2468880"/>
            <a:ext cx="3246120" cy="1463040"/>
          </a:xfrm>
          <a:prstGeom prst="roundRect">
            <a:avLst>
              <a:gd name="adj" fmla="val 7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7" name="TextBox 6"/>
          <p:cNvSpPr txBox="1"/>
          <p:nvPr/>
        </p:nvSpPr>
        <p:spPr>
          <a:xfrm>
            <a:off x="804672" y="2724912"/>
            <a:ext cx="2697480" cy="228600"/>
          </a:xfrm>
          <a:prstGeom prst="rect">
            <a:avLst/>
          </a:prstGeom>
          <a:noFill/>
        </p:spPr>
        <p:txBody>
          <a:bodyPr wrap="square" lIns="0" tIns="0" rIns="0" bIns="0">
            <a:spAutoFit/>
          </a:bodyPr>
          <a:lstStyle/>
          <a:p>
            <a:pPr algn="l"/>
            <a:r>
              <a:rPr sz="1000" b="1" i="0" spc="150">
                <a:solidFill>
                  <a:srgbClr val="000000"/>
                </a:solidFill>
                <a:latin typeface="Proxima Nova"/>
              </a:rPr>
              <a:t>GOES IN</a:t>
            </a:r>
          </a:p>
        </p:txBody>
      </p:sp>
      <p:sp>
        <p:nvSpPr>
          <p:cNvPr id="8" name="TextBox 7"/>
          <p:cNvSpPr txBox="1"/>
          <p:nvPr/>
        </p:nvSpPr>
        <p:spPr>
          <a:xfrm>
            <a:off x="804672" y="3108960"/>
            <a:ext cx="2697480" cy="640080"/>
          </a:xfrm>
          <a:prstGeom prst="rect">
            <a:avLst/>
          </a:prstGeom>
          <a:noFill/>
        </p:spPr>
        <p:txBody>
          <a:bodyPr wrap="square" lIns="0" tIns="0" rIns="0" bIns="0" anchor="t">
            <a:spAutoFit/>
          </a:bodyPr>
          <a:lstStyle/>
          <a:p>
            <a:pPr algn="l"/>
            <a:r>
              <a:rPr sz="2000" b="1" i="0">
                <a:solidFill>
                  <a:srgbClr val="000000"/>
                </a:solidFill>
                <a:latin typeface="Proxima Nova"/>
              </a:rPr>
              <a:t>Deliverables</a:t>
            </a:r>
          </a:p>
        </p:txBody>
      </p:sp>
      <p:sp>
        <p:nvSpPr>
          <p:cNvPr id="9" name="Rounded Rectangle 8"/>
          <p:cNvSpPr/>
          <p:nvPr/>
        </p:nvSpPr>
        <p:spPr>
          <a:xfrm>
            <a:off x="4480560" y="2468880"/>
            <a:ext cx="3246120" cy="1463040"/>
          </a:xfrm>
          <a:prstGeom prst="roundRect">
            <a:avLst>
              <a:gd name="adj" fmla="val 7000"/>
            </a:avLst>
          </a:prstGeom>
          <a:solidFill>
            <a:srgbClr val="000000"/>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10" name="TextBox 9"/>
          <p:cNvSpPr txBox="1"/>
          <p:nvPr/>
        </p:nvSpPr>
        <p:spPr>
          <a:xfrm>
            <a:off x="4754880" y="2724912"/>
            <a:ext cx="2697480" cy="228600"/>
          </a:xfrm>
          <a:prstGeom prst="rect">
            <a:avLst/>
          </a:prstGeom>
          <a:noFill/>
        </p:spPr>
        <p:txBody>
          <a:bodyPr wrap="square" lIns="0" tIns="0" rIns="0" bIns="0">
            <a:spAutoFit/>
          </a:bodyPr>
          <a:lstStyle/>
          <a:p>
            <a:pPr algn="l"/>
            <a:r>
              <a:rPr sz="1000" b="1" i="0" spc="150">
                <a:solidFill>
                  <a:srgbClr val="0391F2"/>
                </a:solidFill>
                <a:latin typeface="Proxima Nova"/>
              </a:rPr>
              <a:t>AI DOES THE REAL WORK</a:t>
            </a:r>
          </a:p>
        </p:txBody>
      </p:sp>
      <p:sp>
        <p:nvSpPr>
          <p:cNvPr id="11" name="TextBox 10"/>
          <p:cNvSpPr txBox="1"/>
          <p:nvPr/>
        </p:nvSpPr>
        <p:spPr>
          <a:xfrm>
            <a:off x="4754880" y="3108960"/>
            <a:ext cx="2697480" cy="640080"/>
          </a:xfrm>
          <a:prstGeom prst="rect">
            <a:avLst/>
          </a:prstGeom>
          <a:noFill/>
        </p:spPr>
        <p:txBody>
          <a:bodyPr wrap="square" lIns="0" tIns="0" rIns="0" bIns="0" anchor="t">
            <a:spAutoFit/>
          </a:bodyPr>
          <a:lstStyle/>
          <a:p>
            <a:pPr algn="l"/>
            <a:r>
              <a:rPr sz="2000" b="1" i="0">
                <a:solidFill>
                  <a:srgbClr val="FFFFFF"/>
                </a:solidFill>
                <a:latin typeface="Proxima Nova"/>
              </a:rPr>
              <a:t>Generating the plan</a:t>
            </a:r>
          </a:p>
        </p:txBody>
      </p:sp>
      <p:sp>
        <p:nvSpPr>
          <p:cNvPr id="12" name="Rounded Rectangle 11"/>
          <p:cNvSpPr/>
          <p:nvPr/>
        </p:nvSpPr>
        <p:spPr>
          <a:xfrm>
            <a:off x="8412480" y="2468880"/>
            <a:ext cx="3246120" cy="1463040"/>
          </a:xfrm>
          <a:prstGeom prst="roundRect">
            <a:avLst>
              <a:gd name="adj" fmla="val 7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3" name="TextBox 12"/>
          <p:cNvSpPr txBox="1"/>
          <p:nvPr/>
        </p:nvSpPr>
        <p:spPr>
          <a:xfrm>
            <a:off x="8686800" y="2724912"/>
            <a:ext cx="2697480" cy="228600"/>
          </a:xfrm>
          <a:prstGeom prst="rect">
            <a:avLst/>
          </a:prstGeom>
          <a:noFill/>
        </p:spPr>
        <p:txBody>
          <a:bodyPr wrap="square" lIns="0" tIns="0" rIns="0" bIns="0">
            <a:spAutoFit/>
          </a:bodyPr>
          <a:lstStyle/>
          <a:p>
            <a:pPr algn="l"/>
            <a:r>
              <a:rPr sz="1000" b="1" i="0" spc="150">
                <a:solidFill>
                  <a:srgbClr val="000000"/>
                </a:solidFill>
                <a:latin typeface="Proxima Nova"/>
              </a:rPr>
              <a:t>COMES OUT</a:t>
            </a:r>
          </a:p>
        </p:txBody>
      </p:sp>
      <p:sp>
        <p:nvSpPr>
          <p:cNvPr id="14" name="TextBox 13"/>
          <p:cNvSpPr txBox="1"/>
          <p:nvPr/>
        </p:nvSpPr>
        <p:spPr>
          <a:xfrm>
            <a:off x="8686800" y="3108960"/>
            <a:ext cx="2697480" cy="640080"/>
          </a:xfrm>
          <a:prstGeom prst="rect">
            <a:avLst/>
          </a:prstGeom>
          <a:noFill/>
        </p:spPr>
        <p:txBody>
          <a:bodyPr wrap="square" lIns="0" tIns="0" rIns="0" bIns="0" anchor="t">
            <a:spAutoFit/>
          </a:bodyPr>
          <a:lstStyle/>
          <a:p>
            <a:pPr algn="l"/>
            <a:r>
              <a:rPr sz="2000" b="1" i="0">
                <a:solidFill>
                  <a:srgbClr val="000000"/>
                </a:solidFill>
                <a:latin typeface="Proxima Nova"/>
              </a:rPr>
              <a:t>Timeline + staffing plan</a:t>
            </a:r>
          </a:p>
        </p:txBody>
      </p:sp>
      <p:sp>
        <p:nvSpPr>
          <p:cNvPr id="15" name="Right Arrow 14"/>
          <p:cNvSpPr/>
          <p:nvPr/>
        </p:nvSpPr>
        <p:spPr>
          <a:xfrm>
            <a:off x="3840480" y="3044952"/>
            <a:ext cx="548640" cy="310896"/>
          </a:xfrm>
          <a:prstGeom prst="rightArrow">
            <a:avLst/>
          </a:prstGeom>
          <a:solidFill>
            <a:srgbClr val="0391F2"/>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16" name="Right Arrow 15"/>
          <p:cNvSpPr/>
          <p:nvPr/>
        </p:nvSpPr>
        <p:spPr>
          <a:xfrm>
            <a:off x="7790688" y="3044952"/>
            <a:ext cx="548640" cy="310896"/>
          </a:xfrm>
          <a:prstGeom prst="rightArrow">
            <a:avLst/>
          </a:prstGeom>
          <a:solidFill>
            <a:srgbClr val="0391F2"/>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17" name="Rounded Rectangle 16"/>
          <p:cNvSpPr/>
          <p:nvPr/>
        </p:nvSpPr>
        <p:spPr>
          <a:xfrm>
            <a:off x="530352" y="4297680"/>
            <a:ext cx="11128248" cy="1874520"/>
          </a:xfrm>
          <a:prstGeom prst="roundRect">
            <a:avLst>
              <a:gd name="adj" fmla="val 7000"/>
            </a:avLst>
          </a:prstGeom>
          <a:solidFill>
            <a:schemeClr val="tx1"/>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pic>
        <p:nvPicPr>
          <p:cNvPr id="24" name="Picture 23" descr="k_band19.jpg"/>
          <p:cNvPicPr>
            <a:picLocks noChangeAspect="1"/>
          </p:cNvPicPr>
          <p:nvPr/>
        </p:nvPicPr>
        <p:blipFill>
          <a:blip r:embed="rId3"/>
          <a:stretch>
            <a:fillRect/>
          </a:stretch>
        </p:blipFill>
        <p:spPr>
          <a:xfrm>
            <a:off x="530352" y="4297680"/>
            <a:ext cx="11128248" cy="1874520"/>
          </a:xfrm>
          <a:prstGeom prst="roundRect">
            <a:avLst>
              <a:gd name="adj" fmla="val 7000"/>
            </a:avLst>
          </a:prstGeom>
        </p:spPr>
      </p:pic>
      <p:sp>
        <p:nvSpPr>
          <p:cNvPr id="25" name="Rounded Rectangle 24"/>
          <p:cNvSpPr/>
          <p:nvPr/>
        </p:nvSpPr>
        <p:spPr>
          <a:xfrm>
            <a:off x="530352" y="4297680"/>
            <a:ext cx="11128248" cy="1874520"/>
          </a:xfrm>
          <a:prstGeom prst="roundRect">
            <a:avLst>
              <a:gd name="adj" fmla="val 7000"/>
            </a:avLst>
          </a:prstGeom>
          <a:gradFill rotWithShape="1">
            <a:gsLst>
              <a:gs pos="0">
                <a:srgbClr val="000000">
                  <a:alpha val="93000"/>
                </a:srgbClr>
              </a:gs>
              <a:gs pos="55000">
                <a:srgbClr val="000000">
                  <a:alpha val="74000"/>
                </a:srgbClr>
              </a:gs>
              <a:gs pos="100000">
                <a:srgbClr val="000000">
                  <a:alpha val="58000"/>
                </a:srgbClr>
              </a:gs>
            </a:gsLst>
            <a:lin ang="0" scaled="0"/>
          </a:gradFill>
          <a:ln>
            <a:noFill/>
          </a:ln>
        </p:spPr>
        <p:txBody>
          <a:bodyPr rtlCol="0" anchor="ctr"/>
          <a:lstStyle/>
          <a:p>
            <a:pPr algn="ctr"/>
          </a:p>
        </p:txBody>
      </p:sp>
      <p:sp>
        <p:nvSpPr>
          <p:cNvPr id="18" name="TextBox 17"/>
          <p:cNvSpPr txBox="1"/>
          <p:nvPr/>
        </p:nvSpPr>
        <p:spPr>
          <a:xfrm>
            <a:off x="914400" y="4617720"/>
            <a:ext cx="5669280" cy="1188720"/>
          </a:xfrm>
          <a:prstGeom prst="rect">
            <a:avLst/>
          </a:prstGeom>
          <a:noFill/>
        </p:spPr>
        <p:txBody>
          <a:bodyPr wrap="square" lIns="0" tIns="0" rIns="0" bIns="0" anchor="ctr">
            <a:spAutoFit/>
          </a:bodyPr>
          <a:lstStyle/>
          <a:p>
            <a:pPr algn="l"/>
            <a:r>
              <a:rPr sz="5400" b="1" i="0">
                <a:solidFill>
                  <a:srgbClr val="FFFFFF"/>
                </a:solidFill>
                <a:latin typeface="Proxima Nova"/>
              </a:rPr>
              <a:t>Coming soon</a:t>
            </a:r>
          </a:p>
        </p:txBody>
      </p:sp>
      <p:sp>
        <p:nvSpPr>
          <p:cNvPr id="19" name="Rectangle 18"/>
          <p:cNvSpPr/>
          <p:nvPr/>
        </p:nvSpPr>
        <p:spPr>
          <a:xfrm>
            <a:off x="6720840" y="4663440"/>
            <a:ext cx="36576" cy="1143000"/>
          </a:xfrm>
          <a:prstGeom prst="rect">
            <a:avLst/>
          </a:prstGeom>
          <a:solidFill>
            <a:srgbClr val="0391F2"/>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20" name="TextBox 19"/>
          <p:cNvSpPr txBox="1"/>
          <p:nvPr/>
        </p:nvSpPr>
        <p:spPr>
          <a:xfrm>
            <a:off x="7086600" y="4663440"/>
            <a:ext cx="4206240" cy="1143000"/>
          </a:xfrm>
          <a:prstGeom prst="rect">
            <a:avLst/>
          </a:prstGeom>
          <a:noFill/>
        </p:spPr>
        <p:txBody>
          <a:bodyPr wrap="square" lIns="0" tIns="0" rIns="0" bIns="0" anchor="ctr">
            <a:spAutoFit/>
          </a:bodyPr>
          <a:lstStyle/>
          <a:p>
            <a:pPr algn="l"/>
            <a:r>
              <a:rPr sz="2000" b="0" i="0">
                <a:solidFill>
                  <a:srgbClr val="FFFFFF"/>
                </a:solidFill>
                <a:latin typeface="Proxima Nova"/>
              </a:rPr>
              <a:t>This is a new ask, and we are still working through it. More to come.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20.jpg"/>
          <p:cNvPicPr>
            <a:picLocks noChangeAspect="1"/>
          </p:cNvPicPr>
          <p:nvPr/>
        </p:nvPicPr>
        <p:blipFill>
          <a:blip r:embed="rId3"/>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p:txBody>
          <a:bodyPr/>
          <a:lstStyle/>
          <a:p>
            <a:r>
              <a:rPr>
                <a:latin typeface="+mn-lt"/>
              </a:rPr>
              <a:t>Earlier Delivery &amp; Talent in Pursuits</a:t>
            </a:r>
          </a:p>
        </p:txBody>
      </p:sp>
      <p:sp>
        <p:nvSpPr>
          <p:cNvPr id="3" name="Text Placeholder 2"/>
          <p:cNvSpPr>
            <a:spLocks noGrp="1"/>
          </p:cNvSpPr>
          <p:nvPr>
            <p:ph type="body" sz="quarter" idx="15"/>
          </p:nvPr>
        </p:nvSpPr>
        <p:spPr/>
        <p:txBody>
          <a:bodyPr/>
          <a:lstStyle/>
          <a:p>
            <a:r>
              <a:rPr>
                <a:latin typeface="+mn-lt"/>
              </a:rPr>
              <a:t>PRIORITY 07</a:t>
            </a:r>
          </a:p>
        </p:txBody>
      </p:sp>
      <p:sp>
        <p:nvSpPr>
          <p:cNvPr id="4" name="TextBox 3"/>
          <p:cNvSpPr txBox="1"/>
          <p:nvPr/>
        </p:nvSpPr>
        <p:spPr>
          <a:xfrm>
            <a:off x="914400" y="4434840"/>
            <a:ext cx="6766560" cy="707886"/>
          </a:xfrm>
          <a:prstGeom prst="rect">
            <a:avLst/>
          </a:prstGeom>
          <a:noFill/>
        </p:spPr>
        <p:txBody>
          <a:bodyPr wrap="square">
            <a:spAutoFit/>
          </a:bodyPr>
          <a:lstStyle/>
          <a:p>
            <a:r>
              <a:rPr sz="2000">
                <a:solidFill>
                  <a:srgbClr val="FFFFFF"/>
                </a:solidFill>
              </a:rPr>
              <a:t>Bring SME expertise into upfront deal evaluation to lift our win rate on the deals we already capture.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k_edge21.jpg"/>
          <p:cNvPicPr>
            <a:picLocks noChangeAspect="1"/>
          </p:cNvPicPr>
          <p:nvPr/>
        </p:nvPicPr>
        <p:blipFill>
          <a:blip r:embed="rId3"/>
          <a:stretch>
            <a:fillRect/>
          </a:stretch>
        </p:blipFill>
        <p:spPr>
          <a:xfrm>
            <a:off x="7894320" y="0"/>
            <a:ext cx="4297680" cy="1207008"/>
          </a:xfrm>
          <a:prstGeom prst="rect">
            <a:avLst/>
          </a:prstGeom>
        </p:spPr>
      </p:pic>
      <p:sp>
        <p:nvSpPr>
          <p:cNvPr id="41" name="Rectangle 40"/>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42" name="Rectangle 41"/>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a:xfrm>
            <a:off x="530352" y="457200"/>
            <a:ext cx="11128248" cy="566928"/>
          </a:xfrm>
        </p:spPr>
        <p:txBody>
          <a:bodyPr/>
          <a:lstStyle/>
          <a:p>
            <a:r>
              <a:rPr>
                <a:latin typeface="+mn-lt"/>
              </a:rPr>
              <a:t>Earlier delivery and talent involvement in major pursuits</a:t>
            </a:r>
          </a:p>
        </p:txBody>
      </p:sp>
      <p:sp>
        <p:nvSpPr>
          <p:cNvPr id="4" name="Text Placeholder 3"/>
          <p:cNvSpPr>
            <a:spLocks noGrp="1"/>
          </p:cNvSpPr>
          <p:nvPr>
            <p:ph type="body" sz="quarter" idx="12"/>
          </p:nvPr>
        </p:nvSpPr>
        <p:spPr>
          <a:xfrm>
            <a:off x="530352" y="256032"/>
            <a:ext cx="11128248" cy="182880"/>
          </a:xfrm>
        </p:spPr>
        <p:txBody>
          <a:bodyPr/>
          <a:lstStyle/>
          <a:p>
            <a:r>
              <a:t>DELIVERY EXCELLENCE – QUICK WIN – DDM EXAMPLE</a:t>
            </a:r>
          </a:p>
        </p:txBody>
      </p:sp>
      <p:sp>
        <p:nvSpPr>
          <p:cNvPr id="14" name="Intro"/>
          <p:cNvSpPr txBox="1"/>
          <p:nvPr/>
        </p:nvSpPr>
        <p:spPr>
          <a:xfrm>
            <a:off x="530352" y="1536192"/>
            <a:ext cx="11128248" cy="566928"/>
          </a:xfrm>
          <a:prstGeom prst="rect">
            <a:avLst/>
          </a:prstGeom>
          <a:noFill/>
          <a:ln/>
        </p:spPr>
        <p:txBody>
          <a:bodyPr wrap="square" lIns="0" tIns="0" rIns="0" bIns="0" rtlCol="0" anchor="t"/>
          <a:lstStyle/>
          <a:p>
            <a:pPr marL="0" indent="0">
              <a:buNone/>
            </a:pPr>
            <a:r>
              <a:rPr lang="en-US" sz="1150" b="1">
                <a:solidFill>
                  <a:srgbClr val="000000"/>
                </a:solidFill>
                <a:ea typeface="Proxima Nova" pitchFamily="34" charset="-122"/>
                <a:cs typeface="Proxima Nova" pitchFamily="34" charset="-120"/>
              </a:rPr>
              <a:t>Why this one, now:</a:t>
            </a:r>
            <a:r>
              <a:rPr lang="en-US" sz="1150">
                <a:solidFill>
                  <a:srgbClr val="000000"/>
                </a:solidFill>
                <a:ea typeface="Proxima Nova" pitchFamily="34" charset="-122"/>
                <a:cs typeface="Proxima Nova" pitchFamily="34" charset="-120"/>
              </a:rPr>
              <a:t> By bringing SME expertise into upfront deal evaluation, we can increase our win rate on the deal volume we're already capturing. Quick execution is essential to drive Q4 and 2027 revenue.</a:t>
            </a:r>
            <a:endParaRPr lang="en-US" sz="1150">
              <a:solidFill>
                <a:srgbClr val="000000"/>
              </a:solidFill>
            </a:endParaRPr>
          </a:p>
        </p:txBody>
      </p:sp>
      <p:sp>
        <p:nvSpPr>
          <p:cNvPr id="15" name="PHASE 1 container"/>
          <p:cNvSpPr/>
          <p:nvPr/>
        </p:nvSpPr>
        <p:spPr>
          <a:xfrm>
            <a:off x="530352" y="2194560"/>
            <a:ext cx="11128248" cy="1600200"/>
          </a:xfrm>
          <a:prstGeom prst="roundRect">
            <a:avLst>
              <a:gd name="adj" fmla="val 5714"/>
            </a:avLst>
          </a:prstGeom>
          <a:solidFill>
            <a:srgbClr val="D6D6DF"/>
          </a:solidFill>
          <a:ln>
            <a:noFill/>
          </a:ln>
        </p:spPr>
        <p:txBody>
          <a:bodyPr/>
          <a:lstStyle/>
          <a:p>
            <a:endParaRPr lang="en-US">
              <a:solidFill>
                <a:srgbClr val="000000"/>
              </a:solidFill>
            </a:endParaRPr>
          </a:p>
        </p:txBody>
      </p:sp>
      <p:sp>
        <p:nvSpPr>
          <p:cNvPr id="16" name="Pill PHASE 1"/>
          <p:cNvSpPr/>
          <p:nvPr/>
        </p:nvSpPr>
        <p:spPr>
          <a:xfrm>
            <a:off x="713232" y="2304288"/>
            <a:ext cx="1097280" cy="274320"/>
          </a:xfrm>
          <a:prstGeom prst="roundRect">
            <a:avLst>
              <a:gd name="adj" fmla="val 50000"/>
            </a:avLst>
          </a:prstGeom>
          <a:solidFill>
            <a:srgbClr val="000000"/>
          </a:solidFill>
          <a:ln/>
        </p:spPr>
        <p:txBody>
          <a:bodyPr/>
          <a:lstStyle/>
          <a:p>
            <a:endParaRPr lang="en-US">
              <a:solidFill>
                <a:srgbClr val="000000"/>
              </a:solidFill>
            </a:endParaRPr>
          </a:p>
        </p:txBody>
      </p:sp>
      <p:sp>
        <p:nvSpPr>
          <p:cNvPr id="17" name="Pill text"/>
          <p:cNvSpPr txBox="1"/>
          <p:nvPr/>
        </p:nvSpPr>
        <p:spPr>
          <a:xfrm>
            <a:off x="713232" y="2304288"/>
            <a:ext cx="1097280" cy="274320"/>
          </a:xfrm>
          <a:prstGeom prst="rect">
            <a:avLst/>
          </a:prstGeom>
          <a:noFill/>
          <a:ln/>
        </p:spPr>
        <p:txBody>
          <a:bodyPr wrap="square" lIns="0" tIns="0" rIns="0" bIns="0" rtlCol="0" anchor="ctr"/>
          <a:lstStyle/>
          <a:p>
            <a:pPr marL="0" indent="0" algn="ctr">
              <a:buNone/>
            </a:pPr>
            <a:r>
              <a:rPr lang="en-US" sz="1000" b="1">
                <a:solidFill>
                  <a:srgbClr val="FFFFFF"/>
                </a:solidFill>
              </a:rPr>
              <a:t>PHASE 1</a:t>
            </a:r>
            <a:endParaRPr lang="en-US" sz="1000">
              <a:solidFill>
                <a:srgbClr val="000000"/>
              </a:solidFill>
            </a:endParaRPr>
          </a:p>
        </p:txBody>
      </p:sp>
      <p:sp>
        <p:nvSpPr>
          <p:cNvPr id="18" name="Phase title"/>
          <p:cNvSpPr txBox="1"/>
          <p:nvPr/>
        </p:nvSpPr>
        <p:spPr>
          <a:xfrm>
            <a:off x="1965960" y="2286000"/>
            <a:ext cx="8686800" cy="310896"/>
          </a:xfrm>
          <a:prstGeom prst="rect">
            <a:avLst/>
          </a:prstGeom>
          <a:noFill/>
          <a:ln/>
        </p:spPr>
        <p:txBody>
          <a:bodyPr wrap="square" lIns="0" tIns="0" rIns="0" bIns="0" rtlCol="0" anchor="ctr"/>
          <a:lstStyle/>
          <a:p>
            <a:pPr marL="0" indent="0">
              <a:buNone/>
            </a:pPr>
            <a:r>
              <a:rPr lang="en-US" sz="1150" i="1">
                <a:solidFill>
                  <a:srgbClr val="000000"/>
                </a:solidFill>
              </a:rPr>
              <a:t>Planning and Discovery: Now – 10/30</a:t>
            </a:r>
            <a:endParaRPr lang="en-US" sz="1150">
              <a:solidFill>
                <a:srgbClr val="000000"/>
              </a:solidFill>
            </a:endParaRPr>
          </a:p>
        </p:txBody>
      </p:sp>
      <p:sp>
        <p:nvSpPr>
          <p:cNvPr id="19" name="Mini card Define Roles Needed"/>
          <p:cNvSpPr/>
          <p:nvPr/>
        </p:nvSpPr>
        <p:spPr>
          <a:xfrm>
            <a:off x="713232" y="2697480"/>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0" name="Mini card title"/>
          <p:cNvSpPr txBox="1"/>
          <p:nvPr/>
        </p:nvSpPr>
        <p:spPr>
          <a:xfrm>
            <a:off x="850392" y="2770632"/>
            <a:ext cx="3221736" cy="256032"/>
          </a:xfrm>
          <a:prstGeom prst="rect">
            <a:avLst/>
          </a:prstGeom>
          <a:noFill/>
          <a:ln/>
        </p:spPr>
        <p:txBody>
          <a:bodyPr wrap="square" lIns="0" tIns="0" rIns="0" bIns="0" rtlCol="0" anchor="t"/>
          <a:lstStyle/>
          <a:p>
            <a:pPr marL="0" indent="0">
              <a:buNone/>
            </a:pPr>
            <a:r>
              <a:rPr lang="en-US" sz="1200" b="1">
                <a:solidFill>
                  <a:srgbClr val="000000"/>
                </a:solidFill>
              </a:rPr>
              <a:t>Define Roles Needed</a:t>
            </a:r>
            <a:endParaRPr lang="en-US" sz="1200">
              <a:solidFill>
                <a:srgbClr val="000000"/>
              </a:solidFill>
            </a:endParaRPr>
          </a:p>
        </p:txBody>
      </p:sp>
      <p:sp>
        <p:nvSpPr>
          <p:cNvPr id="21" name="Mini card copy"/>
          <p:cNvSpPr txBox="1"/>
          <p:nvPr/>
        </p:nvSpPr>
        <p:spPr>
          <a:xfrm>
            <a:off x="850392" y="3063240"/>
            <a:ext cx="3221736" cy="548640"/>
          </a:xfrm>
          <a:prstGeom prst="rect">
            <a:avLst/>
          </a:prstGeom>
          <a:noFill/>
          <a:ln/>
        </p:spPr>
        <p:txBody>
          <a:bodyPr wrap="square" lIns="0" tIns="0" rIns="0" bIns="0" rtlCol="0" anchor="t"/>
          <a:lstStyle/>
          <a:p>
            <a:pPr marL="0" indent="0">
              <a:buNone/>
            </a:pPr>
            <a:r>
              <a:rPr lang="en-US" sz="1050">
                <a:solidFill>
                  <a:srgbClr val="60607D"/>
                </a:solidFill>
              </a:rPr>
              <a:t>Determine the specific roles need for pursuit support (alliance partner, skillset) along with allocations, roles and responsibilities</a:t>
            </a:r>
            <a:endParaRPr lang="en-US" sz="1050">
              <a:solidFill>
                <a:srgbClr val="000000"/>
              </a:solidFill>
            </a:endParaRPr>
          </a:p>
        </p:txBody>
      </p:sp>
      <p:sp>
        <p:nvSpPr>
          <p:cNvPr id="22" name="Mini card Clarify if Internal or External Moves"/>
          <p:cNvSpPr/>
          <p:nvPr/>
        </p:nvSpPr>
        <p:spPr>
          <a:xfrm>
            <a:off x="4346448" y="2697480"/>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3" name="Mini card title"/>
          <p:cNvSpPr txBox="1"/>
          <p:nvPr/>
        </p:nvSpPr>
        <p:spPr>
          <a:xfrm>
            <a:off x="4483608" y="2770632"/>
            <a:ext cx="3221736" cy="256032"/>
          </a:xfrm>
          <a:prstGeom prst="rect">
            <a:avLst/>
          </a:prstGeom>
          <a:noFill/>
          <a:ln/>
        </p:spPr>
        <p:txBody>
          <a:bodyPr wrap="square" lIns="0" tIns="0" rIns="0" bIns="0" rtlCol="0" anchor="t"/>
          <a:lstStyle/>
          <a:p>
            <a:pPr marL="0" indent="0">
              <a:buNone/>
            </a:pPr>
            <a:r>
              <a:rPr lang="en-US" sz="1200" b="1">
                <a:solidFill>
                  <a:srgbClr val="000000"/>
                </a:solidFill>
              </a:rPr>
              <a:t>Clarify if Internal or External Moves</a:t>
            </a:r>
            <a:endParaRPr lang="en-US" sz="1200">
              <a:solidFill>
                <a:srgbClr val="000000"/>
              </a:solidFill>
            </a:endParaRPr>
          </a:p>
        </p:txBody>
      </p:sp>
      <p:sp>
        <p:nvSpPr>
          <p:cNvPr id="24" name="Mini card copy"/>
          <p:cNvSpPr txBox="1"/>
          <p:nvPr/>
        </p:nvSpPr>
        <p:spPr>
          <a:xfrm>
            <a:off x="4483608" y="3063240"/>
            <a:ext cx="3221736" cy="548640"/>
          </a:xfrm>
          <a:prstGeom prst="rect">
            <a:avLst/>
          </a:prstGeom>
          <a:noFill/>
          <a:ln/>
        </p:spPr>
        <p:txBody>
          <a:bodyPr wrap="square" lIns="0" tIns="0" rIns="0" bIns="0" rtlCol="0" anchor="t"/>
          <a:lstStyle/>
          <a:p>
            <a:pPr marL="0" indent="0">
              <a:buNone/>
            </a:pPr>
            <a:r>
              <a:rPr lang="en-US" sz="1050">
                <a:solidFill>
                  <a:srgbClr val="60607D"/>
                </a:solidFill>
              </a:rPr>
              <a:t>Review existing team roster to see who can move to these new roles and where we need to hire</a:t>
            </a:r>
            <a:endParaRPr lang="en-US" sz="1050">
              <a:solidFill>
                <a:srgbClr val="000000"/>
              </a:solidFill>
            </a:endParaRPr>
          </a:p>
        </p:txBody>
      </p:sp>
      <p:sp>
        <p:nvSpPr>
          <p:cNvPr id="25" name="Mini card Update Existing Org Structure"/>
          <p:cNvSpPr/>
          <p:nvPr/>
        </p:nvSpPr>
        <p:spPr>
          <a:xfrm>
            <a:off x="7979664" y="2697480"/>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6" name="Mini card title"/>
          <p:cNvSpPr txBox="1"/>
          <p:nvPr/>
        </p:nvSpPr>
        <p:spPr>
          <a:xfrm>
            <a:off x="8116824" y="2770632"/>
            <a:ext cx="3221736" cy="256032"/>
          </a:xfrm>
          <a:prstGeom prst="rect">
            <a:avLst/>
          </a:prstGeom>
          <a:noFill/>
          <a:ln/>
        </p:spPr>
        <p:txBody>
          <a:bodyPr wrap="square" lIns="0" tIns="0" rIns="0" bIns="0" rtlCol="0" anchor="t"/>
          <a:lstStyle/>
          <a:p>
            <a:pPr marL="0" indent="0">
              <a:buNone/>
            </a:pPr>
            <a:r>
              <a:rPr lang="en-US" sz="1200" b="1">
                <a:solidFill>
                  <a:srgbClr val="000000"/>
                </a:solidFill>
              </a:rPr>
              <a:t>Update Existing Org Structure</a:t>
            </a:r>
            <a:endParaRPr lang="en-US" sz="1200">
              <a:solidFill>
                <a:srgbClr val="000000"/>
              </a:solidFill>
            </a:endParaRPr>
          </a:p>
        </p:txBody>
      </p:sp>
      <p:sp>
        <p:nvSpPr>
          <p:cNvPr id="27" name="Mini card copy"/>
          <p:cNvSpPr txBox="1"/>
          <p:nvPr/>
        </p:nvSpPr>
        <p:spPr>
          <a:xfrm>
            <a:off x="8116824" y="3063240"/>
            <a:ext cx="3221736" cy="548640"/>
          </a:xfrm>
          <a:prstGeom prst="rect">
            <a:avLst/>
          </a:prstGeom>
          <a:noFill/>
          <a:ln/>
        </p:spPr>
        <p:txBody>
          <a:bodyPr wrap="square" lIns="0" tIns="0" rIns="0" bIns="0" rtlCol="0" anchor="t"/>
          <a:lstStyle/>
          <a:p>
            <a:pPr marL="0" indent="0">
              <a:buNone/>
            </a:pPr>
            <a:r>
              <a:rPr lang="en-US" sz="1050">
                <a:solidFill>
                  <a:srgbClr val="60607D"/>
                </a:solidFill>
              </a:rPr>
              <a:t>Update the existing org structure (as needed) to best support these roles and the pursuits</a:t>
            </a:r>
            <a:endParaRPr lang="en-US" sz="1050">
              <a:solidFill>
                <a:srgbClr val="000000"/>
              </a:solidFill>
            </a:endParaRPr>
          </a:p>
        </p:txBody>
      </p:sp>
      <p:sp>
        <p:nvSpPr>
          <p:cNvPr id="28" name="PHASE 2 container"/>
          <p:cNvSpPr/>
          <p:nvPr/>
        </p:nvSpPr>
        <p:spPr>
          <a:xfrm>
            <a:off x="530352" y="3977640"/>
            <a:ext cx="11128248" cy="1508760"/>
          </a:xfrm>
          <a:prstGeom prst="roundRect">
            <a:avLst>
              <a:gd name="adj" fmla="val 6061"/>
            </a:avLst>
          </a:prstGeom>
          <a:solidFill>
            <a:srgbClr val="D6D6DF"/>
          </a:solidFill>
          <a:ln>
            <a:noFill/>
          </a:ln>
        </p:spPr>
        <p:txBody>
          <a:bodyPr/>
          <a:lstStyle/>
          <a:p>
            <a:endParaRPr lang="en-US">
              <a:solidFill>
                <a:srgbClr val="000000"/>
              </a:solidFill>
            </a:endParaRPr>
          </a:p>
        </p:txBody>
      </p:sp>
      <p:sp>
        <p:nvSpPr>
          <p:cNvPr id="29" name="Pill PHASE 2"/>
          <p:cNvSpPr/>
          <p:nvPr/>
        </p:nvSpPr>
        <p:spPr>
          <a:xfrm>
            <a:off x="713232" y="4087368"/>
            <a:ext cx="1097280" cy="274320"/>
          </a:xfrm>
          <a:prstGeom prst="roundRect">
            <a:avLst>
              <a:gd name="adj" fmla="val 50000"/>
            </a:avLst>
          </a:prstGeom>
          <a:solidFill>
            <a:srgbClr val="0391F2"/>
          </a:solidFill>
          <a:ln/>
        </p:spPr>
        <p:txBody>
          <a:bodyPr/>
          <a:lstStyle/>
          <a:p>
            <a:endParaRPr lang="en-US">
              <a:solidFill>
                <a:srgbClr val="000000"/>
              </a:solidFill>
            </a:endParaRPr>
          </a:p>
        </p:txBody>
      </p:sp>
      <p:sp>
        <p:nvSpPr>
          <p:cNvPr id="30" name="Pill text"/>
          <p:cNvSpPr txBox="1"/>
          <p:nvPr/>
        </p:nvSpPr>
        <p:spPr>
          <a:xfrm>
            <a:off x="713232" y="4087368"/>
            <a:ext cx="1097280" cy="274320"/>
          </a:xfrm>
          <a:prstGeom prst="rect">
            <a:avLst/>
          </a:prstGeom>
          <a:noFill/>
          <a:ln/>
        </p:spPr>
        <p:txBody>
          <a:bodyPr wrap="square" lIns="0" tIns="0" rIns="0" bIns="0" rtlCol="0" anchor="ctr"/>
          <a:lstStyle/>
          <a:p>
            <a:pPr marL="0" indent="0" algn="ctr">
              <a:buNone/>
            </a:pPr>
            <a:r>
              <a:rPr lang="en-US" sz="1000" b="1">
                <a:solidFill>
                  <a:srgbClr val="FFFFFF"/>
                </a:solidFill>
              </a:rPr>
              <a:t>PHASE 2</a:t>
            </a:r>
            <a:endParaRPr lang="en-US" sz="1000">
              <a:solidFill>
                <a:srgbClr val="000000"/>
              </a:solidFill>
            </a:endParaRPr>
          </a:p>
        </p:txBody>
      </p:sp>
      <p:sp>
        <p:nvSpPr>
          <p:cNvPr id="31" name="Phase title"/>
          <p:cNvSpPr txBox="1"/>
          <p:nvPr/>
        </p:nvSpPr>
        <p:spPr>
          <a:xfrm>
            <a:off x="1965960" y="4069080"/>
            <a:ext cx="8686800" cy="310896"/>
          </a:xfrm>
          <a:prstGeom prst="rect">
            <a:avLst/>
          </a:prstGeom>
          <a:noFill/>
          <a:ln/>
        </p:spPr>
        <p:txBody>
          <a:bodyPr wrap="square" lIns="0" tIns="0" rIns="0" bIns="0" rtlCol="0" anchor="ctr"/>
          <a:lstStyle/>
          <a:p>
            <a:pPr marL="0" indent="0">
              <a:buNone/>
            </a:pPr>
            <a:r>
              <a:rPr lang="en-US" sz="1150" i="1">
                <a:solidFill>
                  <a:srgbClr val="0328D1"/>
                </a:solidFill>
              </a:rPr>
              <a:t>Execution on Changes: 11/2 – 12/24</a:t>
            </a:r>
            <a:endParaRPr lang="en-US" sz="1150">
              <a:solidFill>
                <a:srgbClr val="000000"/>
              </a:solidFill>
            </a:endParaRPr>
          </a:p>
        </p:txBody>
      </p:sp>
      <p:sp>
        <p:nvSpPr>
          <p:cNvPr id="32" name="Mini card Open Reqs"/>
          <p:cNvSpPr/>
          <p:nvPr/>
        </p:nvSpPr>
        <p:spPr>
          <a:xfrm>
            <a:off x="713232" y="4480560"/>
            <a:ext cx="3496056" cy="868680"/>
          </a:xfrm>
          <a:prstGeom prst="roundRect">
            <a:avLst>
              <a:gd name="adj" fmla="val 842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3" name="Mini card title"/>
          <p:cNvSpPr txBox="1"/>
          <p:nvPr/>
        </p:nvSpPr>
        <p:spPr>
          <a:xfrm>
            <a:off x="850392" y="4553712"/>
            <a:ext cx="3221736" cy="256032"/>
          </a:xfrm>
          <a:prstGeom prst="rect">
            <a:avLst/>
          </a:prstGeom>
          <a:noFill/>
          <a:ln/>
        </p:spPr>
        <p:txBody>
          <a:bodyPr wrap="square" lIns="0" tIns="0" rIns="0" bIns="0" rtlCol="0" anchor="t"/>
          <a:lstStyle/>
          <a:p>
            <a:pPr marL="0" indent="0">
              <a:buNone/>
            </a:pPr>
            <a:r>
              <a:rPr lang="en-US" sz="1200" b="1">
                <a:solidFill>
                  <a:srgbClr val="000000"/>
                </a:solidFill>
              </a:rPr>
              <a:t>Open </a:t>
            </a:r>
            <a:r>
              <a:rPr lang="en-US" sz="1200" b="1" err="1">
                <a:solidFill>
                  <a:srgbClr val="000000"/>
                </a:solidFill>
              </a:rPr>
              <a:t>Reqs</a:t>
            </a:r>
            <a:endParaRPr lang="en-US" sz="1200">
              <a:solidFill>
                <a:srgbClr val="000000"/>
              </a:solidFill>
            </a:endParaRPr>
          </a:p>
        </p:txBody>
      </p:sp>
      <p:sp>
        <p:nvSpPr>
          <p:cNvPr id="34" name="Mini card copy"/>
          <p:cNvSpPr txBox="1"/>
          <p:nvPr/>
        </p:nvSpPr>
        <p:spPr>
          <a:xfrm>
            <a:off x="850392" y="4846320"/>
            <a:ext cx="3221736" cy="457200"/>
          </a:xfrm>
          <a:prstGeom prst="rect">
            <a:avLst/>
          </a:prstGeom>
          <a:noFill/>
          <a:ln/>
        </p:spPr>
        <p:txBody>
          <a:bodyPr wrap="square" lIns="0" tIns="0" rIns="0" bIns="0" rtlCol="0" anchor="t"/>
          <a:lstStyle/>
          <a:p>
            <a:pPr marL="0" indent="0">
              <a:buNone/>
            </a:pPr>
            <a:r>
              <a:rPr lang="en-US" sz="1050">
                <a:solidFill>
                  <a:srgbClr val="60607D"/>
                </a:solidFill>
              </a:rPr>
              <a:t>Once aligned on the needs, prioritize needs and open </a:t>
            </a:r>
            <a:r>
              <a:rPr lang="en-US" sz="1050" err="1">
                <a:solidFill>
                  <a:srgbClr val="60607D"/>
                </a:solidFill>
              </a:rPr>
              <a:t>reqs</a:t>
            </a:r>
            <a:r>
              <a:rPr lang="en-US" sz="1050">
                <a:solidFill>
                  <a:srgbClr val="60607D"/>
                </a:solidFill>
              </a:rPr>
              <a:t> for the first set of new roles (or for backfills, if moving existing people into the new roles)</a:t>
            </a:r>
            <a:endParaRPr lang="en-US" sz="1050">
              <a:solidFill>
                <a:srgbClr val="000000"/>
              </a:solidFill>
            </a:endParaRPr>
          </a:p>
        </p:txBody>
      </p:sp>
      <p:sp>
        <p:nvSpPr>
          <p:cNvPr id="35" name="Mini card Create Transition Plan"/>
          <p:cNvSpPr/>
          <p:nvPr/>
        </p:nvSpPr>
        <p:spPr>
          <a:xfrm>
            <a:off x="4346448" y="4480560"/>
            <a:ext cx="3496056" cy="868680"/>
          </a:xfrm>
          <a:prstGeom prst="roundRect">
            <a:avLst>
              <a:gd name="adj" fmla="val 842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6" name="Mini card title"/>
          <p:cNvSpPr txBox="1"/>
          <p:nvPr/>
        </p:nvSpPr>
        <p:spPr>
          <a:xfrm>
            <a:off x="4483608" y="4553712"/>
            <a:ext cx="3221736" cy="256032"/>
          </a:xfrm>
          <a:prstGeom prst="rect">
            <a:avLst/>
          </a:prstGeom>
          <a:noFill/>
          <a:ln/>
        </p:spPr>
        <p:txBody>
          <a:bodyPr wrap="square" lIns="0" tIns="0" rIns="0" bIns="0" rtlCol="0" anchor="t"/>
          <a:lstStyle/>
          <a:p>
            <a:pPr marL="0" indent="0">
              <a:buNone/>
            </a:pPr>
            <a:r>
              <a:rPr lang="en-US" sz="1200" b="1">
                <a:solidFill>
                  <a:srgbClr val="000000"/>
                </a:solidFill>
              </a:rPr>
              <a:t>Create Transition Plan</a:t>
            </a:r>
            <a:endParaRPr lang="en-US" sz="1200">
              <a:solidFill>
                <a:srgbClr val="000000"/>
              </a:solidFill>
            </a:endParaRPr>
          </a:p>
        </p:txBody>
      </p:sp>
      <p:sp>
        <p:nvSpPr>
          <p:cNvPr id="37" name="Mini card copy"/>
          <p:cNvSpPr txBox="1"/>
          <p:nvPr/>
        </p:nvSpPr>
        <p:spPr>
          <a:xfrm>
            <a:off x="4483608" y="4846320"/>
            <a:ext cx="3221736" cy="457200"/>
          </a:xfrm>
          <a:prstGeom prst="rect">
            <a:avLst/>
          </a:prstGeom>
          <a:noFill/>
          <a:ln/>
        </p:spPr>
        <p:txBody>
          <a:bodyPr wrap="square" lIns="0" tIns="0" rIns="0" bIns="0" rtlCol="0" anchor="t"/>
          <a:lstStyle/>
          <a:p>
            <a:pPr marL="0" indent="0">
              <a:buNone/>
            </a:pPr>
            <a:r>
              <a:rPr lang="en-US" sz="1050">
                <a:solidFill>
                  <a:srgbClr val="60607D"/>
                </a:solidFill>
              </a:rPr>
              <a:t>Identify any accounts that need to move to allow people to switch to a new role and create a 30/60 day transition plan</a:t>
            </a:r>
            <a:endParaRPr lang="en-US" sz="1050">
              <a:solidFill>
                <a:srgbClr val="000000"/>
              </a:solidFill>
            </a:endParaRPr>
          </a:p>
        </p:txBody>
      </p:sp>
      <p:sp>
        <p:nvSpPr>
          <p:cNvPr id="38" name="Key takeaway box"/>
          <p:cNvSpPr/>
          <p:nvPr/>
        </p:nvSpPr>
        <p:spPr>
          <a:xfrm>
            <a:off x="530352" y="5623560"/>
            <a:ext cx="11128248" cy="822960"/>
          </a:xfrm>
          <a:prstGeom prst="roundRect">
            <a:avLst>
              <a:gd name="adj" fmla="val 11111"/>
            </a:avLst>
          </a:prstGeom>
          <a:solidFill>
            <a:srgbClr val="000000"/>
          </a:solidFill>
          <a:ln/>
        </p:spPr>
        <p:txBody>
          <a:bodyPr/>
          <a:lstStyle/>
          <a:p>
            <a:endParaRPr lang="en-US">
              <a:solidFill>
                <a:srgbClr val="000000"/>
              </a:solidFill>
            </a:endParaRPr>
          </a:p>
        </p:txBody>
      </p:sp>
      <p:sp>
        <p:nvSpPr>
          <p:cNvPr id="39" name="Key takeaway"/>
          <p:cNvSpPr txBox="1"/>
          <p:nvPr/>
        </p:nvSpPr>
        <p:spPr>
          <a:xfrm>
            <a:off x="758952" y="5623560"/>
            <a:ext cx="10671048" cy="822960"/>
          </a:xfrm>
          <a:prstGeom prst="rect">
            <a:avLst/>
          </a:prstGeom>
          <a:noFill/>
          <a:ln/>
        </p:spPr>
        <p:txBody>
          <a:bodyPr wrap="square" lIns="0" tIns="0" rIns="0" bIns="0" rtlCol="0" anchor="ctr"/>
          <a:lstStyle/>
          <a:p>
            <a:pPr marL="0" indent="0">
              <a:buNone/>
            </a:pPr>
            <a:r>
              <a:rPr lang="en-US" sz="1100" b="1">
                <a:solidFill>
                  <a:srgbClr val="0391F2"/>
                </a:solidFill>
                <a:ea typeface="Proxima Nova" pitchFamily="34" charset="-122"/>
                <a:cs typeface="Proxima Nova" pitchFamily="34" charset="-120"/>
              </a:rPr>
              <a:t>The Key Takeaway: </a:t>
            </a:r>
            <a:r>
              <a:rPr lang="en-US" sz="1100">
                <a:solidFill>
                  <a:srgbClr val="FFFFFF"/>
                </a:solidFill>
                <a:ea typeface="Proxima Nova" pitchFamily="34" charset="-122"/>
                <a:cs typeface="Proxima Nova" pitchFamily="34" charset="-120"/>
              </a:rPr>
              <a:t>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endParaRPr lang="en-US" sz="11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22.jpg"/>
          <p:cNvPicPr>
            <a:picLocks noChangeAspect="1"/>
          </p:cNvPicPr>
          <p:nvPr/>
        </p:nvPicPr>
        <p:blipFill>
          <a:blip r:embed="rId3"/>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316736"/>
            <a:ext cx="9710928" cy="1920240"/>
          </a:xfrm>
        </p:spPr>
        <p:txBody>
          <a:bodyPr/>
          <a:lstStyle/>
          <a:p>
            <a:r>
              <a:rPr lang="en-US" sz="4000" dirty="0">
                <a:latin typeface="+mn-lt"/>
              </a:rPr>
              <a:t>Client &amp; Delivery Concerns</a:t>
            </a:r>
            <a:endParaRPr sz="4000" dirty="0">
              <a:latin typeface="+mn-lt"/>
            </a:endParaRPr>
          </a:p>
        </p:txBody>
      </p:sp>
      <p:sp>
        <p:nvSpPr>
          <p:cNvPr id="3" name="Text Placeholder 2"/>
          <p:cNvSpPr>
            <a:spLocks noGrp="1"/>
          </p:cNvSpPr>
          <p:nvPr>
            <p:ph type="body" sz="quarter" idx="15"/>
          </p:nvPr>
        </p:nvSpPr>
        <p:spPr/>
        <p:txBody>
          <a:bodyPr/>
          <a:lstStyle/>
          <a:p>
            <a:r>
              <a:rPr dirty="0">
                <a:latin typeface="+mn-lt"/>
              </a:rPr>
              <a:t>OVER TO MEREDITH + BRUNST</a:t>
            </a:r>
          </a:p>
        </p:txBody>
      </p:sp>
      <p:sp>
        <p:nvSpPr>
          <p:cNvPr id="4" name="TextBox 3"/>
          <p:cNvSpPr txBox="1"/>
          <p:nvPr/>
        </p:nvSpPr>
        <p:spPr>
          <a:xfrm>
            <a:off x="914400" y="3520440"/>
            <a:ext cx="9509760" cy="1382430"/>
          </a:xfrm>
          <a:prstGeom prst="rect">
            <a:avLst/>
          </a:prstGeom>
          <a:noFill/>
        </p:spPr>
        <p:txBody>
          <a:bodyPr wrap="square">
            <a:spAutoFit/>
          </a:bodyPr>
          <a:lstStyle/>
          <a:p>
            <a:pPr>
              <a:spcAft>
                <a:spcPts val="1000"/>
              </a:spcAft>
            </a:pPr>
            <a:r>
              <a:rPr lang="en-US" sz="2000" b="1" dirty="0">
                <a:solidFill>
                  <a:srgbClr val="0391F2"/>
                </a:solidFill>
              </a:rPr>
              <a:t>Topics</a:t>
            </a:r>
            <a:endParaRPr sz="2000" b="1" dirty="0">
              <a:solidFill>
                <a:srgbClr val="0391F2"/>
              </a:solidFill>
            </a:endParaRPr>
          </a:p>
          <a:p>
            <a:pPr marL="342900" indent="-342900">
              <a:spcAft>
                <a:spcPts val="900"/>
              </a:spcAft>
              <a:buFont typeface="Arial"/>
              <a:buChar char="•"/>
            </a:pPr>
            <a:r>
              <a:rPr lang="en-US" sz="2400" dirty="0">
                <a:solidFill>
                  <a:srgbClr val="FFFFFF"/>
                </a:solidFill>
              </a:rPr>
              <a:t>What are </a:t>
            </a:r>
            <a:r>
              <a:rPr sz="2400" dirty="0">
                <a:solidFill>
                  <a:srgbClr val="FFFFFF"/>
                </a:solidFill>
              </a:rPr>
              <a:t>the greatest delivery concern right now?</a:t>
            </a:r>
          </a:p>
          <a:p>
            <a:pPr marL="342900" indent="-342900">
              <a:spcAft>
                <a:spcPts val="900"/>
              </a:spcAft>
              <a:buFont typeface="Arial"/>
              <a:buChar char="•"/>
            </a:pPr>
            <a:r>
              <a:rPr sz="2400" dirty="0">
                <a:solidFill>
                  <a:srgbClr val="FFFFFF"/>
                </a:solidFill>
              </a:rPr>
              <a:t>Where should the group step in or focus?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k_div23.jpg"/>
          <p:cNvPicPr>
            <a:picLocks noChangeAspect="1"/>
          </p:cNvPicPr>
          <p:nvPr/>
        </p:nvPicPr>
        <p:blipFill>
          <a:blip r:embed="rId3"/>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a:extLst>
              <a:ext uri="{FF2B5EF4-FFF2-40B4-BE49-F238E27FC236}">
                <a16:creationId xmlns:a16="http://schemas.microsoft.com/office/drawing/2014/main" id="{2EAA7A69-474B-2683-F51F-E8F827109B85}"/>
              </a:ext>
            </a:extLst>
          </p:cNvPr>
          <p:cNvSpPr>
            <a:spLocks noGrp="1"/>
          </p:cNvSpPr>
          <p:nvPr>
            <p:ph type="title"/>
          </p:nvPr>
        </p:nvSpPr>
        <p:spPr>
          <a:xfrm>
            <a:off x="914400" y="1318719"/>
            <a:ext cx="7000000" cy="2870201"/>
          </a:xfrm>
        </p:spPr>
        <p:txBody>
          <a:bodyPr/>
          <a:lstStyle/>
          <a:p>
            <a:r>
              <a:rPr lang="en-US" dirty="0">
                <a:latin typeface="+mn-lt"/>
              </a:rPr>
              <a:t>Staffing</a:t>
            </a:r>
          </a:p>
        </p:txBody>
      </p:sp>
      <p:sp>
        <p:nvSpPr>
          <p:cNvPr id="3" name="Text Placeholder 2">
            <a:extLst>
              <a:ext uri="{FF2B5EF4-FFF2-40B4-BE49-F238E27FC236}">
                <a16:creationId xmlns:a16="http://schemas.microsoft.com/office/drawing/2014/main" id="{356FA4BA-2ED7-4BE6-FC2D-0A1CF9DBD6F7}"/>
              </a:ext>
            </a:extLst>
          </p:cNvPr>
          <p:cNvSpPr txBox="1">
            <a:spLocks/>
          </p:cNvSpPr>
          <p:nvPr/>
        </p:nvSpPr>
        <p:spPr>
          <a:xfrm>
            <a:off x="914400" y="937172"/>
            <a:ext cx="9709484" cy="290049"/>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00" b="1" i="0" u="none" strike="noStrike" kern="1200" cap="all" spc="150" normalizeH="0" baseline="0" noProof="0" dirty="0">
                <a:ln>
                  <a:noFill/>
                </a:ln>
                <a:solidFill>
                  <a:srgbClr val="D6D6DF">
                    <a:lumMod val="90000"/>
                  </a:srgbClr>
                </a:solidFill>
                <a:effectLst/>
                <a:uLnTx/>
                <a:uFillTx/>
                <a:ea typeface="+mn-ea"/>
                <a:cs typeface="+mn-cs"/>
              </a:rPr>
              <a:t>OVER TO AO</a:t>
            </a:r>
          </a:p>
        </p:txBody>
      </p:sp>
    </p:spTree>
    <p:extLst>
      <p:ext uri="{BB962C8B-B14F-4D97-AF65-F5344CB8AC3E}">
        <p14:creationId xmlns:p14="http://schemas.microsoft.com/office/powerpoint/2010/main" val="3626430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descr="k_edge24.jpg"/>
          <p:cNvPicPr>
            <a:picLocks noChangeAspect="1"/>
          </p:cNvPicPr>
          <p:nvPr/>
        </p:nvPicPr>
        <p:blipFill>
          <a:blip r:embed="rId3"/>
          <a:stretch>
            <a:fillRect/>
          </a:stretch>
        </p:blipFill>
        <p:spPr>
          <a:xfrm>
            <a:off x="7894320" y="0"/>
            <a:ext cx="4297680" cy="1207008"/>
          </a:xfrm>
          <a:prstGeom prst="rect">
            <a:avLst/>
          </a:prstGeom>
        </p:spPr>
      </p:pic>
      <p:sp>
        <p:nvSpPr>
          <p:cNvPr id="34" name="Rectangle 33"/>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35" name="Rectangle 34"/>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p:txBody>
          <a:bodyPr/>
          <a:lstStyle/>
          <a:p>
            <a:r>
              <a:rPr>
                <a:latin typeface="+mn-lt"/>
              </a:rPr>
              <a:t>Staffing</a:t>
            </a:r>
          </a:p>
        </p:txBody>
      </p:sp>
      <p:sp>
        <p:nvSpPr>
          <p:cNvPr id="4" name="Text Placeholder 3"/>
          <p:cNvSpPr>
            <a:spLocks noGrp="1"/>
          </p:cNvSpPr>
          <p:nvPr>
            <p:ph type="body" sz="quarter" idx="12"/>
          </p:nvPr>
        </p:nvSpPr>
        <p:spPr/>
        <p:txBody>
          <a:bodyPr/>
          <a:lstStyle/>
          <a:p>
            <a:r>
              <a:t>AO · STAFFING</a:t>
            </a:r>
          </a:p>
        </p:txBody>
      </p:sp>
      <p:sp>
        <p:nvSpPr>
          <p:cNvPr id="5" name="Rounded Rectangle 4"/>
          <p:cNvSpPr/>
          <p:nvPr/>
        </p:nvSpPr>
        <p:spPr>
          <a:xfrm>
            <a:off x="530352" y="1600200"/>
            <a:ext cx="11128248" cy="1051560"/>
          </a:xfrm>
          <a:prstGeom prst="roundRect">
            <a:avLst>
              <a:gd name="adj" fmla="val 8000"/>
            </a:avLst>
          </a:prstGeom>
          <a:solidFill>
            <a:srgbClr val="000000"/>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6" name="TextBox 5"/>
          <p:cNvSpPr txBox="1"/>
          <p:nvPr/>
        </p:nvSpPr>
        <p:spPr>
          <a:xfrm>
            <a:off x="822960" y="1737360"/>
            <a:ext cx="635751" cy="246221"/>
          </a:xfrm>
          <a:prstGeom prst="rect">
            <a:avLst/>
          </a:prstGeom>
          <a:noFill/>
        </p:spPr>
        <p:txBody>
          <a:bodyPr wrap="none" lIns="0">
            <a:spAutoFit/>
          </a:bodyPr>
          <a:lstStyle/>
          <a:p>
            <a:pPr algn="l"/>
            <a:r>
              <a:rPr lang="en-US" sz="1000" b="1" spc="150" dirty="0">
                <a:solidFill>
                  <a:srgbClr val="0391F2"/>
                </a:solidFill>
              </a:rPr>
              <a:t>Prompt</a:t>
            </a:r>
            <a:endParaRPr sz="1000" b="1" spc="150" dirty="0">
              <a:solidFill>
                <a:srgbClr val="0391F2"/>
              </a:solidFill>
            </a:endParaRPr>
          </a:p>
        </p:txBody>
      </p:sp>
      <p:sp>
        <p:nvSpPr>
          <p:cNvPr id="7" name="TextBox 6"/>
          <p:cNvSpPr txBox="1"/>
          <p:nvPr/>
        </p:nvSpPr>
        <p:spPr>
          <a:xfrm>
            <a:off x="822960" y="2011680"/>
            <a:ext cx="10515600" cy="430887"/>
          </a:xfrm>
          <a:prstGeom prst="rect">
            <a:avLst/>
          </a:prstGeom>
          <a:noFill/>
        </p:spPr>
        <p:txBody>
          <a:bodyPr wrap="square" lIns="0">
            <a:spAutoFit/>
          </a:bodyPr>
          <a:lstStyle/>
          <a:p>
            <a:r>
              <a:rPr sz="2200" b="1">
                <a:solidFill>
                  <a:srgbClr val="FFFFFF"/>
                </a:solidFill>
              </a:rPr>
              <a:t>Where are we on staffing, and where should the group step in or focus?</a:t>
            </a:r>
          </a:p>
        </p:txBody>
      </p:sp>
      <p:sp>
        <p:nvSpPr>
          <p:cNvPr id="8" name="TextBox 7"/>
          <p:cNvSpPr txBox="1"/>
          <p:nvPr/>
        </p:nvSpPr>
        <p:spPr>
          <a:xfrm>
            <a:off x="530352" y="2926080"/>
            <a:ext cx="1502976" cy="246221"/>
          </a:xfrm>
          <a:prstGeom prst="rect">
            <a:avLst/>
          </a:prstGeom>
          <a:noFill/>
        </p:spPr>
        <p:txBody>
          <a:bodyPr wrap="none" lIns="0">
            <a:spAutoFit/>
          </a:bodyPr>
          <a:lstStyle/>
          <a:p>
            <a:pPr algn="l"/>
            <a:r>
              <a:rPr sz="1000" b="1" spc="150" dirty="0">
                <a:solidFill>
                  <a:srgbClr val="000000"/>
                </a:solidFill>
              </a:rPr>
              <a:t>TOPICS TO COVER</a:t>
            </a:r>
          </a:p>
        </p:txBody>
      </p:sp>
      <p:sp>
        <p:nvSpPr>
          <p:cNvPr id="9" name="Rounded Rectangle 8"/>
          <p:cNvSpPr/>
          <p:nvPr/>
        </p:nvSpPr>
        <p:spPr>
          <a:xfrm>
            <a:off x="530352"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0" name="TextBox 9"/>
          <p:cNvSpPr txBox="1"/>
          <p:nvPr/>
        </p:nvSpPr>
        <p:spPr>
          <a:xfrm>
            <a:off x="713232" y="3419856"/>
            <a:ext cx="276679" cy="307777"/>
          </a:xfrm>
          <a:prstGeom prst="rect">
            <a:avLst/>
          </a:prstGeom>
          <a:noFill/>
        </p:spPr>
        <p:txBody>
          <a:bodyPr wrap="none" lIns="0">
            <a:spAutoFit/>
          </a:bodyPr>
          <a:lstStyle/>
          <a:p>
            <a:r>
              <a:rPr sz="1400" b="1">
                <a:solidFill>
                  <a:srgbClr val="0391F2"/>
                </a:solidFill>
              </a:rPr>
              <a:t>01</a:t>
            </a:r>
          </a:p>
        </p:txBody>
      </p:sp>
      <p:sp>
        <p:nvSpPr>
          <p:cNvPr id="11" name="TextBox 10"/>
          <p:cNvSpPr txBox="1"/>
          <p:nvPr/>
        </p:nvSpPr>
        <p:spPr>
          <a:xfrm>
            <a:off x="713232" y="3749040"/>
            <a:ext cx="2286000" cy="477054"/>
          </a:xfrm>
          <a:prstGeom prst="rect">
            <a:avLst/>
          </a:prstGeom>
          <a:noFill/>
        </p:spPr>
        <p:txBody>
          <a:bodyPr wrap="square" lIns="0" tIns="0">
            <a:spAutoFit/>
          </a:bodyPr>
          <a:lstStyle/>
          <a:p>
            <a:r>
              <a:rPr sz="1400" b="1">
                <a:solidFill>
                  <a:srgbClr val="000000"/>
                </a:solidFill>
              </a:rPr>
              <a:t>Hiring requests: a partner, not a roadblock</a:t>
            </a:r>
          </a:p>
        </p:txBody>
      </p:sp>
      <p:sp>
        <p:nvSpPr>
          <p:cNvPr id="12" name="Rounded Rectangle 11"/>
          <p:cNvSpPr/>
          <p:nvPr/>
        </p:nvSpPr>
        <p:spPr>
          <a:xfrm>
            <a:off x="3355848"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3" name="TextBox 12"/>
          <p:cNvSpPr txBox="1"/>
          <p:nvPr/>
        </p:nvSpPr>
        <p:spPr>
          <a:xfrm>
            <a:off x="3538728" y="3419856"/>
            <a:ext cx="310341" cy="307777"/>
          </a:xfrm>
          <a:prstGeom prst="rect">
            <a:avLst/>
          </a:prstGeom>
          <a:noFill/>
        </p:spPr>
        <p:txBody>
          <a:bodyPr wrap="none" lIns="0">
            <a:spAutoFit/>
          </a:bodyPr>
          <a:lstStyle/>
          <a:p>
            <a:r>
              <a:rPr sz="1400" b="1">
                <a:solidFill>
                  <a:srgbClr val="0391F2"/>
                </a:solidFill>
              </a:rPr>
              <a:t>02</a:t>
            </a:r>
          </a:p>
        </p:txBody>
      </p:sp>
      <p:sp>
        <p:nvSpPr>
          <p:cNvPr id="14" name="TextBox 13"/>
          <p:cNvSpPr txBox="1"/>
          <p:nvPr/>
        </p:nvSpPr>
        <p:spPr>
          <a:xfrm>
            <a:off x="3538728" y="3749040"/>
            <a:ext cx="2459736" cy="692497"/>
          </a:xfrm>
          <a:prstGeom prst="rect">
            <a:avLst/>
          </a:prstGeom>
          <a:noFill/>
        </p:spPr>
        <p:txBody>
          <a:bodyPr wrap="square" lIns="0" tIns="0">
            <a:spAutoFit/>
          </a:bodyPr>
          <a:lstStyle/>
          <a:p>
            <a:r>
              <a:rPr lang="en-US" sz="1400" b="1" dirty="0">
                <a:solidFill>
                  <a:srgbClr val="000000"/>
                </a:solidFill>
              </a:rPr>
              <a:t>Review SF stages to see the pipeline earlier, so RM can plan for demand sooner</a:t>
            </a:r>
            <a:endParaRPr sz="1400" b="1" dirty="0">
              <a:solidFill>
                <a:srgbClr val="000000"/>
              </a:solidFill>
            </a:endParaRPr>
          </a:p>
        </p:txBody>
      </p:sp>
      <p:sp>
        <p:nvSpPr>
          <p:cNvPr id="15" name="Rounded Rectangle 14"/>
          <p:cNvSpPr/>
          <p:nvPr/>
        </p:nvSpPr>
        <p:spPr>
          <a:xfrm>
            <a:off x="6181344"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6" name="TextBox 15"/>
          <p:cNvSpPr txBox="1"/>
          <p:nvPr/>
        </p:nvSpPr>
        <p:spPr>
          <a:xfrm>
            <a:off x="6364224" y="3419856"/>
            <a:ext cx="308739" cy="307777"/>
          </a:xfrm>
          <a:prstGeom prst="rect">
            <a:avLst/>
          </a:prstGeom>
          <a:noFill/>
        </p:spPr>
        <p:txBody>
          <a:bodyPr wrap="none" lIns="0">
            <a:spAutoFit/>
          </a:bodyPr>
          <a:lstStyle/>
          <a:p>
            <a:r>
              <a:rPr sz="1400" b="1">
                <a:solidFill>
                  <a:srgbClr val="0391F2"/>
                </a:solidFill>
              </a:rPr>
              <a:t>03</a:t>
            </a:r>
          </a:p>
        </p:txBody>
      </p:sp>
      <p:sp>
        <p:nvSpPr>
          <p:cNvPr id="17" name="TextBox 16"/>
          <p:cNvSpPr txBox="1"/>
          <p:nvPr/>
        </p:nvSpPr>
        <p:spPr>
          <a:xfrm>
            <a:off x="6364224" y="3749040"/>
            <a:ext cx="2286000" cy="692497"/>
          </a:xfrm>
          <a:prstGeom prst="rect">
            <a:avLst/>
          </a:prstGeom>
          <a:noFill/>
        </p:spPr>
        <p:txBody>
          <a:bodyPr wrap="square" lIns="0" tIns="0">
            <a:spAutoFit/>
          </a:bodyPr>
          <a:lstStyle/>
          <a:p>
            <a:r>
              <a:rPr lang="en-US" sz="1400" b="1" dirty="0">
                <a:solidFill>
                  <a:srgbClr val="000000"/>
                </a:solidFill>
              </a:rPr>
              <a:t>Resource managers and HR as one team for managers</a:t>
            </a:r>
          </a:p>
        </p:txBody>
      </p:sp>
      <p:sp>
        <p:nvSpPr>
          <p:cNvPr id="18" name="Rounded Rectangle 17"/>
          <p:cNvSpPr/>
          <p:nvPr/>
        </p:nvSpPr>
        <p:spPr>
          <a:xfrm>
            <a:off x="9006840"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9" name="TextBox 18"/>
          <p:cNvSpPr txBox="1"/>
          <p:nvPr/>
        </p:nvSpPr>
        <p:spPr>
          <a:xfrm>
            <a:off x="9189720" y="3419856"/>
            <a:ext cx="310341" cy="307777"/>
          </a:xfrm>
          <a:prstGeom prst="rect">
            <a:avLst/>
          </a:prstGeom>
          <a:noFill/>
        </p:spPr>
        <p:txBody>
          <a:bodyPr wrap="none" lIns="0">
            <a:spAutoFit/>
          </a:bodyPr>
          <a:lstStyle/>
          <a:p>
            <a:r>
              <a:rPr sz="1400" b="1">
                <a:solidFill>
                  <a:srgbClr val="0391F2"/>
                </a:solidFill>
              </a:rPr>
              <a:t>04</a:t>
            </a:r>
          </a:p>
        </p:txBody>
      </p:sp>
      <p:sp>
        <p:nvSpPr>
          <p:cNvPr id="20" name="TextBox 19"/>
          <p:cNvSpPr txBox="1"/>
          <p:nvPr/>
        </p:nvSpPr>
        <p:spPr>
          <a:xfrm>
            <a:off x="9189720" y="3749040"/>
            <a:ext cx="2286000" cy="261610"/>
          </a:xfrm>
          <a:prstGeom prst="rect">
            <a:avLst/>
          </a:prstGeom>
          <a:noFill/>
        </p:spPr>
        <p:txBody>
          <a:bodyPr wrap="square" lIns="0" tIns="0">
            <a:spAutoFit/>
          </a:bodyPr>
          <a:lstStyle/>
          <a:p>
            <a:r>
              <a:rPr sz="1400" b="1">
                <a:solidFill>
                  <a:srgbClr val="000000"/>
                </a:solidFill>
              </a:rPr>
              <a:t>Hiring ahead of need</a:t>
            </a:r>
          </a:p>
        </p:txBody>
      </p:sp>
      <p:sp>
        <p:nvSpPr>
          <p:cNvPr id="21" name="Rounded Rectangle 20"/>
          <p:cNvSpPr/>
          <p:nvPr/>
        </p:nvSpPr>
        <p:spPr>
          <a:xfrm>
            <a:off x="530352" y="46634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22" name="TextBox 21"/>
          <p:cNvSpPr txBox="1"/>
          <p:nvPr/>
        </p:nvSpPr>
        <p:spPr>
          <a:xfrm>
            <a:off x="713232" y="4791456"/>
            <a:ext cx="311945" cy="307777"/>
          </a:xfrm>
          <a:prstGeom prst="rect">
            <a:avLst/>
          </a:prstGeom>
          <a:noFill/>
        </p:spPr>
        <p:txBody>
          <a:bodyPr wrap="none" lIns="0">
            <a:spAutoFit/>
          </a:bodyPr>
          <a:lstStyle/>
          <a:p>
            <a:r>
              <a:rPr sz="1400" b="1">
                <a:solidFill>
                  <a:srgbClr val="0391F2"/>
                </a:solidFill>
              </a:rPr>
              <a:t>05</a:t>
            </a:r>
          </a:p>
        </p:txBody>
      </p:sp>
      <p:sp>
        <p:nvSpPr>
          <p:cNvPr id="23" name="TextBox 22"/>
          <p:cNvSpPr txBox="1"/>
          <p:nvPr/>
        </p:nvSpPr>
        <p:spPr>
          <a:xfrm>
            <a:off x="713232" y="5120640"/>
            <a:ext cx="2286000" cy="477054"/>
          </a:xfrm>
          <a:prstGeom prst="rect">
            <a:avLst/>
          </a:prstGeom>
          <a:noFill/>
        </p:spPr>
        <p:txBody>
          <a:bodyPr wrap="square" lIns="0" tIns="0">
            <a:spAutoFit/>
          </a:bodyPr>
          <a:lstStyle/>
          <a:p>
            <a:r>
              <a:rPr lang="en-US" sz="1400" b="1" dirty="0">
                <a:solidFill>
                  <a:srgbClr val="000000"/>
                </a:solidFill>
              </a:rPr>
              <a:t>Adobe demand as an example</a:t>
            </a:r>
          </a:p>
        </p:txBody>
      </p:sp>
      <p:sp>
        <p:nvSpPr>
          <p:cNvPr id="24" name="Rounded Rectangle 23"/>
          <p:cNvSpPr/>
          <p:nvPr/>
        </p:nvSpPr>
        <p:spPr>
          <a:xfrm>
            <a:off x="3355848"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25" name="TextBox 24"/>
          <p:cNvSpPr txBox="1"/>
          <p:nvPr/>
        </p:nvSpPr>
        <p:spPr>
          <a:xfrm>
            <a:off x="3538728" y="4791456"/>
            <a:ext cx="311945" cy="307777"/>
          </a:xfrm>
          <a:prstGeom prst="rect">
            <a:avLst/>
          </a:prstGeom>
          <a:noFill/>
        </p:spPr>
        <p:txBody>
          <a:bodyPr wrap="none" lIns="0">
            <a:spAutoFit/>
          </a:bodyPr>
          <a:lstStyle/>
          <a:p>
            <a:r>
              <a:rPr sz="1400" b="1">
                <a:solidFill>
                  <a:srgbClr val="0391F2"/>
                </a:solidFill>
              </a:rPr>
              <a:t>06</a:t>
            </a:r>
          </a:p>
        </p:txBody>
      </p:sp>
      <p:sp>
        <p:nvSpPr>
          <p:cNvPr id="26" name="TextBox 25"/>
          <p:cNvSpPr txBox="1"/>
          <p:nvPr/>
        </p:nvSpPr>
        <p:spPr>
          <a:xfrm>
            <a:off x="3538728" y="5120640"/>
            <a:ext cx="2286000" cy="261610"/>
          </a:xfrm>
          <a:prstGeom prst="rect">
            <a:avLst/>
          </a:prstGeom>
          <a:noFill/>
        </p:spPr>
        <p:txBody>
          <a:bodyPr wrap="square" lIns="0" tIns="0">
            <a:spAutoFit/>
          </a:bodyPr>
          <a:lstStyle/>
          <a:p>
            <a:r>
              <a:rPr sz="1400" b="1" dirty="0">
                <a:solidFill>
                  <a:schemeClr val="bg1"/>
                </a:solidFill>
              </a:rPr>
              <a:t>Skills data in one place</a:t>
            </a:r>
          </a:p>
        </p:txBody>
      </p:sp>
      <p:sp>
        <p:nvSpPr>
          <p:cNvPr id="27" name="Rounded Rectangle 26"/>
          <p:cNvSpPr/>
          <p:nvPr/>
        </p:nvSpPr>
        <p:spPr>
          <a:xfrm>
            <a:off x="6181344"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28" name="TextBox 27"/>
          <p:cNvSpPr txBox="1"/>
          <p:nvPr/>
        </p:nvSpPr>
        <p:spPr>
          <a:xfrm>
            <a:off x="6364224" y="4791456"/>
            <a:ext cx="300723" cy="307777"/>
          </a:xfrm>
          <a:prstGeom prst="rect">
            <a:avLst/>
          </a:prstGeom>
          <a:noFill/>
        </p:spPr>
        <p:txBody>
          <a:bodyPr wrap="none" lIns="0">
            <a:spAutoFit/>
          </a:bodyPr>
          <a:lstStyle/>
          <a:p>
            <a:r>
              <a:rPr sz="1400" b="1">
                <a:solidFill>
                  <a:srgbClr val="0391F2"/>
                </a:solidFill>
              </a:rPr>
              <a:t>07</a:t>
            </a:r>
          </a:p>
        </p:txBody>
      </p:sp>
      <p:sp>
        <p:nvSpPr>
          <p:cNvPr id="29" name="TextBox 28"/>
          <p:cNvSpPr txBox="1"/>
          <p:nvPr/>
        </p:nvSpPr>
        <p:spPr>
          <a:xfrm>
            <a:off x="6364224" y="5120640"/>
            <a:ext cx="2286000" cy="477054"/>
          </a:xfrm>
          <a:prstGeom prst="rect">
            <a:avLst/>
          </a:prstGeom>
          <a:noFill/>
        </p:spPr>
        <p:txBody>
          <a:bodyPr wrap="square" lIns="0" tIns="0">
            <a:spAutoFit/>
          </a:bodyPr>
          <a:lstStyle/>
          <a:p>
            <a:r>
              <a:rPr lang="en-US" sz="1400" b="1" dirty="0">
                <a:solidFill>
                  <a:schemeClr val="bg1"/>
                </a:solidFill>
              </a:rPr>
              <a:t>A smart bench: flexing up and down</a:t>
            </a:r>
          </a:p>
        </p:txBody>
      </p:sp>
      <p:sp>
        <p:nvSpPr>
          <p:cNvPr id="30" name="Rounded Rectangle 29"/>
          <p:cNvSpPr/>
          <p:nvPr/>
        </p:nvSpPr>
        <p:spPr>
          <a:xfrm>
            <a:off x="9006840"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31" name="TextBox 30"/>
          <p:cNvSpPr txBox="1"/>
          <p:nvPr/>
        </p:nvSpPr>
        <p:spPr>
          <a:xfrm>
            <a:off x="9189720" y="4791456"/>
            <a:ext cx="311945" cy="307777"/>
          </a:xfrm>
          <a:prstGeom prst="rect">
            <a:avLst/>
          </a:prstGeom>
          <a:noFill/>
        </p:spPr>
        <p:txBody>
          <a:bodyPr wrap="none" lIns="0">
            <a:spAutoFit/>
          </a:bodyPr>
          <a:lstStyle/>
          <a:p>
            <a:r>
              <a:rPr sz="1400" b="1">
                <a:solidFill>
                  <a:srgbClr val="0391F2"/>
                </a:solidFill>
              </a:rPr>
              <a:t>08</a:t>
            </a:r>
          </a:p>
        </p:txBody>
      </p:sp>
      <p:sp>
        <p:nvSpPr>
          <p:cNvPr id="32" name="TextBox 31"/>
          <p:cNvSpPr txBox="1"/>
          <p:nvPr/>
        </p:nvSpPr>
        <p:spPr>
          <a:xfrm>
            <a:off x="9189720" y="5120640"/>
            <a:ext cx="2286000" cy="477054"/>
          </a:xfrm>
          <a:prstGeom prst="rect">
            <a:avLst/>
          </a:prstGeom>
          <a:noFill/>
        </p:spPr>
        <p:txBody>
          <a:bodyPr wrap="square" lIns="0" tIns="0">
            <a:spAutoFit/>
          </a:bodyPr>
          <a:lstStyle/>
          <a:p>
            <a:r>
              <a:rPr sz="1400" b="1" dirty="0">
                <a:solidFill>
                  <a:schemeClr val="bg1"/>
                </a:solidFill>
              </a:rPr>
              <a:t>Romulus and supply-and-demand data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25.jpg"/>
          <p:cNvPicPr>
            <a:picLocks noChangeAspect="1"/>
          </p:cNvPicPr>
          <p:nvPr/>
        </p:nvPicPr>
        <p:blipFill>
          <a:blip r:embed="rId2"/>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7" name="Rectangle 6"/>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318719"/>
            <a:ext cx="7000000" cy="2870201"/>
          </a:xfrm>
        </p:spPr>
        <p:txBody>
          <a:bodyPr/>
          <a:lstStyle/>
          <a:p>
            <a:r>
              <a:rPr>
                <a:latin typeface="+mn-lt"/>
              </a:rPr>
              <a:t>Capacity Planning &amp; Romulus</a:t>
            </a:r>
          </a:p>
        </p:txBody>
      </p:sp>
      <p:sp>
        <p:nvSpPr>
          <p:cNvPr id="3" name="Text Placeholder 2"/>
          <p:cNvSpPr>
            <a:spLocks noGrp="1"/>
          </p:cNvSpPr>
          <p:nvPr>
            <p:ph type="body" sz="quarter" idx="15"/>
          </p:nvPr>
        </p:nvSpPr>
        <p:spPr/>
        <p:txBody>
          <a:bodyPr/>
          <a:lstStyle/>
          <a:p>
            <a:r>
              <a:rPr>
                <a:latin typeface="+mn-lt"/>
              </a:rPr>
              <a:t>PRIORITY 04</a:t>
            </a:r>
          </a:p>
        </p:txBody>
      </p:sp>
      <p:sp>
        <p:nvSpPr>
          <p:cNvPr id="4" name="TextBox 3"/>
          <p:cNvSpPr txBox="1"/>
          <p:nvPr/>
        </p:nvSpPr>
        <p:spPr>
          <a:xfrm>
            <a:off x="914400" y="4069080"/>
            <a:ext cx="6766560" cy="707886"/>
          </a:xfrm>
          <a:prstGeom prst="rect">
            <a:avLst/>
          </a:prstGeom>
          <a:noFill/>
        </p:spPr>
        <p:txBody>
          <a:bodyPr wrap="square">
            <a:spAutoFit/>
          </a:bodyPr>
          <a:lstStyle/>
          <a:p>
            <a:r>
              <a:rPr sz="2000">
                <a:solidFill>
                  <a:srgbClr val="FFFFFF"/>
                </a:solidFill>
              </a:rPr>
              <a:t>Closing the skills and bench visibility gap so we can staff ahead of demand.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descr="k_rail26.jpg"/>
          <p:cNvPicPr>
            <a:picLocks noChangeAspect="1"/>
          </p:cNvPicPr>
          <p:nvPr/>
        </p:nvPicPr>
        <p:blipFill>
          <a:blip r:embed="rId3"/>
          <a:stretch>
            <a:fillRect/>
          </a:stretch>
        </p:blipFill>
        <p:spPr>
          <a:xfrm>
            <a:off x="0" y="0"/>
            <a:ext cx="3657600" cy="6858000"/>
          </a:xfrm>
          <a:prstGeom prst="rect">
            <a:avLst/>
          </a:prstGeom>
        </p:spPr>
      </p:pic>
      <p:sp>
        <p:nvSpPr>
          <p:cNvPr id="42" name="Rectangle 41"/>
          <p:cNvSpPr/>
          <p:nvPr/>
        </p:nvSpPr>
        <p:spPr>
          <a:xfrm>
            <a:off x="0" y="0"/>
            <a:ext cx="3657600" cy="6858000"/>
          </a:xfrm>
          <a:prstGeom prst="rect">
            <a:avLst/>
          </a:prstGeom>
          <a:gradFill rotWithShape="1">
            <a:gsLst>
              <a:gs pos="0">
                <a:srgbClr val="000000">
                  <a:alpha val="70000"/>
                </a:srgbClr>
              </a:gs>
              <a:gs pos="50000">
                <a:srgbClr val="000000">
                  <a:alpha val="60000"/>
                </a:srgbClr>
              </a:gs>
              <a:gs pos="100000">
                <a:srgbClr val="000000">
                  <a:alpha val="88000"/>
                </a:srgbClr>
              </a:gs>
            </a:gsLst>
            <a:lin ang="5400000" scaled="0"/>
          </a:gradFill>
          <a:ln>
            <a:noFill/>
          </a:ln>
        </p:spPr>
        <p:txBody>
          <a:bodyPr rtlCol="0" anchor="ctr"/>
          <a:lstStyle/>
          <a:p>
            <a:pPr algn="ctr"/>
          </a:p>
        </p:txBody>
      </p:sp>
      <p:sp>
        <p:nvSpPr>
          <p:cNvPr id="2" name="Title 1"/>
          <p:cNvSpPr>
            <a:spLocks noGrp="1"/>
          </p:cNvSpPr>
          <p:nvPr>
            <p:ph type="title"/>
          </p:nvPr>
        </p:nvSpPr>
        <p:spPr>
          <a:xfrm>
            <a:off x="640079" y="2103120"/>
            <a:ext cx="2569465" cy="1097280"/>
          </a:xfrm>
        </p:spPr>
        <p:txBody>
          <a:bodyPr wrap="square" anchor="t"/>
          <a:lstStyle/>
          <a:p>
            <a:r>
              <a:rPr sz="2400" b="1">
                <a:solidFill>
                  <a:srgbClr val="FFFFFF"/>
                </a:solidFill>
                <a:latin typeface="+mn-lt"/>
              </a:rPr>
              <a:t>Capacity Planning &amp; Romulus</a:t>
            </a:r>
          </a:p>
        </p:txBody>
      </p:sp>
      <p:sp>
        <p:nvSpPr>
          <p:cNvPr id="8" name="Label"/>
          <p:cNvSpPr txBox="1"/>
          <p:nvPr/>
        </p:nvSpPr>
        <p:spPr>
          <a:xfrm>
            <a:off x="640080" y="1828800"/>
            <a:ext cx="2377440" cy="228600"/>
          </a:xfrm>
          <a:prstGeom prst="rect">
            <a:avLst/>
          </a:prstGeom>
          <a:noFill/>
          <a:ln/>
        </p:spPr>
        <p:txBody>
          <a:bodyPr wrap="square" lIns="0" tIns="0" rIns="0" bIns="0" rtlCol="0" anchor="ctr"/>
          <a:lstStyle/>
          <a:p>
            <a:pPr marL="0" indent="0">
              <a:buNone/>
            </a:pPr>
            <a:r>
              <a:rPr lang="en-US" sz="900" b="1" kern="0" spc="300">
                <a:solidFill>
                  <a:srgbClr val="FFFFFF"/>
                </a:solidFill>
              </a:rPr>
              <a:t>WIP</a:t>
            </a:r>
            <a:endParaRPr lang="en-US" sz="900">
              <a:solidFill>
                <a:srgbClr val="FFFFFF"/>
              </a:solidFill>
            </a:endParaRPr>
          </a:p>
        </p:txBody>
      </p:sp>
      <p:sp>
        <p:nvSpPr>
          <p:cNvPr id="11" name="Timeline line"/>
          <p:cNvSpPr/>
          <p:nvPr/>
        </p:nvSpPr>
        <p:spPr>
          <a:xfrm>
            <a:off x="704088" y="3456432"/>
            <a:ext cx="0" cy="2377440"/>
          </a:xfrm>
          <a:prstGeom prst="line">
            <a:avLst/>
          </a:prstGeom>
          <a:noFill/>
          <a:ln w="15875">
            <a:solidFill>
              <a:srgbClr val="0391F2"/>
            </a:solidFill>
            <a:prstDash val="solid"/>
          </a:ln>
        </p:spPr>
        <p:txBody>
          <a:bodyPr/>
          <a:lstStyle/>
          <a:p>
            <a:endParaRPr lang="en-US">
              <a:solidFill>
                <a:srgbClr val="FFFFFF"/>
              </a:solidFill>
            </a:endParaRPr>
          </a:p>
        </p:txBody>
      </p:sp>
      <p:sp>
        <p:nvSpPr>
          <p:cNvPr id="12" name="Timeline dot"/>
          <p:cNvSpPr/>
          <p:nvPr/>
        </p:nvSpPr>
        <p:spPr>
          <a:xfrm>
            <a:off x="640080" y="3401568"/>
            <a:ext cx="128016" cy="128016"/>
          </a:xfrm>
          <a:prstGeom prst="ellipse">
            <a:avLst/>
          </a:prstGeom>
          <a:solidFill>
            <a:srgbClr val="0391F2"/>
          </a:solidFill>
          <a:ln w="12700">
            <a:solidFill>
              <a:srgbClr val="FFFFFF"/>
            </a:solidFill>
            <a:prstDash val="solid"/>
          </a:ln>
        </p:spPr>
        <p:txBody>
          <a:bodyPr/>
          <a:lstStyle/>
          <a:p>
            <a:endParaRPr lang="en-US">
              <a:solidFill>
                <a:srgbClr val="FFFFFF"/>
              </a:solidFill>
            </a:endParaRPr>
          </a:p>
        </p:txBody>
      </p:sp>
      <p:sp>
        <p:nvSpPr>
          <p:cNvPr id="13" name="Timeline label"/>
          <p:cNvSpPr txBox="1"/>
          <p:nvPr/>
        </p:nvSpPr>
        <p:spPr>
          <a:xfrm>
            <a:off x="960120" y="3310128"/>
            <a:ext cx="2377440" cy="310896"/>
          </a:xfrm>
          <a:prstGeom prst="rect">
            <a:avLst/>
          </a:prstGeom>
          <a:noFill/>
          <a:ln/>
        </p:spPr>
        <p:txBody>
          <a:bodyPr wrap="square" lIns="0" tIns="0" rIns="0" bIns="0" rtlCol="0" anchor="t"/>
          <a:lstStyle/>
          <a:p>
            <a:pPr marL="0" indent="0">
              <a:buNone/>
            </a:pPr>
            <a:r>
              <a:rPr lang="en-US" sz="1872">
                <a:solidFill>
                  <a:srgbClr val="0391F2"/>
                </a:solidFill>
                <a:ea typeface="Proxima Nova" pitchFamily="34" charset="-122"/>
                <a:cs typeface="Proxima Nova" pitchFamily="34" charset="-120"/>
              </a:rPr>
              <a:t>This year</a:t>
            </a:r>
            <a:endParaRPr lang="en-US" sz="2400">
              <a:solidFill>
                <a:srgbClr val="FFFFFF"/>
              </a:solidFill>
            </a:endParaRPr>
          </a:p>
        </p:txBody>
      </p:sp>
      <p:sp>
        <p:nvSpPr>
          <p:cNvPr id="14" name="Timeline text"/>
          <p:cNvSpPr txBox="1"/>
          <p:nvPr/>
        </p:nvSpPr>
        <p:spPr>
          <a:xfrm>
            <a:off x="960120" y="3639312"/>
            <a:ext cx="2377440" cy="566928"/>
          </a:xfrm>
          <a:prstGeom prst="rect">
            <a:avLst/>
          </a:prstGeom>
          <a:noFill/>
          <a:ln/>
        </p:spPr>
        <p:txBody>
          <a:bodyPr wrap="square" lIns="0" tIns="0" rIns="0" bIns="0" rtlCol="0" anchor="t"/>
          <a:lstStyle/>
          <a:p>
            <a:pPr marL="0" indent="0">
              <a:buNone/>
            </a:pPr>
            <a:r>
              <a:rPr lang="en-US" sz="1050">
                <a:solidFill>
                  <a:srgbClr val="FFFFFF"/>
                </a:solidFill>
              </a:rPr>
              <a:t>We started with resource management, then stood up capacity planning.</a:t>
            </a:r>
          </a:p>
        </p:txBody>
      </p:sp>
      <p:sp>
        <p:nvSpPr>
          <p:cNvPr id="15" name="Timeline dot"/>
          <p:cNvSpPr/>
          <p:nvPr/>
        </p:nvSpPr>
        <p:spPr>
          <a:xfrm>
            <a:off x="640080" y="4220271"/>
            <a:ext cx="128016" cy="128016"/>
          </a:xfrm>
          <a:prstGeom prst="ellipse">
            <a:avLst/>
          </a:prstGeom>
          <a:solidFill>
            <a:srgbClr val="0391F2"/>
          </a:solidFill>
          <a:ln w="12700">
            <a:solidFill>
              <a:srgbClr val="FFFFFF"/>
            </a:solidFill>
            <a:prstDash val="solid"/>
          </a:ln>
        </p:spPr>
        <p:txBody>
          <a:bodyPr/>
          <a:lstStyle/>
          <a:p>
            <a:endParaRPr lang="en-US">
              <a:solidFill>
                <a:srgbClr val="FFFFFF"/>
              </a:solidFill>
            </a:endParaRPr>
          </a:p>
        </p:txBody>
      </p:sp>
      <p:sp>
        <p:nvSpPr>
          <p:cNvPr id="16" name="Timeline label"/>
          <p:cNvSpPr txBox="1"/>
          <p:nvPr/>
        </p:nvSpPr>
        <p:spPr>
          <a:xfrm>
            <a:off x="960120" y="4128831"/>
            <a:ext cx="2377440" cy="310896"/>
          </a:xfrm>
          <a:prstGeom prst="rect">
            <a:avLst/>
          </a:prstGeom>
          <a:noFill/>
          <a:ln/>
        </p:spPr>
        <p:txBody>
          <a:bodyPr wrap="square" lIns="0" tIns="0" rIns="0" bIns="0" rtlCol="0" anchor="t"/>
          <a:lstStyle/>
          <a:p>
            <a:pPr marL="0" indent="0">
              <a:buNone/>
            </a:pPr>
            <a:r>
              <a:rPr lang="en-US" sz="1872">
                <a:solidFill>
                  <a:srgbClr val="0391F2"/>
                </a:solidFill>
                <a:ea typeface="Proxima Nova" pitchFamily="34" charset="-122"/>
                <a:cs typeface="Proxima Nova" pitchFamily="34" charset="-120"/>
              </a:rPr>
              <a:t>Next year</a:t>
            </a:r>
            <a:endParaRPr lang="en-US" sz="2400">
              <a:solidFill>
                <a:srgbClr val="FFFFFF"/>
              </a:solidFill>
            </a:endParaRPr>
          </a:p>
        </p:txBody>
      </p:sp>
      <p:sp>
        <p:nvSpPr>
          <p:cNvPr id="17" name="Timeline text"/>
          <p:cNvSpPr txBox="1"/>
          <p:nvPr/>
        </p:nvSpPr>
        <p:spPr>
          <a:xfrm>
            <a:off x="960120" y="4458015"/>
            <a:ext cx="2377440" cy="731520"/>
          </a:xfrm>
          <a:prstGeom prst="rect">
            <a:avLst/>
          </a:prstGeom>
          <a:noFill/>
          <a:ln/>
        </p:spPr>
        <p:txBody>
          <a:bodyPr wrap="square" lIns="0" tIns="0" rIns="0" bIns="0" rtlCol="0" anchor="t"/>
          <a:lstStyle/>
          <a:p>
            <a:pPr marL="0" indent="0">
              <a:buNone/>
            </a:pPr>
            <a:r>
              <a:rPr lang="en-US" sz="1050">
                <a:solidFill>
                  <a:srgbClr val="FFFFFF"/>
                </a:solidFill>
              </a:rPr>
              <a:t>Capacity planning becomes how we run things and our priority focus for enhancement, with resource management as its child.</a:t>
            </a:r>
          </a:p>
        </p:txBody>
      </p:sp>
      <p:sp>
        <p:nvSpPr>
          <p:cNvPr id="18" name="Timeline dot"/>
          <p:cNvSpPr/>
          <p:nvPr/>
        </p:nvSpPr>
        <p:spPr>
          <a:xfrm>
            <a:off x="640080" y="5266944"/>
            <a:ext cx="128016" cy="128016"/>
          </a:xfrm>
          <a:prstGeom prst="ellipse">
            <a:avLst/>
          </a:prstGeom>
          <a:solidFill>
            <a:srgbClr val="0391F2"/>
          </a:solidFill>
          <a:ln w="12700">
            <a:solidFill>
              <a:srgbClr val="FFFFFF"/>
            </a:solidFill>
            <a:prstDash val="solid"/>
          </a:ln>
        </p:spPr>
        <p:txBody>
          <a:bodyPr/>
          <a:lstStyle/>
          <a:p>
            <a:endParaRPr lang="en-US">
              <a:solidFill>
                <a:srgbClr val="FFFFFF"/>
              </a:solidFill>
            </a:endParaRPr>
          </a:p>
        </p:txBody>
      </p:sp>
      <p:sp>
        <p:nvSpPr>
          <p:cNvPr id="19" name="Timeline label"/>
          <p:cNvSpPr txBox="1"/>
          <p:nvPr/>
        </p:nvSpPr>
        <p:spPr>
          <a:xfrm>
            <a:off x="960120" y="5175504"/>
            <a:ext cx="2377440" cy="310896"/>
          </a:xfrm>
          <a:prstGeom prst="rect">
            <a:avLst/>
          </a:prstGeom>
          <a:noFill/>
          <a:ln/>
        </p:spPr>
        <p:txBody>
          <a:bodyPr wrap="square" lIns="0" tIns="0" rIns="0" bIns="0" rtlCol="0" anchor="t"/>
          <a:lstStyle/>
          <a:p>
            <a:pPr marL="0" indent="0">
              <a:buNone/>
            </a:pPr>
            <a:r>
              <a:rPr lang="en-US" sz="1872">
                <a:solidFill>
                  <a:srgbClr val="0391F2"/>
                </a:solidFill>
                <a:ea typeface="Proxima Nova" pitchFamily="34" charset="-122"/>
                <a:cs typeface="Proxima Nova" pitchFamily="34" charset="-120"/>
              </a:rPr>
              <a:t>Coming weeks</a:t>
            </a:r>
            <a:endParaRPr lang="en-US" sz="2400">
              <a:solidFill>
                <a:srgbClr val="FFFFFF"/>
              </a:solidFill>
            </a:endParaRPr>
          </a:p>
        </p:txBody>
      </p:sp>
      <p:sp>
        <p:nvSpPr>
          <p:cNvPr id="20" name="Timeline text"/>
          <p:cNvSpPr txBox="1"/>
          <p:nvPr/>
        </p:nvSpPr>
        <p:spPr>
          <a:xfrm>
            <a:off x="960120" y="5504688"/>
            <a:ext cx="2377440" cy="868680"/>
          </a:xfrm>
          <a:prstGeom prst="rect">
            <a:avLst/>
          </a:prstGeom>
          <a:noFill/>
          <a:ln/>
        </p:spPr>
        <p:txBody>
          <a:bodyPr wrap="square" lIns="0" tIns="0" rIns="0" bIns="0" rtlCol="0" anchor="t"/>
          <a:lstStyle/>
          <a:p>
            <a:pPr marL="0" indent="0">
              <a:buNone/>
            </a:pPr>
            <a:r>
              <a:rPr lang="en-US" sz="1050">
                <a:solidFill>
                  <a:srgbClr val="FFFFFF"/>
                </a:solidFill>
              </a:rPr>
              <a:t>Like our other ops top priorities, we will build this out as an epic with stories underneath, so we can focus and prioritize.</a:t>
            </a:r>
          </a:p>
        </p:txBody>
      </p:sp>
      <p:sp>
        <p:nvSpPr>
          <p:cNvPr id="21" name="Goal strip"/>
          <p:cNvSpPr/>
          <p:nvPr/>
        </p:nvSpPr>
        <p:spPr>
          <a:xfrm>
            <a:off x="4114800" y="457200"/>
            <a:ext cx="7543800" cy="603504"/>
          </a:xfrm>
          <a:prstGeom prst="roundRect">
            <a:avLst>
              <a:gd name="adj" fmla="val 15152"/>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2" name="Goal"/>
          <p:cNvSpPr txBox="1"/>
          <p:nvPr/>
        </p:nvSpPr>
        <p:spPr>
          <a:xfrm>
            <a:off x="4343400" y="457200"/>
            <a:ext cx="7132320" cy="603504"/>
          </a:xfrm>
          <a:prstGeom prst="rect">
            <a:avLst/>
          </a:prstGeom>
          <a:noFill/>
          <a:ln/>
        </p:spPr>
        <p:txBody>
          <a:bodyPr wrap="square" lIns="0" tIns="0" rIns="0" bIns="0" rtlCol="0" anchor="ctr"/>
          <a:lstStyle/>
          <a:p>
            <a:pPr marL="0" indent="0">
              <a:buNone/>
            </a:pPr>
            <a:r>
              <a:rPr lang="en-US" sz="950" b="1">
                <a:solidFill>
                  <a:srgbClr val="000000"/>
                </a:solidFill>
              </a:rPr>
              <a:t>THE GOAL    </a:t>
            </a:r>
            <a:r>
              <a:rPr lang="en-US" sz="1300" b="1">
                <a:solidFill>
                  <a:srgbClr val="000000"/>
                </a:solidFill>
              </a:rPr>
              <a:t>Move from insight to action: close the skills and bench visibility gap so we can staff ahead of demand.</a:t>
            </a:r>
            <a:endParaRPr lang="en-US" sz="950">
              <a:solidFill>
                <a:srgbClr val="000000"/>
              </a:solidFill>
            </a:endParaRPr>
          </a:p>
        </p:txBody>
      </p:sp>
      <p:sp>
        <p:nvSpPr>
          <p:cNvPr id="23" name="Pillar heading"/>
          <p:cNvSpPr txBox="1"/>
          <p:nvPr/>
        </p:nvSpPr>
        <p:spPr>
          <a:xfrm>
            <a:off x="4114800" y="1207008"/>
            <a:ext cx="2395728" cy="411480"/>
          </a:xfrm>
          <a:prstGeom prst="rect">
            <a:avLst/>
          </a:prstGeom>
          <a:noFill/>
          <a:ln/>
        </p:spPr>
        <p:txBody>
          <a:bodyPr wrap="square" lIns="0" tIns="0" rIns="0" bIns="0" rtlCol="0" anchor="t"/>
          <a:lstStyle/>
          <a:p>
            <a:pPr marL="0" indent="0">
              <a:buNone/>
            </a:pPr>
            <a:r>
              <a:rPr lang="en-US" sz="1300" b="1">
                <a:solidFill>
                  <a:srgbClr val="0328D1"/>
                </a:solidFill>
              </a:rPr>
              <a:t>Pillar 1: Know who we have</a:t>
            </a:r>
            <a:endParaRPr lang="en-US" sz="1300">
              <a:solidFill>
                <a:srgbClr val="000000"/>
              </a:solidFill>
            </a:endParaRPr>
          </a:p>
        </p:txBody>
      </p:sp>
      <p:sp>
        <p:nvSpPr>
          <p:cNvPr id="24" name="Pillar copy"/>
          <p:cNvSpPr txBox="1"/>
          <p:nvPr/>
        </p:nvSpPr>
        <p:spPr>
          <a:xfrm>
            <a:off x="4114800" y="1580007"/>
            <a:ext cx="2286000" cy="1554480"/>
          </a:xfrm>
          <a:prstGeom prst="rect">
            <a:avLst/>
          </a:prstGeom>
          <a:noFill/>
          <a:ln/>
        </p:spPr>
        <p:txBody>
          <a:bodyPr wrap="square" lIns="0" tIns="0" rIns="0" bIns="0" rtlCol="0" anchor="t"/>
          <a:lstStyle/>
          <a:p>
            <a:pPr marL="0" indent="0">
              <a:buNone/>
            </a:pPr>
            <a:r>
              <a:rPr lang="en-US" sz="1200" b="1">
                <a:solidFill>
                  <a:srgbClr val="000000"/>
                </a:solidFill>
                <a:ea typeface="Proxima Nova" pitchFamily="34" charset="-122"/>
                <a:cs typeface="Proxima Nova" pitchFamily="34" charset="-120"/>
              </a:rPr>
              <a:t>We need</a:t>
            </a:r>
            <a:r>
              <a:rPr lang="en-US" sz="1200">
                <a:solidFill>
                  <a:srgbClr val="000000"/>
                </a:solidFill>
                <a:ea typeface="Proxima Nova" pitchFamily="34" charset="-122"/>
                <a:cs typeface="Proxima Nova" pitchFamily="34" charset="-120"/>
              </a:rPr>
              <a:t> skills captured in one place we can search, </a:t>
            </a:r>
            <a:r>
              <a:rPr lang="en-US" sz="1200" b="1">
                <a:solidFill>
                  <a:srgbClr val="000000"/>
                </a:solidFill>
                <a:ea typeface="Proxima Nova" pitchFamily="34" charset="-122"/>
                <a:cs typeface="Proxima Nova" pitchFamily="34" charset="-120"/>
              </a:rPr>
              <a:t>so we can</a:t>
            </a:r>
            <a:r>
              <a:rPr lang="en-US" sz="1200">
                <a:solidFill>
                  <a:srgbClr val="000000"/>
                </a:solidFill>
                <a:ea typeface="Proxima Nova" pitchFamily="34" charset="-122"/>
                <a:cs typeface="Proxima Nova" pitchFamily="34" charset="-120"/>
              </a:rPr>
              <a:t> find the right person for a role across practices. </a:t>
            </a:r>
            <a:r>
              <a:rPr lang="en-US" sz="1200" b="1">
                <a:solidFill>
                  <a:srgbClr val="000000"/>
                </a:solidFill>
                <a:ea typeface="Proxima Nova" pitchFamily="34" charset="-122"/>
                <a:cs typeface="Proxima Nova" pitchFamily="34" charset="-120"/>
              </a:rPr>
              <a:t>The outcome:</a:t>
            </a:r>
            <a:r>
              <a:rPr lang="en-US" sz="1200">
                <a:solidFill>
                  <a:srgbClr val="000000"/>
                </a:solidFill>
                <a:ea typeface="Proxima Nova" pitchFamily="34" charset="-122"/>
                <a:cs typeface="Proxima Nova" pitchFamily="34" charset="-120"/>
              </a:rPr>
              <a:t> one trusted view of skills instead of separate sources.</a:t>
            </a:r>
            <a:endParaRPr lang="en-US" sz="1200">
              <a:solidFill>
                <a:srgbClr val="000000"/>
              </a:solidFill>
            </a:endParaRPr>
          </a:p>
        </p:txBody>
      </p:sp>
      <p:sp>
        <p:nvSpPr>
          <p:cNvPr id="25" name="Pillar divider"/>
          <p:cNvSpPr/>
          <p:nvPr/>
        </p:nvSpPr>
        <p:spPr>
          <a:xfrm>
            <a:off x="4114800" y="3291840"/>
            <a:ext cx="2395728" cy="0"/>
          </a:xfrm>
          <a:prstGeom prst="line">
            <a:avLst/>
          </a:prstGeom>
          <a:noFill/>
          <a:ln w="12700">
            <a:solidFill>
              <a:srgbClr val="D6D6DF"/>
            </a:solidFill>
            <a:prstDash val="solid"/>
          </a:ln>
        </p:spPr>
        <p:txBody>
          <a:bodyPr/>
          <a:lstStyle/>
          <a:p>
            <a:endParaRPr lang="en-US">
              <a:solidFill>
                <a:srgbClr val="000000"/>
              </a:solidFill>
            </a:endParaRPr>
          </a:p>
        </p:txBody>
      </p:sp>
      <p:sp>
        <p:nvSpPr>
          <p:cNvPr id="26" name="Status heading"/>
          <p:cNvSpPr txBox="1"/>
          <p:nvPr/>
        </p:nvSpPr>
        <p:spPr>
          <a:xfrm>
            <a:off x="4114800" y="3419856"/>
            <a:ext cx="2395728" cy="274320"/>
          </a:xfrm>
          <a:prstGeom prst="rect">
            <a:avLst/>
          </a:prstGeom>
          <a:noFill/>
          <a:ln/>
        </p:spPr>
        <p:txBody>
          <a:bodyPr wrap="square" lIns="0" tIns="0" rIns="0" bIns="0" rtlCol="0" anchor="t"/>
          <a:lstStyle/>
          <a:p>
            <a:pPr marL="0" indent="0">
              <a:buNone/>
            </a:pPr>
            <a:r>
              <a:rPr lang="en-US" sz="1300" b="1">
                <a:solidFill>
                  <a:srgbClr val="0328D1"/>
                </a:solidFill>
              </a:rPr>
              <a:t>Underway</a:t>
            </a:r>
            <a:endParaRPr lang="en-US" sz="1300">
              <a:solidFill>
                <a:srgbClr val="000000"/>
              </a:solidFill>
            </a:endParaRPr>
          </a:p>
        </p:txBody>
      </p:sp>
      <p:sp>
        <p:nvSpPr>
          <p:cNvPr id="27" name="Status copy"/>
          <p:cNvSpPr txBox="1"/>
          <p:nvPr/>
        </p:nvSpPr>
        <p:spPr>
          <a:xfrm>
            <a:off x="4114800" y="3749040"/>
            <a:ext cx="2395728" cy="1828800"/>
          </a:xfrm>
          <a:prstGeom prst="rect">
            <a:avLst/>
          </a:prstGeom>
          <a:noFill/>
          <a:ln/>
        </p:spPr>
        <p:txBody>
          <a:bodyPr wrap="square" lIns="0" tIns="0" rIns="0" bIns="0" rtlCol="0" anchor="t"/>
          <a:lstStyle/>
          <a:p>
            <a:pPr marL="0" indent="0">
              <a:buNone/>
            </a:pPr>
            <a:r>
              <a:rPr lang="en-US" sz="1150">
                <a:solidFill>
                  <a:srgbClr val="000000"/>
                </a:solidFill>
                <a:ea typeface="Proxima Nova" pitchFamily="34" charset="-122"/>
                <a:cs typeface="Proxima Nova" pitchFamily="34" charset="-120"/>
              </a:rPr>
              <a:t>A skills data pilot with about 100 opt-in people from each of two teams, on a LinkedIn skills taxonomy. We still need to define what we need from it.</a:t>
            </a:r>
            <a:endParaRPr lang="en-US" sz="1150">
              <a:solidFill>
                <a:srgbClr val="000000"/>
              </a:solidFill>
            </a:endParaRPr>
          </a:p>
        </p:txBody>
      </p:sp>
      <p:sp>
        <p:nvSpPr>
          <p:cNvPr id="28" name="Pillar heading"/>
          <p:cNvSpPr txBox="1"/>
          <p:nvPr/>
        </p:nvSpPr>
        <p:spPr>
          <a:xfrm>
            <a:off x="6693408" y="1207008"/>
            <a:ext cx="2395728" cy="411480"/>
          </a:xfrm>
          <a:prstGeom prst="rect">
            <a:avLst/>
          </a:prstGeom>
          <a:noFill/>
          <a:ln/>
        </p:spPr>
        <p:txBody>
          <a:bodyPr wrap="square" lIns="0" tIns="0" rIns="0" bIns="0" rtlCol="0" anchor="t"/>
          <a:lstStyle/>
          <a:p>
            <a:pPr marL="0" indent="0">
              <a:buNone/>
            </a:pPr>
            <a:r>
              <a:rPr lang="en-US" sz="1300" b="1">
                <a:solidFill>
                  <a:srgbClr val="000000"/>
                </a:solidFill>
              </a:rPr>
              <a:t>Pillar 2: See what is coming</a:t>
            </a:r>
            <a:endParaRPr lang="en-US" sz="1300">
              <a:solidFill>
                <a:srgbClr val="000000"/>
              </a:solidFill>
            </a:endParaRPr>
          </a:p>
        </p:txBody>
      </p:sp>
      <p:sp>
        <p:nvSpPr>
          <p:cNvPr id="29" name="Pillar copy"/>
          <p:cNvSpPr txBox="1"/>
          <p:nvPr/>
        </p:nvSpPr>
        <p:spPr>
          <a:xfrm>
            <a:off x="6693408" y="1580007"/>
            <a:ext cx="2286000" cy="1554480"/>
          </a:xfrm>
          <a:prstGeom prst="rect">
            <a:avLst/>
          </a:prstGeom>
          <a:noFill/>
          <a:ln/>
        </p:spPr>
        <p:txBody>
          <a:bodyPr wrap="square" lIns="0" tIns="0" rIns="0" bIns="0" rtlCol="0" anchor="t"/>
          <a:lstStyle/>
          <a:p>
            <a:r>
              <a:rPr lang="en-US" sz="1200" b="1" dirty="0">
                <a:solidFill>
                  <a:srgbClr val="000000"/>
                </a:solidFill>
              </a:rPr>
              <a:t>We need </a:t>
            </a:r>
            <a:r>
              <a:rPr lang="en-US" sz="1200" dirty="0">
                <a:solidFill>
                  <a:srgbClr val="000000"/>
                </a:solidFill>
              </a:rPr>
              <a:t>to review SF stages to see the pipeline earlier, </a:t>
            </a:r>
            <a:r>
              <a:rPr lang="en-US" sz="1200" b="1" dirty="0">
                <a:solidFill>
                  <a:srgbClr val="000000"/>
                </a:solidFill>
              </a:rPr>
              <a:t>so we can </a:t>
            </a:r>
            <a:r>
              <a:rPr lang="en-US" sz="1200" dirty="0">
                <a:solidFill>
                  <a:srgbClr val="000000"/>
                </a:solidFill>
              </a:rPr>
              <a:t>plan people around demand with RM pulled in earlier in the process. </a:t>
            </a:r>
            <a:r>
              <a:rPr lang="en-US" sz="1200" b="1" dirty="0">
                <a:solidFill>
                  <a:srgbClr val="000000"/>
                </a:solidFill>
              </a:rPr>
              <a:t>The outcome: </a:t>
            </a:r>
            <a:r>
              <a:rPr lang="en-US" sz="1200" dirty="0">
                <a:solidFill>
                  <a:srgbClr val="000000"/>
                </a:solidFill>
              </a:rPr>
              <a:t>teams that are ready to start instead of scrambling after signing.</a:t>
            </a:r>
          </a:p>
        </p:txBody>
      </p:sp>
      <p:sp>
        <p:nvSpPr>
          <p:cNvPr id="30" name="Pillar divider"/>
          <p:cNvSpPr/>
          <p:nvPr/>
        </p:nvSpPr>
        <p:spPr>
          <a:xfrm>
            <a:off x="6693408" y="3291840"/>
            <a:ext cx="2395728" cy="0"/>
          </a:xfrm>
          <a:prstGeom prst="line">
            <a:avLst/>
          </a:prstGeom>
          <a:noFill/>
          <a:ln w="12700">
            <a:solidFill>
              <a:srgbClr val="D6D6DF"/>
            </a:solidFill>
            <a:prstDash val="solid"/>
          </a:ln>
        </p:spPr>
        <p:txBody>
          <a:bodyPr/>
          <a:lstStyle/>
          <a:p>
            <a:endParaRPr lang="en-US">
              <a:solidFill>
                <a:srgbClr val="000000"/>
              </a:solidFill>
            </a:endParaRPr>
          </a:p>
        </p:txBody>
      </p:sp>
      <p:sp>
        <p:nvSpPr>
          <p:cNvPr id="31" name="Status heading"/>
          <p:cNvSpPr txBox="1"/>
          <p:nvPr/>
        </p:nvSpPr>
        <p:spPr>
          <a:xfrm>
            <a:off x="6693408" y="3419856"/>
            <a:ext cx="2395728" cy="274320"/>
          </a:xfrm>
          <a:prstGeom prst="rect">
            <a:avLst/>
          </a:prstGeom>
          <a:noFill/>
          <a:ln/>
        </p:spPr>
        <p:txBody>
          <a:bodyPr wrap="square" lIns="0" tIns="0" rIns="0" bIns="0" rtlCol="0" anchor="t"/>
          <a:lstStyle/>
          <a:p>
            <a:pPr marL="0" indent="0">
              <a:buNone/>
            </a:pPr>
            <a:r>
              <a:rPr lang="en-US" sz="1300" b="1">
                <a:solidFill>
                  <a:srgbClr val="000000"/>
                </a:solidFill>
              </a:rPr>
              <a:t>Exploring: Smart Bench</a:t>
            </a:r>
            <a:endParaRPr lang="en-US" sz="1300">
              <a:solidFill>
                <a:srgbClr val="000000"/>
              </a:solidFill>
            </a:endParaRPr>
          </a:p>
        </p:txBody>
      </p:sp>
      <p:sp>
        <p:nvSpPr>
          <p:cNvPr id="32" name="Status copy"/>
          <p:cNvSpPr txBox="1"/>
          <p:nvPr/>
        </p:nvSpPr>
        <p:spPr>
          <a:xfrm>
            <a:off x="6693408" y="3749040"/>
            <a:ext cx="2395728" cy="1828800"/>
          </a:xfrm>
          <a:prstGeom prst="rect">
            <a:avLst/>
          </a:prstGeom>
          <a:noFill/>
          <a:ln/>
        </p:spPr>
        <p:txBody>
          <a:bodyPr wrap="square" lIns="0" tIns="0" rIns="0" bIns="0" rtlCol="0" anchor="t"/>
          <a:lstStyle/>
          <a:p>
            <a:pPr marL="0" indent="0">
              <a:buNone/>
            </a:pPr>
            <a:r>
              <a:rPr lang="en-US" sz="1150" dirty="0">
                <a:solidFill>
                  <a:srgbClr val="000000"/>
                </a:solidFill>
                <a:ea typeface="Proxima Nova" pitchFamily="34" charset="-122"/>
                <a:cs typeface="Proxima Nova" pitchFamily="34" charset="-120"/>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endParaRPr lang="en-US" sz="1150" dirty="0">
              <a:solidFill>
                <a:srgbClr val="000000"/>
              </a:solidFill>
            </a:endParaRPr>
          </a:p>
        </p:txBody>
      </p:sp>
      <p:sp>
        <p:nvSpPr>
          <p:cNvPr id="33" name="Pillar heading"/>
          <p:cNvSpPr txBox="1"/>
          <p:nvPr/>
        </p:nvSpPr>
        <p:spPr>
          <a:xfrm>
            <a:off x="9272016" y="1207008"/>
            <a:ext cx="2395728" cy="411480"/>
          </a:xfrm>
          <a:prstGeom prst="rect">
            <a:avLst/>
          </a:prstGeom>
          <a:noFill/>
          <a:ln/>
        </p:spPr>
        <p:txBody>
          <a:bodyPr wrap="square" lIns="0" tIns="0" rIns="0" bIns="0" rtlCol="0" anchor="t"/>
          <a:lstStyle/>
          <a:p>
            <a:pPr marL="0" indent="0">
              <a:buNone/>
            </a:pPr>
            <a:r>
              <a:rPr lang="en-US" sz="1300" b="1">
                <a:solidFill>
                  <a:srgbClr val="0328D1"/>
                </a:solidFill>
              </a:rPr>
              <a:t>Pillar 3: One place to look</a:t>
            </a:r>
            <a:endParaRPr lang="en-US" sz="1300">
              <a:solidFill>
                <a:srgbClr val="000000"/>
              </a:solidFill>
            </a:endParaRPr>
          </a:p>
        </p:txBody>
      </p:sp>
      <p:sp>
        <p:nvSpPr>
          <p:cNvPr id="34" name="Pillar copy"/>
          <p:cNvSpPr txBox="1"/>
          <p:nvPr/>
        </p:nvSpPr>
        <p:spPr>
          <a:xfrm>
            <a:off x="9272016" y="1580007"/>
            <a:ext cx="2395728" cy="1554480"/>
          </a:xfrm>
          <a:prstGeom prst="rect">
            <a:avLst/>
          </a:prstGeom>
          <a:noFill/>
          <a:ln/>
        </p:spPr>
        <p:txBody>
          <a:bodyPr wrap="square" lIns="0" tIns="0" rIns="0" bIns="0" rtlCol="0" anchor="t"/>
          <a:lstStyle/>
          <a:p>
            <a:pPr marL="0" indent="0">
              <a:buNone/>
            </a:pPr>
            <a:r>
              <a:rPr lang="en-US" sz="1200" b="1">
                <a:solidFill>
                  <a:srgbClr val="000000"/>
                </a:solidFill>
                <a:ea typeface="Proxima Nova" pitchFamily="34" charset="-122"/>
                <a:cs typeface="Proxima Nova" pitchFamily="34" charset="-120"/>
              </a:rPr>
              <a:t>We need</a:t>
            </a:r>
            <a:r>
              <a:rPr lang="en-US" sz="1200">
                <a:solidFill>
                  <a:srgbClr val="000000"/>
                </a:solidFill>
                <a:ea typeface="Proxima Nova" pitchFamily="34" charset="-122"/>
                <a:cs typeface="Proxima Nova" pitchFamily="34" charset="-120"/>
              </a:rPr>
              <a:t> what we check today brought into one connected view, </a:t>
            </a:r>
            <a:r>
              <a:rPr lang="en-US" sz="1200" b="1">
                <a:solidFill>
                  <a:srgbClr val="000000"/>
                </a:solidFill>
                <a:ea typeface="Proxima Nova" pitchFamily="34" charset="-122"/>
                <a:cs typeface="Proxima Nova" pitchFamily="34" charset="-120"/>
              </a:rPr>
              <a:t>so we can</a:t>
            </a:r>
            <a:r>
              <a:rPr lang="en-US" sz="1200">
                <a:solidFill>
                  <a:srgbClr val="000000"/>
                </a:solidFill>
                <a:ea typeface="Proxima Nova" pitchFamily="34" charset="-122"/>
                <a:cs typeface="Proxima Nova" pitchFamily="34" charset="-120"/>
              </a:rPr>
              <a:t> move from insight to action with fewer places to look. </a:t>
            </a:r>
            <a:r>
              <a:rPr lang="en-US" sz="1200" b="1">
                <a:solidFill>
                  <a:srgbClr val="000000"/>
                </a:solidFill>
                <a:ea typeface="Proxima Nova" pitchFamily="34" charset="-122"/>
                <a:cs typeface="Proxima Nova" pitchFamily="34" charset="-120"/>
              </a:rPr>
              <a:t>The outcome:</a:t>
            </a:r>
            <a:r>
              <a:rPr lang="en-US" sz="1200">
                <a:solidFill>
                  <a:srgbClr val="000000"/>
                </a:solidFill>
                <a:ea typeface="Proxima Nova" pitchFamily="34" charset="-122"/>
                <a:cs typeface="Proxima Nova" pitchFamily="34" charset="-120"/>
              </a:rPr>
              <a:t> insight that points to the next move.</a:t>
            </a:r>
            <a:endParaRPr lang="en-US" sz="1200">
              <a:solidFill>
                <a:srgbClr val="000000"/>
              </a:solidFill>
            </a:endParaRPr>
          </a:p>
        </p:txBody>
      </p:sp>
      <p:sp>
        <p:nvSpPr>
          <p:cNvPr id="35" name="Pillar divider"/>
          <p:cNvSpPr/>
          <p:nvPr/>
        </p:nvSpPr>
        <p:spPr>
          <a:xfrm>
            <a:off x="9272016" y="3291840"/>
            <a:ext cx="2395728" cy="0"/>
          </a:xfrm>
          <a:prstGeom prst="line">
            <a:avLst/>
          </a:prstGeom>
          <a:noFill/>
          <a:ln w="12700">
            <a:solidFill>
              <a:srgbClr val="D6D6DF"/>
            </a:solidFill>
            <a:prstDash val="solid"/>
          </a:ln>
        </p:spPr>
        <p:txBody>
          <a:bodyPr/>
          <a:lstStyle/>
          <a:p>
            <a:endParaRPr lang="en-US">
              <a:solidFill>
                <a:srgbClr val="000000"/>
              </a:solidFill>
            </a:endParaRPr>
          </a:p>
        </p:txBody>
      </p:sp>
      <p:sp>
        <p:nvSpPr>
          <p:cNvPr id="36" name="Status heading"/>
          <p:cNvSpPr txBox="1"/>
          <p:nvPr/>
        </p:nvSpPr>
        <p:spPr>
          <a:xfrm>
            <a:off x="9272016" y="3419856"/>
            <a:ext cx="2395728" cy="274320"/>
          </a:xfrm>
          <a:prstGeom prst="rect">
            <a:avLst/>
          </a:prstGeom>
          <a:noFill/>
          <a:ln/>
        </p:spPr>
        <p:txBody>
          <a:bodyPr wrap="square" lIns="0" tIns="0" rIns="0" bIns="0" rtlCol="0" anchor="t"/>
          <a:lstStyle/>
          <a:p>
            <a:pPr marL="0" indent="0">
              <a:buNone/>
            </a:pPr>
            <a:r>
              <a:rPr lang="en-US" sz="1300" b="1">
                <a:solidFill>
                  <a:srgbClr val="0328D1"/>
                </a:solidFill>
              </a:rPr>
              <a:t>Being built: Romulus</a:t>
            </a:r>
            <a:endParaRPr lang="en-US" sz="1300">
              <a:solidFill>
                <a:srgbClr val="000000"/>
              </a:solidFill>
            </a:endParaRPr>
          </a:p>
        </p:txBody>
      </p:sp>
      <p:sp>
        <p:nvSpPr>
          <p:cNvPr id="37" name="Status copy"/>
          <p:cNvSpPr txBox="1"/>
          <p:nvPr/>
        </p:nvSpPr>
        <p:spPr>
          <a:xfrm>
            <a:off x="9272016" y="3749040"/>
            <a:ext cx="2395728" cy="1828800"/>
          </a:xfrm>
          <a:prstGeom prst="rect">
            <a:avLst/>
          </a:prstGeom>
          <a:noFill/>
          <a:ln/>
        </p:spPr>
        <p:txBody>
          <a:bodyPr wrap="square" lIns="0" tIns="0" rIns="0" bIns="0" rtlCol="0" anchor="t"/>
          <a:lstStyle/>
          <a:p>
            <a:pPr marL="0" indent="0">
              <a:buNone/>
            </a:pPr>
            <a:r>
              <a:rPr lang="en-US" sz="1150">
                <a:solidFill>
                  <a:srgbClr val="000000"/>
                </a:solidFill>
                <a:ea typeface="Proxima Nova" pitchFamily="34" charset="-122"/>
                <a:cs typeface="Proxima Nova" pitchFamily="34" charset="-120"/>
              </a:rPr>
              <a:t>Today we check Salesforce, Workfront, pricing tools, spreadsheets, and SharePoint. Romulus is the tool we are building to help turn insight into action (next slide). It needs more feeding from the work in the other two pillars.</a:t>
            </a:r>
            <a:endParaRPr lang="en-US" sz="1150">
              <a:solidFill>
                <a:srgbClr val="000000"/>
              </a:solidFill>
            </a:endParaRPr>
          </a:p>
        </p:txBody>
      </p:sp>
      <p:sp>
        <p:nvSpPr>
          <p:cNvPr id="38" name="Takeaway band"/>
          <p:cNvSpPr/>
          <p:nvPr/>
        </p:nvSpPr>
        <p:spPr>
          <a:xfrm>
            <a:off x="3657600" y="5669280"/>
            <a:ext cx="8534095" cy="1188720"/>
          </a:xfrm>
          <a:prstGeom prst="rect">
            <a:avLst/>
          </a:prstGeom>
          <a:solidFill>
            <a:srgbClr val="000000"/>
          </a:solidFill>
          <a:ln/>
        </p:spPr>
        <p:txBody>
          <a:bodyPr/>
          <a:lstStyle/>
          <a:p>
            <a:endParaRPr lang="en-US">
              <a:solidFill>
                <a:srgbClr val="000000"/>
              </a:solidFill>
            </a:endParaRPr>
          </a:p>
        </p:txBody>
      </p:sp>
      <p:sp>
        <p:nvSpPr>
          <p:cNvPr id="39" name="Key takeaway"/>
          <p:cNvSpPr txBox="1"/>
          <p:nvPr/>
        </p:nvSpPr>
        <p:spPr>
          <a:xfrm>
            <a:off x="4114800" y="5669280"/>
            <a:ext cx="7619695" cy="1188720"/>
          </a:xfrm>
          <a:prstGeom prst="rect">
            <a:avLst/>
          </a:prstGeom>
          <a:noFill/>
          <a:ln/>
        </p:spPr>
        <p:txBody>
          <a:bodyPr wrap="square" lIns="0" tIns="0" rIns="0" bIns="0" rtlCol="0" anchor="ctr"/>
          <a:lstStyle/>
          <a:p>
            <a:pPr marL="0" indent="0">
              <a:buNone/>
            </a:pPr>
            <a:r>
              <a:rPr lang="en-US" sz="1200" b="1">
                <a:solidFill>
                  <a:srgbClr val="0391F2"/>
                </a:solidFill>
                <a:ea typeface="Proxima Nova" pitchFamily="34" charset="-122"/>
                <a:cs typeface="Proxima Nova" pitchFamily="34" charset="-120"/>
              </a:rPr>
              <a:t>The Key Takeaway: </a:t>
            </a:r>
            <a:r>
              <a:rPr lang="en-US" sz="1200">
                <a:solidFill>
                  <a:srgbClr val="FFFFFF"/>
                </a:solidFill>
                <a:ea typeface="Proxima Nova" pitchFamily="34" charset="-122"/>
                <a:cs typeface="Proxima Nova" pitchFamily="34" charset="-120"/>
              </a:rPr>
              <a:t>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endParaRPr lang="en-US" sz="1200">
              <a:solidFill>
                <a:srgbClr val="000000"/>
              </a:solidFill>
            </a:endParaRPr>
          </a:p>
        </p:txBody>
      </p:sp>
      <p:pic>
        <p:nvPicPr>
          <p:cNvPr id="40" name="Picture 39" descr="image.png"/>
          <p:cNvPicPr>
            <a:picLocks noChangeAspect="1"/>
          </p:cNvPicPr>
          <p:nvPr/>
        </p:nvPicPr>
        <p:blipFill>
          <a:blip r:embed="rId2"/>
          <a:stretch>
            <a:fillRect/>
          </a:stretch>
        </p:blipFill>
        <p:spPr>
          <a:xfrm>
            <a:off x="640080" y="6400800"/>
            <a:ext cx="274320" cy="15018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k_div25.jpg"/>
          <p:cNvPicPr>
            <a:picLocks noChangeAspect="1"/>
          </p:cNvPicPr>
          <p:nvPr/>
        </p:nvPicPr>
        <p:blipFill>
          <a:blip r:embed="rId4"/>
          <a:stretch>
            <a:fillRect/>
          </a:stretch>
        </p:blipFill>
        <p:spPr>
          <a:xfrm>
            <a:off x="0" y="0"/>
            <a:ext cx="12192000" cy="6858000"/>
          </a:xfrm>
          <a:prstGeom prst="rect">
            <a:avLst/>
          </a:prstGeom>
        </p:spPr>
      </p:pic>
      <p:sp>
        <p:nvSpPr>
          <p:cNvPr id="6" name="Rectangle 5"/>
          <p:cNvSpPr/>
          <p:nvPr/>
        </p:nvSpPr>
        <p:spPr>
          <a:xfrm>
            <a:off x="0" y="0"/>
            <a:ext cx="12192000" cy="6858000"/>
          </a:xfrm>
          <a:prstGeom prst="rect">
            <a:avLst/>
          </a:prstGeom>
          <a:gradFill rotWithShape="1">
            <a:gsLst>
              <a:gs pos="0">
                <a:srgbClr val="000000">
                  <a:alpha val="92000"/>
                </a:srgbClr>
              </a:gs>
              <a:gs pos="50000">
                <a:srgbClr val="000000">
                  <a:alpha val="72000"/>
                </a:srgbClr>
              </a:gs>
              <a:gs pos="100000">
                <a:srgbClr val="000000">
                  <a:alpha val="55000"/>
                </a:srgbClr>
              </a:gs>
            </a:gsLst>
            <a:lin ang="0" scaled="0"/>
          </a:gradFill>
          <a:ln>
            <a:noFill/>
          </a:ln>
        </p:spPr>
        <p:txBody>
          <a:bodyPr rtlCol="0" anchor="ctr"/>
          <a:lstStyle/>
          <a:p>
            <a:pPr algn="ctr"/>
          </a:p>
        </p:txBody>
      </p:sp>
      <p:sp>
        <p:nvSpPr>
          <p:cNvPr id="2" name="Title 1"/>
          <p:cNvSpPr>
            <a:spLocks noGrp="1"/>
          </p:cNvSpPr>
          <p:nvPr>
            <p:ph type="title"/>
          </p:nvPr>
        </p:nvSpPr>
        <p:spPr/>
        <p:txBody>
          <a:bodyPr/>
          <a:lstStyle/>
          <a:p>
            <a:r>
              <a:rPr>
                <a:latin typeface="+mn-lt"/>
              </a:rPr>
              <a:t>What’s Next</a:t>
            </a:r>
          </a:p>
        </p:txBody>
      </p:sp>
      <p:sp>
        <p:nvSpPr>
          <p:cNvPr id="3" name="Text Placeholder 2"/>
          <p:cNvSpPr>
            <a:spLocks noGrp="1"/>
          </p:cNvSpPr>
          <p:nvPr>
            <p:ph type="body" sz="quarter" idx="10"/>
          </p:nvPr>
        </p:nvSpPr>
        <p:spPr/>
        <p:txBody>
          <a:bodyPr/>
          <a:lstStyle/>
          <a:p>
            <a:r>
              <a:t>a.k.a ROMULUS</a:t>
            </a:r>
          </a:p>
        </p:txBody>
      </p:sp>
      <p:pic>
        <p:nvPicPr>
          <p:cNvPr id="4" name="Picture 3" descr="image.png"/>
          <p:cNvPicPr>
            <a:picLocks noChangeAspect="1"/>
          </p:cNvPicPr>
          <p:nvPr/>
        </p:nvPicPr>
        <p:blipFill>
          <a:blip r:embed="rId3"/>
          <a:stretch>
            <a:fillRect/>
          </a:stretch>
        </p:blipFill>
        <p:spPr>
          <a:xfrm>
            <a:off x="6245352" y="1275932"/>
            <a:ext cx="5120640" cy="430613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k_edge28.jpg"/>
          <p:cNvPicPr>
            <a:picLocks noChangeAspect="1"/>
          </p:cNvPicPr>
          <p:nvPr/>
        </p:nvPicPr>
        <p:blipFill>
          <a:blip r:embed="rId3"/>
          <a:stretch>
            <a:fillRect/>
          </a:stretch>
        </p:blipFill>
        <p:spPr>
          <a:xfrm>
            <a:off x="7894320" y="0"/>
            <a:ext cx="4297680" cy="1207008"/>
          </a:xfrm>
          <a:prstGeom prst="rect">
            <a:avLst/>
          </a:prstGeom>
        </p:spPr>
      </p:pic>
      <p:sp>
        <p:nvSpPr>
          <p:cNvPr id="20" name="Rectangle 19"/>
          <p:cNvSpPr/>
          <p:nvPr/>
        </p:nvSpPr>
        <p:spPr>
          <a:xfrm>
            <a:off x="7894320" y="0"/>
            <a:ext cx="4297680" cy="1207008"/>
          </a:xfrm>
          <a:prstGeom prst="rect">
            <a:avLst/>
          </a:prstGeom>
          <a:gradFill rotWithShape="1">
            <a:gsLst>
              <a:gs pos="0">
                <a:srgbClr val="FFFFFF">
                  <a:alpha val="100000"/>
                </a:srgbClr>
              </a:gs>
              <a:gs pos="34000">
                <a:srgbClr val="FFFFFF">
                  <a:alpha val="90000"/>
                </a:srgbClr>
              </a:gs>
              <a:gs pos="66000">
                <a:srgbClr val="FFFFFF">
                  <a:alpha val="42000"/>
                </a:srgbClr>
              </a:gs>
              <a:gs pos="100000">
                <a:srgbClr val="FFFFFF">
                  <a:alpha val="0"/>
                </a:srgbClr>
              </a:gs>
            </a:gsLst>
            <a:lin ang="0" scaled="0"/>
          </a:gradFill>
          <a:ln>
            <a:noFill/>
          </a:ln>
        </p:spPr>
        <p:txBody>
          <a:bodyPr rtlCol="0" anchor="ctr"/>
          <a:lstStyle/>
          <a:p>
            <a:pPr algn="ctr"/>
          </a:p>
        </p:txBody>
      </p:sp>
      <p:sp>
        <p:nvSpPr>
          <p:cNvPr id="21" name="Rectangle 20"/>
          <p:cNvSpPr/>
          <p:nvPr/>
        </p:nvSpPr>
        <p:spPr>
          <a:xfrm>
            <a:off x="7894320" y="0"/>
            <a:ext cx="4297680" cy="1207008"/>
          </a:xfrm>
          <a:prstGeom prst="rect">
            <a:avLst/>
          </a:prstGeom>
          <a:gradFill rotWithShape="1">
            <a:gsLst>
              <a:gs pos="0">
                <a:srgbClr val="FFFFFF">
                  <a:alpha val="0"/>
                </a:srgbClr>
              </a:gs>
              <a:gs pos="62000">
                <a:srgbClr val="FFFFFF">
                  <a:alpha val="0"/>
                </a:srgbClr>
              </a:gs>
              <a:gs pos="100000">
                <a:srgbClr val="FFFFFF">
                  <a:alpha val="100000"/>
                </a:srgbClr>
              </a:gs>
            </a:gsLst>
            <a:lin ang="5400000" scaled="0"/>
          </a:gradFill>
          <a:ln>
            <a:noFill/>
          </a:ln>
        </p:spPr>
        <p:txBody>
          <a:bodyPr rtlCol="0" anchor="ctr"/>
          <a:lstStyle/>
          <a:p>
            <a:pPr algn="ctr"/>
          </a:p>
        </p:txBody>
      </p:sp>
      <p:sp>
        <p:nvSpPr>
          <p:cNvPr id="3" name="Title 2"/>
          <p:cNvSpPr>
            <a:spLocks noGrp="1"/>
          </p:cNvSpPr>
          <p:nvPr>
            <p:ph type="title"/>
          </p:nvPr>
        </p:nvSpPr>
        <p:spPr>
          <a:xfrm>
            <a:off x="530352" y="457200"/>
            <a:ext cx="11128248" cy="566928"/>
          </a:xfrm>
        </p:spPr>
        <p:txBody>
          <a:bodyPr/>
          <a:lstStyle/>
          <a:p>
            <a:r>
              <a:rPr>
                <a:latin typeface="+mn-lt"/>
              </a:rPr>
              <a:t>Romulus</a:t>
            </a:r>
          </a:p>
        </p:txBody>
      </p:sp>
      <p:sp>
        <p:nvSpPr>
          <p:cNvPr id="4" name="Text Placeholder 3"/>
          <p:cNvSpPr>
            <a:spLocks noGrp="1"/>
          </p:cNvSpPr>
          <p:nvPr>
            <p:ph type="body" sz="quarter" idx="12"/>
          </p:nvPr>
        </p:nvSpPr>
        <p:spPr>
          <a:xfrm>
            <a:off x="530352" y="256032"/>
            <a:ext cx="11128248" cy="182880"/>
          </a:xfrm>
        </p:spPr>
        <p:txBody>
          <a:bodyPr/>
          <a:lstStyle/>
          <a:p>
            <a:r>
              <a:t>AO ROMULUS SHOWCASE</a:t>
            </a:r>
          </a:p>
        </p:txBody>
      </p:sp>
      <p:sp>
        <p:nvSpPr>
          <p:cNvPr id="13" name="Subtitle"/>
          <p:cNvSpPr txBox="1"/>
          <p:nvPr/>
        </p:nvSpPr>
        <p:spPr>
          <a:xfrm>
            <a:off x="530352" y="1554480"/>
            <a:ext cx="11128248" cy="548640"/>
          </a:xfrm>
          <a:prstGeom prst="rect">
            <a:avLst/>
          </a:prstGeom>
          <a:noFill/>
          <a:ln/>
        </p:spPr>
        <p:txBody>
          <a:bodyPr wrap="square" lIns="0" tIns="0" rIns="0" bIns="0" rtlCol="0" anchor="ctr"/>
          <a:lstStyle/>
          <a:p>
            <a:pPr marL="0" indent="0">
              <a:buNone/>
            </a:pPr>
            <a:r>
              <a:rPr lang="en-US" sz="2400" b="1">
                <a:solidFill>
                  <a:srgbClr val="000000"/>
                </a:solidFill>
              </a:rPr>
              <a:t>An operating system for resource management.</a:t>
            </a:r>
            <a:endParaRPr lang="en-US" sz="2400">
              <a:solidFill>
                <a:srgbClr val="000000"/>
              </a:solidFill>
            </a:endParaRPr>
          </a:p>
        </p:txBody>
      </p:sp>
      <p:sp>
        <p:nvSpPr>
          <p:cNvPr id="14" name="Description card"/>
          <p:cNvSpPr/>
          <p:nvPr/>
        </p:nvSpPr>
        <p:spPr>
          <a:xfrm>
            <a:off x="530352" y="2286000"/>
            <a:ext cx="11128248" cy="2743200"/>
          </a:xfrm>
          <a:prstGeom prst="roundRect">
            <a:avLst>
              <a:gd name="adj" fmla="val 3333"/>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15" name="Romulus description"/>
          <p:cNvSpPr txBox="1"/>
          <p:nvPr/>
        </p:nvSpPr>
        <p:spPr>
          <a:xfrm>
            <a:off x="868680" y="2286000"/>
            <a:ext cx="10424160" cy="2743200"/>
          </a:xfrm>
          <a:prstGeom prst="rect">
            <a:avLst/>
          </a:prstGeom>
          <a:noFill/>
          <a:ln/>
        </p:spPr>
        <p:txBody>
          <a:bodyPr wrap="square" lIns="0" tIns="0" rIns="0" bIns="0" rtlCol="0" anchor="ctr"/>
          <a:lstStyle/>
          <a:p>
            <a:pPr marL="0" indent="0">
              <a:lnSpc>
                <a:spcPct val="110000"/>
              </a:lnSpc>
              <a:buNone/>
            </a:pPr>
            <a:r>
              <a:rPr lang="en-US" sz="2400">
                <a:solidFill>
                  <a:srgbClr val="000000"/>
                </a:solidFill>
                <a:ea typeface="Proxima Nova" pitchFamily="34" charset="-122"/>
                <a:cs typeface="Proxima Nova" pitchFamily="34" charset="-120"/>
              </a:rPr>
              <a:t>Romulus turns live demand, supply and financial data into a daily situation report — surfacing the staffing decisions a Resource Manager needs to make </a:t>
            </a:r>
            <a:r>
              <a:rPr lang="en-US" sz="2400" b="1">
                <a:solidFill>
                  <a:srgbClr val="000000"/>
                </a:solidFill>
                <a:ea typeface="Proxima Nova" pitchFamily="34" charset="-122"/>
                <a:cs typeface="Proxima Nova" pitchFamily="34" charset="-120"/>
              </a:rPr>
              <a:t>before they're asked</a:t>
            </a:r>
            <a:r>
              <a:rPr lang="en-US" sz="2400">
                <a:solidFill>
                  <a:srgbClr val="000000"/>
                </a:solidFill>
                <a:ea typeface="Proxima Nova" pitchFamily="34" charset="-122"/>
                <a:cs typeface="Proxima Nova" pitchFamily="34" charset="-120"/>
              </a:rPr>
              <a:t>. It's built to replace the spreadsheets, email chains, and tribal knowledge our business runs on today.</a:t>
            </a:r>
            <a:endParaRPr lang="en-US" sz="2400">
              <a:solidFill>
                <a:srgbClr val="000000"/>
              </a:solidFill>
            </a:endParaRPr>
          </a:p>
        </p:txBody>
      </p:sp>
      <p:sp>
        <p:nvSpPr>
          <p:cNvPr id="16" name="Caption"/>
          <p:cNvSpPr txBox="1"/>
          <p:nvPr/>
        </p:nvSpPr>
        <p:spPr>
          <a:xfrm>
            <a:off x="530352" y="5193792"/>
            <a:ext cx="11128248" cy="256032"/>
          </a:xfrm>
          <a:prstGeom prst="rect">
            <a:avLst/>
          </a:prstGeom>
          <a:noFill/>
          <a:ln/>
        </p:spPr>
        <p:txBody>
          <a:bodyPr wrap="square" lIns="0" tIns="0" rIns="0" bIns="0" rtlCol="0" anchor="ctr"/>
          <a:lstStyle/>
          <a:p>
            <a:pPr marL="0" indent="0" algn="ctr">
              <a:buNone/>
            </a:pPr>
            <a:r>
              <a:rPr lang="en-US" sz="1150" i="1">
                <a:solidFill>
                  <a:srgbClr val="60607D"/>
                </a:solidFill>
              </a:rPr>
              <a:t>▲  This was the actual prompt that started it all  ▲</a:t>
            </a:r>
            <a:endParaRPr lang="en-US" sz="1150">
              <a:solidFill>
                <a:srgbClr val="000000"/>
              </a:solidFill>
            </a:endParaRPr>
          </a:p>
        </p:txBody>
      </p:sp>
      <p:sp>
        <p:nvSpPr>
          <p:cNvPr id="17" name="Story band"/>
          <p:cNvSpPr/>
          <p:nvPr/>
        </p:nvSpPr>
        <p:spPr>
          <a:xfrm>
            <a:off x="530352" y="5559552"/>
            <a:ext cx="11128248" cy="731520"/>
          </a:xfrm>
          <a:prstGeom prst="roundRect">
            <a:avLst>
              <a:gd name="adj" fmla="val 12500"/>
            </a:avLst>
          </a:prstGeom>
          <a:solidFill>
            <a:srgbClr val="000000"/>
          </a:solidFill>
          <a:ln/>
        </p:spPr>
        <p:txBody>
          <a:bodyPr/>
          <a:lstStyle/>
          <a:p>
            <a:endParaRPr lang="en-US">
              <a:solidFill>
                <a:srgbClr val="000000"/>
              </a:solidFill>
            </a:endParaRPr>
          </a:p>
        </p:txBody>
      </p:sp>
      <p:sp>
        <p:nvSpPr>
          <p:cNvPr id="18" name="Story line"/>
          <p:cNvSpPr txBox="1"/>
          <p:nvPr/>
        </p:nvSpPr>
        <p:spPr>
          <a:xfrm>
            <a:off x="822960" y="5559552"/>
            <a:ext cx="10515600" cy="731520"/>
          </a:xfrm>
          <a:prstGeom prst="rect">
            <a:avLst/>
          </a:prstGeom>
          <a:noFill/>
          <a:ln/>
        </p:spPr>
        <p:txBody>
          <a:bodyPr wrap="square" lIns="0" tIns="0" rIns="0" bIns="0" rtlCol="0" anchor="ctr"/>
          <a:lstStyle/>
          <a:p>
            <a:pPr marL="0" indent="0" algn="ctr">
              <a:buNone/>
            </a:pPr>
            <a:r>
              <a:rPr lang="en-US" sz="2496">
                <a:solidFill>
                  <a:srgbClr val="0391F2"/>
                </a:solidFill>
                <a:ea typeface="Proxima Nova" pitchFamily="34" charset="-122"/>
                <a:cs typeface="Proxima Nova" pitchFamily="34" charset="-120"/>
              </a:rPr>
              <a:t>Now here's the rest of the story….  In 3 minutes (or less)</a:t>
            </a:r>
            <a:endParaRPr lang="en-US" sz="320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k_rail29.jpg"/>
          <p:cNvPicPr>
            <a:picLocks noChangeAspect="1"/>
          </p:cNvPicPr>
          <p:nvPr/>
        </p:nvPicPr>
        <p:blipFill>
          <a:blip r:embed="rId4"/>
          <a:stretch>
            <a:fillRect/>
          </a:stretch>
        </p:blipFill>
        <p:spPr>
          <a:xfrm>
            <a:off x="0" y="0"/>
            <a:ext cx="5586984" cy="6858000"/>
          </a:xfrm>
          <a:prstGeom prst="rect">
            <a:avLst/>
          </a:prstGeom>
        </p:spPr>
      </p:pic>
      <p:sp>
        <p:nvSpPr>
          <p:cNvPr id="43" name="Rectangle 42"/>
          <p:cNvSpPr/>
          <p:nvPr/>
        </p:nvSpPr>
        <p:spPr>
          <a:xfrm>
            <a:off x="0" y="0"/>
            <a:ext cx="5586984" cy="6858000"/>
          </a:xfrm>
          <a:prstGeom prst="rect">
            <a:avLst/>
          </a:prstGeom>
          <a:gradFill rotWithShape="1">
            <a:gsLst>
              <a:gs pos="0">
                <a:srgbClr val="000000">
                  <a:alpha val="70000"/>
                </a:srgbClr>
              </a:gs>
              <a:gs pos="50000">
                <a:srgbClr val="000000">
                  <a:alpha val="60000"/>
                </a:srgbClr>
              </a:gs>
              <a:gs pos="100000">
                <a:srgbClr val="000000">
                  <a:alpha val="88000"/>
                </a:srgbClr>
              </a:gs>
            </a:gsLst>
            <a:lin ang="5400000" scaled="0"/>
          </a:gradFill>
          <a:ln>
            <a:noFill/>
          </a:ln>
        </p:spPr>
        <p:txBody>
          <a:bodyPr rtlCol="0" anchor="ctr"/>
          <a:lstStyle/>
          <a:p>
            <a:pPr algn="ctr"/>
          </a:p>
        </p:txBody>
      </p:sp>
      <p:sp>
        <p:nvSpPr>
          <p:cNvPr id="2" name="Title 1"/>
          <p:cNvSpPr>
            <a:spLocks noGrp="1"/>
          </p:cNvSpPr>
          <p:nvPr>
            <p:ph type="title"/>
          </p:nvPr>
        </p:nvSpPr>
        <p:spPr>
          <a:xfrm>
            <a:off x="640080" y="2103120"/>
            <a:ext cx="4306824" cy="914400"/>
          </a:xfrm>
        </p:spPr>
        <p:txBody>
          <a:bodyPr wrap="square" anchor="t"/>
          <a:lstStyle/>
          <a:p>
            <a:r>
              <a:rPr lang="en-US" sz="3400" b="1" dirty="0">
                <a:solidFill>
                  <a:srgbClr val="FFFFFF"/>
                </a:solidFill>
                <a:latin typeface="+mn-lt"/>
              </a:rPr>
              <a:t>Mid-November</a:t>
            </a:r>
            <a:endParaRPr sz="3400" b="1" dirty="0">
              <a:solidFill>
                <a:srgbClr val="FFFFFF"/>
              </a:solidFill>
              <a:latin typeface="+mn-lt"/>
            </a:endParaRPr>
          </a:p>
        </p:txBody>
      </p:sp>
      <p:sp>
        <p:nvSpPr>
          <p:cNvPr id="12" name="Label"/>
          <p:cNvSpPr txBox="1"/>
          <p:nvPr/>
        </p:nvSpPr>
        <p:spPr>
          <a:xfrm>
            <a:off x="640080" y="1828800"/>
            <a:ext cx="4306824" cy="228600"/>
          </a:xfrm>
          <a:prstGeom prst="rect">
            <a:avLst/>
          </a:prstGeom>
          <a:noFill/>
          <a:ln/>
        </p:spPr>
        <p:txBody>
          <a:bodyPr wrap="square" lIns="0" tIns="0" rIns="0" bIns="0" rtlCol="0" anchor="ctr"/>
          <a:lstStyle/>
          <a:p>
            <a:pPr marL="0" indent="0">
              <a:buNone/>
            </a:pPr>
            <a:r>
              <a:rPr lang="en-US" sz="900" b="1" kern="0" spc="300">
                <a:solidFill>
                  <a:srgbClr val="FFFFFF"/>
                </a:solidFill>
              </a:rPr>
              <a:t>RELEASE MOMENTUM</a:t>
            </a:r>
            <a:endParaRPr lang="en-US" sz="900">
              <a:solidFill>
                <a:srgbClr val="FFFFFF"/>
              </a:solidFill>
            </a:endParaRPr>
          </a:p>
        </p:txBody>
      </p:sp>
      <p:sp>
        <p:nvSpPr>
          <p:cNvPr id="15" name="Release detail"/>
          <p:cNvSpPr txBox="1"/>
          <p:nvPr/>
        </p:nvSpPr>
        <p:spPr>
          <a:xfrm>
            <a:off x="640080" y="3017520"/>
            <a:ext cx="4206240" cy="274320"/>
          </a:xfrm>
          <a:prstGeom prst="rect">
            <a:avLst/>
          </a:prstGeom>
          <a:noFill/>
          <a:ln/>
        </p:spPr>
        <p:txBody>
          <a:bodyPr wrap="square" lIns="0" tIns="0" rIns="0" bIns="0" rtlCol="0" anchor="ctr"/>
          <a:lstStyle/>
          <a:p>
            <a:pPr marL="0" indent="0">
              <a:buNone/>
            </a:pPr>
            <a:r>
              <a:rPr lang="en-US" sz="1100" b="1" kern="0" spc="200">
                <a:solidFill>
                  <a:srgbClr val="D6D6DF"/>
                </a:solidFill>
              </a:rPr>
              <a:t>FIRST FEATURES GO LIVE</a:t>
            </a:r>
            <a:endParaRPr lang="en-US" sz="1100">
              <a:solidFill>
                <a:srgbClr val="FFFFFF"/>
              </a:solidFill>
            </a:endParaRPr>
          </a:p>
        </p:txBody>
      </p:sp>
      <p:sp>
        <p:nvSpPr>
          <p:cNvPr id="19" name="Heading"/>
          <p:cNvSpPr txBox="1"/>
          <p:nvPr/>
        </p:nvSpPr>
        <p:spPr>
          <a:xfrm>
            <a:off x="6035040" y="457200"/>
            <a:ext cx="5577840" cy="411480"/>
          </a:xfrm>
          <a:prstGeom prst="rect">
            <a:avLst/>
          </a:prstGeom>
          <a:noFill/>
          <a:ln/>
        </p:spPr>
        <p:txBody>
          <a:bodyPr wrap="square" lIns="0" tIns="0" rIns="0" bIns="0" rtlCol="0" anchor="ctr"/>
          <a:lstStyle/>
          <a:p>
            <a:pPr marL="0" indent="0">
              <a:buNone/>
            </a:pPr>
            <a:r>
              <a:rPr lang="en-US" sz="2000" b="1">
                <a:solidFill>
                  <a:srgbClr val="000000"/>
                </a:solidFill>
              </a:rPr>
              <a:t>What you can do with it</a:t>
            </a:r>
            <a:endParaRPr lang="en-US" sz="2000">
              <a:solidFill>
                <a:srgbClr val="000000"/>
              </a:solidFill>
            </a:endParaRPr>
          </a:p>
        </p:txBody>
      </p:sp>
      <p:sp>
        <p:nvSpPr>
          <p:cNvPr id="20" name="Feature row 1"/>
          <p:cNvSpPr/>
          <p:nvPr/>
        </p:nvSpPr>
        <p:spPr>
          <a:xfrm>
            <a:off x="6035040" y="1005840"/>
            <a:ext cx="5623560" cy="822960"/>
          </a:xfrm>
          <a:prstGeom prst="roundRect">
            <a:avLst>
              <a:gd name="adj" fmla="val 1111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1" name="Number badge"/>
          <p:cNvSpPr/>
          <p:nvPr/>
        </p:nvSpPr>
        <p:spPr>
          <a:xfrm>
            <a:off x="6217920" y="1188720"/>
            <a:ext cx="457200" cy="457200"/>
          </a:xfrm>
          <a:prstGeom prst="ellipse">
            <a:avLst/>
          </a:prstGeom>
          <a:solidFill>
            <a:srgbClr val="000000"/>
          </a:solidFill>
          <a:ln/>
        </p:spPr>
        <p:txBody>
          <a:bodyPr/>
          <a:lstStyle/>
          <a:p>
            <a:endParaRPr lang="en-US">
              <a:solidFill>
                <a:srgbClr val="000000"/>
              </a:solidFill>
            </a:endParaRPr>
          </a:p>
        </p:txBody>
      </p:sp>
      <p:sp>
        <p:nvSpPr>
          <p:cNvPr id="22" name="Number"/>
          <p:cNvSpPr txBox="1"/>
          <p:nvPr/>
        </p:nvSpPr>
        <p:spPr>
          <a:xfrm>
            <a:off x="6217920" y="1188720"/>
            <a:ext cx="457200" cy="457200"/>
          </a:xfrm>
          <a:prstGeom prst="rect">
            <a:avLst/>
          </a:prstGeom>
          <a:noFill/>
          <a:ln/>
        </p:spPr>
        <p:txBody>
          <a:bodyPr wrap="square" lIns="0" tIns="0" rIns="0" bIns="0" rtlCol="0" anchor="ctr"/>
          <a:lstStyle/>
          <a:p>
            <a:pPr marL="0" indent="0" algn="ctr">
              <a:buNone/>
            </a:pPr>
            <a:r>
              <a:rPr lang="en-US" sz="1400" b="1">
                <a:solidFill>
                  <a:srgbClr val="FFFFFF"/>
                </a:solidFill>
              </a:rPr>
              <a:t>1</a:t>
            </a:r>
            <a:endParaRPr lang="en-US" sz="1400">
              <a:solidFill>
                <a:srgbClr val="000000"/>
              </a:solidFill>
            </a:endParaRPr>
          </a:p>
        </p:txBody>
      </p:sp>
      <p:sp>
        <p:nvSpPr>
          <p:cNvPr id="23" name="Feature text"/>
          <p:cNvSpPr txBox="1"/>
          <p:nvPr/>
        </p:nvSpPr>
        <p:spPr>
          <a:xfrm>
            <a:off x="6858000" y="1042416"/>
            <a:ext cx="4663440" cy="749808"/>
          </a:xfrm>
          <a:prstGeom prst="rect">
            <a:avLst/>
          </a:prstGeom>
          <a:noFill/>
          <a:ln/>
        </p:spPr>
        <p:txBody>
          <a:bodyPr wrap="square" lIns="0" tIns="0" rIns="0" bIns="0" rtlCol="0" anchor="ctr"/>
          <a:lstStyle/>
          <a:p>
            <a:pPr marL="0" indent="0">
              <a:buNone/>
            </a:pPr>
            <a:r>
              <a:rPr lang="en-US" sz="1350" b="1">
                <a:solidFill>
                  <a:srgbClr val="000000"/>
                </a:solidFill>
              </a:rPr>
              <a:t>See today’s situation</a:t>
            </a:r>
            <a:endParaRPr lang="en-US" sz="1350">
              <a:solidFill>
                <a:srgbClr val="000000"/>
              </a:solidFill>
            </a:endParaRPr>
          </a:p>
          <a:p>
            <a:pPr marL="0" indent="0">
              <a:buNone/>
            </a:pPr>
            <a:r>
              <a:rPr lang="en-US" sz="1100">
                <a:solidFill>
                  <a:srgbClr val="60607D"/>
                </a:solidFill>
              </a:rPr>
              <a:t>The morning briefing — overall health, the single most important finding, and the day’s top moves.</a:t>
            </a:r>
            <a:endParaRPr lang="en-US" sz="1350">
              <a:solidFill>
                <a:srgbClr val="000000"/>
              </a:solidFill>
            </a:endParaRPr>
          </a:p>
        </p:txBody>
      </p:sp>
      <p:sp>
        <p:nvSpPr>
          <p:cNvPr id="24" name="Feature row 2"/>
          <p:cNvSpPr/>
          <p:nvPr/>
        </p:nvSpPr>
        <p:spPr>
          <a:xfrm>
            <a:off x="6035040" y="1938528"/>
            <a:ext cx="5623560" cy="822960"/>
          </a:xfrm>
          <a:prstGeom prst="roundRect">
            <a:avLst>
              <a:gd name="adj" fmla="val 1111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5" name="Number badge"/>
          <p:cNvSpPr/>
          <p:nvPr/>
        </p:nvSpPr>
        <p:spPr>
          <a:xfrm>
            <a:off x="6217920" y="2121408"/>
            <a:ext cx="457200" cy="457200"/>
          </a:xfrm>
          <a:prstGeom prst="ellipse">
            <a:avLst/>
          </a:prstGeom>
          <a:solidFill>
            <a:srgbClr val="0391F2"/>
          </a:solidFill>
          <a:ln/>
        </p:spPr>
        <p:txBody>
          <a:bodyPr/>
          <a:lstStyle/>
          <a:p>
            <a:endParaRPr lang="en-US">
              <a:solidFill>
                <a:srgbClr val="000000"/>
              </a:solidFill>
            </a:endParaRPr>
          </a:p>
        </p:txBody>
      </p:sp>
      <p:sp>
        <p:nvSpPr>
          <p:cNvPr id="26" name="Number"/>
          <p:cNvSpPr txBox="1"/>
          <p:nvPr/>
        </p:nvSpPr>
        <p:spPr>
          <a:xfrm>
            <a:off x="6217920" y="2121408"/>
            <a:ext cx="457200" cy="457200"/>
          </a:xfrm>
          <a:prstGeom prst="rect">
            <a:avLst/>
          </a:prstGeom>
          <a:noFill/>
          <a:ln/>
        </p:spPr>
        <p:txBody>
          <a:bodyPr wrap="square" lIns="0" tIns="0" rIns="0" bIns="0" rtlCol="0" anchor="ctr"/>
          <a:lstStyle/>
          <a:p>
            <a:pPr marL="0" indent="0" algn="ctr">
              <a:buNone/>
            </a:pPr>
            <a:r>
              <a:rPr lang="en-US" sz="1400" b="1">
                <a:solidFill>
                  <a:srgbClr val="FFFFFF"/>
                </a:solidFill>
              </a:rPr>
              <a:t>2</a:t>
            </a:r>
            <a:endParaRPr lang="en-US" sz="1400">
              <a:solidFill>
                <a:srgbClr val="000000"/>
              </a:solidFill>
            </a:endParaRPr>
          </a:p>
        </p:txBody>
      </p:sp>
      <p:sp>
        <p:nvSpPr>
          <p:cNvPr id="27" name="Feature text"/>
          <p:cNvSpPr txBox="1"/>
          <p:nvPr/>
        </p:nvSpPr>
        <p:spPr>
          <a:xfrm>
            <a:off x="6858000" y="1975104"/>
            <a:ext cx="4663440" cy="749808"/>
          </a:xfrm>
          <a:prstGeom prst="rect">
            <a:avLst/>
          </a:prstGeom>
          <a:noFill/>
          <a:ln/>
        </p:spPr>
        <p:txBody>
          <a:bodyPr wrap="square" lIns="0" tIns="0" rIns="0" bIns="0" rtlCol="0" anchor="ctr"/>
          <a:lstStyle/>
          <a:p>
            <a:pPr marL="0" indent="0">
              <a:buNone/>
            </a:pPr>
            <a:r>
              <a:rPr lang="en-US" sz="1350" b="1">
                <a:solidFill>
                  <a:srgbClr val="000000"/>
                </a:solidFill>
              </a:rPr>
              <a:t>Suggest resources for open roles</a:t>
            </a:r>
            <a:endParaRPr lang="en-US" sz="1350">
              <a:solidFill>
                <a:srgbClr val="000000"/>
              </a:solidFill>
            </a:endParaRPr>
          </a:p>
          <a:p>
            <a:pPr marL="0" indent="0">
              <a:buNone/>
            </a:pPr>
            <a:r>
              <a:rPr lang="en-US" sz="1100">
                <a:solidFill>
                  <a:srgbClr val="60607D"/>
                </a:solidFill>
              </a:rPr>
              <a:t>Ranked candidates with fit rationale, availability, and recent project history.</a:t>
            </a:r>
            <a:endParaRPr lang="en-US" sz="1350">
              <a:solidFill>
                <a:srgbClr val="000000"/>
              </a:solidFill>
            </a:endParaRPr>
          </a:p>
        </p:txBody>
      </p:sp>
      <p:sp>
        <p:nvSpPr>
          <p:cNvPr id="28" name="Feature row 3"/>
          <p:cNvSpPr/>
          <p:nvPr/>
        </p:nvSpPr>
        <p:spPr>
          <a:xfrm>
            <a:off x="6035040" y="2871216"/>
            <a:ext cx="5623560" cy="822960"/>
          </a:xfrm>
          <a:prstGeom prst="roundRect">
            <a:avLst>
              <a:gd name="adj" fmla="val 1111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9" name="Number badge"/>
          <p:cNvSpPr/>
          <p:nvPr/>
        </p:nvSpPr>
        <p:spPr>
          <a:xfrm>
            <a:off x="6217920" y="3054096"/>
            <a:ext cx="457200" cy="457200"/>
          </a:xfrm>
          <a:prstGeom prst="ellipse">
            <a:avLst/>
          </a:prstGeom>
          <a:solidFill>
            <a:srgbClr val="000000"/>
          </a:solidFill>
          <a:ln/>
        </p:spPr>
        <p:txBody>
          <a:bodyPr/>
          <a:lstStyle/>
          <a:p>
            <a:endParaRPr lang="en-US">
              <a:solidFill>
                <a:srgbClr val="000000"/>
              </a:solidFill>
            </a:endParaRPr>
          </a:p>
        </p:txBody>
      </p:sp>
      <p:sp>
        <p:nvSpPr>
          <p:cNvPr id="30" name="Number"/>
          <p:cNvSpPr txBox="1"/>
          <p:nvPr/>
        </p:nvSpPr>
        <p:spPr>
          <a:xfrm>
            <a:off x="6217920" y="3054096"/>
            <a:ext cx="457200" cy="457200"/>
          </a:xfrm>
          <a:prstGeom prst="rect">
            <a:avLst/>
          </a:prstGeom>
          <a:noFill/>
          <a:ln/>
        </p:spPr>
        <p:txBody>
          <a:bodyPr wrap="square" lIns="0" tIns="0" rIns="0" bIns="0" rtlCol="0" anchor="ctr"/>
          <a:lstStyle/>
          <a:p>
            <a:pPr marL="0" indent="0" algn="ctr">
              <a:buNone/>
            </a:pPr>
            <a:r>
              <a:rPr lang="en-US" sz="1400" b="1">
                <a:solidFill>
                  <a:srgbClr val="FFFFFF"/>
                </a:solidFill>
              </a:rPr>
              <a:t>3</a:t>
            </a:r>
            <a:endParaRPr lang="en-US" sz="1400">
              <a:solidFill>
                <a:srgbClr val="000000"/>
              </a:solidFill>
            </a:endParaRPr>
          </a:p>
        </p:txBody>
      </p:sp>
      <p:sp>
        <p:nvSpPr>
          <p:cNvPr id="31" name="Feature text"/>
          <p:cNvSpPr txBox="1"/>
          <p:nvPr/>
        </p:nvSpPr>
        <p:spPr>
          <a:xfrm>
            <a:off x="6858000" y="2907792"/>
            <a:ext cx="4663440" cy="749808"/>
          </a:xfrm>
          <a:prstGeom prst="rect">
            <a:avLst/>
          </a:prstGeom>
          <a:noFill/>
          <a:ln/>
        </p:spPr>
        <p:txBody>
          <a:bodyPr wrap="square" lIns="0" tIns="0" rIns="0" bIns="0" rtlCol="0" anchor="ctr"/>
          <a:lstStyle/>
          <a:p>
            <a:pPr marL="0" indent="0">
              <a:buNone/>
            </a:pPr>
            <a:r>
              <a:rPr lang="en-US" sz="1350" b="1">
                <a:solidFill>
                  <a:srgbClr val="000000"/>
                </a:solidFill>
              </a:rPr>
              <a:t>Run what-if scenarios</a:t>
            </a:r>
            <a:endParaRPr lang="en-US" sz="1350">
              <a:solidFill>
                <a:srgbClr val="000000"/>
              </a:solidFill>
            </a:endParaRPr>
          </a:p>
          <a:p>
            <a:pPr marL="0" indent="0">
              <a:buNone/>
            </a:pPr>
            <a:r>
              <a:rPr lang="en-US" sz="1100">
                <a:solidFill>
                  <a:srgbClr val="60607D"/>
                </a:solidFill>
              </a:rPr>
              <a:t>Model a deal landing, a start date slipping, or filling from the bench — before committing.</a:t>
            </a:r>
            <a:endParaRPr lang="en-US" sz="1350">
              <a:solidFill>
                <a:srgbClr val="000000"/>
              </a:solidFill>
            </a:endParaRPr>
          </a:p>
        </p:txBody>
      </p:sp>
      <p:sp>
        <p:nvSpPr>
          <p:cNvPr id="32" name="Feature row 4"/>
          <p:cNvSpPr/>
          <p:nvPr/>
        </p:nvSpPr>
        <p:spPr>
          <a:xfrm>
            <a:off x="6035040" y="3803904"/>
            <a:ext cx="5623560" cy="822960"/>
          </a:xfrm>
          <a:prstGeom prst="roundRect">
            <a:avLst>
              <a:gd name="adj" fmla="val 1111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3" name="Number badge"/>
          <p:cNvSpPr/>
          <p:nvPr/>
        </p:nvSpPr>
        <p:spPr>
          <a:xfrm>
            <a:off x="6217920" y="3986784"/>
            <a:ext cx="457200" cy="457200"/>
          </a:xfrm>
          <a:prstGeom prst="ellipse">
            <a:avLst/>
          </a:prstGeom>
          <a:solidFill>
            <a:srgbClr val="0391F2"/>
          </a:solidFill>
          <a:ln/>
        </p:spPr>
        <p:txBody>
          <a:bodyPr/>
          <a:lstStyle/>
          <a:p>
            <a:endParaRPr lang="en-US">
              <a:solidFill>
                <a:srgbClr val="000000"/>
              </a:solidFill>
            </a:endParaRPr>
          </a:p>
        </p:txBody>
      </p:sp>
      <p:sp>
        <p:nvSpPr>
          <p:cNvPr id="34" name="Number"/>
          <p:cNvSpPr txBox="1"/>
          <p:nvPr/>
        </p:nvSpPr>
        <p:spPr>
          <a:xfrm>
            <a:off x="6217920" y="3986784"/>
            <a:ext cx="457200" cy="457200"/>
          </a:xfrm>
          <a:prstGeom prst="rect">
            <a:avLst/>
          </a:prstGeom>
          <a:noFill/>
          <a:ln/>
        </p:spPr>
        <p:txBody>
          <a:bodyPr wrap="square" lIns="0" tIns="0" rIns="0" bIns="0" rtlCol="0" anchor="ctr"/>
          <a:lstStyle/>
          <a:p>
            <a:pPr marL="0" indent="0" algn="ctr">
              <a:buNone/>
            </a:pPr>
            <a:r>
              <a:rPr lang="en-US" sz="1400" b="1">
                <a:solidFill>
                  <a:srgbClr val="FFFFFF"/>
                </a:solidFill>
              </a:rPr>
              <a:t>4</a:t>
            </a:r>
            <a:endParaRPr lang="en-US" sz="1400">
              <a:solidFill>
                <a:srgbClr val="000000"/>
              </a:solidFill>
            </a:endParaRPr>
          </a:p>
        </p:txBody>
      </p:sp>
      <p:sp>
        <p:nvSpPr>
          <p:cNvPr id="35" name="Feature text"/>
          <p:cNvSpPr txBox="1"/>
          <p:nvPr/>
        </p:nvSpPr>
        <p:spPr>
          <a:xfrm>
            <a:off x="6858000" y="3840480"/>
            <a:ext cx="4663440" cy="749808"/>
          </a:xfrm>
          <a:prstGeom prst="rect">
            <a:avLst/>
          </a:prstGeom>
          <a:noFill/>
          <a:ln/>
        </p:spPr>
        <p:txBody>
          <a:bodyPr wrap="square" lIns="0" tIns="0" rIns="0" bIns="0" rtlCol="0" anchor="ctr"/>
          <a:lstStyle/>
          <a:p>
            <a:pPr marL="0" indent="0">
              <a:buNone/>
            </a:pPr>
            <a:r>
              <a:rPr lang="en-US" sz="1350" b="1">
                <a:solidFill>
                  <a:srgbClr val="000000"/>
                </a:solidFill>
              </a:rPr>
              <a:t>Walk a decision through governance</a:t>
            </a:r>
            <a:endParaRPr lang="en-US" sz="1350">
              <a:solidFill>
                <a:srgbClr val="000000"/>
              </a:solidFill>
            </a:endParaRPr>
          </a:p>
          <a:p>
            <a:pPr marL="0" indent="0">
              <a:buNone/>
            </a:pPr>
            <a:r>
              <a:rPr lang="en-US" sz="1100">
                <a:solidFill>
                  <a:srgbClr val="60607D"/>
                </a:solidFill>
              </a:rPr>
              <a:t>Approval stages with policy checks surfaced at each gate. Full audit trail.</a:t>
            </a:r>
            <a:endParaRPr lang="en-US" sz="1350">
              <a:solidFill>
                <a:srgbClr val="000000"/>
              </a:solidFill>
            </a:endParaRPr>
          </a:p>
        </p:txBody>
      </p:sp>
      <p:sp>
        <p:nvSpPr>
          <p:cNvPr id="36" name="Feature row 5"/>
          <p:cNvSpPr/>
          <p:nvPr/>
        </p:nvSpPr>
        <p:spPr>
          <a:xfrm>
            <a:off x="6035040" y="4736592"/>
            <a:ext cx="5623560" cy="822960"/>
          </a:xfrm>
          <a:prstGeom prst="roundRect">
            <a:avLst>
              <a:gd name="adj" fmla="val 1111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7" name="Number badge"/>
          <p:cNvSpPr/>
          <p:nvPr/>
        </p:nvSpPr>
        <p:spPr>
          <a:xfrm>
            <a:off x="6217920" y="4919472"/>
            <a:ext cx="457200" cy="457200"/>
          </a:xfrm>
          <a:prstGeom prst="ellipse">
            <a:avLst/>
          </a:prstGeom>
          <a:solidFill>
            <a:srgbClr val="000000"/>
          </a:solidFill>
          <a:ln/>
        </p:spPr>
        <p:txBody>
          <a:bodyPr/>
          <a:lstStyle/>
          <a:p>
            <a:endParaRPr lang="en-US">
              <a:solidFill>
                <a:srgbClr val="000000"/>
              </a:solidFill>
            </a:endParaRPr>
          </a:p>
        </p:txBody>
      </p:sp>
      <p:sp>
        <p:nvSpPr>
          <p:cNvPr id="38" name="Number"/>
          <p:cNvSpPr txBox="1"/>
          <p:nvPr/>
        </p:nvSpPr>
        <p:spPr>
          <a:xfrm>
            <a:off x="6217920" y="4919472"/>
            <a:ext cx="457200" cy="457200"/>
          </a:xfrm>
          <a:prstGeom prst="rect">
            <a:avLst/>
          </a:prstGeom>
          <a:noFill/>
          <a:ln/>
        </p:spPr>
        <p:txBody>
          <a:bodyPr wrap="square" lIns="0" tIns="0" rIns="0" bIns="0" rtlCol="0" anchor="ctr"/>
          <a:lstStyle/>
          <a:p>
            <a:pPr marL="0" indent="0" algn="ctr">
              <a:buNone/>
            </a:pPr>
            <a:r>
              <a:rPr lang="en-US" sz="1400" b="1">
                <a:solidFill>
                  <a:srgbClr val="FFFFFF"/>
                </a:solidFill>
              </a:rPr>
              <a:t>5</a:t>
            </a:r>
            <a:endParaRPr lang="en-US" sz="1400">
              <a:solidFill>
                <a:srgbClr val="000000"/>
              </a:solidFill>
            </a:endParaRPr>
          </a:p>
        </p:txBody>
      </p:sp>
      <p:sp>
        <p:nvSpPr>
          <p:cNvPr id="39" name="Feature text"/>
          <p:cNvSpPr txBox="1"/>
          <p:nvPr/>
        </p:nvSpPr>
        <p:spPr>
          <a:xfrm>
            <a:off x="6858000" y="4773168"/>
            <a:ext cx="4663440" cy="749808"/>
          </a:xfrm>
          <a:prstGeom prst="rect">
            <a:avLst/>
          </a:prstGeom>
          <a:noFill/>
          <a:ln/>
        </p:spPr>
        <p:txBody>
          <a:bodyPr wrap="square" lIns="0" tIns="0" rIns="0" bIns="0" rtlCol="0" anchor="ctr"/>
          <a:lstStyle/>
          <a:p>
            <a:pPr marL="0" indent="0">
              <a:buNone/>
            </a:pPr>
            <a:r>
              <a:rPr lang="en-US" sz="1350" b="1">
                <a:solidFill>
                  <a:srgbClr val="000000"/>
                </a:solidFill>
              </a:rPr>
              <a:t>Ask in plain language</a:t>
            </a:r>
            <a:endParaRPr lang="en-US" sz="1350">
              <a:solidFill>
                <a:srgbClr val="000000"/>
              </a:solidFill>
            </a:endParaRPr>
          </a:p>
          <a:p>
            <a:pPr marL="0" indent="0">
              <a:buNone/>
            </a:pPr>
            <a:r>
              <a:rPr lang="en-US" sz="1100">
                <a:solidFill>
                  <a:srgbClr val="60607D"/>
                </a:solidFill>
              </a:rPr>
              <a:t>A conversational assistant grounded in current, real data — not general knowledge.</a:t>
            </a:r>
            <a:endParaRPr lang="en-US" sz="1350">
              <a:solidFill>
                <a:srgbClr val="000000"/>
              </a:solidFill>
            </a:endParaRPr>
          </a:p>
        </p:txBody>
      </p:sp>
      <p:sp>
        <p:nvSpPr>
          <p:cNvPr id="40" name="Closing line"/>
          <p:cNvSpPr txBox="1"/>
          <p:nvPr/>
        </p:nvSpPr>
        <p:spPr>
          <a:xfrm>
            <a:off x="6035040" y="5852160"/>
            <a:ext cx="5623560" cy="320040"/>
          </a:xfrm>
          <a:prstGeom prst="rect">
            <a:avLst/>
          </a:prstGeom>
          <a:noFill/>
          <a:ln/>
        </p:spPr>
        <p:txBody>
          <a:bodyPr wrap="square" lIns="0" tIns="0" rIns="0" bIns="0" rtlCol="0" anchor="ctr"/>
          <a:lstStyle/>
          <a:p>
            <a:pPr marL="0" indent="0">
              <a:buNone/>
            </a:pPr>
            <a:r>
              <a:rPr lang="en-US" sz="1100" b="1" kern="0" spc="200">
                <a:solidFill>
                  <a:srgbClr val="000000"/>
                </a:solidFill>
              </a:rPr>
              <a:t>FIVE PRACTICAL WAYS TO MOVE FROM INSIGHT TO ACTION</a:t>
            </a:r>
            <a:endParaRPr lang="en-US" sz="1100">
              <a:solidFill>
                <a:srgbClr val="000000"/>
              </a:solidFill>
            </a:endParaRPr>
          </a:p>
        </p:txBody>
      </p:sp>
      <p:pic>
        <p:nvPicPr>
          <p:cNvPr id="41" name="Picture 40" descr="image.png"/>
          <p:cNvPicPr>
            <a:picLocks noChangeAspect="1"/>
          </p:cNvPicPr>
          <p:nvPr/>
        </p:nvPicPr>
        <p:blipFill>
          <a:blip r:embed="rId3"/>
          <a:stretch>
            <a:fillRect/>
          </a:stretch>
        </p:blipFill>
        <p:spPr>
          <a:xfrm>
            <a:off x="640080" y="6400800"/>
            <a:ext cx="274320" cy="15018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a:t>
            </a:r>
          </a:p>
        </p:txBody>
      </p:sp>
      <p:sp>
        <p:nvSpPr>
          <p:cNvPr id="3" name="Eyebrow"/>
          <p:cNvSpPr txBox="1"/>
          <p:nvPr/>
        </p:nvSpPr>
        <p:spPr>
          <a:xfrm>
            <a:off x="914400" y="932688"/>
            <a:ext cx="6858000" cy="201168"/>
          </a:xfrm>
          <a:prstGeom prst="rect">
            <a:avLst/>
          </a:prstGeom>
          <a:noFill/>
        </p:spPr>
        <p:txBody>
          <a:bodyPr wrap="square" lIns="0" tIns="0" rIns="0" bIns="0" anchor="t">
            <a:spAutoFit/>
          </a:bodyPr>
          <a:lstStyle/>
          <a:p>
            <a:pPr>
              <a:spcAft>
                <a:spcPts val="0"/>
              </a:spcAft>
            </a:pPr>
            <a:r>
              <a:rPr sz="1000" b="1" i="0" cap="all" spc="200">
                <a:solidFill>
                  <a:srgbClr val="7FC8FF"/>
                </a:solidFill>
              </a:rPr>
              <a:t>APPENDIX</a:t>
            </a:r>
          </a:p>
        </p:txBody>
      </p:sp>
      <p:sp>
        <p:nvSpPr>
          <p:cNvPr id="4" name="Section description"/>
          <p:cNvSpPr txBox="1"/>
          <p:nvPr/>
        </p:nvSpPr>
        <p:spPr>
          <a:xfrm>
            <a:off x="914400" y="3931920"/>
            <a:ext cx="5669280" cy="914400"/>
          </a:xfrm>
          <a:prstGeom prst="rect">
            <a:avLst/>
          </a:prstGeom>
          <a:noFill/>
        </p:spPr>
        <p:txBody>
          <a:bodyPr wrap="square" lIns="0" tIns="0" rIns="0" bIns="0" anchor="t">
            <a:spAutoFit/>
          </a:bodyPr>
          <a:lstStyle/>
          <a:p>
            <a:pPr>
              <a:spcAft>
                <a:spcPts val="0"/>
              </a:spcAft>
            </a:pPr>
            <a:r>
              <a:rPr sz="1600" b="0" i="0">
                <a:solidFill>
                  <a:srgbClr val="FFFFFF"/>
                </a:solidFill>
              </a:rPr>
              <a:t>Supporting detail: the framework, delivery models, account roles, and client issues</a:t>
            </a:r>
          </a:p>
        </p:txBody>
      </p:sp>
      <p:sp>
        <p:nvSpPr>
          <p:cNvPr id="5" name="Sub-section label"/>
          <p:cNvSpPr txBox="1"/>
          <p:nvPr/>
        </p:nvSpPr>
        <p:spPr>
          <a:xfrm>
            <a:off x="914400" y="4617720"/>
            <a:ext cx="5943600" cy="228600"/>
          </a:xfrm>
          <a:prstGeom prst="rect">
            <a:avLst/>
          </a:prstGeom>
          <a:noFill/>
        </p:spPr>
        <p:txBody>
          <a:bodyPr wrap="square" lIns="0" tIns="0" rIns="0" bIns="0" anchor="t">
            <a:spAutoFit/>
          </a:bodyPr>
          <a:lstStyle/>
          <a:p>
            <a:pPr>
              <a:spcAft>
                <a:spcPts val="0"/>
              </a:spcAft>
            </a:pPr>
            <a:r>
              <a:rPr sz="900" b="1" i="0" spc="200">
                <a:solidFill>
                  <a:srgbClr val="7FC8FF"/>
                </a:solidFill>
              </a:rPr>
              <a:t>IN THIS SECTION</a:t>
            </a:r>
          </a:p>
        </p:txBody>
      </p:sp>
      <p:sp>
        <p:nvSpPr>
          <p:cNvPr id="6" name="Sub-sections"/>
          <p:cNvSpPr txBox="1"/>
          <p:nvPr/>
        </p:nvSpPr>
        <p:spPr>
          <a:xfrm>
            <a:off x="914400" y="4892040"/>
            <a:ext cx="6217920" cy="1371600"/>
          </a:xfrm>
          <a:prstGeom prst="rect">
            <a:avLst/>
          </a:prstGeom>
          <a:noFill/>
        </p:spPr>
        <p:txBody>
          <a:bodyPr wrap="square" lIns="0" tIns="0" rIns="0" bIns="0" anchor="t">
            <a:spAutoFit/>
          </a:bodyPr>
          <a:lstStyle/>
          <a:p>
            <a:pPr>
              <a:spcAft>
                <a:spcPts val="200"/>
              </a:spcAft>
            </a:pPr>
            <a:r>
              <a:rPr sz="1200" b="0" i="0">
                <a:solidFill>
                  <a:srgbClr val="FFFFFF"/>
                </a:solidFill>
              </a:rPr>
              <a:t>Engagement vs. delivery layers</a:t>
            </a:r>
          </a:p>
          <a:p>
            <a:pPr>
              <a:spcAft>
                <a:spcPts val="200"/>
              </a:spcAft>
            </a:pPr>
            <a:r>
              <a:rPr sz="1200" b="0" i="0">
                <a:solidFill>
                  <a:srgbClr val="FFFFFF"/>
                </a:solidFill>
              </a:rPr>
              <a:t>The four delivery models</a:t>
            </a:r>
          </a:p>
          <a:p>
            <a:pPr>
              <a:spcAft>
                <a:spcPts val="200"/>
              </a:spcAft>
            </a:pPr>
            <a:r>
              <a:rPr sz="1200" b="0" i="0">
                <a:solidFill>
                  <a:srgbClr val="FFFFFF"/>
                </a:solidFill>
              </a:rPr>
              <a:t>How the layers stack (RL)</a:t>
            </a:r>
          </a:p>
          <a:p>
            <a:pPr>
              <a:spcAft>
                <a:spcPts val="200"/>
              </a:spcAft>
            </a:pPr>
            <a:r>
              <a:rPr sz="1200" b="0" i="0">
                <a:solidFill>
                  <a:srgbClr val="FFFFFF"/>
                </a:solidFill>
              </a:rPr>
              <a:t>The three account roles</a:t>
            </a:r>
          </a:p>
          <a:p>
            <a:pPr>
              <a:spcAft>
                <a:spcPts val="200"/>
              </a:spcAft>
            </a:pPr>
            <a:r>
              <a:rPr sz="1200" b="0" i="0">
                <a:solidFill>
                  <a:srgbClr val="FFFFFF"/>
                </a:solidFill>
              </a:rPr>
              <a:t>How we’ll know it’s working</a:t>
            </a:r>
          </a:p>
          <a:p>
            <a:pPr>
              <a:spcAft>
                <a:spcPts val="200"/>
              </a:spcAft>
            </a:pPr>
            <a:r>
              <a:rPr sz="1200" b="0" i="0">
                <a:solidFill>
                  <a:srgbClr val="FFFFFF"/>
                </a:solidFill>
              </a:rPr>
              <a:t>Client detail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ask</a:t>
            </a:r>
          </a:p>
        </p:txBody>
      </p:sp>
      <p:sp>
        <p:nvSpPr>
          <p:cNvPr id="3" name="Eyebrow"/>
          <p:cNvSpPr txBox="1"/>
          <p:nvPr/>
        </p:nvSpPr>
        <p:spPr>
          <a:xfrm>
            <a:off x="914400" y="932688"/>
            <a:ext cx="6858000" cy="201168"/>
          </a:xfrm>
          <a:prstGeom prst="rect">
            <a:avLst/>
          </a:prstGeom>
          <a:noFill/>
        </p:spPr>
        <p:txBody>
          <a:bodyPr wrap="square" lIns="0" tIns="0" rIns="0" bIns="0" anchor="t">
            <a:spAutoFit/>
          </a:bodyPr>
          <a:lstStyle/>
          <a:p>
            <a:pPr>
              <a:spcAft>
                <a:spcPts val="0"/>
              </a:spcAft>
            </a:pPr>
            <a:r>
              <a:rPr sz="1000" b="1" i="0" cap="all" spc="200">
                <a:solidFill>
                  <a:srgbClr val="7FC8FF"/>
                </a:solidFill>
              </a:rPr>
              <a:t>OVERVIEW</a:t>
            </a:r>
          </a:p>
        </p:txBody>
      </p:sp>
      <p:sp>
        <p:nvSpPr>
          <p:cNvPr id="4" name="Section description"/>
          <p:cNvSpPr txBox="1"/>
          <p:nvPr/>
        </p:nvSpPr>
        <p:spPr>
          <a:xfrm>
            <a:off x="914400" y="3931920"/>
            <a:ext cx="5669280" cy="914400"/>
          </a:xfrm>
          <a:prstGeom prst="rect">
            <a:avLst/>
          </a:prstGeom>
          <a:noFill/>
        </p:spPr>
        <p:txBody>
          <a:bodyPr wrap="square" lIns="0" tIns="0" rIns="0" bIns="0" anchor="t">
            <a:spAutoFit/>
          </a:bodyPr>
          <a:lstStyle/>
          <a:p>
            <a:pPr>
              <a:spcAft>
                <a:spcPts val="0"/>
              </a:spcAft>
            </a:pPr>
            <a:r>
              <a:rPr sz="1600" b="0" i="0">
                <a:solidFill>
                  <a:srgbClr val="FFFFFF"/>
                </a:solidFill>
              </a:rPr>
              <a:t>Six streams, eleven asks. What leadership is asking for, from how we define the work to how we watch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What leadership is asking for</a:t>
            </a:r>
          </a:p>
        </p:txBody>
      </p:sp>
      <p:sp>
        <p:nvSpPr>
          <p:cNvPr id="4" name="Text Placeholder 3"/>
          <p:cNvSpPr>
            <a:spLocks noGrp="1"/>
          </p:cNvSpPr>
          <p:nvPr>
            <p:ph type="body" sz="quarter" idx="12"/>
          </p:nvPr>
        </p:nvSpPr>
        <p:spPr/>
        <p:txBody>
          <a:bodyPr/>
          <a:lstStyle/>
          <a:p>
            <a:r>
              <a:t>THE ASK</a:t>
            </a:r>
          </a:p>
        </p:txBody>
      </p:sp>
      <p:sp>
        <p:nvSpPr>
          <p:cNvPr id="5" name="Subhead"/>
          <p:cNvSpPr txBox="1"/>
          <p:nvPr/>
        </p:nvSpPr>
        <p:spPr>
          <a:xfrm>
            <a:off x="530352" y="1261872"/>
            <a:ext cx="11128248" cy="256032"/>
          </a:xfrm>
          <a:prstGeom prst="rect">
            <a:avLst/>
          </a:prstGeom>
          <a:noFill/>
        </p:spPr>
        <p:txBody>
          <a:bodyPr wrap="square" lIns="0" tIns="0" rIns="0" bIns="0" anchor="t">
            <a:spAutoFit/>
          </a:bodyPr>
          <a:lstStyle/>
          <a:p>
            <a:pPr>
              <a:spcAft>
                <a:spcPts val="0"/>
              </a:spcAft>
            </a:pPr>
            <a:r>
              <a:rPr sz="1300" b="0" i="1">
                <a:solidFill>
                  <a:srgbClr val="60607D"/>
                </a:solidFill>
              </a:rPr>
              <a:t>Most client problems start early: we sell work we cannot deliver well, and spot problems too late.</a:t>
            </a:r>
          </a:p>
        </p:txBody>
      </p:sp>
      <p:sp>
        <p:nvSpPr>
          <p:cNvPr id="6" name="Column label"/>
          <p:cNvSpPr txBox="1"/>
          <p:nvPr/>
        </p:nvSpPr>
        <p:spPr>
          <a:xfrm>
            <a:off x="530352" y="1627632"/>
            <a:ext cx="1645920" cy="182880"/>
          </a:xfrm>
          <a:prstGeom prst="rect">
            <a:avLst/>
          </a:prstGeom>
          <a:noFill/>
        </p:spPr>
        <p:txBody>
          <a:bodyPr wrap="square" lIns="0" tIns="0" rIns="0" bIns="0" anchor="t">
            <a:spAutoFit/>
          </a:bodyPr>
          <a:lstStyle/>
          <a:p>
            <a:pPr>
              <a:spcAft>
                <a:spcPts val="0"/>
              </a:spcAft>
            </a:pPr>
            <a:r>
              <a:rPr sz="900" b="1" i="0" spc="200">
                <a:solidFill>
                  <a:srgbClr val="8888A1"/>
                </a:solidFill>
              </a:rPr>
              <a:t>STREAM</a:t>
            </a:r>
          </a:p>
        </p:txBody>
      </p:sp>
      <p:sp>
        <p:nvSpPr>
          <p:cNvPr id="7" name="Column label"/>
          <p:cNvSpPr txBox="1"/>
          <p:nvPr/>
        </p:nvSpPr>
        <p:spPr>
          <a:xfrm>
            <a:off x="2331720" y="1627632"/>
            <a:ext cx="2743200" cy="182880"/>
          </a:xfrm>
          <a:prstGeom prst="rect">
            <a:avLst/>
          </a:prstGeom>
          <a:noFill/>
        </p:spPr>
        <p:txBody>
          <a:bodyPr wrap="square" lIns="0" tIns="0" rIns="0" bIns="0" anchor="t">
            <a:spAutoFit/>
          </a:bodyPr>
          <a:lstStyle/>
          <a:p>
            <a:pPr>
              <a:spcAft>
                <a:spcPts val="0"/>
              </a:spcAft>
            </a:pPr>
            <a:r>
              <a:rPr sz="900" b="1" i="0" spc="200">
                <a:solidFill>
                  <a:srgbClr val="0391F2"/>
                </a:solidFill>
              </a:rPr>
              <a:t>THE ASK</a:t>
            </a:r>
          </a:p>
        </p:txBody>
      </p:sp>
      <p:sp>
        <p:nvSpPr>
          <p:cNvPr id="8" name="Column label"/>
          <p:cNvSpPr txBox="1"/>
          <p:nvPr/>
        </p:nvSpPr>
        <p:spPr>
          <a:xfrm>
            <a:off x="7315200" y="1627632"/>
            <a:ext cx="3200400" cy="182880"/>
          </a:xfrm>
          <a:prstGeom prst="rect">
            <a:avLst/>
          </a:prstGeom>
          <a:noFill/>
        </p:spPr>
        <p:txBody>
          <a:bodyPr wrap="square" lIns="0" tIns="0" rIns="0" bIns="0" anchor="t">
            <a:spAutoFit/>
          </a:bodyPr>
          <a:lstStyle/>
          <a:p>
            <a:pPr>
              <a:spcAft>
                <a:spcPts val="0"/>
              </a:spcAft>
            </a:pPr>
            <a:r>
              <a:rPr sz="900" b="1" i="0" spc="200">
                <a:solidFill>
                  <a:srgbClr val="8888A1"/>
                </a:solidFill>
              </a:rPr>
              <a:t>WHAT’S NEEDED</a:t>
            </a:r>
          </a:p>
        </p:txBody>
      </p:sp>
      <p:cxnSp>
        <p:nvCxnSpPr>
          <p:cNvPr id="9" name="Row rule"/>
          <p:cNvCxnSpPr/>
          <p:nvPr/>
        </p:nvCxnSpPr>
        <p:spPr>
          <a:xfrm>
            <a:off x="530352" y="1874519"/>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10" name="Stream number"/>
          <p:cNvSpPr txBox="1"/>
          <p:nvPr/>
        </p:nvSpPr>
        <p:spPr>
          <a:xfrm>
            <a:off x="530352" y="1874519"/>
            <a:ext cx="640080" cy="548640"/>
          </a:xfrm>
          <a:prstGeom prst="rect">
            <a:avLst/>
          </a:prstGeom>
          <a:noFill/>
        </p:spPr>
        <p:txBody>
          <a:bodyPr wrap="square" lIns="0" tIns="0" rIns="0" bIns="0" anchor="ctr">
            <a:spAutoFit/>
          </a:bodyPr>
          <a:lstStyle/>
          <a:p>
            <a:pPr>
              <a:spcAft>
                <a:spcPts val="0"/>
              </a:spcAft>
            </a:pPr>
            <a:r>
              <a:rPr sz="2200" b="1" i="0">
                <a:solidFill>
                  <a:srgbClr val="0391F2"/>
                </a:solidFill>
              </a:rPr>
              <a:t>01</a:t>
            </a:r>
          </a:p>
        </p:txBody>
      </p:sp>
      <p:sp>
        <p:nvSpPr>
          <p:cNvPr id="11" name="Stream name"/>
          <p:cNvSpPr txBox="1"/>
          <p:nvPr/>
        </p:nvSpPr>
        <p:spPr>
          <a:xfrm>
            <a:off x="1097280" y="1874519"/>
            <a:ext cx="1280160" cy="548640"/>
          </a:xfrm>
          <a:prstGeom prst="rect">
            <a:avLst/>
          </a:prstGeom>
          <a:noFill/>
        </p:spPr>
        <p:txBody>
          <a:bodyPr wrap="square" lIns="0" tIns="0" rIns="0" bIns="0" anchor="ctr">
            <a:spAutoFit/>
          </a:bodyPr>
          <a:lstStyle/>
          <a:p>
            <a:pPr>
              <a:spcAft>
                <a:spcPts val="0"/>
              </a:spcAft>
            </a:pPr>
            <a:r>
              <a:rPr sz="1500" b="1" i="0">
                <a:solidFill>
                  <a:srgbClr val="040E4B"/>
                </a:solidFill>
              </a:rPr>
              <a:t>Define</a:t>
            </a:r>
          </a:p>
        </p:txBody>
      </p:sp>
      <p:sp>
        <p:nvSpPr>
          <p:cNvPr id="14" name="Column 3"/>
          <p:cNvSpPr txBox="1"/>
          <p:nvPr/>
        </p:nvSpPr>
        <p:spPr>
          <a:xfrm>
            <a:off x="7315200" y="1874519"/>
            <a:ext cx="4343400" cy="548640"/>
          </a:xfrm>
          <a:prstGeom prst="rect">
            <a:avLst/>
          </a:prstGeom>
          <a:noFill/>
        </p:spPr>
        <p:txBody>
          <a:bodyPr wrap="square" lIns="0" tIns="0" rIns="0" bIns="0" anchor="ctr">
            <a:spAutoFit/>
          </a:bodyPr>
          <a:lstStyle/>
          <a:p>
            <a:pPr>
              <a:spcAft>
                <a:spcPts val="0"/>
              </a:spcAft>
            </a:pPr>
            <a:r>
              <a:rPr sz="1100" b="0" i="0">
                <a:solidFill>
                  <a:srgbClr val="000000"/>
                </a:solidFill>
              </a:rPr>
              <a:t>One shared way to describe how we engage and deliver, with a named owner for each part, common names and phases, and a quarterly refresh.</a:t>
            </a:r>
          </a:p>
        </p:txBody>
      </p:sp>
      <p:sp>
        <p:nvSpPr>
          <p:cNvPr id="12" name="Ask 1 number"/>
          <p:cNvSpPr txBox="1"/>
          <p:nvPr/>
        </p:nvSpPr>
        <p:spPr>
          <a:xfrm>
            <a:off x="2331720" y="1911095"/>
            <a:ext cx="411480" cy="475488"/>
          </a:xfrm>
          <a:prstGeom prst="rect">
            <a:avLst/>
          </a:prstGeom>
          <a:noFill/>
        </p:spPr>
        <p:txBody>
          <a:bodyPr wrap="square" lIns="0" tIns="0" rIns="0" bIns="0" anchor="ctr">
            <a:spAutoFit/>
          </a:bodyPr>
          <a:lstStyle/>
          <a:p>
            <a:pPr>
              <a:spcAft>
                <a:spcPts val="0"/>
              </a:spcAft>
            </a:pPr>
            <a:r>
              <a:rPr sz="1050" b="1" i="0">
                <a:solidFill>
                  <a:srgbClr val="0391F2"/>
                </a:solidFill>
              </a:rPr>
              <a:t>01</a:t>
            </a:r>
          </a:p>
        </p:txBody>
      </p:sp>
      <p:sp>
        <p:nvSpPr>
          <p:cNvPr id="13" name="Ask 1"/>
          <p:cNvSpPr txBox="1"/>
          <p:nvPr/>
        </p:nvSpPr>
        <p:spPr>
          <a:xfrm>
            <a:off x="2743200" y="1911095"/>
            <a:ext cx="4434840" cy="475488"/>
          </a:xfrm>
          <a:prstGeom prst="rect">
            <a:avLst/>
          </a:prstGeom>
          <a:noFill/>
        </p:spPr>
        <p:txBody>
          <a:bodyPr wrap="square" lIns="0" tIns="0" rIns="0" bIns="0" anchor="ctr">
            <a:spAutoFit/>
          </a:bodyPr>
          <a:lstStyle/>
          <a:p>
            <a:pPr>
              <a:spcAft>
                <a:spcPts val="0"/>
              </a:spcAft>
            </a:pPr>
            <a:r>
              <a:rPr sz="1150" b="0" i="1">
                <a:solidFill>
                  <a:srgbClr val="040E4B"/>
                </a:solidFill>
              </a:rPr>
              <a:t>“Give us one shared approach everyone uses to describe how we sell and deliver work.”</a:t>
            </a:r>
          </a:p>
        </p:txBody>
      </p:sp>
      <p:cxnSp>
        <p:nvCxnSpPr>
          <p:cNvPr id="15" name="Row rule"/>
          <p:cNvCxnSpPr/>
          <p:nvPr/>
        </p:nvCxnSpPr>
        <p:spPr>
          <a:xfrm>
            <a:off x="530352" y="242316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16" name="Stream number"/>
          <p:cNvSpPr txBox="1"/>
          <p:nvPr/>
        </p:nvSpPr>
        <p:spPr>
          <a:xfrm>
            <a:off x="530352" y="2423160"/>
            <a:ext cx="640080" cy="475488"/>
          </a:xfrm>
          <a:prstGeom prst="rect">
            <a:avLst/>
          </a:prstGeom>
          <a:noFill/>
        </p:spPr>
        <p:txBody>
          <a:bodyPr wrap="square" lIns="0" tIns="0" rIns="0" bIns="0" anchor="ctr">
            <a:spAutoFit/>
          </a:bodyPr>
          <a:lstStyle/>
          <a:p>
            <a:pPr>
              <a:spcAft>
                <a:spcPts val="0"/>
              </a:spcAft>
            </a:pPr>
            <a:r>
              <a:rPr sz="2200" b="1" i="0">
                <a:solidFill>
                  <a:srgbClr val="0391F2"/>
                </a:solidFill>
              </a:rPr>
              <a:t>02</a:t>
            </a:r>
          </a:p>
        </p:txBody>
      </p:sp>
      <p:sp>
        <p:nvSpPr>
          <p:cNvPr id="17" name="Stream name"/>
          <p:cNvSpPr txBox="1"/>
          <p:nvPr/>
        </p:nvSpPr>
        <p:spPr>
          <a:xfrm>
            <a:off x="1097280" y="2423160"/>
            <a:ext cx="1280160" cy="475488"/>
          </a:xfrm>
          <a:prstGeom prst="rect">
            <a:avLst/>
          </a:prstGeom>
          <a:noFill/>
        </p:spPr>
        <p:txBody>
          <a:bodyPr wrap="square" lIns="0" tIns="0" rIns="0" bIns="0" anchor="ctr">
            <a:spAutoFit/>
          </a:bodyPr>
          <a:lstStyle/>
          <a:p>
            <a:pPr>
              <a:spcAft>
                <a:spcPts val="0"/>
              </a:spcAft>
            </a:pPr>
            <a:r>
              <a:rPr sz="1500" b="1" i="0">
                <a:solidFill>
                  <a:srgbClr val="040E4B"/>
                </a:solidFill>
              </a:rPr>
              <a:t>Own</a:t>
            </a:r>
          </a:p>
        </p:txBody>
      </p:sp>
      <p:sp>
        <p:nvSpPr>
          <p:cNvPr id="20" name="Column 3"/>
          <p:cNvSpPr txBox="1"/>
          <p:nvPr/>
        </p:nvSpPr>
        <p:spPr>
          <a:xfrm>
            <a:off x="7315200" y="2423160"/>
            <a:ext cx="4343400" cy="475488"/>
          </a:xfrm>
          <a:prstGeom prst="rect">
            <a:avLst/>
          </a:prstGeom>
          <a:noFill/>
        </p:spPr>
        <p:txBody>
          <a:bodyPr wrap="square" lIns="0" tIns="0" rIns="0" bIns="0" anchor="ctr">
            <a:spAutoFit/>
          </a:bodyPr>
          <a:lstStyle/>
          <a:p>
            <a:pPr>
              <a:spcAft>
                <a:spcPts val="0"/>
              </a:spcAft>
            </a:pPr>
            <a:r>
              <a:rPr sz="1100" b="0" i="0">
                <a:solidFill>
                  <a:srgbClr val="000000"/>
                </a:solidFill>
              </a:rPr>
              <a:t>One named person in each of three roles: Account, Commercial, Delivery.</a:t>
            </a:r>
          </a:p>
        </p:txBody>
      </p:sp>
      <p:sp>
        <p:nvSpPr>
          <p:cNvPr id="18" name="Ask 2 number"/>
          <p:cNvSpPr txBox="1"/>
          <p:nvPr/>
        </p:nvSpPr>
        <p:spPr>
          <a:xfrm>
            <a:off x="2331720" y="2459736"/>
            <a:ext cx="411480" cy="402336"/>
          </a:xfrm>
          <a:prstGeom prst="rect">
            <a:avLst/>
          </a:prstGeom>
          <a:noFill/>
        </p:spPr>
        <p:txBody>
          <a:bodyPr wrap="square" lIns="0" tIns="0" rIns="0" bIns="0" anchor="ctr">
            <a:spAutoFit/>
          </a:bodyPr>
          <a:lstStyle/>
          <a:p>
            <a:pPr>
              <a:spcAft>
                <a:spcPts val="0"/>
              </a:spcAft>
            </a:pPr>
            <a:r>
              <a:rPr sz="1050" b="1" i="0">
                <a:solidFill>
                  <a:srgbClr val="0391F2"/>
                </a:solidFill>
              </a:rPr>
              <a:t>02</a:t>
            </a:r>
          </a:p>
        </p:txBody>
      </p:sp>
      <p:sp>
        <p:nvSpPr>
          <p:cNvPr id="19" name="Ask 2"/>
          <p:cNvSpPr txBox="1"/>
          <p:nvPr/>
        </p:nvSpPr>
        <p:spPr>
          <a:xfrm>
            <a:off x="2743200" y="2459736"/>
            <a:ext cx="4434840" cy="402336"/>
          </a:xfrm>
          <a:prstGeom prst="rect">
            <a:avLst/>
          </a:prstGeom>
          <a:noFill/>
        </p:spPr>
        <p:txBody>
          <a:bodyPr wrap="square" lIns="0" tIns="0" rIns="0" bIns="0" anchor="ctr">
            <a:spAutoFit/>
          </a:bodyPr>
          <a:lstStyle/>
          <a:p>
            <a:pPr>
              <a:spcAft>
                <a:spcPts val="0"/>
              </a:spcAft>
            </a:pPr>
            <a:r>
              <a:rPr sz="1150" b="0" i="1">
                <a:solidFill>
                  <a:srgbClr val="040E4B"/>
                </a:solidFill>
              </a:rPr>
              <a:t>“Define who owns what on every account.”</a:t>
            </a:r>
          </a:p>
        </p:txBody>
      </p:sp>
      <p:cxnSp>
        <p:nvCxnSpPr>
          <p:cNvPr id="21" name="Row rule"/>
          <p:cNvCxnSpPr/>
          <p:nvPr/>
        </p:nvCxnSpPr>
        <p:spPr>
          <a:xfrm>
            <a:off x="530352" y="2898648"/>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2" name="Stream number"/>
          <p:cNvSpPr txBox="1"/>
          <p:nvPr/>
        </p:nvSpPr>
        <p:spPr>
          <a:xfrm>
            <a:off x="530352" y="2898648"/>
            <a:ext cx="640080" cy="1115568"/>
          </a:xfrm>
          <a:prstGeom prst="rect">
            <a:avLst/>
          </a:prstGeom>
          <a:noFill/>
        </p:spPr>
        <p:txBody>
          <a:bodyPr wrap="square" lIns="0" tIns="0" rIns="0" bIns="0" anchor="ctr">
            <a:spAutoFit/>
          </a:bodyPr>
          <a:lstStyle/>
          <a:p>
            <a:pPr>
              <a:spcAft>
                <a:spcPts val="0"/>
              </a:spcAft>
            </a:pPr>
            <a:r>
              <a:rPr sz="2200" b="1" i="0">
                <a:solidFill>
                  <a:srgbClr val="0391F2"/>
                </a:solidFill>
              </a:rPr>
              <a:t>03</a:t>
            </a:r>
          </a:p>
        </p:txBody>
      </p:sp>
      <p:sp>
        <p:nvSpPr>
          <p:cNvPr id="23" name="Stream name"/>
          <p:cNvSpPr txBox="1"/>
          <p:nvPr/>
        </p:nvSpPr>
        <p:spPr>
          <a:xfrm>
            <a:off x="1097280" y="2898648"/>
            <a:ext cx="1280160" cy="1115568"/>
          </a:xfrm>
          <a:prstGeom prst="rect">
            <a:avLst/>
          </a:prstGeom>
          <a:noFill/>
        </p:spPr>
        <p:txBody>
          <a:bodyPr wrap="square" lIns="0" tIns="0" rIns="0" bIns="0" anchor="ctr">
            <a:spAutoFit/>
          </a:bodyPr>
          <a:lstStyle/>
          <a:p>
            <a:pPr>
              <a:spcAft>
                <a:spcPts val="0"/>
              </a:spcAft>
            </a:pPr>
            <a:r>
              <a:rPr sz="1500" b="1" i="0">
                <a:solidFill>
                  <a:srgbClr val="040E4B"/>
                </a:solidFill>
              </a:rPr>
              <a:t>Sell</a:t>
            </a:r>
          </a:p>
        </p:txBody>
      </p:sp>
      <p:sp>
        <p:nvSpPr>
          <p:cNvPr id="28" name="Column 3"/>
          <p:cNvSpPr txBox="1"/>
          <p:nvPr/>
        </p:nvSpPr>
        <p:spPr>
          <a:xfrm>
            <a:off x="7315200" y="2898648"/>
            <a:ext cx="4343400" cy="1115568"/>
          </a:xfrm>
          <a:prstGeom prst="rect">
            <a:avLst/>
          </a:prstGeom>
          <a:noFill/>
        </p:spPr>
        <p:txBody>
          <a:bodyPr wrap="square" lIns="0" tIns="0" rIns="0" bIns="0" anchor="ctr">
            <a:spAutoFit/>
          </a:bodyPr>
          <a:lstStyle/>
          <a:p>
            <a:pPr>
              <a:spcAft>
                <a:spcPts val="0"/>
              </a:spcAft>
            </a:pPr>
            <a:r>
              <a:rPr sz="1100" b="0" i="0">
                <a:solidFill>
                  <a:srgbClr val="000000"/>
                </a:solidFill>
              </a:rPr>
              <a:t>One way to request estimates with qualification fields, delivery involved early, contracts that carry outcome terms, and a named co-creation method.</a:t>
            </a:r>
          </a:p>
        </p:txBody>
      </p:sp>
      <p:sp>
        <p:nvSpPr>
          <p:cNvPr id="24" name="Ask 3 number"/>
          <p:cNvSpPr txBox="1"/>
          <p:nvPr/>
        </p:nvSpPr>
        <p:spPr>
          <a:xfrm>
            <a:off x="2331720" y="2935224"/>
            <a:ext cx="411480" cy="347471"/>
          </a:xfrm>
          <a:prstGeom prst="rect">
            <a:avLst/>
          </a:prstGeom>
          <a:noFill/>
        </p:spPr>
        <p:txBody>
          <a:bodyPr wrap="square" lIns="0" tIns="0" rIns="0" bIns="0" anchor="ctr">
            <a:spAutoFit/>
          </a:bodyPr>
          <a:lstStyle/>
          <a:p>
            <a:pPr>
              <a:spcAft>
                <a:spcPts val="0"/>
              </a:spcAft>
            </a:pPr>
            <a:r>
              <a:rPr sz="1050" b="1" i="0">
                <a:solidFill>
                  <a:srgbClr val="0391F2"/>
                </a:solidFill>
              </a:rPr>
              <a:t>03</a:t>
            </a:r>
          </a:p>
        </p:txBody>
      </p:sp>
      <p:sp>
        <p:nvSpPr>
          <p:cNvPr id="25" name="Ask 3"/>
          <p:cNvSpPr txBox="1"/>
          <p:nvPr/>
        </p:nvSpPr>
        <p:spPr>
          <a:xfrm>
            <a:off x="2743200" y="2935224"/>
            <a:ext cx="4434840" cy="347471"/>
          </a:xfrm>
          <a:prstGeom prst="rect">
            <a:avLst/>
          </a:prstGeom>
          <a:noFill/>
        </p:spPr>
        <p:txBody>
          <a:bodyPr wrap="square" lIns="0" tIns="0" rIns="0" bIns="0" anchor="ctr">
            <a:spAutoFit/>
          </a:bodyPr>
          <a:lstStyle/>
          <a:p>
            <a:pPr>
              <a:spcAft>
                <a:spcPts val="0"/>
              </a:spcAft>
            </a:pPr>
            <a:r>
              <a:rPr sz="1150" b="0" i="1">
                <a:solidFill>
                  <a:srgbClr val="040E4B"/>
                </a:solidFill>
              </a:rPr>
              <a:t>“Give us a named way to co-create with clients, and test ideas with the buyer early.”</a:t>
            </a:r>
          </a:p>
        </p:txBody>
      </p:sp>
      <p:sp>
        <p:nvSpPr>
          <p:cNvPr id="26" name="Ask 4 number"/>
          <p:cNvSpPr txBox="1"/>
          <p:nvPr/>
        </p:nvSpPr>
        <p:spPr>
          <a:xfrm>
            <a:off x="2331720" y="3282696"/>
            <a:ext cx="411480" cy="347471"/>
          </a:xfrm>
          <a:prstGeom prst="rect">
            <a:avLst/>
          </a:prstGeom>
          <a:noFill/>
        </p:spPr>
        <p:txBody>
          <a:bodyPr wrap="square" lIns="0" tIns="0" rIns="0" bIns="0" anchor="ctr">
            <a:spAutoFit/>
          </a:bodyPr>
          <a:lstStyle/>
          <a:p>
            <a:pPr>
              <a:spcAft>
                <a:spcPts val="0"/>
              </a:spcAft>
            </a:pPr>
            <a:r>
              <a:rPr sz="1050" b="1" i="0">
                <a:solidFill>
                  <a:srgbClr val="0391F2"/>
                </a:solidFill>
              </a:rPr>
              <a:t>04</a:t>
            </a:r>
          </a:p>
        </p:txBody>
      </p:sp>
      <p:sp>
        <p:nvSpPr>
          <p:cNvPr id="27" name="Ask 4"/>
          <p:cNvSpPr txBox="1"/>
          <p:nvPr/>
        </p:nvSpPr>
        <p:spPr>
          <a:xfrm>
            <a:off x="2743200" y="3282696"/>
            <a:ext cx="4434840" cy="347471"/>
          </a:xfrm>
          <a:prstGeom prst="rect">
            <a:avLst/>
          </a:prstGeom>
          <a:noFill/>
        </p:spPr>
        <p:txBody>
          <a:bodyPr wrap="square" lIns="0" tIns="0" rIns="0" bIns="0" anchor="ctr">
            <a:spAutoFit/>
          </a:bodyPr>
          <a:lstStyle/>
          <a:p>
            <a:pPr>
              <a:spcAft>
                <a:spcPts val="0"/>
              </a:spcAft>
            </a:pPr>
            <a:r>
              <a:rPr sz="1150" b="0" i="1">
                <a:solidFill>
                  <a:srgbClr val="040E4B"/>
                </a:solidFill>
              </a:rPr>
              <a:t>“Give us one clear way to take in, estimate, and respond to opportunities.”</a:t>
            </a:r>
          </a:p>
        </p:txBody>
      </p:sp>
      <p:sp>
        <p:nvSpPr>
          <p:cNvPr id="54" name="Ask 5 number"/>
          <p:cNvSpPr txBox="1"/>
          <p:nvPr/>
        </p:nvSpPr>
        <p:spPr>
          <a:xfrm>
            <a:off x="2331720" y="3630168"/>
            <a:ext cx="411480" cy="347471"/>
          </a:xfrm>
          <a:prstGeom prst="rect">
            <a:avLst/>
          </a:prstGeom>
          <a:noFill/>
        </p:spPr>
        <p:txBody>
          <a:bodyPr wrap="square" lIns="0" tIns="0" rIns="0" bIns="0" anchor="ctr">
            <a:spAutoFit/>
          </a:bodyPr>
          <a:lstStyle/>
          <a:p>
            <a:pPr>
              <a:spcAft>
                <a:spcPts val="0"/>
              </a:spcAft>
            </a:pPr>
            <a:r>
              <a:rPr sz="1050" b="1" i="0">
                <a:solidFill>
                  <a:srgbClr val="0391F2"/>
                </a:solidFill>
              </a:rPr>
              <a:t>05</a:t>
            </a:r>
          </a:p>
        </p:txBody>
      </p:sp>
      <p:sp>
        <p:nvSpPr>
          <p:cNvPr id="55" name="Ask 5"/>
          <p:cNvSpPr txBox="1"/>
          <p:nvPr/>
        </p:nvSpPr>
        <p:spPr>
          <a:xfrm>
            <a:off x="2743200" y="3630168"/>
            <a:ext cx="4434840" cy="347471"/>
          </a:xfrm>
          <a:prstGeom prst="rect">
            <a:avLst/>
          </a:prstGeom>
          <a:noFill/>
        </p:spPr>
        <p:txBody>
          <a:bodyPr wrap="square" lIns="0" tIns="0" rIns="0" bIns="0" anchor="ctr">
            <a:spAutoFit/>
          </a:bodyPr>
          <a:lstStyle/>
          <a:p>
            <a:pPr>
              <a:spcAft>
                <a:spcPts val="0"/>
              </a:spcAft>
            </a:pPr>
            <a:r>
              <a:rPr sz="1150" b="0" i="1">
                <a:solidFill>
                  <a:srgbClr val="040E4B"/>
                </a:solidFill>
              </a:rPr>
              <a:t>“Make sure what we contract is what we can deliver.”</a:t>
            </a:r>
          </a:p>
        </p:txBody>
      </p:sp>
      <p:cxnSp>
        <p:nvCxnSpPr>
          <p:cNvPr id="29" name="Row rule"/>
          <p:cNvCxnSpPr/>
          <p:nvPr/>
        </p:nvCxnSpPr>
        <p:spPr>
          <a:xfrm>
            <a:off x="530352" y="4014215"/>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30" name="Stream number"/>
          <p:cNvSpPr txBox="1"/>
          <p:nvPr/>
        </p:nvSpPr>
        <p:spPr>
          <a:xfrm>
            <a:off x="530352" y="4014215"/>
            <a:ext cx="640080" cy="475488"/>
          </a:xfrm>
          <a:prstGeom prst="rect">
            <a:avLst/>
          </a:prstGeom>
          <a:noFill/>
        </p:spPr>
        <p:txBody>
          <a:bodyPr wrap="square" lIns="0" tIns="0" rIns="0" bIns="0" anchor="ctr">
            <a:spAutoFit/>
          </a:bodyPr>
          <a:lstStyle/>
          <a:p>
            <a:pPr>
              <a:spcAft>
                <a:spcPts val="0"/>
              </a:spcAft>
            </a:pPr>
            <a:r>
              <a:rPr sz="2200" b="1" i="0">
                <a:solidFill>
                  <a:srgbClr val="0391F2"/>
                </a:solidFill>
              </a:rPr>
              <a:t>04</a:t>
            </a:r>
          </a:p>
        </p:txBody>
      </p:sp>
      <p:sp>
        <p:nvSpPr>
          <p:cNvPr id="31" name="Stream name"/>
          <p:cNvSpPr txBox="1"/>
          <p:nvPr/>
        </p:nvSpPr>
        <p:spPr>
          <a:xfrm>
            <a:off x="1097280" y="4014215"/>
            <a:ext cx="1280160" cy="475488"/>
          </a:xfrm>
          <a:prstGeom prst="rect">
            <a:avLst/>
          </a:prstGeom>
          <a:noFill/>
        </p:spPr>
        <p:txBody>
          <a:bodyPr wrap="square" lIns="0" tIns="0" rIns="0" bIns="0" anchor="ctr">
            <a:spAutoFit/>
          </a:bodyPr>
          <a:lstStyle/>
          <a:p>
            <a:pPr>
              <a:spcAft>
                <a:spcPts val="0"/>
              </a:spcAft>
            </a:pPr>
            <a:r>
              <a:rPr sz="1500" b="1" i="0">
                <a:solidFill>
                  <a:srgbClr val="040E4B"/>
                </a:solidFill>
              </a:rPr>
              <a:t>Staff</a:t>
            </a:r>
          </a:p>
        </p:txBody>
      </p:sp>
      <p:sp>
        <p:nvSpPr>
          <p:cNvPr id="34" name="Column 3"/>
          <p:cNvSpPr txBox="1"/>
          <p:nvPr/>
        </p:nvSpPr>
        <p:spPr>
          <a:xfrm>
            <a:off x="7315200" y="4014215"/>
            <a:ext cx="4343400" cy="475488"/>
          </a:xfrm>
          <a:prstGeom prst="rect">
            <a:avLst/>
          </a:prstGeom>
          <a:noFill/>
        </p:spPr>
        <p:txBody>
          <a:bodyPr wrap="square" lIns="0" tIns="0" rIns="0" bIns="0" anchor="ctr">
            <a:spAutoFit/>
          </a:bodyPr>
          <a:lstStyle/>
          <a:p>
            <a:pPr>
              <a:spcAft>
                <a:spcPts val="0"/>
              </a:spcAft>
            </a:pPr>
            <a:r>
              <a:rPr sz="1100" b="0" i="0">
                <a:solidFill>
                  <a:srgbClr val="000000"/>
                </a:solidFill>
              </a:rPr>
              <a:t>Quick action on hiring and retention, then better view of skills and bench.</a:t>
            </a:r>
          </a:p>
        </p:txBody>
      </p:sp>
      <p:sp>
        <p:nvSpPr>
          <p:cNvPr id="32" name="Ask 6 number"/>
          <p:cNvSpPr txBox="1"/>
          <p:nvPr/>
        </p:nvSpPr>
        <p:spPr>
          <a:xfrm>
            <a:off x="2331720" y="4050791"/>
            <a:ext cx="411480" cy="402336"/>
          </a:xfrm>
          <a:prstGeom prst="rect">
            <a:avLst/>
          </a:prstGeom>
          <a:noFill/>
        </p:spPr>
        <p:txBody>
          <a:bodyPr wrap="square" lIns="0" tIns="0" rIns="0" bIns="0" anchor="ctr">
            <a:spAutoFit/>
          </a:bodyPr>
          <a:lstStyle/>
          <a:p>
            <a:pPr>
              <a:spcAft>
                <a:spcPts val="0"/>
              </a:spcAft>
            </a:pPr>
            <a:r>
              <a:rPr sz="1050" b="1" i="0">
                <a:solidFill>
                  <a:srgbClr val="0391F2"/>
                </a:solidFill>
              </a:rPr>
              <a:t>06</a:t>
            </a:r>
          </a:p>
        </p:txBody>
      </p:sp>
      <p:sp>
        <p:nvSpPr>
          <p:cNvPr id="33" name="Ask 6"/>
          <p:cNvSpPr txBox="1"/>
          <p:nvPr/>
        </p:nvSpPr>
        <p:spPr>
          <a:xfrm>
            <a:off x="2743200" y="4050791"/>
            <a:ext cx="4434840" cy="402336"/>
          </a:xfrm>
          <a:prstGeom prst="rect">
            <a:avLst/>
          </a:prstGeom>
          <a:noFill/>
        </p:spPr>
        <p:txBody>
          <a:bodyPr wrap="square" lIns="0" tIns="0" rIns="0" bIns="0" anchor="ctr">
            <a:spAutoFit/>
          </a:bodyPr>
          <a:lstStyle/>
          <a:p>
            <a:pPr>
              <a:spcAft>
                <a:spcPts val="0"/>
              </a:spcAft>
            </a:pPr>
            <a:r>
              <a:rPr sz="1150" b="0" i="1">
                <a:solidFill>
                  <a:srgbClr val="040E4B"/>
                </a:solidFill>
              </a:rPr>
              <a:t>“Stop selling and staffing work in ways that set teams up to fail.”</a:t>
            </a:r>
          </a:p>
        </p:txBody>
      </p:sp>
      <p:cxnSp>
        <p:nvCxnSpPr>
          <p:cNvPr id="35" name="Row rule"/>
          <p:cNvCxnSpPr/>
          <p:nvPr/>
        </p:nvCxnSpPr>
        <p:spPr>
          <a:xfrm>
            <a:off x="530352" y="4489704"/>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36" name="Stream number"/>
          <p:cNvSpPr txBox="1"/>
          <p:nvPr/>
        </p:nvSpPr>
        <p:spPr>
          <a:xfrm>
            <a:off x="530352" y="4489704"/>
            <a:ext cx="640080" cy="768096"/>
          </a:xfrm>
          <a:prstGeom prst="rect">
            <a:avLst/>
          </a:prstGeom>
          <a:noFill/>
        </p:spPr>
        <p:txBody>
          <a:bodyPr wrap="square" lIns="0" tIns="0" rIns="0" bIns="0" anchor="ctr">
            <a:spAutoFit/>
          </a:bodyPr>
          <a:lstStyle/>
          <a:p>
            <a:pPr>
              <a:spcAft>
                <a:spcPts val="0"/>
              </a:spcAft>
            </a:pPr>
            <a:r>
              <a:rPr sz="2200" b="1" i="0">
                <a:solidFill>
                  <a:srgbClr val="0391F2"/>
                </a:solidFill>
              </a:rPr>
              <a:t>05</a:t>
            </a:r>
          </a:p>
        </p:txBody>
      </p:sp>
      <p:sp>
        <p:nvSpPr>
          <p:cNvPr id="37" name="Stream name"/>
          <p:cNvSpPr txBox="1"/>
          <p:nvPr/>
        </p:nvSpPr>
        <p:spPr>
          <a:xfrm>
            <a:off x="1097280" y="4489704"/>
            <a:ext cx="1280160" cy="768096"/>
          </a:xfrm>
          <a:prstGeom prst="rect">
            <a:avLst/>
          </a:prstGeom>
          <a:noFill/>
        </p:spPr>
        <p:txBody>
          <a:bodyPr wrap="square" lIns="0" tIns="0" rIns="0" bIns="0" anchor="ctr">
            <a:spAutoFit/>
          </a:bodyPr>
          <a:lstStyle/>
          <a:p>
            <a:pPr>
              <a:spcAft>
                <a:spcPts val="0"/>
              </a:spcAft>
            </a:pPr>
            <a:r>
              <a:rPr sz="1500" b="1" i="0">
                <a:solidFill>
                  <a:srgbClr val="040E4B"/>
                </a:solidFill>
              </a:rPr>
              <a:t>Deliver</a:t>
            </a:r>
          </a:p>
        </p:txBody>
      </p:sp>
      <p:sp>
        <p:nvSpPr>
          <p:cNvPr id="42" name="Column 3"/>
          <p:cNvSpPr txBox="1"/>
          <p:nvPr/>
        </p:nvSpPr>
        <p:spPr>
          <a:xfrm>
            <a:off x="7315200" y="4489704"/>
            <a:ext cx="4343400" cy="768096"/>
          </a:xfrm>
          <a:prstGeom prst="rect">
            <a:avLst/>
          </a:prstGeom>
          <a:noFill/>
        </p:spPr>
        <p:txBody>
          <a:bodyPr wrap="square" lIns="0" tIns="0" rIns="0" bIns="0" anchor="ctr">
            <a:spAutoFit/>
          </a:bodyPr>
          <a:lstStyle/>
          <a:p>
            <a:pPr>
              <a:spcAft>
                <a:spcPts val="0"/>
              </a:spcAft>
            </a:pPr>
            <a:r>
              <a:rPr sz="1100" b="0" i="0">
                <a:solidFill>
                  <a:srgbClr val="000000"/>
                </a:solidFill>
              </a:rPr>
              <a:t>Common ways of working, an AI-enabled approach, a named adoption method, common development practices, and proof of value buyers can cite.</a:t>
            </a:r>
          </a:p>
        </p:txBody>
      </p:sp>
      <p:sp>
        <p:nvSpPr>
          <p:cNvPr id="38" name="Ask 7 number"/>
          <p:cNvSpPr txBox="1"/>
          <p:nvPr/>
        </p:nvSpPr>
        <p:spPr>
          <a:xfrm>
            <a:off x="2331720" y="4526280"/>
            <a:ext cx="411480" cy="347472"/>
          </a:xfrm>
          <a:prstGeom prst="rect">
            <a:avLst/>
          </a:prstGeom>
          <a:noFill/>
        </p:spPr>
        <p:txBody>
          <a:bodyPr wrap="square" lIns="0" tIns="0" rIns="0" bIns="0" anchor="ctr">
            <a:spAutoFit/>
          </a:bodyPr>
          <a:lstStyle/>
          <a:p>
            <a:pPr>
              <a:spcAft>
                <a:spcPts val="0"/>
              </a:spcAft>
            </a:pPr>
            <a:r>
              <a:rPr sz="1050" b="1" i="0">
                <a:solidFill>
                  <a:srgbClr val="0391F2"/>
                </a:solidFill>
              </a:rPr>
              <a:t>07</a:t>
            </a:r>
          </a:p>
        </p:txBody>
      </p:sp>
      <p:sp>
        <p:nvSpPr>
          <p:cNvPr id="39" name="Ask 7"/>
          <p:cNvSpPr txBox="1"/>
          <p:nvPr/>
        </p:nvSpPr>
        <p:spPr>
          <a:xfrm>
            <a:off x="2743200" y="4526280"/>
            <a:ext cx="4434840" cy="347472"/>
          </a:xfrm>
          <a:prstGeom prst="rect">
            <a:avLst/>
          </a:prstGeom>
          <a:noFill/>
        </p:spPr>
        <p:txBody>
          <a:bodyPr wrap="square" lIns="0" tIns="0" rIns="0" bIns="0" anchor="ctr">
            <a:spAutoFit/>
          </a:bodyPr>
          <a:lstStyle/>
          <a:p>
            <a:pPr>
              <a:spcAft>
                <a:spcPts val="0"/>
              </a:spcAft>
            </a:pPr>
            <a:r>
              <a:rPr sz="1150" b="0" i="1">
                <a:solidFill>
                  <a:srgbClr val="040E4B"/>
                </a:solidFill>
              </a:rPr>
              <a:t>“Modernize how we deliver so we can compete.”</a:t>
            </a:r>
          </a:p>
        </p:txBody>
      </p:sp>
      <p:sp>
        <p:nvSpPr>
          <p:cNvPr id="40" name="Ask 8 number"/>
          <p:cNvSpPr txBox="1"/>
          <p:nvPr/>
        </p:nvSpPr>
        <p:spPr>
          <a:xfrm>
            <a:off x="2331720" y="4873752"/>
            <a:ext cx="411480" cy="347472"/>
          </a:xfrm>
          <a:prstGeom prst="rect">
            <a:avLst/>
          </a:prstGeom>
          <a:noFill/>
        </p:spPr>
        <p:txBody>
          <a:bodyPr wrap="square" lIns="0" tIns="0" rIns="0" bIns="0" anchor="ctr">
            <a:spAutoFit/>
          </a:bodyPr>
          <a:lstStyle/>
          <a:p>
            <a:pPr>
              <a:spcAft>
                <a:spcPts val="0"/>
              </a:spcAft>
            </a:pPr>
            <a:r>
              <a:rPr sz="1050" b="1" i="0">
                <a:solidFill>
                  <a:srgbClr val="0391F2"/>
                </a:solidFill>
              </a:rPr>
              <a:t>08</a:t>
            </a:r>
          </a:p>
        </p:txBody>
      </p:sp>
      <p:sp>
        <p:nvSpPr>
          <p:cNvPr id="41" name="Ask 8"/>
          <p:cNvSpPr txBox="1"/>
          <p:nvPr/>
        </p:nvSpPr>
        <p:spPr>
          <a:xfrm>
            <a:off x="2743200" y="4873752"/>
            <a:ext cx="4434840" cy="347472"/>
          </a:xfrm>
          <a:prstGeom prst="rect">
            <a:avLst/>
          </a:prstGeom>
          <a:noFill/>
        </p:spPr>
        <p:txBody>
          <a:bodyPr wrap="square" lIns="0" tIns="0" rIns="0" bIns="0" anchor="ctr">
            <a:spAutoFit/>
          </a:bodyPr>
          <a:lstStyle/>
          <a:p>
            <a:pPr>
              <a:spcAft>
                <a:spcPts val="0"/>
              </a:spcAft>
            </a:pPr>
            <a:r>
              <a:rPr sz="1150" b="0" i="1">
                <a:solidFill>
                  <a:srgbClr val="040E4B"/>
                </a:solidFill>
              </a:rPr>
              <a:t>“Help us grow accounts, not just deliver them.”</a:t>
            </a:r>
          </a:p>
        </p:txBody>
      </p:sp>
      <p:cxnSp>
        <p:nvCxnSpPr>
          <p:cNvPr id="43" name="Row rule"/>
          <p:cNvCxnSpPr/>
          <p:nvPr/>
        </p:nvCxnSpPr>
        <p:spPr>
          <a:xfrm>
            <a:off x="530352" y="525780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44" name="Stream number"/>
          <p:cNvSpPr txBox="1"/>
          <p:nvPr/>
        </p:nvSpPr>
        <p:spPr>
          <a:xfrm>
            <a:off x="530352" y="5257800"/>
            <a:ext cx="640080" cy="1005840"/>
          </a:xfrm>
          <a:prstGeom prst="rect">
            <a:avLst/>
          </a:prstGeom>
          <a:noFill/>
        </p:spPr>
        <p:txBody>
          <a:bodyPr wrap="square" lIns="0" tIns="0" rIns="0" bIns="0" anchor="ctr">
            <a:spAutoFit/>
          </a:bodyPr>
          <a:lstStyle/>
          <a:p>
            <a:pPr>
              <a:spcAft>
                <a:spcPts val="0"/>
              </a:spcAft>
            </a:pPr>
            <a:r>
              <a:rPr sz="2200" b="1" i="0">
                <a:solidFill>
                  <a:srgbClr val="0391F2"/>
                </a:solidFill>
              </a:rPr>
              <a:t>06</a:t>
            </a:r>
          </a:p>
        </p:txBody>
      </p:sp>
      <p:sp>
        <p:nvSpPr>
          <p:cNvPr id="45" name="Stream name"/>
          <p:cNvSpPr txBox="1"/>
          <p:nvPr/>
        </p:nvSpPr>
        <p:spPr>
          <a:xfrm>
            <a:off x="1097280" y="5257800"/>
            <a:ext cx="1280160" cy="1005840"/>
          </a:xfrm>
          <a:prstGeom prst="rect">
            <a:avLst/>
          </a:prstGeom>
          <a:noFill/>
        </p:spPr>
        <p:txBody>
          <a:bodyPr wrap="square" lIns="0" tIns="0" rIns="0" bIns="0" anchor="ctr">
            <a:spAutoFit/>
          </a:bodyPr>
          <a:lstStyle/>
          <a:p>
            <a:pPr>
              <a:spcAft>
                <a:spcPts val="0"/>
              </a:spcAft>
            </a:pPr>
            <a:r>
              <a:rPr sz="1500" b="1" i="0">
                <a:solidFill>
                  <a:srgbClr val="040E4B"/>
                </a:solidFill>
              </a:rPr>
              <a:t>Watch</a:t>
            </a:r>
          </a:p>
        </p:txBody>
      </p:sp>
      <p:sp>
        <p:nvSpPr>
          <p:cNvPr id="52" name="Column 3"/>
          <p:cNvSpPr txBox="1"/>
          <p:nvPr/>
        </p:nvSpPr>
        <p:spPr>
          <a:xfrm>
            <a:off x="7315200" y="5257800"/>
            <a:ext cx="4343400" cy="1005840"/>
          </a:xfrm>
          <a:prstGeom prst="rect">
            <a:avLst/>
          </a:prstGeom>
          <a:noFill/>
        </p:spPr>
        <p:txBody>
          <a:bodyPr wrap="square" lIns="0" tIns="0" rIns="0" bIns="0" anchor="ctr">
            <a:spAutoFit/>
          </a:bodyPr>
          <a:lstStyle/>
          <a:p>
            <a:pPr>
              <a:spcAft>
                <a:spcPts val="0"/>
              </a:spcAft>
            </a:pPr>
            <a:r>
              <a:rPr sz="1100" b="0" i="0">
                <a:solidFill>
                  <a:srgbClr val="000000"/>
                </a:solidFill>
              </a:rPr>
              <a:t>Red / yellow / green on every account, a regular leadership meeting, and a resolution plan for challenged accounts.</a:t>
            </a:r>
          </a:p>
        </p:txBody>
      </p:sp>
      <p:sp>
        <p:nvSpPr>
          <p:cNvPr id="46" name="Ask 9 number"/>
          <p:cNvSpPr txBox="1"/>
          <p:nvPr/>
        </p:nvSpPr>
        <p:spPr>
          <a:xfrm>
            <a:off x="2331720" y="5294376"/>
            <a:ext cx="411480" cy="310896"/>
          </a:xfrm>
          <a:prstGeom prst="rect">
            <a:avLst/>
          </a:prstGeom>
          <a:noFill/>
        </p:spPr>
        <p:txBody>
          <a:bodyPr wrap="square" lIns="0" tIns="0" rIns="0" bIns="0" anchor="ctr">
            <a:spAutoFit/>
          </a:bodyPr>
          <a:lstStyle/>
          <a:p>
            <a:pPr>
              <a:spcAft>
                <a:spcPts val="0"/>
              </a:spcAft>
            </a:pPr>
            <a:r>
              <a:rPr sz="1050" b="1" i="0">
                <a:solidFill>
                  <a:srgbClr val="0391F2"/>
                </a:solidFill>
              </a:rPr>
              <a:t>09</a:t>
            </a:r>
          </a:p>
        </p:txBody>
      </p:sp>
      <p:sp>
        <p:nvSpPr>
          <p:cNvPr id="47" name="Ask 9"/>
          <p:cNvSpPr txBox="1"/>
          <p:nvPr/>
        </p:nvSpPr>
        <p:spPr>
          <a:xfrm>
            <a:off x="2743200" y="5294376"/>
            <a:ext cx="4434840" cy="310896"/>
          </a:xfrm>
          <a:prstGeom prst="rect">
            <a:avLst/>
          </a:prstGeom>
          <a:noFill/>
        </p:spPr>
        <p:txBody>
          <a:bodyPr wrap="square" lIns="0" tIns="0" rIns="0" bIns="0" anchor="ctr">
            <a:spAutoFit/>
          </a:bodyPr>
          <a:lstStyle/>
          <a:p>
            <a:pPr>
              <a:spcAft>
                <a:spcPts val="0"/>
              </a:spcAft>
            </a:pPr>
            <a:r>
              <a:rPr sz="1150" b="0" i="1">
                <a:solidFill>
                  <a:srgbClr val="040E4B"/>
                </a:solidFill>
              </a:rPr>
              <a:t>“Show us delivery risk before clients feel it.”</a:t>
            </a:r>
          </a:p>
        </p:txBody>
      </p:sp>
      <p:sp>
        <p:nvSpPr>
          <p:cNvPr id="48" name="Ask 10 number"/>
          <p:cNvSpPr txBox="1"/>
          <p:nvPr/>
        </p:nvSpPr>
        <p:spPr>
          <a:xfrm>
            <a:off x="2331720" y="5605272"/>
            <a:ext cx="411480" cy="310896"/>
          </a:xfrm>
          <a:prstGeom prst="rect">
            <a:avLst/>
          </a:prstGeom>
          <a:noFill/>
        </p:spPr>
        <p:txBody>
          <a:bodyPr wrap="square" lIns="0" tIns="0" rIns="0" bIns="0" anchor="ctr">
            <a:spAutoFit/>
          </a:bodyPr>
          <a:lstStyle/>
          <a:p>
            <a:pPr>
              <a:spcAft>
                <a:spcPts val="0"/>
              </a:spcAft>
            </a:pPr>
            <a:r>
              <a:rPr sz="1050" b="1" i="0">
                <a:solidFill>
                  <a:srgbClr val="0391F2"/>
                </a:solidFill>
              </a:rPr>
              <a:t>10</a:t>
            </a:r>
          </a:p>
        </p:txBody>
      </p:sp>
      <p:sp>
        <p:nvSpPr>
          <p:cNvPr id="49" name="Ask 10"/>
          <p:cNvSpPr txBox="1"/>
          <p:nvPr/>
        </p:nvSpPr>
        <p:spPr>
          <a:xfrm>
            <a:off x="2743200" y="5605272"/>
            <a:ext cx="4434840" cy="310896"/>
          </a:xfrm>
          <a:prstGeom prst="rect">
            <a:avLst/>
          </a:prstGeom>
          <a:noFill/>
        </p:spPr>
        <p:txBody>
          <a:bodyPr wrap="square" lIns="0" tIns="0" rIns="0" bIns="0" anchor="ctr">
            <a:spAutoFit/>
          </a:bodyPr>
          <a:lstStyle/>
          <a:p>
            <a:pPr>
              <a:spcAft>
                <a:spcPts val="0"/>
              </a:spcAft>
            </a:pPr>
            <a:r>
              <a:rPr sz="1150" b="0" i="1">
                <a:solidFill>
                  <a:srgbClr val="040E4B"/>
                </a:solidFill>
              </a:rPr>
              <a:t>“Give us a regular rhythm for delivery and staffing decisions.”</a:t>
            </a:r>
          </a:p>
        </p:txBody>
      </p:sp>
      <p:sp>
        <p:nvSpPr>
          <p:cNvPr id="50" name="Ask 11 number"/>
          <p:cNvSpPr txBox="1"/>
          <p:nvPr/>
        </p:nvSpPr>
        <p:spPr>
          <a:xfrm>
            <a:off x="2331720" y="5916168"/>
            <a:ext cx="411480" cy="310896"/>
          </a:xfrm>
          <a:prstGeom prst="rect">
            <a:avLst/>
          </a:prstGeom>
          <a:noFill/>
        </p:spPr>
        <p:txBody>
          <a:bodyPr wrap="square" lIns="0" tIns="0" rIns="0" bIns="0" anchor="ctr">
            <a:spAutoFit/>
          </a:bodyPr>
          <a:lstStyle/>
          <a:p>
            <a:pPr>
              <a:spcAft>
                <a:spcPts val="0"/>
              </a:spcAft>
            </a:pPr>
            <a:r>
              <a:rPr sz="1050" b="1" i="0">
                <a:solidFill>
                  <a:srgbClr val="0391F2"/>
                </a:solidFill>
              </a:rPr>
              <a:t>11</a:t>
            </a:r>
          </a:p>
        </p:txBody>
      </p:sp>
      <p:sp>
        <p:nvSpPr>
          <p:cNvPr id="51" name="Ask 11"/>
          <p:cNvSpPr txBox="1"/>
          <p:nvPr/>
        </p:nvSpPr>
        <p:spPr>
          <a:xfrm>
            <a:off x="2743200" y="5916168"/>
            <a:ext cx="4434840" cy="310896"/>
          </a:xfrm>
          <a:prstGeom prst="rect">
            <a:avLst/>
          </a:prstGeom>
          <a:noFill/>
        </p:spPr>
        <p:txBody>
          <a:bodyPr wrap="square" lIns="0" tIns="0" rIns="0" bIns="0" anchor="ctr">
            <a:spAutoFit/>
          </a:bodyPr>
          <a:lstStyle/>
          <a:p>
            <a:pPr>
              <a:spcAft>
                <a:spcPts val="0"/>
              </a:spcAft>
            </a:pPr>
            <a:r>
              <a:rPr sz="1150" b="0" i="1">
                <a:solidFill>
                  <a:srgbClr val="040E4B"/>
                </a:solidFill>
              </a:rPr>
              <a:t>“Find out why the numbers do not add up.”</a:t>
            </a:r>
          </a:p>
        </p:txBody>
      </p:sp>
      <p:cxnSp>
        <p:nvCxnSpPr>
          <p:cNvPr id="53" name="Row rule"/>
          <p:cNvCxnSpPr/>
          <p:nvPr/>
        </p:nvCxnSpPr>
        <p:spPr>
          <a:xfrm>
            <a:off x="530352" y="62636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56" name="Subhead"/>
          <p:cNvSpPr txBox="1"/>
          <p:nvPr/>
        </p:nvSpPr>
        <p:spPr>
          <a:xfrm>
            <a:off x="1097280" y="6318503"/>
            <a:ext cx="9875520" cy="219456"/>
          </a:xfrm>
          <a:prstGeom prst="rect">
            <a:avLst/>
          </a:prstGeom>
          <a:noFill/>
        </p:spPr>
        <p:txBody>
          <a:bodyPr wrap="square" lIns="0" tIns="0" rIns="0" bIns="0" anchor="t">
            <a:spAutoFit/>
          </a:bodyPr>
          <a:lstStyle/>
          <a:p>
            <a:pPr>
              <a:spcAft>
                <a:spcPts val="0"/>
              </a:spcAft>
            </a:pPr>
            <a:r>
              <a:rPr sz="900" b="0" i="1">
                <a:solidFill>
                  <a:srgbClr val="60607D"/>
                </a:solidFill>
              </a:rPr>
              <a:t>The RevTech stack, the Field Guide, the closing guide, and the models already rolled out support all six streams.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What it looks like on the ground</a:t>
            </a:r>
          </a:p>
        </p:txBody>
      </p:sp>
      <p:sp>
        <p:nvSpPr>
          <p:cNvPr id="4" name="Text Placeholder 3"/>
          <p:cNvSpPr>
            <a:spLocks noGrp="1"/>
          </p:cNvSpPr>
          <p:nvPr>
            <p:ph type="body" sz="quarter" idx="12"/>
          </p:nvPr>
        </p:nvSpPr>
        <p:spPr/>
        <p:txBody>
          <a:bodyPr/>
          <a:lstStyle/>
          <a:p>
            <a:r>
              <a:t>THE ASK</a:t>
            </a:r>
          </a:p>
        </p:txBody>
      </p:sp>
      <p:sp>
        <p:nvSpPr>
          <p:cNvPr id="5" name="Column label"/>
          <p:cNvSpPr txBox="1"/>
          <p:nvPr/>
        </p:nvSpPr>
        <p:spPr>
          <a:xfrm>
            <a:off x="530352" y="1481328"/>
            <a:ext cx="3657600" cy="182880"/>
          </a:xfrm>
          <a:prstGeom prst="rect">
            <a:avLst/>
          </a:prstGeom>
          <a:noFill/>
        </p:spPr>
        <p:txBody>
          <a:bodyPr wrap="square" lIns="0" tIns="0" rIns="0" bIns="0" anchor="t">
            <a:spAutoFit/>
          </a:bodyPr>
          <a:lstStyle/>
          <a:p>
            <a:pPr>
              <a:spcAft>
                <a:spcPts val="0"/>
              </a:spcAft>
            </a:pPr>
            <a:r>
              <a:rPr sz="900" b="1" i="0" spc="200">
                <a:solidFill>
                  <a:srgbClr val="8888A1"/>
                </a:solidFill>
              </a:rPr>
              <a:t>WHAT WE SEE</a:t>
            </a:r>
          </a:p>
        </p:txBody>
      </p:sp>
      <p:sp>
        <p:nvSpPr>
          <p:cNvPr id="6" name="Column label"/>
          <p:cNvSpPr txBox="1"/>
          <p:nvPr/>
        </p:nvSpPr>
        <p:spPr>
          <a:xfrm>
            <a:off x="3566160" y="1481328"/>
            <a:ext cx="4572000" cy="182880"/>
          </a:xfrm>
          <a:prstGeom prst="rect">
            <a:avLst/>
          </a:prstGeom>
          <a:noFill/>
        </p:spPr>
        <p:txBody>
          <a:bodyPr wrap="square" lIns="0" tIns="0" rIns="0" bIns="0" anchor="t">
            <a:spAutoFit/>
          </a:bodyPr>
          <a:lstStyle/>
          <a:p>
            <a:pPr>
              <a:spcAft>
                <a:spcPts val="0"/>
              </a:spcAft>
            </a:pPr>
            <a:r>
              <a:rPr sz="900" b="1" i="0" spc="200">
                <a:solidFill>
                  <a:srgbClr val="8888A1"/>
                </a:solidFill>
              </a:rPr>
              <a:t>WHERE</a:t>
            </a:r>
          </a:p>
        </p:txBody>
      </p:sp>
      <p:sp>
        <p:nvSpPr>
          <p:cNvPr id="7" name="Column label"/>
          <p:cNvSpPr txBox="1"/>
          <p:nvPr/>
        </p:nvSpPr>
        <p:spPr>
          <a:xfrm>
            <a:off x="9784080" y="1481328"/>
            <a:ext cx="1828800" cy="182880"/>
          </a:xfrm>
          <a:prstGeom prst="rect">
            <a:avLst/>
          </a:prstGeom>
          <a:noFill/>
        </p:spPr>
        <p:txBody>
          <a:bodyPr wrap="square" lIns="0" tIns="0" rIns="0" bIns="0" anchor="t">
            <a:spAutoFit/>
          </a:bodyPr>
          <a:lstStyle/>
          <a:p>
            <a:pPr>
              <a:spcAft>
                <a:spcPts val="0"/>
              </a:spcAft>
            </a:pPr>
            <a:r>
              <a:rPr sz="900" b="1" i="0" spc="200">
                <a:solidFill>
                  <a:srgbClr val="8888A1"/>
                </a:solidFill>
              </a:rPr>
              <a:t>STREAM</a:t>
            </a:r>
          </a:p>
        </p:txBody>
      </p:sp>
      <p:sp>
        <p:nvSpPr>
          <p:cNvPr id="8" name="Row card"/>
          <p:cNvSpPr/>
          <p:nvPr/>
        </p:nvSpPr>
        <p:spPr>
          <a:xfrm>
            <a:off x="530352" y="1737360"/>
            <a:ext cx="11128248" cy="621792"/>
          </a:xfrm>
          <a:prstGeom prst="roundRect">
            <a:avLst>
              <a:gd name="adj" fmla="val 1176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Problem type"/>
          <p:cNvSpPr txBox="1"/>
          <p:nvPr/>
        </p:nvSpPr>
        <p:spPr>
          <a:xfrm>
            <a:off x="731520" y="1737360"/>
            <a:ext cx="2651760" cy="621792"/>
          </a:xfrm>
          <a:prstGeom prst="rect">
            <a:avLst/>
          </a:prstGeom>
          <a:noFill/>
        </p:spPr>
        <p:txBody>
          <a:bodyPr wrap="square" lIns="0" tIns="0" rIns="0" bIns="0" anchor="ctr">
            <a:spAutoFit/>
          </a:bodyPr>
          <a:lstStyle/>
          <a:p>
            <a:pPr>
              <a:spcAft>
                <a:spcPts val="0"/>
              </a:spcAft>
            </a:pPr>
            <a:r>
              <a:rPr sz="1400" b="1" i="0">
                <a:solidFill>
                  <a:srgbClr val="040E4B"/>
                </a:solidFill>
              </a:rPr>
              <a:t>Not showing enough value</a:t>
            </a:r>
          </a:p>
        </p:txBody>
      </p:sp>
      <p:sp>
        <p:nvSpPr>
          <p:cNvPr id="10" name="Accounts"/>
          <p:cNvSpPr txBox="1"/>
          <p:nvPr/>
        </p:nvSpPr>
        <p:spPr>
          <a:xfrm>
            <a:off x="3566160" y="1737360"/>
            <a:ext cx="6035040" cy="621792"/>
          </a:xfrm>
          <a:prstGeom prst="rect">
            <a:avLst/>
          </a:prstGeom>
          <a:noFill/>
        </p:spPr>
        <p:txBody>
          <a:bodyPr wrap="square" lIns="0" tIns="0" rIns="0" bIns="0" anchor="ctr">
            <a:spAutoFit/>
          </a:bodyPr>
          <a:lstStyle/>
          <a:p>
            <a:pPr>
              <a:spcAft>
                <a:spcPts val="0"/>
              </a:spcAft>
            </a:pPr>
            <a:r>
              <a:rPr sz="1200" b="0" i="0">
                <a:solidFill>
                  <a:srgbClr val="000000"/>
                </a:solidFill>
              </a:rPr>
              <a:t>HD, Tommy, Lumen, McDonald’s; Enterprise (losing ~$2M to Perficient, $10M 2027 gap)</a:t>
            </a:r>
          </a:p>
        </p:txBody>
      </p:sp>
      <p:sp>
        <p:nvSpPr>
          <p:cNvPr id="11" name="Stream tag"/>
          <p:cNvSpPr/>
          <p:nvPr/>
        </p:nvSpPr>
        <p:spPr>
          <a:xfrm>
            <a:off x="9784080" y="1929384"/>
            <a:ext cx="726948"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tream tag text"/>
          <p:cNvSpPr txBox="1"/>
          <p:nvPr/>
        </p:nvSpPr>
        <p:spPr>
          <a:xfrm>
            <a:off x="9784080" y="1929384"/>
            <a:ext cx="726948"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DELIVER</a:t>
            </a:r>
          </a:p>
        </p:txBody>
      </p:sp>
      <p:sp>
        <p:nvSpPr>
          <p:cNvPr id="13" name="Stream tag"/>
          <p:cNvSpPr/>
          <p:nvPr/>
        </p:nvSpPr>
        <p:spPr>
          <a:xfrm>
            <a:off x="10602467" y="1929384"/>
            <a:ext cx="416052"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tream tag text"/>
          <p:cNvSpPr txBox="1"/>
          <p:nvPr/>
        </p:nvSpPr>
        <p:spPr>
          <a:xfrm>
            <a:off x="10602467" y="1929384"/>
            <a:ext cx="416052"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OWN</a:t>
            </a:r>
          </a:p>
        </p:txBody>
      </p:sp>
      <p:sp>
        <p:nvSpPr>
          <p:cNvPr id="15" name="Row card"/>
          <p:cNvSpPr/>
          <p:nvPr/>
        </p:nvSpPr>
        <p:spPr>
          <a:xfrm>
            <a:off x="530352" y="2450591"/>
            <a:ext cx="11128248" cy="621792"/>
          </a:xfrm>
          <a:prstGeom prst="roundRect">
            <a:avLst>
              <a:gd name="adj" fmla="val 1176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Problem type"/>
          <p:cNvSpPr txBox="1"/>
          <p:nvPr/>
        </p:nvSpPr>
        <p:spPr>
          <a:xfrm>
            <a:off x="731520" y="2450591"/>
            <a:ext cx="2651760" cy="621792"/>
          </a:xfrm>
          <a:prstGeom prst="rect">
            <a:avLst/>
          </a:prstGeom>
          <a:noFill/>
        </p:spPr>
        <p:txBody>
          <a:bodyPr wrap="square" lIns="0" tIns="0" rIns="0" bIns="0" anchor="ctr">
            <a:spAutoFit/>
          </a:bodyPr>
          <a:lstStyle/>
          <a:p>
            <a:pPr>
              <a:spcAft>
                <a:spcPts val="0"/>
              </a:spcAft>
            </a:pPr>
            <a:r>
              <a:rPr sz="1400" b="1" i="0">
                <a:solidFill>
                  <a:srgbClr val="040E4B"/>
                </a:solidFill>
              </a:rPr>
              <a:t>Approach missed expectations</a:t>
            </a:r>
          </a:p>
        </p:txBody>
      </p:sp>
      <p:sp>
        <p:nvSpPr>
          <p:cNvPr id="17" name="Accounts"/>
          <p:cNvSpPr txBox="1"/>
          <p:nvPr/>
        </p:nvSpPr>
        <p:spPr>
          <a:xfrm>
            <a:off x="3566160" y="2450591"/>
            <a:ext cx="6035040" cy="621792"/>
          </a:xfrm>
          <a:prstGeom prst="rect">
            <a:avLst/>
          </a:prstGeom>
          <a:noFill/>
        </p:spPr>
        <p:txBody>
          <a:bodyPr wrap="square" lIns="0" tIns="0" rIns="0" bIns="0" anchor="ctr">
            <a:spAutoFit/>
          </a:bodyPr>
          <a:lstStyle/>
          <a:p>
            <a:pPr>
              <a:spcAft>
                <a:spcPts val="0"/>
              </a:spcAft>
            </a:pPr>
            <a:r>
              <a:rPr sz="1200" b="0" i="0">
                <a:solidFill>
                  <a:srgbClr val="000000"/>
                </a:solidFill>
              </a:rPr>
              <a:t>LHW (cancelled), Sally Beauty (rough CMO feedback), Primo (1/1 launch at risk), Lumen</a:t>
            </a:r>
          </a:p>
        </p:txBody>
      </p:sp>
      <p:sp>
        <p:nvSpPr>
          <p:cNvPr id="18" name="Stream tag"/>
          <p:cNvSpPr/>
          <p:nvPr/>
        </p:nvSpPr>
        <p:spPr>
          <a:xfrm>
            <a:off x="9784080" y="2642615"/>
            <a:ext cx="649224"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tream tag text"/>
          <p:cNvSpPr txBox="1"/>
          <p:nvPr/>
        </p:nvSpPr>
        <p:spPr>
          <a:xfrm>
            <a:off x="9784080" y="2642615"/>
            <a:ext cx="649224"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DEFINE</a:t>
            </a:r>
          </a:p>
        </p:txBody>
      </p:sp>
      <p:sp>
        <p:nvSpPr>
          <p:cNvPr id="20" name="Stream tag"/>
          <p:cNvSpPr/>
          <p:nvPr/>
        </p:nvSpPr>
        <p:spPr>
          <a:xfrm>
            <a:off x="10524744" y="2642615"/>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tream tag text"/>
          <p:cNvSpPr txBox="1"/>
          <p:nvPr/>
        </p:nvSpPr>
        <p:spPr>
          <a:xfrm>
            <a:off x="10524744" y="2642615"/>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22" name="Row card"/>
          <p:cNvSpPr/>
          <p:nvPr/>
        </p:nvSpPr>
        <p:spPr>
          <a:xfrm>
            <a:off x="530352" y="3163824"/>
            <a:ext cx="11128248" cy="621792"/>
          </a:xfrm>
          <a:prstGeom prst="roundRect">
            <a:avLst>
              <a:gd name="adj" fmla="val 1176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Problem type"/>
          <p:cNvSpPr txBox="1"/>
          <p:nvPr/>
        </p:nvSpPr>
        <p:spPr>
          <a:xfrm>
            <a:off x="731520" y="3163824"/>
            <a:ext cx="2651760" cy="621792"/>
          </a:xfrm>
          <a:prstGeom prst="rect">
            <a:avLst/>
          </a:prstGeom>
          <a:noFill/>
        </p:spPr>
        <p:txBody>
          <a:bodyPr wrap="square" lIns="0" tIns="0" rIns="0" bIns="0" anchor="ctr">
            <a:spAutoFit/>
          </a:bodyPr>
          <a:lstStyle/>
          <a:p>
            <a:pPr>
              <a:spcAft>
                <a:spcPts val="0"/>
              </a:spcAft>
            </a:pPr>
            <a:r>
              <a:rPr sz="1400" b="1" i="0">
                <a:solidFill>
                  <a:srgbClr val="040E4B"/>
                </a:solidFill>
              </a:rPr>
              <a:t>Not sold or staffed to succeed</a:t>
            </a:r>
          </a:p>
        </p:txBody>
      </p:sp>
      <p:sp>
        <p:nvSpPr>
          <p:cNvPr id="24" name="Accounts"/>
          <p:cNvSpPr txBox="1"/>
          <p:nvPr/>
        </p:nvSpPr>
        <p:spPr>
          <a:xfrm>
            <a:off x="3566160" y="3163824"/>
            <a:ext cx="6035040" cy="621792"/>
          </a:xfrm>
          <a:prstGeom prst="rect">
            <a:avLst/>
          </a:prstGeom>
          <a:noFill/>
        </p:spPr>
        <p:txBody>
          <a:bodyPr wrap="square" lIns="0" tIns="0" rIns="0" bIns="0" anchor="ctr">
            <a:spAutoFit/>
          </a:bodyPr>
          <a:lstStyle/>
          <a:p>
            <a:pPr>
              <a:spcAft>
                <a:spcPts val="0"/>
              </a:spcAft>
            </a:pPr>
            <a:r>
              <a:rPr sz="1200" b="0" i="0">
                <a:solidFill>
                  <a:srgbClr val="000000"/>
                </a:solidFill>
              </a:rPr>
              <a:t>Vanguard (no staff to start), Heineken (6 resignations), Ulta (under-scoped), Burns &amp; Wilcox (no bench), Everbank (no-bid)</a:t>
            </a:r>
          </a:p>
        </p:txBody>
      </p:sp>
      <p:sp>
        <p:nvSpPr>
          <p:cNvPr id="25" name="Stream tag"/>
          <p:cNvSpPr/>
          <p:nvPr/>
        </p:nvSpPr>
        <p:spPr>
          <a:xfrm>
            <a:off x="9784080" y="3355848"/>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Stream tag text"/>
          <p:cNvSpPr txBox="1"/>
          <p:nvPr/>
        </p:nvSpPr>
        <p:spPr>
          <a:xfrm>
            <a:off x="9784080" y="3355848"/>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27" name="Stream tag"/>
          <p:cNvSpPr/>
          <p:nvPr/>
        </p:nvSpPr>
        <p:spPr>
          <a:xfrm>
            <a:off x="10369296" y="3355848"/>
            <a:ext cx="571500"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tream tag text"/>
          <p:cNvSpPr txBox="1"/>
          <p:nvPr/>
        </p:nvSpPr>
        <p:spPr>
          <a:xfrm>
            <a:off x="10369296" y="3355848"/>
            <a:ext cx="571500"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STAFF</a:t>
            </a:r>
          </a:p>
        </p:txBody>
      </p:sp>
      <p:sp>
        <p:nvSpPr>
          <p:cNvPr id="29" name="Row card"/>
          <p:cNvSpPr/>
          <p:nvPr/>
        </p:nvSpPr>
        <p:spPr>
          <a:xfrm>
            <a:off x="530352" y="3877056"/>
            <a:ext cx="11128248" cy="621792"/>
          </a:xfrm>
          <a:prstGeom prst="roundRect">
            <a:avLst>
              <a:gd name="adj" fmla="val 1176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Problem type"/>
          <p:cNvSpPr txBox="1"/>
          <p:nvPr/>
        </p:nvSpPr>
        <p:spPr>
          <a:xfrm>
            <a:off x="731520" y="3877056"/>
            <a:ext cx="2651760" cy="621792"/>
          </a:xfrm>
          <a:prstGeom prst="rect">
            <a:avLst/>
          </a:prstGeom>
          <a:noFill/>
        </p:spPr>
        <p:txBody>
          <a:bodyPr wrap="square" lIns="0" tIns="0" rIns="0" bIns="0" anchor="ctr">
            <a:spAutoFit/>
          </a:bodyPr>
          <a:lstStyle/>
          <a:p>
            <a:pPr>
              <a:spcAft>
                <a:spcPts val="0"/>
              </a:spcAft>
            </a:pPr>
            <a:r>
              <a:rPr sz="1400" b="1" i="0">
                <a:solidFill>
                  <a:srgbClr val="040E4B"/>
                </a:solidFill>
              </a:rPr>
              <a:t>Basic delivery drops</a:t>
            </a:r>
          </a:p>
        </p:txBody>
      </p:sp>
      <p:sp>
        <p:nvSpPr>
          <p:cNvPr id="31" name="Accounts"/>
          <p:cNvSpPr txBox="1"/>
          <p:nvPr/>
        </p:nvSpPr>
        <p:spPr>
          <a:xfrm>
            <a:off x="3566160" y="3877056"/>
            <a:ext cx="6035040" cy="621792"/>
          </a:xfrm>
          <a:prstGeom prst="rect">
            <a:avLst/>
          </a:prstGeom>
          <a:noFill/>
        </p:spPr>
        <p:txBody>
          <a:bodyPr wrap="square" lIns="0" tIns="0" rIns="0" bIns="0" anchor="ctr">
            <a:spAutoFit/>
          </a:bodyPr>
          <a:lstStyle/>
          <a:p>
            <a:pPr>
              <a:spcAft>
                <a:spcPts val="0"/>
              </a:spcAft>
            </a:pPr>
            <a:r>
              <a:rPr sz="1200" b="0" i="0">
                <a:solidFill>
                  <a:srgbClr val="000000"/>
                </a:solidFill>
              </a:rPr>
              <a:t>Tommy (SAP Commerce skills), RL (program planning), Lumen (AJO error)</a:t>
            </a:r>
          </a:p>
        </p:txBody>
      </p:sp>
      <p:sp>
        <p:nvSpPr>
          <p:cNvPr id="32" name="Stream tag"/>
          <p:cNvSpPr/>
          <p:nvPr/>
        </p:nvSpPr>
        <p:spPr>
          <a:xfrm>
            <a:off x="9784080" y="4069080"/>
            <a:ext cx="726948"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tream tag text"/>
          <p:cNvSpPr txBox="1"/>
          <p:nvPr/>
        </p:nvSpPr>
        <p:spPr>
          <a:xfrm>
            <a:off x="9784080" y="4069080"/>
            <a:ext cx="726948"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DELIVER</a:t>
            </a:r>
          </a:p>
        </p:txBody>
      </p:sp>
      <p:sp>
        <p:nvSpPr>
          <p:cNvPr id="34" name="Stream tag"/>
          <p:cNvSpPr/>
          <p:nvPr/>
        </p:nvSpPr>
        <p:spPr>
          <a:xfrm>
            <a:off x="10602467" y="4069080"/>
            <a:ext cx="571500"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tream tag text"/>
          <p:cNvSpPr txBox="1"/>
          <p:nvPr/>
        </p:nvSpPr>
        <p:spPr>
          <a:xfrm>
            <a:off x="10602467" y="4069080"/>
            <a:ext cx="571500"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STAFF</a:t>
            </a:r>
          </a:p>
        </p:txBody>
      </p:sp>
      <p:sp>
        <p:nvSpPr>
          <p:cNvPr id="36" name="Row card"/>
          <p:cNvSpPr/>
          <p:nvPr/>
        </p:nvSpPr>
        <p:spPr>
          <a:xfrm>
            <a:off x="530352" y="4590288"/>
            <a:ext cx="11128248" cy="621792"/>
          </a:xfrm>
          <a:prstGeom prst="roundRect">
            <a:avLst>
              <a:gd name="adj" fmla="val 1176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Problem type"/>
          <p:cNvSpPr txBox="1"/>
          <p:nvPr/>
        </p:nvSpPr>
        <p:spPr>
          <a:xfrm>
            <a:off x="731520" y="4590288"/>
            <a:ext cx="2651760" cy="621792"/>
          </a:xfrm>
          <a:prstGeom prst="rect">
            <a:avLst/>
          </a:prstGeom>
          <a:noFill/>
        </p:spPr>
        <p:txBody>
          <a:bodyPr wrap="square" lIns="0" tIns="0" rIns="0" bIns="0" anchor="ctr">
            <a:spAutoFit/>
          </a:bodyPr>
          <a:lstStyle/>
          <a:p>
            <a:pPr>
              <a:spcAft>
                <a:spcPts val="0"/>
              </a:spcAft>
            </a:pPr>
            <a:r>
              <a:rPr sz="1400" b="1" i="0">
                <a:solidFill>
                  <a:srgbClr val="040E4B"/>
                </a:solidFill>
              </a:rPr>
              <a:t>Slow estimates and pricing</a:t>
            </a:r>
          </a:p>
        </p:txBody>
      </p:sp>
      <p:sp>
        <p:nvSpPr>
          <p:cNvPr id="38" name="Accounts"/>
          <p:cNvSpPr txBox="1"/>
          <p:nvPr/>
        </p:nvSpPr>
        <p:spPr>
          <a:xfrm>
            <a:off x="3566160" y="4590288"/>
            <a:ext cx="6035040" cy="621792"/>
          </a:xfrm>
          <a:prstGeom prst="rect">
            <a:avLst/>
          </a:prstGeom>
          <a:noFill/>
        </p:spPr>
        <p:txBody>
          <a:bodyPr wrap="square" lIns="0" tIns="0" rIns="0" bIns="0" anchor="ctr">
            <a:spAutoFit/>
          </a:bodyPr>
          <a:lstStyle/>
          <a:p>
            <a:pPr>
              <a:spcAft>
                <a:spcPts val="0"/>
              </a:spcAft>
            </a:pPr>
            <a:r>
              <a:rPr sz="1200" b="0" i="0">
                <a:solidFill>
                  <a:srgbClr val="000000"/>
                </a:solidFill>
              </a:rPr>
              <a:t>Citizens Bank (pricing ranges), TDS (multi-week estimate delays)</a:t>
            </a:r>
          </a:p>
        </p:txBody>
      </p:sp>
      <p:sp>
        <p:nvSpPr>
          <p:cNvPr id="39" name="Stream tag"/>
          <p:cNvSpPr/>
          <p:nvPr/>
        </p:nvSpPr>
        <p:spPr>
          <a:xfrm>
            <a:off x="9784080" y="4782312"/>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tream tag text"/>
          <p:cNvSpPr txBox="1"/>
          <p:nvPr/>
        </p:nvSpPr>
        <p:spPr>
          <a:xfrm>
            <a:off x="9784080" y="4782312"/>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41" name="Takeaway bar"/>
          <p:cNvSpPr/>
          <p:nvPr/>
        </p:nvSpPr>
        <p:spPr>
          <a:xfrm>
            <a:off x="530352" y="5440680"/>
            <a:ext cx="11128248" cy="640080"/>
          </a:xfrm>
          <a:prstGeom prst="roundRect">
            <a:avLst>
              <a:gd name="adj" fmla="val 11428"/>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akeaway"/>
          <p:cNvSpPr txBox="1"/>
          <p:nvPr/>
        </p:nvSpPr>
        <p:spPr>
          <a:xfrm>
            <a:off x="777240" y="5440680"/>
            <a:ext cx="10607040" cy="640080"/>
          </a:xfrm>
          <a:prstGeom prst="rect">
            <a:avLst/>
          </a:prstGeom>
          <a:noFill/>
        </p:spPr>
        <p:txBody>
          <a:bodyPr wrap="square" lIns="0" tIns="0" rIns="0" bIns="0" anchor="ctr">
            <a:spAutoFit/>
          </a:bodyPr>
          <a:lstStyle/>
          <a:p>
            <a:pPr>
              <a:spcAft>
                <a:spcPts val="0"/>
              </a:spcAft>
            </a:pPr>
            <a:r>
              <a:rPr sz="1500" b="1" i="0">
                <a:solidFill>
                  <a:srgbClr val="FFFFFF"/>
                </a:solidFill>
              </a:rPr>
              <a:t>Staffing and talent drive most accounts, then scoping and pricing. Triage only shows one moment in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How what we’re doing answers the ask</a:t>
            </a:r>
          </a:p>
        </p:txBody>
      </p:sp>
      <p:sp>
        <p:nvSpPr>
          <p:cNvPr id="4" name="Text Placeholder 3"/>
          <p:cNvSpPr>
            <a:spLocks noGrp="1"/>
          </p:cNvSpPr>
          <p:nvPr>
            <p:ph type="body" sz="quarter" idx="12"/>
          </p:nvPr>
        </p:nvSpPr>
        <p:spPr/>
        <p:txBody>
          <a:bodyPr/>
          <a:lstStyle/>
          <a:p>
            <a:r>
              <a:t>THE TIE-IN</a:t>
            </a:r>
          </a:p>
        </p:txBody>
      </p:sp>
      <p:sp>
        <p:nvSpPr>
          <p:cNvPr id="5" name="Subhead"/>
          <p:cNvSpPr txBox="1"/>
          <p:nvPr/>
        </p:nvSpPr>
        <p:spPr>
          <a:xfrm>
            <a:off x="530352" y="1261872"/>
            <a:ext cx="11128248" cy="256032"/>
          </a:xfrm>
          <a:prstGeom prst="rect">
            <a:avLst/>
          </a:prstGeom>
          <a:noFill/>
        </p:spPr>
        <p:txBody>
          <a:bodyPr wrap="square" lIns="0" tIns="0" rIns="0" bIns="0" anchor="t">
            <a:spAutoFit/>
          </a:bodyPr>
          <a:lstStyle/>
          <a:p>
            <a:pPr>
              <a:spcAft>
                <a:spcPts val="0"/>
              </a:spcAft>
            </a:pPr>
            <a:r>
              <a:rPr sz="1300" b="0" i="1">
                <a:solidFill>
                  <a:srgbClr val="60607D"/>
                </a:solidFill>
              </a:rPr>
              <a:t>Every stream has work moving behind it. Two gaps remain: co-creation and the 2027 revenue map.</a:t>
            </a:r>
          </a:p>
        </p:txBody>
      </p:sp>
      <p:sp>
        <p:nvSpPr>
          <p:cNvPr id="6" name="Column label"/>
          <p:cNvSpPr txBox="1"/>
          <p:nvPr/>
        </p:nvSpPr>
        <p:spPr>
          <a:xfrm>
            <a:off x="530352" y="1627632"/>
            <a:ext cx="1645920" cy="182880"/>
          </a:xfrm>
          <a:prstGeom prst="rect">
            <a:avLst/>
          </a:prstGeom>
          <a:noFill/>
        </p:spPr>
        <p:txBody>
          <a:bodyPr wrap="square" lIns="0" tIns="0" rIns="0" bIns="0" anchor="t">
            <a:spAutoFit/>
          </a:bodyPr>
          <a:lstStyle/>
          <a:p>
            <a:pPr>
              <a:spcAft>
                <a:spcPts val="0"/>
              </a:spcAft>
            </a:pPr>
            <a:r>
              <a:rPr sz="900" b="1" i="0" spc="200">
                <a:solidFill>
                  <a:srgbClr val="8888A1"/>
                </a:solidFill>
              </a:rPr>
              <a:t>STREAM</a:t>
            </a:r>
          </a:p>
        </p:txBody>
      </p:sp>
      <p:sp>
        <p:nvSpPr>
          <p:cNvPr id="7" name="Column label"/>
          <p:cNvSpPr txBox="1"/>
          <p:nvPr/>
        </p:nvSpPr>
        <p:spPr>
          <a:xfrm>
            <a:off x="2331720" y="1627632"/>
            <a:ext cx="2743200" cy="182880"/>
          </a:xfrm>
          <a:prstGeom prst="rect">
            <a:avLst/>
          </a:prstGeom>
          <a:noFill/>
        </p:spPr>
        <p:txBody>
          <a:bodyPr wrap="square" lIns="0" tIns="0" rIns="0" bIns="0" anchor="t">
            <a:spAutoFit/>
          </a:bodyPr>
          <a:lstStyle/>
          <a:p>
            <a:pPr>
              <a:spcAft>
                <a:spcPts val="0"/>
              </a:spcAft>
            </a:pPr>
            <a:r>
              <a:rPr sz="900" b="1" i="0" spc="200">
                <a:solidFill>
                  <a:srgbClr val="0391F2"/>
                </a:solidFill>
              </a:rPr>
              <a:t>THE ASK</a:t>
            </a:r>
          </a:p>
        </p:txBody>
      </p:sp>
      <p:sp>
        <p:nvSpPr>
          <p:cNvPr id="8" name="Column label"/>
          <p:cNvSpPr txBox="1"/>
          <p:nvPr/>
        </p:nvSpPr>
        <p:spPr>
          <a:xfrm>
            <a:off x="7315200" y="1627632"/>
            <a:ext cx="3200400" cy="182880"/>
          </a:xfrm>
          <a:prstGeom prst="rect">
            <a:avLst/>
          </a:prstGeom>
          <a:noFill/>
        </p:spPr>
        <p:txBody>
          <a:bodyPr wrap="square" lIns="0" tIns="0" rIns="0" bIns="0" anchor="t">
            <a:spAutoFit/>
          </a:bodyPr>
          <a:lstStyle/>
          <a:p>
            <a:pPr>
              <a:spcAft>
                <a:spcPts val="0"/>
              </a:spcAft>
            </a:pPr>
            <a:r>
              <a:rPr sz="900" b="1" i="0" spc="200">
                <a:solidFill>
                  <a:srgbClr val="8888A1"/>
                </a:solidFill>
              </a:rPr>
              <a:t>WHAT’S ALREADY MOVING</a:t>
            </a:r>
          </a:p>
        </p:txBody>
      </p:sp>
      <p:cxnSp>
        <p:nvCxnSpPr>
          <p:cNvPr id="9" name="Row rule"/>
          <p:cNvCxnSpPr/>
          <p:nvPr/>
        </p:nvCxnSpPr>
        <p:spPr>
          <a:xfrm>
            <a:off x="530352" y="1874519"/>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10" name="Stream number"/>
          <p:cNvSpPr txBox="1"/>
          <p:nvPr/>
        </p:nvSpPr>
        <p:spPr>
          <a:xfrm>
            <a:off x="530352" y="1874519"/>
            <a:ext cx="640080" cy="548640"/>
          </a:xfrm>
          <a:prstGeom prst="rect">
            <a:avLst/>
          </a:prstGeom>
          <a:noFill/>
        </p:spPr>
        <p:txBody>
          <a:bodyPr wrap="square" lIns="0" tIns="0" rIns="0" bIns="0" anchor="ctr">
            <a:spAutoFit/>
          </a:bodyPr>
          <a:lstStyle/>
          <a:p>
            <a:pPr>
              <a:spcAft>
                <a:spcPts val="0"/>
              </a:spcAft>
            </a:pPr>
            <a:r>
              <a:rPr sz="2200" b="1" i="0">
                <a:solidFill>
                  <a:srgbClr val="0391F2"/>
                </a:solidFill>
              </a:rPr>
              <a:t>01</a:t>
            </a:r>
          </a:p>
        </p:txBody>
      </p:sp>
      <p:sp>
        <p:nvSpPr>
          <p:cNvPr id="11" name="Stream name"/>
          <p:cNvSpPr txBox="1"/>
          <p:nvPr/>
        </p:nvSpPr>
        <p:spPr>
          <a:xfrm>
            <a:off x="1097280" y="1874519"/>
            <a:ext cx="1280160" cy="548640"/>
          </a:xfrm>
          <a:prstGeom prst="rect">
            <a:avLst/>
          </a:prstGeom>
          <a:noFill/>
        </p:spPr>
        <p:txBody>
          <a:bodyPr wrap="square" lIns="0" tIns="0" rIns="0" bIns="0" anchor="ctr">
            <a:spAutoFit/>
          </a:bodyPr>
          <a:lstStyle/>
          <a:p>
            <a:pPr>
              <a:spcAft>
                <a:spcPts val="0"/>
              </a:spcAft>
            </a:pPr>
            <a:r>
              <a:rPr sz="1500" b="1" i="0">
                <a:solidFill>
                  <a:srgbClr val="040E4B"/>
                </a:solidFill>
              </a:rPr>
              <a:t>Define</a:t>
            </a:r>
          </a:p>
        </p:txBody>
      </p:sp>
      <p:sp>
        <p:nvSpPr>
          <p:cNvPr id="14" name="Column 3"/>
          <p:cNvSpPr txBox="1"/>
          <p:nvPr/>
        </p:nvSpPr>
        <p:spPr>
          <a:xfrm>
            <a:off x="7315200" y="1874519"/>
            <a:ext cx="4343400" cy="548640"/>
          </a:xfrm>
          <a:prstGeom prst="rect">
            <a:avLst/>
          </a:prstGeom>
          <a:noFill/>
        </p:spPr>
        <p:txBody>
          <a:bodyPr wrap="square" lIns="0" tIns="0" rIns="0" bIns="0" anchor="ctr">
            <a:spAutoFit/>
          </a:bodyPr>
          <a:lstStyle/>
          <a:p>
            <a:pPr>
              <a:spcAft>
                <a:spcPts val="0"/>
              </a:spcAft>
            </a:pPr>
            <a:r>
              <a:rPr sz="1100" b="1" i="0">
                <a:solidFill>
                  <a:srgbClr val="040E4B"/>
                </a:solidFill>
              </a:rPr>
              <a:t>Deal-to-Delivery Playbook</a:t>
            </a:r>
            <a:r>
              <a:rPr sz="1100" b="0" i="0">
                <a:solidFill>
                  <a:srgbClr val="040E4B"/>
                </a:solidFill>
              </a:rPr>
              <a:t> (Delivery Models)</a:t>
            </a:r>
          </a:p>
        </p:txBody>
      </p:sp>
      <p:sp>
        <p:nvSpPr>
          <p:cNvPr id="12" name="Ask 1 number"/>
          <p:cNvSpPr txBox="1"/>
          <p:nvPr/>
        </p:nvSpPr>
        <p:spPr>
          <a:xfrm>
            <a:off x="2331720" y="1911095"/>
            <a:ext cx="411480" cy="475488"/>
          </a:xfrm>
          <a:prstGeom prst="rect">
            <a:avLst/>
          </a:prstGeom>
          <a:noFill/>
        </p:spPr>
        <p:txBody>
          <a:bodyPr wrap="square" lIns="0" tIns="0" rIns="0" bIns="0" anchor="ctr">
            <a:spAutoFit/>
          </a:bodyPr>
          <a:lstStyle/>
          <a:p>
            <a:pPr>
              <a:spcAft>
                <a:spcPts val="0"/>
              </a:spcAft>
            </a:pPr>
            <a:r>
              <a:rPr sz="1050" b="1" i="0">
                <a:solidFill>
                  <a:srgbClr val="0391F2"/>
                </a:solidFill>
              </a:rPr>
              <a:t>01</a:t>
            </a:r>
          </a:p>
        </p:txBody>
      </p:sp>
      <p:sp>
        <p:nvSpPr>
          <p:cNvPr id="13" name="Ask 1"/>
          <p:cNvSpPr txBox="1"/>
          <p:nvPr/>
        </p:nvSpPr>
        <p:spPr>
          <a:xfrm>
            <a:off x="2743200" y="1911095"/>
            <a:ext cx="4434840" cy="475488"/>
          </a:xfrm>
          <a:prstGeom prst="rect">
            <a:avLst/>
          </a:prstGeom>
          <a:noFill/>
        </p:spPr>
        <p:txBody>
          <a:bodyPr wrap="square" lIns="0" tIns="0" rIns="0" bIns="0" anchor="ctr">
            <a:spAutoFit/>
          </a:bodyPr>
          <a:lstStyle/>
          <a:p>
            <a:pPr>
              <a:spcAft>
                <a:spcPts val="0"/>
              </a:spcAft>
            </a:pPr>
            <a:r>
              <a:rPr sz="1150" b="0" i="1">
                <a:solidFill>
                  <a:srgbClr val="040E4B"/>
                </a:solidFill>
              </a:rPr>
              <a:t>“Give us one shared approach everyone uses to describe how we sell and deliver work.”</a:t>
            </a:r>
          </a:p>
        </p:txBody>
      </p:sp>
      <p:cxnSp>
        <p:nvCxnSpPr>
          <p:cNvPr id="15" name="Row rule"/>
          <p:cNvCxnSpPr/>
          <p:nvPr/>
        </p:nvCxnSpPr>
        <p:spPr>
          <a:xfrm>
            <a:off x="530352" y="242316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16" name="Stream number"/>
          <p:cNvSpPr txBox="1"/>
          <p:nvPr/>
        </p:nvSpPr>
        <p:spPr>
          <a:xfrm>
            <a:off x="530352" y="2423160"/>
            <a:ext cx="640080" cy="475488"/>
          </a:xfrm>
          <a:prstGeom prst="rect">
            <a:avLst/>
          </a:prstGeom>
          <a:noFill/>
        </p:spPr>
        <p:txBody>
          <a:bodyPr wrap="square" lIns="0" tIns="0" rIns="0" bIns="0" anchor="ctr">
            <a:spAutoFit/>
          </a:bodyPr>
          <a:lstStyle/>
          <a:p>
            <a:pPr>
              <a:spcAft>
                <a:spcPts val="0"/>
              </a:spcAft>
            </a:pPr>
            <a:r>
              <a:rPr sz="2200" b="1" i="0">
                <a:solidFill>
                  <a:srgbClr val="0391F2"/>
                </a:solidFill>
              </a:rPr>
              <a:t>02</a:t>
            </a:r>
          </a:p>
        </p:txBody>
      </p:sp>
      <p:sp>
        <p:nvSpPr>
          <p:cNvPr id="17" name="Stream name"/>
          <p:cNvSpPr txBox="1"/>
          <p:nvPr/>
        </p:nvSpPr>
        <p:spPr>
          <a:xfrm>
            <a:off x="1097280" y="2423160"/>
            <a:ext cx="1280160" cy="475488"/>
          </a:xfrm>
          <a:prstGeom prst="rect">
            <a:avLst/>
          </a:prstGeom>
          <a:noFill/>
        </p:spPr>
        <p:txBody>
          <a:bodyPr wrap="square" lIns="0" tIns="0" rIns="0" bIns="0" anchor="ctr">
            <a:spAutoFit/>
          </a:bodyPr>
          <a:lstStyle/>
          <a:p>
            <a:pPr>
              <a:spcAft>
                <a:spcPts val="0"/>
              </a:spcAft>
            </a:pPr>
            <a:r>
              <a:rPr sz="1500" b="1" i="0">
                <a:solidFill>
                  <a:srgbClr val="040E4B"/>
                </a:solidFill>
              </a:rPr>
              <a:t>Own</a:t>
            </a:r>
          </a:p>
        </p:txBody>
      </p:sp>
      <p:sp>
        <p:nvSpPr>
          <p:cNvPr id="20" name="Column 3"/>
          <p:cNvSpPr txBox="1"/>
          <p:nvPr/>
        </p:nvSpPr>
        <p:spPr>
          <a:xfrm>
            <a:off x="7315200" y="2423160"/>
            <a:ext cx="4343400" cy="475488"/>
          </a:xfrm>
          <a:prstGeom prst="rect">
            <a:avLst/>
          </a:prstGeom>
          <a:noFill/>
        </p:spPr>
        <p:txBody>
          <a:bodyPr wrap="square" lIns="0" tIns="0" rIns="0" bIns="0" anchor="ctr">
            <a:spAutoFit/>
          </a:bodyPr>
          <a:lstStyle/>
          <a:p>
            <a:pPr>
              <a:spcAft>
                <a:spcPts val="0"/>
              </a:spcAft>
            </a:pPr>
            <a:r>
              <a:rPr sz="1100" b="1" i="0">
                <a:solidFill>
                  <a:srgbClr val="040E4B"/>
                </a:solidFill>
              </a:rPr>
              <a:t>Accountability Framework</a:t>
            </a:r>
            <a:r>
              <a:rPr sz="1100" b="0" i="0">
                <a:solidFill>
                  <a:srgbClr val="040E4B"/>
                </a:solidFill>
              </a:rPr>
              <a:t> (Accountability Clarified, Essential Roles, Executive Sponsorship)</a:t>
            </a:r>
          </a:p>
        </p:txBody>
      </p:sp>
      <p:sp>
        <p:nvSpPr>
          <p:cNvPr id="18" name="Ask 2 number"/>
          <p:cNvSpPr txBox="1"/>
          <p:nvPr/>
        </p:nvSpPr>
        <p:spPr>
          <a:xfrm>
            <a:off x="2331720" y="2459736"/>
            <a:ext cx="411480" cy="402336"/>
          </a:xfrm>
          <a:prstGeom prst="rect">
            <a:avLst/>
          </a:prstGeom>
          <a:noFill/>
        </p:spPr>
        <p:txBody>
          <a:bodyPr wrap="square" lIns="0" tIns="0" rIns="0" bIns="0" anchor="ctr">
            <a:spAutoFit/>
          </a:bodyPr>
          <a:lstStyle/>
          <a:p>
            <a:pPr>
              <a:spcAft>
                <a:spcPts val="0"/>
              </a:spcAft>
            </a:pPr>
            <a:r>
              <a:rPr sz="1050" b="1" i="0">
                <a:solidFill>
                  <a:srgbClr val="0391F2"/>
                </a:solidFill>
              </a:rPr>
              <a:t>02</a:t>
            </a:r>
          </a:p>
        </p:txBody>
      </p:sp>
      <p:sp>
        <p:nvSpPr>
          <p:cNvPr id="19" name="Ask 2"/>
          <p:cNvSpPr txBox="1"/>
          <p:nvPr/>
        </p:nvSpPr>
        <p:spPr>
          <a:xfrm>
            <a:off x="2743200" y="2459736"/>
            <a:ext cx="4434840" cy="402336"/>
          </a:xfrm>
          <a:prstGeom prst="rect">
            <a:avLst/>
          </a:prstGeom>
          <a:noFill/>
        </p:spPr>
        <p:txBody>
          <a:bodyPr wrap="square" lIns="0" tIns="0" rIns="0" bIns="0" anchor="ctr">
            <a:spAutoFit/>
          </a:bodyPr>
          <a:lstStyle/>
          <a:p>
            <a:pPr>
              <a:spcAft>
                <a:spcPts val="0"/>
              </a:spcAft>
            </a:pPr>
            <a:r>
              <a:rPr sz="1150" b="0" i="1">
                <a:solidFill>
                  <a:srgbClr val="040E4B"/>
                </a:solidFill>
              </a:rPr>
              <a:t>“Define who owns what on every account.”</a:t>
            </a:r>
          </a:p>
        </p:txBody>
      </p:sp>
      <p:cxnSp>
        <p:nvCxnSpPr>
          <p:cNvPr id="21" name="Row rule"/>
          <p:cNvCxnSpPr/>
          <p:nvPr/>
        </p:nvCxnSpPr>
        <p:spPr>
          <a:xfrm>
            <a:off x="530352" y="2898648"/>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2" name="Stream number"/>
          <p:cNvSpPr txBox="1"/>
          <p:nvPr/>
        </p:nvSpPr>
        <p:spPr>
          <a:xfrm>
            <a:off x="530352" y="2898648"/>
            <a:ext cx="640080" cy="1115568"/>
          </a:xfrm>
          <a:prstGeom prst="rect">
            <a:avLst/>
          </a:prstGeom>
          <a:noFill/>
        </p:spPr>
        <p:txBody>
          <a:bodyPr wrap="square" lIns="0" tIns="0" rIns="0" bIns="0" anchor="ctr">
            <a:spAutoFit/>
          </a:bodyPr>
          <a:lstStyle/>
          <a:p>
            <a:pPr>
              <a:spcAft>
                <a:spcPts val="0"/>
              </a:spcAft>
            </a:pPr>
            <a:r>
              <a:rPr sz="2200" b="1" i="0">
                <a:solidFill>
                  <a:srgbClr val="0391F2"/>
                </a:solidFill>
              </a:rPr>
              <a:t>03</a:t>
            </a:r>
          </a:p>
        </p:txBody>
      </p:sp>
      <p:sp>
        <p:nvSpPr>
          <p:cNvPr id="23" name="Stream name"/>
          <p:cNvSpPr txBox="1"/>
          <p:nvPr/>
        </p:nvSpPr>
        <p:spPr>
          <a:xfrm>
            <a:off x="1097280" y="2898648"/>
            <a:ext cx="1280160" cy="1115568"/>
          </a:xfrm>
          <a:prstGeom prst="rect">
            <a:avLst/>
          </a:prstGeom>
          <a:noFill/>
        </p:spPr>
        <p:txBody>
          <a:bodyPr wrap="square" lIns="0" tIns="0" rIns="0" bIns="0" anchor="ctr">
            <a:spAutoFit/>
          </a:bodyPr>
          <a:lstStyle/>
          <a:p>
            <a:pPr>
              <a:spcAft>
                <a:spcPts val="0"/>
              </a:spcAft>
            </a:pPr>
            <a:r>
              <a:rPr sz="1500" b="1" i="0">
                <a:solidFill>
                  <a:srgbClr val="040E4B"/>
                </a:solidFill>
              </a:rPr>
              <a:t>Sell</a:t>
            </a:r>
          </a:p>
        </p:txBody>
      </p:sp>
      <p:sp>
        <p:nvSpPr>
          <p:cNvPr id="28" name="Column 3"/>
          <p:cNvSpPr txBox="1"/>
          <p:nvPr/>
        </p:nvSpPr>
        <p:spPr>
          <a:xfrm>
            <a:off x="7315200" y="2898648"/>
            <a:ext cx="4343400" cy="1115568"/>
          </a:xfrm>
          <a:prstGeom prst="rect">
            <a:avLst/>
          </a:prstGeom>
          <a:noFill/>
        </p:spPr>
        <p:txBody>
          <a:bodyPr wrap="square" lIns="0" tIns="0" rIns="0" bIns="0" anchor="ctr">
            <a:spAutoFit/>
          </a:bodyPr>
          <a:lstStyle/>
          <a:p>
            <a:pPr>
              <a:spcAft>
                <a:spcPts val="0"/>
              </a:spcAft>
            </a:pPr>
            <a:r>
              <a:rPr sz="1100" b="1" i="0">
                <a:solidFill>
                  <a:srgbClr val="040E4B"/>
                </a:solidFill>
              </a:rPr>
              <a:t>Deal-to-Delivery Playbook</a:t>
            </a:r>
            <a:r>
              <a:rPr sz="1100" b="0" i="0">
                <a:solidFill>
                  <a:srgbClr val="040E4B"/>
                </a:solidFill>
              </a:rPr>
              <a:t> (Contracts, Estimation, Pricing)  ·  </a:t>
            </a:r>
            <a:r>
              <a:rPr sz="1100" b="1" i="0">
                <a:solidFill>
                  <a:srgbClr val="040E4B"/>
                </a:solidFill>
              </a:rPr>
              <a:t>Intake Updates</a:t>
            </a:r>
            <a:r>
              <a:rPr sz="1100" b="0" i="0">
                <a:solidFill>
                  <a:srgbClr val="040E4B"/>
                </a:solidFill>
              </a:rPr>
              <a:t>  ·  </a:t>
            </a:r>
            <a:r>
              <a:rPr sz="1100" b="1" i="0">
                <a:solidFill>
                  <a:srgbClr val="040E4B"/>
                </a:solidFill>
              </a:rPr>
              <a:t>Earlier delivery and talent involvement</a:t>
            </a:r>
            <a:r>
              <a:rPr sz="1100" b="0" i="0">
                <a:solidFill>
                  <a:srgbClr val="040E4B"/>
                </a:solidFill>
              </a:rPr>
              <a:t>  ·  </a:t>
            </a:r>
            <a:r>
              <a:rPr sz="1100" b="1" i="0">
                <a:solidFill>
                  <a:srgbClr val="040E4B"/>
                </a:solidFill>
              </a:rPr>
              <a:t>Ops Transformation</a:t>
            </a:r>
            <a:r>
              <a:rPr sz="1100" b="0" i="0">
                <a:solidFill>
                  <a:srgbClr val="040E4B"/>
                </a:solidFill>
              </a:rPr>
              <a:t> (scoping and staffing)  ·  Co-creation method: no project yet</a:t>
            </a:r>
          </a:p>
        </p:txBody>
      </p:sp>
      <p:sp>
        <p:nvSpPr>
          <p:cNvPr id="24" name="Ask 3 number"/>
          <p:cNvSpPr txBox="1"/>
          <p:nvPr/>
        </p:nvSpPr>
        <p:spPr>
          <a:xfrm>
            <a:off x="2331720" y="2935224"/>
            <a:ext cx="411480" cy="347471"/>
          </a:xfrm>
          <a:prstGeom prst="rect">
            <a:avLst/>
          </a:prstGeom>
          <a:noFill/>
        </p:spPr>
        <p:txBody>
          <a:bodyPr wrap="square" lIns="0" tIns="0" rIns="0" bIns="0" anchor="ctr">
            <a:spAutoFit/>
          </a:bodyPr>
          <a:lstStyle/>
          <a:p>
            <a:pPr>
              <a:spcAft>
                <a:spcPts val="0"/>
              </a:spcAft>
            </a:pPr>
            <a:r>
              <a:rPr sz="1050" b="1" i="0">
                <a:solidFill>
                  <a:srgbClr val="0391F2"/>
                </a:solidFill>
              </a:rPr>
              <a:t>03</a:t>
            </a:r>
          </a:p>
        </p:txBody>
      </p:sp>
      <p:sp>
        <p:nvSpPr>
          <p:cNvPr id="25" name="Ask 3"/>
          <p:cNvSpPr txBox="1"/>
          <p:nvPr/>
        </p:nvSpPr>
        <p:spPr>
          <a:xfrm>
            <a:off x="2743200" y="2935224"/>
            <a:ext cx="4434840" cy="347471"/>
          </a:xfrm>
          <a:prstGeom prst="rect">
            <a:avLst/>
          </a:prstGeom>
          <a:noFill/>
        </p:spPr>
        <p:txBody>
          <a:bodyPr wrap="square" lIns="0" tIns="0" rIns="0" bIns="0" anchor="ctr">
            <a:spAutoFit/>
          </a:bodyPr>
          <a:lstStyle/>
          <a:p>
            <a:pPr>
              <a:spcAft>
                <a:spcPts val="0"/>
              </a:spcAft>
            </a:pPr>
            <a:r>
              <a:rPr sz="1150" b="0" i="1">
                <a:solidFill>
                  <a:srgbClr val="040E4B"/>
                </a:solidFill>
              </a:rPr>
              <a:t>“Give us a named way to co-create with clients, and test ideas with the buyer early.”</a:t>
            </a:r>
          </a:p>
        </p:txBody>
      </p:sp>
      <p:sp>
        <p:nvSpPr>
          <p:cNvPr id="26" name="Ask 4 number"/>
          <p:cNvSpPr txBox="1"/>
          <p:nvPr/>
        </p:nvSpPr>
        <p:spPr>
          <a:xfrm>
            <a:off x="2331720" y="3282696"/>
            <a:ext cx="411480" cy="347471"/>
          </a:xfrm>
          <a:prstGeom prst="rect">
            <a:avLst/>
          </a:prstGeom>
          <a:noFill/>
        </p:spPr>
        <p:txBody>
          <a:bodyPr wrap="square" lIns="0" tIns="0" rIns="0" bIns="0" anchor="ctr">
            <a:spAutoFit/>
          </a:bodyPr>
          <a:lstStyle/>
          <a:p>
            <a:pPr>
              <a:spcAft>
                <a:spcPts val="0"/>
              </a:spcAft>
            </a:pPr>
            <a:r>
              <a:rPr sz="1050" b="1" i="0">
                <a:solidFill>
                  <a:srgbClr val="0391F2"/>
                </a:solidFill>
              </a:rPr>
              <a:t>04</a:t>
            </a:r>
          </a:p>
        </p:txBody>
      </p:sp>
      <p:sp>
        <p:nvSpPr>
          <p:cNvPr id="27" name="Ask 4"/>
          <p:cNvSpPr txBox="1"/>
          <p:nvPr/>
        </p:nvSpPr>
        <p:spPr>
          <a:xfrm>
            <a:off x="2743200" y="3282696"/>
            <a:ext cx="4434840" cy="347471"/>
          </a:xfrm>
          <a:prstGeom prst="rect">
            <a:avLst/>
          </a:prstGeom>
          <a:noFill/>
        </p:spPr>
        <p:txBody>
          <a:bodyPr wrap="square" lIns="0" tIns="0" rIns="0" bIns="0" anchor="ctr">
            <a:spAutoFit/>
          </a:bodyPr>
          <a:lstStyle/>
          <a:p>
            <a:pPr>
              <a:spcAft>
                <a:spcPts val="0"/>
              </a:spcAft>
            </a:pPr>
            <a:r>
              <a:rPr sz="1150" b="0" i="1">
                <a:solidFill>
                  <a:srgbClr val="040E4B"/>
                </a:solidFill>
              </a:rPr>
              <a:t>“Give us one clear way to take in, estimate, and respond to opportunities.”</a:t>
            </a:r>
          </a:p>
        </p:txBody>
      </p:sp>
      <p:sp>
        <p:nvSpPr>
          <p:cNvPr id="54" name="Ask 5 number"/>
          <p:cNvSpPr txBox="1"/>
          <p:nvPr/>
        </p:nvSpPr>
        <p:spPr>
          <a:xfrm>
            <a:off x="2331720" y="3630168"/>
            <a:ext cx="411480" cy="347471"/>
          </a:xfrm>
          <a:prstGeom prst="rect">
            <a:avLst/>
          </a:prstGeom>
          <a:noFill/>
        </p:spPr>
        <p:txBody>
          <a:bodyPr wrap="square" lIns="0" tIns="0" rIns="0" bIns="0" anchor="ctr">
            <a:spAutoFit/>
          </a:bodyPr>
          <a:lstStyle/>
          <a:p>
            <a:pPr>
              <a:spcAft>
                <a:spcPts val="0"/>
              </a:spcAft>
            </a:pPr>
            <a:r>
              <a:rPr sz="1050" b="1" i="0">
                <a:solidFill>
                  <a:srgbClr val="0391F2"/>
                </a:solidFill>
              </a:rPr>
              <a:t>05</a:t>
            </a:r>
          </a:p>
        </p:txBody>
      </p:sp>
      <p:sp>
        <p:nvSpPr>
          <p:cNvPr id="55" name="Ask 5"/>
          <p:cNvSpPr txBox="1"/>
          <p:nvPr/>
        </p:nvSpPr>
        <p:spPr>
          <a:xfrm>
            <a:off x="2743200" y="3630168"/>
            <a:ext cx="4434840" cy="347471"/>
          </a:xfrm>
          <a:prstGeom prst="rect">
            <a:avLst/>
          </a:prstGeom>
          <a:noFill/>
        </p:spPr>
        <p:txBody>
          <a:bodyPr wrap="square" lIns="0" tIns="0" rIns="0" bIns="0" anchor="ctr">
            <a:spAutoFit/>
          </a:bodyPr>
          <a:lstStyle/>
          <a:p>
            <a:pPr>
              <a:spcAft>
                <a:spcPts val="0"/>
              </a:spcAft>
            </a:pPr>
            <a:r>
              <a:rPr sz="1150" b="0" i="1">
                <a:solidFill>
                  <a:srgbClr val="040E4B"/>
                </a:solidFill>
              </a:rPr>
              <a:t>“Make sure what we contract is what we can deliver.”</a:t>
            </a:r>
          </a:p>
        </p:txBody>
      </p:sp>
      <p:cxnSp>
        <p:nvCxnSpPr>
          <p:cNvPr id="29" name="Row rule"/>
          <p:cNvCxnSpPr/>
          <p:nvPr/>
        </p:nvCxnSpPr>
        <p:spPr>
          <a:xfrm>
            <a:off x="530352" y="4014215"/>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30" name="Stream number"/>
          <p:cNvSpPr txBox="1"/>
          <p:nvPr/>
        </p:nvSpPr>
        <p:spPr>
          <a:xfrm>
            <a:off x="530352" y="4014215"/>
            <a:ext cx="640080" cy="475488"/>
          </a:xfrm>
          <a:prstGeom prst="rect">
            <a:avLst/>
          </a:prstGeom>
          <a:noFill/>
        </p:spPr>
        <p:txBody>
          <a:bodyPr wrap="square" lIns="0" tIns="0" rIns="0" bIns="0" anchor="ctr">
            <a:spAutoFit/>
          </a:bodyPr>
          <a:lstStyle/>
          <a:p>
            <a:pPr>
              <a:spcAft>
                <a:spcPts val="0"/>
              </a:spcAft>
            </a:pPr>
            <a:r>
              <a:rPr sz="2200" b="1" i="0">
                <a:solidFill>
                  <a:srgbClr val="0391F2"/>
                </a:solidFill>
              </a:rPr>
              <a:t>04</a:t>
            </a:r>
          </a:p>
        </p:txBody>
      </p:sp>
      <p:sp>
        <p:nvSpPr>
          <p:cNvPr id="31" name="Stream name"/>
          <p:cNvSpPr txBox="1"/>
          <p:nvPr/>
        </p:nvSpPr>
        <p:spPr>
          <a:xfrm>
            <a:off x="1097280" y="4014215"/>
            <a:ext cx="1280160" cy="475488"/>
          </a:xfrm>
          <a:prstGeom prst="rect">
            <a:avLst/>
          </a:prstGeom>
          <a:noFill/>
        </p:spPr>
        <p:txBody>
          <a:bodyPr wrap="square" lIns="0" tIns="0" rIns="0" bIns="0" anchor="ctr">
            <a:spAutoFit/>
          </a:bodyPr>
          <a:lstStyle/>
          <a:p>
            <a:pPr>
              <a:spcAft>
                <a:spcPts val="0"/>
              </a:spcAft>
            </a:pPr>
            <a:r>
              <a:rPr sz="1500" b="1" i="0">
                <a:solidFill>
                  <a:srgbClr val="040E4B"/>
                </a:solidFill>
              </a:rPr>
              <a:t>Staff</a:t>
            </a:r>
          </a:p>
        </p:txBody>
      </p:sp>
      <p:sp>
        <p:nvSpPr>
          <p:cNvPr id="34" name="Column 3"/>
          <p:cNvSpPr txBox="1"/>
          <p:nvPr/>
        </p:nvSpPr>
        <p:spPr>
          <a:xfrm>
            <a:off x="7315200" y="4014215"/>
            <a:ext cx="4343400" cy="475488"/>
          </a:xfrm>
          <a:prstGeom prst="rect">
            <a:avLst/>
          </a:prstGeom>
          <a:noFill/>
        </p:spPr>
        <p:txBody>
          <a:bodyPr wrap="square" lIns="0" tIns="0" rIns="0" bIns="0" anchor="ctr">
            <a:spAutoFit/>
          </a:bodyPr>
          <a:lstStyle/>
          <a:p>
            <a:pPr>
              <a:spcAft>
                <a:spcPts val="0"/>
              </a:spcAft>
            </a:pPr>
            <a:r>
              <a:rPr sz="1100" b="1" i="0">
                <a:solidFill>
                  <a:srgbClr val="040E4B"/>
                </a:solidFill>
              </a:rPr>
              <a:t>Capacity Planning &amp; Romulus</a:t>
            </a:r>
            <a:r>
              <a:rPr sz="1100" b="0" i="0">
                <a:solidFill>
                  <a:srgbClr val="040E4B"/>
                </a:solidFill>
              </a:rPr>
              <a:t>  ·  </a:t>
            </a:r>
            <a:r>
              <a:rPr sz="1100" b="1" i="0">
                <a:solidFill>
                  <a:srgbClr val="040E4B"/>
                </a:solidFill>
              </a:rPr>
              <a:t>Ops Transformation</a:t>
            </a:r>
            <a:r>
              <a:rPr sz="1100" b="0" i="0">
                <a:solidFill>
                  <a:srgbClr val="040E4B"/>
                </a:solidFill>
              </a:rPr>
              <a:t> (staffing plan)</a:t>
            </a:r>
          </a:p>
        </p:txBody>
      </p:sp>
      <p:sp>
        <p:nvSpPr>
          <p:cNvPr id="32" name="Ask 6 number"/>
          <p:cNvSpPr txBox="1"/>
          <p:nvPr/>
        </p:nvSpPr>
        <p:spPr>
          <a:xfrm>
            <a:off x="2331720" y="4050791"/>
            <a:ext cx="411480" cy="402336"/>
          </a:xfrm>
          <a:prstGeom prst="rect">
            <a:avLst/>
          </a:prstGeom>
          <a:noFill/>
        </p:spPr>
        <p:txBody>
          <a:bodyPr wrap="square" lIns="0" tIns="0" rIns="0" bIns="0" anchor="ctr">
            <a:spAutoFit/>
          </a:bodyPr>
          <a:lstStyle/>
          <a:p>
            <a:pPr>
              <a:spcAft>
                <a:spcPts val="0"/>
              </a:spcAft>
            </a:pPr>
            <a:r>
              <a:rPr sz="1050" b="1" i="0">
                <a:solidFill>
                  <a:srgbClr val="0391F2"/>
                </a:solidFill>
              </a:rPr>
              <a:t>06</a:t>
            </a:r>
          </a:p>
        </p:txBody>
      </p:sp>
      <p:sp>
        <p:nvSpPr>
          <p:cNvPr id="33" name="Ask 6"/>
          <p:cNvSpPr txBox="1"/>
          <p:nvPr/>
        </p:nvSpPr>
        <p:spPr>
          <a:xfrm>
            <a:off x="2743200" y="4050791"/>
            <a:ext cx="4434840" cy="402336"/>
          </a:xfrm>
          <a:prstGeom prst="rect">
            <a:avLst/>
          </a:prstGeom>
          <a:noFill/>
        </p:spPr>
        <p:txBody>
          <a:bodyPr wrap="square" lIns="0" tIns="0" rIns="0" bIns="0" anchor="ctr">
            <a:spAutoFit/>
          </a:bodyPr>
          <a:lstStyle/>
          <a:p>
            <a:pPr>
              <a:spcAft>
                <a:spcPts val="0"/>
              </a:spcAft>
            </a:pPr>
            <a:r>
              <a:rPr sz="1150" b="0" i="1">
                <a:solidFill>
                  <a:srgbClr val="040E4B"/>
                </a:solidFill>
              </a:rPr>
              <a:t>“Stop selling and staffing work in ways that set teams up to fail.”</a:t>
            </a:r>
          </a:p>
        </p:txBody>
      </p:sp>
      <p:cxnSp>
        <p:nvCxnSpPr>
          <p:cNvPr id="35" name="Row rule"/>
          <p:cNvCxnSpPr/>
          <p:nvPr/>
        </p:nvCxnSpPr>
        <p:spPr>
          <a:xfrm>
            <a:off x="530352" y="4489704"/>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36" name="Stream number"/>
          <p:cNvSpPr txBox="1"/>
          <p:nvPr/>
        </p:nvSpPr>
        <p:spPr>
          <a:xfrm>
            <a:off x="530352" y="4489704"/>
            <a:ext cx="640080" cy="768096"/>
          </a:xfrm>
          <a:prstGeom prst="rect">
            <a:avLst/>
          </a:prstGeom>
          <a:noFill/>
        </p:spPr>
        <p:txBody>
          <a:bodyPr wrap="square" lIns="0" tIns="0" rIns="0" bIns="0" anchor="ctr">
            <a:spAutoFit/>
          </a:bodyPr>
          <a:lstStyle/>
          <a:p>
            <a:pPr>
              <a:spcAft>
                <a:spcPts val="0"/>
              </a:spcAft>
            </a:pPr>
            <a:r>
              <a:rPr sz="2200" b="1" i="0">
                <a:solidFill>
                  <a:srgbClr val="0391F2"/>
                </a:solidFill>
              </a:rPr>
              <a:t>05</a:t>
            </a:r>
          </a:p>
        </p:txBody>
      </p:sp>
      <p:sp>
        <p:nvSpPr>
          <p:cNvPr id="37" name="Stream name"/>
          <p:cNvSpPr txBox="1"/>
          <p:nvPr/>
        </p:nvSpPr>
        <p:spPr>
          <a:xfrm>
            <a:off x="1097280" y="4489704"/>
            <a:ext cx="1280160" cy="768096"/>
          </a:xfrm>
          <a:prstGeom prst="rect">
            <a:avLst/>
          </a:prstGeom>
          <a:noFill/>
        </p:spPr>
        <p:txBody>
          <a:bodyPr wrap="square" lIns="0" tIns="0" rIns="0" bIns="0" anchor="ctr">
            <a:spAutoFit/>
          </a:bodyPr>
          <a:lstStyle/>
          <a:p>
            <a:pPr>
              <a:spcAft>
                <a:spcPts val="0"/>
              </a:spcAft>
            </a:pPr>
            <a:r>
              <a:rPr sz="1500" b="1" i="0">
                <a:solidFill>
                  <a:srgbClr val="040E4B"/>
                </a:solidFill>
              </a:rPr>
              <a:t>Deliver</a:t>
            </a:r>
          </a:p>
        </p:txBody>
      </p:sp>
      <p:sp>
        <p:nvSpPr>
          <p:cNvPr id="42" name="Column 3"/>
          <p:cNvSpPr txBox="1"/>
          <p:nvPr/>
        </p:nvSpPr>
        <p:spPr>
          <a:xfrm>
            <a:off x="7315200" y="4489704"/>
            <a:ext cx="4343400" cy="768096"/>
          </a:xfrm>
          <a:prstGeom prst="rect">
            <a:avLst/>
          </a:prstGeom>
          <a:noFill/>
        </p:spPr>
        <p:txBody>
          <a:bodyPr wrap="square" lIns="0" tIns="0" rIns="0" bIns="0" anchor="ctr">
            <a:spAutoFit/>
          </a:bodyPr>
          <a:lstStyle/>
          <a:p>
            <a:pPr>
              <a:spcAft>
                <a:spcPts val="0"/>
              </a:spcAft>
            </a:pPr>
            <a:r>
              <a:rPr sz="1100" b="1" i="0">
                <a:solidFill>
                  <a:srgbClr val="040E4B"/>
                </a:solidFill>
              </a:rPr>
              <a:t>Deal-to-Delivery Playbook</a:t>
            </a:r>
            <a:r>
              <a:rPr sz="1100" b="0" i="0">
                <a:solidFill>
                  <a:srgbClr val="040E4B"/>
                </a:solidFill>
              </a:rPr>
              <a:t> (Methodology, AI Role)  ·  </a:t>
            </a:r>
            <a:r>
              <a:rPr sz="1100" b="1" i="0">
                <a:solidFill>
                  <a:srgbClr val="040E4B"/>
                </a:solidFill>
              </a:rPr>
              <a:t>Accountability Framework</a:t>
            </a:r>
            <a:r>
              <a:rPr sz="1100" b="0" i="0">
                <a:solidFill>
                  <a:srgbClr val="040E4B"/>
                </a:solidFill>
              </a:rPr>
              <a:t> (essential roles, client service, review metric)</a:t>
            </a:r>
          </a:p>
        </p:txBody>
      </p:sp>
      <p:sp>
        <p:nvSpPr>
          <p:cNvPr id="38" name="Ask 7 number"/>
          <p:cNvSpPr txBox="1"/>
          <p:nvPr/>
        </p:nvSpPr>
        <p:spPr>
          <a:xfrm>
            <a:off x="2331720" y="4526280"/>
            <a:ext cx="411480" cy="347472"/>
          </a:xfrm>
          <a:prstGeom prst="rect">
            <a:avLst/>
          </a:prstGeom>
          <a:noFill/>
        </p:spPr>
        <p:txBody>
          <a:bodyPr wrap="square" lIns="0" tIns="0" rIns="0" bIns="0" anchor="ctr">
            <a:spAutoFit/>
          </a:bodyPr>
          <a:lstStyle/>
          <a:p>
            <a:pPr>
              <a:spcAft>
                <a:spcPts val="0"/>
              </a:spcAft>
            </a:pPr>
            <a:r>
              <a:rPr sz="1050" b="1" i="0">
                <a:solidFill>
                  <a:srgbClr val="0391F2"/>
                </a:solidFill>
              </a:rPr>
              <a:t>07</a:t>
            </a:r>
          </a:p>
        </p:txBody>
      </p:sp>
      <p:sp>
        <p:nvSpPr>
          <p:cNvPr id="39" name="Ask 7"/>
          <p:cNvSpPr txBox="1"/>
          <p:nvPr/>
        </p:nvSpPr>
        <p:spPr>
          <a:xfrm>
            <a:off x="2743200" y="4526280"/>
            <a:ext cx="4434840" cy="347472"/>
          </a:xfrm>
          <a:prstGeom prst="rect">
            <a:avLst/>
          </a:prstGeom>
          <a:noFill/>
        </p:spPr>
        <p:txBody>
          <a:bodyPr wrap="square" lIns="0" tIns="0" rIns="0" bIns="0" anchor="ctr">
            <a:spAutoFit/>
          </a:bodyPr>
          <a:lstStyle/>
          <a:p>
            <a:pPr>
              <a:spcAft>
                <a:spcPts val="0"/>
              </a:spcAft>
            </a:pPr>
            <a:r>
              <a:rPr sz="1150" b="0" i="1">
                <a:solidFill>
                  <a:srgbClr val="040E4B"/>
                </a:solidFill>
              </a:rPr>
              <a:t>“Modernize how we deliver so we can compete.”</a:t>
            </a:r>
          </a:p>
        </p:txBody>
      </p:sp>
      <p:sp>
        <p:nvSpPr>
          <p:cNvPr id="40" name="Ask 8 number"/>
          <p:cNvSpPr txBox="1"/>
          <p:nvPr/>
        </p:nvSpPr>
        <p:spPr>
          <a:xfrm>
            <a:off x="2331720" y="4873752"/>
            <a:ext cx="411480" cy="347472"/>
          </a:xfrm>
          <a:prstGeom prst="rect">
            <a:avLst/>
          </a:prstGeom>
          <a:noFill/>
        </p:spPr>
        <p:txBody>
          <a:bodyPr wrap="square" lIns="0" tIns="0" rIns="0" bIns="0" anchor="ctr">
            <a:spAutoFit/>
          </a:bodyPr>
          <a:lstStyle/>
          <a:p>
            <a:pPr>
              <a:spcAft>
                <a:spcPts val="0"/>
              </a:spcAft>
            </a:pPr>
            <a:r>
              <a:rPr sz="1050" b="1" i="0">
                <a:solidFill>
                  <a:srgbClr val="0391F2"/>
                </a:solidFill>
              </a:rPr>
              <a:t>08</a:t>
            </a:r>
          </a:p>
        </p:txBody>
      </p:sp>
      <p:sp>
        <p:nvSpPr>
          <p:cNvPr id="41" name="Ask 8"/>
          <p:cNvSpPr txBox="1"/>
          <p:nvPr/>
        </p:nvSpPr>
        <p:spPr>
          <a:xfrm>
            <a:off x="2743200" y="4873752"/>
            <a:ext cx="4434840" cy="347472"/>
          </a:xfrm>
          <a:prstGeom prst="rect">
            <a:avLst/>
          </a:prstGeom>
          <a:noFill/>
        </p:spPr>
        <p:txBody>
          <a:bodyPr wrap="square" lIns="0" tIns="0" rIns="0" bIns="0" anchor="ctr">
            <a:spAutoFit/>
          </a:bodyPr>
          <a:lstStyle/>
          <a:p>
            <a:pPr>
              <a:spcAft>
                <a:spcPts val="0"/>
              </a:spcAft>
            </a:pPr>
            <a:r>
              <a:rPr sz="1150" b="0" i="1">
                <a:solidFill>
                  <a:srgbClr val="040E4B"/>
                </a:solidFill>
              </a:rPr>
              <a:t>“Help us grow accounts, not just deliver them.”</a:t>
            </a:r>
          </a:p>
        </p:txBody>
      </p:sp>
      <p:cxnSp>
        <p:nvCxnSpPr>
          <p:cNvPr id="43" name="Row rule"/>
          <p:cNvCxnSpPr/>
          <p:nvPr/>
        </p:nvCxnSpPr>
        <p:spPr>
          <a:xfrm>
            <a:off x="530352" y="525780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44" name="Stream number"/>
          <p:cNvSpPr txBox="1"/>
          <p:nvPr/>
        </p:nvSpPr>
        <p:spPr>
          <a:xfrm>
            <a:off x="530352" y="5257800"/>
            <a:ext cx="640080" cy="1005840"/>
          </a:xfrm>
          <a:prstGeom prst="rect">
            <a:avLst/>
          </a:prstGeom>
          <a:noFill/>
        </p:spPr>
        <p:txBody>
          <a:bodyPr wrap="square" lIns="0" tIns="0" rIns="0" bIns="0" anchor="ctr">
            <a:spAutoFit/>
          </a:bodyPr>
          <a:lstStyle/>
          <a:p>
            <a:pPr>
              <a:spcAft>
                <a:spcPts val="0"/>
              </a:spcAft>
            </a:pPr>
            <a:r>
              <a:rPr sz="2200" b="1" i="0">
                <a:solidFill>
                  <a:srgbClr val="0391F2"/>
                </a:solidFill>
              </a:rPr>
              <a:t>06</a:t>
            </a:r>
          </a:p>
        </p:txBody>
      </p:sp>
      <p:sp>
        <p:nvSpPr>
          <p:cNvPr id="45" name="Stream name"/>
          <p:cNvSpPr txBox="1"/>
          <p:nvPr/>
        </p:nvSpPr>
        <p:spPr>
          <a:xfrm>
            <a:off x="1097280" y="5257800"/>
            <a:ext cx="1280160" cy="1005840"/>
          </a:xfrm>
          <a:prstGeom prst="rect">
            <a:avLst/>
          </a:prstGeom>
          <a:noFill/>
        </p:spPr>
        <p:txBody>
          <a:bodyPr wrap="square" lIns="0" tIns="0" rIns="0" bIns="0" anchor="ctr">
            <a:spAutoFit/>
          </a:bodyPr>
          <a:lstStyle/>
          <a:p>
            <a:pPr>
              <a:spcAft>
                <a:spcPts val="0"/>
              </a:spcAft>
            </a:pPr>
            <a:r>
              <a:rPr sz="1500" b="1" i="0">
                <a:solidFill>
                  <a:srgbClr val="040E4B"/>
                </a:solidFill>
              </a:rPr>
              <a:t>Watch</a:t>
            </a:r>
          </a:p>
        </p:txBody>
      </p:sp>
      <p:sp>
        <p:nvSpPr>
          <p:cNvPr id="52" name="Column 3"/>
          <p:cNvSpPr txBox="1"/>
          <p:nvPr/>
        </p:nvSpPr>
        <p:spPr>
          <a:xfrm>
            <a:off x="7315200" y="5257800"/>
            <a:ext cx="4343400" cy="1005840"/>
          </a:xfrm>
          <a:prstGeom prst="rect">
            <a:avLst/>
          </a:prstGeom>
          <a:noFill/>
        </p:spPr>
        <p:txBody>
          <a:bodyPr wrap="square" lIns="0" tIns="0" rIns="0" bIns="0" anchor="ctr">
            <a:spAutoFit/>
          </a:bodyPr>
          <a:lstStyle/>
          <a:p>
            <a:pPr>
              <a:spcAft>
                <a:spcPts val="0"/>
              </a:spcAft>
            </a:pPr>
            <a:r>
              <a:rPr sz="1100" b="1" i="0">
                <a:solidFill>
                  <a:srgbClr val="040E4B"/>
                </a:solidFill>
              </a:rPr>
              <a:t>Accountability Framework</a:t>
            </a:r>
            <a:r>
              <a:rPr sz="1100" b="0" i="0">
                <a:solidFill>
                  <a:srgbClr val="040E4B"/>
                </a:solidFill>
              </a:rPr>
              <a:t> (Regular Reviews, Delivery Excellence meetings)  ·  Later: </a:t>
            </a:r>
            <a:r>
              <a:rPr sz="1100" b="1" i="0">
                <a:solidFill>
                  <a:srgbClr val="040E4B"/>
                </a:solidFill>
              </a:rPr>
              <a:t>Leadership Dashboards</a:t>
            </a:r>
            <a:r>
              <a:rPr sz="1100" b="0" i="0">
                <a:solidFill>
                  <a:srgbClr val="040E4B"/>
                </a:solidFill>
              </a:rPr>
              <a:t>  ·  2027 revenue map: root cause not yet known</a:t>
            </a:r>
          </a:p>
        </p:txBody>
      </p:sp>
      <p:sp>
        <p:nvSpPr>
          <p:cNvPr id="46" name="Ask 9 number"/>
          <p:cNvSpPr txBox="1"/>
          <p:nvPr/>
        </p:nvSpPr>
        <p:spPr>
          <a:xfrm>
            <a:off x="2331720" y="5294376"/>
            <a:ext cx="411480" cy="310896"/>
          </a:xfrm>
          <a:prstGeom prst="rect">
            <a:avLst/>
          </a:prstGeom>
          <a:noFill/>
        </p:spPr>
        <p:txBody>
          <a:bodyPr wrap="square" lIns="0" tIns="0" rIns="0" bIns="0" anchor="ctr">
            <a:spAutoFit/>
          </a:bodyPr>
          <a:lstStyle/>
          <a:p>
            <a:pPr>
              <a:spcAft>
                <a:spcPts val="0"/>
              </a:spcAft>
            </a:pPr>
            <a:r>
              <a:rPr sz="1050" b="1" i="0">
                <a:solidFill>
                  <a:srgbClr val="0391F2"/>
                </a:solidFill>
              </a:rPr>
              <a:t>09</a:t>
            </a:r>
          </a:p>
        </p:txBody>
      </p:sp>
      <p:sp>
        <p:nvSpPr>
          <p:cNvPr id="47" name="Ask 9"/>
          <p:cNvSpPr txBox="1"/>
          <p:nvPr/>
        </p:nvSpPr>
        <p:spPr>
          <a:xfrm>
            <a:off x="2743200" y="5294376"/>
            <a:ext cx="4434840" cy="310896"/>
          </a:xfrm>
          <a:prstGeom prst="rect">
            <a:avLst/>
          </a:prstGeom>
          <a:noFill/>
        </p:spPr>
        <p:txBody>
          <a:bodyPr wrap="square" lIns="0" tIns="0" rIns="0" bIns="0" anchor="ctr">
            <a:spAutoFit/>
          </a:bodyPr>
          <a:lstStyle/>
          <a:p>
            <a:pPr>
              <a:spcAft>
                <a:spcPts val="0"/>
              </a:spcAft>
            </a:pPr>
            <a:r>
              <a:rPr sz="1150" b="0" i="1">
                <a:solidFill>
                  <a:srgbClr val="040E4B"/>
                </a:solidFill>
              </a:rPr>
              <a:t>“Show us delivery risk before clients feel it.”</a:t>
            </a:r>
          </a:p>
        </p:txBody>
      </p:sp>
      <p:sp>
        <p:nvSpPr>
          <p:cNvPr id="48" name="Ask 10 number"/>
          <p:cNvSpPr txBox="1"/>
          <p:nvPr/>
        </p:nvSpPr>
        <p:spPr>
          <a:xfrm>
            <a:off x="2331720" y="5605272"/>
            <a:ext cx="411480" cy="310896"/>
          </a:xfrm>
          <a:prstGeom prst="rect">
            <a:avLst/>
          </a:prstGeom>
          <a:noFill/>
        </p:spPr>
        <p:txBody>
          <a:bodyPr wrap="square" lIns="0" tIns="0" rIns="0" bIns="0" anchor="ctr">
            <a:spAutoFit/>
          </a:bodyPr>
          <a:lstStyle/>
          <a:p>
            <a:pPr>
              <a:spcAft>
                <a:spcPts val="0"/>
              </a:spcAft>
            </a:pPr>
            <a:r>
              <a:rPr sz="1050" b="1" i="0">
                <a:solidFill>
                  <a:srgbClr val="0391F2"/>
                </a:solidFill>
              </a:rPr>
              <a:t>10</a:t>
            </a:r>
          </a:p>
        </p:txBody>
      </p:sp>
      <p:sp>
        <p:nvSpPr>
          <p:cNvPr id="49" name="Ask 10"/>
          <p:cNvSpPr txBox="1"/>
          <p:nvPr/>
        </p:nvSpPr>
        <p:spPr>
          <a:xfrm>
            <a:off x="2743200" y="5605272"/>
            <a:ext cx="4434840" cy="310896"/>
          </a:xfrm>
          <a:prstGeom prst="rect">
            <a:avLst/>
          </a:prstGeom>
          <a:noFill/>
        </p:spPr>
        <p:txBody>
          <a:bodyPr wrap="square" lIns="0" tIns="0" rIns="0" bIns="0" anchor="ctr">
            <a:spAutoFit/>
          </a:bodyPr>
          <a:lstStyle/>
          <a:p>
            <a:pPr>
              <a:spcAft>
                <a:spcPts val="0"/>
              </a:spcAft>
            </a:pPr>
            <a:r>
              <a:rPr sz="1150" b="0" i="1">
                <a:solidFill>
                  <a:srgbClr val="040E4B"/>
                </a:solidFill>
              </a:rPr>
              <a:t>“Give us a regular rhythm for delivery and staffing decisions.”</a:t>
            </a:r>
          </a:p>
        </p:txBody>
      </p:sp>
      <p:sp>
        <p:nvSpPr>
          <p:cNvPr id="50" name="Ask 11 number"/>
          <p:cNvSpPr txBox="1"/>
          <p:nvPr/>
        </p:nvSpPr>
        <p:spPr>
          <a:xfrm>
            <a:off x="2331720" y="5916168"/>
            <a:ext cx="411480" cy="310896"/>
          </a:xfrm>
          <a:prstGeom prst="rect">
            <a:avLst/>
          </a:prstGeom>
          <a:noFill/>
        </p:spPr>
        <p:txBody>
          <a:bodyPr wrap="square" lIns="0" tIns="0" rIns="0" bIns="0" anchor="ctr">
            <a:spAutoFit/>
          </a:bodyPr>
          <a:lstStyle/>
          <a:p>
            <a:pPr>
              <a:spcAft>
                <a:spcPts val="0"/>
              </a:spcAft>
            </a:pPr>
            <a:r>
              <a:rPr sz="1050" b="1" i="0">
                <a:solidFill>
                  <a:srgbClr val="0391F2"/>
                </a:solidFill>
              </a:rPr>
              <a:t>11</a:t>
            </a:r>
          </a:p>
        </p:txBody>
      </p:sp>
      <p:sp>
        <p:nvSpPr>
          <p:cNvPr id="51" name="Ask 11"/>
          <p:cNvSpPr txBox="1"/>
          <p:nvPr/>
        </p:nvSpPr>
        <p:spPr>
          <a:xfrm>
            <a:off x="2743200" y="5916168"/>
            <a:ext cx="4434840" cy="310896"/>
          </a:xfrm>
          <a:prstGeom prst="rect">
            <a:avLst/>
          </a:prstGeom>
          <a:noFill/>
        </p:spPr>
        <p:txBody>
          <a:bodyPr wrap="square" lIns="0" tIns="0" rIns="0" bIns="0" anchor="ctr">
            <a:spAutoFit/>
          </a:bodyPr>
          <a:lstStyle/>
          <a:p>
            <a:pPr>
              <a:spcAft>
                <a:spcPts val="0"/>
              </a:spcAft>
            </a:pPr>
            <a:r>
              <a:rPr sz="1150" b="0" i="1">
                <a:solidFill>
                  <a:srgbClr val="040E4B"/>
                </a:solidFill>
              </a:rPr>
              <a:t>“Find out why the numbers do not add up.”</a:t>
            </a:r>
          </a:p>
        </p:txBody>
      </p:sp>
      <p:cxnSp>
        <p:nvCxnSpPr>
          <p:cNvPr id="53" name="Row rule"/>
          <p:cNvCxnSpPr/>
          <p:nvPr/>
        </p:nvCxnSpPr>
        <p:spPr>
          <a:xfrm>
            <a:off x="530352" y="62636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we define the work</a:t>
            </a:r>
          </a:p>
        </p:txBody>
      </p:sp>
      <p:sp>
        <p:nvSpPr>
          <p:cNvPr id="3" name="Text Placeholder 2"/>
          <p:cNvSpPr>
            <a:spLocks noGrp="1"/>
          </p:cNvSpPr>
          <p:nvPr>
            <p:ph type="body" sz="quarter" idx="15"/>
          </p:nvPr>
        </p:nvSpPr>
        <p:spPr/>
        <p:txBody>
          <a:bodyPr/>
          <a:lstStyle/>
          <a:p>
            <a:r>
              <a:t>STREAM 1 OF 6</a:t>
            </a:r>
          </a:p>
        </p:txBody>
      </p:sp>
      <p:sp>
        <p:nvSpPr>
          <p:cNvPr id="4" name="Stream description"/>
          <p:cNvSpPr txBox="1"/>
          <p:nvPr/>
        </p:nvSpPr>
        <p:spPr>
          <a:xfrm>
            <a:off x="914400" y="2697480"/>
            <a:ext cx="8229600" cy="731520"/>
          </a:xfrm>
          <a:prstGeom prst="rect">
            <a:avLst/>
          </a:prstGeom>
          <a:noFill/>
        </p:spPr>
        <p:txBody>
          <a:bodyPr wrap="square" lIns="0" tIns="0" rIns="0" bIns="0" anchor="t">
            <a:spAutoFit/>
          </a:bodyPr>
          <a:lstStyle/>
          <a:p>
            <a:pPr>
              <a:spcAft>
                <a:spcPts val="0"/>
              </a:spcAft>
            </a:pPr>
            <a:r>
              <a:rPr sz="1600" b="0" i="0">
                <a:solidFill>
                  <a:srgbClr val="FFFFFF"/>
                </a:solidFill>
              </a:rPr>
              <a:t>Teams mix up how we engage a client with how we deliver. Staffing, contracts, and accountability then differ from account to account.</a:t>
            </a:r>
          </a:p>
        </p:txBody>
      </p:sp>
      <p:cxnSp>
        <p:nvCxnSpPr>
          <p:cNvPr id="5" name="Rule"/>
          <p:cNvCxnSpPr/>
          <p:nvPr/>
        </p:nvCxnSpPr>
        <p:spPr>
          <a:xfrm>
            <a:off x="914400" y="3566160"/>
            <a:ext cx="10744200" cy="0"/>
          </a:xfrm>
          <a:prstGeom prst="line">
            <a:avLst/>
          </a:prstGeom>
          <a:ln w="9525">
            <a:solidFill>
              <a:srgbClr val="2A357A"/>
            </a:solidFill>
          </a:ln>
        </p:spPr>
        <p:style>
          <a:lnRef idx="2">
            <a:schemeClr val="accent1"/>
          </a:lnRef>
          <a:fillRef idx="0">
            <a:schemeClr val="accent1"/>
          </a:fillRef>
          <a:effectRef idx="1">
            <a:schemeClr val="accent1"/>
          </a:effectRef>
          <a:fontRef idx="minor">
            <a:schemeClr val="tx1"/>
          </a:fontRef>
        </p:style>
      </p:cxnSp>
      <p:sp>
        <p:nvSpPr>
          <p:cNvPr id="6" name="In this stream label"/>
          <p:cNvSpPr txBox="1"/>
          <p:nvPr/>
        </p:nvSpPr>
        <p:spPr>
          <a:xfrm>
            <a:off x="91440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IN THIS STREAM</a:t>
            </a:r>
          </a:p>
        </p:txBody>
      </p:sp>
      <p:sp>
        <p:nvSpPr>
          <p:cNvPr id="7" name="Ask 1 preview"/>
          <p:cNvSpPr txBox="1"/>
          <p:nvPr/>
        </p:nvSpPr>
        <p:spPr>
          <a:xfrm>
            <a:off x="914400" y="4023360"/>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01   </a:t>
            </a:r>
            <a:r>
              <a:rPr sz="1400" b="1" i="0">
                <a:solidFill>
                  <a:srgbClr val="FFFFFF"/>
                </a:solidFill>
              </a:rPr>
              <a:t>One shared way to define the work</a:t>
            </a:r>
          </a:p>
          <a:p>
            <a:pPr>
              <a:spcAft>
                <a:spcPts val="0"/>
              </a:spcAft>
            </a:pPr>
            <a:r>
              <a:rPr sz="1150" b="0" i="1">
                <a:solidFill>
                  <a:srgbClr val="C9CDE8"/>
                </a:solidFill>
              </a:rPr>
              <a:t>“Give us one shared approach everyone uses to describe how we sell and deliver work.”</a:t>
            </a:r>
          </a:p>
        </p:txBody>
      </p:sp>
      <p:sp>
        <p:nvSpPr>
          <p:cNvPr id="8" name="Already moving label"/>
          <p:cNvSpPr txBox="1"/>
          <p:nvPr/>
        </p:nvSpPr>
        <p:spPr>
          <a:xfrm>
            <a:off x="704088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ALREADY MOVING</a:t>
            </a:r>
          </a:p>
        </p:txBody>
      </p:sp>
      <p:sp>
        <p:nvSpPr>
          <p:cNvPr id="9" name="Project tag"/>
          <p:cNvSpPr/>
          <p:nvPr/>
        </p:nvSpPr>
        <p:spPr>
          <a:xfrm>
            <a:off x="7040880" y="4023360"/>
            <a:ext cx="844905"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Project tag text"/>
          <p:cNvSpPr txBox="1"/>
          <p:nvPr/>
        </p:nvSpPr>
        <p:spPr>
          <a:xfrm>
            <a:off x="7040880" y="4023360"/>
            <a:ext cx="844905"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PLAYBOOK</a:t>
            </a:r>
          </a:p>
        </p:txBody>
      </p:sp>
      <p:sp>
        <p:nvSpPr>
          <p:cNvPr id="11" name="Already moving"/>
          <p:cNvSpPr txBox="1"/>
          <p:nvPr/>
        </p:nvSpPr>
        <p:spPr>
          <a:xfrm>
            <a:off x="7040880" y="4407408"/>
            <a:ext cx="4617720" cy="1371600"/>
          </a:xfrm>
          <a:prstGeom prst="rect">
            <a:avLst/>
          </a:prstGeom>
          <a:noFill/>
        </p:spPr>
        <p:txBody>
          <a:bodyPr wrap="square" lIns="0" tIns="0" rIns="0" bIns="0" anchor="t">
            <a:spAutoFit/>
          </a:bodyPr>
          <a:lstStyle/>
          <a:p>
            <a:pPr>
              <a:spcAft>
                <a:spcPts val="0"/>
              </a:spcAft>
            </a:pPr>
            <a:r>
              <a:rPr sz="1150" b="0" i="0">
                <a:solidFill>
                  <a:srgbClr val="C9CDE8"/>
                </a:solidFill>
              </a:rPr>
              <a:t>Deal-to-Delivery Playbook names a small set of delivery models, so how we engage and deliver is declared up front, not guessed later.</a:t>
            </a:r>
          </a:p>
        </p:txBody>
      </p:sp>
      <p:sp>
        <p:nvSpPr>
          <p:cNvPr id="12" name="Where label"/>
          <p:cNvSpPr txBox="1"/>
          <p:nvPr/>
        </p:nvSpPr>
        <p:spPr>
          <a:xfrm>
            <a:off x="914400" y="5943600"/>
            <a:ext cx="2743200" cy="182880"/>
          </a:xfrm>
          <a:prstGeom prst="rect">
            <a:avLst/>
          </a:prstGeom>
          <a:noFill/>
        </p:spPr>
        <p:txBody>
          <a:bodyPr wrap="square" lIns="0" tIns="0" rIns="0" bIns="0" anchor="t">
            <a:spAutoFit/>
          </a:bodyPr>
          <a:lstStyle/>
          <a:p>
            <a:pPr>
              <a:spcAft>
                <a:spcPts val="0"/>
              </a:spcAft>
            </a:pPr>
            <a:r>
              <a:rPr sz="850" b="1" i="0" spc="200">
                <a:solidFill>
                  <a:srgbClr val="7FC8FF"/>
                </a:solidFill>
              </a:rPr>
              <a:t>WHERE IT SHOWS UP</a:t>
            </a:r>
          </a:p>
        </p:txBody>
      </p:sp>
      <p:sp>
        <p:nvSpPr>
          <p:cNvPr id="13" name="Where it shows up"/>
          <p:cNvSpPr txBox="1"/>
          <p:nvPr/>
        </p:nvSpPr>
        <p:spPr>
          <a:xfrm>
            <a:off x="914400" y="6144768"/>
            <a:ext cx="10744200" cy="365760"/>
          </a:xfrm>
          <a:prstGeom prst="rect">
            <a:avLst/>
          </a:prstGeom>
          <a:noFill/>
        </p:spPr>
        <p:txBody>
          <a:bodyPr wrap="square" lIns="0" tIns="0" rIns="0" bIns="0" anchor="t">
            <a:spAutoFit/>
          </a:bodyPr>
          <a:lstStyle/>
          <a:p>
            <a:pPr>
              <a:spcAft>
                <a:spcPts val="0"/>
              </a:spcAft>
            </a:pPr>
            <a:r>
              <a:rPr sz="1100" b="0" i="0">
                <a:solidFill>
                  <a:srgbClr val="C9CDE8"/>
                </a:solidFill>
              </a:rPr>
              <a:t>LHW (cancelled), Sally Beauty (rough CMO feedback), Primo (1/1 launch at risk), Lumen</a:t>
            </a:r>
          </a:p>
        </p:txBody>
      </p:sp>
      <p:sp>
        <p:nvSpPr>
          <p:cNvPr id="14"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1" i="0" spc="120">
                <a:solidFill>
                  <a:srgbClr val="FFFFFF"/>
                </a:solidFill>
              </a:rPr>
              <a:t>●  DEFINE</a:t>
            </a:r>
            <a:r>
              <a:rPr sz="900" b="0" i="0" spc="120">
                <a:solidFill>
                  <a:srgbClr val="000000"/>
                </a:solidFill>
              </a:rPr>
              <a:t>      </a:t>
            </a:r>
            <a:r>
              <a:rPr sz="900" b="0" i="0" spc="120">
                <a:solidFill>
                  <a:srgbClr val="6B74B0"/>
                </a:solidFill>
              </a:rPr>
              <a:t>OWN</a:t>
            </a:r>
            <a:r>
              <a:rPr sz="900" b="0" i="0" spc="120">
                <a:solidFill>
                  <a:srgbClr val="000000"/>
                </a:solidFill>
              </a:rPr>
              <a:t>      </a:t>
            </a:r>
            <a:r>
              <a:rPr sz="900" b="0" i="0" spc="120">
                <a:solidFill>
                  <a:srgbClr val="6B74B0"/>
                </a:solidFill>
              </a:rPr>
              <a:t>SELL</a:t>
            </a:r>
            <a:r>
              <a:rPr sz="900" b="0" i="0" spc="120">
                <a:solidFill>
                  <a:srgbClr val="000000"/>
                </a:solidFill>
              </a:rPr>
              <a:t>      </a:t>
            </a:r>
            <a:r>
              <a:rPr sz="900" b="0" i="0" spc="120">
                <a:solidFill>
                  <a:srgbClr val="6B74B0"/>
                </a:solidFill>
              </a:rPr>
              <a:t>STAFF</a:t>
            </a:r>
            <a:r>
              <a:rPr sz="900" b="0" i="0" spc="120">
                <a:solidFill>
                  <a:srgbClr val="000000"/>
                </a:solidFill>
              </a:rPr>
              <a:t>      </a:t>
            </a:r>
            <a:r>
              <a:rPr sz="900" b="0" i="0" spc="120">
                <a:solidFill>
                  <a:srgbClr val="6B74B0"/>
                </a:solidFill>
              </a:rPr>
              <a:t>DELIVER</a:t>
            </a:r>
            <a:r>
              <a:rPr sz="900" b="0" i="0" spc="120">
                <a:solidFill>
                  <a:srgbClr val="000000"/>
                </a:solidFill>
              </a:rPr>
              <a:t>      </a:t>
            </a:r>
            <a:r>
              <a:rPr sz="900" b="0" i="0" spc="120">
                <a:solidFill>
                  <a:srgbClr val="6B74B0"/>
                </a:solidFill>
              </a:rPr>
              <a:t>WATCH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One shared way to define the work</a:t>
            </a:r>
          </a:p>
        </p:txBody>
      </p:sp>
      <p:sp>
        <p:nvSpPr>
          <p:cNvPr id="4" name="Text Placeholder 3"/>
          <p:cNvSpPr>
            <a:spLocks noGrp="1"/>
          </p:cNvSpPr>
          <p:nvPr>
            <p:ph type="body" sz="quarter" idx="12"/>
          </p:nvPr>
        </p:nvSpPr>
        <p:spPr/>
        <p:txBody>
          <a:bodyPr/>
          <a:lstStyle/>
          <a:p>
            <a:r>
              <a:t>ASK 01 OF 11  ·  DEFINE</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1" i="0" spc="120">
                <a:solidFill>
                  <a:srgbClr val="040E4B"/>
                </a:solidFill>
              </a:rPr>
              <a:t>●  DEFINE</a:t>
            </a:r>
            <a:r>
              <a:rPr sz="900" b="0" i="0" spc="120">
                <a:solidFill>
                  <a:srgbClr val="8888A1"/>
                </a:solidFill>
              </a:rPr>
              <a:t>      OWN      SELL      STAFF      DELIVER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One shared way to define the work"/>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“Give us one shared approach everyone uses to describe how we sell and deliver work.”</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Teams mix up how we engage a client with how we deliver, so staffing and contracts differ account to account.</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One shared way to describe how we sell and deliver work.</a:t>
            </a:r>
          </a:p>
          <a:p>
            <a:pPr marL="155448" indent="-155448">
              <a:lnSpc>
                <a:spcPct val="100000"/>
              </a:lnSpc>
              <a:spcAft>
                <a:spcPts val="400"/>
              </a:spcAft>
              <a:buClr>
                <a:srgbClr val="0391F2"/>
              </a:buClr>
              <a:buFont typeface="Arial"/>
              <a:buChar char="•"/>
            </a:pPr>
            <a:r>
              <a:rPr sz="1150" b="0" i="0">
                <a:solidFill>
                  <a:srgbClr val="000000"/>
                </a:solidFill>
              </a:rPr>
              <a:t>Clear definitions of each delivery type and when to use it.</a:t>
            </a:r>
          </a:p>
          <a:p>
            <a:pPr marL="155448" indent="-155448">
              <a:lnSpc>
                <a:spcPct val="100000"/>
              </a:lnSpc>
              <a:spcAft>
                <a:spcPts val="400"/>
              </a:spcAft>
              <a:buClr>
                <a:srgbClr val="0391F2"/>
              </a:buClr>
              <a:buFont typeface="Arial"/>
              <a:buChar char="•"/>
            </a:pPr>
            <a:r>
              <a:rPr sz="1150" b="0" i="0">
                <a:solidFill>
                  <a:srgbClr val="000000"/>
                </a:solidFill>
              </a:rPr>
              <a:t>A named owner for each of the five parts of the model.</a:t>
            </a:r>
          </a:p>
          <a:p>
            <a:pPr marL="155448" indent="-155448">
              <a:lnSpc>
                <a:spcPct val="100000"/>
              </a:lnSpc>
              <a:spcAft>
                <a:spcPts val="400"/>
              </a:spcAft>
              <a:buClr>
                <a:srgbClr val="0391F2"/>
              </a:buClr>
              <a:buFont typeface="Arial"/>
              <a:buChar char="•"/>
            </a:pPr>
            <a:r>
              <a:rPr sz="1150" b="0" i="0">
                <a:solidFill>
                  <a:srgbClr val="000000"/>
                </a:solidFill>
              </a:rPr>
              <a:t>The same names and phases across delivery models.</a:t>
            </a:r>
          </a:p>
          <a:p>
            <a:pPr marL="155448" indent="-155448">
              <a:lnSpc>
                <a:spcPct val="100000"/>
              </a:lnSpc>
              <a:spcAft>
                <a:spcPts val="400"/>
              </a:spcAft>
              <a:buClr>
                <a:srgbClr val="0391F2"/>
              </a:buClr>
              <a:buFont typeface="Arial"/>
              <a:buChar char="•"/>
            </a:pPr>
            <a:r>
              <a:rPr sz="1150" b="0" i="0">
                <a:solidFill>
                  <a:srgbClr val="000000"/>
                </a:solidFill>
              </a:rPr>
              <a:t>Parts kept separate, and refreshed at least quarterly.</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Agree one approach and shared wording first, shown on one slide with an owner for each part. Define roles at the same time.</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844905"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844905"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PLAYBOOK</a:t>
            </a:r>
          </a:p>
        </p:txBody>
      </p:sp>
      <p:sp>
        <p:nvSpPr>
          <p:cNvPr id="23"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Deal-to-Delivery Playbook names a small set of delivery models, and no SOW is signed without a model attached. Draft models are being gathered and reviewed with BU leads, with the first batch and program guidance landing in Q4.</a:t>
            </a:r>
          </a:p>
        </p:txBody>
      </p:sp>
      <p:cxnSp>
        <p:nvCxnSpPr>
          <p:cNvPr id="24"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5"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6"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LHW (cancelled), Sally Beauty (rough CMO feedback), Primo (1/1 launch at risk), Lumen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owns it</a:t>
            </a:r>
          </a:p>
        </p:txBody>
      </p:sp>
      <p:sp>
        <p:nvSpPr>
          <p:cNvPr id="3" name="Text Placeholder 2"/>
          <p:cNvSpPr>
            <a:spLocks noGrp="1"/>
          </p:cNvSpPr>
          <p:nvPr>
            <p:ph type="body" sz="quarter" idx="15"/>
          </p:nvPr>
        </p:nvSpPr>
        <p:spPr/>
        <p:txBody>
          <a:bodyPr/>
          <a:lstStyle/>
          <a:p>
            <a:r>
              <a:t>STREAM 2 OF 6</a:t>
            </a:r>
          </a:p>
        </p:txBody>
      </p:sp>
      <p:sp>
        <p:nvSpPr>
          <p:cNvPr id="4" name="Stream description"/>
          <p:cNvSpPr txBox="1"/>
          <p:nvPr/>
        </p:nvSpPr>
        <p:spPr>
          <a:xfrm>
            <a:off x="914400" y="2697480"/>
            <a:ext cx="8229600" cy="731520"/>
          </a:xfrm>
          <a:prstGeom prst="rect">
            <a:avLst/>
          </a:prstGeom>
          <a:noFill/>
        </p:spPr>
        <p:txBody>
          <a:bodyPr wrap="square" lIns="0" tIns="0" rIns="0" bIns="0" anchor="t">
            <a:spAutoFit/>
          </a:bodyPr>
          <a:lstStyle/>
          <a:p>
            <a:pPr>
              <a:spcAft>
                <a:spcPts val="0"/>
              </a:spcAft>
            </a:pPr>
            <a:r>
              <a:rPr sz="1600" b="0" i="0">
                <a:solidFill>
                  <a:srgbClr val="FFFFFF"/>
                </a:solidFill>
              </a:rPr>
              <a:t>It is unclear who owns an account when something goes wrong, so problems escalate late.</a:t>
            </a:r>
          </a:p>
        </p:txBody>
      </p:sp>
      <p:cxnSp>
        <p:nvCxnSpPr>
          <p:cNvPr id="5" name="Rule"/>
          <p:cNvCxnSpPr/>
          <p:nvPr/>
        </p:nvCxnSpPr>
        <p:spPr>
          <a:xfrm>
            <a:off x="914400" y="3566160"/>
            <a:ext cx="10744200" cy="0"/>
          </a:xfrm>
          <a:prstGeom prst="line">
            <a:avLst/>
          </a:prstGeom>
          <a:ln w="9525">
            <a:solidFill>
              <a:srgbClr val="2A357A"/>
            </a:solidFill>
          </a:ln>
        </p:spPr>
        <p:style>
          <a:lnRef idx="2">
            <a:schemeClr val="accent1"/>
          </a:lnRef>
          <a:fillRef idx="0">
            <a:schemeClr val="accent1"/>
          </a:fillRef>
          <a:effectRef idx="1">
            <a:schemeClr val="accent1"/>
          </a:effectRef>
          <a:fontRef idx="minor">
            <a:schemeClr val="tx1"/>
          </a:fontRef>
        </p:style>
      </p:cxnSp>
      <p:sp>
        <p:nvSpPr>
          <p:cNvPr id="6" name="In this stream label"/>
          <p:cNvSpPr txBox="1"/>
          <p:nvPr/>
        </p:nvSpPr>
        <p:spPr>
          <a:xfrm>
            <a:off x="91440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IN THIS STREAM</a:t>
            </a:r>
          </a:p>
        </p:txBody>
      </p:sp>
      <p:sp>
        <p:nvSpPr>
          <p:cNvPr id="7" name="Ask 2 preview"/>
          <p:cNvSpPr txBox="1"/>
          <p:nvPr/>
        </p:nvSpPr>
        <p:spPr>
          <a:xfrm>
            <a:off x="914400" y="4023360"/>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02   </a:t>
            </a:r>
            <a:r>
              <a:rPr sz="1400" b="1" i="0">
                <a:solidFill>
                  <a:srgbClr val="FFFFFF"/>
                </a:solidFill>
              </a:rPr>
              <a:t>Who owns each account</a:t>
            </a:r>
          </a:p>
          <a:p>
            <a:pPr>
              <a:spcAft>
                <a:spcPts val="0"/>
              </a:spcAft>
            </a:pPr>
            <a:r>
              <a:rPr sz="1150" b="0" i="1">
                <a:solidFill>
                  <a:srgbClr val="C9CDE8"/>
                </a:solidFill>
              </a:rPr>
              <a:t>“Define who owns what on every account.”</a:t>
            </a:r>
          </a:p>
        </p:txBody>
      </p:sp>
      <p:sp>
        <p:nvSpPr>
          <p:cNvPr id="8" name="Already moving label"/>
          <p:cNvSpPr txBox="1"/>
          <p:nvPr/>
        </p:nvSpPr>
        <p:spPr>
          <a:xfrm>
            <a:off x="704088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ALREADY MOVING</a:t>
            </a:r>
          </a:p>
        </p:txBody>
      </p:sp>
      <p:sp>
        <p:nvSpPr>
          <p:cNvPr id="9" name="Project tag"/>
          <p:cNvSpPr/>
          <p:nvPr/>
        </p:nvSpPr>
        <p:spPr>
          <a:xfrm>
            <a:off x="7040880" y="4023360"/>
            <a:ext cx="2514600"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Project tag text"/>
          <p:cNvSpPr txBox="1"/>
          <p:nvPr/>
        </p:nvSpPr>
        <p:spPr>
          <a:xfrm>
            <a:off x="7040880" y="4023360"/>
            <a:ext cx="2514600" cy="237744"/>
          </a:xfrm>
          <a:prstGeom prst="rect">
            <a:avLst/>
          </a:prstGeom>
          <a:noFill/>
        </p:spPr>
        <p:txBody>
          <a:bodyPr wrap="none" lIns="0" tIns="0" rIns="0" bIns="0" anchor="ctr">
            <a:spAutoFit/>
          </a:bodyPr>
          <a:lstStyle/>
          <a:p>
            <a:pPr algn="ctr">
              <a:spcAft>
                <a:spcPts val="0"/>
              </a:spcAft>
            </a:pPr>
            <a:r>
              <a:rPr sz="850" b="1" i="0" spc="100">
                <a:solidFill>
                  <a:srgbClr val="7FC8FF"/>
                </a:solidFill>
              </a:rPr>
              <a:t>ACCOUNTABILITY FRAMEWORK</a:t>
            </a:r>
          </a:p>
        </p:txBody>
      </p:sp>
      <p:sp>
        <p:nvSpPr>
          <p:cNvPr id="11" name="Already moving"/>
          <p:cNvSpPr txBox="1"/>
          <p:nvPr/>
        </p:nvSpPr>
        <p:spPr>
          <a:xfrm>
            <a:off x="7040880" y="4407408"/>
            <a:ext cx="4617720" cy="1371600"/>
          </a:xfrm>
          <a:prstGeom prst="rect">
            <a:avLst/>
          </a:prstGeom>
          <a:noFill/>
        </p:spPr>
        <p:txBody>
          <a:bodyPr wrap="square" lIns="0" tIns="0" rIns="0" bIns="0" anchor="t">
            <a:spAutoFit/>
          </a:bodyPr>
          <a:lstStyle/>
          <a:p>
            <a:pPr>
              <a:spcAft>
                <a:spcPts val="0"/>
              </a:spcAft>
            </a:pPr>
            <a:r>
              <a:rPr sz="1150" b="0" i="0">
                <a:solidFill>
                  <a:srgbClr val="C9CDE8"/>
                </a:solidFill>
              </a:rPr>
              <a:t>The Accountability Framework defines accountability for every project and the essential delivery roles, including executive sponsors on major accounts, and the weekly Delivery Excellence call works out who is responsible for what.</a:t>
            </a:r>
          </a:p>
        </p:txBody>
      </p:sp>
      <p:sp>
        <p:nvSpPr>
          <p:cNvPr id="12" name="Where label"/>
          <p:cNvSpPr txBox="1"/>
          <p:nvPr/>
        </p:nvSpPr>
        <p:spPr>
          <a:xfrm>
            <a:off x="914400" y="5943600"/>
            <a:ext cx="2743200" cy="182880"/>
          </a:xfrm>
          <a:prstGeom prst="rect">
            <a:avLst/>
          </a:prstGeom>
          <a:noFill/>
        </p:spPr>
        <p:txBody>
          <a:bodyPr wrap="square" lIns="0" tIns="0" rIns="0" bIns="0" anchor="t">
            <a:spAutoFit/>
          </a:bodyPr>
          <a:lstStyle/>
          <a:p>
            <a:pPr>
              <a:spcAft>
                <a:spcPts val="0"/>
              </a:spcAft>
            </a:pPr>
            <a:r>
              <a:rPr sz="850" b="1" i="0" spc="200">
                <a:solidFill>
                  <a:srgbClr val="7FC8FF"/>
                </a:solidFill>
              </a:rPr>
              <a:t>WHERE IT SHOWS UP</a:t>
            </a:r>
          </a:p>
        </p:txBody>
      </p:sp>
      <p:sp>
        <p:nvSpPr>
          <p:cNvPr id="13" name="Where it shows up"/>
          <p:cNvSpPr txBox="1"/>
          <p:nvPr/>
        </p:nvSpPr>
        <p:spPr>
          <a:xfrm>
            <a:off x="914400" y="6144768"/>
            <a:ext cx="10744200" cy="365760"/>
          </a:xfrm>
          <a:prstGeom prst="rect">
            <a:avLst/>
          </a:prstGeom>
          <a:noFill/>
        </p:spPr>
        <p:txBody>
          <a:bodyPr wrap="square" lIns="0" tIns="0" rIns="0" bIns="0" anchor="t">
            <a:spAutoFit/>
          </a:bodyPr>
          <a:lstStyle/>
          <a:p>
            <a:pPr>
              <a:spcAft>
                <a:spcPts val="0"/>
              </a:spcAft>
            </a:pPr>
            <a:r>
              <a:rPr sz="1100" b="0" i="0">
                <a:solidFill>
                  <a:srgbClr val="C9CDE8"/>
                </a:solidFill>
              </a:rPr>
              <a:t>HD, Tommy, Lumen, McDonald’s, and Enterprise (losing ~$2M to Perficient)</a:t>
            </a:r>
          </a:p>
        </p:txBody>
      </p:sp>
      <p:sp>
        <p:nvSpPr>
          <p:cNvPr id="14"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6B74B0"/>
                </a:solidFill>
              </a:rPr>
              <a:t>DEFINE</a:t>
            </a:r>
            <a:r>
              <a:rPr sz="900" b="0" i="0" spc="120">
                <a:solidFill>
                  <a:srgbClr val="000000"/>
                </a:solidFill>
              </a:rPr>
              <a:t>      </a:t>
            </a:r>
            <a:r>
              <a:rPr sz="900" b="1" i="0" spc="120">
                <a:solidFill>
                  <a:srgbClr val="FFFFFF"/>
                </a:solidFill>
              </a:rPr>
              <a:t>●  OWN</a:t>
            </a:r>
            <a:r>
              <a:rPr sz="900" b="0" i="0" spc="120">
                <a:solidFill>
                  <a:srgbClr val="000000"/>
                </a:solidFill>
              </a:rPr>
              <a:t>      </a:t>
            </a:r>
            <a:r>
              <a:rPr sz="900" b="0" i="0" spc="120">
                <a:solidFill>
                  <a:srgbClr val="6B74B0"/>
                </a:solidFill>
              </a:rPr>
              <a:t>SELL</a:t>
            </a:r>
            <a:r>
              <a:rPr sz="900" b="0" i="0" spc="120">
                <a:solidFill>
                  <a:srgbClr val="000000"/>
                </a:solidFill>
              </a:rPr>
              <a:t>      </a:t>
            </a:r>
            <a:r>
              <a:rPr sz="900" b="0" i="0" spc="120">
                <a:solidFill>
                  <a:srgbClr val="6B74B0"/>
                </a:solidFill>
              </a:rPr>
              <a:t>STAFF</a:t>
            </a:r>
            <a:r>
              <a:rPr sz="900" b="0" i="0" spc="120">
                <a:solidFill>
                  <a:srgbClr val="000000"/>
                </a:solidFill>
              </a:rPr>
              <a:t>      </a:t>
            </a:r>
            <a:r>
              <a:rPr sz="900" b="0" i="0" spc="120">
                <a:solidFill>
                  <a:srgbClr val="6B74B0"/>
                </a:solidFill>
              </a:rPr>
              <a:t>DELIVER</a:t>
            </a:r>
            <a:r>
              <a:rPr sz="900" b="0" i="0" spc="120">
                <a:solidFill>
                  <a:srgbClr val="000000"/>
                </a:solidFill>
              </a:rPr>
              <a:t>      </a:t>
            </a:r>
            <a:r>
              <a:rPr sz="900" b="0" i="0" spc="120">
                <a:solidFill>
                  <a:srgbClr val="6B74B0"/>
                </a:solidFill>
              </a:rPr>
              <a:t>WATCH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Who owns each account</a:t>
            </a:r>
          </a:p>
        </p:txBody>
      </p:sp>
      <p:sp>
        <p:nvSpPr>
          <p:cNvPr id="4" name="Text Placeholder 3"/>
          <p:cNvSpPr>
            <a:spLocks noGrp="1"/>
          </p:cNvSpPr>
          <p:nvPr>
            <p:ph type="body" sz="quarter" idx="12"/>
          </p:nvPr>
        </p:nvSpPr>
        <p:spPr/>
        <p:txBody>
          <a:bodyPr/>
          <a:lstStyle/>
          <a:p>
            <a:r>
              <a:t>ASK 02 OF 11  ·  OWN</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8888A1"/>
                </a:solidFill>
              </a:rPr>
              <a:t>DEFINE      </a:t>
            </a:r>
            <a:r>
              <a:rPr sz="900" b="1" i="0" spc="120">
                <a:solidFill>
                  <a:srgbClr val="040E4B"/>
                </a:solidFill>
              </a:rPr>
              <a:t>●  OWN</a:t>
            </a:r>
            <a:r>
              <a:rPr sz="900" b="0" i="0" spc="120">
                <a:solidFill>
                  <a:srgbClr val="8888A1"/>
                </a:solidFill>
              </a:rPr>
              <a:t>      SELL      STAFF      DELIVER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Who owns each account"/>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“Define who owns what on every account.”</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It is unclear who owns an account when something goes wrong, so problems escalate late.</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Every account needs a clear owner.</a:t>
            </a:r>
          </a:p>
          <a:p>
            <a:pPr marL="155448" indent="-155448">
              <a:lnSpc>
                <a:spcPct val="100000"/>
              </a:lnSpc>
              <a:spcAft>
                <a:spcPts val="400"/>
              </a:spcAft>
              <a:buClr>
                <a:srgbClr val="0391F2"/>
              </a:buClr>
              <a:buFont typeface="Arial"/>
              <a:buChar char="•"/>
            </a:pPr>
            <a:r>
              <a:rPr sz="1150" b="0" i="0">
                <a:solidFill>
                  <a:srgbClr val="000000"/>
                </a:solidFill>
              </a:rPr>
              <a:t>Three roles, one named person each, are proposed: Account Owner, Commercial Owner, and Delivery Lead.</a:t>
            </a:r>
          </a:p>
          <a:p>
            <a:pPr marL="155448" indent="-155448">
              <a:lnSpc>
                <a:spcPct val="100000"/>
              </a:lnSpc>
              <a:spcAft>
                <a:spcPts val="400"/>
              </a:spcAft>
              <a:buClr>
                <a:srgbClr val="0391F2"/>
              </a:buClr>
              <a:buFont typeface="Arial"/>
              <a:buChar char="•"/>
            </a:pPr>
            <a:r>
              <a:rPr sz="1150" b="0" i="0">
                <a:solidFill>
                  <a:srgbClr val="000000"/>
                </a:solidFill>
              </a:rPr>
              <a:t>Clear responsibilities for PM, PgM, and Scrum Master.</a:t>
            </a:r>
          </a:p>
          <a:p>
            <a:pPr marL="155448" indent="-155448">
              <a:lnSpc>
                <a:spcPct val="100000"/>
              </a:lnSpc>
              <a:spcAft>
                <a:spcPts val="400"/>
              </a:spcAft>
              <a:buClr>
                <a:srgbClr val="0391F2"/>
              </a:buClr>
              <a:buFont typeface="Arial"/>
              <a:buChar char="•"/>
            </a:pPr>
            <a:r>
              <a:rPr sz="1150" b="0" i="0">
                <a:solidFill>
                  <a:srgbClr val="000000"/>
                </a:solidFill>
              </a:rPr>
              <a:t>Clear paths for escalating problems.</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Decide how ownership works, then test the three roles against it. Commercial Owner is not in our current plan.</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2514600"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2514600" cy="237744"/>
          </a:xfrm>
          <a:prstGeom prst="rect">
            <a:avLst/>
          </a:prstGeom>
          <a:noFill/>
        </p:spPr>
        <p:txBody>
          <a:bodyPr wrap="none" lIns="0" tIns="0" rIns="0" bIns="0" anchor="ctr">
            <a:spAutoFit/>
          </a:bodyPr>
          <a:lstStyle/>
          <a:p>
            <a:pPr algn="ctr">
              <a:spcAft>
                <a:spcPts val="0"/>
              </a:spcAft>
            </a:pPr>
            <a:r>
              <a:rPr sz="850" b="1" i="0" spc="100">
                <a:solidFill>
                  <a:srgbClr val="7FC8FF"/>
                </a:solidFill>
              </a:rPr>
              <a:t>ACCOUNTABILITY FRAMEWORK</a:t>
            </a:r>
          </a:p>
        </p:txBody>
      </p:sp>
      <p:sp>
        <p:nvSpPr>
          <p:cNvPr id="23"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The Accountability Framework defines accountability for every project, with essential delivery roles and executive sponsors on major accounts. The weekly Delivery Excellence call then takes each account and sets who is responsible for what.</a:t>
            </a:r>
          </a:p>
        </p:txBody>
      </p:sp>
      <p:cxnSp>
        <p:nvCxnSpPr>
          <p:cNvPr id="24"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5"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6"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HD, Tommy, Lumen, McDonald’s, Enterprise (losing ~$2M to Perficient)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it gets staffed</a:t>
            </a:r>
          </a:p>
        </p:txBody>
      </p:sp>
      <p:sp>
        <p:nvSpPr>
          <p:cNvPr id="3" name="Text Placeholder 2"/>
          <p:cNvSpPr>
            <a:spLocks noGrp="1"/>
          </p:cNvSpPr>
          <p:nvPr>
            <p:ph type="body" sz="quarter" idx="15"/>
          </p:nvPr>
        </p:nvSpPr>
        <p:spPr/>
        <p:txBody>
          <a:bodyPr/>
          <a:lstStyle/>
          <a:p>
            <a:r>
              <a:t>STREAM 4 OF 6</a:t>
            </a:r>
          </a:p>
        </p:txBody>
      </p:sp>
      <p:sp>
        <p:nvSpPr>
          <p:cNvPr id="4" name="Stream description"/>
          <p:cNvSpPr txBox="1"/>
          <p:nvPr/>
        </p:nvSpPr>
        <p:spPr>
          <a:xfrm>
            <a:off x="914400" y="2697480"/>
            <a:ext cx="8229600" cy="731520"/>
          </a:xfrm>
          <a:prstGeom prst="rect">
            <a:avLst/>
          </a:prstGeom>
          <a:noFill/>
        </p:spPr>
        <p:txBody>
          <a:bodyPr wrap="square" lIns="0" tIns="0" rIns="0" bIns="0" anchor="t">
            <a:spAutoFit/>
          </a:bodyPr>
          <a:lstStyle/>
          <a:p>
            <a:pPr>
              <a:spcAft>
                <a:spcPts val="0"/>
              </a:spcAft>
            </a:pPr>
            <a:r>
              <a:rPr sz="1600" b="0" i="0">
                <a:solidFill>
                  <a:srgbClr val="FFFFFF"/>
                </a:solidFill>
              </a:rPr>
              <a:t>Signed work starts late or thin, and open roles and resignations leave coverage gaps.</a:t>
            </a:r>
          </a:p>
        </p:txBody>
      </p:sp>
      <p:cxnSp>
        <p:nvCxnSpPr>
          <p:cNvPr id="5" name="Rule"/>
          <p:cNvCxnSpPr/>
          <p:nvPr/>
        </p:nvCxnSpPr>
        <p:spPr>
          <a:xfrm>
            <a:off x="914400" y="3566160"/>
            <a:ext cx="10744200" cy="0"/>
          </a:xfrm>
          <a:prstGeom prst="line">
            <a:avLst/>
          </a:prstGeom>
          <a:ln w="9525">
            <a:solidFill>
              <a:srgbClr val="2A357A"/>
            </a:solidFill>
          </a:ln>
        </p:spPr>
        <p:style>
          <a:lnRef idx="2">
            <a:schemeClr val="accent1"/>
          </a:lnRef>
          <a:fillRef idx="0">
            <a:schemeClr val="accent1"/>
          </a:fillRef>
          <a:effectRef idx="1">
            <a:schemeClr val="accent1"/>
          </a:effectRef>
          <a:fontRef idx="minor">
            <a:schemeClr val="tx1"/>
          </a:fontRef>
        </p:style>
      </p:cxnSp>
      <p:sp>
        <p:nvSpPr>
          <p:cNvPr id="6" name="In this stream label"/>
          <p:cNvSpPr txBox="1"/>
          <p:nvPr/>
        </p:nvSpPr>
        <p:spPr>
          <a:xfrm>
            <a:off x="91440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IN THIS STREAM</a:t>
            </a:r>
          </a:p>
        </p:txBody>
      </p:sp>
      <p:sp>
        <p:nvSpPr>
          <p:cNvPr id="7" name="Ask 5 preview"/>
          <p:cNvSpPr txBox="1"/>
          <p:nvPr/>
        </p:nvSpPr>
        <p:spPr>
          <a:xfrm>
            <a:off x="914400" y="4023360"/>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06   </a:t>
            </a:r>
            <a:r>
              <a:rPr sz="1400" b="1" i="0">
                <a:solidFill>
                  <a:srgbClr val="FFFFFF"/>
                </a:solidFill>
              </a:rPr>
              <a:t>Staffing and talent</a:t>
            </a:r>
          </a:p>
          <a:p>
            <a:pPr>
              <a:spcAft>
                <a:spcPts val="0"/>
              </a:spcAft>
            </a:pPr>
            <a:r>
              <a:rPr sz="1150" b="0" i="1">
                <a:solidFill>
                  <a:srgbClr val="C9CDE8"/>
                </a:solidFill>
              </a:rPr>
              <a:t>“Stop selling and staffing work in ways that set teams up to fail.”</a:t>
            </a:r>
          </a:p>
        </p:txBody>
      </p:sp>
      <p:sp>
        <p:nvSpPr>
          <p:cNvPr id="8" name="Already moving label"/>
          <p:cNvSpPr txBox="1"/>
          <p:nvPr/>
        </p:nvSpPr>
        <p:spPr>
          <a:xfrm>
            <a:off x="704088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ALREADY MOVING</a:t>
            </a:r>
          </a:p>
        </p:txBody>
      </p:sp>
      <p:sp>
        <p:nvSpPr>
          <p:cNvPr id="9" name="Project tag"/>
          <p:cNvSpPr/>
          <p:nvPr/>
        </p:nvSpPr>
        <p:spPr>
          <a:xfrm>
            <a:off x="7040880" y="4023360"/>
            <a:ext cx="1649577"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Project tag text"/>
          <p:cNvSpPr txBox="1"/>
          <p:nvPr/>
        </p:nvSpPr>
        <p:spPr>
          <a:xfrm>
            <a:off x="7040880" y="4023360"/>
            <a:ext cx="1649577"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CAPACITY &amp; ROMULUS</a:t>
            </a:r>
          </a:p>
        </p:txBody>
      </p:sp>
      <p:sp>
        <p:nvSpPr>
          <p:cNvPr id="11" name="Project tag"/>
          <p:cNvSpPr/>
          <p:nvPr/>
        </p:nvSpPr>
        <p:spPr>
          <a:xfrm>
            <a:off x="8781897" y="4023360"/>
            <a:ext cx="1649577"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Project tag text"/>
          <p:cNvSpPr txBox="1"/>
          <p:nvPr/>
        </p:nvSpPr>
        <p:spPr>
          <a:xfrm>
            <a:off x="8781897" y="4023360"/>
            <a:ext cx="1649577"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OPS TRANSFORMATION</a:t>
            </a:r>
          </a:p>
        </p:txBody>
      </p:sp>
      <p:sp>
        <p:nvSpPr>
          <p:cNvPr id="13" name="Already moving"/>
          <p:cNvSpPr txBox="1"/>
          <p:nvPr/>
        </p:nvSpPr>
        <p:spPr>
          <a:xfrm>
            <a:off x="7040880" y="4407408"/>
            <a:ext cx="4617720" cy="1371600"/>
          </a:xfrm>
          <a:prstGeom prst="rect">
            <a:avLst/>
          </a:prstGeom>
          <a:noFill/>
        </p:spPr>
        <p:txBody>
          <a:bodyPr wrap="square" lIns="0" tIns="0" rIns="0" bIns="0" anchor="t">
            <a:spAutoFit/>
          </a:bodyPr>
          <a:lstStyle/>
          <a:p>
            <a:pPr>
              <a:spcAft>
                <a:spcPts val="0"/>
              </a:spcAft>
            </a:pPr>
            <a:r>
              <a:rPr sz="1150" b="0" i="0">
                <a:solidFill>
                  <a:srgbClr val="C9CDE8"/>
                </a:solidFill>
              </a:rPr>
              <a:t>Capacity Planning &amp; Romulus shows skills and bench ahead of demand. Ops Transformation turns scoped deliverables into a staffing plan.</a:t>
            </a:r>
          </a:p>
        </p:txBody>
      </p:sp>
      <p:sp>
        <p:nvSpPr>
          <p:cNvPr id="14" name="Where label"/>
          <p:cNvSpPr txBox="1"/>
          <p:nvPr/>
        </p:nvSpPr>
        <p:spPr>
          <a:xfrm>
            <a:off x="914400" y="5943600"/>
            <a:ext cx="2743200" cy="182880"/>
          </a:xfrm>
          <a:prstGeom prst="rect">
            <a:avLst/>
          </a:prstGeom>
          <a:noFill/>
        </p:spPr>
        <p:txBody>
          <a:bodyPr wrap="square" lIns="0" tIns="0" rIns="0" bIns="0" anchor="t">
            <a:spAutoFit/>
          </a:bodyPr>
          <a:lstStyle/>
          <a:p>
            <a:pPr>
              <a:spcAft>
                <a:spcPts val="0"/>
              </a:spcAft>
            </a:pPr>
            <a:r>
              <a:rPr sz="850" b="1" i="0" spc="200">
                <a:solidFill>
                  <a:srgbClr val="7FC8FF"/>
                </a:solidFill>
              </a:rPr>
              <a:t>WHERE IT SHOWS UP</a:t>
            </a:r>
          </a:p>
        </p:txBody>
      </p:sp>
      <p:sp>
        <p:nvSpPr>
          <p:cNvPr id="15" name="Where it shows up"/>
          <p:cNvSpPr txBox="1"/>
          <p:nvPr/>
        </p:nvSpPr>
        <p:spPr>
          <a:xfrm>
            <a:off x="914400" y="6144768"/>
            <a:ext cx="10744200" cy="365760"/>
          </a:xfrm>
          <a:prstGeom prst="rect">
            <a:avLst/>
          </a:prstGeom>
          <a:noFill/>
        </p:spPr>
        <p:txBody>
          <a:bodyPr wrap="square" lIns="0" tIns="0" rIns="0" bIns="0" anchor="t">
            <a:spAutoFit/>
          </a:bodyPr>
          <a:lstStyle/>
          <a:p>
            <a:pPr>
              <a:spcAft>
                <a:spcPts val="0"/>
              </a:spcAft>
            </a:pPr>
            <a:r>
              <a:rPr sz="1100" b="0" i="0">
                <a:solidFill>
                  <a:srgbClr val="C9CDE8"/>
                </a:solidFill>
              </a:rPr>
              <a:t>Vanguard (no staff to start), Heineken (6 resignations), Burns &amp; Wilcox (no bench), Everbank (no-bid)</a:t>
            </a:r>
          </a:p>
        </p:txBody>
      </p:sp>
      <p:sp>
        <p:nvSpPr>
          <p:cNvPr id="16"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6B74B0"/>
                </a:solidFill>
              </a:rPr>
              <a:t>DEFINE</a:t>
            </a:r>
            <a:r>
              <a:rPr sz="900" b="0" i="0" spc="120">
                <a:solidFill>
                  <a:srgbClr val="000000"/>
                </a:solidFill>
              </a:rPr>
              <a:t>      </a:t>
            </a:r>
            <a:r>
              <a:rPr sz="900" b="0" i="0" spc="120">
                <a:solidFill>
                  <a:srgbClr val="6B74B0"/>
                </a:solidFill>
              </a:rPr>
              <a:t>OWN</a:t>
            </a:r>
            <a:r>
              <a:rPr sz="900" b="0" i="0" spc="120">
                <a:solidFill>
                  <a:srgbClr val="000000"/>
                </a:solidFill>
              </a:rPr>
              <a:t>      </a:t>
            </a:r>
            <a:r>
              <a:rPr sz="900" b="0" i="0" spc="120">
                <a:solidFill>
                  <a:srgbClr val="6B74B0"/>
                </a:solidFill>
              </a:rPr>
              <a:t>SELL</a:t>
            </a:r>
            <a:r>
              <a:rPr sz="900" b="0" i="0" spc="120">
                <a:solidFill>
                  <a:srgbClr val="000000"/>
                </a:solidFill>
              </a:rPr>
              <a:t>      </a:t>
            </a:r>
            <a:r>
              <a:rPr sz="900" b="1" i="0" spc="120">
                <a:solidFill>
                  <a:srgbClr val="FFFFFF"/>
                </a:solidFill>
              </a:rPr>
              <a:t>●  STAFF</a:t>
            </a:r>
            <a:r>
              <a:rPr sz="900" b="0" i="0" spc="120">
                <a:solidFill>
                  <a:srgbClr val="000000"/>
                </a:solidFill>
              </a:rPr>
              <a:t>      </a:t>
            </a:r>
            <a:r>
              <a:rPr sz="900" b="0" i="0" spc="120">
                <a:solidFill>
                  <a:srgbClr val="6B74B0"/>
                </a:solidFill>
              </a:rPr>
              <a:t>DELIVER</a:t>
            </a:r>
            <a:r>
              <a:rPr sz="900" b="0" i="0" spc="120">
                <a:solidFill>
                  <a:srgbClr val="000000"/>
                </a:solidFill>
              </a:rPr>
              <a:t>      </a:t>
            </a:r>
            <a:r>
              <a:rPr sz="900" b="0" i="0" spc="120">
                <a:solidFill>
                  <a:srgbClr val="6B74B0"/>
                </a:solidFill>
              </a:rPr>
              <a:t>WATCH</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Staffing and talent</a:t>
            </a:r>
          </a:p>
        </p:txBody>
      </p:sp>
      <p:sp>
        <p:nvSpPr>
          <p:cNvPr id="4" name="Text Placeholder 3"/>
          <p:cNvSpPr>
            <a:spLocks noGrp="1"/>
          </p:cNvSpPr>
          <p:nvPr>
            <p:ph type="body" sz="quarter" idx="12"/>
          </p:nvPr>
        </p:nvSpPr>
        <p:spPr/>
        <p:txBody>
          <a:bodyPr/>
          <a:lstStyle/>
          <a:p>
            <a:r>
              <a:t>ASK 06 OF 11  ·  STAFF</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8888A1"/>
                </a:solidFill>
              </a:rPr>
              <a:t>DEFINE      OWN      SELL      </a:t>
            </a:r>
            <a:r>
              <a:rPr sz="900" b="1" i="0" spc="120">
                <a:solidFill>
                  <a:srgbClr val="040E4B"/>
                </a:solidFill>
              </a:rPr>
              <a:t>●  STAFF</a:t>
            </a:r>
            <a:r>
              <a:rPr sz="900" b="0" i="0" spc="120">
                <a:solidFill>
                  <a:srgbClr val="8888A1"/>
                </a:solidFill>
              </a:rPr>
              <a:t>      DELIVER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Staffing and talent"/>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“Stop selling and staffing work in ways that set teams up to fail.”</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Signed work starts late or thin, and open roles and resignations leave gaps.</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Stop selling work we cannot staff, and staff with the right skills.</a:t>
            </a:r>
          </a:p>
          <a:p>
            <a:pPr marL="155448" indent="-155448">
              <a:lnSpc>
                <a:spcPct val="100000"/>
              </a:lnSpc>
              <a:spcAft>
                <a:spcPts val="400"/>
              </a:spcAft>
              <a:buClr>
                <a:srgbClr val="0391F2"/>
              </a:buClr>
              <a:buFont typeface="Arial"/>
              <a:buChar char="•"/>
            </a:pPr>
            <a:r>
              <a:rPr sz="1150" b="0" i="0">
                <a:solidFill>
                  <a:srgbClr val="000000"/>
                </a:solidFill>
              </a:rPr>
              <a:t>Fill senior delivery gaps.</a:t>
            </a:r>
          </a:p>
          <a:p>
            <a:pPr marL="155448" indent="-155448">
              <a:lnSpc>
                <a:spcPct val="100000"/>
              </a:lnSpc>
              <a:spcAft>
                <a:spcPts val="400"/>
              </a:spcAft>
              <a:buClr>
                <a:srgbClr val="0391F2"/>
              </a:buClr>
              <a:buFont typeface="Arial"/>
              <a:buChar char="•"/>
            </a:pPr>
            <a:r>
              <a:rPr sz="1150" b="0" i="0">
                <a:solidFill>
                  <a:srgbClr val="000000"/>
                </a:solidFill>
              </a:rPr>
              <a:t>Deal with open roles and recent resignations.</a:t>
            </a:r>
          </a:p>
          <a:p>
            <a:pPr marL="155448" indent="-155448">
              <a:lnSpc>
                <a:spcPct val="100000"/>
              </a:lnSpc>
              <a:spcAft>
                <a:spcPts val="400"/>
              </a:spcAft>
              <a:buClr>
                <a:srgbClr val="0391F2"/>
              </a:buClr>
              <a:buFont typeface="Arial"/>
              <a:buChar char="•"/>
            </a:pPr>
            <a:r>
              <a:rPr sz="1150" b="0" i="0">
                <a:solidFill>
                  <a:srgbClr val="000000"/>
                </a:solidFill>
              </a:rPr>
              <a:t>Balance senior and junior staff instead of cutting capacity to save cost.</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Add quick actions on hiring and retention now. Our capacity work is longer-term and comes later.</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1649577"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1649577"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CAPACITY &amp; ROMULUS</a:t>
            </a:r>
          </a:p>
        </p:txBody>
      </p:sp>
      <p:sp>
        <p:nvSpPr>
          <p:cNvPr id="23" name="Project tag"/>
          <p:cNvSpPr/>
          <p:nvPr/>
        </p:nvSpPr>
        <p:spPr>
          <a:xfrm>
            <a:off x="2518257" y="5312664"/>
            <a:ext cx="1649577"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Project tag text"/>
          <p:cNvSpPr txBox="1"/>
          <p:nvPr/>
        </p:nvSpPr>
        <p:spPr>
          <a:xfrm>
            <a:off x="2518257" y="5312664"/>
            <a:ext cx="1649577"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OPS TRANSFORMATION</a:t>
            </a:r>
          </a:p>
        </p:txBody>
      </p:sp>
      <p:sp>
        <p:nvSpPr>
          <p:cNvPr id="25"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Capacity Planning &amp; Romulus closes the skills and bench visibility gap so we can staff ahead of demand. Ops Transformation turns scoped deliverables into a timeline and staffing plan.</a:t>
            </a:r>
          </a:p>
        </p:txBody>
      </p:sp>
      <p:cxnSp>
        <p:nvCxnSpPr>
          <p:cNvPr id="26"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7"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8"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Vanguard (no staff to start), Heineken (6 resignations), Burns &amp; Wilcox (no bench), Everbank (no-bid)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it gets delivered</a:t>
            </a:r>
          </a:p>
        </p:txBody>
      </p:sp>
      <p:sp>
        <p:nvSpPr>
          <p:cNvPr id="3" name="Text Placeholder 2"/>
          <p:cNvSpPr>
            <a:spLocks noGrp="1"/>
          </p:cNvSpPr>
          <p:nvPr>
            <p:ph type="body" sz="quarter" idx="15"/>
          </p:nvPr>
        </p:nvSpPr>
        <p:spPr/>
        <p:txBody>
          <a:bodyPr/>
          <a:lstStyle/>
          <a:p>
            <a:r>
              <a:t>STREAM 5 OF 6</a:t>
            </a:r>
          </a:p>
        </p:txBody>
      </p:sp>
      <p:sp>
        <p:nvSpPr>
          <p:cNvPr id="4" name="Stream description"/>
          <p:cNvSpPr txBox="1"/>
          <p:nvPr/>
        </p:nvSpPr>
        <p:spPr>
          <a:xfrm>
            <a:off x="914400" y="2697480"/>
            <a:ext cx="8229600" cy="731520"/>
          </a:xfrm>
          <a:prstGeom prst="rect">
            <a:avLst/>
          </a:prstGeom>
          <a:noFill/>
        </p:spPr>
        <p:txBody>
          <a:bodyPr wrap="square" lIns="0" tIns="0" rIns="0" bIns="0" anchor="t">
            <a:spAutoFit/>
          </a:bodyPr>
          <a:lstStyle/>
          <a:p>
            <a:pPr>
              <a:spcAft>
                <a:spcPts val="0"/>
              </a:spcAft>
            </a:pPr>
            <a:r>
              <a:rPr sz="1600" b="0" i="0">
                <a:solidFill>
                  <a:srgbClr val="FFFFFF"/>
                </a:solidFill>
              </a:rPr>
              <a:t>Agile practice is uneven and our methods trail competitors. Teams have little room to grow client value.</a:t>
            </a:r>
          </a:p>
        </p:txBody>
      </p:sp>
      <p:cxnSp>
        <p:nvCxnSpPr>
          <p:cNvPr id="5" name="Rule"/>
          <p:cNvCxnSpPr/>
          <p:nvPr/>
        </p:nvCxnSpPr>
        <p:spPr>
          <a:xfrm>
            <a:off x="914400" y="3566160"/>
            <a:ext cx="10744200" cy="0"/>
          </a:xfrm>
          <a:prstGeom prst="line">
            <a:avLst/>
          </a:prstGeom>
          <a:ln w="9525">
            <a:solidFill>
              <a:srgbClr val="2A357A"/>
            </a:solidFill>
          </a:ln>
        </p:spPr>
        <p:style>
          <a:lnRef idx="2">
            <a:schemeClr val="accent1"/>
          </a:lnRef>
          <a:fillRef idx="0">
            <a:schemeClr val="accent1"/>
          </a:fillRef>
          <a:effectRef idx="1">
            <a:schemeClr val="accent1"/>
          </a:effectRef>
          <a:fontRef idx="minor">
            <a:schemeClr val="tx1"/>
          </a:fontRef>
        </p:style>
      </p:cxnSp>
      <p:sp>
        <p:nvSpPr>
          <p:cNvPr id="6" name="In this stream label"/>
          <p:cNvSpPr txBox="1"/>
          <p:nvPr/>
        </p:nvSpPr>
        <p:spPr>
          <a:xfrm>
            <a:off x="91440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IN THIS STREAM</a:t>
            </a:r>
          </a:p>
        </p:txBody>
      </p:sp>
      <p:sp>
        <p:nvSpPr>
          <p:cNvPr id="7" name="Ask 6 preview"/>
          <p:cNvSpPr txBox="1"/>
          <p:nvPr/>
        </p:nvSpPr>
        <p:spPr>
          <a:xfrm>
            <a:off x="914400" y="4023360"/>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07   </a:t>
            </a:r>
            <a:r>
              <a:rPr sz="1400" b="1" i="0">
                <a:solidFill>
                  <a:srgbClr val="FFFFFF"/>
                </a:solidFill>
              </a:rPr>
              <a:t>Modern ways of working</a:t>
            </a:r>
          </a:p>
          <a:p>
            <a:pPr>
              <a:spcAft>
                <a:spcPts val="0"/>
              </a:spcAft>
            </a:pPr>
            <a:r>
              <a:rPr sz="1150" b="0" i="1">
                <a:solidFill>
                  <a:srgbClr val="C9CDE8"/>
                </a:solidFill>
              </a:rPr>
              <a:t>“Modernize how we deliver so we can compete.”</a:t>
            </a:r>
          </a:p>
        </p:txBody>
      </p:sp>
      <p:sp>
        <p:nvSpPr>
          <p:cNvPr id="8" name="Ask 7 preview"/>
          <p:cNvSpPr txBox="1"/>
          <p:nvPr/>
        </p:nvSpPr>
        <p:spPr>
          <a:xfrm>
            <a:off x="914400" y="4626864"/>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08   </a:t>
            </a:r>
            <a:r>
              <a:rPr sz="1400" b="1" i="0">
                <a:solidFill>
                  <a:srgbClr val="FFFFFF"/>
                </a:solidFill>
              </a:rPr>
              <a:t>Doing more than the contract</a:t>
            </a:r>
          </a:p>
          <a:p>
            <a:pPr>
              <a:spcAft>
                <a:spcPts val="0"/>
              </a:spcAft>
            </a:pPr>
            <a:r>
              <a:rPr sz="1150" b="0" i="1">
                <a:solidFill>
                  <a:srgbClr val="C9CDE8"/>
                </a:solidFill>
              </a:rPr>
              <a:t>“Help us grow accounts, not just deliver them.”</a:t>
            </a:r>
          </a:p>
        </p:txBody>
      </p:sp>
      <p:sp>
        <p:nvSpPr>
          <p:cNvPr id="9" name="Already moving label"/>
          <p:cNvSpPr txBox="1"/>
          <p:nvPr/>
        </p:nvSpPr>
        <p:spPr>
          <a:xfrm>
            <a:off x="704088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ALREADY MOVING</a:t>
            </a:r>
          </a:p>
        </p:txBody>
      </p:sp>
      <p:sp>
        <p:nvSpPr>
          <p:cNvPr id="10" name="Project tag"/>
          <p:cNvSpPr/>
          <p:nvPr/>
        </p:nvSpPr>
        <p:spPr>
          <a:xfrm>
            <a:off x="7040880" y="4023360"/>
            <a:ext cx="844905"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Project tag text"/>
          <p:cNvSpPr txBox="1"/>
          <p:nvPr/>
        </p:nvSpPr>
        <p:spPr>
          <a:xfrm>
            <a:off x="7040880" y="4023360"/>
            <a:ext cx="844905"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PLAYBOOK</a:t>
            </a:r>
          </a:p>
        </p:txBody>
      </p:sp>
      <p:sp>
        <p:nvSpPr>
          <p:cNvPr id="12" name="Project tag"/>
          <p:cNvSpPr/>
          <p:nvPr/>
        </p:nvSpPr>
        <p:spPr>
          <a:xfrm>
            <a:off x="7977225" y="4023360"/>
            <a:ext cx="2514600"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Project tag text"/>
          <p:cNvSpPr txBox="1"/>
          <p:nvPr/>
        </p:nvSpPr>
        <p:spPr>
          <a:xfrm>
            <a:off x="7977225" y="4023360"/>
            <a:ext cx="2514600" cy="237744"/>
          </a:xfrm>
          <a:prstGeom prst="rect">
            <a:avLst/>
          </a:prstGeom>
          <a:noFill/>
        </p:spPr>
        <p:txBody>
          <a:bodyPr wrap="none" lIns="0" tIns="0" rIns="0" bIns="0" anchor="ctr">
            <a:spAutoFit/>
          </a:bodyPr>
          <a:lstStyle/>
          <a:p>
            <a:pPr algn="ctr">
              <a:spcAft>
                <a:spcPts val="0"/>
              </a:spcAft>
            </a:pPr>
            <a:r>
              <a:rPr sz="850" b="1" i="0" spc="100">
                <a:solidFill>
                  <a:srgbClr val="7FC8FF"/>
                </a:solidFill>
              </a:rPr>
              <a:t>ACCOUNTABILITY FRAMEWORK</a:t>
            </a:r>
          </a:p>
        </p:txBody>
      </p:sp>
      <p:sp>
        <p:nvSpPr>
          <p:cNvPr id="14" name="Already moving"/>
          <p:cNvSpPr txBox="1"/>
          <p:nvPr/>
        </p:nvSpPr>
        <p:spPr>
          <a:xfrm>
            <a:off x="7040880" y="4407408"/>
            <a:ext cx="4617720" cy="1371600"/>
          </a:xfrm>
          <a:prstGeom prst="rect">
            <a:avLst/>
          </a:prstGeom>
          <a:noFill/>
        </p:spPr>
        <p:txBody>
          <a:bodyPr wrap="square" lIns="0" tIns="0" rIns="0" bIns="0" anchor="t">
            <a:spAutoFit/>
          </a:bodyPr>
          <a:lstStyle/>
          <a:p>
            <a:pPr>
              <a:spcAft>
                <a:spcPts val="0"/>
              </a:spcAft>
            </a:pPr>
            <a:r>
              <a:rPr sz="1150" b="0" i="0">
                <a:solidFill>
                  <a:srgbClr val="C9CDE8"/>
                </a:solidFill>
              </a:rPr>
              <a:t>The Playbook sets methodology standards and an AI role. The Accountability Framework defines essential roles and ties growth and client service to the client engagement model and executive sponsors, with client value as a review metric.</a:t>
            </a:r>
          </a:p>
        </p:txBody>
      </p:sp>
      <p:sp>
        <p:nvSpPr>
          <p:cNvPr id="15" name="Where label"/>
          <p:cNvSpPr txBox="1"/>
          <p:nvPr/>
        </p:nvSpPr>
        <p:spPr>
          <a:xfrm>
            <a:off x="914400" y="5943600"/>
            <a:ext cx="2743200" cy="182880"/>
          </a:xfrm>
          <a:prstGeom prst="rect">
            <a:avLst/>
          </a:prstGeom>
          <a:noFill/>
        </p:spPr>
        <p:txBody>
          <a:bodyPr wrap="square" lIns="0" tIns="0" rIns="0" bIns="0" anchor="t">
            <a:spAutoFit/>
          </a:bodyPr>
          <a:lstStyle/>
          <a:p>
            <a:pPr>
              <a:spcAft>
                <a:spcPts val="0"/>
              </a:spcAft>
            </a:pPr>
            <a:r>
              <a:rPr sz="850" b="1" i="0" spc="200">
                <a:solidFill>
                  <a:srgbClr val="7FC8FF"/>
                </a:solidFill>
              </a:rPr>
              <a:t>WHERE IT SHOWS UP</a:t>
            </a:r>
          </a:p>
        </p:txBody>
      </p:sp>
      <p:sp>
        <p:nvSpPr>
          <p:cNvPr id="16" name="Where it shows up"/>
          <p:cNvSpPr txBox="1"/>
          <p:nvPr/>
        </p:nvSpPr>
        <p:spPr>
          <a:xfrm>
            <a:off x="914400" y="6144768"/>
            <a:ext cx="10744200" cy="365760"/>
          </a:xfrm>
          <a:prstGeom prst="rect">
            <a:avLst/>
          </a:prstGeom>
          <a:noFill/>
        </p:spPr>
        <p:txBody>
          <a:bodyPr wrap="square" lIns="0" tIns="0" rIns="0" bIns="0" anchor="t">
            <a:spAutoFit/>
          </a:bodyPr>
          <a:lstStyle/>
          <a:p>
            <a:pPr>
              <a:spcAft>
                <a:spcPts val="0"/>
              </a:spcAft>
            </a:pPr>
            <a:r>
              <a:rPr sz="1100" b="0" i="0">
                <a:solidFill>
                  <a:srgbClr val="C9CDE8"/>
                </a:solidFill>
              </a:rPr>
              <a:t>Tommy (SAP Commerce skills), RL (program planning), Lumen (AJO error), HD and Enterprise (value)</a:t>
            </a:r>
          </a:p>
        </p:txBody>
      </p:sp>
      <p:sp>
        <p:nvSpPr>
          <p:cNvPr id="17"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6B74B0"/>
                </a:solidFill>
              </a:rPr>
              <a:t>DEFINE</a:t>
            </a:r>
            <a:r>
              <a:rPr sz="900" b="0" i="0" spc="120">
                <a:solidFill>
                  <a:srgbClr val="000000"/>
                </a:solidFill>
              </a:rPr>
              <a:t>      </a:t>
            </a:r>
            <a:r>
              <a:rPr sz="900" b="0" i="0" spc="120">
                <a:solidFill>
                  <a:srgbClr val="6B74B0"/>
                </a:solidFill>
              </a:rPr>
              <a:t>OWN</a:t>
            </a:r>
            <a:r>
              <a:rPr sz="900" b="0" i="0" spc="120">
                <a:solidFill>
                  <a:srgbClr val="000000"/>
                </a:solidFill>
              </a:rPr>
              <a:t>      </a:t>
            </a:r>
            <a:r>
              <a:rPr sz="900" b="0" i="0" spc="120">
                <a:solidFill>
                  <a:srgbClr val="6B74B0"/>
                </a:solidFill>
              </a:rPr>
              <a:t>SELL</a:t>
            </a:r>
            <a:r>
              <a:rPr sz="900" b="0" i="0" spc="120">
                <a:solidFill>
                  <a:srgbClr val="000000"/>
                </a:solidFill>
              </a:rPr>
              <a:t>      </a:t>
            </a:r>
            <a:r>
              <a:rPr sz="900" b="0" i="0" spc="120">
                <a:solidFill>
                  <a:srgbClr val="6B74B0"/>
                </a:solidFill>
              </a:rPr>
              <a:t>STAFF</a:t>
            </a:r>
            <a:r>
              <a:rPr sz="900" b="0" i="0" spc="120">
                <a:solidFill>
                  <a:srgbClr val="000000"/>
                </a:solidFill>
              </a:rPr>
              <a:t>      </a:t>
            </a:r>
            <a:r>
              <a:rPr sz="900" b="1" i="0" spc="120">
                <a:solidFill>
                  <a:srgbClr val="FFFFFF"/>
                </a:solidFill>
              </a:rPr>
              <a:t>●  DELIVER</a:t>
            </a:r>
            <a:r>
              <a:rPr sz="900" b="0" i="0" spc="120">
                <a:solidFill>
                  <a:srgbClr val="000000"/>
                </a:solidFill>
              </a:rPr>
              <a:t>      </a:t>
            </a:r>
            <a:r>
              <a:rPr sz="900" b="0" i="0" spc="120">
                <a:solidFill>
                  <a:srgbClr val="6B74B0"/>
                </a:solidFill>
              </a:rPr>
              <a:t>WATCH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Modern ways of working</a:t>
            </a:r>
          </a:p>
        </p:txBody>
      </p:sp>
      <p:sp>
        <p:nvSpPr>
          <p:cNvPr id="4" name="Text Placeholder 3"/>
          <p:cNvSpPr>
            <a:spLocks noGrp="1"/>
          </p:cNvSpPr>
          <p:nvPr>
            <p:ph type="body" sz="quarter" idx="12"/>
          </p:nvPr>
        </p:nvSpPr>
        <p:spPr/>
        <p:txBody>
          <a:bodyPr/>
          <a:lstStyle/>
          <a:p>
            <a:r>
              <a:t>ASK 07 OF 11  ·  DELIVER</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8888A1"/>
                </a:solidFill>
              </a:rPr>
              <a:t>DEFINE      OWN      SELL      STAFF      </a:t>
            </a:r>
            <a:r>
              <a:rPr sz="900" b="1" i="0" spc="120">
                <a:solidFill>
                  <a:srgbClr val="040E4B"/>
                </a:solidFill>
              </a:rPr>
              <a:t>●  DELIVER</a:t>
            </a:r>
            <a:r>
              <a:rPr sz="900" b="0" i="0" spc="120">
                <a:solidFill>
                  <a:srgbClr val="8888A1"/>
                </a:solidFill>
              </a:rPr>
              <a:t>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Modern ways of working"/>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“Modernize how we deliver so we can compete.”</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Agile practice is uneven and our delivery methods trail competitors.</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Common agile practice and standards, with no waterfall labeled as agile.</a:t>
            </a:r>
          </a:p>
          <a:p>
            <a:pPr marL="155448" indent="-155448">
              <a:lnSpc>
                <a:spcPct val="100000"/>
              </a:lnSpc>
              <a:spcAft>
                <a:spcPts val="400"/>
              </a:spcAft>
              <a:buClr>
                <a:srgbClr val="0391F2"/>
              </a:buClr>
              <a:buFont typeface="Arial"/>
              <a:buChar char="•"/>
            </a:pPr>
            <a:r>
              <a:rPr sz="1150" b="0" i="0">
                <a:solidFill>
                  <a:srgbClr val="000000"/>
                </a:solidFill>
              </a:rPr>
              <a:t>Common standards for reporting, solutioning, development, and testing, including CI/CD and AI.</a:t>
            </a:r>
          </a:p>
          <a:p>
            <a:pPr marL="155448" indent="-155448">
              <a:lnSpc>
                <a:spcPct val="100000"/>
              </a:lnSpc>
              <a:spcAft>
                <a:spcPts val="400"/>
              </a:spcAft>
              <a:buClr>
                <a:srgbClr val="0391F2"/>
              </a:buClr>
              <a:buFont typeface="Arial"/>
              <a:buChar char="•"/>
            </a:pPr>
            <a:r>
              <a:rPr sz="1150" b="0" i="0">
                <a:solidFill>
                  <a:srgbClr val="000000"/>
                </a:solidFill>
              </a:rPr>
              <a:t>An AI-enabled approach, with blended human and agent teams and run models after go-live.</a:t>
            </a:r>
          </a:p>
          <a:p>
            <a:pPr marL="155448" indent="-155448">
              <a:lnSpc>
                <a:spcPct val="100000"/>
              </a:lnSpc>
              <a:spcAft>
                <a:spcPts val="400"/>
              </a:spcAft>
              <a:buClr>
                <a:srgbClr val="0391F2"/>
              </a:buClr>
              <a:buFont typeface="Arial"/>
              <a:buChar char="•"/>
            </a:pPr>
            <a:r>
              <a:rPr sz="1150" b="0" i="0">
                <a:solidFill>
                  <a:srgbClr val="000000"/>
                </a:solidFill>
              </a:rPr>
              <a:t>A named change and adoption method.</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Keep common ways of working in the first release, set a date for the AI work, and name an adoption method.</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844905"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844905"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PLAYBOOK</a:t>
            </a:r>
          </a:p>
        </p:txBody>
      </p:sp>
      <p:sp>
        <p:nvSpPr>
          <p:cNvPr id="23"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Deal-to-Delivery Playbook sets clear working practices (SAFe Agile, test-driven development) so we guide clients into how we work. An AI Role story follows once the first three stories land.</a:t>
            </a:r>
          </a:p>
        </p:txBody>
      </p:sp>
      <p:cxnSp>
        <p:nvCxnSpPr>
          <p:cNvPr id="24"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5"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6"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Tommy (SAP Commerce skills), RL (program planning), Lumen (AJO error)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Doing more than the contract</a:t>
            </a:r>
          </a:p>
        </p:txBody>
      </p:sp>
      <p:sp>
        <p:nvSpPr>
          <p:cNvPr id="4" name="Text Placeholder 3"/>
          <p:cNvSpPr>
            <a:spLocks noGrp="1"/>
          </p:cNvSpPr>
          <p:nvPr>
            <p:ph type="body" sz="quarter" idx="12"/>
          </p:nvPr>
        </p:nvSpPr>
        <p:spPr/>
        <p:txBody>
          <a:bodyPr/>
          <a:lstStyle/>
          <a:p>
            <a:r>
              <a:t>ASK 08 OF 11  ·  DELIVER</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8888A1"/>
                </a:solidFill>
              </a:rPr>
              <a:t>DEFINE      OWN      SELL      STAFF      </a:t>
            </a:r>
            <a:r>
              <a:rPr sz="900" b="1" i="0" spc="120">
                <a:solidFill>
                  <a:srgbClr val="040E4B"/>
                </a:solidFill>
              </a:rPr>
              <a:t>●  DELIVER</a:t>
            </a:r>
            <a:r>
              <a:rPr sz="900" b="0" i="0" spc="120">
                <a:solidFill>
                  <a:srgbClr val="8888A1"/>
                </a:solidFill>
              </a:rPr>
              <a:t>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Doing more than the contract"/>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“Help us grow accounts, not just deliver them.”</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Teams stick to scope and are too busy fixing delivery to grow client value.</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Room to do more than the contract when clients expect it.</a:t>
            </a:r>
          </a:p>
          <a:p>
            <a:pPr marL="155448" indent="-155448">
              <a:lnSpc>
                <a:spcPct val="100000"/>
              </a:lnSpc>
              <a:spcAft>
                <a:spcPts val="400"/>
              </a:spcAft>
              <a:buClr>
                <a:srgbClr val="0391F2"/>
              </a:buClr>
              <a:buFont typeface="Arial"/>
              <a:buChar char="•"/>
            </a:pPr>
            <a:r>
              <a:rPr sz="1150" b="0" i="0">
                <a:solidFill>
                  <a:srgbClr val="000000"/>
                </a:solidFill>
              </a:rPr>
              <a:t>Clear roles on each contract that own growing the account.</a:t>
            </a:r>
          </a:p>
          <a:p>
            <a:pPr marL="155448" indent="-155448">
              <a:lnSpc>
                <a:spcPct val="100000"/>
              </a:lnSpc>
              <a:spcAft>
                <a:spcPts val="400"/>
              </a:spcAft>
              <a:buClr>
                <a:srgbClr val="0391F2"/>
              </a:buClr>
              <a:buFont typeface="Arial"/>
              <a:buChar char="•"/>
            </a:pPr>
            <a:r>
              <a:rPr sz="1150" b="0" i="0">
                <a:solidFill>
                  <a:srgbClr val="000000"/>
                </a:solidFill>
              </a:rPr>
              <a:t>Client value shown as a metric in our reviews, measured continuously.</a:t>
            </a:r>
          </a:p>
          <a:p>
            <a:pPr marL="155448" indent="-155448">
              <a:lnSpc>
                <a:spcPct val="100000"/>
              </a:lnSpc>
              <a:spcAft>
                <a:spcPts val="400"/>
              </a:spcAft>
              <a:buClr>
                <a:srgbClr val="0391F2"/>
              </a:buClr>
              <a:buFont typeface="Arial"/>
              <a:buChar char="•"/>
            </a:pPr>
            <a:r>
              <a:rPr sz="1150" b="0" i="0">
                <a:solidFill>
                  <a:srgbClr val="000000"/>
                </a:solidFill>
              </a:rPr>
              <a:t>Proof buyers can cite internally: benchmarks and case math.</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Define roles on each contract to cover this, and add client value as a metric in our account reviews.</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2514600"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2514600" cy="237744"/>
          </a:xfrm>
          <a:prstGeom prst="rect">
            <a:avLst/>
          </a:prstGeom>
          <a:noFill/>
        </p:spPr>
        <p:txBody>
          <a:bodyPr wrap="none" lIns="0" tIns="0" rIns="0" bIns="0" anchor="ctr">
            <a:spAutoFit/>
          </a:bodyPr>
          <a:lstStyle/>
          <a:p>
            <a:pPr algn="ctr">
              <a:spcAft>
                <a:spcPts val="0"/>
              </a:spcAft>
            </a:pPr>
            <a:r>
              <a:rPr sz="850" b="1" i="0" spc="100">
                <a:solidFill>
                  <a:srgbClr val="7FC8FF"/>
                </a:solidFill>
              </a:rPr>
              <a:t>ACCOUNTABILITY FRAMEWORK</a:t>
            </a:r>
          </a:p>
        </p:txBody>
      </p:sp>
      <p:sp>
        <p:nvSpPr>
          <p:cNvPr id="23"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The Accountability Framework defines the essential roles on each account, including who owns growing it, and ties growth and client service to the client engagement model and executive sponsors. Client value then becomes a metric in the quarterly reviews and the weekly Delivery Excellence call.</a:t>
            </a:r>
          </a:p>
        </p:txBody>
      </p:sp>
      <p:cxnSp>
        <p:nvCxnSpPr>
          <p:cNvPr id="24"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5"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6"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HD, Tommy, Lumen, McDonald’s, Enterprise (losing ~$2M to Perficient)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we watch it</a:t>
            </a:r>
          </a:p>
        </p:txBody>
      </p:sp>
      <p:sp>
        <p:nvSpPr>
          <p:cNvPr id="3" name="Text Placeholder 2"/>
          <p:cNvSpPr>
            <a:spLocks noGrp="1"/>
          </p:cNvSpPr>
          <p:nvPr>
            <p:ph type="body" sz="quarter" idx="15"/>
          </p:nvPr>
        </p:nvSpPr>
        <p:spPr/>
        <p:txBody>
          <a:bodyPr/>
          <a:lstStyle/>
          <a:p>
            <a:r>
              <a:t>STREAM 6 OF 6</a:t>
            </a:r>
          </a:p>
        </p:txBody>
      </p:sp>
      <p:sp>
        <p:nvSpPr>
          <p:cNvPr id="4" name="Stream description"/>
          <p:cNvSpPr txBox="1"/>
          <p:nvPr/>
        </p:nvSpPr>
        <p:spPr>
          <a:xfrm>
            <a:off x="914400" y="2697480"/>
            <a:ext cx="8229600" cy="731520"/>
          </a:xfrm>
          <a:prstGeom prst="rect">
            <a:avLst/>
          </a:prstGeom>
          <a:noFill/>
        </p:spPr>
        <p:txBody>
          <a:bodyPr wrap="square" lIns="0" tIns="0" rIns="0" bIns="0" anchor="t">
            <a:spAutoFit/>
          </a:bodyPr>
          <a:lstStyle/>
          <a:p>
            <a:pPr>
              <a:spcAft>
                <a:spcPts val="0"/>
              </a:spcAft>
            </a:pPr>
            <a:r>
              <a:rPr sz="1600" b="0" i="0">
                <a:solidFill>
                  <a:srgbClr val="FFFFFF"/>
                </a:solidFill>
              </a:rPr>
              <a:t>We cannot see account health until the client feels it, and there is no regular rhythm to act on it.</a:t>
            </a:r>
          </a:p>
        </p:txBody>
      </p:sp>
      <p:cxnSp>
        <p:nvCxnSpPr>
          <p:cNvPr id="5" name="Rule"/>
          <p:cNvCxnSpPr/>
          <p:nvPr/>
        </p:nvCxnSpPr>
        <p:spPr>
          <a:xfrm>
            <a:off x="914400" y="3566160"/>
            <a:ext cx="10744200" cy="0"/>
          </a:xfrm>
          <a:prstGeom prst="line">
            <a:avLst/>
          </a:prstGeom>
          <a:ln w="9525">
            <a:solidFill>
              <a:srgbClr val="2A357A"/>
            </a:solidFill>
          </a:ln>
        </p:spPr>
        <p:style>
          <a:lnRef idx="2">
            <a:schemeClr val="accent1"/>
          </a:lnRef>
          <a:fillRef idx="0">
            <a:schemeClr val="accent1"/>
          </a:fillRef>
          <a:effectRef idx="1">
            <a:schemeClr val="accent1"/>
          </a:effectRef>
          <a:fontRef idx="minor">
            <a:schemeClr val="tx1"/>
          </a:fontRef>
        </p:style>
      </p:cxnSp>
      <p:sp>
        <p:nvSpPr>
          <p:cNvPr id="6" name="In this stream label"/>
          <p:cNvSpPr txBox="1"/>
          <p:nvPr/>
        </p:nvSpPr>
        <p:spPr>
          <a:xfrm>
            <a:off x="91440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IN THIS STREAM</a:t>
            </a:r>
          </a:p>
        </p:txBody>
      </p:sp>
      <p:sp>
        <p:nvSpPr>
          <p:cNvPr id="7" name="Ask 8 preview"/>
          <p:cNvSpPr txBox="1"/>
          <p:nvPr/>
        </p:nvSpPr>
        <p:spPr>
          <a:xfrm>
            <a:off x="914400" y="4023360"/>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09   </a:t>
            </a:r>
            <a:r>
              <a:rPr sz="1400" b="1" i="0">
                <a:solidFill>
                  <a:srgbClr val="FFFFFF"/>
                </a:solidFill>
              </a:rPr>
              <a:t>Seeing risk early</a:t>
            </a:r>
          </a:p>
          <a:p>
            <a:pPr>
              <a:spcAft>
                <a:spcPts val="0"/>
              </a:spcAft>
            </a:pPr>
            <a:r>
              <a:rPr sz="1150" b="0" i="1">
                <a:solidFill>
                  <a:srgbClr val="C9CDE8"/>
                </a:solidFill>
              </a:rPr>
              <a:t>“Show us delivery risk before clients feel it.”</a:t>
            </a:r>
          </a:p>
        </p:txBody>
      </p:sp>
      <p:sp>
        <p:nvSpPr>
          <p:cNvPr id="8" name="Ask 9 preview"/>
          <p:cNvSpPr txBox="1"/>
          <p:nvPr/>
        </p:nvSpPr>
        <p:spPr>
          <a:xfrm>
            <a:off x="914400" y="4626864"/>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10   </a:t>
            </a:r>
            <a:r>
              <a:rPr sz="1400" b="1" i="0">
                <a:solidFill>
                  <a:srgbClr val="FFFFFF"/>
                </a:solidFill>
              </a:rPr>
              <a:t>A regular leadership meeting</a:t>
            </a:r>
          </a:p>
          <a:p>
            <a:pPr>
              <a:spcAft>
                <a:spcPts val="0"/>
              </a:spcAft>
            </a:pPr>
            <a:r>
              <a:rPr sz="1150" b="0" i="1">
                <a:solidFill>
                  <a:srgbClr val="C9CDE8"/>
                </a:solidFill>
              </a:rPr>
              <a:t>“Give us a regular rhythm for delivery and staffing decisions.”</a:t>
            </a:r>
          </a:p>
        </p:txBody>
      </p:sp>
      <p:sp>
        <p:nvSpPr>
          <p:cNvPr id="9" name="Ask 10 preview"/>
          <p:cNvSpPr txBox="1"/>
          <p:nvPr/>
        </p:nvSpPr>
        <p:spPr>
          <a:xfrm>
            <a:off x="914400" y="5230368"/>
            <a:ext cx="5577840" cy="530352"/>
          </a:xfrm>
          <a:prstGeom prst="rect">
            <a:avLst/>
          </a:prstGeom>
          <a:noFill/>
        </p:spPr>
        <p:txBody>
          <a:bodyPr wrap="square" lIns="0" tIns="0" rIns="0" bIns="0" anchor="t">
            <a:spAutoFit/>
          </a:bodyPr>
          <a:lstStyle/>
          <a:p>
            <a:pPr>
              <a:spcAft>
                <a:spcPts val="100"/>
              </a:spcAft>
            </a:pPr>
            <a:r>
              <a:rPr sz="1100" b="1" i="0">
                <a:solidFill>
                  <a:srgbClr val="7FC8FF"/>
                </a:solidFill>
              </a:rPr>
              <a:t>Ask 11   </a:t>
            </a:r>
            <a:r>
              <a:rPr sz="1400" b="1" i="0">
                <a:solidFill>
                  <a:srgbClr val="FFFFFF"/>
                </a:solidFill>
              </a:rPr>
              <a:t>The 2027 revenue map</a:t>
            </a:r>
          </a:p>
          <a:p>
            <a:pPr>
              <a:spcAft>
                <a:spcPts val="0"/>
              </a:spcAft>
            </a:pPr>
            <a:r>
              <a:rPr sz="1150" b="0" i="1">
                <a:solidFill>
                  <a:srgbClr val="C9CDE8"/>
                </a:solidFill>
              </a:rPr>
              <a:t>“Find out why the numbers do not add up.”</a:t>
            </a:r>
          </a:p>
        </p:txBody>
      </p:sp>
      <p:sp>
        <p:nvSpPr>
          <p:cNvPr id="10" name="Already moving label"/>
          <p:cNvSpPr txBox="1"/>
          <p:nvPr/>
        </p:nvSpPr>
        <p:spPr>
          <a:xfrm>
            <a:off x="7040880" y="3721608"/>
            <a:ext cx="3657600" cy="201168"/>
          </a:xfrm>
          <a:prstGeom prst="rect">
            <a:avLst/>
          </a:prstGeom>
          <a:noFill/>
        </p:spPr>
        <p:txBody>
          <a:bodyPr wrap="square" lIns="0" tIns="0" rIns="0" bIns="0" anchor="t">
            <a:spAutoFit/>
          </a:bodyPr>
          <a:lstStyle/>
          <a:p>
            <a:pPr>
              <a:spcAft>
                <a:spcPts val="0"/>
              </a:spcAft>
            </a:pPr>
            <a:r>
              <a:rPr sz="900" b="1" i="0" spc="200">
                <a:solidFill>
                  <a:srgbClr val="7FC8FF"/>
                </a:solidFill>
              </a:rPr>
              <a:t>ALREADY MOVING</a:t>
            </a:r>
          </a:p>
        </p:txBody>
      </p:sp>
      <p:sp>
        <p:nvSpPr>
          <p:cNvPr id="11" name="Project tag"/>
          <p:cNvSpPr/>
          <p:nvPr/>
        </p:nvSpPr>
        <p:spPr>
          <a:xfrm>
            <a:off x="7040880" y="4023360"/>
            <a:ext cx="2514600"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Project tag text"/>
          <p:cNvSpPr txBox="1"/>
          <p:nvPr/>
        </p:nvSpPr>
        <p:spPr>
          <a:xfrm>
            <a:off x="7040880" y="4023360"/>
            <a:ext cx="2514600" cy="237744"/>
          </a:xfrm>
          <a:prstGeom prst="rect">
            <a:avLst/>
          </a:prstGeom>
          <a:noFill/>
        </p:spPr>
        <p:txBody>
          <a:bodyPr wrap="none" lIns="0" tIns="0" rIns="0" bIns="0" anchor="ctr">
            <a:spAutoFit/>
          </a:bodyPr>
          <a:lstStyle/>
          <a:p>
            <a:pPr algn="ctr">
              <a:spcAft>
                <a:spcPts val="0"/>
              </a:spcAft>
            </a:pPr>
            <a:r>
              <a:rPr sz="850" b="1" i="0" spc="100">
                <a:solidFill>
                  <a:srgbClr val="7FC8FF"/>
                </a:solidFill>
              </a:rPr>
              <a:t>ACCOUNTABILITY FRAMEWORK</a:t>
            </a:r>
          </a:p>
        </p:txBody>
      </p:sp>
      <p:sp>
        <p:nvSpPr>
          <p:cNvPr id="13" name="Already moving"/>
          <p:cNvSpPr txBox="1"/>
          <p:nvPr/>
        </p:nvSpPr>
        <p:spPr>
          <a:xfrm>
            <a:off x="7040880" y="4407408"/>
            <a:ext cx="4617720" cy="1371600"/>
          </a:xfrm>
          <a:prstGeom prst="rect">
            <a:avLst/>
          </a:prstGeom>
          <a:noFill/>
        </p:spPr>
        <p:txBody>
          <a:bodyPr wrap="square" lIns="0" tIns="0" rIns="0" bIns="0" anchor="t">
            <a:spAutoFit/>
          </a:bodyPr>
          <a:lstStyle/>
          <a:p>
            <a:pPr>
              <a:spcAft>
                <a:spcPts val="0"/>
              </a:spcAft>
            </a:pPr>
            <a:r>
              <a:rPr sz="1150" b="0" i="0">
                <a:solidFill>
                  <a:srgbClr val="C9CDE8"/>
                </a:solidFill>
              </a:rPr>
              <a:t>The Accountability Framework is where we talk about risk: a phased rollout of quarterly reviews, with high risk projects highlighted in ongoing Delivery Excellence meetings. Leadership Dashboards can add the numbers later. The 2027 revenue map needs a root cause first.</a:t>
            </a:r>
          </a:p>
        </p:txBody>
      </p:sp>
      <p:sp>
        <p:nvSpPr>
          <p:cNvPr id="14" name="Where label"/>
          <p:cNvSpPr txBox="1"/>
          <p:nvPr/>
        </p:nvSpPr>
        <p:spPr>
          <a:xfrm>
            <a:off x="914400" y="5943600"/>
            <a:ext cx="2743200" cy="182880"/>
          </a:xfrm>
          <a:prstGeom prst="rect">
            <a:avLst/>
          </a:prstGeom>
          <a:noFill/>
        </p:spPr>
        <p:txBody>
          <a:bodyPr wrap="square" lIns="0" tIns="0" rIns="0" bIns="0" anchor="t">
            <a:spAutoFit/>
          </a:bodyPr>
          <a:lstStyle/>
          <a:p>
            <a:pPr>
              <a:spcAft>
                <a:spcPts val="0"/>
              </a:spcAft>
            </a:pPr>
            <a:r>
              <a:rPr sz="850" b="1" i="0" spc="200">
                <a:solidFill>
                  <a:srgbClr val="7FC8FF"/>
                </a:solidFill>
              </a:rPr>
              <a:t>WHERE IT SHOWS UP</a:t>
            </a:r>
          </a:p>
        </p:txBody>
      </p:sp>
      <p:sp>
        <p:nvSpPr>
          <p:cNvPr id="15" name="Where it shows up"/>
          <p:cNvSpPr txBox="1"/>
          <p:nvPr/>
        </p:nvSpPr>
        <p:spPr>
          <a:xfrm>
            <a:off x="914400" y="6144768"/>
            <a:ext cx="10744200" cy="365760"/>
          </a:xfrm>
          <a:prstGeom prst="rect">
            <a:avLst/>
          </a:prstGeom>
          <a:noFill/>
        </p:spPr>
        <p:txBody>
          <a:bodyPr wrap="square" lIns="0" tIns="0" rIns="0" bIns="0" anchor="t">
            <a:spAutoFit/>
          </a:bodyPr>
          <a:lstStyle/>
          <a:p>
            <a:pPr>
              <a:spcAft>
                <a:spcPts val="0"/>
              </a:spcAft>
            </a:pPr>
            <a:r>
              <a:rPr sz="1100" b="0" i="0">
                <a:solidFill>
                  <a:srgbClr val="C9CDE8"/>
                </a:solidFill>
              </a:rPr>
              <a:t>LHW (a year of escalations before it cancelled), Enterprise ($10M gap in 2027)</a:t>
            </a:r>
          </a:p>
        </p:txBody>
      </p:sp>
      <p:sp>
        <p:nvSpPr>
          <p:cNvPr id="16"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6B74B0"/>
                </a:solidFill>
              </a:rPr>
              <a:t>DEFINE</a:t>
            </a:r>
            <a:r>
              <a:rPr sz="900" b="0" i="0" spc="120">
                <a:solidFill>
                  <a:srgbClr val="000000"/>
                </a:solidFill>
              </a:rPr>
              <a:t>      </a:t>
            </a:r>
            <a:r>
              <a:rPr sz="900" b="0" i="0" spc="120">
                <a:solidFill>
                  <a:srgbClr val="6B74B0"/>
                </a:solidFill>
              </a:rPr>
              <a:t>OWN</a:t>
            </a:r>
            <a:r>
              <a:rPr sz="900" b="0" i="0" spc="120">
                <a:solidFill>
                  <a:srgbClr val="000000"/>
                </a:solidFill>
              </a:rPr>
              <a:t>      </a:t>
            </a:r>
            <a:r>
              <a:rPr sz="900" b="0" i="0" spc="120">
                <a:solidFill>
                  <a:srgbClr val="6B74B0"/>
                </a:solidFill>
              </a:rPr>
              <a:t>SELL</a:t>
            </a:r>
            <a:r>
              <a:rPr sz="900" b="0" i="0" spc="120">
                <a:solidFill>
                  <a:srgbClr val="000000"/>
                </a:solidFill>
              </a:rPr>
              <a:t>      </a:t>
            </a:r>
            <a:r>
              <a:rPr sz="900" b="0" i="0" spc="120">
                <a:solidFill>
                  <a:srgbClr val="6B74B0"/>
                </a:solidFill>
              </a:rPr>
              <a:t>STAFF</a:t>
            </a:r>
            <a:r>
              <a:rPr sz="900" b="0" i="0" spc="120">
                <a:solidFill>
                  <a:srgbClr val="000000"/>
                </a:solidFill>
              </a:rPr>
              <a:t>      </a:t>
            </a:r>
            <a:r>
              <a:rPr sz="900" b="0" i="0" spc="120">
                <a:solidFill>
                  <a:srgbClr val="6B74B0"/>
                </a:solidFill>
              </a:rPr>
              <a:t>DELIVER</a:t>
            </a:r>
            <a:r>
              <a:rPr sz="900" b="0" i="0" spc="120">
                <a:solidFill>
                  <a:srgbClr val="000000"/>
                </a:solidFill>
              </a:rPr>
              <a:t>      </a:t>
            </a:r>
            <a:r>
              <a:rPr sz="900" b="1" i="0" spc="120">
                <a:solidFill>
                  <a:srgbClr val="FFFFFF"/>
                </a:solidFill>
              </a:rPr>
              <a:t>●  WATCH</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Seeing risk early</a:t>
            </a:r>
          </a:p>
        </p:txBody>
      </p:sp>
      <p:sp>
        <p:nvSpPr>
          <p:cNvPr id="4" name="Text Placeholder 3"/>
          <p:cNvSpPr>
            <a:spLocks noGrp="1"/>
          </p:cNvSpPr>
          <p:nvPr>
            <p:ph type="body" sz="quarter" idx="12"/>
          </p:nvPr>
        </p:nvSpPr>
        <p:spPr/>
        <p:txBody>
          <a:bodyPr/>
          <a:lstStyle/>
          <a:p>
            <a:r>
              <a:t>ASK 09 OF 11  ·  WATCH</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8888A1"/>
                </a:solidFill>
              </a:rPr>
              <a:t>DEFINE      OWN      SELL      STAFF      DELIVER      </a:t>
            </a:r>
            <a:r>
              <a:rPr sz="900" b="1" i="0" spc="120">
                <a:solidFill>
                  <a:srgbClr val="040E4B"/>
                </a:solidFill>
              </a:rPr>
              <a:t>●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Seeing risk early"/>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“Show us delivery risk before clients feel it.”</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We cannot see account health until the client feels it, and status goes stale after each triage.</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One view of account health across all accounts.</a:t>
            </a:r>
          </a:p>
          <a:p>
            <a:pPr marL="155448" indent="-155448">
              <a:lnSpc>
                <a:spcPct val="100000"/>
              </a:lnSpc>
              <a:spcAft>
                <a:spcPts val="400"/>
              </a:spcAft>
              <a:buClr>
                <a:srgbClr val="0391F2"/>
              </a:buClr>
              <a:buFont typeface="Arial"/>
              <a:buChar char="•"/>
            </a:pPr>
            <a:r>
              <a:rPr sz="1150" b="0" i="0">
                <a:solidFill>
                  <a:srgbClr val="000000"/>
                </a:solidFill>
              </a:rPr>
              <a:t>Red / yellow / green status by account, BU, and workstream.</a:t>
            </a:r>
          </a:p>
          <a:p>
            <a:pPr marL="155448" indent="-155448">
              <a:lnSpc>
                <a:spcPct val="100000"/>
              </a:lnSpc>
              <a:spcAft>
                <a:spcPts val="400"/>
              </a:spcAft>
              <a:buClr>
                <a:srgbClr val="0391F2"/>
              </a:buClr>
              <a:buFont typeface="Arial"/>
              <a:buChar char="•"/>
            </a:pPr>
            <a:r>
              <a:rPr sz="1150" b="0" i="0">
                <a:solidFill>
                  <a:srgbClr val="000000"/>
                </a:solidFill>
              </a:rPr>
              <a:t>Status that stays current, not a snapshot from a triage review.</a:t>
            </a:r>
          </a:p>
          <a:p>
            <a:pPr marL="155448" indent="-155448">
              <a:lnSpc>
                <a:spcPct val="100000"/>
              </a:lnSpc>
              <a:spcAft>
                <a:spcPts val="400"/>
              </a:spcAft>
              <a:buClr>
                <a:srgbClr val="0391F2"/>
              </a:buClr>
              <a:buFont typeface="Arial"/>
              <a:buChar char="•"/>
            </a:pPr>
            <a:r>
              <a:rPr sz="1150" b="0" i="0">
                <a:solidFill>
                  <a:srgbClr val="000000"/>
                </a:solidFill>
              </a:rPr>
              <a:t>Problems escalated and resolved before the client feels them.</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Build risk and status into the Accountability Framework quarterly reviews, so every major account gets a regular red / yellow / green view.</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2514600"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2514600" cy="237744"/>
          </a:xfrm>
          <a:prstGeom prst="rect">
            <a:avLst/>
          </a:prstGeom>
          <a:noFill/>
        </p:spPr>
        <p:txBody>
          <a:bodyPr wrap="none" lIns="0" tIns="0" rIns="0" bIns="0" anchor="ctr">
            <a:spAutoFit/>
          </a:bodyPr>
          <a:lstStyle/>
          <a:p>
            <a:pPr algn="ctr">
              <a:spcAft>
                <a:spcPts val="0"/>
              </a:spcAft>
            </a:pPr>
            <a:r>
              <a:rPr sz="850" b="1" i="0" spc="100">
                <a:solidFill>
                  <a:srgbClr val="7FC8FF"/>
                </a:solidFill>
              </a:rPr>
              <a:t>ACCOUNTABILITY FRAMEWORK</a:t>
            </a:r>
          </a:p>
        </p:txBody>
      </p:sp>
      <p:sp>
        <p:nvSpPr>
          <p:cNvPr id="23"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The Accountability Framework is where we talk about risk. Quarterly reviews start in Q4 for multitrack programs, and high risk projects are highlighted in ongoing Delivery Excellence meetings, alongside hot client topics. Leadership Dashboards can add numbers later.</a:t>
            </a:r>
          </a:p>
        </p:txBody>
      </p:sp>
      <p:cxnSp>
        <p:nvCxnSpPr>
          <p:cNvPr id="24"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5"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6"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LHW (a year of escalations before it cancelled)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A regular leadership meeting</a:t>
            </a:r>
          </a:p>
        </p:txBody>
      </p:sp>
      <p:sp>
        <p:nvSpPr>
          <p:cNvPr id="4" name="Text Placeholder 3"/>
          <p:cNvSpPr>
            <a:spLocks noGrp="1"/>
          </p:cNvSpPr>
          <p:nvPr>
            <p:ph type="body" sz="quarter" idx="12"/>
          </p:nvPr>
        </p:nvSpPr>
        <p:spPr/>
        <p:txBody>
          <a:bodyPr/>
          <a:lstStyle/>
          <a:p>
            <a:r>
              <a:t>ASK 10 OF 11  ·  WATCH</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8888A1"/>
                </a:solidFill>
              </a:rPr>
              <a:t>DEFINE      OWN      SELL      STAFF      DELIVER      </a:t>
            </a:r>
            <a:r>
              <a:rPr sz="900" b="1" i="0" spc="120">
                <a:solidFill>
                  <a:srgbClr val="040E4B"/>
                </a:solidFill>
              </a:rPr>
              <a:t>●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A regular leadership meeting"/>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“Give us a regular rhythm for delivery and staffing decisions.”</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Issues are handled through email and crisis meetings, with no regular rhythm.</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A recurring meeting to prioritize issues, track progress, and share status.</a:t>
            </a:r>
          </a:p>
          <a:p>
            <a:pPr marL="155448" indent="-155448">
              <a:lnSpc>
                <a:spcPct val="100000"/>
              </a:lnSpc>
              <a:spcAft>
                <a:spcPts val="400"/>
              </a:spcAft>
              <a:buClr>
                <a:srgbClr val="0391F2"/>
              </a:buClr>
              <a:buFont typeface="Arial"/>
              <a:buChar char="•"/>
            </a:pPr>
            <a:r>
              <a:rPr sz="1150" b="0" i="0">
                <a:solidFill>
                  <a:srgbClr val="000000"/>
                </a:solidFill>
              </a:rPr>
              <a:t>A weekly Delivery Excellence call is planned, starting with a 3-hour kickoff.</a:t>
            </a:r>
          </a:p>
          <a:p>
            <a:pPr marL="155448" indent="-155448">
              <a:lnSpc>
                <a:spcPct val="100000"/>
              </a:lnSpc>
              <a:spcAft>
                <a:spcPts val="400"/>
              </a:spcAft>
              <a:buClr>
                <a:srgbClr val="0391F2"/>
              </a:buClr>
              <a:buFont typeface="Arial"/>
              <a:buChar char="•"/>
            </a:pPr>
            <a:r>
              <a:rPr sz="1150" b="0" i="0">
                <a:solidFill>
                  <a:srgbClr val="000000"/>
                </a:solidFill>
              </a:rPr>
              <a:t>Topics: hot client issues, and driving delivery excellence before and after the sale.</a:t>
            </a:r>
          </a:p>
          <a:p>
            <a:pPr marL="155448" indent="-155448">
              <a:lnSpc>
                <a:spcPct val="100000"/>
              </a:lnSpc>
              <a:spcAft>
                <a:spcPts val="400"/>
              </a:spcAft>
              <a:buClr>
                <a:srgbClr val="0391F2"/>
              </a:buClr>
              <a:buFont typeface="Arial"/>
              <a:buChar char="•"/>
            </a:pPr>
            <a:r>
              <a:rPr sz="1150" b="0" i="0">
                <a:solidFill>
                  <a:srgbClr val="000000"/>
                </a:solidFill>
              </a:rPr>
              <a:t>A resolution plan for challenged accounts, with regular status updates for everyone.</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Start the Delivery Excellence call: a 3-hour kickoff, then weekly (45 minutes through 2026, 30 minutes from 2027).</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2514600"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2514600" cy="237744"/>
          </a:xfrm>
          <a:prstGeom prst="rect">
            <a:avLst/>
          </a:prstGeom>
          <a:noFill/>
        </p:spPr>
        <p:txBody>
          <a:bodyPr wrap="none" lIns="0" tIns="0" rIns="0" bIns="0" anchor="ctr">
            <a:spAutoFit/>
          </a:bodyPr>
          <a:lstStyle/>
          <a:p>
            <a:pPr algn="ctr">
              <a:spcAft>
                <a:spcPts val="0"/>
              </a:spcAft>
            </a:pPr>
            <a:r>
              <a:rPr sz="850" b="1" i="0" spc="100">
                <a:solidFill>
                  <a:srgbClr val="7FC8FF"/>
                </a:solidFill>
              </a:rPr>
              <a:t>ACCOUNTABILITY FRAMEWORK</a:t>
            </a:r>
          </a:p>
        </p:txBody>
      </p:sp>
      <p:sp>
        <p:nvSpPr>
          <p:cNvPr id="23"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The Accountability Framework includes the weekly Delivery Excellence call: hot client topics, account roles and responsibilities, and engagement model rollout, before and after the sale. Ops collects and analyzes topics ahead of the kickoff.</a:t>
            </a:r>
          </a:p>
        </p:txBody>
      </p:sp>
      <p:cxnSp>
        <p:nvCxnSpPr>
          <p:cNvPr id="24"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5"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6"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Across the double-digit list of challenged accounts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The 2027 revenue map</a:t>
            </a:r>
          </a:p>
        </p:txBody>
      </p:sp>
      <p:sp>
        <p:nvSpPr>
          <p:cNvPr id="4" name="Text Placeholder 3"/>
          <p:cNvSpPr>
            <a:spLocks noGrp="1"/>
          </p:cNvSpPr>
          <p:nvPr>
            <p:ph type="body" sz="quarter" idx="12"/>
          </p:nvPr>
        </p:nvSpPr>
        <p:spPr/>
        <p:txBody>
          <a:bodyPr/>
          <a:lstStyle/>
          <a:p>
            <a:r>
              <a:t>ASK 11 OF 11  ·  WATCH</a:t>
            </a:r>
          </a:p>
        </p:txBody>
      </p:sp>
      <p:sp>
        <p:nvSpPr>
          <p:cNvPr id="5" name="Stream tracker"/>
          <p:cNvSpPr txBox="1"/>
          <p:nvPr/>
        </p:nvSpPr>
        <p:spPr>
          <a:xfrm>
            <a:off x="6172200" y="475488"/>
            <a:ext cx="5486400" cy="201168"/>
          </a:xfrm>
          <a:prstGeom prst="rect">
            <a:avLst/>
          </a:prstGeom>
          <a:noFill/>
        </p:spPr>
        <p:txBody>
          <a:bodyPr wrap="square" lIns="0" tIns="0" rIns="0" bIns="0" anchor="t">
            <a:spAutoFit/>
          </a:bodyPr>
          <a:lstStyle/>
          <a:p>
            <a:pPr algn="r">
              <a:spcAft>
                <a:spcPts val="0"/>
              </a:spcAft>
            </a:pPr>
            <a:r>
              <a:rPr sz="900" b="0" i="0" spc="120">
                <a:solidFill>
                  <a:srgbClr val="8888A1"/>
                </a:solidFill>
              </a:rPr>
              <a:t>DEFINE      OWN      SELL      STAFF      DELIVER      </a:t>
            </a:r>
            <a:r>
              <a:rPr sz="900" b="1" i="0" spc="120">
                <a:solidFill>
                  <a:srgbClr val="040E4B"/>
                </a:solidFill>
              </a:rPr>
              <a:t>●  WATCH</a:t>
            </a:r>
          </a:p>
        </p:txBody>
      </p:sp>
      <p:sp>
        <p:nvSpPr>
          <p:cNvPr id="6" name="Icon badge"/>
          <p:cNvSpPr/>
          <p:nvPr/>
        </p:nvSpPr>
        <p:spPr>
          <a:xfrm>
            <a:off x="530352" y="1481328"/>
            <a:ext cx="768096" cy="768096"/>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The 2027 revenue map"/>
          <p:cNvPicPr>
            <a:picLocks noChangeAspect="1"/>
          </p:cNvPicPr>
          <p:nvPr/>
        </p:nvPicPr>
        <p:blipFill>
          <a:blip r:embed="rId2"/>
          <a:stretch>
            <a:fillRect/>
          </a:stretch>
        </p:blipFill>
        <p:spPr>
          <a:xfrm>
            <a:off x="730056" y="1681032"/>
            <a:ext cx="368686" cy="368686"/>
          </a:xfrm>
          <a:prstGeom prst="rect">
            <a:avLst/>
          </a:prstGeom>
        </p:spPr>
      </p:pic>
      <p:sp>
        <p:nvSpPr>
          <p:cNvPr id="8" name="Ask label"/>
          <p:cNvSpPr txBox="1"/>
          <p:nvPr/>
        </p:nvSpPr>
        <p:spPr>
          <a:xfrm>
            <a:off x="1508760" y="1481328"/>
            <a:ext cx="5486400" cy="201168"/>
          </a:xfrm>
          <a:prstGeom prst="rect">
            <a:avLst/>
          </a:prstGeom>
          <a:noFill/>
        </p:spPr>
        <p:txBody>
          <a:bodyPr wrap="square" lIns="0" tIns="0" rIns="0" bIns="0" anchor="t">
            <a:spAutoFit/>
          </a:bodyPr>
          <a:lstStyle/>
          <a:p>
            <a:pPr>
              <a:spcAft>
                <a:spcPts val="0"/>
              </a:spcAft>
            </a:pPr>
            <a:r>
              <a:rPr sz="950" b="1" i="0" spc="200">
                <a:solidFill>
                  <a:srgbClr val="0391F2"/>
                </a:solidFill>
              </a:rPr>
              <a:t>THE ASK</a:t>
            </a:r>
          </a:p>
        </p:txBody>
      </p:sp>
      <p:sp>
        <p:nvSpPr>
          <p:cNvPr id="9" name="Ask quote"/>
          <p:cNvSpPr txBox="1"/>
          <p:nvPr/>
        </p:nvSpPr>
        <p:spPr>
          <a:xfrm>
            <a:off x="1508760" y="1719072"/>
            <a:ext cx="10149840" cy="566928"/>
          </a:xfrm>
          <a:prstGeom prst="rect">
            <a:avLst/>
          </a:prstGeom>
          <a:noFill/>
        </p:spPr>
        <p:txBody>
          <a:bodyPr wrap="square" lIns="0" tIns="0" rIns="0" bIns="0" anchor="t">
            <a:spAutoFit/>
          </a:bodyPr>
          <a:lstStyle/>
          <a:p>
            <a:pPr>
              <a:spcAft>
                <a:spcPts val="0"/>
              </a:spcAft>
            </a:pPr>
            <a:r>
              <a:rPr sz="2100" b="0" i="1">
                <a:solidFill>
                  <a:srgbClr val="040E4B"/>
                </a:solidFill>
              </a:rPr>
              <a:t>“Find out why the numbers do not add up.”</a:t>
            </a:r>
          </a:p>
        </p:txBody>
      </p:sp>
      <p:sp>
        <p:nvSpPr>
          <p:cNvPr id="10" name="Whats broken card"/>
          <p:cNvSpPr/>
          <p:nvPr/>
        </p:nvSpPr>
        <p:spPr>
          <a:xfrm>
            <a:off x="530352" y="2487168"/>
            <a:ext cx="2743200" cy="2286000"/>
          </a:xfrm>
          <a:prstGeom prst="roundRect">
            <a:avLst>
              <a:gd name="adj" fmla="val 4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label"/>
          <p:cNvSpPr txBox="1"/>
          <p:nvPr/>
        </p:nvSpPr>
        <p:spPr>
          <a:xfrm>
            <a:off x="749808" y="2670048"/>
            <a:ext cx="2331720" cy="201168"/>
          </a:xfrm>
          <a:prstGeom prst="rect">
            <a:avLst/>
          </a:prstGeom>
          <a:noFill/>
        </p:spPr>
        <p:txBody>
          <a:bodyPr wrap="square" lIns="0" tIns="0" rIns="0" bIns="0" anchor="t">
            <a:spAutoFit/>
          </a:bodyPr>
          <a:lstStyle/>
          <a:p>
            <a:pPr>
              <a:spcAft>
                <a:spcPts val="0"/>
              </a:spcAft>
            </a:pPr>
            <a:r>
              <a:rPr sz="950" b="1" i="0" spc="200">
                <a:solidFill>
                  <a:srgbClr val="60607D"/>
                </a:solidFill>
              </a:rPr>
              <a:t>WHAT’S BROKEN</a:t>
            </a:r>
          </a:p>
        </p:txBody>
      </p:sp>
      <p:sp>
        <p:nvSpPr>
          <p:cNvPr id="12" name="Whats broken"/>
          <p:cNvSpPr txBox="1"/>
          <p:nvPr/>
        </p:nvSpPr>
        <p:spPr>
          <a:xfrm>
            <a:off x="749808" y="2990088"/>
            <a:ext cx="2331720" cy="1691640"/>
          </a:xfrm>
          <a:prstGeom prst="rect">
            <a:avLst/>
          </a:prstGeom>
          <a:noFill/>
        </p:spPr>
        <p:txBody>
          <a:bodyPr wrap="square" lIns="0" tIns="0" rIns="0" bIns="0" anchor="t">
            <a:spAutoFit/>
          </a:bodyPr>
          <a:lstStyle/>
          <a:p>
            <a:pPr>
              <a:lnSpc>
                <a:spcPct val="103000"/>
              </a:lnSpc>
              <a:spcAft>
                <a:spcPts val="0"/>
              </a:spcAft>
            </a:pPr>
            <a:r>
              <a:rPr sz="1400" b="0" i="0">
                <a:solidFill>
                  <a:srgbClr val="000000"/>
                </a:solidFill>
              </a:rPr>
              <a:t>Gaps in the 2027 revenue map are unexplained. We do not yet know the root cause, and the plan is due to the region.</a:t>
            </a:r>
          </a:p>
        </p:txBody>
      </p:sp>
      <p:sp>
        <p:nvSpPr>
          <p:cNvPr id="13" name="What they ask card"/>
          <p:cNvSpPr/>
          <p:nvPr/>
        </p:nvSpPr>
        <p:spPr>
          <a:xfrm>
            <a:off x="3410712" y="2487168"/>
            <a:ext cx="4983480" cy="2286000"/>
          </a:xfrm>
          <a:prstGeom prst="roundRect">
            <a:avLst>
              <a:gd name="adj" fmla="val 4000"/>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label"/>
          <p:cNvSpPr txBox="1"/>
          <p:nvPr/>
        </p:nvSpPr>
        <p:spPr>
          <a:xfrm>
            <a:off x="3630168" y="2670048"/>
            <a:ext cx="4572000" cy="201168"/>
          </a:xfrm>
          <a:prstGeom prst="rect">
            <a:avLst/>
          </a:prstGeom>
          <a:noFill/>
        </p:spPr>
        <p:txBody>
          <a:bodyPr wrap="square" lIns="0" tIns="0" rIns="0" bIns="0" anchor="t">
            <a:spAutoFit/>
          </a:bodyPr>
          <a:lstStyle/>
          <a:p>
            <a:pPr>
              <a:spcAft>
                <a:spcPts val="0"/>
              </a:spcAft>
            </a:pPr>
            <a:r>
              <a:rPr sz="950" b="1" i="0" spc="200">
                <a:solidFill>
                  <a:srgbClr val="0391F2"/>
                </a:solidFill>
              </a:rPr>
              <a:t>WHAT THEY’RE ASKING</a:t>
            </a:r>
          </a:p>
        </p:txBody>
      </p:sp>
      <p:sp>
        <p:nvSpPr>
          <p:cNvPr id="15" name="What they are asking"/>
          <p:cNvSpPr txBox="1"/>
          <p:nvPr/>
        </p:nvSpPr>
        <p:spPr>
          <a:xfrm>
            <a:off x="3630168" y="2990088"/>
            <a:ext cx="4572000" cy="169164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Resolve the gaps before the plan is due to the region.</a:t>
            </a:r>
          </a:p>
          <a:p>
            <a:pPr marL="155448" indent="-155448">
              <a:lnSpc>
                <a:spcPct val="100000"/>
              </a:lnSpc>
              <a:spcAft>
                <a:spcPts val="400"/>
              </a:spcAft>
              <a:buClr>
                <a:srgbClr val="0391F2"/>
              </a:buClr>
              <a:buFont typeface="Arial"/>
              <a:buChar char="•"/>
            </a:pPr>
            <a:r>
              <a:rPr sz="1150" b="0" i="0">
                <a:solidFill>
                  <a:srgbClr val="000000"/>
                </a:solidFill>
              </a:rPr>
              <a:t>Example: a $10M gap on Enterprise in 2027.</a:t>
            </a:r>
          </a:p>
          <a:p>
            <a:pPr marL="155448" indent="-155448">
              <a:lnSpc>
                <a:spcPct val="100000"/>
              </a:lnSpc>
              <a:spcAft>
                <a:spcPts val="400"/>
              </a:spcAft>
              <a:buClr>
                <a:srgbClr val="0391F2"/>
              </a:buClr>
              <a:buFont typeface="Arial"/>
              <a:buChar char="•"/>
            </a:pPr>
            <a:r>
              <a:rPr sz="1150" b="0" i="0">
                <a:solidFill>
                  <a:srgbClr val="000000"/>
                </a:solidFill>
              </a:rPr>
              <a:t>The root cause is not known yet. Wrong tagging, work pulled back, and other causes all need checking.</a:t>
            </a:r>
          </a:p>
        </p:txBody>
      </p:sp>
      <p:sp>
        <p:nvSpPr>
          <p:cNvPr id="16" name="Recommendation card"/>
          <p:cNvSpPr/>
          <p:nvPr/>
        </p:nvSpPr>
        <p:spPr>
          <a:xfrm>
            <a:off x="8531352" y="2487168"/>
            <a:ext cx="3127248" cy="2286000"/>
          </a:xfrm>
          <a:prstGeom prst="roundRect">
            <a:avLst>
              <a:gd name="adj" fmla="val 4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label"/>
          <p:cNvSpPr txBox="1"/>
          <p:nvPr/>
        </p:nvSpPr>
        <p:spPr>
          <a:xfrm>
            <a:off x="8750808" y="2670048"/>
            <a:ext cx="2697480" cy="201168"/>
          </a:xfrm>
          <a:prstGeom prst="rect">
            <a:avLst/>
          </a:prstGeom>
          <a:noFill/>
        </p:spPr>
        <p:txBody>
          <a:bodyPr wrap="square" lIns="0" tIns="0" rIns="0" bIns="0" anchor="t">
            <a:spAutoFit/>
          </a:bodyPr>
          <a:lstStyle/>
          <a:p>
            <a:pPr>
              <a:spcAft>
                <a:spcPts val="0"/>
              </a:spcAft>
            </a:pPr>
            <a:r>
              <a:rPr sz="950" b="1" i="0" spc="200">
                <a:solidFill>
                  <a:srgbClr val="7FC8FF"/>
                </a:solidFill>
              </a:rPr>
              <a:t>OUR RECOMMENDATION</a:t>
            </a:r>
          </a:p>
        </p:txBody>
      </p:sp>
      <p:sp>
        <p:nvSpPr>
          <p:cNvPr id="18" name="Our recommendation"/>
          <p:cNvSpPr txBox="1"/>
          <p:nvPr/>
        </p:nvSpPr>
        <p:spPr>
          <a:xfrm>
            <a:off x="8750808" y="2990088"/>
            <a:ext cx="2697480" cy="1691640"/>
          </a:xfrm>
          <a:prstGeom prst="rect">
            <a:avLst/>
          </a:prstGeom>
          <a:noFill/>
        </p:spPr>
        <p:txBody>
          <a:bodyPr wrap="square" lIns="0" tIns="0" rIns="0" bIns="0" anchor="t">
            <a:spAutoFit/>
          </a:bodyPr>
          <a:lstStyle/>
          <a:p>
            <a:pPr>
              <a:lnSpc>
                <a:spcPct val="103000"/>
              </a:lnSpc>
              <a:spcAft>
                <a:spcPts val="0"/>
              </a:spcAft>
            </a:pPr>
            <a:r>
              <a:rPr sz="1500" b="1" i="0">
                <a:solidFill>
                  <a:srgbClr val="FFFFFF"/>
                </a:solidFill>
              </a:rPr>
              <a:t>Dig into the root cause before assigning a fix or an owner.</a:t>
            </a:r>
          </a:p>
        </p:txBody>
      </p:sp>
      <p:sp>
        <p:nvSpPr>
          <p:cNvPr id="19" name="Ops approach strip"/>
          <p:cNvSpPr/>
          <p:nvPr/>
        </p:nvSpPr>
        <p:spPr>
          <a:xfrm>
            <a:off x="530352" y="4892040"/>
            <a:ext cx="11128248" cy="1051560"/>
          </a:xfrm>
          <a:prstGeom prst="roundRect">
            <a:avLst>
              <a:gd name="adj" fmla="val 8695"/>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ps approach label"/>
          <p:cNvSpPr txBox="1"/>
          <p:nvPr/>
        </p:nvSpPr>
        <p:spPr>
          <a:xfrm>
            <a:off x="777240" y="5029200"/>
            <a:ext cx="3291840" cy="201168"/>
          </a:xfrm>
          <a:prstGeom prst="rect">
            <a:avLst/>
          </a:prstGeom>
          <a:noFill/>
        </p:spPr>
        <p:txBody>
          <a:bodyPr wrap="square" lIns="0" tIns="0" rIns="0" bIns="0" anchor="t">
            <a:spAutoFit/>
          </a:bodyPr>
          <a:lstStyle/>
          <a:p>
            <a:pPr>
              <a:spcAft>
                <a:spcPts val="0"/>
              </a:spcAft>
            </a:pPr>
            <a:r>
              <a:rPr sz="950" b="1" i="0" spc="200">
                <a:solidFill>
                  <a:srgbClr val="7FC8FF"/>
                </a:solidFill>
              </a:rPr>
              <a:t>HOW OPS IS APPROACHING IT</a:t>
            </a:r>
          </a:p>
        </p:txBody>
      </p:sp>
      <p:sp>
        <p:nvSpPr>
          <p:cNvPr id="21" name="Project tag"/>
          <p:cNvSpPr/>
          <p:nvPr/>
        </p:nvSpPr>
        <p:spPr>
          <a:xfrm>
            <a:off x="777240" y="5312664"/>
            <a:ext cx="1488643" cy="237744"/>
          </a:xfrm>
          <a:prstGeom prst="roundRect">
            <a:avLst>
              <a:gd name="adj" fmla="val 50000"/>
            </a:avLst>
          </a:prstGeom>
          <a:noFill/>
          <a:ln w="9525">
            <a:solidFill>
              <a:srgbClr val="7FC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roject tag text"/>
          <p:cNvSpPr txBox="1"/>
          <p:nvPr/>
        </p:nvSpPr>
        <p:spPr>
          <a:xfrm>
            <a:off x="777240" y="5312664"/>
            <a:ext cx="1488643" cy="237744"/>
          </a:xfrm>
          <a:prstGeom prst="rect">
            <a:avLst/>
          </a:prstGeom>
          <a:noFill/>
        </p:spPr>
        <p:txBody>
          <a:bodyPr wrap="square" lIns="0" tIns="0" rIns="0" bIns="0" anchor="ctr">
            <a:spAutoFit/>
          </a:bodyPr>
          <a:lstStyle/>
          <a:p>
            <a:pPr algn="ctr">
              <a:spcAft>
                <a:spcPts val="0"/>
              </a:spcAft>
            </a:pPr>
            <a:r>
              <a:rPr sz="850" b="1" i="0" spc="100">
                <a:solidFill>
                  <a:srgbClr val="7FC8FF"/>
                </a:solidFill>
              </a:rPr>
              <a:t>ROOT CAUSE FIRST</a:t>
            </a:r>
          </a:p>
        </p:txBody>
      </p:sp>
      <p:sp>
        <p:nvSpPr>
          <p:cNvPr id="23" name="Ops approach"/>
          <p:cNvSpPr txBox="1"/>
          <p:nvPr/>
        </p:nvSpPr>
        <p:spPr>
          <a:xfrm>
            <a:off x="4663440" y="5010912"/>
            <a:ext cx="6812280" cy="868680"/>
          </a:xfrm>
          <a:prstGeom prst="rect">
            <a:avLst/>
          </a:prstGeom>
          <a:noFill/>
        </p:spPr>
        <p:txBody>
          <a:bodyPr wrap="square" lIns="0" tIns="0" rIns="0" bIns="0" anchor="ctr">
            <a:spAutoFit/>
          </a:bodyPr>
          <a:lstStyle/>
          <a:p>
            <a:pPr>
              <a:lnSpc>
                <a:spcPct val="100000"/>
              </a:lnSpc>
              <a:spcAft>
                <a:spcPts val="0"/>
              </a:spcAft>
            </a:pPr>
            <a:r>
              <a:rPr sz="1150" b="0" i="0">
                <a:solidFill>
                  <a:srgbClr val="FFFFFF"/>
                </a:solidFill>
              </a:rPr>
              <a:t>Root cause first. We do not yet know why the numbers do not add up. Once we do, it may sit in the Accountability Framework or Leadership Dashboards.</a:t>
            </a:r>
          </a:p>
        </p:txBody>
      </p:sp>
      <p:cxnSp>
        <p:nvCxnSpPr>
          <p:cNvPr id="24" name="Footer rule"/>
          <p:cNvCxnSpPr/>
          <p:nvPr/>
        </p:nvCxnSpPr>
        <p:spPr>
          <a:xfrm>
            <a:off x="530352" y="6035040"/>
            <a:ext cx="11128248" cy="0"/>
          </a:xfrm>
          <a:prstGeom prst="line">
            <a:avLst/>
          </a:prstGeom>
          <a:ln w="9525">
            <a:solidFill>
              <a:srgbClr val="D6D6DF"/>
            </a:solidFill>
          </a:ln>
        </p:spPr>
        <p:style>
          <a:lnRef idx="2">
            <a:schemeClr val="accent1"/>
          </a:lnRef>
          <a:fillRef idx="0">
            <a:schemeClr val="accent1"/>
          </a:fillRef>
          <a:effectRef idx="1">
            <a:schemeClr val="accent1"/>
          </a:effectRef>
          <a:fontRef idx="minor">
            <a:schemeClr val="tx1"/>
          </a:fontRef>
        </p:style>
      </p:cxnSp>
      <p:sp>
        <p:nvSpPr>
          <p:cNvPr id="25" name="Where label"/>
          <p:cNvSpPr txBox="1"/>
          <p:nvPr/>
        </p:nvSpPr>
        <p:spPr>
          <a:xfrm>
            <a:off x="530352" y="6163056"/>
            <a:ext cx="201168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SHOWS UP</a:t>
            </a:r>
          </a:p>
        </p:txBody>
      </p:sp>
      <p:sp>
        <p:nvSpPr>
          <p:cNvPr id="26" name="Where it shows up"/>
          <p:cNvSpPr txBox="1"/>
          <p:nvPr/>
        </p:nvSpPr>
        <p:spPr>
          <a:xfrm>
            <a:off x="2377440" y="6135624"/>
            <a:ext cx="9281160" cy="365760"/>
          </a:xfrm>
          <a:prstGeom prst="rect">
            <a:avLst/>
          </a:prstGeom>
          <a:noFill/>
        </p:spPr>
        <p:txBody>
          <a:bodyPr wrap="square" lIns="0" tIns="0" rIns="0" bIns="0" anchor="t">
            <a:spAutoFit/>
          </a:bodyPr>
          <a:lstStyle/>
          <a:p>
            <a:pPr>
              <a:spcAft>
                <a:spcPts val="0"/>
              </a:spcAft>
            </a:pPr>
            <a:r>
              <a:rPr sz="1150" b="0" i="0">
                <a:solidFill>
                  <a:srgbClr val="040E4B"/>
                </a:solidFill>
              </a:rPr>
              <a:t>Enterprise ($10M gap in 2027)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Engagement vs. delivery layers</a:t>
            </a:r>
          </a:p>
        </p:txBody>
      </p:sp>
      <p:sp>
        <p:nvSpPr>
          <p:cNvPr id="4" name="Text Placeholder 3"/>
          <p:cNvSpPr>
            <a:spLocks noGrp="1"/>
          </p:cNvSpPr>
          <p:nvPr>
            <p:ph type="body" sz="quarter" idx="12"/>
          </p:nvPr>
        </p:nvSpPr>
        <p:spPr/>
        <p:txBody>
          <a:bodyPr/>
          <a:lstStyle/>
          <a:p>
            <a:r>
              <a:t>APPENDIX</a:t>
            </a:r>
          </a:p>
        </p:txBody>
      </p:sp>
      <p:sp>
        <p:nvSpPr>
          <p:cNvPr id="5" name="Engagement model label card"/>
          <p:cNvSpPr/>
          <p:nvPr/>
        </p:nvSpPr>
        <p:spPr>
          <a:xfrm>
            <a:off x="530352" y="1554480"/>
            <a:ext cx="2743200" cy="1417320"/>
          </a:xfrm>
          <a:prstGeom prst="roundRect">
            <a:avLst>
              <a:gd name="adj" fmla="val 6451"/>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Layer label"/>
          <p:cNvSpPr txBox="1"/>
          <p:nvPr/>
        </p:nvSpPr>
        <p:spPr>
          <a:xfrm>
            <a:off x="749808" y="1737360"/>
            <a:ext cx="2377440" cy="228600"/>
          </a:xfrm>
          <a:prstGeom prst="rect">
            <a:avLst/>
          </a:prstGeom>
          <a:noFill/>
        </p:spPr>
        <p:txBody>
          <a:bodyPr wrap="square" lIns="0" tIns="0" rIns="0" bIns="0" anchor="t">
            <a:spAutoFit/>
          </a:bodyPr>
          <a:lstStyle/>
          <a:p>
            <a:pPr>
              <a:spcAft>
                <a:spcPts val="0"/>
              </a:spcAft>
            </a:pPr>
            <a:r>
              <a:rPr sz="1000" b="1" i="0" spc="200">
                <a:solidFill>
                  <a:srgbClr val="7FC8FF"/>
                </a:solidFill>
              </a:rPr>
              <a:t>ENGAGEMENT MODEL</a:t>
            </a:r>
          </a:p>
        </p:txBody>
      </p:sp>
      <p:sp>
        <p:nvSpPr>
          <p:cNvPr id="7" name="Layer description"/>
          <p:cNvSpPr txBox="1"/>
          <p:nvPr/>
        </p:nvSpPr>
        <p:spPr>
          <a:xfrm>
            <a:off x="749808" y="2057400"/>
            <a:ext cx="2331720" cy="914400"/>
          </a:xfrm>
          <a:prstGeom prst="rect">
            <a:avLst/>
          </a:prstGeom>
          <a:noFill/>
        </p:spPr>
        <p:txBody>
          <a:bodyPr wrap="square" lIns="0" tIns="0" rIns="0" bIns="0" anchor="t">
            <a:spAutoFit/>
          </a:bodyPr>
          <a:lstStyle/>
          <a:p>
            <a:pPr>
              <a:spcAft>
                <a:spcPts val="0"/>
              </a:spcAft>
            </a:pPr>
            <a:r>
              <a:rPr sz="1150" b="0" i="0">
                <a:solidFill>
                  <a:srgbClr val="FFFFFF"/>
                </a:solidFill>
              </a:rPr>
              <a:t>How the client relationship is organized. The client services view.</a:t>
            </a:r>
          </a:p>
        </p:txBody>
      </p:sp>
      <p:sp>
        <p:nvSpPr>
          <p:cNvPr id="8" name="Layer card"/>
          <p:cNvSpPr/>
          <p:nvPr/>
        </p:nvSpPr>
        <p:spPr>
          <a:xfrm>
            <a:off x="3456432" y="155448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Layer name"/>
          <p:cNvSpPr txBox="1"/>
          <p:nvPr/>
        </p:nvSpPr>
        <p:spPr>
          <a:xfrm>
            <a:off x="3621024" y="171907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Advisory</a:t>
            </a:r>
          </a:p>
        </p:txBody>
      </p:sp>
      <p:sp>
        <p:nvSpPr>
          <p:cNvPr id="10" name="Layer detail"/>
          <p:cNvSpPr txBox="1"/>
          <p:nvPr/>
        </p:nvSpPr>
        <p:spPr>
          <a:xfrm>
            <a:off x="3621024" y="224028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Strategic consulting and market guidance</a:t>
            </a:r>
          </a:p>
        </p:txBody>
      </p:sp>
      <p:sp>
        <p:nvSpPr>
          <p:cNvPr id="11" name="Layer card"/>
          <p:cNvSpPr/>
          <p:nvPr/>
        </p:nvSpPr>
        <p:spPr>
          <a:xfrm>
            <a:off x="5513831" y="155448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Layer name"/>
          <p:cNvSpPr txBox="1"/>
          <p:nvPr/>
        </p:nvSpPr>
        <p:spPr>
          <a:xfrm>
            <a:off x="5678423" y="171907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Project</a:t>
            </a:r>
          </a:p>
        </p:txBody>
      </p:sp>
      <p:sp>
        <p:nvSpPr>
          <p:cNvPr id="13" name="Layer detail"/>
          <p:cNvSpPr txBox="1"/>
          <p:nvPr/>
        </p:nvSpPr>
        <p:spPr>
          <a:xfrm>
            <a:off x="5678423" y="224028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Contained work with a definite end</a:t>
            </a:r>
          </a:p>
        </p:txBody>
      </p:sp>
      <p:sp>
        <p:nvSpPr>
          <p:cNvPr id="14" name="Layer card"/>
          <p:cNvSpPr/>
          <p:nvPr/>
        </p:nvSpPr>
        <p:spPr>
          <a:xfrm>
            <a:off x="7571231" y="155448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Layer name"/>
          <p:cNvSpPr txBox="1"/>
          <p:nvPr/>
        </p:nvSpPr>
        <p:spPr>
          <a:xfrm>
            <a:off x="7735823" y="171907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Program</a:t>
            </a:r>
          </a:p>
        </p:txBody>
      </p:sp>
      <p:sp>
        <p:nvSpPr>
          <p:cNvPr id="16" name="Layer detail"/>
          <p:cNvSpPr txBox="1"/>
          <p:nvPr/>
        </p:nvSpPr>
        <p:spPr>
          <a:xfrm>
            <a:off x="7735823" y="224028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Layered projects, often mixing delivery models</a:t>
            </a:r>
          </a:p>
        </p:txBody>
      </p:sp>
      <p:sp>
        <p:nvSpPr>
          <p:cNvPr id="17" name="Layer card"/>
          <p:cNvSpPr/>
          <p:nvPr/>
        </p:nvSpPr>
        <p:spPr>
          <a:xfrm>
            <a:off x="9628632" y="155448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Layer name"/>
          <p:cNvSpPr txBox="1"/>
          <p:nvPr/>
        </p:nvSpPr>
        <p:spPr>
          <a:xfrm>
            <a:off x="9793224" y="171907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Retainer</a:t>
            </a:r>
          </a:p>
        </p:txBody>
      </p:sp>
      <p:sp>
        <p:nvSpPr>
          <p:cNvPr id="19" name="Layer detail"/>
          <p:cNvSpPr txBox="1"/>
          <p:nvPr/>
        </p:nvSpPr>
        <p:spPr>
          <a:xfrm>
            <a:off x="9793224" y="224028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Ongoing support, SLA, and loyalty programs</a:t>
            </a:r>
          </a:p>
        </p:txBody>
      </p:sp>
      <p:sp>
        <p:nvSpPr>
          <p:cNvPr id="20" name="Connector"/>
          <p:cNvSpPr txBox="1"/>
          <p:nvPr/>
        </p:nvSpPr>
        <p:spPr>
          <a:xfrm>
            <a:off x="3456432" y="3054096"/>
            <a:ext cx="8202168" cy="274320"/>
          </a:xfrm>
          <a:prstGeom prst="rect">
            <a:avLst/>
          </a:prstGeom>
          <a:noFill/>
        </p:spPr>
        <p:txBody>
          <a:bodyPr wrap="square" lIns="0" tIns="0" rIns="0" bIns="0" anchor="t">
            <a:spAutoFit/>
          </a:bodyPr>
          <a:lstStyle/>
          <a:p>
            <a:pPr algn="ctr">
              <a:spcAft>
                <a:spcPts val="0"/>
              </a:spcAft>
            </a:pPr>
            <a:r>
              <a:rPr sz="1200" b="1" i="0">
                <a:solidFill>
                  <a:srgbClr val="0391F2"/>
                </a:solidFill>
              </a:rPr>
              <a:t>▼   Several delivery models can sit under one engagement</a:t>
            </a:r>
          </a:p>
        </p:txBody>
      </p:sp>
      <p:sp>
        <p:nvSpPr>
          <p:cNvPr id="21" name="Delivery model label card"/>
          <p:cNvSpPr/>
          <p:nvPr/>
        </p:nvSpPr>
        <p:spPr>
          <a:xfrm>
            <a:off x="530352" y="3429000"/>
            <a:ext cx="2743200" cy="1417320"/>
          </a:xfrm>
          <a:prstGeom prst="roundRect">
            <a:avLst>
              <a:gd name="adj" fmla="val 6451"/>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Layer label"/>
          <p:cNvSpPr txBox="1"/>
          <p:nvPr/>
        </p:nvSpPr>
        <p:spPr>
          <a:xfrm>
            <a:off x="749808" y="3611880"/>
            <a:ext cx="2377440" cy="228600"/>
          </a:xfrm>
          <a:prstGeom prst="rect">
            <a:avLst/>
          </a:prstGeom>
          <a:noFill/>
        </p:spPr>
        <p:txBody>
          <a:bodyPr wrap="square" lIns="0" tIns="0" rIns="0" bIns="0" anchor="t">
            <a:spAutoFit/>
          </a:bodyPr>
          <a:lstStyle/>
          <a:p>
            <a:pPr>
              <a:spcAft>
                <a:spcPts val="0"/>
              </a:spcAft>
            </a:pPr>
            <a:r>
              <a:rPr sz="1000" b="1" i="0" spc="200">
                <a:solidFill>
                  <a:srgbClr val="7FC8FF"/>
                </a:solidFill>
              </a:rPr>
              <a:t>DELIVERY MODEL</a:t>
            </a:r>
          </a:p>
        </p:txBody>
      </p:sp>
      <p:sp>
        <p:nvSpPr>
          <p:cNvPr id="23" name="Layer description"/>
          <p:cNvSpPr txBox="1"/>
          <p:nvPr/>
        </p:nvSpPr>
        <p:spPr>
          <a:xfrm>
            <a:off x="749808" y="3931920"/>
            <a:ext cx="2331720" cy="914400"/>
          </a:xfrm>
          <a:prstGeom prst="rect">
            <a:avLst/>
          </a:prstGeom>
          <a:noFill/>
        </p:spPr>
        <p:txBody>
          <a:bodyPr wrap="square" lIns="0" tIns="0" rIns="0" bIns="0" anchor="t">
            <a:spAutoFit/>
          </a:bodyPr>
          <a:lstStyle/>
          <a:p>
            <a:pPr>
              <a:spcAft>
                <a:spcPts val="0"/>
              </a:spcAft>
            </a:pPr>
            <a:r>
              <a:rPr sz="1150" b="0" i="0">
                <a:solidFill>
                  <a:srgbClr val="FFFFFF"/>
                </a:solidFill>
              </a:rPr>
              <a:t>How work is run, contracted, and staffed. The delivery, legal, and finance view.</a:t>
            </a:r>
          </a:p>
        </p:txBody>
      </p:sp>
      <p:sp>
        <p:nvSpPr>
          <p:cNvPr id="24" name="Layer card"/>
          <p:cNvSpPr/>
          <p:nvPr/>
        </p:nvSpPr>
        <p:spPr>
          <a:xfrm>
            <a:off x="3456432" y="342900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Layer name"/>
          <p:cNvSpPr txBox="1"/>
          <p:nvPr/>
        </p:nvSpPr>
        <p:spPr>
          <a:xfrm>
            <a:off x="3621024" y="359359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Constraint-based</a:t>
            </a:r>
          </a:p>
        </p:txBody>
      </p:sp>
      <p:sp>
        <p:nvSpPr>
          <p:cNvPr id="26" name="Layer detail"/>
          <p:cNvSpPr txBox="1"/>
          <p:nvPr/>
        </p:nvSpPr>
        <p:spPr>
          <a:xfrm>
            <a:off x="3621024" y="411480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Back-casted to hard dates</a:t>
            </a:r>
          </a:p>
        </p:txBody>
      </p:sp>
      <p:sp>
        <p:nvSpPr>
          <p:cNvPr id="27" name="Layer card"/>
          <p:cNvSpPr/>
          <p:nvPr/>
        </p:nvSpPr>
        <p:spPr>
          <a:xfrm>
            <a:off x="5513831" y="342900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Layer name"/>
          <p:cNvSpPr txBox="1"/>
          <p:nvPr/>
        </p:nvSpPr>
        <p:spPr>
          <a:xfrm>
            <a:off x="5678423" y="359359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Velocity-based</a:t>
            </a:r>
          </a:p>
        </p:txBody>
      </p:sp>
      <p:sp>
        <p:nvSpPr>
          <p:cNvPr id="29" name="Layer detail"/>
          <p:cNvSpPr txBox="1"/>
          <p:nvPr/>
        </p:nvSpPr>
        <p:spPr>
          <a:xfrm>
            <a:off x="5678423" y="411480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Sprint output on a set backlog</a:t>
            </a:r>
          </a:p>
        </p:txBody>
      </p:sp>
      <p:sp>
        <p:nvSpPr>
          <p:cNvPr id="30" name="Layer card"/>
          <p:cNvSpPr/>
          <p:nvPr/>
        </p:nvSpPr>
        <p:spPr>
          <a:xfrm>
            <a:off x="7571231" y="342900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Layer name"/>
          <p:cNvSpPr txBox="1"/>
          <p:nvPr/>
        </p:nvSpPr>
        <p:spPr>
          <a:xfrm>
            <a:off x="7735823" y="359359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Outcome-based</a:t>
            </a:r>
          </a:p>
        </p:txBody>
      </p:sp>
      <p:sp>
        <p:nvSpPr>
          <p:cNvPr id="32" name="Layer detail"/>
          <p:cNvSpPr txBox="1"/>
          <p:nvPr/>
        </p:nvSpPr>
        <p:spPr>
          <a:xfrm>
            <a:off x="7735823" y="411480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Test and learn toward target results</a:t>
            </a:r>
          </a:p>
        </p:txBody>
      </p:sp>
      <p:sp>
        <p:nvSpPr>
          <p:cNvPr id="33" name="Layer card"/>
          <p:cNvSpPr/>
          <p:nvPr/>
        </p:nvSpPr>
        <p:spPr>
          <a:xfrm>
            <a:off x="9628632" y="3429000"/>
            <a:ext cx="1920240" cy="1417320"/>
          </a:xfrm>
          <a:prstGeom prst="roundRect">
            <a:avLst>
              <a:gd name="adj" fmla="val 645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Layer name"/>
          <p:cNvSpPr txBox="1"/>
          <p:nvPr/>
        </p:nvSpPr>
        <p:spPr>
          <a:xfrm>
            <a:off x="9793224" y="3593592"/>
            <a:ext cx="1645920" cy="457200"/>
          </a:xfrm>
          <a:prstGeom prst="rect">
            <a:avLst/>
          </a:prstGeom>
          <a:noFill/>
        </p:spPr>
        <p:txBody>
          <a:bodyPr wrap="square" lIns="0" tIns="0" rIns="0" bIns="0" anchor="t">
            <a:spAutoFit/>
          </a:bodyPr>
          <a:lstStyle/>
          <a:p>
            <a:pPr>
              <a:spcAft>
                <a:spcPts val="0"/>
              </a:spcAft>
            </a:pPr>
            <a:r>
              <a:rPr sz="1300" b="1" i="0">
                <a:solidFill>
                  <a:srgbClr val="040E4B"/>
                </a:solidFill>
              </a:rPr>
              <a:t>Retainer-based</a:t>
            </a:r>
          </a:p>
        </p:txBody>
      </p:sp>
      <p:sp>
        <p:nvSpPr>
          <p:cNvPr id="35" name="Layer detail"/>
          <p:cNvSpPr txBox="1"/>
          <p:nvPr/>
        </p:nvSpPr>
        <p:spPr>
          <a:xfrm>
            <a:off x="9793224" y="4114800"/>
            <a:ext cx="1627632" cy="685800"/>
          </a:xfrm>
          <a:prstGeom prst="rect">
            <a:avLst/>
          </a:prstGeom>
          <a:noFill/>
        </p:spPr>
        <p:txBody>
          <a:bodyPr wrap="square" lIns="0" tIns="0" rIns="0" bIns="0" anchor="t">
            <a:spAutoFit/>
          </a:bodyPr>
          <a:lstStyle/>
          <a:p>
            <a:pPr>
              <a:spcAft>
                <a:spcPts val="0"/>
              </a:spcAft>
            </a:pPr>
            <a:r>
              <a:rPr sz="1100" b="0" i="0">
                <a:solidFill>
                  <a:srgbClr val="000000"/>
                </a:solidFill>
              </a:rPr>
              <a:t>Ongoing support against SLAs</a:t>
            </a:r>
          </a:p>
        </p:txBody>
      </p:sp>
      <p:sp>
        <p:nvSpPr>
          <p:cNvPr id="36" name="Takeaway bar"/>
          <p:cNvSpPr/>
          <p:nvPr/>
        </p:nvSpPr>
        <p:spPr>
          <a:xfrm>
            <a:off x="530352" y="5166360"/>
            <a:ext cx="11128248" cy="640080"/>
          </a:xfrm>
          <a:prstGeom prst="roundRect">
            <a:avLst>
              <a:gd name="adj" fmla="val 11428"/>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akeaway"/>
          <p:cNvSpPr txBox="1"/>
          <p:nvPr/>
        </p:nvSpPr>
        <p:spPr>
          <a:xfrm>
            <a:off x="777240" y="5166360"/>
            <a:ext cx="10607040" cy="640080"/>
          </a:xfrm>
          <a:prstGeom prst="rect">
            <a:avLst/>
          </a:prstGeom>
          <a:noFill/>
        </p:spPr>
        <p:txBody>
          <a:bodyPr wrap="square" lIns="0" tIns="0" rIns="0" bIns="0" anchor="ctr">
            <a:spAutoFit/>
          </a:bodyPr>
          <a:lstStyle/>
          <a:p>
            <a:pPr>
              <a:spcAft>
                <a:spcPts val="0"/>
              </a:spcAft>
            </a:pPr>
            <a:r>
              <a:rPr sz="1400" b="1" i="0">
                <a:solidFill>
                  <a:srgbClr val="040E4B"/>
                </a:solidFill>
              </a:rPr>
              <a:t>A program is projects layered together. Outcome-based work can sit under any engagement.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The four delivery models</a:t>
            </a:r>
          </a:p>
        </p:txBody>
      </p:sp>
      <p:sp>
        <p:nvSpPr>
          <p:cNvPr id="4" name="Text Placeholder 3"/>
          <p:cNvSpPr>
            <a:spLocks noGrp="1"/>
          </p:cNvSpPr>
          <p:nvPr>
            <p:ph type="body" sz="quarter" idx="12"/>
          </p:nvPr>
        </p:nvSpPr>
        <p:spPr/>
        <p:txBody>
          <a:bodyPr/>
          <a:lstStyle/>
          <a:p>
            <a:r>
              <a:t>APPENDIX</a:t>
            </a:r>
          </a:p>
        </p:txBody>
      </p:sp>
      <p:sp>
        <p:nvSpPr>
          <p:cNvPr id="5" name="Column label"/>
          <p:cNvSpPr txBox="1"/>
          <p:nvPr/>
        </p:nvSpPr>
        <p:spPr>
          <a:xfrm>
            <a:off x="2743200" y="1481328"/>
            <a:ext cx="2194560" cy="182880"/>
          </a:xfrm>
          <a:prstGeom prst="rect">
            <a:avLst/>
          </a:prstGeom>
          <a:noFill/>
        </p:spPr>
        <p:txBody>
          <a:bodyPr wrap="square" lIns="0" tIns="0" rIns="0" bIns="0" anchor="t">
            <a:spAutoFit/>
          </a:bodyPr>
          <a:lstStyle/>
          <a:p>
            <a:pPr>
              <a:spcAft>
                <a:spcPts val="0"/>
              </a:spcAft>
            </a:pPr>
            <a:r>
              <a:rPr sz="900" b="1" i="0" spc="150">
                <a:solidFill>
                  <a:srgbClr val="8888A1"/>
                </a:solidFill>
              </a:rPr>
              <a:t>WHAT IT IS</a:t>
            </a:r>
          </a:p>
        </p:txBody>
      </p:sp>
      <p:sp>
        <p:nvSpPr>
          <p:cNvPr id="6" name="Column label"/>
          <p:cNvSpPr txBox="1"/>
          <p:nvPr/>
        </p:nvSpPr>
        <p:spPr>
          <a:xfrm>
            <a:off x="5577840" y="1481328"/>
            <a:ext cx="2194560" cy="182880"/>
          </a:xfrm>
          <a:prstGeom prst="rect">
            <a:avLst/>
          </a:prstGeom>
          <a:noFill/>
        </p:spPr>
        <p:txBody>
          <a:bodyPr wrap="square" lIns="0" tIns="0" rIns="0" bIns="0" anchor="t">
            <a:spAutoFit/>
          </a:bodyPr>
          <a:lstStyle/>
          <a:p>
            <a:pPr>
              <a:spcAft>
                <a:spcPts val="0"/>
              </a:spcAft>
            </a:pPr>
            <a:r>
              <a:rPr sz="900" b="1" i="0" spc="150">
                <a:solidFill>
                  <a:srgbClr val="8888A1"/>
                </a:solidFill>
              </a:rPr>
              <a:t>CONTRACT FIT</a:t>
            </a:r>
          </a:p>
        </p:txBody>
      </p:sp>
      <p:sp>
        <p:nvSpPr>
          <p:cNvPr id="7" name="Column label"/>
          <p:cNvSpPr txBox="1"/>
          <p:nvPr/>
        </p:nvSpPr>
        <p:spPr>
          <a:xfrm>
            <a:off x="7589520" y="1481328"/>
            <a:ext cx="2194560" cy="182880"/>
          </a:xfrm>
          <a:prstGeom prst="rect">
            <a:avLst/>
          </a:prstGeom>
          <a:noFill/>
        </p:spPr>
        <p:txBody>
          <a:bodyPr wrap="square" lIns="0" tIns="0" rIns="0" bIns="0" anchor="t">
            <a:spAutoFit/>
          </a:bodyPr>
          <a:lstStyle/>
          <a:p>
            <a:pPr>
              <a:spcAft>
                <a:spcPts val="0"/>
              </a:spcAft>
            </a:pPr>
            <a:r>
              <a:rPr sz="900" b="1" i="0" spc="150">
                <a:solidFill>
                  <a:srgbClr val="8888A1"/>
                </a:solidFill>
              </a:rPr>
              <a:t>MEASURED ON</a:t>
            </a:r>
          </a:p>
        </p:txBody>
      </p:sp>
      <p:sp>
        <p:nvSpPr>
          <p:cNvPr id="8" name="Column label"/>
          <p:cNvSpPr txBox="1"/>
          <p:nvPr/>
        </p:nvSpPr>
        <p:spPr>
          <a:xfrm>
            <a:off x="9509760" y="1481328"/>
            <a:ext cx="2194560" cy="182880"/>
          </a:xfrm>
          <a:prstGeom prst="rect">
            <a:avLst/>
          </a:prstGeom>
          <a:noFill/>
        </p:spPr>
        <p:txBody>
          <a:bodyPr wrap="square" lIns="0" tIns="0" rIns="0" bIns="0" anchor="t">
            <a:spAutoFit/>
          </a:bodyPr>
          <a:lstStyle/>
          <a:p>
            <a:pPr>
              <a:spcAft>
                <a:spcPts val="0"/>
              </a:spcAft>
            </a:pPr>
            <a:r>
              <a:rPr sz="900" b="1" i="0" spc="150">
                <a:solidFill>
                  <a:srgbClr val="8888A1"/>
                </a:solidFill>
              </a:rPr>
              <a:t>WHO OWNS THE VALUE</a:t>
            </a:r>
          </a:p>
        </p:txBody>
      </p:sp>
      <p:sp>
        <p:nvSpPr>
          <p:cNvPr id="9" name="Model row"/>
          <p:cNvSpPr/>
          <p:nvPr/>
        </p:nvSpPr>
        <p:spPr>
          <a:xfrm>
            <a:off x="530352" y="1737360"/>
            <a:ext cx="11128248" cy="585216"/>
          </a:xfrm>
          <a:prstGeom prst="roundRect">
            <a:avLst>
              <a:gd name="adj" fmla="val 125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Model name"/>
          <p:cNvSpPr txBox="1"/>
          <p:nvPr/>
        </p:nvSpPr>
        <p:spPr>
          <a:xfrm>
            <a:off x="731520" y="1737360"/>
            <a:ext cx="1920240" cy="585216"/>
          </a:xfrm>
          <a:prstGeom prst="rect">
            <a:avLst/>
          </a:prstGeom>
          <a:noFill/>
        </p:spPr>
        <p:txBody>
          <a:bodyPr wrap="square" lIns="0" tIns="0" rIns="0" bIns="0" anchor="ctr">
            <a:spAutoFit/>
          </a:bodyPr>
          <a:lstStyle/>
          <a:p>
            <a:pPr>
              <a:spcAft>
                <a:spcPts val="0"/>
              </a:spcAft>
            </a:pPr>
            <a:r>
              <a:rPr sz="1350" b="1" i="0">
                <a:solidFill>
                  <a:srgbClr val="040E4B"/>
                </a:solidFill>
              </a:rPr>
              <a:t>Constraint-based</a:t>
            </a:r>
          </a:p>
        </p:txBody>
      </p:sp>
      <p:sp>
        <p:nvSpPr>
          <p:cNvPr id="11" name="Model detail"/>
          <p:cNvSpPr txBox="1"/>
          <p:nvPr/>
        </p:nvSpPr>
        <p:spPr>
          <a:xfrm>
            <a:off x="2743200" y="1737360"/>
            <a:ext cx="2651760" cy="585216"/>
          </a:xfrm>
          <a:prstGeom prst="rect">
            <a:avLst/>
          </a:prstGeom>
          <a:noFill/>
        </p:spPr>
        <p:txBody>
          <a:bodyPr wrap="square" lIns="0" tIns="0" rIns="0" bIns="0" anchor="ctr">
            <a:spAutoFit/>
          </a:bodyPr>
          <a:lstStyle/>
          <a:p>
            <a:pPr>
              <a:spcAft>
                <a:spcPts val="0"/>
              </a:spcAft>
            </a:pPr>
            <a:r>
              <a:rPr sz="1150" b="0" i="0">
                <a:solidFill>
                  <a:srgbClr val="000000"/>
                </a:solidFill>
              </a:rPr>
              <a:t>Back-casted delivery to hard dates</a:t>
            </a:r>
          </a:p>
        </p:txBody>
      </p:sp>
      <p:sp>
        <p:nvSpPr>
          <p:cNvPr id="12" name="Model detail"/>
          <p:cNvSpPr txBox="1"/>
          <p:nvPr/>
        </p:nvSpPr>
        <p:spPr>
          <a:xfrm>
            <a:off x="5577840" y="1737360"/>
            <a:ext cx="1828800" cy="585216"/>
          </a:xfrm>
          <a:prstGeom prst="rect">
            <a:avLst/>
          </a:prstGeom>
          <a:noFill/>
        </p:spPr>
        <p:txBody>
          <a:bodyPr wrap="square" lIns="0" tIns="0" rIns="0" bIns="0" anchor="ctr">
            <a:spAutoFit/>
          </a:bodyPr>
          <a:lstStyle/>
          <a:p>
            <a:pPr>
              <a:spcAft>
                <a:spcPts val="0"/>
              </a:spcAft>
            </a:pPr>
            <a:r>
              <a:rPr sz="1150" b="0" i="0">
                <a:solidFill>
                  <a:srgbClr val="000000"/>
                </a:solidFill>
              </a:rPr>
              <a:t>Fixed fee or strict T&amp;M</a:t>
            </a:r>
          </a:p>
        </p:txBody>
      </p:sp>
      <p:sp>
        <p:nvSpPr>
          <p:cNvPr id="13" name="Model detail"/>
          <p:cNvSpPr txBox="1"/>
          <p:nvPr/>
        </p:nvSpPr>
        <p:spPr>
          <a:xfrm>
            <a:off x="7589520" y="1737360"/>
            <a:ext cx="1828800" cy="585216"/>
          </a:xfrm>
          <a:prstGeom prst="rect">
            <a:avLst/>
          </a:prstGeom>
          <a:noFill/>
        </p:spPr>
        <p:txBody>
          <a:bodyPr wrap="square" lIns="0" tIns="0" rIns="0" bIns="0" anchor="ctr">
            <a:spAutoFit/>
          </a:bodyPr>
          <a:lstStyle/>
          <a:p>
            <a:pPr>
              <a:spcAft>
                <a:spcPts val="0"/>
              </a:spcAft>
            </a:pPr>
            <a:r>
              <a:rPr sz="1150" b="0" i="0">
                <a:solidFill>
                  <a:srgbClr val="000000"/>
                </a:solidFill>
              </a:rPr>
              <a:t>Scope vs. time</a:t>
            </a:r>
          </a:p>
        </p:txBody>
      </p:sp>
      <p:sp>
        <p:nvSpPr>
          <p:cNvPr id="14" name="Model detail"/>
          <p:cNvSpPr txBox="1"/>
          <p:nvPr/>
        </p:nvSpPr>
        <p:spPr>
          <a:xfrm>
            <a:off x="9509760" y="1737360"/>
            <a:ext cx="2148840" cy="585216"/>
          </a:xfrm>
          <a:prstGeom prst="rect">
            <a:avLst/>
          </a:prstGeom>
          <a:noFill/>
        </p:spPr>
        <p:txBody>
          <a:bodyPr wrap="square" lIns="0" tIns="0" rIns="0" bIns="0" anchor="ctr">
            <a:spAutoFit/>
          </a:bodyPr>
          <a:lstStyle/>
          <a:p>
            <a:pPr>
              <a:spcAft>
                <a:spcPts val="0"/>
              </a:spcAft>
            </a:pPr>
            <a:r>
              <a:rPr sz="1150" b="1" i="0">
                <a:solidFill>
                  <a:srgbClr val="000000"/>
                </a:solidFill>
              </a:rPr>
              <a:t>We own delivery of the scope</a:t>
            </a:r>
          </a:p>
        </p:txBody>
      </p:sp>
      <p:sp>
        <p:nvSpPr>
          <p:cNvPr id="15" name="Model row"/>
          <p:cNvSpPr/>
          <p:nvPr/>
        </p:nvSpPr>
        <p:spPr>
          <a:xfrm>
            <a:off x="530352" y="2395728"/>
            <a:ext cx="11128248" cy="585216"/>
          </a:xfrm>
          <a:prstGeom prst="roundRect">
            <a:avLst>
              <a:gd name="adj" fmla="val 125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Model name"/>
          <p:cNvSpPr txBox="1"/>
          <p:nvPr/>
        </p:nvSpPr>
        <p:spPr>
          <a:xfrm>
            <a:off x="731520" y="2395728"/>
            <a:ext cx="1920240" cy="585216"/>
          </a:xfrm>
          <a:prstGeom prst="rect">
            <a:avLst/>
          </a:prstGeom>
          <a:noFill/>
        </p:spPr>
        <p:txBody>
          <a:bodyPr wrap="square" lIns="0" tIns="0" rIns="0" bIns="0" anchor="ctr">
            <a:spAutoFit/>
          </a:bodyPr>
          <a:lstStyle/>
          <a:p>
            <a:pPr>
              <a:spcAft>
                <a:spcPts val="0"/>
              </a:spcAft>
            </a:pPr>
            <a:r>
              <a:rPr sz="1350" b="1" i="0">
                <a:solidFill>
                  <a:srgbClr val="040E4B"/>
                </a:solidFill>
              </a:rPr>
              <a:t>Velocity-based</a:t>
            </a:r>
          </a:p>
        </p:txBody>
      </p:sp>
      <p:sp>
        <p:nvSpPr>
          <p:cNvPr id="17" name="Model detail"/>
          <p:cNvSpPr txBox="1"/>
          <p:nvPr/>
        </p:nvSpPr>
        <p:spPr>
          <a:xfrm>
            <a:off x="2743200" y="2395728"/>
            <a:ext cx="2651760" cy="585216"/>
          </a:xfrm>
          <a:prstGeom prst="rect">
            <a:avLst/>
          </a:prstGeom>
          <a:noFill/>
        </p:spPr>
        <p:txBody>
          <a:bodyPr wrap="square" lIns="0" tIns="0" rIns="0" bIns="0" anchor="ctr">
            <a:spAutoFit/>
          </a:bodyPr>
          <a:lstStyle/>
          <a:p>
            <a:pPr>
              <a:spcAft>
                <a:spcPts val="0"/>
              </a:spcAft>
            </a:pPr>
            <a:r>
              <a:rPr sz="1150" b="0" i="0">
                <a:solidFill>
                  <a:srgbClr val="000000"/>
                </a:solidFill>
              </a:rPr>
              <a:t>Agile sprint delivery on a predefined backlog</a:t>
            </a:r>
          </a:p>
        </p:txBody>
      </p:sp>
      <p:sp>
        <p:nvSpPr>
          <p:cNvPr id="18" name="Model detail"/>
          <p:cNvSpPr txBox="1"/>
          <p:nvPr/>
        </p:nvSpPr>
        <p:spPr>
          <a:xfrm>
            <a:off x="5577840" y="2395728"/>
            <a:ext cx="1828800" cy="585216"/>
          </a:xfrm>
          <a:prstGeom prst="rect">
            <a:avLst/>
          </a:prstGeom>
          <a:noFill/>
        </p:spPr>
        <p:txBody>
          <a:bodyPr wrap="square" lIns="0" tIns="0" rIns="0" bIns="0" anchor="ctr">
            <a:spAutoFit/>
          </a:bodyPr>
          <a:lstStyle/>
          <a:p>
            <a:pPr>
              <a:spcAft>
                <a:spcPts val="0"/>
              </a:spcAft>
            </a:pPr>
            <a:r>
              <a:rPr sz="1150" b="0" i="0">
                <a:solidFill>
                  <a:srgbClr val="0391F2"/>
                </a:solidFill>
              </a:rPr>
              <a:t>T&amp;M</a:t>
            </a:r>
          </a:p>
        </p:txBody>
      </p:sp>
      <p:sp>
        <p:nvSpPr>
          <p:cNvPr id="19" name="Model detail"/>
          <p:cNvSpPr txBox="1"/>
          <p:nvPr/>
        </p:nvSpPr>
        <p:spPr>
          <a:xfrm>
            <a:off x="7589520" y="2395728"/>
            <a:ext cx="1828800" cy="585216"/>
          </a:xfrm>
          <a:prstGeom prst="rect">
            <a:avLst/>
          </a:prstGeom>
          <a:noFill/>
        </p:spPr>
        <p:txBody>
          <a:bodyPr wrap="square" lIns="0" tIns="0" rIns="0" bIns="0" anchor="ctr">
            <a:spAutoFit/>
          </a:bodyPr>
          <a:lstStyle/>
          <a:p>
            <a:pPr>
              <a:spcAft>
                <a:spcPts val="0"/>
              </a:spcAft>
            </a:pPr>
            <a:r>
              <a:rPr sz="1150" b="0" i="0">
                <a:solidFill>
                  <a:srgbClr val="000000"/>
                </a:solidFill>
              </a:rPr>
              <a:t>Output per sprint</a:t>
            </a:r>
          </a:p>
        </p:txBody>
      </p:sp>
      <p:sp>
        <p:nvSpPr>
          <p:cNvPr id="20" name="Model detail"/>
          <p:cNvSpPr txBox="1"/>
          <p:nvPr/>
        </p:nvSpPr>
        <p:spPr>
          <a:xfrm>
            <a:off x="9509760" y="2395728"/>
            <a:ext cx="2148840" cy="585216"/>
          </a:xfrm>
          <a:prstGeom prst="rect">
            <a:avLst/>
          </a:prstGeom>
          <a:noFill/>
        </p:spPr>
        <p:txBody>
          <a:bodyPr wrap="square" lIns="0" tIns="0" rIns="0" bIns="0" anchor="ctr">
            <a:spAutoFit/>
          </a:bodyPr>
          <a:lstStyle/>
          <a:p>
            <a:pPr>
              <a:spcAft>
                <a:spcPts val="0"/>
              </a:spcAft>
            </a:pPr>
            <a:r>
              <a:rPr sz="1150" b="1" i="0">
                <a:solidFill>
                  <a:srgbClr val="000000"/>
                </a:solidFill>
              </a:rPr>
              <a:t>We own speed and quality, not the value</a:t>
            </a:r>
          </a:p>
        </p:txBody>
      </p:sp>
      <p:sp>
        <p:nvSpPr>
          <p:cNvPr id="21" name="Model row"/>
          <p:cNvSpPr/>
          <p:nvPr/>
        </p:nvSpPr>
        <p:spPr>
          <a:xfrm>
            <a:off x="530352" y="3054096"/>
            <a:ext cx="11128248" cy="585216"/>
          </a:xfrm>
          <a:prstGeom prst="roundRect">
            <a:avLst>
              <a:gd name="adj" fmla="val 125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Model name"/>
          <p:cNvSpPr txBox="1"/>
          <p:nvPr/>
        </p:nvSpPr>
        <p:spPr>
          <a:xfrm>
            <a:off x="731520" y="3054096"/>
            <a:ext cx="1920240" cy="585216"/>
          </a:xfrm>
          <a:prstGeom prst="rect">
            <a:avLst/>
          </a:prstGeom>
          <a:noFill/>
        </p:spPr>
        <p:txBody>
          <a:bodyPr wrap="square" lIns="0" tIns="0" rIns="0" bIns="0" anchor="ctr">
            <a:spAutoFit/>
          </a:bodyPr>
          <a:lstStyle/>
          <a:p>
            <a:pPr>
              <a:spcAft>
                <a:spcPts val="0"/>
              </a:spcAft>
            </a:pPr>
            <a:r>
              <a:rPr sz="1350" b="1" i="0">
                <a:solidFill>
                  <a:srgbClr val="040E4B"/>
                </a:solidFill>
              </a:rPr>
              <a:t>Outcome-based</a:t>
            </a:r>
          </a:p>
        </p:txBody>
      </p:sp>
      <p:sp>
        <p:nvSpPr>
          <p:cNvPr id="23" name="Model detail"/>
          <p:cNvSpPr txBox="1"/>
          <p:nvPr/>
        </p:nvSpPr>
        <p:spPr>
          <a:xfrm>
            <a:off x="2743200" y="3054096"/>
            <a:ext cx="2651760" cy="585216"/>
          </a:xfrm>
          <a:prstGeom prst="rect">
            <a:avLst/>
          </a:prstGeom>
          <a:noFill/>
        </p:spPr>
        <p:txBody>
          <a:bodyPr wrap="square" lIns="0" tIns="0" rIns="0" bIns="0" anchor="ctr">
            <a:spAutoFit/>
          </a:bodyPr>
          <a:lstStyle/>
          <a:p>
            <a:pPr>
              <a:spcAft>
                <a:spcPts val="0"/>
              </a:spcAft>
            </a:pPr>
            <a:r>
              <a:rPr sz="1150" b="0" i="0">
                <a:solidFill>
                  <a:srgbClr val="000000"/>
                </a:solidFill>
              </a:rPr>
              <a:t>Test and learn, iterating toward results</a:t>
            </a:r>
          </a:p>
        </p:txBody>
      </p:sp>
      <p:sp>
        <p:nvSpPr>
          <p:cNvPr id="24" name="Model detail"/>
          <p:cNvSpPr txBox="1"/>
          <p:nvPr/>
        </p:nvSpPr>
        <p:spPr>
          <a:xfrm>
            <a:off x="5577840" y="3054096"/>
            <a:ext cx="1828800" cy="585216"/>
          </a:xfrm>
          <a:prstGeom prst="rect">
            <a:avLst/>
          </a:prstGeom>
          <a:noFill/>
        </p:spPr>
        <p:txBody>
          <a:bodyPr wrap="square" lIns="0" tIns="0" rIns="0" bIns="0" anchor="ctr">
            <a:spAutoFit/>
          </a:bodyPr>
          <a:lstStyle/>
          <a:p>
            <a:pPr>
              <a:spcAft>
                <a:spcPts val="0"/>
              </a:spcAft>
            </a:pPr>
            <a:r>
              <a:rPr sz="1150" b="0" i="0">
                <a:solidFill>
                  <a:srgbClr val="0391F2"/>
                </a:solidFill>
              </a:rPr>
              <a:t>Tied to OKRs</a:t>
            </a:r>
          </a:p>
        </p:txBody>
      </p:sp>
      <p:sp>
        <p:nvSpPr>
          <p:cNvPr id="25" name="Model detail"/>
          <p:cNvSpPr txBox="1"/>
          <p:nvPr/>
        </p:nvSpPr>
        <p:spPr>
          <a:xfrm>
            <a:off x="7589520" y="3054096"/>
            <a:ext cx="1828800" cy="585216"/>
          </a:xfrm>
          <a:prstGeom prst="rect">
            <a:avLst/>
          </a:prstGeom>
          <a:noFill/>
        </p:spPr>
        <p:txBody>
          <a:bodyPr wrap="square" lIns="0" tIns="0" rIns="0" bIns="0" anchor="ctr">
            <a:spAutoFit/>
          </a:bodyPr>
          <a:lstStyle/>
          <a:p>
            <a:pPr>
              <a:spcAft>
                <a:spcPts val="0"/>
              </a:spcAft>
            </a:pPr>
            <a:r>
              <a:rPr sz="1150" b="0" i="0">
                <a:solidFill>
                  <a:srgbClr val="000000"/>
                </a:solidFill>
              </a:rPr>
              <a:t>Client value delivered</a:t>
            </a:r>
          </a:p>
        </p:txBody>
      </p:sp>
      <p:sp>
        <p:nvSpPr>
          <p:cNvPr id="26" name="Model detail"/>
          <p:cNvSpPr txBox="1"/>
          <p:nvPr/>
        </p:nvSpPr>
        <p:spPr>
          <a:xfrm>
            <a:off x="9509760" y="3054096"/>
            <a:ext cx="2148840" cy="585216"/>
          </a:xfrm>
          <a:prstGeom prst="rect">
            <a:avLst/>
          </a:prstGeom>
          <a:noFill/>
        </p:spPr>
        <p:txBody>
          <a:bodyPr wrap="square" lIns="0" tIns="0" rIns="0" bIns="0" anchor="ctr">
            <a:spAutoFit/>
          </a:bodyPr>
          <a:lstStyle/>
          <a:p>
            <a:pPr>
              <a:spcAft>
                <a:spcPts val="0"/>
              </a:spcAft>
            </a:pPr>
            <a:r>
              <a:rPr sz="1150" b="1" i="0">
                <a:solidFill>
                  <a:srgbClr val="000000"/>
                </a:solidFill>
              </a:rPr>
              <a:t>We share ownership of the result</a:t>
            </a:r>
          </a:p>
        </p:txBody>
      </p:sp>
      <p:sp>
        <p:nvSpPr>
          <p:cNvPr id="27" name="Model row"/>
          <p:cNvSpPr/>
          <p:nvPr/>
        </p:nvSpPr>
        <p:spPr>
          <a:xfrm>
            <a:off x="530352" y="3712464"/>
            <a:ext cx="11128248" cy="585216"/>
          </a:xfrm>
          <a:prstGeom prst="roundRect">
            <a:avLst>
              <a:gd name="adj" fmla="val 125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Model name"/>
          <p:cNvSpPr txBox="1"/>
          <p:nvPr/>
        </p:nvSpPr>
        <p:spPr>
          <a:xfrm>
            <a:off x="731520" y="3712464"/>
            <a:ext cx="1920240" cy="585216"/>
          </a:xfrm>
          <a:prstGeom prst="rect">
            <a:avLst/>
          </a:prstGeom>
          <a:noFill/>
        </p:spPr>
        <p:txBody>
          <a:bodyPr wrap="square" lIns="0" tIns="0" rIns="0" bIns="0" anchor="ctr">
            <a:spAutoFit/>
          </a:bodyPr>
          <a:lstStyle/>
          <a:p>
            <a:pPr>
              <a:spcAft>
                <a:spcPts val="0"/>
              </a:spcAft>
            </a:pPr>
            <a:r>
              <a:rPr sz="1350" b="1" i="0">
                <a:solidFill>
                  <a:srgbClr val="040E4B"/>
                </a:solidFill>
              </a:rPr>
              <a:t>Retainer-based</a:t>
            </a:r>
          </a:p>
        </p:txBody>
      </p:sp>
      <p:sp>
        <p:nvSpPr>
          <p:cNvPr id="29" name="Model detail"/>
          <p:cNvSpPr txBox="1"/>
          <p:nvPr/>
        </p:nvSpPr>
        <p:spPr>
          <a:xfrm>
            <a:off x="2743200" y="3712464"/>
            <a:ext cx="2651760" cy="585216"/>
          </a:xfrm>
          <a:prstGeom prst="rect">
            <a:avLst/>
          </a:prstGeom>
          <a:noFill/>
        </p:spPr>
        <p:txBody>
          <a:bodyPr wrap="square" lIns="0" tIns="0" rIns="0" bIns="0" anchor="ctr">
            <a:spAutoFit/>
          </a:bodyPr>
          <a:lstStyle/>
          <a:p>
            <a:pPr>
              <a:spcAft>
                <a:spcPts val="0"/>
              </a:spcAft>
            </a:pPr>
            <a:r>
              <a:rPr sz="1150" b="0" i="0">
                <a:solidFill>
                  <a:srgbClr val="000000"/>
                </a:solidFill>
              </a:rPr>
              <a:t>Ongoing product or solution support</a:t>
            </a:r>
          </a:p>
        </p:txBody>
      </p:sp>
      <p:sp>
        <p:nvSpPr>
          <p:cNvPr id="30" name="Model detail"/>
          <p:cNvSpPr txBox="1"/>
          <p:nvPr/>
        </p:nvSpPr>
        <p:spPr>
          <a:xfrm>
            <a:off x="5577840" y="3712464"/>
            <a:ext cx="1828800" cy="585216"/>
          </a:xfrm>
          <a:prstGeom prst="rect">
            <a:avLst/>
          </a:prstGeom>
          <a:noFill/>
        </p:spPr>
        <p:txBody>
          <a:bodyPr wrap="square" lIns="0" tIns="0" rIns="0" bIns="0" anchor="ctr">
            <a:spAutoFit/>
          </a:bodyPr>
          <a:lstStyle/>
          <a:p>
            <a:pPr>
              <a:spcAft>
                <a:spcPts val="0"/>
              </a:spcAft>
            </a:pPr>
            <a:r>
              <a:rPr sz="1150" b="0" i="0">
                <a:solidFill>
                  <a:srgbClr val="0391F2"/>
                </a:solidFill>
              </a:rPr>
              <a:t>Retainer</a:t>
            </a:r>
          </a:p>
        </p:txBody>
      </p:sp>
      <p:sp>
        <p:nvSpPr>
          <p:cNvPr id="31" name="Model detail"/>
          <p:cNvSpPr txBox="1"/>
          <p:nvPr/>
        </p:nvSpPr>
        <p:spPr>
          <a:xfrm>
            <a:off x="7589520" y="3712464"/>
            <a:ext cx="1828800" cy="585216"/>
          </a:xfrm>
          <a:prstGeom prst="rect">
            <a:avLst/>
          </a:prstGeom>
          <a:noFill/>
        </p:spPr>
        <p:txBody>
          <a:bodyPr wrap="square" lIns="0" tIns="0" rIns="0" bIns="0" anchor="ctr">
            <a:spAutoFit/>
          </a:bodyPr>
          <a:lstStyle/>
          <a:p>
            <a:pPr>
              <a:spcAft>
                <a:spcPts val="0"/>
              </a:spcAft>
            </a:pPr>
            <a:r>
              <a:rPr sz="1150" b="0" i="0">
                <a:solidFill>
                  <a:srgbClr val="000000"/>
                </a:solidFill>
              </a:rPr>
              <a:t>SLA and uptime</a:t>
            </a:r>
          </a:p>
        </p:txBody>
      </p:sp>
      <p:sp>
        <p:nvSpPr>
          <p:cNvPr id="32" name="Model detail"/>
          <p:cNvSpPr txBox="1"/>
          <p:nvPr/>
        </p:nvSpPr>
        <p:spPr>
          <a:xfrm>
            <a:off x="9509760" y="3712464"/>
            <a:ext cx="2148840" cy="585216"/>
          </a:xfrm>
          <a:prstGeom prst="rect">
            <a:avLst/>
          </a:prstGeom>
          <a:noFill/>
        </p:spPr>
        <p:txBody>
          <a:bodyPr wrap="square" lIns="0" tIns="0" rIns="0" bIns="0" anchor="ctr">
            <a:spAutoFit/>
          </a:bodyPr>
          <a:lstStyle/>
          <a:p>
            <a:pPr>
              <a:spcAft>
                <a:spcPts val="0"/>
              </a:spcAft>
            </a:pPr>
            <a:r>
              <a:rPr sz="1150" b="1" i="0">
                <a:solidFill>
                  <a:srgbClr val="000000"/>
                </a:solidFill>
              </a:rPr>
              <a:t>Fixed monthly capacity</a:t>
            </a:r>
          </a:p>
        </p:txBody>
      </p:sp>
      <p:sp>
        <p:nvSpPr>
          <p:cNvPr id="33" name="Team card"/>
          <p:cNvSpPr/>
          <p:nvPr/>
        </p:nvSpPr>
        <p:spPr>
          <a:xfrm>
            <a:off x="530352" y="4526280"/>
            <a:ext cx="5468112" cy="1371600"/>
          </a:xfrm>
          <a:prstGeom prst="roundRect">
            <a:avLst>
              <a:gd name="adj" fmla="val 6666"/>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am name"/>
          <p:cNvSpPr txBox="1"/>
          <p:nvPr/>
        </p:nvSpPr>
        <p:spPr>
          <a:xfrm>
            <a:off x="758952" y="4681728"/>
            <a:ext cx="5029200" cy="274320"/>
          </a:xfrm>
          <a:prstGeom prst="rect">
            <a:avLst/>
          </a:prstGeom>
          <a:noFill/>
        </p:spPr>
        <p:txBody>
          <a:bodyPr wrap="square" lIns="0" tIns="0" rIns="0" bIns="0" anchor="t">
            <a:spAutoFit/>
          </a:bodyPr>
          <a:lstStyle/>
          <a:p>
            <a:pPr>
              <a:spcAft>
                <a:spcPts val="0"/>
              </a:spcAft>
            </a:pPr>
            <a:r>
              <a:rPr sz="1400" b="1" i="0">
                <a:solidFill>
                  <a:srgbClr val="040E4B"/>
                </a:solidFill>
              </a:rPr>
              <a:t>Squad</a:t>
            </a:r>
          </a:p>
        </p:txBody>
      </p:sp>
      <p:sp>
        <p:nvSpPr>
          <p:cNvPr id="35" name="Team description"/>
          <p:cNvSpPr txBox="1"/>
          <p:nvPr/>
        </p:nvSpPr>
        <p:spPr>
          <a:xfrm>
            <a:off x="758952" y="5029200"/>
            <a:ext cx="5029200" cy="822960"/>
          </a:xfrm>
          <a:prstGeom prst="rect">
            <a:avLst/>
          </a:prstGeom>
          <a:noFill/>
        </p:spPr>
        <p:txBody>
          <a:bodyPr wrap="square" lIns="0" tIns="0" rIns="0" bIns="0" anchor="t">
            <a:spAutoFit/>
          </a:bodyPr>
          <a:lstStyle/>
          <a:p>
            <a:pPr>
              <a:spcAft>
                <a:spcPts val="0"/>
              </a:spcAft>
            </a:pPr>
            <a:r>
              <a:rPr sz="1200" b="0" i="0">
                <a:solidFill>
                  <a:srgbClr val="000000"/>
                </a:solidFill>
              </a:rPr>
              <a:t>A team working a predefined backlog, with a Scrum Master and Product Owner. Owns speed and quality, not the business value.</a:t>
            </a:r>
          </a:p>
        </p:txBody>
      </p:sp>
      <p:sp>
        <p:nvSpPr>
          <p:cNvPr id="36" name="Team card"/>
          <p:cNvSpPr/>
          <p:nvPr/>
        </p:nvSpPr>
        <p:spPr>
          <a:xfrm>
            <a:off x="6190488" y="4526280"/>
            <a:ext cx="5468112" cy="1371600"/>
          </a:xfrm>
          <a:prstGeom prst="roundRect">
            <a:avLst>
              <a:gd name="adj" fmla="val 6666"/>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am name"/>
          <p:cNvSpPr txBox="1"/>
          <p:nvPr/>
        </p:nvSpPr>
        <p:spPr>
          <a:xfrm>
            <a:off x="6419088" y="4681728"/>
            <a:ext cx="5029200" cy="274320"/>
          </a:xfrm>
          <a:prstGeom prst="rect">
            <a:avLst/>
          </a:prstGeom>
          <a:noFill/>
        </p:spPr>
        <p:txBody>
          <a:bodyPr wrap="square" lIns="0" tIns="0" rIns="0" bIns="0" anchor="t">
            <a:spAutoFit/>
          </a:bodyPr>
          <a:lstStyle/>
          <a:p>
            <a:pPr>
              <a:spcAft>
                <a:spcPts val="0"/>
              </a:spcAft>
            </a:pPr>
            <a:r>
              <a:rPr sz="1400" b="1" i="0">
                <a:solidFill>
                  <a:srgbClr val="040E4B"/>
                </a:solidFill>
              </a:rPr>
              <a:t>POD (Product Oriented Delivery)</a:t>
            </a:r>
          </a:p>
        </p:txBody>
      </p:sp>
      <p:sp>
        <p:nvSpPr>
          <p:cNvPr id="38" name="Team description"/>
          <p:cNvSpPr txBox="1"/>
          <p:nvPr/>
        </p:nvSpPr>
        <p:spPr>
          <a:xfrm>
            <a:off x="6419088" y="5029200"/>
            <a:ext cx="5029200" cy="822960"/>
          </a:xfrm>
          <a:prstGeom prst="rect">
            <a:avLst/>
          </a:prstGeom>
          <a:noFill/>
        </p:spPr>
        <p:txBody>
          <a:bodyPr wrap="square" lIns="0" tIns="0" rIns="0" bIns="0" anchor="t">
            <a:spAutoFit/>
          </a:bodyPr>
          <a:lstStyle/>
          <a:p>
            <a:pPr>
              <a:spcAft>
                <a:spcPts val="0"/>
              </a:spcAft>
            </a:pPr>
            <a:r>
              <a:rPr sz="1200" b="0" i="0">
                <a:solidFill>
                  <a:srgbClr val="000000"/>
                </a:solidFill>
              </a:rPr>
              <a:t>A team that owns a business outcome through test and learn. Needs senior people who can handle ambiguity.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How the layers stack (RL)</a:t>
            </a:r>
          </a:p>
        </p:txBody>
      </p:sp>
      <p:sp>
        <p:nvSpPr>
          <p:cNvPr id="4" name="Text Placeholder 3"/>
          <p:cNvSpPr>
            <a:spLocks noGrp="1"/>
          </p:cNvSpPr>
          <p:nvPr>
            <p:ph type="body" sz="quarter" idx="12"/>
          </p:nvPr>
        </p:nvSpPr>
        <p:spPr/>
        <p:txBody>
          <a:bodyPr/>
          <a:lstStyle/>
          <a:p>
            <a:r>
              <a:t>APPENDIX</a:t>
            </a:r>
          </a:p>
        </p:txBody>
      </p:sp>
      <p:sp>
        <p:nvSpPr>
          <p:cNvPr id="5" name="Engagement bar"/>
          <p:cNvSpPr/>
          <p:nvPr/>
        </p:nvSpPr>
        <p:spPr>
          <a:xfrm>
            <a:off x="530352" y="1481328"/>
            <a:ext cx="11128248" cy="640080"/>
          </a:xfrm>
          <a:prstGeom prst="roundRect">
            <a:avLst>
              <a:gd name="adj" fmla="val 11428"/>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Engagement model"/>
          <p:cNvSpPr txBox="1"/>
          <p:nvPr/>
        </p:nvSpPr>
        <p:spPr>
          <a:xfrm>
            <a:off x="777240" y="1481328"/>
            <a:ext cx="10607040" cy="640080"/>
          </a:xfrm>
          <a:prstGeom prst="rect">
            <a:avLst/>
          </a:prstGeom>
          <a:noFill/>
        </p:spPr>
        <p:txBody>
          <a:bodyPr wrap="square" lIns="0" tIns="0" rIns="0" bIns="0" anchor="ctr">
            <a:spAutoFit/>
          </a:bodyPr>
          <a:lstStyle/>
          <a:p>
            <a:pPr>
              <a:spcAft>
                <a:spcPts val="0"/>
              </a:spcAft>
            </a:pPr>
            <a:r>
              <a:rPr sz="1050" b="1" i="0">
                <a:solidFill>
                  <a:srgbClr val="7FC8FF"/>
                </a:solidFill>
              </a:rPr>
              <a:t>ENGAGEMENT MODEL: PROGRAM    </a:t>
            </a:r>
            <a:r>
              <a:rPr sz="1400" b="1" i="0">
                <a:solidFill>
                  <a:srgbClr val="FFFFFF"/>
                </a:solidFill>
              </a:rPr>
              <a:t>Composable rebuild of a live site: 3 platforms, 5 vendors, Next.js front end</a:t>
            </a:r>
          </a:p>
        </p:txBody>
      </p:sp>
      <p:sp>
        <p:nvSpPr>
          <p:cNvPr id="7" name="Contract card"/>
          <p:cNvSpPr/>
          <p:nvPr/>
        </p:nvSpPr>
        <p:spPr>
          <a:xfrm>
            <a:off x="530352" y="2331720"/>
            <a:ext cx="11128248" cy="850392"/>
          </a:xfrm>
          <a:prstGeom prst="roundRect">
            <a:avLst>
              <a:gd name="adj" fmla="val 10752"/>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Contract name"/>
          <p:cNvSpPr txBox="1"/>
          <p:nvPr/>
        </p:nvSpPr>
        <p:spPr>
          <a:xfrm>
            <a:off x="777240" y="2331720"/>
            <a:ext cx="3017520" cy="850392"/>
          </a:xfrm>
          <a:prstGeom prst="rect">
            <a:avLst/>
          </a:prstGeom>
          <a:noFill/>
        </p:spPr>
        <p:txBody>
          <a:bodyPr wrap="square" lIns="0" tIns="0" rIns="0" bIns="0" anchor="ctr">
            <a:spAutoFit/>
          </a:bodyPr>
          <a:lstStyle/>
          <a:p>
            <a:pPr>
              <a:spcAft>
                <a:spcPts val="0"/>
              </a:spcAft>
            </a:pPr>
            <a:r>
              <a:rPr sz="1400" b="1" i="0">
                <a:solidFill>
                  <a:srgbClr val="040E4B"/>
                </a:solidFill>
              </a:rPr>
              <a:t>Contract A: T&amp;M</a:t>
            </a:r>
          </a:p>
        </p:txBody>
      </p:sp>
      <p:sp>
        <p:nvSpPr>
          <p:cNvPr id="9" name="Contract detail"/>
          <p:cNvSpPr txBox="1"/>
          <p:nvPr/>
        </p:nvSpPr>
        <p:spPr>
          <a:xfrm>
            <a:off x="3931920" y="2331720"/>
            <a:ext cx="5212080" cy="850392"/>
          </a:xfrm>
          <a:prstGeom prst="rect">
            <a:avLst/>
          </a:prstGeom>
          <a:noFill/>
        </p:spPr>
        <p:txBody>
          <a:bodyPr wrap="square" lIns="0" tIns="0" rIns="0" bIns="0" anchor="ctr">
            <a:spAutoFit/>
          </a:bodyPr>
          <a:lstStyle/>
          <a:p>
            <a:pPr>
              <a:spcAft>
                <a:spcPts val="0"/>
              </a:spcAft>
            </a:pPr>
            <a:r>
              <a:rPr sz="1200" b="0" i="0">
                <a:solidFill>
                  <a:srgbClr val="000000"/>
                </a:solidFill>
              </a:rPr>
              <a:t>Commerce and CMS implementation, base design migration, platform proof of concept.</a:t>
            </a:r>
          </a:p>
        </p:txBody>
      </p:sp>
      <p:sp>
        <p:nvSpPr>
          <p:cNvPr id="10" name="Model chip"/>
          <p:cNvSpPr/>
          <p:nvPr/>
        </p:nvSpPr>
        <p:spPr>
          <a:xfrm>
            <a:off x="9464040" y="2578608"/>
            <a:ext cx="1965960" cy="365760"/>
          </a:xfrm>
          <a:prstGeom prst="roundRect">
            <a:avLst>
              <a:gd name="adj" fmla="val 50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Model chip text"/>
          <p:cNvSpPr txBox="1"/>
          <p:nvPr/>
        </p:nvSpPr>
        <p:spPr>
          <a:xfrm>
            <a:off x="9464040" y="2578608"/>
            <a:ext cx="1965960" cy="365760"/>
          </a:xfrm>
          <a:prstGeom prst="rect">
            <a:avLst/>
          </a:prstGeom>
          <a:noFill/>
        </p:spPr>
        <p:txBody>
          <a:bodyPr wrap="square" lIns="0" tIns="0" rIns="0" bIns="0" anchor="ctr">
            <a:spAutoFit/>
          </a:bodyPr>
          <a:lstStyle/>
          <a:p>
            <a:pPr algn="ctr">
              <a:spcAft>
                <a:spcPts val="0"/>
              </a:spcAft>
            </a:pPr>
            <a:r>
              <a:rPr sz="1100" b="1" i="0">
                <a:solidFill>
                  <a:srgbClr val="FFFFFF"/>
                </a:solidFill>
              </a:rPr>
              <a:t>Constraint-based</a:t>
            </a:r>
          </a:p>
        </p:txBody>
      </p:sp>
      <p:sp>
        <p:nvSpPr>
          <p:cNvPr id="12" name="Contract card"/>
          <p:cNvSpPr/>
          <p:nvPr/>
        </p:nvSpPr>
        <p:spPr>
          <a:xfrm>
            <a:off x="530352" y="3291839"/>
            <a:ext cx="11128248" cy="850392"/>
          </a:xfrm>
          <a:prstGeom prst="roundRect">
            <a:avLst>
              <a:gd name="adj" fmla="val 10752"/>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Contract name"/>
          <p:cNvSpPr txBox="1"/>
          <p:nvPr/>
        </p:nvSpPr>
        <p:spPr>
          <a:xfrm>
            <a:off x="777240" y="3291839"/>
            <a:ext cx="3017520" cy="850392"/>
          </a:xfrm>
          <a:prstGeom prst="rect">
            <a:avLst/>
          </a:prstGeom>
          <a:noFill/>
        </p:spPr>
        <p:txBody>
          <a:bodyPr wrap="square" lIns="0" tIns="0" rIns="0" bIns="0" anchor="ctr">
            <a:spAutoFit/>
          </a:bodyPr>
          <a:lstStyle/>
          <a:p>
            <a:pPr>
              <a:spcAft>
                <a:spcPts val="0"/>
              </a:spcAft>
            </a:pPr>
            <a:r>
              <a:rPr sz="1400" b="1" i="0">
                <a:solidFill>
                  <a:srgbClr val="040E4B"/>
                </a:solidFill>
              </a:rPr>
              <a:t>Contract B: T&amp;M, time-limited</a:t>
            </a:r>
          </a:p>
        </p:txBody>
      </p:sp>
      <p:sp>
        <p:nvSpPr>
          <p:cNvPr id="14" name="Contract detail"/>
          <p:cNvSpPr txBox="1"/>
          <p:nvPr/>
        </p:nvSpPr>
        <p:spPr>
          <a:xfrm>
            <a:off x="3931920" y="3291839"/>
            <a:ext cx="5212080" cy="850392"/>
          </a:xfrm>
          <a:prstGeom prst="rect">
            <a:avLst/>
          </a:prstGeom>
          <a:noFill/>
        </p:spPr>
        <p:txBody>
          <a:bodyPr wrap="square" lIns="0" tIns="0" rIns="0" bIns="0" anchor="ctr">
            <a:spAutoFit/>
          </a:bodyPr>
          <a:lstStyle/>
          <a:p>
            <a:pPr>
              <a:spcAft>
                <a:spcPts val="0"/>
              </a:spcAft>
            </a:pPr>
            <a:r>
              <a:rPr sz="1200" b="0" i="0">
                <a:solidFill>
                  <a:srgbClr val="000000"/>
                </a:solidFill>
              </a:rPr>
              <a:t>Key page and feature optimization. Test and learn by a fixed date to protect the main timeline.</a:t>
            </a:r>
          </a:p>
        </p:txBody>
      </p:sp>
      <p:sp>
        <p:nvSpPr>
          <p:cNvPr id="15" name="Model chip"/>
          <p:cNvSpPr/>
          <p:nvPr/>
        </p:nvSpPr>
        <p:spPr>
          <a:xfrm>
            <a:off x="9464040" y="3538727"/>
            <a:ext cx="1965960" cy="365760"/>
          </a:xfrm>
          <a:prstGeom prst="roundRect">
            <a:avLst>
              <a:gd name="adj" fmla="val 50000"/>
            </a:avLst>
          </a:prstGeom>
          <a:solidFill>
            <a:srgbClr val="039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Model chip text"/>
          <p:cNvSpPr txBox="1"/>
          <p:nvPr/>
        </p:nvSpPr>
        <p:spPr>
          <a:xfrm>
            <a:off x="9464040" y="3538727"/>
            <a:ext cx="1965960" cy="365760"/>
          </a:xfrm>
          <a:prstGeom prst="rect">
            <a:avLst/>
          </a:prstGeom>
          <a:noFill/>
        </p:spPr>
        <p:txBody>
          <a:bodyPr wrap="square" lIns="0" tIns="0" rIns="0" bIns="0" anchor="ctr">
            <a:spAutoFit/>
          </a:bodyPr>
          <a:lstStyle/>
          <a:p>
            <a:pPr algn="ctr">
              <a:spcAft>
                <a:spcPts val="0"/>
              </a:spcAft>
            </a:pPr>
            <a:r>
              <a:rPr sz="1100" b="1" i="0">
                <a:solidFill>
                  <a:srgbClr val="FFFFFF"/>
                </a:solidFill>
              </a:rPr>
              <a:t>Outcome-based</a:t>
            </a:r>
          </a:p>
        </p:txBody>
      </p:sp>
      <p:sp>
        <p:nvSpPr>
          <p:cNvPr id="17" name="Contract card"/>
          <p:cNvSpPr/>
          <p:nvPr/>
        </p:nvSpPr>
        <p:spPr>
          <a:xfrm>
            <a:off x="530352" y="4251960"/>
            <a:ext cx="11128248" cy="850392"/>
          </a:xfrm>
          <a:prstGeom prst="roundRect">
            <a:avLst>
              <a:gd name="adj" fmla="val 10752"/>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Contract name"/>
          <p:cNvSpPr txBox="1"/>
          <p:nvPr/>
        </p:nvSpPr>
        <p:spPr>
          <a:xfrm>
            <a:off x="777240" y="4251960"/>
            <a:ext cx="3017520" cy="850392"/>
          </a:xfrm>
          <a:prstGeom prst="rect">
            <a:avLst/>
          </a:prstGeom>
          <a:noFill/>
        </p:spPr>
        <p:txBody>
          <a:bodyPr wrap="square" lIns="0" tIns="0" rIns="0" bIns="0" anchor="ctr">
            <a:spAutoFit/>
          </a:bodyPr>
          <a:lstStyle/>
          <a:p>
            <a:pPr>
              <a:spcAft>
                <a:spcPts val="0"/>
              </a:spcAft>
            </a:pPr>
            <a:r>
              <a:rPr sz="1400" b="1" i="0">
                <a:solidFill>
                  <a:srgbClr val="040E4B"/>
                </a:solidFill>
              </a:rPr>
              <a:t>Contract C: retainer</a:t>
            </a:r>
          </a:p>
        </p:txBody>
      </p:sp>
      <p:sp>
        <p:nvSpPr>
          <p:cNvPr id="19" name="Contract detail"/>
          <p:cNvSpPr txBox="1"/>
          <p:nvPr/>
        </p:nvSpPr>
        <p:spPr>
          <a:xfrm>
            <a:off x="3931920" y="4251960"/>
            <a:ext cx="5212080" cy="850392"/>
          </a:xfrm>
          <a:prstGeom prst="rect">
            <a:avLst/>
          </a:prstGeom>
          <a:noFill/>
        </p:spPr>
        <p:txBody>
          <a:bodyPr wrap="square" lIns="0" tIns="0" rIns="0" bIns="0" anchor="ctr">
            <a:spAutoFit/>
          </a:bodyPr>
          <a:lstStyle/>
          <a:p>
            <a:pPr>
              <a:spcAft>
                <a:spcPts val="0"/>
              </a:spcAft>
            </a:pPr>
            <a:r>
              <a:rPr sz="1200" b="0" i="0">
                <a:solidFill>
                  <a:srgbClr val="000000"/>
                </a:solidFill>
              </a:rPr>
              <a:t>Ongoing support for the live site during the migration.</a:t>
            </a:r>
          </a:p>
        </p:txBody>
      </p:sp>
      <p:sp>
        <p:nvSpPr>
          <p:cNvPr id="20" name="Model chip"/>
          <p:cNvSpPr/>
          <p:nvPr/>
        </p:nvSpPr>
        <p:spPr>
          <a:xfrm>
            <a:off x="9464040" y="4498848"/>
            <a:ext cx="1965960" cy="365760"/>
          </a:xfrm>
          <a:prstGeom prst="roundRect">
            <a:avLst>
              <a:gd name="adj" fmla="val 50000"/>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Model chip text"/>
          <p:cNvSpPr txBox="1"/>
          <p:nvPr/>
        </p:nvSpPr>
        <p:spPr>
          <a:xfrm>
            <a:off x="9464040" y="4498848"/>
            <a:ext cx="1965960" cy="365760"/>
          </a:xfrm>
          <a:prstGeom prst="rect">
            <a:avLst/>
          </a:prstGeom>
          <a:noFill/>
        </p:spPr>
        <p:txBody>
          <a:bodyPr wrap="square" lIns="0" tIns="0" rIns="0" bIns="0" anchor="ctr">
            <a:spAutoFit/>
          </a:bodyPr>
          <a:lstStyle/>
          <a:p>
            <a:pPr algn="ctr">
              <a:spcAft>
                <a:spcPts val="0"/>
              </a:spcAft>
            </a:pPr>
            <a:r>
              <a:rPr sz="1100" b="1" i="0">
                <a:solidFill>
                  <a:srgbClr val="FFFFFF"/>
                </a:solidFill>
              </a:rPr>
              <a:t>Retainer-based</a:t>
            </a:r>
          </a:p>
        </p:txBody>
      </p:sp>
      <p:sp>
        <p:nvSpPr>
          <p:cNvPr id="22" name="Takeaway bar"/>
          <p:cNvSpPr/>
          <p:nvPr/>
        </p:nvSpPr>
        <p:spPr>
          <a:xfrm>
            <a:off x="530352" y="5303520"/>
            <a:ext cx="11128248" cy="640080"/>
          </a:xfrm>
          <a:prstGeom prst="roundRect">
            <a:avLst>
              <a:gd name="adj" fmla="val 11428"/>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akeaway"/>
          <p:cNvSpPr txBox="1"/>
          <p:nvPr/>
        </p:nvSpPr>
        <p:spPr>
          <a:xfrm>
            <a:off x="777240" y="5303520"/>
            <a:ext cx="10607040" cy="640080"/>
          </a:xfrm>
          <a:prstGeom prst="rect">
            <a:avLst/>
          </a:prstGeom>
          <a:noFill/>
        </p:spPr>
        <p:txBody>
          <a:bodyPr wrap="square" lIns="0" tIns="0" rIns="0" bIns="0" anchor="ctr">
            <a:spAutoFit/>
          </a:bodyPr>
          <a:lstStyle/>
          <a:p>
            <a:pPr>
              <a:spcAft>
                <a:spcPts val="0"/>
              </a:spcAft>
            </a:pPr>
            <a:r>
              <a:rPr sz="1400" b="1" i="0">
                <a:solidFill>
                  <a:srgbClr val="040E4B"/>
                </a:solidFill>
              </a:rPr>
              <a:t>Separating the layers isolates experimental work from the hard deadlines of the platform build.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The three account roles</a:t>
            </a:r>
          </a:p>
        </p:txBody>
      </p:sp>
      <p:sp>
        <p:nvSpPr>
          <p:cNvPr id="4" name="Text Placeholder 3"/>
          <p:cNvSpPr>
            <a:spLocks noGrp="1"/>
          </p:cNvSpPr>
          <p:nvPr>
            <p:ph type="body" sz="quarter" idx="12"/>
          </p:nvPr>
        </p:nvSpPr>
        <p:spPr/>
        <p:txBody>
          <a:bodyPr/>
          <a:lstStyle/>
          <a:p>
            <a:r>
              <a:t>APPENDIX</a:t>
            </a:r>
          </a:p>
        </p:txBody>
      </p:sp>
      <p:sp>
        <p:nvSpPr>
          <p:cNvPr id="5" name="Role card"/>
          <p:cNvSpPr/>
          <p:nvPr/>
        </p:nvSpPr>
        <p:spPr>
          <a:xfrm>
            <a:off x="530352" y="1508760"/>
            <a:ext cx="3557016" cy="2331720"/>
          </a:xfrm>
          <a:prstGeom prst="roundRect">
            <a:avLst>
              <a:gd name="adj" fmla="val 3921"/>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Icon badge"/>
          <p:cNvSpPr/>
          <p:nvPr/>
        </p:nvSpPr>
        <p:spPr>
          <a:xfrm>
            <a:off x="786384" y="1737360"/>
            <a:ext cx="731520" cy="731520"/>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Account Owner"/>
          <p:cNvPicPr>
            <a:picLocks noChangeAspect="1"/>
          </p:cNvPicPr>
          <p:nvPr/>
        </p:nvPicPr>
        <p:blipFill>
          <a:blip r:embed="rId2"/>
          <a:stretch>
            <a:fillRect/>
          </a:stretch>
        </p:blipFill>
        <p:spPr>
          <a:xfrm>
            <a:off x="976579" y="1927555"/>
            <a:ext cx="351129" cy="351129"/>
          </a:xfrm>
          <a:prstGeom prst="rect">
            <a:avLst/>
          </a:prstGeom>
        </p:spPr>
      </p:pic>
      <p:sp>
        <p:nvSpPr>
          <p:cNvPr id="8" name="Role name"/>
          <p:cNvSpPr txBox="1"/>
          <p:nvPr/>
        </p:nvSpPr>
        <p:spPr>
          <a:xfrm>
            <a:off x="786384" y="2651760"/>
            <a:ext cx="3044952" cy="320040"/>
          </a:xfrm>
          <a:prstGeom prst="rect">
            <a:avLst/>
          </a:prstGeom>
          <a:noFill/>
        </p:spPr>
        <p:txBody>
          <a:bodyPr wrap="square" lIns="0" tIns="0" rIns="0" bIns="0" anchor="t">
            <a:spAutoFit/>
          </a:bodyPr>
          <a:lstStyle/>
          <a:p>
            <a:pPr>
              <a:spcAft>
                <a:spcPts val="0"/>
              </a:spcAft>
            </a:pPr>
            <a:r>
              <a:rPr sz="1700" b="1" i="0">
                <a:solidFill>
                  <a:srgbClr val="040E4B"/>
                </a:solidFill>
              </a:rPr>
              <a:t>Account Owner</a:t>
            </a:r>
          </a:p>
        </p:txBody>
      </p:sp>
      <p:sp>
        <p:nvSpPr>
          <p:cNvPr id="9" name="Role description"/>
          <p:cNvSpPr txBox="1"/>
          <p:nvPr/>
        </p:nvSpPr>
        <p:spPr>
          <a:xfrm>
            <a:off x="786384" y="3017520"/>
            <a:ext cx="3044952" cy="777240"/>
          </a:xfrm>
          <a:prstGeom prst="rect">
            <a:avLst/>
          </a:prstGeom>
          <a:noFill/>
        </p:spPr>
        <p:txBody>
          <a:bodyPr wrap="square" lIns="0" tIns="0" rIns="0" bIns="0" anchor="t">
            <a:spAutoFit/>
          </a:bodyPr>
          <a:lstStyle/>
          <a:p>
            <a:pPr>
              <a:spcAft>
                <a:spcPts val="0"/>
              </a:spcAft>
            </a:pPr>
            <a:r>
              <a:rPr sz="1200" b="0" i="0">
                <a:solidFill>
                  <a:srgbClr val="000000"/>
                </a:solidFill>
              </a:rPr>
              <a:t>Owns the client relationship and finds ways to grow the account.</a:t>
            </a:r>
          </a:p>
        </p:txBody>
      </p:sp>
      <p:sp>
        <p:nvSpPr>
          <p:cNvPr id="10" name="Role card"/>
          <p:cNvSpPr/>
          <p:nvPr/>
        </p:nvSpPr>
        <p:spPr>
          <a:xfrm>
            <a:off x="4315968" y="1508760"/>
            <a:ext cx="3557016" cy="2331720"/>
          </a:xfrm>
          <a:prstGeom prst="roundRect">
            <a:avLst>
              <a:gd name="adj" fmla="val 3921"/>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Icon badge"/>
          <p:cNvSpPr/>
          <p:nvPr/>
        </p:nvSpPr>
        <p:spPr>
          <a:xfrm>
            <a:off x="4572000" y="1737360"/>
            <a:ext cx="731520" cy="731520"/>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con" descr="Commercial Owner"/>
          <p:cNvPicPr>
            <a:picLocks noChangeAspect="1"/>
          </p:cNvPicPr>
          <p:nvPr/>
        </p:nvPicPr>
        <p:blipFill>
          <a:blip r:embed="rId3"/>
          <a:stretch>
            <a:fillRect/>
          </a:stretch>
        </p:blipFill>
        <p:spPr>
          <a:xfrm>
            <a:off x="4762195" y="1927555"/>
            <a:ext cx="351129" cy="351129"/>
          </a:xfrm>
          <a:prstGeom prst="rect">
            <a:avLst/>
          </a:prstGeom>
        </p:spPr>
      </p:pic>
      <p:sp>
        <p:nvSpPr>
          <p:cNvPr id="13" name="Role name"/>
          <p:cNvSpPr txBox="1"/>
          <p:nvPr/>
        </p:nvSpPr>
        <p:spPr>
          <a:xfrm>
            <a:off x="4572000" y="2651760"/>
            <a:ext cx="3044952" cy="320040"/>
          </a:xfrm>
          <a:prstGeom prst="rect">
            <a:avLst/>
          </a:prstGeom>
          <a:noFill/>
        </p:spPr>
        <p:txBody>
          <a:bodyPr wrap="square" lIns="0" tIns="0" rIns="0" bIns="0" anchor="t">
            <a:spAutoFit/>
          </a:bodyPr>
          <a:lstStyle/>
          <a:p>
            <a:pPr>
              <a:spcAft>
                <a:spcPts val="0"/>
              </a:spcAft>
            </a:pPr>
            <a:r>
              <a:rPr sz="1700" b="1" i="0">
                <a:solidFill>
                  <a:srgbClr val="040E4B"/>
                </a:solidFill>
              </a:rPr>
              <a:t>Commercial Owner</a:t>
            </a:r>
          </a:p>
        </p:txBody>
      </p:sp>
      <p:sp>
        <p:nvSpPr>
          <p:cNvPr id="14" name="Role description"/>
          <p:cNvSpPr txBox="1"/>
          <p:nvPr/>
        </p:nvSpPr>
        <p:spPr>
          <a:xfrm>
            <a:off x="4572000" y="3017520"/>
            <a:ext cx="3044952" cy="777240"/>
          </a:xfrm>
          <a:prstGeom prst="rect">
            <a:avLst/>
          </a:prstGeom>
          <a:noFill/>
        </p:spPr>
        <p:txBody>
          <a:bodyPr wrap="square" lIns="0" tIns="0" rIns="0" bIns="0" anchor="t">
            <a:spAutoFit/>
          </a:bodyPr>
          <a:lstStyle/>
          <a:p>
            <a:pPr>
              <a:spcAft>
                <a:spcPts val="0"/>
              </a:spcAft>
            </a:pPr>
            <a:r>
              <a:rPr sz="1200" b="0" i="0">
                <a:solidFill>
                  <a:srgbClr val="000000"/>
                </a:solidFill>
              </a:rPr>
              <a:t>Owns contract risk and commercial rules, and protects profitability.</a:t>
            </a:r>
          </a:p>
        </p:txBody>
      </p:sp>
      <p:sp>
        <p:nvSpPr>
          <p:cNvPr id="15" name="Role card"/>
          <p:cNvSpPr/>
          <p:nvPr/>
        </p:nvSpPr>
        <p:spPr>
          <a:xfrm>
            <a:off x="8101583" y="1508760"/>
            <a:ext cx="3557016" cy="2331720"/>
          </a:xfrm>
          <a:prstGeom prst="roundRect">
            <a:avLst>
              <a:gd name="adj" fmla="val 3921"/>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Icon badge"/>
          <p:cNvSpPr/>
          <p:nvPr/>
        </p:nvSpPr>
        <p:spPr>
          <a:xfrm>
            <a:off x="8357615" y="1737360"/>
            <a:ext cx="731520" cy="731520"/>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con" descr="Delivery Lead"/>
          <p:cNvPicPr>
            <a:picLocks noChangeAspect="1"/>
          </p:cNvPicPr>
          <p:nvPr/>
        </p:nvPicPr>
        <p:blipFill>
          <a:blip r:embed="rId4"/>
          <a:stretch>
            <a:fillRect/>
          </a:stretch>
        </p:blipFill>
        <p:spPr>
          <a:xfrm>
            <a:off x="8547811" y="1927555"/>
            <a:ext cx="351129" cy="351129"/>
          </a:xfrm>
          <a:prstGeom prst="rect">
            <a:avLst/>
          </a:prstGeom>
        </p:spPr>
      </p:pic>
      <p:sp>
        <p:nvSpPr>
          <p:cNvPr id="18" name="Role name"/>
          <p:cNvSpPr txBox="1"/>
          <p:nvPr/>
        </p:nvSpPr>
        <p:spPr>
          <a:xfrm>
            <a:off x="8357615" y="2651760"/>
            <a:ext cx="3044952" cy="320040"/>
          </a:xfrm>
          <a:prstGeom prst="rect">
            <a:avLst/>
          </a:prstGeom>
          <a:noFill/>
        </p:spPr>
        <p:txBody>
          <a:bodyPr wrap="square" lIns="0" tIns="0" rIns="0" bIns="0" anchor="t">
            <a:spAutoFit/>
          </a:bodyPr>
          <a:lstStyle/>
          <a:p>
            <a:pPr>
              <a:spcAft>
                <a:spcPts val="0"/>
              </a:spcAft>
            </a:pPr>
            <a:r>
              <a:rPr sz="1700" b="1" i="0">
                <a:solidFill>
                  <a:srgbClr val="040E4B"/>
                </a:solidFill>
              </a:rPr>
              <a:t>Delivery Lead</a:t>
            </a:r>
          </a:p>
        </p:txBody>
      </p:sp>
      <p:sp>
        <p:nvSpPr>
          <p:cNvPr id="19" name="Role description"/>
          <p:cNvSpPr txBox="1"/>
          <p:nvPr/>
        </p:nvSpPr>
        <p:spPr>
          <a:xfrm>
            <a:off x="8357615" y="3017520"/>
            <a:ext cx="3044952" cy="777240"/>
          </a:xfrm>
          <a:prstGeom prst="rect">
            <a:avLst/>
          </a:prstGeom>
          <a:noFill/>
        </p:spPr>
        <p:txBody>
          <a:bodyPr wrap="square" lIns="0" tIns="0" rIns="0" bIns="0" anchor="t">
            <a:spAutoFit/>
          </a:bodyPr>
          <a:lstStyle/>
          <a:p>
            <a:pPr>
              <a:spcAft>
                <a:spcPts val="0"/>
              </a:spcAft>
            </a:pPr>
            <a:r>
              <a:rPr sz="1200" b="0" i="0">
                <a:solidFill>
                  <a:srgbClr val="000000"/>
                </a:solidFill>
              </a:rPr>
              <a:t>Owns delivery quality and how the work is run, and manages the team mix.</a:t>
            </a:r>
          </a:p>
        </p:txBody>
      </p:sp>
      <p:sp>
        <p:nvSpPr>
          <p:cNvPr id="20" name="One person card"/>
          <p:cNvSpPr/>
          <p:nvPr/>
        </p:nvSpPr>
        <p:spPr>
          <a:xfrm>
            <a:off x="530352" y="4069080"/>
            <a:ext cx="7040880" cy="1783080"/>
          </a:xfrm>
          <a:prstGeom prst="roundRect">
            <a:avLst>
              <a:gd name="adj" fmla="val 5128"/>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Label"/>
          <p:cNvSpPr txBox="1"/>
          <p:nvPr/>
        </p:nvSpPr>
        <p:spPr>
          <a:xfrm>
            <a:off x="777240" y="4224528"/>
            <a:ext cx="6583680" cy="228600"/>
          </a:xfrm>
          <a:prstGeom prst="rect">
            <a:avLst/>
          </a:prstGeom>
          <a:noFill/>
        </p:spPr>
        <p:txBody>
          <a:bodyPr wrap="square" lIns="0" tIns="0" rIns="0" bIns="0" anchor="t">
            <a:spAutoFit/>
          </a:bodyPr>
          <a:lstStyle/>
          <a:p>
            <a:pPr>
              <a:spcAft>
                <a:spcPts val="0"/>
              </a:spcAft>
            </a:pPr>
            <a:r>
              <a:rPr sz="1000" b="1" i="0" spc="150">
                <a:solidFill>
                  <a:srgbClr val="0391F2"/>
                </a:solidFill>
              </a:rPr>
              <a:t>ONE PERSON IN EACH ROLE, PER ACCOUNT</a:t>
            </a:r>
          </a:p>
        </p:txBody>
      </p:sp>
      <p:sp>
        <p:nvSpPr>
          <p:cNvPr id="22" name="Roles together"/>
          <p:cNvSpPr txBox="1"/>
          <p:nvPr/>
        </p:nvSpPr>
        <p:spPr>
          <a:xfrm>
            <a:off x="777240" y="4572000"/>
            <a:ext cx="6583680" cy="1188720"/>
          </a:xfrm>
          <a:prstGeom prst="rect">
            <a:avLst/>
          </a:prstGeom>
          <a:noFill/>
        </p:spPr>
        <p:txBody>
          <a:bodyPr wrap="square" lIns="0" tIns="0" rIns="0" bIns="0" anchor="t">
            <a:spAutoFit/>
          </a:bodyPr>
          <a:lstStyle/>
          <a:p>
            <a:pPr>
              <a:spcAft>
                <a:spcPts val="0"/>
              </a:spcAft>
            </a:pPr>
            <a:r>
              <a:rPr sz="1350" b="0" i="0">
                <a:solidFill>
                  <a:srgbClr val="040E4B"/>
                </a:solidFill>
              </a:rPr>
              <a:t>One person in each role, per account. They work as one team, scaled up for bigger or more complex accounts, so account status is clear without a triage review.</a:t>
            </a:r>
          </a:p>
        </p:txBody>
      </p:sp>
      <p:sp>
        <p:nvSpPr>
          <p:cNvPr id="23" name="Open decision card"/>
          <p:cNvSpPr/>
          <p:nvPr/>
        </p:nvSpPr>
        <p:spPr>
          <a:xfrm>
            <a:off x="7726679" y="4069080"/>
            <a:ext cx="3931920" cy="1783080"/>
          </a:xfrm>
          <a:prstGeom prst="roundRect">
            <a:avLst>
              <a:gd name="adj" fmla="val 5128"/>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Label"/>
          <p:cNvSpPr txBox="1"/>
          <p:nvPr/>
        </p:nvSpPr>
        <p:spPr>
          <a:xfrm>
            <a:off x="7973568" y="4224528"/>
            <a:ext cx="3474720" cy="228600"/>
          </a:xfrm>
          <a:prstGeom prst="rect">
            <a:avLst/>
          </a:prstGeom>
          <a:noFill/>
        </p:spPr>
        <p:txBody>
          <a:bodyPr wrap="square" lIns="0" tIns="0" rIns="0" bIns="0" anchor="t">
            <a:spAutoFit/>
          </a:bodyPr>
          <a:lstStyle/>
          <a:p>
            <a:pPr>
              <a:spcAft>
                <a:spcPts val="0"/>
              </a:spcAft>
            </a:pPr>
            <a:r>
              <a:rPr sz="1000" b="1" i="0" spc="200">
                <a:solidFill>
                  <a:srgbClr val="7FC8FF"/>
                </a:solidFill>
              </a:rPr>
              <a:t>OPEN DECISION</a:t>
            </a:r>
          </a:p>
        </p:txBody>
      </p:sp>
      <p:sp>
        <p:nvSpPr>
          <p:cNvPr id="25" name="Open decision"/>
          <p:cNvSpPr txBox="1"/>
          <p:nvPr/>
        </p:nvSpPr>
        <p:spPr>
          <a:xfrm>
            <a:off x="7973568" y="4572000"/>
            <a:ext cx="3474720" cy="1188720"/>
          </a:xfrm>
          <a:prstGeom prst="rect">
            <a:avLst/>
          </a:prstGeom>
          <a:noFill/>
        </p:spPr>
        <p:txBody>
          <a:bodyPr wrap="square" lIns="0" tIns="0" rIns="0" bIns="0" anchor="t">
            <a:spAutoFit/>
          </a:bodyPr>
          <a:lstStyle/>
          <a:p>
            <a:pPr>
              <a:spcAft>
                <a:spcPts val="0"/>
              </a:spcAft>
            </a:pPr>
            <a:r>
              <a:rPr sz="1400" b="1" i="0">
                <a:solidFill>
                  <a:srgbClr val="FFFFFF"/>
                </a:solidFill>
              </a:rPr>
              <a:t>How these roles fit with executive sponsors on top accounts.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How we’ll know it’s working</a:t>
            </a:r>
          </a:p>
        </p:txBody>
      </p:sp>
      <p:sp>
        <p:nvSpPr>
          <p:cNvPr id="4" name="Text Placeholder 3"/>
          <p:cNvSpPr>
            <a:spLocks noGrp="1"/>
          </p:cNvSpPr>
          <p:nvPr>
            <p:ph type="body" sz="quarter" idx="12"/>
          </p:nvPr>
        </p:nvSpPr>
        <p:spPr/>
        <p:txBody>
          <a:bodyPr/>
          <a:lstStyle/>
          <a:p>
            <a:r>
              <a:t>APPENDIX</a:t>
            </a:r>
          </a:p>
        </p:txBody>
      </p:sp>
      <p:sp>
        <p:nvSpPr>
          <p:cNvPr id="5" name="Metric card"/>
          <p:cNvSpPr/>
          <p:nvPr/>
        </p:nvSpPr>
        <p:spPr>
          <a:xfrm>
            <a:off x="530352" y="1508760"/>
            <a:ext cx="2697480" cy="3246120"/>
          </a:xfrm>
          <a:prstGeom prst="roundRect">
            <a:avLst>
              <a:gd name="adj" fmla="val 3389"/>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Icon badge"/>
          <p:cNvSpPr/>
          <p:nvPr/>
        </p:nvSpPr>
        <p:spPr>
          <a:xfrm>
            <a:off x="758952" y="1737360"/>
            <a:ext cx="658368" cy="658368"/>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descr="Account health"/>
          <p:cNvPicPr>
            <a:picLocks noChangeAspect="1"/>
          </p:cNvPicPr>
          <p:nvPr/>
        </p:nvPicPr>
        <p:blipFill>
          <a:blip r:embed="rId2"/>
          <a:stretch>
            <a:fillRect/>
          </a:stretch>
        </p:blipFill>
        <p:spPr>
          <a:xfrm>
            <a:off x="930127" y="1908535"/>
            <a:ext cx="316016" cy="316016"/>
          </a:xfrm>
          <a:prstGeom prst="rect">
            <a:avLst/>
          </a:prstGeom>
        </p:spPr>
      </p:pic>
      <p:sp>
        <p:nvSpPr>
          <p:cNvPr id="8" name="Metric name"/>
          <p:cNvSpPr txBox="1"/>
          <p:nvPr/>
        </p:nvSpPr>
        <p:spPr>
          <a:xfrm>
            <a:off x="758952" y="2542032"/>
            <a:ext cx="2240280" cy="548640"/>
          </a:xfrm>
          <a:prstGeom prst="rect">
            <a:avLst/>
          </a:prstGeom>
          <a:noFill/>
        </p:spPr>
        <p:txBody>
          <a:bodyPr wrap="square" lIns="0" tIns="0" rIns="0" bIns="0" anchor="t">
            <a:spAutoFit/>
          </a:bodyPr>
          <a:lstStyle/>
          <a:p>
            <a:pPr>
              <a:spcAft>
                <a:spcPts val="0"/>
              </a:spcAft>
            </a:pPr>
            <a:r>
              <a:rPr sz="1500" b="1" i="0">
                <a:solidFill>
                  <a:srgbClr val="040E4B"/>
                </a:solidFill>
              </a:rPr>
              <a:t>Account health</a:t>
            </a:r>
          </a:p>
        </p:txBody>
      </p:sp>
      <p:sp>
        <p:nvSpPr>
          <p:cNvPr id="9" name="Metric description"/>
          <p:cNvSpPr txBox="1"/>
          <p:nvPr/>
        </p:nvSpPr>
        <p:spPr>
          <a:xfrm>
            <a:off x="758952" y="3127248"/>
            <a:ext cx="2240280" cy="1005840"/>
          </a:xfrm>
          <a:prstGeom prst="rect">
            <a:avLst/>
          </a:prstGeom>
          <a:noFill/>
        </p:spPr>
        <p:txBody>
          <a:bodyPr wrap="square" lIns="0" tIns="0" rIns="0" bIns="0" anchor="t">
            <a:spAutoFit/>
          </a:bodyPr>
          <a:lstStyle/>
          <a:p>
            <a:pPr>
              <a:spcAft>
                <a:spcPts val="0"/>
              </a:spcAft>
            </a:pPr>
            <a:r>
              <a:rPr sz="1150" b="0" i="0">
                <a:solidFill>
                  <a:srgbClr val="000000"/>
                </a:solidFill>
              </a:rPr>
              <a:t>Red / yellow / green status for each account and workstream, kept current.</a:t>
            </a:r>
          </a:p>
        </p:txBody>
      </p:sp>
      <p:sp>
        <p:nvSpPr>
          <p:cNvPr id="10" name="Stream label"/>
          <p:cNvSpPr txBox="1"/>
          <p:nvPr/>
        </p:nvSpPr>
        <p:spPr>
          <a:xfrm>
            <a:off x="758952" y="4114800"/>
            <a:ext cx="914400" cy="182880"/>
          </a:xfrm>
          <a:prstGeom prst="rect">
            <a:avLst/>
          </a:prstGeom>
          <a:noFill/>
        </p:spPr>
        <p:txBody>
          <a:bodyPr wrap="square" lIns="0" tIns="0" rIns="0" bIns="0" anchor="t">
            <a:spAutoFit/>
          </a:bodyPr>
          <a:lstStyle/>
          <a:p>
            <a:pPr>
              <a:spcAft>
                <a:spcPts val="0"/>
              </a:spcAft>
            </a:pPr>
            <a:r>
              <a:rPr sz="850" b="1" i="0" spc="200">
                <a:solidFill>
                  <a:srgbClr val="8888A1"/>
                </a:solidFill>
              </a:rPr>
              <a:t>STREAM</a:t>
            </a:r>
          </a:p>
        </p:txBody>
      </p:sp>
      <p:sp>
        <p:nvSpPr>
          <p:cNvPr id="11" name="Stream tag"/>
          <p:cNvSpPr/>
          <p:nvPr/>
        </p:nvSpPr>
        <p:spPr>
          <a:xfrm>
            <a:off x="758952" y="4343400"/>
            <a:ext cx="571500"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tream tag text"/>
          <p:cNvSpPr txBox="1"/>
          <p:nvPr/>
        </p:nvSpPr>
        <p:spPr>
          <a:xfrm>
            <a:off x="758952" y="4343400"/>
            <a:ext cx="571500"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WATCH</a:t>
            </a:r>
          </a:p>
        </p:txBody>
      </p:sp>
      <p:sp>
        <p:nvSpPr>
          <p:cNvPr id="13" name="Metric card"/>
          <p:cNvSpPr/>
          <p:nvPr/>
        </p:nvSpPr>
        <p:spPr>
          <a:xfrm>
            <a:off x="3360420" y="1508760"/>
            <a:ext cx="2697480" cy="3246120"/>
          </a:xfrm>
          <a:prstGeom prst="roundRect">
            <a:avLst>
              <a:gd name="adj" fmla="val 3389"/>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Icon badge"/>
          <p:cNvSpPr/>
          <p:nvPr/>
        </p:nvSpPr>
        <p:spPr>
          <a:xfrm>
            <a:off x="3589020" y="1737360"/>
            <a:ext cx="658368" cy="658368"/>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descr="Request turnaround"/>
          <p:cNvPicPr>
            <a:picLocks noChangeAspect="1"/>
          </p:cNvPicPr>
          <p:nvPr/>
        </p:nvPicPr>
        <p:blipFill>
          <a:blip r:embed="rId3"/>
          <a:stretch>
            <a:fillRect/>
          </a:stretch>
        </p:blipFill>
        <p:spPr>
          <a:xfrm>
            <a:off x="3760195" y="1908535"/>
            <a:ext cx="316016" cy="316016"/>
          </a:xfrm>
          <a:prstGeom prst="rect">
            <a:avLst/>
          </a:prstGeom>
        </p:spPr>
      </p:pic>
      <p:sp>
        <p:nvSpPr>
          <p:cNvPr id="16" name="Metric name"/>
          <p:cNvSpPr txBox="1"/>
          <p:nvPr/>
        </p:nvSpPr>
        <p:spPr>
          <a:xfrm>
            <a:off x="3589020" y="2542032"/>
            <a:ext cx="2240280" cy="548640"/>
          </a:xfrm>
          <a:prstGeom prst="rect">
            <a:avLst/>
          </a:prstGeom>
          <a:noFill/>
        </p:spPr>
        <p:txBody>
          <a:bodyPr wrap="square" lIns="0" tIns="0" rIns="0" bIns="0" anchor="t">
            <a:spAutoFit/>
          </a:bodyPr>
          <a:lstStyle/>
          <a:p>
            <a:pPr>
              <a:spcAft>
                <a:spcPts val="0"/>
              </a:spcAft>
            </a:pPr>
            <a:r>
              <a:rPr sz="1500" b="1" i="0">
                <a:solidFill>
                  <a:srgbClr val="040E4B"/>
                </a:solidFill>
              </a:rPr>
              <a:t>Request turnaround</a:t>
            </a:r>
          </a:p>
        </p:txBody>
      </p:sp>
      <p:sp>
        <p:nvSpPr>
          <p:cNvPr id="17" name="Metric description"/>
          <p:cNvSpPr txBox="1"/>
          <p:nvPr/>
        </p:nvSpPr>
        <p:spPr>
          <a:xfrm>
            <a:off x="3589020" y="3127248"/>
            <a:ext cx="2240280" cy="1005840"/>
          </a:xfrm>
          <a:prstGeom prst="rect">
            <a:avLst/>
          </a:prstGeom>
          <a:noFill/>
        </p:spPr>
        <p:txBody>
          <a:bodyPr wrap="square" lIns="0" tIns="0" rIns="0" bIns="0" anchor="t">
            <a:spAutoFit/>
          </a:bodyPr>
          <a:lstStyle/>
          <a:p>
            <a:pPr>
              <a:spcAft>
                <a:spcPts val="0"/>
              </a:spcAft>
            </a:pPr>
            <a:r>
              <a:rPr sz="1150" b="0" i="0">
                <a:solidFill>
                  <a:srgbClr val="000000"/>
                </a:solidFill>
              </a:rPr>
              <a:t>Days it takes to get an estimate or solution back. The goal is days, not weeks.</a:t>
            </a:r>
          </a:p>
        </p:txBody>
      </p:sp>
      <p:sp>
        <p:nvSpPr>
          <p:cNvPr id="18" name="Stream label"/>
          <p:cNvSpPr txBox="1"/>
          <p:nvPr/>
        </p:nvSpPr>
        <p:spPr>
          <a:xfrm>
            <a:off x="3589020" y="4114800"/>
            <a:ext cx="914400" cy="182880"/>
          </a:xfrm>
          <a:prstGeom prst="rect">
            <a:avLst/>
          </a:prstGeom>
          <a:noFill/>
        </p:spPr>
        <p:txBody>
          <a:bodyPr wrap="square" lIns="0" tIns="0" rIns="0" bIns="0" anchor="t">
            <a:spAutoFit/>
          </a:bodyPr>
          <a:lstStyle/>
          <a:p>
            <a:pPr>
              <a:spcAft>
                <a:spcPts val="0"/>
              </a:spcAft>
            </a:pPr>
            <a:r>
              <a:rPr sz="850" b="1" i="0" spc="200">
                <a:solidFill>
                  <a:srgbClr val="8888A1"/>
                </a:solidFill>
              </a:rPr>
              <a:t>STREAM</a:t>
            </a:r>
          </a:p>
        </p:txBody>
      </p:sp>
      <p:sp>
        <p:nvSpPr>
          <p:cNvPr id="19" name="Stream tag"/>
          <p:cNvSpPr/>
          <p:nvPr/>
        </p:nvSpPr>
        <p:spPr>
          <a:xfrm>
            <a:off x="3589020" y="4343400"/>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tream tag text"/>
          <p:cNvSpPr txBox="1"/>
          <p:nvPr/>
        </p:nvSpPr>
        <p:spPr>
          <a:xfrm>
            <a:off x="3589020" y="4343400"/>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21" name="Metric card"/>
          <p:cNvSpPr/>
          <p:nvPr/>
        </p:nvSpPr>
        <p:spPr>
          <a:xfrm>
            <a:off x="6190488" y="1508760"/>
            <a:ext cx="2697480" cy="3246120"/>
          </a:xfrm>
          <a:prstGeom prst="roundRect">
            <a:avLst>
              <a:gd name="adj" fmla="val 3389"/>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Icon badge"/>
          <p:cNvSpPr/>
          <p:nvPr/>
        </p:nvSpPr>
        <p:spPr>
          <a:xfrm>
            <a:off x="6419088" y="1737360"/>
            <a:ext cx="658368" cy="658368"/>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Icon" descr="Delivery vs. scope"/>
          <p:cNvPicPr>
            <a:picLocks noChangeAspect="1"/>
          </p:cNvPicPr>
          <p:nvPr/>
        </p:nvPicPr>
        <p:blipFill>
          <a:blip r:embed="rId4"/>
          <a:stretch>
            <a:fillRect/>
          </a:stretch>
        </p:blipFill>
        <p:spPr>
          <a:xfrm>
            <a:off x="6590263" y="1908535"/>
            <a:ext cx="316016" cy="316016"/>
          </a:xfrm>
          <a:prstGeom prst="rect">
            <a:avLst/>
          </a:prstGeom>
        </p:spPr>
      </p:pic>
      <p:sp>
        <p:nvSpPr>
          <p:cNvPr id="24" name="Metric name"/>
          <p:cNvSpPr txBox="1"/>
          <p:nvPr/>
        </p:nvSpPr>
        <p:spPr>
          <a:xfrm>
            <a:off x="6419088" y="2542032"/>
            <a:ext cx="2240280" cy="548640"/>
          </a:xfrm>
          <a:prstGeom prst="rect">
            <a:avLst/>
          </a:prstGeom>
          <a:noFill/>
        </p:spPr>
        <p:txBody>
          <a:bodyPr wrap="square" lIns="0" tIns="0" rIns="0" bIns="0" anchor="t">
            <a:spAutoFit/>
          </a:bodyPr>
          <a:lstStyle/>
          <a:p>
            <a:pPr>
              <a:spcAft>
                <a:spcPts val="0"/>
              </a:spcAft>
            </a:pPr>
            <a:r>
              <a:rPr sz="1500" b="1" i="0">
                <a:solidFill>
                  <a:srgbClr val="040E4B"/>
                </a:solidFill>
              </a:rPr>
              <a:t>Delivery vs. scope</a:t>
            </a:r>
          </a:p>
        </p:txBody>
      </p:sp>
      <p:sp>
        <p:nvSpPr>
          <p:cNvPr id="25" name="Metric description"/>
          <p:cNvSpPr txBox="1"/>
          <p:nvPr/>
        </p:nvSpPr>
        <p:spPr>
          <a:xfrm>
            <a:off x="6419088" y="3127248"/>
            <a:ext cx="2240280" cy="1005840"/>
          </a:xfrm>
          <a:prstGeom prst="rect">
            <a:avLst/>
          </a:prstGeom>
          <a:noFill/>
        </p:spPr>
        <p:txBody>
          <a:bodyPr wrap="square" lIns="0" tIns="0" rIns="0" bIns="0" anchor="t">
            <a:spAutoFit/>
          </a:bodyPr>
          <a:lstStyle/>
          <a:p>
            <a:pPr>
              <a:spcAft>
                <a:spcPts val="0"/>
              </a:spcAft>
            </a:pPr>
            <a:r>
              <a:rPr sz="1150" b="0" i="0">
                <a:solidFill>
                  <a:srgbClr val="000000"/>
                </a:solidFill>
              </a:rPr>
              <a:t>Early warning when the work being delivered is bigger than what was sold.</a:t>
            </a:r>
          </a:p>
        </p:txBody>
      </p:sp>
      <p:sp>
        <p:nvSpPr>
          <p:cNvPr id="26" name="Stream label"/>
          <p:cNvSpPr txBox="1"/>
          <p:nvPr/>
        </p:nvSpPr>
        <p:spPr>
          <a:xfrm>
            <a:off x="6419088" y="4114800"/>
            <a:ext cx="914400" cy="182880"/>
          </a:xfrm>
          <a:prstGeom prst="rect">
            <a:avLst/>
          </a:prstGeom>
          <a:noFill/>
        </p:spPr>
        <p:txBody>
          <a:bodyPr wrap="square" lIns="0" tIns="0" rIns="0" bIns="0" anchor="t">
            <a:spAutoFit/>
          </a:bodyPr>
          <a:lstStyle/>
          <a:p>
            <a:pPr>
              <a:spcAft>
                <a:spcPts val="0"/>
              </a:spcAft>
            </a:pPr>
            <a:r>
              <a:rPr sz="850" b="1" i="0" spc="200">
                <a:solidFill>
                  <a:srgbClr val="8888A1"/>
                </a:solidFill>
              </a:rPr>
              <a:t>STREAM</a:t>
            </a:r>
          </a:p>
        </p:txBody>
      </p:sp>
      <p:sp>
        <p:nvSpPr>
          <p:cNvPr id="27" name="Stream tag"/>
          <p:cNvSpPr/>
          <p:nvPr/>
        </p:nvSpPr>
        <p:spPr>
          <a:xfrm>
            <a:off x="6419088" y="4343400"/>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tream tag text"/>
          <p:cNvSpPr txBox="1"/>
          <p:nvPr/>
        </p:nvSpPr>
        <p:spPr>
          <a:xfrm>
            <a:off x="6419088" y="4343400"/>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29" name="Stream tag"/>
          <p:cNvSpPr/>
          <p:nvPr/>
        </p:nvSpPr>
        <p:spPr>
          <a:xfrm>
            <a:off x="7004304" y="4343400"/>
            <a:ext cx="726948"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Stream tag text"/>
          <p:cNvSpPr txBox="1"/>
          <p:nvPr/>
        </p:nvSpPr>
        <p:spPr>
          <a:xfrm>
            <a:off x="7004304" y="4343400"/>
            <a:ext cx="726948"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DELIVER</a:t>
            </a:r>
          </a:p>
        </p:txBody>
      </p:sp>
      <p:sp>
        <p:nvSpPr>
          <p:cNvPr id="31" name="Metric card"/>
          <p:cNvSpPr/>
          <p:nvPr/>
        </p:nvSpPr>
        <p:spPr>
          <a:xfrm>
            <a:off x="9020556" y="1508760"/>
            <a:ext cx="2697480" cy="3246120"/>
          </a:xfrm>
          <a:prstGeom prst="roundRect">
            <a:avLst>
              <a:gd name="adj" fmla="val 3389"/>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Icon badge"/>
          <p:cNvSpPr/>
          <p:nvPr/>
        </p:nvSpPr>
        <p:spPr>
          <a:xfrm>
            <a:off x="9249156" y="1737360"/>
            <a:ext cx="658368" cy="658368"/>
          </a:xfrm>
          <a:prstGeom prst="ellipse">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Bench health"/>
          <p:cNvPicPr>
            <a:picLocks noChangeAspect="1"/>
          </p:cNvPicPr>
          <p:nvPr/>
        </p:nvPicPr>
        <p:blipFill>
          <a:blip r:embed="rId5"/>
          <a:stretch>
            <a:fillRect/>
          </a:stretch>
        </p:blipFill>
        <p:spPr>
          <a:xfrm>
            <a:off x="9420331" y="1908535"/>
            <a:ext cx="316016" cy="316016"/>
          </a:xfrm>
          <a:prstGeom prst="rect">
            <a:avLst/>
          </a:prstGeom>
        </p:spPr>
      </p:pic>
      <p:sp>
        <p:nvSpPr>
          <p:cNvPr id="34" name="Metric name"/>
          <p:cNvSpPr txBox="1"/>
          <p:nvPr/>
        </p:nvSpPr>
        <p:spPr>
          <a:xfrm>
            <a:off x="9249156" y="2542032"/>
            <a:ext cx="2240280" cy="548640"/>
          </a:xfrm>
          <a:prstGeom prst="rect">
            <a:avLst/>
          </a:prstGeom>
          <a:noFill/>
        </p:spPr>
        <p:txBody>
          <a:bodyPr wrap="square" lIns="0" tIns="0" rIns="0" bIns="0" anchor="t">
            <a:spAutoFit/>
          </a:bodyPr>
          <a:lstStyle/>
          <a:p>
            <a:pPr>
              <a:spcAft>
                <a:spcPts val="0"/>
              </a:spcAft>
            </a:pPr>
            <a:r>
              <a:rPr sz="1500" b="1" i="0">
                <a:solidFill>
                  <a:srgbClr val="040E4B"/>
                </a:solidFill>
              </a:rPr>
              <a:t>Bench health</a:t>
            </a:r>
          </a:p>
        </p:txBody>
      </p:sp>
      <p:sp>
        <p:nvSpPr>
          <p:cNvPr id="35" name="Metric description"/>
          <p:cNvSpPr txBox="1"/>
          <p:nvPr/>
        </p:nvSpPr>
        <p:spPr>
          <a:xfrm>
            <a:off x="9249156" y="3127248"/>
            <a:ext cx="2240280" cy="1005840"/>
          </a:xfrm>
          <a:prstGeom prst="rect">
            <a:avLst/>
          </a:prstGeom>
          <a:noFill/>
        </p:spPr>
        <p:txBody>
          <a:bodyPr wrap="square" lIns="0" tIns="0" rIns="0" bIns="0" anchor="t">
            <a:spAutoFit/>
          </a:bodyPr>
          <a:lstStyle/>
          <a:p>
            <a:pPr>
              <a:spcAft>
                <a:spcPts val="0"/>
              </a:spcAft>
            </a:pPr>
            <a:r>
              <a:rPr sz="1150" b="0" i="0">
                <a:solidFill>
                  <a:srgbClr val="000000"/>
                </a:solidFill>
              </a:rPr>
              <a:t>Signed deals compared with the people available to start them.</a:t>
            </a:r>
          </a:p>
        </p:txBody>
      </p:sp>
      <p:sp>
        <p:nvSpPr>
          <p:cNvPr id="36" name="Stream label"/>
          <p:cNvSpPr txBox="1"/>
          <p:nvPr/>
        </p:nvSpPr>
        <p:spPr>
          <a:xfrm>
            <a:off x="9249156" y="4114800"/>
            <a:ext cx="914400" cy="182880"/>
          </a:xfrm>
          <a:prstGeom prst="rect">
            <a:avLst/>
          </a:prstGeom>
          <a:noFill/>
        </p:spPr>
        <p:txBody>
          <a:bodyPr wrap="square" lIns="0" tIns="0" rIns="0" bIns="0" anchor="t">
            <a:spAutoFit/>
          </a:bodyPr>
          <a:lstStyle/>
          <a:p>
            <a:pPr>
              <a:spcAft>
                <a:spcPts val="0"/>
              </a:spcAft>
            </a:pPr>
            <a:r>
              <a:rPr sz="850" b="1" i="0" spc="200">
                <a:solidFill>
                  <a:srgbClr val="8888A1"/>
                </a:solidFill>
              </a:rPr>
              <a:t>STREAM</a:t>
            </a:r>
          </a:p>
        </p:txBody>
      </p:sp>
      <p:sp>
        <p:nvSpPr>
          <p:cNvPr id="37" name="Stream tag"/>
          <p:cNvSpPr/>
          <p:nvPr/>
        </p:nvSpPr>
        <p:spPr>
          <a:xfrm>
            <a:off x="9249156" y="4343400"/>
            <a:ext cx="571500"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Stream tag text"/>
          <p:cNvSpPr txBox="1"/>
          <p:nvPr/>
        </p:nvSpPr>
        <p:spPr>
          <a:xfrm>
            <a:off x="9249156" y="4343400"/>
            <a:ext cx="571500"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STAFF</a:t>
            </a:r>
          </a:p>
        </p:txBody>
      </p:sp>
      <p:sp>
        <p:nvSpPr>
          <p:cNvPr id="39" name="Goal bar"/>
          <p:cNvSpPr/>
          <p:nvPr/>
        </p:nvSpPr>
        <p:spPr>
          <a:xfrm>
            <a:off x="530352" y="5029200"/>
            <a:ext cx="11128248" cy="822960"/>
          </a:xfrm>
          <a:prstGeom prst="roundRect">
            <a:avLst>
              <a:gd name="adj" fmla="val 11111"/>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Goal"/>
          <p:cNvSpPr txBox="1"/>
          <p:nvPr/>
        </p:nvSpPr>
        <p:spPr>
          <a:xfrm>
            <a:off x="804672" y="5029200"/>
            <a:ext cx="10607040" cy="822960"/>
          </a:xfrm>
          <a:prstGeom prst="rect">
            <a:avLst/>
          </a:prstGeom>
          <a:noFill/>
        </p:spPr>
        <p:txBody>
          <a:bodyPr wrap="square" lIns="0" tIns="0" rIns="0" bIns="0" anchor="ctr">
            <a:spAutoFit/>
          </a:bodyPr>
          <a:lstStyle/>
          <a:p>
            <a:pPr>
              <a:spcAft>
                <a:spcPts val="0"/>
              </a:spcAft>
            </a:pPr>
            <a:r>
              <a:rPr sz="1050" b="1" i="0">
                <a:solidFill>
                  <a:srgbClr val="7FC8FF"/>
                </a:solidFill>
              </a:rPr>
              <a:t>GOAL   </a:t>
            </a:r>
            <a:r>
              <a:rPr sz="1500" b="1" i="0">
                <a:solidFill>
                  <a:srgbClr val="FFFFFF"/>
                </a:solidFill>
              </a:rPr>
              <a:t>Leadership sees problems early from numbers that stay current, not from a triage snapshot.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Client detail (1 of 2)</a:t>
            </a:r>
          </a:p>
        </p:txBody>
      </p:sp>
      <p:sp>
        <p:nvSpPr>
          <p:cNvPr id="4" name="Text Placeholder 3"/>
          <p:cNvSpPr>
            <a:spLocks noGrp="1"/>
          </p:cNvSpPr>
          <p:nvPr>
            <p:ph type="body" sz="quarter" idx="12"/>
          </p:nvPr>
        </p:nvSpPr>
        <p:spPr/>
        <p:txBody>
          <a:bodyPr/>
          <a:lstStyle/>
          <a:p>
            <a:r>
              <a:t>APPENDIX  ·  CLIENT DETAIL 1 OF 2</a:t>
            </a:r>
          </a:p>
        </p:txBody>
      </p:sp>
      <p:sp>
        <p:nvSpPr>
          <p:cNvPr id="5" name="Client column"/>
          <p:cNvSpPr/>
          <p:nvPr/>
        </p:nvSpPr>
        <p:spPr>
          <a:xfrm>
            <a:off x="530352" y="1481328"/>
            <a:ext cx="3557016" cy="4572000"/>
          </a:xfrm>
          <a:prstGeom prst="roundRect">
            <a:avLst>
              <a:gd name="adj" fmla="val 257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olumn heading"/>
          <p:cNvSpPr txBox="1"/>
          <p:nvPr/>
        </p:nvSpPr>
        <p:spPr>
          <a:xfrm>
            <a:off x="758952" y="1664208"/>
            <a:ext cx="3099816" cy="594360"/>
          </a:xfrm>
          <a:prstGeom prst="rect">
            <a:avLst/>
          </a:prstGeom>
          <a:noFill/>
        </p:spPr>
        <p:txBody>
          <a:bodyPr wrap="square" lIns="0" tIns="0" rIns="0" bIns="0" anchor="t">
            <a:spAutoFit/>
          </a:bodyPr>
          <a:lstStyle/>
          <a:p>
            <a:pPr>
              <a:spcAft>
                <a:spcPts val="0"/>
              </a:spcAft>
            </a:pPr>
            <a:r>
              <a:rPr sz="1500" b="1" i="0">
                <a:solidFill>
                  <a:srgbClr val="040E4B"/>
                </a:solidFill>
              </a:rPr>
              <a:t>Not showing enough value</a:t>
            </a:r>
          </a:p>
        </p:txBody>
      </p:sp>
      <p:sp>
        <p:nvSpPr>
          <p:cNvPr id="7" name="Stream tag"/>
          <p:cNvSpPr/>
          <p:nvPr/>
        </p:nvSpPr>
        <p:spPr>
          <a:xfrm>
            <a:off x="758952" y="2331720"/>
            <a:ext cx="726948"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tream tag text"/>
          <p:cNvSpPr txBox="1"/>
          <p:nvPr/>
        </p:nvSpPr>
        <p:spPr>
          <a:xfrm>
            <a:off x="758952" y="2331720"/>
            <a:ext cx="726948"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DELIVER</a:t>
            </a:r>
          </a:p>
        </p:txBody>
      </p:sp>
      <p:sp>
        <p:nvSpPr>
          <p:cNvPr id="9" name="Stream tag"/>
          <p:cNvSpPr/>
          <p:nvPr/>
        </p:nvSpPr>
        <p:spPr>
          <a:xfrm>
            <a:off x="1577340" y="2331720"/>
            <a:ext cx="416052"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tream tag text"/>
          <p:cNvSpPr txBox="1"/>
          <p:nvPr/>
        </p:nvSpPr>
        <p:spPr>
          <a:xfrm>
            <a:off x="1577340" y="2331720"/>
            <a:ext cx="416052"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OWN</a:t>
            </a:r>
          </a:p>
        </p:txBody>
      </p:sp>
      <p:sp>
        <p:nvSpPr>
          <p:cNvPr id="11" name="Client items"/>
          <p:cNvSpPr txBox="1"/>
          <p:nvPr/>
        </p:nvSpPr>
        <p:spPr>
          <a:xfrm>
            <a:off x="758952" y="2788920"/>
            <a:ext cx="3099816" cy="3108960"/>
          </a:xfrm>
          <a:prstGeom prst="rect">
            <a:avLst/>
          </a:prstGeom>
          <a:noFill/>
        </p:spPr>
        <p:txBody>
          <a:bodyPr wrap="square" lIns="0" tIns="0" rIns="0" bIns="0" anchor="t">
            <a:spAutoFit/>
          </a:bodyPr>
          <a:lstStyle/>
          <a:p>
            <a:pPr marL="155448" indent="-155448">
              <a:spcAft>
                <a:spcPts val="600"/>
              </a:spcAft>
              <a:buClr>
                <a:srgbClr val="0391F2"/>
              </a:buClr>
              <a:buFont typeface="Arial"/>
              <a:buChar char="•"/>
            </a:pPr>
            <a:r>
              <a:rPr sz="1350" b="0" i="0">
                <a:solidFill>
                  <a:srgbClr val="000000"/>
                </a:solidFill>
              </a:rPr>
              <a:t>HD: client pressing us to show up more effectively</a:t>
            </a:r>
          </a:p>
          <a:p>
            <a:pPr marL="155448" indent="-155448">
              <a:spcAft>
                <a:spcPts val="600"/>
              </a:spcAft>
              <a:buClr>
                <a:srgbClr val="0391F2"/>
              </a:buClr>
              <a:buFont typeface="Arial"/>
              <a:buChar char="•"/>
            </a:pPr>
            <a:r>
              <a:rPr sz="1350" b="0" i="0">
                <a:solidFill>
                  <a:srgbClr val="000000"/>
                </a:solidFill>
              </a:rPr>
              <a:t>Tommy: talent challenges, not strategic enough</a:t>
            </a:r>
          </a:p>
          <a:p>
            <a:pPr marL="155448" indent="-155448">
              <a:spcAft>
                <a:spcPts val="600"/>
              </a:spcAft>
              <a:buClr>
                <a:srgbClr val="0391F2"/>
              </a:buClr>
              <a:buFont typeface="Arial"/>
              <a:buChar char="•"/>
            </a:pPr>
            <a:r>
              <a:rPr sz="1350" b="0" i="0">
                <a:solidFill>
                  <a:srgbClr val="000000"/>
                </a:solidFill>
              </a:rPr>
              <a:t>Enterprise: losing ~$2M to Perficient; $10M 2027 gap</a:t>
            </a:r>
          </a:p>
          <a:p>
            <a:pPr marL="155448" indent="-155448">
              <a:spcAft>
                <a:spcPts val="600"/>
              </a:spcAft>
              <a:buClr>
                <a:srgbClr val="0391F2"/>
              </a:buClr>
              <a:buFont typeface="Arial"/>
              <a:buChar char="•"/>
            </a:pPr>
            <a:r>
              <a:rPr sz="1350" b="0" i="0">
                <a:solidFill>
                  <a:srgbClr val="000000"/>
                </a:solidFill>
              </a:rPr>
              <a:t>Lumen: moving to a more strategic delivery model</a:t>
            </a:r>
          </a:p>
          <a:p>
            <a:pPr marL="155448" indent="-155448">
              <a:spcAft>
                <a:spcPts val="600"/>
              </a:spcAft>
              <a:buClr>
                <a:srgbClr val="0391F2"/>
              </a:buClr>
              <a:buFont typeface="Arial"/>
              <a:buChar char="•"/>
            </a:pPr>
            <a:r>
              <a:rPr sz="1350" b="0" i="0">
                <a:solidFill>
                  <a:srgbClr val="000000"/>
                </a:solidFill>
              </a:rPr>
              <a:t>McDonald’s: concern noted, no detail given</a:t>
            </a:r>
          </a:p>
        </p:txBody>
      </p:sp>
      <p:sp>
        <p:nvSpPr>
          <p:cNvPr id="12" name="Client column"/>
          <p:cNvSpPr/>
          <p:nvPr/>
        </p:nvSpPr>
        <p:spPr>
          <a:xfrm>
            <a:off x="4315968" y="1481328"/>
            <a:ext cx="3557016" cy="4572000"/>
          </a:xfrm>
          <a:prstGeom prst="roundRect">
            <a:avLst>
              <a:gd name="adj" fmla="val 257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Column heading"/>
          <p:cNvSpPr txBox="1"/>
          <p:nvPr/>
        </p:nvSpPr>
        <p:spPr>
          <a:xfrm>
            <a:off x="4544568" y="1664208"/>
            <a:ext cx="3099816" cy="594360"/>
          </a:xfrm>
          <a:prstGeom prst="rect">
            <a:avLst/>
          </a:prstGeom>
          <a:noFill/>
        </p:spPr>
        <p:txBody>
          <a:bodyPr wrap="square" lIns="0" tIns="0" rIns="0" bIns="0" anchor="t">
            <a:spAutoFit/>
          </a:bodyPr>
          <a:lstStyle/>
          <a:p>
            <a:pPr>
              <a:spcAft>
                <a:spcPts val="0"/>
              </a:spcAft>
            </a:pPr>
            <a:r>
              <a:rPr sz="1500" b="1" i="0">
                <a:solidFill>
                  <a:srgbClr val="040E4B"/>
                </a:solidFill>
              </a:rPr>
              <a:t>Approach missed expectations</a:t>
            </a:r>
          </a:p>
        </p:txBody>
      </p:sp>
      <p:sp>
        <p:nvSpPr>
          <p:cNvPr id="14" name="Stream tag"/>
          <p:cNvSpPr/>
          <p:nvPr/>
        </p:nvSpPr>
        <p:spPr>
          <a:xfrm>
            <a:off x="4544568" y="2331720"/>
            <a:ext cx="649224"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tream tag text"/>
          <p:cNvSpPr txBox="1"/>
          <p:nvPr/>
        </p:nvSpPr>
        <p:spPr>
          <a:xfrm>
            <a:off x="4544568" y="2331720"/>
            <a:ext cx="649224"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DEFINE</a:t>
            </a:r>
          </a:p>
        </p:txBody>
      </p:sp>
      <p:sp>
        <p:nvSpPr>
          <p:cNvPr id="16" name="Stream tag"/>
          <p:cNvSpPr/>
          <p:nvPr/>
        </p:nvSpPr>
        <p:spPr>
          <a:xfrm>
            <a:off x="5285231" y="2331720"/>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tream tag text"/>
          <p:cNvSpPr txBox="1"/>
          <p:nvPr/>
        </p:nvSpPr>
        <p:spPr>
          <a:xfrm>
            <a:off x="5285231" y="2331720"/>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18" name="Client items"/>
          <p:cNvSpPr txBox="1"/>
          <p:nvPr/>
        </p:nvSpPr>
        <p:spPr>
          <a:xfrm>
            <a:off x="4544568" y="2788920"/>
            <a:ext cx="3099816" cy="3108960"/>
          </a:xfrm>
          <a:prstGeom prst="rect">
            <a:avLst/>
          </a:prstGeom>
          <a:noFill/>
        </p:spPr>
        <p:txBody>
          <a:bodyPr wrap="square" lIns="0" tIns="0" rIns="0" bIns="0" anchor="t">
            <a:spAutoFit/>
          </a:bodyPr>
          <a:lstStyle/>
          <a:p>
            <a:pPr marL="155448" indent="-155448">
              <a:spcAft>
                <a:spcPts val="600"/>
              </a:spcAft>
              <a:buClr>
                <a:srgbClr val="0391F2"/>
              </a:buClr>
              <a:buFont typeface="Arial"/>
              <a:buChar char="•"/>
            </a:pPr>
            <a:r>
              <a:rPr sz="1350" b="0" i="0">
                <a:solidFill>
                  <a:srgbClr val="000000"/>
                </a:solidFill>
              </a:rPr>
              <a:t>LHW: defects from pivoting too fast; client cancelled</a:t>
            </a:r>
          </a:p>
          <a:p>
            <a:pPr marL="155448" indent="-155448">
              <a:spcAft>
                <a:spcPts val="600"/>
              </a:spcAft>
              <a:buClr>
                <a:srgbClr val="0391F2"/>
              </a:buClr>
              <a:buFont typeface="Arial"/>
              <a:buChar char="•"/>
            </a:pPr>
            <a:r>
              <a:rPr sz="1350" b="0" i="0">
                <a:solidFill>
                  <a:srgbClr val="000000"/>
                </a:solidFill>
              </a:rPr>
              <a:t>Lumen: budget burned with no clear value model</a:t>
            </a:r>
          </a:p>
          <a:p>
            <a:pPr marL="155448" indent="-155448">
              <a:spcAft>
                <a:spcPts val="600"/>
              </a:spcAft>
              <a:buClr>
                <a:srgbClr val="0391F2"/>
              </a:buClr>
              <a:buFont typeface="Arial"/>
              <a:buChar char="•"/>
            </a:pPr>
            <a:r>
              <a:rPr sz="1350" b="0" i="0">
                <a:solidFill>
                  <a:srgbClr val="000000"/>
                </a:solidFill>
              </a:rPr>
              <a:t>Sally Beauty: loyalty delivery issues; rough CMO feedback</a:t>
            </a:r>
          </a:p>
          <a:p>
            <a:pPr marL="155448" indent="-155448">
              <a:spcAft>
                <a:spcPts val="600"/>
              </a:spcAft>
              <a:buClr>
                <a:srgbClr val="0391F2"/>
              </a:buClr>
              <a:buFont typeface="Arial"/>
              <a:buChar char="•"/>
            </a:pPr>
            <a:r>
              <a:rPr sz="1350" b="0" i="0">
                <a:solidFill>
                  <a:srgbClr val="000000"/>
                </a:solidFill>
              </a:rPr>
              <a:t>Primo: siloed communication; 1/1 launch at risk</a:t>
            </a:r>
          </a:p>
        </p:txBody>
      </p:sp>
      <p:sp>
        <p:nvSpPr>
          <p:cNvPr id="19" name="Client column"/>
          <p:cNvSpPr/>
          <p:nvPr/>
        </p:nvSpPr>
        <p:spPr>
          <a:xfrm>
            <a:off x="8101583" y="1481328"/>
            <a:ext cx="3557016" cy="4572000"/>
          </a:xfrm>
          <a:prstGeom prst="roundRect">
            <a:avLst>
              <a:gd name="adj" fmla="val 257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Column heading"/>
          <p:cNvSpPr txBox="1"/>
          <p:nvPr/>
        </p:nvSpPr>
        <p:spPr>
          <a:xfrm>
            <a:off x="8330183" y="1664208"/>
            <a:ext cx="3099816" cy="594360"/>
          </a:xfrm>
          <a:prstGeom prst="rect">
            <a:avLst/>
          </a:prstGeom>
          <a:noFill/>
        </p:spPr>
        <p:txBody>
          <a:bodyPr wrap="square" lIns="0" tIns="0" rIns="0" bIns="0" anchor="t">
            <a:spAutoFit/>
          </a:bodyPr>
          <a:lstStyle/>
          <a:p>
            <a:pPr>
              <a:spcAft>
                <a:spcPts val="0"/>
              </a:spcAft>
            </a:pPr>
            <a:r>
              <a:rPr sz="1500" b="1" i="0">
                <a:solidFill>
                  <a:srgbClr val="040E4B"/>
                </a:solidFill>
              </a:rPr>
              <a:t>Not sold or staffed to succeed</a:t>
            </a:r>
          </a:p>
        </p:txBody>
      </p:sp>
      <p:sp>
        <p:nvSpPr>
          <p:cNvPr id="21" name="Stream tag"/>
          <p:cNvSpPr/>
          <p:nvPr/>
        </p:nvSpPr>
        <p:spPr>
          <a:xfrm>
            <a:off x="8330183" y="2331720"/>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tream tag text"/>
          <p:cNvSpPr txBox="1"/>
          <p:nvPr/>
        </p:nvSpPr>
        <p:spPr>
          <a:xfrm>
            <a:off x="8330183" y="2331720"/>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23" name="Stream tag"/>
          <p:cNvSpPr/>
          <p:nvPr/>
        </p:nvSpPr>
        <p:spPr>
          <a:xfrm>
            <a:off x="8915400" y="2331720"/>
            <a:ext cx="571500"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tream tag text"/>
          <p:cNvSpPr txBox="1"/>
          <p:nvPr/>
        </p:nvSpPr>
        <p:spPr>
          <a:xfrm>
            <a:off x="8915400" y="2331720"/>
            <a:ext cx="571500"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STAFF</a:t>
            </a:r>
          </a:p>
        </p:txBody>
      </p:sp>
      <p:sp>
        <p:nvSpPr>
          <p:cNvPr id="25" name="Client items"/>
          <p:cNvSpPr txBox="1"/>
          <p:nvPr/>
        </p:nvSpPr>
        <p:spPr>
          <a:xfrm>
            <a:off x="8330183" y="2788920"/>
            <a:ext cx="3099816" cy="3108960"/>
          </a:xfrm>
          <a:prstGeom prst="rect">
            <a:avLst/>
          </a:prstGeom>
          <a:noFill/>
        </p:spPr>
        <p:txBody>
          <a:bodyPr wrap="square" lIns="0" tIns="0" rIns="0" bIns="0" anchor="t">
            <a:spAutoFit/>
          </a:bodyPr>
          <a:lstStyle/>
          <a:p>
            <a:pPr marL="155448" indent="-155448">
              <a:spcAft>
                <a:spcPts val="600"/>
              </a:spcAft>
              <a:buClr>
                <a:srgbClr val="0391F2"/>
              </a:buClr>
              <a:buFont typeface="Arial"/>
              <a:buChar char="•"/>
            </a:pPr>
            <a:r>
              <a:rPr sz="1350" b="0" i="0">
                <a:solidFill>
                  <a:srgbClr val="000000"/>
                </a:solidFill>
              </a:rPr>
              <a:t>Ulta: under-scoped</a:t>
            </a:r>
          </a:p>
          <a:p>
            <a:pPr marL="155448" indent="-155448">
              <a:spcAft>
                <a:spcPts val="600"/>
              </a:spcAft>
              <a:buClr>
                <a:srgbClr val="0391F2"/>
              </a:buClr>
              <a:buFont typeface="Arial"/>
              <a:buChar char="•"/>
            </a:pPr>
            <a:r>
              <a:rPr sz="1350" b="0" i="0">
                <a:solidFill>
                  <a:srgbClr val="000000"/>
                </a:solidFill>
              </a:rPr>
              <a:t>Tommy: skills gap</a:t>
            </a:r>
          </a:p>
          <a:p>
            <a:pPr marL="155448" indent="-155448">
              <a:spcAft>
                <a:spcPts val="600"/>
              </a:spcAft>
              <a:buClr>
                <a:srgbClr val="0391F2"/>
              </a:buClr>
              <a:buFont typeface="Arial"/>
              <a:buChar char="•"/>
            </a:pPr>
            <a:r>
              <a:rPr sz="1350" b="0" i="0">
                <a:solidFill>
                  <a:srgbClr val="000000"/>
                </a:solidFill>
              </a:rPr>
              <a:t>Everbank: RFP no-bid for lack of resources</a:t>
            </a:r>
          </a:p>
          <a:p>
            <a:pPr marL="155448" indent="-155448">
              <a:spcAft>
                <a:spcPts val="600"/>
              </a:spcAft>
              <a:buClr>
                <a:srgbClr val="0391F2"/>
              </a:buClr>
              <a:buFont typeface="Arial"/>
              <a:buChar char="•"/>
            </a:pPr>
            <a:r>
              <a:rPr sz="1350" b="0" i="0">
                <a:solidFill>
                  <a:srgbClr val="000000"/>
                </a:solidFill>
              </a:rPr>
              <a:t>Burns &amp; Wilcox: no bench while signing is delayed</a:t>
            </a:r>
          </a:p>
          <a:p>
            <a:pPr marL="155448" indent="-155448">
              <a:spcAft>
                <a:spcPts val="600"/>
              </a:spcAft>
              <a:buClr>
                <a:srgbClr val="0391F2"/>
              </a:buClr>
              <a:buFont typeface="Arial"/>
              <a:buChar char="•"/>
            </a:pPr>
            <a:r>
              <a:rPr sz="1350" b="0" i="0">
                <a:solidFill>
                  <a:srgbClr val="000000"/>
                </a:solidFill>
              </a:rPr>
              <a:t>Vanguard: no staff to start an 8-week engagement</a:t>
            </a:r>
          </a:p>
          <a:p>
            <a:pPr marL="155448" indent="-155448">
              <a:spcAft>
                <a:spcPts val="600"/>
              </a:spcAft>
              <a:buClr>
                <a:srgbClr val="0391F2"/>
              </a:buClr>
              <a:buFont typeface="Arial"/>
              <a:buChar char="•"/>
            </a:pPr>
            <a:r>
              <a:rPr sz="1350" b="0" i="0">
                <a:solidFill>
                  <a:srgbClr val="000000"/>
                </a:solidFill>
              </a:rPr>
              <a:t>Heineken: six resignations; CMO concerned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Client detail (2 of 2)</a:t>
            </a:r>
          </a:p>
        </p:txBody>
      </p:sp>
      <p:sp>
        <p:nvSpPr>
          <p:cNvPr id="4" name="Text Placeholder 3"/>
          <p:cNvSpPr>
            <a:spLocks noGrp="1"/>
          </p:cNvSpPr>
          <p:nvPr>
            <p:ph type="body" sz="quarter" idx="12"/>
          </p:nvPr>
        </p:nvSpPr>
        <p:spPr/>
        <p:txBody>
          <a:bodyPr/>
          <a:lstStyle/>
          <a:p>
            <a:r>
              <a:t>APPENDIX  ·  CLIENT DETAIL 2 OF 2</a:t>
            </a:r>
          </a:p>
        </p:txBody>
      </p:sp>
      <p:sp>
        <p:nvSpPr>
          <p:cNvPr id="5" name="Delivery drops card"/>
          <p:cNvSpPr/>
          <p:nvPr/>
        </p:nvSpPr>
        <p:spPr>
          <a:xfrm>
            <a:off x="530352" y="1481328"/>
            <a:ext cx="5669280" cy="2148840"/>
          </a:xfrm>
          <a:prstGeom prst="roundRect">
            <a:avLst>
              <a:gd name="adj" fmla="val 4255"/>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Heading"/>
          <p:cNvSpPr txBox="1"/>
          <p:nvPr/>
        </p:nvSpPr>
        <p:spPr>
          <a:xfrm>
            <a:off x="777240" y="1645920"/>
            <a:ext cx="3200400" cy="320040"/>
          </a:xfrm>
          <a:prstGeom prst="rect">
            <a:avLst/>
          </a:prstGeom>
          <a:noFill/>
        </p:spPr>
        <p:txBody>
          <a:bodyPr wrap="square" lIns="0" tIns="0" rIns="0" bIns="0" anchor="t">
            <a:spAutoFit/>
          </a:bodyPr>
          <a:lstStyle/>
          <a:p>
            <a:pPr>
              <a:spcAft>
                <a:spcPts val="0"/>
              </a:spcAft>
            </a:pPr>
            <a:r>
              <a:rPr sz="1500" b="1" i="0">
                <a:solidFill>
                  <a:srgbClr val="040E4B"/>
                </a:solidFill>
              </a:rPr>
              <a:t>Delivery drops</a:t>
            </a:r>
          </a:p>
        </p:txBody>
      </p:sp>
      <p:sp>
        <p:nvSpPr>
          <p:cNvPr id="7" name="Stream tag"/>
          <p:cNvSpPr/>
          <p:nvPr/>
        </p:nvSpPr>
        <p:spPr>
          <a:xfrm>
            <a:off x="3566160" y="1682496"/>
            <a:ext cx="726948"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tream tag text"/>
          <p:cNvSpPr txBox="1"/>
          <p:nvPr/>
        </p:nvSpPr>
        <p:spPr>
          <a:xfrm>
            <a:off x="3566160" y="1682496"/>
            <a:ext cx="726948"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DELIVER</a:t>
            </a:r>
          </a:p>
        </p:txBody>
      </p:sp>
      <p:sp>
        <p:nvSpPr>
          <p:cNvPr id="9" name="Stream tag"/>
          <p:cNvSpPr/>
          <p:nvPr/>
        </p:nvSpPr>
        <p:spPr>
          <a:xfrm>
            <a:off x="4384548" y="1682496"/>
            <a:ext cx="571500"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tream tag text"/>
          <p:cNvSpPr txBox="1"/>
          <p:nvPr/>
        </p:nvSpPr>
        <p:spPr>
          <a:xfrm>
            <a:off x="4384548" y="1682496"/>
            <a:ext cx="571500"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STAFF</a:t>
            </a:r>
          </a:p>
        </p:txBody>
      </p:sp>
      <p:sp>
        <p:nvSpPr>
          <p:cNvPr id="11" name="Delivery drops items"/>
          <p:cNvSpPr txBox="1"/>
          <p:nvPr/>
        </p:nvSpPr>
        <p:spPr>
          <a:xfrm>
            <a:off x="777240" y="2103120"/>
            <a:ext cx="5212080" cy="1463040"/>
          </a:xfrm>
          <a:prstGeom prst="rect">
            <a:avLst/>
          </a:prstGeom>
          <a:noFill/>
        </p:spPr>
        <p:txBody>
          <a:bodyPr wrap="square" lIns="0" tIns="0" rIns="0" bIns="0" anchor="t">
            <a:spAutoFit/>
          </a:bodyPr>
          <a:lstStyle/>
          <a:p>
            <a:pPr marL="155448" indent="-155448">
              <a:spcAft>
                <a:spcPts val="500"/>
              </a:spcAft>
              <a:buClr>
                <a:srgbClr val="0391F2"/>
              </a:buClr>
              <a:buFont typeface="Arial"/>
              <a:buChar char="•"/>
            </a:pPr>
            <a:r>
              <a:rPr sz="1250" b="0" i="0">
                <a:solidFill>
                  <a:srgbClr val="000000"/>
                </a:solidFill>
              </a:rPr>
              <a:t>Tommy: lacks SAP Commerce skills</a:t>
            </a:r>
          </a:p>
          <a:p>
            <a:pPr marL="155448" indent="-155448">
              <a:spcAft>
                <a:spcPts val="500"/>
              </a:spcAft>
              <a:buClr>
                <a:srgbClr val="0391F2"/>
              </a:buClr>
              <a:buFont typeface="Arial"/>
              <a:buChar char="•"/>
            </a:pPr>
            <a:r>
              <a:rPr sz="1250" b="0" i="0">
                <a:solidFill>
                  <a:srgbClr val="000000"/>
                </a:solidFill>
              </a:rPr>
              <a:t>RL: program planning; behind schedule</a:t>
            </a:r>
          </a:p>
          <a:p>
            <a:pPr marL="155448" indent="-155448">
              <a:spcAft>
                <a:spcPts val="500"/>
              </a:spcAft>
              <a:buClr>
                <a:srgbClr val="0391F2"/>
              </a:buClr>
              <a:buFont typeface="Arial"/>
              <a:buChar char="•"/>
            </a:pPr>
            <a:r>
              <a:rPr sz="1250" b="0" i="0">
                <a:solidFill>
                  <a:srgbClr val="000000"/>
                </a:solidFill>
              </a:rPr>
              <a:t>Lumen: AJO error; client wanted us out of the environment</a:t>
            </a:r>
          </a:p>
        </p:txBody>
      </p:sp>
      <p:sp>
        <p:nvSpPr>
          <p:cNvPr id="12" name="Scope pricing card"/>
          <p:cNvSpPr/>
          <p:nvPr/>
        </p:nvSpPr>
        <p:spPr>
          <a:xfrm>
            <a:off x="530352" y="3794760"/>
            <a:ext cx="5669280" cy="2240280"/>
          </a:xfrm>
          <a:prstGeom prst="roundRect">
            <a:avLst>
              <a:gd name="adj" fmla="val 4081"/>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Heading"/>
          <p:cNvSpPr txBox="1"/>
          <p:nvPr/>
        </p:nvSpPr>
        <p:spPr>
          <a:xfrm>
            <a:off x="777240" y="3959352"/>
            <a:ext cx="3200400" cy="320040"/>
          </a:xfrm>
          <a:prstGeom prst="rect">
            <a:avLst/>
          </a:prstGeom>
          <a:noFill/>
        </p:spPr>
        <p:txBody>
          <a:bodyPr wrap="square" lIns="0" tIns="0" rIns="0" bIns="0" anchor="t">
            <a:spAutoFit/>
          </a:bodyPr>
          <a:lstStyle/>
          <a:p>
            <a:pPr>
              <a:spcAft>
                <a:spcPts val="0"/>
              </a:spcAft>
            </a:pPr>
            <a:r>
              <a:rPr sz="1500" b="1" i="0">
                <a:solidFill>
                  <a:srgbClr val="040E4B"/>
                </a:solidFill>
              </a:rPr>
              <a:t>Scope and pricing</a:t>
            </a:r>
          </a:p>
        </p:txBody>
      </p:sp>
      <p:sp>
        <p:nvSpPr>
          <p:cNvPr id="14" name="Stream tag"/>
          <p:cNvSpPr/>
          <p:nvPr/>
        </p:nvSpPr>
        <p:spPr>
          <a:xfrm>
            <a:off x="3566160" y="3995928"/>
            <a:ext cx="493776" cy="237744"/>
          </a:xfrm>
          <a:prstGeom prst="roundRect">
            <a:avLst>
              <a:gd name="adj" fmla="val 50000"/>
            </a:avLst>
          </a:prstGeom>
          <a:noFill/>
          <a:ln w="9525">
            <a:solidFill>
              <a:srgbClr val="0391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tream tag text"/>
          <p:cNvSpPr txBox="1"/>
          <p:nvPr/>
        </p:nvSpPr>
        <p:spPr>
          <a:xfrm>
            <a:off x="3566160" y="3995928"/>
            <a:ext cx="493776" cy="237744"/>
          </a:xfrm>
          <a:prstGeom prst="rect">
            <a:avLst/>
          </a:prstGeom>
          <a:noFill/>
        </p:spPr>
        <p:txBody>
          <a:bodyPr wrap="square" lIns="0" tIns="0" rIns="0" bIns="0" anchor="ctr">
            <a:spAutoFit/>
          </a:bodyPr>
          <a:lstStyle/>
          <a:p>
            <a:pPr algn="ctr">
              <a:spcAft>
                <a:spcPts val="0"/>
              </a:spcAft>
            </a:pPr>
            <a:r>
              <a:rPr sz="850" b="1" i="0" spc="100">
                <a:solidFill>
                  <a:srgbClr val="031FA3"/>
                </a:solidFill>
              </a:rPr>
              <a:t>SELL</a:t>
            </a:r>
          </a:p>
        </p:txBody>
      </p:sp>
      <p:sp>
        <p:nvSpPr>
          <p:cNvPr id="16" name="Scope pricing items"/>
          <p:cNvSpPr txBox="1"/>
          <p:nvPr/>
        </p:nvSpPr>
        <p:spPr>
          <a:xfrm>
            <a:off x="777240" y="4434840"/>
            <a:ext cx="5212080" cy="1463040"/>
          </a:xfrm>
          <a:prstGeom prst="rect">
            <a:avLst/>
          </a:prstGeom>
          <a:noFill/>
        </p:spPr>
        <p:txBody>
          <a:bodyPr wrap="square" lIns="0" tIns="0" rIns="0" bIns="0" anchor="t">
            <a:spAutoFit/>
          </a:bodyPr>
          <a:lstStyle/>
          <a:p>
            <a:pPr marL="155448" indent="-155448">
              <a:spcAft>
                <a:spcPts val="500"/>
              </a:spcAft>
              <a:buClr>
                <a:srgbClr val="0391F2"/>
              </a:buClr>
              <a:buFont typeface="Arial"/>
              <a:buChar char="•"/>
            </a:pPr>
            <a:r>
              <a:rPr sz="1250" b="0" i="0">
                <a:solidFill>
                  <a:srgbClr val="000000"/>
                </a:solidFill>
              </a:rPr>
              <a:t>Citizens Bank: slow to produce pricing ranges</a:t>
            </a:r>
          </a:p>
          <a:p>
            <a:pPr marL="155448" indent="-155448">
              <a:spcAft>
                <a:spcPts val="500"/>
              </a:spcAft>
              <a:buClr>
                <a:srgbClr val="0391F2"/>
              </a:buClr>
              <a:buFont typeface="Arial"/>
              <a:buChar char="•"/>
            </a:pPr>
            <a:r>
              <a:rPr sz="1250" b="0" i="0">
                <a:solidFill>
                  <a:srgbClr val="000000"/>
                </a:solidFill>
              </a:rPr>
              <a:t>TDS: multi-week estimate delays; three account managers replaced with a fourth, now offshore</a:t>
            </a:r>
          </a:p>
        </p:txBody>
      </p:sp>
      <p:sp>
        <p:nvSpPr>
          <p:cNvPr id="17" name="Pattern card"/>
          <p:cNvSpPr/>
          <p:nvPr/>
        </p:nvSpPr>
        <p:spPr>
          <a:xfrm>
            <a:off x="6355080" y="1481328"/>
            <a:ext cx="5303520" cy="1417320"/>
          </a:xfrm>
          <a:prstGeom prst="roundRect">
            <a:avLst>
              <a:gd name="adj" fmla="val 6451"/>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Label"/>
          <p:cNvSpPr txBox="1"/>
          <p:nvPr/>
        </p:nvSpPr>
        <p:spPr>
          <a:xfrm>
            <a:off x="6601968" y="1627632"/>
            <a:ext cx="4754880" cy="228600"/>
          </a:xfrm>
          <a:prstGeom prst="rect">
            <a:avLst/>
          </a:prstGeom>
          <a:noFill/>
        </p:spPr>
        <p:txBody>
          <a:bodyPr wrap="square" lIns="0" tIns="0" rIns="0" bIns="0" anchor="t">
            <a:spAutoFit/>
          </a:bodyPr>
          <a:lstStyle/>
          <a:p>
            <a:pPr>
              <a:spcAft>
                <a:spcPts val="0"/>
              </a:spcAft>
            </a:pPr>
            <a:r>
              <a:rPr sz="1000" b="1" i="0" spc="200">
                <a:solidFill>
                  <a:srgbClr val="7FC8FF"/>
                </a:solidFill>
              </a:rPr>
              <a:t>THE PATTERN</a:t>
            </a:r>
          </a:p>
        </p:txBody>
      </p:sp>
      <p:sp>
        <p:nvSpPr>
          <p:cNvPr id="19" name="Pattern"/>
          <p:cNvSpPr txBox="1"/>
          <p:nvPr/>
        </p:nvSpPr>
        <p:spPr>
          <a:xfrm>
            <a:off x="6601968" y="1938528"/>
            <a:ext cx="4800600" cy="914400"/>
          </a:xfrm>
          <a:prstGeom prst="rect">
            <a:avLst/>
          </a:prstGeom>
          <a:noFill/>
        </p:spPr>
        <p:txBody>
          <a:bodyPr wrap="square" lIns="0" tIns="0" rIns="0" bIns="0" anchor="t">
            <a:spAutoFit/>
          </a:bodyPr>
          <a:lstStyle/>
          <a:p>
            <a:pPr>
              <a:spcAft>
                <a:spcPts val="0"/>
              </a:spcAft>
            </a:pPr>
            <a:r>
              <a:rPr sz="1500" b="1" i="0">
                <a:solidFill>
                  <a:srgbClr val="FFFFFF"/>
                </a:solidFill>
              </a:rPr>
              <a:t>Staffing and talent drive most accounts, followed by scoping and pricing.</a:t>
            </a:r>
          </a:p>
        </p:txBody>
      </p:sp>
      <p:sp>
        <p:nvSpPr>
          <p:cNvPr id="20" name="Recommendation card"/>
          <p:cNvSpPr/>
          <p:nvPr/>
        </p:nvSpPr>
        <p:spPr>
          <a:xfrm>
            <a:off x="6355080" y="3063240"/>
            <a:ext cx="5303520" cy="2971800"/>
          </a:xfrm>
          <a:prstGeom prst="roundRect">
            <a:avLst>
              <a:gd name="adj" fmla="val 3076"/>
            </a:avLst>
          </a:prstGeom>
          <a:solidFill>
            <a:srgbClr val="FFFFFF"/>
          </a:solidFill>
          <a:ln w="9525">
            <a:solidFill>
              <a:srgbClr val="D6D6DF"/>
            </a:solidFill>
          </a:ln>
          <a:effectLst>
            <a:outerShdw blurRad="177800" dist="381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Label"/>
          <p:cNvSpPr txBox="1"/>
          <p:nvPr/>
        </p:nvSpPr>
        <p:spPr>
          <a:xfrm>
            <a:off x="6601968" y="3218688"/>
            <a:ext cx="4754880" cy="228600"/>
          </a:xfrm>
          <a:prstGeom prst="rect">
            <a:avLst/>
          </a:prstGeom>
          <a:noFill/>
        </p:spPr>
        <p:txBody>
          <a:bodyPr wrap="square" lIns="0" tIns="0" rIns="0" bIns="0" anchor="t">
            <a:spAutoFit/>
          </a:bodyPr>
          <a:lstStyle/>
          <a:p>
            <a:pPr>
              <a:spcAft>
                <a:spcPts val="0"/>
              </a:spcAft>
            </a:pPr>
            <a:r>
              <a:rPr sz="1000" b="1" i="0" spc="200">
                <a:solidFill>
                  <a:srgbClr val="0391F2"/>
                </a:solidFill>
              </a:rPr>
              <a:t>OUR RECOMMENDATION</a:t>
            </a:r>
          </a:p>
        </p:txBody>
      </p:sp>
      <p:sp>
        <p:nvSpPr>
          <p:cNvPr id="22" name="Recommendation"/>
          <p:cNvSpPr txBox="1"/>
          <p:nvPr/>
        </p:nvSpPr>
        <p:spPr>
          <a:xfrm>
            <a:off x="6601968" y="3547872"/>
            <a:ext cx="4800600" cy="731520"/>
          </a:xfrm>
          <a:prstGeom prst="rect">
            <a:avLst/>
          </a:prstGeom>
          <a:noFill/>
        </p:spPr>
        <p:txBody>
          <a:bodyPr wrap="square" lIns="0" tIns="0" rIns="0" bIns="0" anchor="t">
            <a:spAutoFit/>
          </a:bodyPr>
          <a:lstStyle/>
          <a:p>
            <a:pPr>
              <a:spcAft>
                <a:spcPts val="0"/>
              </a:spcAft>
            </a:pPr>
            <a:r>
              <a:rPr sz="1250" b="1" i="0">
                <a:solidFill>
                  <a:srgbClr val="040E4B"/>
                </a:solidFill>
              </a:rPr>
              <a:t>Keep one list of accounts with an owner, a status, and a next step for each. Start with the most time-sensitive:</a:t>
            </a:r>
          </a:p>
        </p:txBody>
      </p:sp>
      <p:sp>
        <p:nvSpPr>
          <p:cNvPr id="23" name="Account chip"/>
          <p:cNvSpPr/>
          <p:nvPr/>
        </p:nvSpPr>
        <p:spPr>
          <a:xfrm>
            <a:off x="6601968" y="4526280"/>
            <a:ext cx="731520" cy="347472"/>
          </a:xfrm>
          <a:prstGeom prst="roundRect">
            <a:avLst>
              <a:gd name="adj" fmla="val 50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Account chip text"/>
          <p:cNvSpPr txBox="1"/>
          <p:nvPr/>
        </p:nvSpPr>
        <p:spPr>
          <a:xfrm>
            <a:off x="6601968" y="4526280"/>
            <a:ext cx="731520" cy="347472"/>
          </a:xfrm>
          <a:prstGeom prst="rect">
            <a:avLst/>
          </a:prstGeom>
          <a:noFill/>
        </p:spPr>
        <p:txBody>
          <a:bodyPr wrap="square" lIns="0" tIns="0" rIns="0" bIns="0" anchor="ctr">
            <a:spAutoFit/>
          </a:bodyPr>
          <a:lstStyle/>
          <a:p>
            <a:pPr algn="ctr">
              <a:spcAft>
                <a:spcPts val="0"/>
              </a:spcAft>
            </a:pPr>
            <a:r>
              <a:rPr sz="1150" b="1" i="0">
                <a:solidFill>
                  <a:srgbClr val="FFFFFF"/>
                </a:solidFill>
              </a:rPr>
              <a:t>Primo</a:t>
            </a:r>
          </a:p>
        </p:txBody>
      </p:sp>
      <p:sp>
        <p:nvSpPr>
          <p:cNvPr id="25" name="Account chip"/>
          <p:cNvSpPr/>
          <p:nvPr/>
        </p:nvSpPr>
        <p:spPr>
          <a:xfrm>
            <a:off x="7443216" y="4526280"/>
            <a:ext cx="1005840" cy="347472"/>
          </a:xfrm>
          <a:prstGeom prst="roundRect">
            <a:avLst>
              <a:gd name="adj" fmla="val 50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Account chip text"/>
          <p:cNvSpPr txBox="1"/>
          <p:nvPr/>
        </p:nvSpPr>
        <p:spPr>
          <a:xfrm>
            <a:off x="7443216" y="4526280"/>
            <a:ext cx="1005840" cy="347472"/>
          </a:xfrm>
          <a:prstGeom prst="rect">
            <a:avLst/>
          </a:prstGeom>
          <a:noFill/>
        </p:spPr>
        <p:txBody>
          <a:bodyPr wrap="square" lIns="0" tIns="0" rIns="0" bIns="0" anchor="ctr">
            <a:spAutoFit/>
          </a:bodyPr>
          <a:lstStyle/>
          <a:p>
            <a:pPr algn="ctr">
              <a:spcAft>
                <a:spcPts val="0"/>
              </a:spcAft>
            </a:pPr>
            <a:r>
              <a:rPr sz="1150" b="1" i="0">
                <a:solidFill>
                  <a:srgbClr val="FFFFFF"/>
                </a:solidFill>
              </a:rPr>
              <a:t>Vanguard</a:t>
            </a:r>
          </a:p>
        </p:txBody>
      </p:sp>
      <p:sp>
        <p:nvSpPr>
          <p:cNvPr id="27" name="Account chip"/>
          <p:cNvSpPr/>
          <p:nvPr/>
        </p:nvSpPr>
        <p:spPr>
          <a:xfrm>
            <a:off x="8558784" y="4526280"/>
            <a:ext cx="1005840" cy="347472"/>
          </a:xfrm>
          <a:prstGeom prst="roundRect">
            <a:avLst>
              <a:gd name="adj" fmla="val 50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Account chip text"/>
          <p:cNvSpPr txBox="1"/>
          <p:nvPr/>
        </p:nvSpPr>
        <p:spPr>
          <a:xfrm>
            <a:off x="8558784" y="4526280"/>
            <a:ext cx="1005840" cy="347472"/>
          </a:xfrm>
          <a:prstGeom prst="rect">
            <a:avLst/>
          </a:prstGeom>
          <a:noFill/>
        </p:spPr>
        <p:txBody>
          <a:bodyPr wrap="square" lIns="0" tIns="0" rIns="0" bIns="0" anchor="ctr">
            <a:spAutoFit/>
          </a:bodyPr>
          <a:lstStyle/>
          <a:p>
            <a:pPr algn="ctr">
              <a:spcAft>
                <a:spcPts val="0"/>
              </a:spcAft>
            </a:pPr>
            <a:r>
              <a:rPr sz="1150" b="1" i="0">
                <a:solidFill>
                  <a:srgbClr val="FFFFFF"/>
                </a:solidFill>
              </a:rPr>
              <a:t>Heineken</a:t>
            </a:r>
          </a:p>
        </p:txBody>
      </p:sp>
      <p:sp>
        <p:nvSpPr>
          <p:cNvPr id="29" name="Account chip"/>
          <p:cNvSpPr/>
          <p:nvPr/>
        </p:nvSpPr>
        <p:spPr>
          <a:xfrm>
            <a:off x="9674352" y="4526280"/>
            <a:ext cx="1371600" cy="347472"/>
          </a:xfrm>
          <a:prstGeom prst="roundRect">
            <a:avLst>
              <a:gd name="adj" fmla="val 50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Account chip text"/>
          <p:cNvSpPr txBox="1"/>
          <p:nvPr/>
        </p:nvSpPr>
        <p:spPr>
          <a:xfrm>
            <a:off x="9674352" y="4526280"/>
            <a:ext cx="1371600" cy="347472"/>
          </a:xfrm>
          <a:prstGeom prst="rect">
            <a:avLst/>
          </a:prstGeom>
          <a:noFill/>
        </p:spPr>
        <p:txBody>
          <a:bodyPr wrap="square" lIns="0" tIns="0" rIns="0" bIns="0" anchor="ctr">
            <a:spAutoFit/>
          </a:bodyPr>
          <a:lstStyle/>
          <a:p>
            <a:pPr algn="ctr">
              <a:spcAft>
                <a:spcPts val="0"/>
              </a:spcAft>
            </a:pPr>
            <a:r>
              <a:rPr sz="1150" b="1" i="0">
                <a:solidFill>
                  <a:srgbClr val="FFFFFF"/>
                </a:solidFill>
              </a:rPr>
              <a:t>Sally Beauty</a:t>
            </a:r>
          </a:p>
        </p:txBody>
      </p:sp>
      <p:sp>
        <p:nvSpPr>
          <p:cNvPr id="31" name="Account chip"/>
          <p:cNvSpPr/>
          <p:nvPr/>
        </p:nvSpPr>
        <p:spPr>
          <a:xfrm>
            <a:off x="6601968" y="4983480"/>
            <a:ext cx="731520" cy="347472"/>
          </a:xfrm>
          <a:prstGeom prst="roundRect">
            <a:avLst>
              <a:gd name="adj" fmla="val 50000"/>
            </a:avLst>
          </a:prstGeom>
          <a:solidFill>
            <a:srgbClr val="031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Account chip text"/>
          <p:cNvSpPr txBox="1"/>
          <p:nvPr/>
        </p:nvSpPr>
        <p:spPr>
          <a:xfrm>
            <a:off x="6601968" y="4983480"/>
            <a:ext cx="731520" cy="347472"/>
          </a:xfrm>
          <a:prstGeom prst="rect">
            <a:avLst/>
          </a:prstGeom>
          <a:noFill/>
        </p:spPr>
        <p:txBody>
          <a:bodyPr wrap="square" lIns="0" tIns="0" rIns="0" bIns="0" anchor="ctr">
            <a:spAutoFit/>
          </a:bodyPr>
          <a:lstStyle/>
          <a:p>
            <a:pPr algn="ctr">
              <a:spcAft>
                <a:spcPts val="0"/>
              </a:spcAft>
            </a:pPr>
            <a:r>
              <a:rPr sz="1150" b="1" i="0">
                <a:solidFill>
                  <a:srgbClr val="FFFFFF"/>
                </a:solidFill>
              </a:rPr>
              <a:t>Lumen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The RevTech stack behind this</a:t>
            </a:r>
          </a:p>
        </p:txBody>
      </p:sp>
      <p:sp>
        <p:nvSpPr>
          <p:cNvPr id="4" name="Text Placeholder 3"/>
          <p:cNvSpPr>
            <a:spLocks noGrp="1"/>
          </p:cNvSpPr>
          <p:nvPr>
            <p:ph type="body" sz="quarter" idx="12"/>
          </p:nvPr>
        </p:nvSpPr>
        <p:spPr/>
        <p:txBody>
          <a:bodyPr/>
          <a:lstStyle/>
          <a:p>
            <a:r>
              <a:t>APPENDIX  ·  REVTECH</a:t>
            </a:r>
          </a:p>
        </p:txBody>
      </p:sp>
      <p:sp>
        <p:nvSpPr>
          <p:cNvPr id="39" name="Goal bar"/>
          <p:cNvSpPr/>
          <p:nvPr/>
        </p:nvSpPr>
        <p:spPr>
          <a:xfrm>
            <a:off x="530352" y="5623560"/>
            <a:ext cx="11128248" cy="640080"/>
          </a:xfrm>
          <a:prstGeom prst="roundRect">
            <a:avLst>
              <a:gd name="adj" fmla="val 11111"/>
            </a:avLst>
          </a:prstGeom>
          <a:solidFill>
            <a:srgbClr val="040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Goal"/>
          <p:cNvSpPr txBox="1"/>
          <p:nvPr/>
        </p:nvSpPr>
        <p:spPr>
          <a:xfrm>
            <a:off x="804672" y="5623560"/>
            <a:ext cx="10607040" cy="640080"/>
          </a:xfrm>
          <a:prstGeom prst="rect">
            <a:avLst/>
          </a:prstGeom>
          <a:noFill/>
        </p:spPr>
        <p:txBody>
          <a:bodyPr wrap="square" lIns="0" tIns="0" rIns="0" bIns="0" anchor="ctr">
            <a:spAutoFit/>
          </a:bodyPr>
          <a:lstStyle/>
          <a:p>
            <a:pPr>
              <a:spcAft>
                <a:spcPts val="0"/>
              </a:spcAft>
            </a:pPr>
            <a:r>
              <a:rPr sz="900" b="1" i="0">
                <a:solidFill>
                  <a:srgbClr val="7FC8FF"/>
                </a:solidFill>
              </a:rPr>
              <a:t>TO RECONCILE   </a:t>
            </a:r>
            <a:r>
              <a:rPr sz="1200" b="1" i="0">
                <a:solidFill>
                  <a:srgbClr val="FFFFFF"/>
                </a:solidFill>
              </a:rPr>
              <a:t>How this map lines up with Wolf Pack, the Command Center, and the Field Guide.</a:t>
            </a:r>
          </a:p>
        </p:txBody>
      </p:sp>
      <p:pic>
        <p:nvPicPr>
          <p:cNvPr id="41" name="Picture 40" descr="1791909354345_image.png"/>
          <p:cNvPicPr>
            <a:picLocks noChangeAspect="1"/>
          </p:cNvPicPr>
          <p:nvPr/>
        </p:nvPicPr>
        <p:blipFill>
          <a:blip r:embed="rId2"/>
          <a:stretch>
            <a:fillRect/>
          </a:stretch>
        </p:blipFill>
        <p:spPr>
          <a:xfrm>
            <a:off x="530352" y="1371600"/>
            <a:ext cx="7223760" cy="4027406"/>
          </a:xfrm>
          <a:prstGeom prst="rect">
            <a:avLst/>
          </a:prstGeom>
        </p:spPr>
      </p:pic>
      <p:sp>
        <p:nvSpPr>
          <p:cNvPr id="42" name="Where label"/>
          <p:cNvSpPr txBox="1"/>
          <p:nvPr/>
        </p:nvSpPr>
        <p:spPr>
          <a:xfrm>
            <a:off x="8001000" y="1417320"/>
            <a:ext cx="3657600" cy="182880"/>
          </a:xfrm>
          <a:prstGeom prst="rect">
            <a:avLst/>
          </a:prstGeom>
          <a:noFill/>
        </p:spPr>
        <p:txBody>
          <a:bodyPr wrap="square" lIns="0" tIns="0" rIns="0" bIns="0" anchor="t">
            <a:spAutoFit/>
          </a:bodyPr>
          <a:lstStyle/>
          <a:p>
            <a:pPr>
              <a:spcAft>
                <a:spcPts val="0"/>
              </a:spcAft>
            </a:pPr>
            <a:r>
              <a:rPr sz="900" b="1" i="0" spc="200">
                <a:solidFill>
                  <a:srgbClr val="0391F2"/>
                </a:solidFill>
              </a:rPr>
              <a:t>WHERE IT TOUCHES OUR PRIORITIES</a:t>
            </a:r>
          </a:p>
        </p:txBody>
      </p:sp>
      <p:sp>
        <p:nvSpPr>
          <p:cNvPr id="43" name="What they are asking"/>
          <p:cNvSpPr txBox="1"/>
          <p:nvPr/>
        </p:nvSpPr>
        <p:spPr>
          <a:xfrm>
            <a:off x="8001000" y="1737360"/>
            <a:ext cx="3657600" cy="3566160"/>
          </a:xfrm>
          <a:prstGeom prst="rect">
            <a:avLst/>
          </a:prstGeom>
          <a:noFill/>
        </p:spPr>
        <p:txBody>
          <a:bodyPr wrap="square" lIns="0" tIns="0" rIns="0" bIns="0" anchor="t">
            <a:spAutoFit/>
          </a:bodyPr>
          <a:lstStyle/>
          <a:p>
            <a:pPr marL="155448" indent="-155448">
              <a:lnSpc>
                <a:spcPct val="100000"/>
              </a:lnSpc>
              <a:spcAft>
                <a:spcPts val="400"/>
              </a:spcAft>
              <a:buClr>
                <a:srgbClr val="0391F2"/>
              </a:buClr>
              <a:buFont typeface="Arial"/>
              <a:buChar char="•"/>
            </a:pPr>
            <a:r>
              <a:rPr sz="1150" b="0" i="0">
                <a:solidFill>
                  <a:srgbClr val="000000"/>
                </a:solidFill>
              </a:rPr>
              <a:t>Cases for internal requests and SME resource need flagging: Intake Updates and Ops Transformation.</a:t>
            </a:r>
          </a:p>
          <a:p>
            <a:pPr marL="155448" indent="-155448">
              <a:lnSpc>
                <a:spcPct val="100000"/>
              </a:lnSpc>
              <a:spcAft>
                <a:spcPts val="400"/>
              </a:spcAft>
              <a:buClr>
                <a:srgbClr val="0391F2"/>
              </a:buClr>
              <a:buFont typeface="Arial"/>
              <a:buChar char="•"/>
            </a:pPr>
            <a:r>
              <a:rPr sz="1150" b="0" i="0">
                <a:solidFill>
                  <a:srgbClr val="000000"/>
                </a:solidFill>
              </a:rPr>
              <a:t>CPQ (product catalog, pricing to quoting, contract generation): Playbook Contracts and Pricing.</a:t>
            </a:r>
          </a:p>
          <a:p>
            <a:pPr marL="155448" indent="-155448">
              <a:lnSpc>
                <a:spcPct val="100000"/>
              </a:lnSpc>
              <a:spcAft>
                <a:spcPts val="400"/>
              </a:spcAft>
              <a:buClr>
                <a:srgbClr val="0391F2"/>
              </a:buClr>
              <a:buFont typeface="Arial"/>
              <a:buChar char="•"/>
            </a:pPr>
            <a:r>
              <a:rPr sz="1150" b="0" i="0">
                <a:solidFill>
                  <a:srgbClr val="000000"/>
                </a:solidFill>
              </a:rPr>
              <a:t>Account planning and health: the Accountability Framework, and seeing risk early.</a:t>
            </a:r>
          </a:p>
          <a:p>
            <a:pPr marL="155448" indent="-155448">
              <a:lnSpc>
                <a:spcPct val="100000"/>
              </a:lnSpc>
              <a:spcAft>
                <a:spcPts val="400"/>
              </a:spcAft>
              <a:buClr>
                <a:srgbClr val="0391F2"/>
              </a:buClr>
              <a:buFont typeface="Arial"/>
              <a:buChar char="•"/>
            </a:pPr>
            <a:r>
              <a:rPr sz="1150" b="0" i="0">
                <a:solidFill>
                  <a:srgbClr val="000000"/>
                </a:solidFill>
              </a:rPr>
              <a:t>RFP response, Q&amp;A library, and AI-assisted drafting: pursuit support.</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esentation14" id="{6AAA1F15-3B3D-DC40-84A7-038FCC97591D}" vid="{52855127-7402-5345-9C1A-ACD26C0731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TemplafySlideFormConfiguration><![CDATA[{"formFields":[],"formDataEntries":[]}]]></TemplafySlideFormConfiguration>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7.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p:properties xmlns:p="http://schemas.microsoft.com/office/2006/metadata/properties" xmlns:xsi="http://www.w3.org/2001/XMLSchema-instance" xmlns:pc="http://schemas.microsoft.com/office/infopath/2007/PartnerControls">
  <documentManagement/>
</p:properties>
</file>

<file path=customXml/item11.xml><?xml version="1.0" encoding="utf-8"?>
<TemplafySlideFormConfiguration><![CDATA[{"formFields":[],"formDataEntries":[]}]]></TemplafySlideFormConfiguration>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mso-contentType ?>
<FormTemplates xmlns="http://schemas.microsoft.com/sharepoint/v3/contenttype/forms">
  <Display>DocumentLibraryForm</Display>
  <Edit>DocumentLibraryForm</Edit>
  <New>DocumentLibraryForm</New>
</FormTemplates>
</file>

<file path=customXml/item15.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Props1.xml><?xml version="1.0" encoding="utf-8"?>
<ds:datastoreItem xmlns:ds="http://schemas.openxmlformats.org/officeDocument/2006/customXml" ds:itemID="{C978122E-4CF7-4DAF-A638-3228CFE4D0E4}">
  <ds:schemaRefs/>
</ds:datastoreItem>
</file>

<file path=customXml/itemProps2.xml><?xml version="1.0" encoding="utf-8"?>
<ds:datastoreItem xmlns:ds="http://schemas.openxmlformats.org/officeDocument/2006/customXml" ds:itemID="{4D8D6E3D-6D95-4645-9B5B-00A02728EFE6}">
  <ds:schemaRefs/>
</ds:datastoreItem>
</file>

<file path=customXml/itemProps3.xml><?xml version="1.0" encoding="utf-8"?>
<ds:datastoreItem xmlns:ds="http://schemas.openxmlformats.org/officeDocument/2006/customXml" ds:itemID="{7175AA37-2E84-4AD4-A69B-19A9990FFAFF}">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67BEF938-330B-4D83-BEC7-2D1BE76C92B0}">
  <ds:schemaRefs>
    <ds:schemaRef ds:uri="ffd69ccd-669e-4a1a-b9ff-a607e277eb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6.xml><?xml version="1.0" encoding="utf-8"?>
<ds:datastoreItem xmlns:ds="http://schemas.openxmlformats.org/officeDocument/2006/customXml" ds:itemID="{B82A8263-E571-43F3-9E91-8424F188A071}">
  <ds:schemaRefs/>
</ds:datastoreItem>
</file>

<file path=customXml/itemProps7.xml><?xml version="1.0" encoding="utf-8"?>
<ds:datastoreItem xmlns:ds="http://schemas.openxmlformats.org/officeDocument/2006/customXml" ds:itemID="{1C2D6E68-51DB-4BFD-88E4-E31D99A1A821}">
  <ds:schemaRefs/>
</ds:datastoreItem>
</file>

<file path=customXml/itemProps8.xml><?xml version="1.0" encoding="utf-8"?>
<ds:datastoreItem xmlns:ds="http://schemas.openxmlformats.org/officeDocument/2006/customXml" ds:itemID="{8ED5A302-E581-4954-9104-07BBB2BA16EA}">
  <ds:schemaRefs/>
</ds:datastoreItem>
</file>

<file path=customXml/itemProps9.xml><?xml version="1.0" encoding="utf-8"?>
<ds:datastoreItem xmlns:ds="http://schemas.openxmlformats.org/officeDocument/2006/customXml" ds:itemID="{D19811AB-F04C-4CB1-906B-120DD81CEC00}">
  <ds:schemaRefs/>
</ds:datastoreItem>
</file>

<file path=customXml/itemProps10.xml><?xml version="1.0" encoding="utf-8"?>
<ds:datastoreItem xmlns:ds="http://schemas.openxmlformats.org/officeDocument/2006/customXml" ds:itemID="{32C947A3-4CBF-434C-A709-03C12B0F1660}">
  <ds:schemaRef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ffd69ccd-669e-4a1a-b9ff-a607e277eb6b"/>
    <ds:schemaRef ds:uri="http://purl.org/dc/elements/1.1/"/>
    <ds:schemaRef ds:uri="http://purl.org/dc/terms/"/>
    <ds:schemaRef ds:uri="http://www.w3.org/XML/1998/namespace"/>
  </ds:schemaRefs>
</ds:datastoreItem>
</file>

<file path=customXml/itemProps11.xml><?xml version="1.0" encoding="utf-8"?>
<ds:datastoreItem xmlns:ds="http://schemas.openxmlformats.org/officeDocument/2006/customXml" ds:itemID="{E15543A8-80BA-4997-B7AD-F61A4B2E048D}">
  <ds:schemaRefs/>
</ds:datastoreItem>
</file>

<file path=customXml/itemProps12.xml><?xml version="1.0" encoding="utf-8"?>
<ds:datastoreItem xmlns:ds="http://schemas.openxmlformats.org/officeDocument/2006/customXml" ds:itemID="{641488FD-1F5F-4710-8EC0-17A522704CC6}">
  <ds:schemaRefs/>
</ds:datastoreItem>
</file>

<file path=customXml/itemProps13.xml><?xml version="1.0" encoding="utf-8"?>
<ds:datastoreItem xmlns:ds="http://schemas.openxmlformats.org/officeDocument/2006/customXml" ds:itemID="{3A934794-B7B9-40A5-BC3E-83474445FB2C}">
  <ds:schemaRefs/>
</ds:datastoreItem>
</file>

<file path=customXml/itemProps14.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15.xml><?xml version="1.0" encoding="utf-8"?>
<ds:datastoreItem xmlns:ds="http://schemas.openxmlformats.org/officeDocument/2006/customXml" ds:itemID="{C45642DC-9A5F-4645-ADA4-4C9C3418D003}">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
  <TotalTime>1004</TotalTime>
  <Words>8202</Words>
  <Application>Microsoft Office PowerPoint</Application>
  <PresentationFormat>Widescreen</PresentationFormat>
  <Paragraphs>917</Paragraphs>
  <Slides>55</Slides>
  <Notes>21</Notes>
  <HiddenSlides>28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Aptos</vt:lpstr>
      <vt:lpstr>Proxima Nova</vt:lpstr>
      <vt:lpstr>Calibri Light</vt:lpstr>
      <vt:lpstr>COLLABORATIVE WIREFRAME - 2025</vt:lpstr>
      <vt:lpstr>Delivery Excellence</vt:lpstr>
      <vt:lpstr>Agenda</vt:lpstr>
      <vt:lpstr>What we’re already doing</vt:lpstr>
      <vt:lpstr>Where we’re focusing</vt:lpstr>
      <vt:lpstr>Deal-to-Delivery Playbook</vt:lpstr>
      <vt:lpstr>Deal-to-Delivery Problem Statement</vt:lpstr>
      <vt:lpstr>Deal-to-Delivery Recommendation</vt:lpstr>
      <vt:lpstr>Deal-to-Delivery Model Examples</vt:lpstr>
      <vt:lpstr>Timeline, Dependencies &amp; Stakeholders</vt:lpstr>
      <vt:lpstr>The Deal-to-Delivery Playbook</vt:lpstr>
      <vt:lpstr>Deal-to-Delivery Playbook</vt:lpstr>
      <vt:lpstr>Accountability Framework</vt:lpstr>
      <vt:lpstr>Accountability Framework</vt:lpstr>
      <vt:lpstr>Leadership Dashboards</vt:lpstr>
      <vt:lpstr>Leadership Dashboard</vt:lpstr>
      <vt:lpstr>Intake Updates</vt:lpstr>
      <vt:lpstr>Intake Updates</vt:lpstr>
      <vt:lpstr>Ops Transformation: Rebuild Scoping &amp; Staffing</vt:lpstr>
      <vt:lpstr>Ops Transformation: Rebuild Scoping &amp; Staffing</vt:lpstr>
      <vt:lpstr>Earlier Delivery &amp; Talent in Pursuits</vt:lpstr>
      <vt:lpstr>Earlier delivery and talent involvement in major pursuits</vt:lpstr>
      <vt:lpstr>Client &amp; Delivery Concerns</vt:lpstr>
      <vt:lpstr>Staffing</vt:lpstr>
      <vt:lpstr>Staffing</vt:lpstr>
      <vt:lpstr>Capacity Planning &amp; Romulus</vt:lpstr>
      <vt:lpstr>Capacity Planning &amp; Romulus</vt:lpstr>
      <vt:lpstr>What’s Next</vt:lpstr>
      <vt:lpstr>Romulus</vt:lpstr>
      <vt:lpstr>Mid-November</vt:lpstr>
      <vt:lpstr>Appendix</vt:lpstr>
      <vt:lpstr>The ask</vt:lpstr>
      <vt:lpstr>What leadership is asking for</vt:lpstr>
      <vt:lpstr>What it looks like on the ground</vt:lpstr>
      <vt:lpstr>How what we’re doing answers the ask</vt:lpstr>
      <vt:lpstr>How we define the work</vt:lpstr>
      <vt:lpstr>One shared way to define the work</vt:lpstr>
      <vt:lpstr>Who owns it</vt:lpstr>
      <vt:lpstr>Who owns each account</vt:lpstr>
      <vt:lpstr>How it gets staffed</vt:lpstr>
      <vt:lpstr>Staffing and talent</vt:lpstr>
      <vt:lpstr>How it gets delivered</vt:lpstr>
      <vt:lpstr>Modern ways of working</vt:lpstr>
      <vt:lpstr>Doing more than the contract</vt:lpstr>
      <vt:lpstr>How we watch it</vt:lpstr>
      <vt:lpstr>Seeing risk early</vt:lpstr>
      <vt:lpstr>A regular leadership meeting</vt:lpstr>
      <vt:lpstr>The 2027 revenue map</vt:lpstr>
      <vt:lpstr>Engagement vs. delivery layers</vt:lpstr>
      <vt:lpstr>The four delivery models</vt:lpstr>
      <vt:lpstr>How the layers stack (RL)</vt:lpstr>
      <vt:lpstr>The three account roles</vt:lpstr>
      <vt:lpstr>How we’ll know it’s working</vt:lpstr>
      <vt:lpstr>Client detail (1 of 2)</vt:lpstr>
      <vt:lpstr>Client detail (2 of 2)</vt:lpstr>
      <vt:lpstr>The RevTech stack behind this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Delivery Excellence</dc:title>
  <dc:creator>Kimberly Fisher</dc:creator>
  <cp:lastModifiedBy>Rachel Harris</cp:lastModifiedBy>
  <cp:revision>3</cp:revision>
  <dcterms:created xsi:type="dcterms:W3CDTF">2026-01-16T22:13:07Z</dcterms:created>
  <dcterms:modified xsi:type="dcterms:W3CDTF">2026-10-21T14:18:01Z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195c4cb1-5c2c-4249-a77b-33076e76f845</vt:lpwstr>
  </property>
</Properties>
</file>