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25"/>
  </p:notesMasterIdLst>
  <p:handoutMasterIdLst>
    <p:handoutMasterId r:id="rId26"/>
  </p:handoutMasterIdLst>
  <p:sldIdLst>
    <p:sldId id="346" r:id="rId121"/>
  </p:sldIdLst>
  <p:sldSz cx="12192000" cy="6858000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CC460F-03F9-4149-9072-5AAB42086FA4}">
          <p14:sldIdLst>
            <p14:sldId id="256"/>
            <p14:sldId id="265"/>
          </p14:sldIdLst>
        </p14:section>
        <p14:section name="Deal to Delivery" id="{7478C7A6-E225-4B29-AF56-AF00598241E8}">
          <p14:sldIdLst>
            <p14:sldId id="2147483647"/>
            <p14:sldId id="257"/>
          </p14:sldIdLst>
        </p14:section>
        <p14:section name="Accountability Framework" id="{85FAACF2-C17B-496F-BC74-01D34320B823}">
          <p14:sldIdLst>
            <p14:sldId id="258"/>
            <p14:sldId id="259"/>
          </p14:sldIdLst>
        </p14:section>
        <p14:section name="Intake Updates" id="{E3DA7D8E-CA10-4E59-91F0-08D4610CE2E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E531D-B492-44EB-8453-F64CDCF25BDF}" v="1" dt="2026-10-20T13:02:33.506"/>
    <p1510:client id="{E54C87B7-05CD-4AE2-8B3E-00FBDEE6507A}" v="5" dt="2026-10-20T22:02:0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121" Type="http://schemas.openxmlformats.org/officeDocument/2006/relationships/slide" Target="slides/slide9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7.jpg"/></Relationships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27" name="Picture 526" descr="hero_p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528" name="Rectangle 527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50000">
                <a:srgbClr val="000000">
                  <a:alpha val="74000"/>
                </a:srgbClr>
              </a:gs>
              <a:gs pos="100000">
                <a:srgbClr val="000000">
                  <a:alpha val="62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Why now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INTAKE UPDATES · CLICK-DOWN · THE PROBLEM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37A419-FF94-DBCB-082F-42BC6E7DAE00}"/>
              </a:ext>
            </a:extLst>
          </p:cNvPr>
          <p:cNvSpPr>
            <a:spLocks/>
          </p:cNvSpPr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square" lIns="150000" rtlCol="0" anchor="ctr" rIns="120000">
            <a:noAutofit/>
          </a:bodyPr>
          <a:lstStyle/>
          <a:p>
            <a:r>
              <a:rPr lang="en-US" sz="1050" b="1">
                <a:solidFill>
                  <a:srgbClr val="FFFFFF"/>
                </a:solidFill>
                <a:cs typeface="+mn-cs"/>
              </a:rPr>
              <a:t>Owner(s)</a:t>
            </a:r>
          </a:p>
          <a:p>
            <a:r>
              <a:rPr lang="en-US" sz="900" i="0">
                <a:solidFill>
                  <a:srgbClr val="FFFFFF"/>
                </a:solidFill>
                <a:cs typeface="+mn-cs"/>
              </a:rPr>
              <a:t>Missy Foristall, Deana Derocha</a:t>
            </a:r>
          </a:p>
        </p:txBody>
      </p:sp>
      <p:sp>
        <p:nvSpPr>
          <p:cNvPr id="529" name="Rounded Rectangle 528"/>
          <p:cNvSpPr/>
          <p:nvPr/>
        </p:nvSpPr>
        <p:spPr>
          <a:xfrm>
            <a:off x="457200" y="1170000"/>
            <a:ext cx="11277600" cy="12500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274320" tIns="109728" rIns="274320" bIns="73152"/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</a:rPr>
              <a:t>The reorg broke the seat that pulled pursuit teams together. Until there is one front door for intake requests, our senior people are covering the gap by hand.</a:t>
            </a:r>
          </a:p>
        </p:txBody>
      </p:sp>
      <p:sp>
        <p:nvSpPr>
          <p:cNvPr id="530" name="Rounded Rectangle 529"/>
          <p:cNvSpPr/>
          <p:nvPr/>
        </p:nvSpPr>
        <p:spPr>
          <a:xfrm>
            <a:off x="457200" y="2570000"/>
            <a:ext cx="6541008" cy="368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000000"/>
                </a:solidFill>
              </a:rPr>
              <a:t>What's happening today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</a:rPr>
              <a:t>The new org design creates practice leads across both DBT and DDM. No single lead can own a solution that spans both, so it is no longer clear who pulls the team together.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</a:rPr>
              <a:t>Each team handles intake its own way: DBT is still forming, DDM is partial, Solutioning &amp; Alliances has one in place, and Advisory has none by design.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</a:rPr>
              <a:t>Sellers and client partners stay in the solution, pulling teams together for estimates instead of selling.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</a:rPr>
              <a:t>People still send requests to the experts they already know, so the business units cannot see everything coming in or help as well as they could.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</a:rPr>
              <a:t>We keep no shared record of past bids, so we cannot learn from them or sharpen estimates.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</a:rPr>
              <a:t>In our 2025 win/loss study, the sales process came up in 100% of wins and 57% of losses (directional, 27 interviews).</a:t>
            </a:r>
          </a:p>
        </p:txBody>
      </p:sp>
      <p:sp>
        <p:nvSpPr>
          <p:cNvPr id="531" name="Rounded Rectangle 530"/>
          <p:cNvSpPr/>
          <p:nvPr/>
        </p:nvSpPr>
        <p:spPr>
          <a:xfrm>
            <a:off x="7148208" y="2570000"/>
            <a:ext cx="4586592" cy="36800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D6D6DF"/>
                </a:solidFill>
              </a:rPr>
              <a:t>So we need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</a:rPr>
              <a:t>One front door for intake requests, so the right experts see them fast.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</a:rPr>
              <a:t>A lead in each business unit to review every request, assign it, and make sure it gets handled.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</a:rPr>
              <a:t>One simple form in Salesforce for smaller deals and ad-hoc requests.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</a:rPr>
              <a:t>Clear roles for everyone involved in the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2C947A3-4CBF-434C-A709-03C12B0F166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ffd69ccd-669e-4a1a-b9ff-a607e277eb6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2D6E68-51DB-4BFD-88E4-E31D99A1A821}">
  <ds:schemaRefs/>
</ds:datastoreItem>
</file>

<file path=customXml/itemProps3.xml><?xml version="1.0" encoding="utf-8"?>
<ds:datastoreItem xmlns:ds="http://schemas.openxmlformats.org/officeDocument/2006/customXml" ds:itemID="{3A934794-B7B9-40A5-BC3E-83474445FB2C}">
  <ds:schemaRefs/>
</ds:datastoreItem>
</file>

<file path=customXml/itemProps4.xml><?xml version="1.0" encoding="utf-8"?>
<ds:datastoreItem xmlns:ds="http://schemas.openxmlformats.org/officeDocument/2006/customXml" ds:itemID="{A48A09DB-9412-4CC5-853B-30DF5312F164}">
  <ds:schemaRefs/>
</ds:datastoreItem>
</file>

<file path=customXml/itemProps5.xml><?xml version="1.0" encoding="utf-8"?>
<ds:datastoreItem xmlns:ds="http://schemas.openxmlformats.org/officeDocument/2006/customXml" ds:itemID="{8ED5A302-E581-4954-9104-07BBB2BA16EA}">
  <ds:schemaRefs/>
</ds:datastoreItem>
</file>

<file path=customXml/itemProps6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C978122E-4CF7-4DAF-A638-3228CFE4D0E4}">
  <ds:schemaRefs/>
</ds:datastoreItem>
</file>

<file path=customXml/itemProps9.xml><?xml version="1.0" encoding="utf-8"?>
<ds:datastoreItem xmlns:ds="http://schemas.openxmlformats.org/officeDocument/2006/customXml" ds:itemID="{641488FD-1F5F-4710-8EC0-17A522704CC6}">
  <ds:schemaRefs/>
</ds:datastoreItem>
</file>

<file path=customXml/itemProps10.xml><?xml version="1.0" encoding="utf-8"?>
<ds:datastoreItem xmlns:ds="http://schemas.openxmlformats.org/officeDocument/2006/customXml" ds:itemID="{B82A8263-E571-43F3-9E91-8424F188A071}">
  <ds:schemaRefs/>
</ds:datastoreItem>
</file>

<file path=customXml/itemProps11.xml><?xml version="1.0" encoding="utf-8"?>
<ds:datastoreItem xmlns:ds="http://schemas.openxmlformats.org/officeDocument/2006/customXml" ds:itemID="{D19811AB-F04C-4CB1-906B-120DD81CEC00}">
  <ds:schemaRefs/>
</ds:datastoreItem>
</file>

<file path=customXml/itemProps12.xml><?xml version="1.0" encoding="utf-8"?>
<ds:datastoreItem xmlns:ds="http://schemas.openxmlformats.org/officeDocument/2006/customXml" ds:itemID="{C45642DC-9A5F-4645-ADA4-4C9C3418D003}">
  <ds:schemaRefs/>
</ds:datastoreItem>
</file>

<file path=customXml/itemProps13.xml><?xml version="1.0" encoding="utf-8"?>
<ds:datastoreItem xmlns:ds="http://schemas.openxmlformats.org/officeDocument/2006/customXml" ds:itemID="{4D8D6E3D-6D95-4645-9B5B-00A02728EFE6}">
  <ds:schemaRefs/>
</ds:datastoreItem>
</file>

<file path=customXml/itemProps14.xml><?xml version="1.0" encoding="utf-8"?>
<ds:datastoreItem xmlns:ds="http://schemas.openxmlformats.org/officeDocument/2006/customXml" ds:itemID="{7175AA37-2E84-4AD4-A69B-19A9990FFAFF}">
  <ds:schemaRefs/>
</ds:datastoreItem>
</file>

<file path=customXml/itemProps15.xml><?xml version="1.0" encoding="utf-8"?>
<ds:datastoreItem xmlns:ds="http://schemas.openxmlformats.org/officeDocument/2006/customXml" ds:itemID="{E15543A8-80BA-4997-B7AD-F61A4B2E048D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1006</TotalTime>
  <Words>2141</Words>
  <Application>Microsoft Office PowerPoint</Application>
  <PresentationFormat>Widescreen</PresentationFormat>
  <Paragraphs>168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Aptos</vt:lpstr>
      <vt:lpstr>Proxima Nova</vt:lpstr>
      <vt:lpstr>COLLABORATIVE WIREFRAME - 2025</vt:lpstr>
      <vt:lpstr>Play to Win</vt:lpstr>
      <vt:lpstr>B2B Growth Platform</vt:lpstr>
      <vt:lpstr>Deal to Delivery Playbook: Context</vt:lpstr>
      <vt:lpstr>Deal to Delivery Playbook: Update</vt:lpstr>
      <vt:lpstr>Accountability Framework: Context</vt:lpstr>
      <vt:lpstr>Accountability Framework: Update</vt:lpstr>
      <vt:lpstr>Intake Updates: Context</vt:lpstr>
      <vt:lpstr>Intake Updates: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4</cp:revision>
  <dcterms:created xsi:type="dcterms:W3CDTF">2026-08-19T11:07:14Z</dcterms:created>
  <dcterms:modified xsi:type="dcterms:W3CDTF">2026-10-21T14:19:20Z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