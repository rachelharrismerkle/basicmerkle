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25"/>
  </p:notesMasterIdLst>
  <p:handoutMasterIdLst>
    <p:handoutMasterId r:id="rId26"/>
  </p:handoutMasterIdLst>
  <p:sldIdLst>
    <p:sldId id="262" r:id="rId38"/>
    <p:sldId id="2147483647" r:id="rId19"/>
    <p:sldId id="256" r:id="rId24"/>
    <p:sldId id="258" r:id="rId23"/>
    <p:sldId id="259" r:id="rId22"/>
    <p:sldId id="260" r:id="rId21"/>
    <p:sldId id="261" r:id="rId18"/>
    <p:sldId id="263" r:id="rId17"/>
    <p:sldId id="264" r:id="rId39"/>
    <p:sldId id="265" r:id="rId40"/>
    <p:sldId id="266" r:id="rId41"/>
    <p:sldId id="257" r:id="rId20"/>
  </p:sldIdLst>
  <p:sldSz cx="12192000" cy="6858000"/>
  <p:notesSz cx="6858000" cy="9144000"/>
  <p:embeddedFontLst>
    <p:embeddedFont>
      <p:font typeface="Proxima Nova" panose="020B0604020202020204" charset="0"/>
      <p:regular r:id="rId27"/>
      <p:bold r:id="rId28"/>
      <p:italic r:id="rId29"/>
      <p:boldItalic r:id="rId30"/>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CC460F-03F9-4149-9072-5AAB42086FA4}">
          <p14:sldIdLst>
            <p14:sldId id="256"/>
            <p14:sldId id="265"/>
          </p14:sldIdLst>
        </p14:section>
        <p14:section name="Deal to Delivery" id="{7478C7A6-E225-4B29-AF56-AF00598241E8}">
          <p14:sldIdLst>
            <p14:sldId id="2147483647"/>
            <p14:sldId id="257"/>
          </p14:sldIdLst>
        </p14:section>
        <p14:section name="Accountability Framework" id="{85FAACF2-C17B-496F-BC74-01D34320B823}">
          <p14:sldIdLst>
            <p14:sldId id="258"/>
            <p14:sldId id="259"/>
          </p14:sldIdLst>
        </p14:section>
        <p14:section name="Intake Updates" id="{E3DA7D8E-CA10-4E59-91F0-08D4610CE2E0}">
          <p14:sldIdLst>
            <p14:sldId id="260"/>
            <p14:sldId id="261"/>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E531D-B492-44EB-8453-F64CDCF25BDF}" v="1" dt="2026-10-20T13:02:33.506"/>
    <p1510:client id="{E54C87B7-05CD-4AE2-8B3E-00FBDEE6507A}" v="5" dt="2026-10-20T22:02:08.6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17" Type="http://schemas.openxmlformats.org/officeDocument/2006/relationships/slide" Target="slides/slide9.xml"/><Relationship Id="rId18" Type="http://schemas.openxmlformats.org/officeDocument/2006/relationships/slide" Target="slides/slide8.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7.xml"/><Relationship Id="rId22" Type="http://schemas.openxmlformats.org/officeDocument/2006/relationships/slide" Target="slides/slide6.xml"/><Relationship Id="rId23" Type="http://schemas.openxmlformats.org/officeDocument/2006/relationships/slide" Target="slides/slide5.xml"/><Relationship Id="rId24" Type="http://schemas.openxmlformats.org/officeDocument/2006/relationships/slide" Target="slides/slide4.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 Id="rId38" Type="http://schemas.openxmlformats.org/officeDocument/2006/relationships/slide" Target="slides/slide1.xml"/><Relationship Id="rId39" Type="http://schemas.openxmlformats.org/officeDocument/2006/relationships/slide" Target="slides/slide10.xml"/><Relationship Id="rId40" Type="http://schemas.openxmlformats.org/officeDocument/2006/relationships/slide" Target="slides/slide11.xml"/><Relationship Id="rId41"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iv_p1.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Deal to Delivery Playbook</a:t>
            </a:r>
          </a:p>
        </p:txBody>
      </p:sp>
      <p:sp>
        <p:nvSpPr>
          <p:cNvPr id="6" name="TextBox 5"/>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Chris McComas, Deana Derocha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Deal to Delivery Playbook: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If we do nothing else, we must stop selling what we cannot properly deliver.</a:t>
            </a:r>
          </a:p>
        </p:txBody>
      </p:sp>
      <p:sp>
        <p:nvSpPr>
          <p:cNvPr id="50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Align how we scope, execute, and set client expectations, so what we sell is what we deliver.</a:t>
            </a:r>
          </a:p>
          <a:p>
            <a:pPr marL="171450" indent="-171450">
              <a:spcBef>
                <a:spcPts val="600"/>
              </a:spcBef>
              <a:spcAft>
                <a:spcPts val="300"/>
              </a:spcAft>
              <a:buFont typeface="Arial" panose="020B0604020202020204" pitchFamily="34" charset="0"/>
              <a:buChar char="•"/>
            </a:pPr>
            <a:r>
              <a:rPr lang="en-US" sz="1000">
                <a:solidFill>
                  <a:srgbClr val="FFFFFF"/>
                </a:solidFill>
              </a:rPr>
              <a:t>In practice: each deal is sold on a named delivery model, with contract, scope and billing matched to it, and delivery follows that same shape from qualification through staffing.</a:t>
            </a:r>
          </a:p>
        </p:txBody>
      </p:sp>
      <p:sp>
        <p:nvSpPr>
          <p:cNvPr id="50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Work is sold in shapes we cannot staff or deliver.</a:t>
            </a:r>
          </a:p>
          <a:p>
            <a:pPr marL="171450" indent="-171450">
              <a:spcAft>
                <a:spcPts val="300"/>
              </a:spcAft>
              <a:buFont typeface="Arial" panose="020B0604020202020204" pitchFamily="34" charset="0"/>
              <a:buChar char="•"/>
            </a:pPr>
            <a:r>
              <a:rPr lang="en-US" sz="1000"/>
              <a:t>There is no standardized, named set of delivery models that is declared at the point of sale, carried into contracting, enforced at staffing and used for delivery.</a:t>
            </a:r>
          </a:p>
          <a:p>
            <a:pPr marL="171450" indent="-171450">
              <a:spcAft>
                <a:spcPts val="300"/>
              </a:spcAft>
              <a:buFont typeface="Arial" panose="020B0604020202020204" pitchFamily="34" charset="0"/>
              <a:buChar char="•"/>
            </a:pPr>
            <a:r>
              <a:rPr lang="en-US" sz="1000"/>
              <a:t>The delivery approach is decided implicitly by whoever is making decisions at that moment, and it is often not understood until the symptoms are visible to the client or a pivot needs investment.</a:t>
            </a:r>
          </a:p>
        </p:txBody>
      </p:sp>
      <p:sp>
        <p:nvSpPr>
          <p:cNvPr id="50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Every engagement and every track gets a named delivery model from a small, standard set, declared before review and staffing.</a:t>
            </a:r>
          </a:p>
          <a:p>
            <a:pPr marL="171450" indent="-171450">
              <a:spcAft>
                <a:spcPts val="300"/>
              </a:spcAft>
              <a:buFont typeface="Arial" panose="020B0604020202020204" pitchFamily="34" charset="0"/>
              <a:buChar char="•"/>
            </a:pPr>
            <a:r>
              <a:rPr lang="en-US" sz="1000"/>
              <a:t>No SOW is signed without a model name attached, and that name determines governance.</a:t>
            </a:r>
          </a:p>
          <a:p>
            <a:pPr marL="171450" indent="-171450">
              <a:spcBef>
                <a:spcPts val="500"/>
              </a:spcBef>
              <a:spcAft>
                <a:spcPts val="300"/>
              </a:spcAft>
              <a:buFont typeface="Arial" panose="020B0604020202020204" pitchFamily="34" charset="0"/>
              <a:buChar char="•"/>
            </a:pPr>
            <a:r>
              <a:rPr lang="en-US" sz="1100" b="1">
                <a:solidFill>
                  <a:srgbClr val="000000"/>
                </a:solidFill>
              </a:rPr>
              <a:t>Four starting models</a:t>
            </a:r>
          </a:p>
          <a:p>
            <a:pPr marL="171450" indent="-171450">
              <a:spcAft>
                <a:spcPts val="300"/>
              </a:spcAft>
              <a:buFont typeface="Arial" panose="020B0604020202020204" pitchFamily="34" charset="0"/>
              <a:buChar char="•"/>
            </a:pPr>
            <a:r>
              <a:rPr lang="en-US" sz="1000"/>
              <a:t>Fixed Constraint Delivery, Velocity Based Delivery, Outcomes Based Delivery, Retainer</a:t>
            </a:r>
          </a:p>
          <a:p>
            <a:pPr marL="171450" indent="-171450">
              <a:spcBef>
                <a:spcPts val="500"/>
              </a:spcBef>
              <a:spcAft>
                <a:spcPts val="300"/>
              </a:spcAft>
              <a:buFont typeface="Arial" panose="020B0604020202020204" pitchFamily="34" charset="0"/>
              <a:buChar char="•"/>
            </a:pPr>
            <a:r>
              <a:rPr lang="en-US" sz="1100" b="1">
                <a:solidFill>
                  <a:srgbClr val="000000"/>
                </a:solidFill>
              </a:rPr>
              <a:t>MVP: three stories, all three must work together</a:t>
            </a:r>
          </a:p>
          <a:p>
            <a:pPr marL="171450" indent="-171450">
              <a:spcAft>
                <a:spcPts val="300"/>
              </a:spcAft>
              <a:buFont typeface="Arial" panose="020B0604020202020204" pitchFamily="34" charset="0"/>
              <a:buChar char="•"/>
            </a:pPr>
            <a:r>
              <a:rPr lang="en-US" sz="1000"/>
              <a:t>Delivery Models, Contracts, Methodology Standards</a:t>
            </a:r>
          </a:p>
        </p:txBody>
      </p:sp>
      <p:sp>
        <p:nvSpPr>
          <p:cNvPr id="50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We stop agreeing to unfeasible combinations, like fixed-price with no scope control.</a:t>
            </a:r>
          </a:p>
          <a:p>
            <a:pPr marL="171450" indent="-171450">
              <a:spcAft>
                <a:spcPts val="300"/>
              </a:spcAft>
              <a:buFont typeface="Arial" panose="020B0604020202020204" pitchFamily="34" charset="0"/>
              <a:buChar char="•"/>
            </a:pPr>
            <a:r>
              <a:rPr lang="en-US" sz="1000">
                <a:solidFill>
                  <a:srgbClr val="FFFFFF"/>
                </a:solidFill>
              </a:rPr>
              <a:t>Our pricing tools reflect true deliverability, not just theoretical margin.</a:t>
            </a:r>
          </a:p>
          <a:p>
            <a:pPr marL="171450" indent="-171450">
              <a:spcAft>
                <a:spcPts val="300"/>
              </a:spcAft>
              <a:buFont typeface="Arial" panose="020B0604020202020204" pitchFamily="34" charset="0"/>
              <a:buChar char="•"/>
            </a:pPr>
            <a:r>
              <a:rPr lang="en-US" sz="1000">
                <a:solidFill>
                  <a:srgbClr val="FFFFFF"/>
                </a:solidFill>
              </a:rPr>
              <a:t>We guide clients into how we work instead of inheriting whatever mix they bring.</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Supported by AI: estimation, pricing, and staffing follow once the MVP is solid, and we move toward metered or token-based commercial pricing.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1" name="Picture 510" descr="rail_p1.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12" name="Rounded Rectangle 51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513" name="Rounded Rectangle 51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Deal to Delivery Playbook: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Problem statement and recommendation drafted (Sept 16).</a:t>
            </a:r>
          </a:p>
          <a:p>
            <a:pPr marL="171450" indent="-171450">
              <a:spcAft>
                <a:spcPts val="600"/>
              </a:spcAft>
              <a:buFont typeface="Arial" panose="020B0604020202020204" pitchFamily="34" charset="0"/>
              <a:buChar char="•"/>
            </a:pPr>
            <a:r>
              <a:rPr lang="en-US" sz="1300"/>
              <a:t>Four model examples defined (Sept 16).</a:t>
            </a:r>
          </a:p>
          <a:p>
            <a:pPr marL="171450" indent="-171450">
              <a:spcAft>
                <a:spcPts val="600"/>
              </a:spcAft>
              <a:buFont typeface="Arial" panose="020B0604020202020204" pitchFamily="34" charset="0"/>
              <a:buChar char="•"/>
            </a:pPr>
            <a:r>
              <a:rPr lang="en-US" sz="1300"/>
              <a:t>Draft models gathered (Oct 16).</a:t>
            </a:r>
          </a:p>
        </p:txBody>
      </p:sp>
      <p:sp>
        <p:nvSpPr>
          <p:cNvPr id="50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Base Model rationalization across groups: week of Oct 26.</a:t>
            </a:r>
          </a:p>
          <a:p>
            <a:pPr marL="171450" indent="-171450">
              <a:spcAft>
                <a:spcPts val="600"/>
              </a:spcAft>
              <a:buFont typeface="Arial" panose="020B0604020202020204" pitchFamily="34" charset="0"/>
              <a:buChar char="•"/>
            </a:pPr>
            <a:r>
              <a:rPr lang="en-US" sz="1300"/>
              <a:t>Initial Models Well Defined: Oct 23, shifting to Nov 6.</a:t>
            </a:r>
          </a:p>
          <a:p>
            <a:pPr marL="171450" indent="-171450">
              <a:spcAft>
                <a:spcPts val="600"/>
              </a:spcAft>
              <a:buFont typeface="Arial" panose="020B0604020202020204" pitchFamily="34" charset="0"/>
              <a:buChar char="•"/>
            </a:pPr>
            <a:r>
              <a:rPr lang="en-US" sz="1300"/>
              <a:t>1st Batch of Models &amp; Program "Stack" Guidance: Nov 13.</a:t>
            </a:r>
          </a:p>
          <a:p>
            <a:pPr marL="171450" indent="-171450">
              <a:spcAft>
                <a:spcPts val="600"/>
              </a:spcAft>
              <a:buFont typeface="Arial" panose="020B0604020202020204" pitchFamily="34" charset="0"/>
              <a:buChar char="•"/>
            </a:pPr>
            <a:r>
              <a:rPr lang="en-US" sz="1300"/>
              <a:t>John and Chris are pulling together the problem statement, dependencies, size, and recommendation for the three MVP stories. We'll review what they bring back next time.</a:t>
            </a:r>
          </a:p>
        </p:txBody>
      </p:sp>
      <p:sp>
        <p:nvSpPr>
          <p:cNvPr id="51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Alignment on base model set (Delivery/Ops, Legal and Finance) and on model definition.</a:t>
            </a:r>
          </a:p>
          <a:p>
            <a:pPr marL="171450" indent="-171450">
              <a:spcAft>
                <a:spcPts val="600"/>
              </a:spcAft>
              <a:buFont typeface="Arial" panose="020B0604020202020204" pitchFamily="34" charset="0"/>
              <a:buChar char="•"/>
            </a:pPr>
            <a:r>
              <a:rPr lang="en-US" sz="1300" dirty="0">
                <a:solidFill>
                  <a:srgbClr val="FFFFFF"/>
                </a:solidFill>
              </a:rPr>
              <a:t>SME feedback, and intake routing.</a:t>
            </a:r>
          </a:p>
          <a:p>
            <a:pPr marL="171450" indent="-171450">
              <a:spcAft>
                <a:spcPts val="600"/>
              </a:spcAft>
              <a:buFont typeface="Arial" panose="020B0604020202020204" pitchFamily="34" charset="0"/>
              <a:buChar char="•"/>
            </a:pPr>
            <a:r>
              <a:rPr lang="en-US" sz="1300" dirty="0">
                <a:solidFill>
                  <a:srgbClr val="FFFFFF"/>
                </a:solidFill>
              </a:rPr>
              <a:t>Top risks: missed model(s) from the assessment, poor rollout and communication, and failure to use the models.</a:t>
            </a:r>
          </a:p>
          <a:p>
            <a:pPr marL="171450" indent="-171450">
              <a:spcAft>
                <a:spcPts val="600"/>
              </a:spcAft>
              <a:buFont typeface="Arial" panose="020B0604020202020204" pitchFamily="34" charset="0"/>
              <a:buChar char="•"/>
            </a:pPr>
            <a:r>
              <a:rPr lang="en-US" sz="1300" dirty="0">
                <a:solidFill>
                  <a:srgbClr val="FFFFFF"/>
                </a:solidFill>
              </a:rPr>
              <a:t>Everyone needs to lean in, support development of, and use these models. Participate, provide insights, give feedback, and embrace this initiative.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Bef>
                <a:spcPts val="400"/>
              </a:spcBef>
              <a:spcAft>
                <a:spcPts val="200"/>
              </a:spcAft>
            </a:pPr>
            <a:r>
              <a:rPr sz="850" b="1" i="0" cap="all" spc="100">
                <a:solidFill>
                  <a:srgbClr val="D6D6DF"/>
                </a:solidFill>
              </a:rPr>
              <a:t>Why this one, first</a:t>
            </a:r>
          </a:p>
          <a:p>
            <a:pPr algn="l">
              <a:spcAft>
                <a:spcPts val="600"/>
              </a:spcAft>
            </a:pPr>
            <a:r>
              <a:rPr sz="1800" b="1" i="0">
                <a:solidFill>
                  <a:srgbClr val="FFFFFF"/>
                </a:solidFill>
              </a:rPr>
              <a:t>Work is being sold in shapes we cannot staff or deliver, and that's costing us today — not a future risk.</a:t>
            </a:r>
          </a:p>
          <a:p>
            <a:pPr algn="l">
              <a:spcAft>
                <a:spcPts val="300"/>
              </a:spcAft>
            </a:pPr>
            <a:r>
              <a:rPr sz="1450" b="0" i="1">
                <a:solidFill>
                  <a:srgbClr val="D6D6DF"/>
                </a:solidFill>
              </a:rPr>
              <a:t>It's also our clearest answer to Play to Win's Delivery Excellence ask.</a:t>
            </a:r>
          </a:p>
        </p:txBody>
      </p:sp>
      <p:sp>
        <p:nvSpPr>
          <p:cNvPr id="510" name="Rounded Rectangle 509"/>
          <p:cNvSpPr/>
          <p:nvPr/>
        </p:nvSpPr>
        <p:spPr>
          <a:xfrm>
            <a:off x="457200" y="2570000"/>
            <a:ext cx="3659200" cy="24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82880" rIns="201168" bIns="91440"/>
          <a:lstStyle/>
          <a:p>
            <a:pPr algn="l">
              <a:spcBef>
                <a:spcPts val="400"/>
              </a:spcBef>
              <a:spcAft>
                <a:spcPts val="200"/>
              </a:spcAft>
            </a:pPr>
            <a:r>
              <a:rPr sz="850" b="1" i="0" cap="all" spc="100">
                <a:solidFill>
                  <a:srgbClr val="60607D"/>
                </a:solidFill>
              </a:rPr>
              <a:t>What's happening today</a:t>
            </a:r>
          </a:p>
          <a:p>
            <a:pPr algn="l">
              <a:spcAft>
                <a:spcPts val="500"/>
              </a:spcAft>
            </a:pPr>
            <a:r>
              <a:rPr sz="1250" b="0" i="0">
                <a:solidFill>
                  <a:srgbClr val="000000"/>
                </a:solidFill>
              </a:rPr>
              <a:t>There is no standardized, named set of delivery models, from which an individual or set of models is required to be declared at the point of sale, carried into contracting, enforced at staffing and used for delivery.</a:t>
            </a:r>
          </a:p>
        </p:txBody>
      </p:sp>
      <p:sp>
        <p:nvSpPr>
          <p:cNvPr id="511" name="Rounded Rectangle 510"/>
          <p:cNvSpPr/>
          <p:nvPr/>
        </p:nvSpPr>
        <p:spPr>
          <a:xfrm>
            <a:off x="4266400" y="2570000"/>
            <a:ext cx="3659200" cy="24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82880" rIns="201168" bIns="91440"/>
          <a:lstStyle/>
          <a:p>
            <a:pPr algn="l">
              <a:spcBef>
                <a:spcPts val="400"/>
              </a:spcBef>
              <a:spcAft>
                <a:spcPts val="200"/>
              </a:spcAft>
            </a:pPr>
            <a:r>
              <a:rPr sz="850" b="1" i="0" cap="all" spc="100">
                <a:solidFill>
                  <a:srgbClr val="60607D"/>
                </a:solidFill>
              </a:rPr>
              <a:t>As a result</a:t>
            </a:r>
          </a:p>
          <a:p>
            <a:pPr algn="l">
              <a:spcAft>
                <a:spcPts val="500"/>
              </a:spcAft>
            </a:pPr>
            <a:r>
              <a:rPr sz="1250" b="0" i="0">
                <a:solidFill>
                  <a:srgbClr val="000000"/>
                </a:solidFill>
              </a:rPr>
              <a:t>The delivery approach for any given engagement, or track within an engagement, is decided implicitly and independently by whoever happens to be making decisions at that moment (executives, Sales, CPs, Delivery leads, etc.), rather than through one shared educated decision.</a:t>
            </a:r>
          </a:p>
        </p:txBody>
      </p:sp>
      <p:sp>
        <p:nvSpPr>
          <p:cNvPr id="512" name="Rounded Rectangle 511"/>
          <p:cNvSpPr/>
          <p:nvPr/>
        </p:nvSpPr>
        <p:spPr>
          <a:xfrm>
            <a:off x="8075600" y="2570000"/>
            <a:ext cx="3659200" cy="24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182880" rIns="201168" bIns="91440"/>
          <a:lstStyle/>
          <a:p>
            <a:pPr algn="l">
              <a:spcBef>
                <a:spcPts val="400"/>
              </a:spcBef>
              <a:spcAft>
                <a:spcPts val="200"/>
              </a:spcAft>
            </a:pPr>
            <a:r>
              <a:rPr sz="850" b="1" i="0" cap="all" spc="100">
                <a:solidFill>
                  <a:srgbClr val="60607D"/>
                </a:solidFill>
              </a:rPr>
              <a:t>And then</a:t>
            </a:r>
          </a:p>
          <a:p>
            <a:pPr algn="l">
              <a:spcAft>
                <a:spcPts val="500"/>
              </a:spcAft>
            </a:pPr>
            <a:r>
              <a:rPr sz="1250" b="0" i="0">
                <a:solidFill>
                  <a:srgbClr val="000000"/>
                </a:solidFill>
              </a:rPr>
              <a:t>When these implicit decisions disagree with the type of engagement or client expectation, often it is not fully understood until the symptoms are already visible to the client, or we are at a point that a pivot will require investment.</a:t>
            </a:r>
          </a:p>
        </p:txBody>
      </p:sp>
      <p:sp>
        <p:nvSpPr>
          <p:cNvPr id="513" name="TextBox 512"/>
          <p:cNvSpPr txBox="1"/>
          <p:nvPr/>
        </p:nvSpPr>
        <p:spPr>
          <a:xfrm>
            <a:off x="457200" y="5170000"/>
            <a:ext cx="2743200" cy="182880"/>
          </a:xfrm>
          <a:prstGeom prst="rect">
            <a:avLst/>
          </a:prstGeom>
          <a:noFill/>
        </p:spPr>
        <p:txBody>
          <a:bodyPr wrap="square" lIns="0" rIns="0" tIns="0" bIns="0" anchor="t">
            <a:spAutoFit/>
          </a:bodyPr>
          <a:lstStyle/>
          <a:p>
            <a:pPr algn="l">
              <a:spcAft>
                <a:spcPts val="600"/>
              </a:spcAft>
            </a:pPr>
            <a:r>
              <a:rPr sz="1100" b="1" i="0" cap="all" spc="60">
                <a:solidFill>
                  <a:srgbClr val="000000"/>
                </a:solidFill>
              </a:rPr>
              <a:t>So we need</a:t>
            </a:r>
          </a:p>
        </p:txBody>
      </p:sp>
      <p:sp>
        <p:nvSpPr>
          <p:cNvPr id="514" name="Rounded Rectangle 513"/>
          <p:cNvSpPr/>
          <p:nvPr/>
        </p:nvSpPr>
        <p:spPr>
          <a:xfrm>
            <a:off x="457200" y="5426032"/>
            <a:ext cx="3659200" cy="64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rIns="182880"/>
          <a:lstStyle/>
          <a:p>
            <a:pPr algn="l">
              <a:spcBef>
                <a:spcPts val="500"/>
              </a:spcBef>
              <a:spcAft>
                <a:spcPts val="200"/>
              </a:spcAft>
            </a:pPr>
            <a:r>
              <a:rPr sz="1250" b="1" i="0">
                <a:solidFill>
                  <a:srgbClr val="000000"/>
                </a:solidFill>
              </a:rPr>
              <a:t>We need a small set of authorized delivery models</a:t>
            </a:r>
          </a:p>
        </p:txBody>
      </p:sp>
      <p:sp>
        <p:nvSpPr>
          <p:cNvPr id="515" name="Rounded Rectangle 514"/>
          <p:cNvSpPr/>
          <p:nvPr/>
        </p:nvSpPr>
        <p:spPr>
          <a:xfrm>
            <a:off x="4266400" y="5426032"/>
            <a:ext cx="3659200" cy="64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rIns="182880"/>
          <a:lstStyle/>
          <a:p>
            <a:pPr algn="l">
              <a:spcBef>
                <a:spcPts val="500"/>
              </a:spcBef>
              <a:spcAft>
                <a:spcPts val="200"/>
              </a:spcAft>
            </a:pPr>
            <a:r>
              <a:rPr sz="1250" b="1" i="0">
                <a:solidFill>
                  <a:srgbClr val="000000"/>
                </a:solidFill>
              </a:rPr>
              <a:t>That align approach, contract, and methodology standards</a:t>
            </a:r>
          </a:p>
        </p:txBody>
      </p:sp>
      <p:sp>
        <p:nvSpPr>
          <p:cNvPr id="516" name="Rounded Rectangle 515"/>
          <p:cNvSpPr/>
          <p:nvPr/>
        </p:nvSpPr>
        <p:spPr>
          <a:xfrm>
            <a:off x="8075600" y="5426032"/>
            <a:ext cx="3659200" cy="64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rIns="182880"/>
          <a:lstStyle/>
          <a:p>
            <a:pPr algn="l">
              <a:spcBef>
                <a:spcPts val="500"/>
              </a:spcBef>
              <a:spcAft>
                <a:spcPts val="200"/>
              </a:spcAft>
            </a:pPr>
            <a:r>
              <a:rPr sz="1250" b="1" i="0">
                <a:solidFill>
                  <a:srgbClr val="000000"/>
                </a:solidFill>
              </a:rPr>
              <a:t>Allowing us to improve how we solution, estimate, and deliver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457200" y="1170000"/>
            <a:ext cx="11277600" cy="502920"/>
          </a:xfrm>
          <a:prstGeom prst="rect">
            <a:avLst/>
          </a:prstGeom>
          <a:noFill/>
        </p:spPr>
        <p:txBody>
          <a:bodyPr wrap="square" lIns="0" rIns="0" tIns="0" bIns="0" anchor="t">
            <a:spAutoFit/>
          </a:bodyPr>
          <a:lstStyle/>
          <a:p>
            <a:pPr algn="l">
              <a:spcAft>
                <a:spcPts val="500"/>
              </a:spcAft>
            </a:pPr>
            <a:r>
              <a:rPr sz="1300" b="0" i="0">
                <a:solidFill>
                  <a:srgbClr val="000000"/>
                </a:solidFill>
              </a:rPr>
              <a:t>This will be delivered in an agile manner getting quick guidance out in Q4 and iteratively fleshed out and evolved with feedback loops to drive improvements.</a:t>
            </a:r>
          </a:p>
        </p:txBody>
      </p:sp>
      <p:sp>
        <p:nvSpPr>
          <p:cNvPr id="510" name="Rectangle 509"/>
          <p:cNvSpPr/>
          <p:nvPr/>
        </p:nvSpPr>
        <p:spPr>
          <a:xfrm>
            <a:off x="1544960" y="2011248"/>
            <a:ext cx="9102080" cy="19050"/>
          </a:xfrm>
          <a:prstGeom prst="rect">
            <a:avLst/>
          </a:prstGeom>
          <a:solidFill>
            <a:srgbClr val="D6D6DF"/>
          </a:solidFill>
          <a:ln>
            <a:noFill/>
          </a:ln>
        </p:spPr>
        <p:txBody>
          <a:bodyPr rtlCol="0" anchor="ctr"/>
          <a:lstStyle/>
          <a:p>
            <a:pPr algn="ctr"/>
          </a:p>
        </p:txBody>
      </p:sp>
      <p:sp>
        <p:nvSpPr>
          <p:cNvPr id="511" name="Oval 510"/>
          <p:cNvSpPr/>
          <p:nvPr/>
        </p:nvSpPr>
        <p:spPr>
          <a:xfrm>
            <a:off x="1444376" y="1919808"/>
            <a:ext cx="201168" cy="201168"/>
          </a:xfrm>
          <a:prstGeom prst="ellipse">
            <a:avLst/>
          </a:prstGeom>
          <a:solidFill>
            <a:srgbClr val="000000"/>
          </a:solidFill>
          <a:ln>
            <a:noFill/>
          </a:ln>
        </p:spPr>
        <p:txBody>
          <a:bodyPr rtlCol="0" anchor="ctr"/>
          <a:lstStyle/>
          <a:p>
            <a:pPr algn="ctr"/>
          </a:p>
        </p:txBody>
      </p:sp>
      <p:sp>
        <p:nvSpPr>
          <p:cNvPr id="512" name="Rounded Rectangle 511"/>
          <p:cNvSpPr/>
          <p:nvPr/>
        </p:nvSpPr>
        <p:spPr>
          <a:xfrm>
            <a:off x="457200" y="2267280"/>
            <a:ext cx="2175520" cy="1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37160" tIns="109728" rIns="109728" bIns="54864"/>
          <a:lstStyle/>
          <a:p>
            <a:pPr algn="l">
              <a:spcBef>
                <a:spcPts val="400"/>
              </a:spcBef>
              <a:spcAft>
                <a:spcPts val="200"/>
              </a:spcAft>
            </a:pPr>
            <a:r>
              <a:rPr sz="850" b="1" i="0" cap="all" spc="100">
                <a:solidFill>
                  <a:srgbClr val="60607D"/>
                </a:solidFill>
              </a:rPr>
              <a:t>Done</a:t>
            </a:r>
          </a:p>
          <a:p>
            <a:pPr algn="l">
              <a:spcAft>
                <a:spcPts val="600"/>
              </a:spcAft>
            </a:pPr>
            <a:r>
              <a:rPr sz="1500" b="1" i="0">
                <a:solidFill>
                  <a:srgbClr val="000000"/>
                </a:solidFill>
              </a:rPr>
              <a:t>Oct 16</a:t>
            </a:r>
          </a:p>
          <a:p>
            <a:pPr algn="l">
              <a:spcAft>
                <a:spcPts val="500"/>
              </a:spcAft>
            </a:pPr>
            <a:r>
              <a:rPr sz="1300" b="0" i="0">
                <a:solidFill>
                  <a:srgbClr val="000000"/>
                </a:solidFill>
              </a:rPr>
              <a:t>Draft models gathered</a:t>
            </a:r>
          </a:p>
        </p:txBody>
      </p:sp>
      <p:sp>
        <p:nvSpPr>
          <p:cNvPr id="513" name="Oval 512"/>
          <p:cNvSpPr/>
          <p:nvPr/>
        </p:nvSpPr>
        <p:spPr>
          <a:xfrm>
            <a:off x="3719896" y="1919808"/>
            <a:ext cx="201168" cy="201168"/>
          </a:xfrm>
          <a:prstGeom prst="ellipse">
            <a:avLst/>
          </a:prstGeom>
          <a:solidFill>
            <a:srgbClr val="FFFFFF"/>
          </a:solidFill>
          <a:ln w="19050">
            <a:solidFill>
              <a:srgbClr val="000000"/>
            </a:solidFill>
          </a:ln>
        </p:spPr>
        <p:txBody>
          <a:bodyPr rtlCol="0" anchor="ctr"/>
          <a:lstStyle/>
          <a:p>
            <a:pPr algn="ctr"/>
          </a:p>
        </p:txBody>
      </p:sp>
      <p:sp>
        <p:nvSpPr>
          <p:cNvPr id="514" name="Rounded Rectangle 513"/>
          <p:cNvSpPr/>
          <p:nvPr/>
        </p:nvSpPr>
        <p:spPr>
          <a:xfrm>
            <a:off x="2732720" y="2267280"/>
            <a:ext cx="2175520" cy="1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37160" tIns="109728" rIns="109728" bIns="54864"/>
          <a:lstStyle/>
          <a:p>
            <a:pPr algn="l">
              <a:spcBef>
                <a:spcPts val="400"/>
              </a:spcBef>
              <a:spcAft>
                <a:spcPts val="200"/>
              </a:spcAft>
            </a:pPr>
            <a:r>
              <a:rPr sz="850" b="1" i="0" cap="all" spc="100">
                <a:solidFill>
                  <a:srgbClr val="60607D"/>
                </a:solidFill>
              </a:rPr>
              <a:t>Next</a:t>
            </a:r>
          </a:p>
          <a:p>
            <a:pPr algn="l">
              <a:spcAft>
                <a:spcPts val="600"/>
              </a:spcAft>
            </a:pPr>
            <a:r>
              <a:rPr sz="1500" b="1" i="0">
                <a:solidFill>
                  <a:srgbClr val="000000"/>
                </a:solidFill>
              </a:rPr>
              <a:t>Week of Oct 26</a:t>
            </a:r>
          </a:p>
          <a:p>
            <a:pPr algn="l">
              <a:spcAft>
                <a:spcPts val="500"/>
              </a:spcAft>
            </a:pPr>
            <a:r>
              <a:rPr sz="1300" b="0" i="0">
                <a:solidFill>
                  <a:srgbClr val="000000"/>
                </a:solidFill>
              </a:rPr>
              <a:t>Base Model rationalization across groups</a:t>
            </a:r>
          </a:p>
        </p:txBody>
      </p:sp>
      <p:sp>
        <p:nvSpPr>
          <p:cNvPr id="515" name="Oval 514"/>
          <p:cNvSpPr/>
          <p:nvPr/>
        </p:nvSpPr>
        <p:spPr>
          <a:xfrm>
            <a:off x="5995416" y="1919808"/>
            <a:ext cx="201168" cy="201168"/>
          </a:xfrm>
          <a:prstGeom prst="ellipse">
            <a:avLst/>
          </a:prstGeom>
          <a:solidFill>
            <a:srgbClr val="FFFFFF"/>
          </a:solidFill>
          <a:ln w="19050">
            <a:solidFill>
              <a:srgbClr val="000000"/>
            </a:solidFill>
          </a:ln>
        </p:spPr>
        <p:txBody>
          <a:bodyPr rtlCol="0" anchor="ctr"/>
          <a:lstStyle/>
          <a:p>
            <a:pPr algn="ctr"/>
          </a:p>
        </p:txBody>
      </p:sp>
      <p:sp>
        <p:nvSpPr>
          <p:cNvPr id="516" name="Rounded Rectangle 515"/>
          <p:cNvSpPr/>
          <p:nvPr/>
        </p:nvSpPr>
        <p:spPr>
          <a:xfrm>
            <a:off x="5008240" y="2267280"/>
            <a:ext cx="2175520" cy="1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37160" tIns="109728" rIns="109728" bIns="54864"/>
          <a:lstStyle/>
          <a:p>
            <a:pPr algn="l">
              <a:spcBef>
                <a:spcPts val="400"/>
              </a:spcBef>
              <a:spcAft>
                <a:spcPts val="200"/>
              </a:spcAft>
            </a:pPr>
            <a:r>
              <a:rPr sz="850" b="1" i="0" cap="all" spc="100">
                <a:solidFill>
                  <a:srgbClr val="60607D"/>
                </a:solidFill>
              </a:rPr>
              <a:t>Next</a:t>
            </a:r>
          </a:p>
          <a:p>
            <a:pPr algn="l">
              <a:spcAft>
                <a:spcPts val="600"/>
              </a:spcAft>
            </a:pPr>
            <a:r>
              <a:rPr sz="1500" b="1" i="0">
                <a:solidFill>
                  <a:srgbClr val="000000"/>
                </a:solidFill>
              </a:rPr>
              <a:t>Nov 6</a:t>
            </a:r>
          </a:p>
          <a:p>
            <a:pPr algn="l">
              <a:spcAft>
                <a:spcPts val="500"/>
              </a:spcAft>
            </a:pPr>
            <a:r>
              <a:rPr sz="1300" b="0" i="0">
                <a:solidFill>
                  <a:srgbClr val="000000"/>
                </a:solidFill>
              </a:rPr>
              <a:t>Initial Models Well Defined</a:t>
            </a:r>
          </a:p>
          <a:p>
            <a:pPr algn="l">
              <a:spcAft>
                <a:spcPts val="300"/>
              </a:spcAft>
            </a:pPr>
            <a:r>
              <a:rPr sz="1150" b="0" i="1">
                <a:solidFill>
                  <a:srgbClr val="60607D"/>
                </a:solidFill>
              </a:rPr>
              <a:t>Shifting from Oct 23. Will include iterative reviews with department leads and defined SMEs.</a:t>
            </a:r>
          </a:p>
        </p:txBody>
      </p:sp>
      <p:sp>
        <p:nvSpPr>
          <p:cNvPr id="517" name="Oval 516"/>
          <p:cNvSpPr/>
          <p:nvPr/>
        </p:nvSpPr>
        <p:spPr>
          <a:xfrm>
            <a:off x="8270936" y="1919808"/>
            <a:ext cx="201168" cy="201168"/>
          </a:xfrm>
          <a:prstGeom prst="ellipse">
            <a:avLst/>
          </a:prstGeom>
          <a:solidFill>
            <a:srgbClr val="FFFFFF"/>
          </a:solidFill>
          <a:ln w="19050">
            <a:solidFill>
              <a:srgbClr val="000000"/>
            </a:solidFill>
          </a:ln>
        </p:spPr>
        <p:txBody>
          <a:bodyPr rtlCol="0" anchor="ctr"/>
          <a:lstStyle/>
          <a:p>
            <a:pPr algn="ctr"/>
          </a:p>
        </p:txBody>
      </p:sp>
      <p:sp>
        <p:nvSpPr>
          <p:cNvPr id="518" name="Rounded Rectangle 517"/>
          <p:cNvSpPr/>
          <p:nvPr/>
        </p:nvSpPr>
        <p:spPr>
          <a:xfrm>
            <a:off x="7283760" y="2267280"/>
            <a:ext cx="2175520" cy="1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37160" tIns="109728" rIns="109728" bIns="54864"/>
          <a:lstStyle/>
          <a:p>
            <a:pPr algn="l">
              <a:spcBef>
                <a:spcPts val="400"/>
              </a:spcBef>
              <a:spcAft>
                <a:spcPts val="200"/>
              </a:spcAft>
            </a:pPr>
            <a:r>
              <a:rPr sz="850" b="1" i="0" cap="all" spc="100">
                <a:solidFill>
                  <a:srgbClr val="60607D"/>
                </a:solidFill>
              </a:rPr>
              <a:t>Next</a:t>
            </a:r>
          </a:p>
          <a:p>
            <a:pPr algn="l">
              <a:spcAft>
                <a:spcPts val="600"/>
              </a:spcAft>
            </a:pPr>
            <a:r>
              <a:rPr sz="1500" b="1" i="0">
                <a:solidFill>
                  <a:srgbClr val="000000"/>
                </a:solidFill>
              </a:rPr>
              <a:t>Nov 13</a:t>
            </a:r>
          </a:p>
          <a:p>
            <a:pPr algn="l">
              <a:spcAft>
                <a:spcPts val="500"/>
              </a:spcAft>
            </a:pPr>
            <a:r>
              <a:rPr sz="1300" b="0" i="0">
                <a:solidFill>
                  <a:srgbClr val="000000"/>
                </a:solidFill>
              </a:rPr>
              <a:t>1st Batch of Models &amp; Program "Stack" Guidance</a:t>
            </a:r>
          </a:p>
        </p:txBody>
      </p:sp>
      <p:sp>
        <p:nvSpPr>
          <p:cNvPr id="519" name="Oval 518"/>
          <p:cNvSpPr/>
          <p:nvPr/>
        </p:nvSpPr>
        <p:spPr>
          <a:xfrm>
            <a:off x="10546456" y="1919808"/>
            <a:ext cx="201168" cy="201168"/>
          </a:xfrm>
          <a:prstGeom prst="ellipse">
            <a:avLst/>
          </a:prstGeom>
          <a:solidFill>
            <a:srgbClr val="FFFFFF"/>
          </a:solidFill>
          <a:ln w="19050">
            <a:solidFill>
              <a:srgbClr val="D6D6DF"/>
            </a:solidFill>
          </a:ln>
        </p:spPr>
        <p:txBody>
          <a:bodyPr rtlCol="0" anchor="ctr"/>
          <a:lstStyle/>
          <a:p>
            <a:pPr algn="ctr"/>
          </a:p>
        </p:txBody>
      </p:sp>
      <p:sp>
        <p:nvSpPr>
          <p:cNvPr id="520" name="Rounded Rectangle 519"/>
          <p:cNvSpPr/>
          <p:nvPr/>
        </p:nvSpPr>
        <p:spPr>
          <a:xfrm>
            <a:off x="9559280" y="2267280"/>
            <a:ext cx="2175520" cy="19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137160" tIns="109728" rIns="109728" bIns="54864"/>
          <a:lstStyle/>
          <a:p>
            <a:pPr algn="l">
              <a:spcBef>
                <a:spcPts val="400"/>
              </a:spcBef>
              <a:spcAft>
                <a:spcPts val="200"/>
              </a:spcAft>
            </a:pPr>
            <a:r>
              <a:rPr sz="850" b="1" i="0" cap="all" spc="100">
                <a:solidFill>
                  <a:srgbClr val="60607D"/>
                </a:solidFill>
              </a:rPr>
              <a:t>The target</a:t>
            </a:r>
          </a:p>
          <a:p>
            <a:pPr algn="l">
              <a:spcAft>
                <a:spcPts val="600"/>
              </a:spcAft>
            </a:pPr>
            <a:r>
              <a:rPr sz="1500" b="1" i="0">
                <a:solidFill>
                  <a:srgbClr val="000000"/>
                </a:solidFill>
              </a:rPr>
              <a:t>MVP done</a:t>
            </a:r>
          </a:p>
          <a:p>
            <a:pPr algn="l">
              <a:spcAft>
                <a:spcPts val="500"/>
              </a:spcAft>
            </a:pPr>
            <a:r>
              <a:rPr sz="1250" b="0" i="1">
                <a:solidFill>
                  <a:srgbClr val="60607D"/>
                </a:solidFill>
              </a:rPr>
              <a:t>[The date we are shooting for.]</a:t>
            </a:r>
          </a:p>
        </p:txBody>
      </p:sp>
      <p:sp>
        <p:nvSpPr>
          <p:cNvPr id="521" name="Rounded Rectangle 520"/>
          <p:cNvSpPr/>
          <p:nvPr/>
        </p:nvSpPr>
        <p:spPr>
          <a:xfrm>
            <a:off x="457200" y="4317280"/>
            <a:ext cx="3600000" cy="15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Owners</a:t>
            </a:r>
          </a:p>
        </p:txBody>
      </p:sp>
      <p:sp>
        <p:nvSpPr>
          <p:cNvPr id="522" name="Rounded Rectangle 521"/>
          <p:cNvSpPr/>
          <p:nvPr/>
        </p:nvSpPr>
        <p:spPr>
          <a:xfrm>
            <a:off x="667512" y="4701328"/>
            <a:ext cx="1316736"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Missy Foristall</a:t>
            </a:r>
          </a:p>
        </p:txBody>
      </p:sp>
      <p:sp>
        <p:nvSpPr>
          <p:cNvPr id="523" name="Rounded Rectangle 522"/>
          <p:cNvSpPr/>
          <p:nvPr/>
        </p:nvSpPr>
        <p:spPr>
          <a:xfrm>
            <a:off x="2066544" y="4701328"/>
            <a:ext cx="117774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Chris McComas</a:t>
            </a:r>
          </a:p>
        </p:txBody>
      </p:sp>
      <p:sp>
        <p:nvSpPr>
          <p:cNvPr id="524" name="Rounded Rectangle 523"/>
          <p:cNvSpPr/>
          <p:nvPr/>
        </p:nvSpPr>
        <p:spPr>
          <a:xfrm>
            <a:off x="667512" y="5094520"/>
            <a:ext cx="117774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Deana Derocha</a:t>
            </a:r>
          </a:p>
        </p:txBody>
      </p:sp>
      <p:sp>
        <p:nvSpPr>
          <p:cNvPr id="525" name="Rounded Rectangle 524"/>
          <p:cNvSpPr/>
          <p:nvPr/>
        </p:nvSpPr>
        <p:spPr>
          <a:xfrm>
            <a:off x="4207200" y="4317280"/>
            <a:ext cx="2100000" cy="15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Team</a:t>
            </a:r>
          </a:p>
        </p:txBody>
      </p:sp>
      <p:sp>
        <p:nvSpPr>
          <p:cNvPr id="526" name="Rounded Rectangle 525"/>
          <p:cNvSpPr/>
          <p:nvPr/>
        </p:nvSpPr>
        <p:spPr>
          <a:xfrm>
            <a:off x="4417512" y="4701328"/>
            <a:ext cx="55229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John</a:t>
            </a:r>
          </a:p>
        </p:txBody>
      </p:sp>
      <p:sp>
        <p:nvSpPr>
          <p:cNvPr id="527" name="Rounded Rectangle 526"/>
          <p:cNvSpPr/>
          <p:nvPr/>
        </p:nvSpPr>
        <p:spPr>
          <a:xfrm>
            <a:off x="5052105" y="4701328"/>
            <a:ext cx="621792"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Chris</a:t>
            </a:r>
          </a:p>
        </p:txBody>
      </p:sp>
      <p:sp>
        <p:nvSpPr>
          <p:cNvPr id="528" name="Rounded Rectangle 527"/>
          <p:cNvSpPr/>
          <p:nvPr/>
        </p:nvSpPr>
        <p:spPr>
          <a:xfrm>
            <a:off x="6457200" y="4317280"/>
            <a:ext cx="5277600" cy="15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Partners</a:t>
            </a:r>
          </a:p>
        </p:txBody>
      </p:sp>
      <p:sp>
        <p:nvSpPr>
          <p:cNvPr id="529" name="Rounded Rectangle 528"/>
          <p:cNvSpPr/>
          <p:nvPr/>
        </p:nvSpPr>
        <p:spPr>
          <a:xfrm>
            <a:off x="6667512" y="4701328"/>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BU COOs</a:t>
            </a:r>
          </a:p>
        </p:txBody>
      </p:sp>
      <p:sp>
        <p:nvSpPr>
          <p:cNvPr id="530" name="Rounded Rectangle 529"/>
          <p:cNvSpPr/>
          <p:nvPr/>
        </p:nvSpPr>
        <p:spPr>
          <a:xfrm>
            <a:off x="7510588" y="4701328"/>
            <a:ext cx="1247241"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Delivery Leads</a:t>
            </a:r>
          </a:p>
        </p:txBody>
      </p:sp>
      <p:sp>
        <p:nvSpPr>
          <p:cNvPr id="531" name="Rounded Rectangle 530"/>
          <p:cNvSpPr/>
          <p:nvPr/>
        </p:nvSpPr>
        <p:spPr>
          <a:xfrm>
            <a:off x="8840125" y="4701328"/>
            <a:ext cx="228965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Enterprise Project Management</a:t>
            </a:r>
          </a:p>
        </p:txBody>
      </p:sp>
      <p:sp>
        <p:nvSpPr>
          <p:cNvPr id="532" name="Rounded Rectangle 531"/>
          <p:cNvSpPr/>
          <p:nvPr/>
        </p:nvSpPr>
        <p:spPr>
          <a:xfrm>
            <a:off x="6667512" y="5094520"/>
            <a:ext cx="2011679"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Client &amp; Commercial teams</a:t>
            </a:r>
          </a:p>
        </p:txBody>
      </p:sp>
      <p:sp>
        <p:nvSpPr>
          <p:cNvPr id="533" name="Rounded Rectangle 532"/>
          <p:cNvSpPr/>
          <p:nvPr/>
        </p:nvSpPr>
        <p:spPr>
          <a:xfrm>
            <a:off x="8761487" y="5094520"/>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Finance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stories: MVP, then what comes after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457200" y="1170000"/>
            <a:ext cx="7000000" cy="548640"/>
          </a:xfrm>
          <a:prstGeom prst="rect">
            <a:avLst/>
          </a:prstGeom>
          <a:noFill/>
        </p:spPr>
        <p:txBody>
          <a:bodyPr wrap="square" lIns="0" rIns="0" tIns="0" bIns="0" anchor="t">
            <a:spAutoFit/>
          </a:bodyPr>
          <a:lstStyle/>
          <a:p>
            <a:pPr algn="l">
              <a:spcAft>
                <a:spcPts val="600"/>
              </a:spcAft>
            </a:pPr>
            <a:r>
              <a:rPr sz="1100" b="1" i="0" cap="all" spc="60">
                <a:solidFill>
                  <a:srgbClr val="000000"/>
                </a:solidFill>
              </a:rPr>
              <a:t>The MVP</a:t>
            </a:r>
          </a:p>
          <a:p>
            <a:pPr algn="l">
              <a:spcAft>
                <a:spcPts val="500"/>
              </a:spcAft>
            </a:pPr>
            <a:r>
              <a:rPr sz="1200" b="0" i="0">
                <a:solidFill>
                  <a:srgbClr val="000000"/>
                </a:solidFill>
              </a:rPr>
              <a:t>Three stories, not one, because all three must work together for this to work.</a:t>
            </a:r>
          </a:p>
        </p:txBody>
      </p:sp>
      <p:sp>
        <p:nvSpPr>
          <p:cNvPr id="510" name="TextBox 509"/>
          <p:cNvSpPr txBox="1"/>
          <p:nvPr/>
        </p:nvSpPr>
        <p:spPr>
          <a:xfrm>
            <a:off x="7607200" y="1170000"/>
            <a:ext cx="4127600" cy="548640"/>
          </a:xfrm>
          <a:prstGeom prst="rect">
            <a:avLst/>
          </a:prstGeom>
          <a:noFill/>
        </p:spPr>
        <p:txBody>
          <a:bodyPr wrap="square" lIns="0" rIns="0" tIns="0" bIns="0" anchor="t">
            <a:spAutoFit/>
          </a:bodyPr>
          <a:lstStyle/>
          <a:p>
            <a:pPr algn="l">
              <a:spcAft>
                <a:spcPts val="600"/>
              </a:spcAft>
            </a:pPr>
            <a:r>
              <a:rPr sz="1100" b="1" i="0" cap="all" spc="60">
                <a:solidFill>
                  <a:srgbClr val="000000"/>
                </a:solidFill>
              </a:rPr>
              <a:t>After the MVP</a:t>
            </a:r>
          </a:p>
          <a:p>
            <a:pPr algn="l">
              <a:spcAft>
                <a:spcPts val="500"/>
              </a:spcAft>
            </a:pPr>
            <a:r>
              <a:rPr sz="1200" b="0" i="0">
                <a:solidFill>
                  <a:srgbClr val="000000"/>
                </a:solidFill>
              </a:rPr>
              <a:t>Supported by AI: Estimation, Pricing, and Staffing follow once the MVP is solid.</a:t>
            </a:r>
          </a:p>
        </p:txBody>
      </p:sp>
      <p:sp>
        <p:nvSpPr>
          <p:cNvPr id="511" name="Rounded Rectangle 510"/>
          <p:cNvSpPr/>
          <p:nvPr/>
        </p:nvSpPr>
        <p:spPr>
          <a:xfrm>
            <a:off x="457200" y="1883232"/>
            <a:ext cx="7000000" cy="130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713232" tIns="91440" rIns="1371600"/>
          <a:lstStyle/>
          <a:p>
            <a:pPr algn="l">
              <a:spcBef>
                <a:spcPts val="500"/>
              </a:spcBef>
              <a:spcAft>
                <a:spcPts val="200"/>
              </a:spcAft>
            </a:pPr>
            <a:r>
              <a:rPr sz="1200" b="1" i="0">
                <a:solidFill>
                  <a:srgbClr val="000000"/>
                </a:solidFill>
              </a:rPr>
              <a:t>Delivery Models</a:t>
            </a:r>
          </a:p>
          <a:p>
            <a:pPr algn="l">
              <a:spcAft>
                <a:spcPts val="500"/>
              </a:spcAft>
            </a:pPr>
            <a:r>
              <a:rPr sz="1200" b="0" i="0">
                <a:solidFill>
                  <a:srgbClr val="000000"/>
                </a:solidFill>
              </a:rPr>
              <a:t>Every deal categorized at qualification into one of 5-6 core models, so pricing and staffing follow a known shape.</a:t>
            </a:r>
          </a:p>
        </p:txBody>
      </p:sp>
      <p:sp>
        <p:nvSpPr>
          <p:cNvPr id="512" name="Oval 511"/>
          <p:cNvSpPr/>
          <p:nvPr/>
        </p:nvSpPr>
        <p:spPr>
          <a:xfrm>
            <a:off x="640080" y="2350352"/>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1</a:t>
            </a:r>
          </a:p>
        </p:txBody>
      </p:sp>
      <p:sp>
        <p:nvSpPr>
          <p:cNvPr id="513" name="Rounded Rectangle 512"/>
          <p:cNvSpPr/>
          <p:nvPr/>
        </p:nvSpPr>
        <p:spPr>
          <a:xfrm>
            <a:off x="6222760" y="2396072"/>
            <a:ext cx="105156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14" name="Rounded Rectangle 513"/>
          <p:cNvSpPr/>
          <p:nvPr/>
        </p:nvSpPr>
        <p:spPr>
          <a:xfrm>
            <a:off x="457200" y="3283232"/>
            <a:ext cx="7000000" cy="130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713232" tIns="91440" rIns="1371600"/>
          <a:lstStyle/>
          <a:p>
            <a:pPr algn="l">
              <a:spcBef>
                <a:spcPts val="500"/>
              </a:spcBef>
              <a:spcAft>
                <a:spcPts val="200"/>
              </a:spcAft>
            </a:pPr>
            <a:r>
              <a:rPr sz="1200" b="1" i="0">
                <a:solidFill>
                  <a:srgbClr val="000000"/>
                </a:solidFill>
              </a:rPr>
              <a:t>Contracts</a:t>
            </a:r>
          </a:p>
          <a:p>
            <a:pPr algn="l">
              <a:spcAft>
                <a:spcPts val="500"/>
              </a:spcAft>
            </a:pPr>
            <a:r>
              <a:rPr sz="1200" b="0" i="0">
                <a:solidFill>
                  <a:srgbClr val="000000"/>
                </a:solidFill>
              </a:rPr>
              <a:t>Terms, scope language, and billing matched to the chosen model — no more fixed price with no scope control.</a:t>
            </a:r>
          </a:p>
        </p:txBody>
      </p:sp>
      <p:sp>
        <p:nvSpPr>
          <p:cNvPr id="515" name="Oval 514"/>
          <p:cNvSpPr/>
          <p:nvPr/>
        </p:nvSpPr>
        <p:spPr>
          <a:xfrm>
            <a:off x="640080" y="3750352"/>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2</a:t>
            </a:r>
          </a:p>
        </p:txBody>
      </p:sp>
      <p:sp>
        <p:nvSpPr>
          <p:cNvPr id="516" name="Rounded Rectangle 515"/>
          <p:cNvSpPr/>
          <p:nvPr/>
        </p:nvSpPr>
        <p:spPr>
          <a:xfrm>
            <a:off x="6222760" y="3796072"/>
            <a:ext cx="105156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17" name="Rounded Rectangle 516"/>
          <p:cNvSpPr/>
          <p:nvPr/>
        </p:nvSpPr>
        <p:spPr>
          <a:xfrm>
            <a:off x="457200" y="4683232"/>
            <a:ext cx="7000000" cy="1300000"/>
          </a:xfrm>
          <a:prstGeom prst="roundRect">
            <a:avLst>
              <a:gd name="adj" fmla="val 6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713232" tIns="91440" rIns="1371600"/>
          <a:lstStyle/>
          <a:p>
            <a:pPr algn="l">
              <a:spcBef>
                <a:spcPts val="500"/>
              </a:spcBef>
              <a:spcAft>
                <a:spcPts val="200"/>
              </a:spcAft>
            </a:pPr>
            <a:r>
              <a:rPr sz="1200" b="1" i="0">
                <a:solidFill>
                  <a:srgbClr val="000000"/>
                </a:solidFill>
              </a:rPr>
              <a:t>Methodology Standards</a:t>
            </a:r>
          </a:p>
          <a:p>
            <a:pPr algn="l">
              <a:spcAft>
                <a:spcPts val="500"/>
              </a:spcAft>
            </a:pPr>
            <a:r>
              <a:rPr sz="1200" b="0" i="0">
                <a:solidFill>
                  <a:srgbClr val="000000"/>
                </a:solidFill>
              </a:rPr>
              <a:t>Clear working practices, so we guide clients into how we work instead of inheriting whatever mix they bring.</a:t>
            </a:r>
          </a:p>
        </p:txBody>
      </p:sp>
      <p:sp>
        <p:nvSpPr>
          <p:cNvPr id="518" name="Oval 517"/>
          <p:cNvSpPr/>
          <p:nvPr/>
        </p:nvSpPr>
        <p:spPr>
          <a:xfrm>
            <a:off x="640080" y="5150352"/>
            <a:ext cx="365760" cy="365760"/>
          </a:xfrm>
          <a:prstGeom prst="ellipse">
            <a:avLst/>
          </a:prstGeom>
          <a:solidFill>
            <a:srgbClr val="000000"/>
          </a:solidFill>
          <a:ln>
            <a:noFill/>
          </a:ln>
        </p:spPr>
        <p:txBody>
          <a:bodyPr rtlCol="0" anchor="ctr" lIns="0" rIns="0" tIns="0" bIns="0"/>
          <a:lstStyle/>
          <a:p>
            <a:pPr algn="ctr"/>
            <a:r>
              <a:rPr sz="1200" b="1" i="0">
                <a:solidFill>
                  <a:srgbClr val="FFFFFF"/>
                </a:solidFill>
              </a:rPr>
              <a:t>3</a:t>
            </a:r>
          </a:p>
        </p:txBody>
      </p:sp>
      <p:sp>
        <p:nvSpPr>
          <p:cNvPr id="519" name="Rounded Rectangle 518"/>
          <p:cNvSpPr/>
          <p:nvPr/>
        </p:nvSpPr>
        <p:spPr>
          <a:xfrm>
            <a:off x="6222760" y="5196072"/>
            <a:ext cx="1051560" cy="274320"/>
          </a:xfrm>
          <a:prstGeom prst="roundRect">
            <a:avLst>
              <a:gd name="adj" fmla="val 50000"/>
            </a:avLst>
          </a:prstGeom>
          <a:solidFill>
            <a:srgbClr val="FFFFFF"/>
          </a:solidFill>
          <a:ln w="12700">
            <a:solidFill>
              <a:srgbClr val="60607D"/>
            </a:solidFill>
          </a:ln>
        </p:spPr>
        <p:txBody>
          <a:bodyPr rtlCol="0" anchor="ctr" lIns="0" rIns="0" tIns="0" bIns="0"/>
          <a:lstStyle/>
          <a:p>
            <a:pPr algn="ctr"/>
            <a:r>
              <a:rPr sz="800" b="1" i="1" cap="all" spc="60">
                <a:solidFill>
                  <a:srgbClr val="60607D"/>
                </a:solidFill>
              </a:rPr>
              <a:t>[Status]</a:t>
            </a:r>
          </a:p>
        </p:txBody>
      </p:sp>
      <p:sp>
        <p:nvSpPr>
          <p:cNvPr id="520" name="Rounded Rectangle 519"/>
          <p:cNvSpPr/>
          <p:nvPr/>
        </p:nvSpPr>
        <p:spPr>
          <a:xfrm>
            <a:off x="7607200" y="1883232"/>
            <a:ext cx="4127600" cy="13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713232" tIns="91440" rIns="182880"/>
          <a:lstStyle/>
          <a:p>
            <a:pPr algn="l">
              <a:spcBef>
                <a:spcPts val="500"/>
              </a:spcBef>
              <a:spcAft>
                <a:spcPts val="200"/>
              </a:spcAft>
            </a:pPr>
            <a:r>
              <a:rPr sz="1200" b="1" i="0">
                <a:solidFill>
                  <a:srgbClr val="FFFFFF"/>
                </a:solidFill>
              </a:rPr>
              <a:t>Estimation</a:t>
            </a:r>
          </a:p>
          <a:p>
            <a:pPr algn="l">
              <a:spcAft>
                <a:spcPts val="500"/>
              </a:spcAft>
            </a:pPr>
            <a:r>
              <a:rPr sz="1200" b="0" i="0">
                <a:solidFill>
                  <a:srgbClr val="FFFFFF"/>
                </a:solidFill>
              </a:rPr>
              <a:t>This playbook ends siloed estimation by bringing the right people in before the deal closes.</a:t>
            </a:r>
          </a:p>
        </p:txBody>
      </p:sp>
      <p:sp>
        <p:nvSpPr>
          <p:cNvPr id="521" name="Oval 520"/>
          <p:cNvSpPr/>
          <p:nvPr/>
        </p:nvSpPr>
        <p:spPr>
          <a:xfrm>
            <a:off x="7790080" y="2350352"/>
            <a:ext cx="365760" cy="365760"/>
          </a:xfrm>
          <a:prstGeom prst="ellipse">
            <a:avLst/>
          </a:prstGeom>
          <a:solidFill>
            <a:srgbClr val="FFFFFF"/>
          </a:solidFill>
          <a:ln>
            <a:noFill/>
          </a:ln>
        </p:spPr>
        <p:txBody>
          <a:bodyPr rtlCol="0" anchor="ctr" lIns="0" rIns="0" tIns="0" bIns="0"/>
          <a:lstStyle/>
          <a:p>
            <a:pPr algn="ctr"/>
            <a:r>
              <a:rPr sz="1200" b="1" i="0">
                <a:solidFill>
                  <a:srgbClr val="000000"/>
                </a:solidFill>
              </a:rPr>
              <a:t>4</a:t>
            </a:r>
          </a:p>
        </p:txBody>
      </p:sp>
      <p:sp>
        <p:nvSpPr>
          <p:cNvPr id="522" name="Rounded Rectangle 521"/>
          <p:cNvSpPr/>
          <p:nvPr/>
        </p:nvSpPr>
        <p:spPr>
          <a:xfrm>
            <a:off x="7607200" y="3283232"/>
            <a:ext cx="4127600" cy="13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713232" tIns="91440" rIns="182880"/>
          <a:lstStyle/>
          <a:p>
            <a:pPr algn="l">
              <a:spcBef>
                <a:spcPts val="500"/>
              </a:spcBef>
              <a:spcAft>
                <a:spcPts val="200"/>
              </a:spcAft>
            </a:pPr>
            <a:r>
              <a:rPr sz="1200" b="1" i="0">
                <a:solidFill>
                  <a:srgbClr val="FFFFFF"/>
                </a:solidFill>
              </a:rPr>
              <a:t>Pricing</a:t>
            </a:r>
          </a:p>
          <a:p>
            <a:pPr algn="l">
              <a:spcAft>
                <a:spcPts val="500"/>
              </a:spcAft>
            </a:pPr>
            <a:r>
              <a:rPr sz="1200" b="0" i="0">
                <a:solidFill>
                  <a:srgbClr val="FFFFFF"/>
                </a:solidFill>
              </a:rPr>
              <a:t>Move toward metered or token-based commercial pricing.</a:t>
            </a:r>
          </a:p>
        </p:txBody>
      </p:sp>
      <p:sp>
        <p:nvSpPr>
          <p:cNvPr id="523" name="Oval 522"/>
          <p:cNvSpPr/>
          <p:nvPr/>
        </p:nvSpPr>
        <p:spPr>
          <a:xfrm>
            <a:off x="7790080" y="3750352"/>
            <a:ext cx="365760" cy="365760"/>
          </a:xfrm>
          <a:prstGeom prst="ellipse">
            <a:avLst/>
          </a:prstGeom>
          <a:solidFill>
            <a:srgbClr val="FFFFFF"/>
          </a:solidFill>
          <a:ln>
            <a:noFill/>
          </a:ln>
        </p:spPr>
        <p:txBody>
          <a:bodyPr rtlCol="0" anchor="ctr" lIns="0" rIns="0" tIns="0" bIns="0"/>
          <a:lstStyle/>
          <a:p>
            <a:pPr algn="ctr"/>
            <a:r>
              <a:rPr sz="1200" b="1" i="0">
                <a:solidFill>
                  <a:srgbClr val="000000"/>
                </a:solidFill>
              </a:rPr>
              <a:t>5</a:t>
            </a:r>
          </a:p>
        </p:txBody>
      </p:sp>
      <p:sp>
        <p:nvSpPr>
          <p:cNvPr id="524" name="Rounded Rectangle 523"/>
          <p:cNvSpPr/>
          <p:nvPr/>
        </p:nvSpPr>
        <p:spPr>
          <a:xfrm>
            <a:off x="7607200" y="4683232"/>
            <a:ext cx="4127600" cy="13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713232" tIns="91440" rIns="182880"/>
          <a:lstStyle/>
          <a:p>
            <a:pPr algn="l">
              <a:spcBef>
                <a:spcPts val="500"/>
              </a:spcBef>
              <a:spcAft>
                <a:spcPts val="200"/>
              </a:spcAft>
            </a:pPr>
            <a:r>
              <a:rPr sz="1200" b="1" i="0">
                <a:solidFill>
                  <a:srgbClr val="FFFFFF"/>
                </a:solidFill>
              </a:rPr>
              <a:t>Staffing</a:t>
            </a:r>
          </a:p>
          <a:p>
            <a:pPr algn="l">
              <a:spcAft>
                <a:spcPts val="500"/>
              </a:spcAft>
            </a:pPr>
            <a:r>
              <a:rPr sz="1150" b="0" i="1">
                <a:solidFill>
                  <a:srgbClr val="D6D6DF"/>
                </a:solidFill>
              </a:rPr>
              <a:t>[One line: what this story is.]</a:t>
            </a:r>
          </a:p>
        </p:txBody>
      </p:sp>
      <p:sp>
        <p:nvSpPr>
          <p:cNvPr id="525" name="Oval 524"/>
          <p:cNvSpPr/>
          <p:nvPr/>
        </p:nvSpPr>
        <p:spPr>
          <a:xfrm>
            <a:off x="7790080" y="5150352"/>
            <a:ext cx="365760" cy="365760"/>
          </a:xfrm>
          <a:prstGeom prst="ellipse">
            <a:avLst/>
          </a:prstGeom>
          <a:solidFill>
            <a:srgbClr val="FFFFFF"/>
          </a:solidFill>
          <a:ln>
            <a:noFill/>
          </a:ln>
        </p:spPr>
        <p:txBody>
          <a:bodyPr rtlCol="0" anchor="ctr" lIns="0" rIns="0" tIns="0" bIns="0"/>
          <a:lstStyle/>
          <a:p>
            <a:pPr algn="ctr"/>
            <a:r>
              <a:rPr sz="1200" b="1" i="0">
                <a:solidFill>
                  <a:srgbClr val="000000"/>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Delivery Models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MVP · STORY 1 OF 3</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5228800" cy="13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56032" tIns="91440" rIns="228600" bIns="73152"/>
          <a:lstStyle/>
          <a:p>
            <a:pPr algn="l">
              <a:spcBef>
                <a:spcPts val="400"/>
              </a:spcBef>
              <a:spcAft>
                <a:spcPts val="200"/>
              </a:spcAft>
            </a:pPr>
            <a:r>
              <a:rPr sz="850" b="1" i="0" cap="all" spc="100">
                <a:solidFill>
                  <a:srgbClr val="60607D"/>
                </a:solidFill>
              </a:rPr>
              <a:t>Today</a:t>
            </a:r>
          </a:p>
          <a:p>
            <a:pPr algn="l">
              <a:spcAft>
                <a:spcPts val="500"/>
              </a:spcAft>
            </a:pPr>
            <a:r>
              <a:rPr sz="1300" b="0" i="0">
                <a:solidFill>
                  <a:srgbClr val="000000"/>
                </a:solidFill>
              </a:rPr>
              <a:t>The delivery approach is decided implicitly and independently by whoever happens to be making decisions at that moment.</a:t>
            </a:r>
          </a:p>
        </p:txBody>
      </p:sp>
      <p:sp>
        <p:nvSpPr>
          <p:cNvPr id="510" name="Right Arrow 509"/>
          <p:cNvSpPr/>
          <p:nvPr/>
        </p:nvSpPr>
        <p:spPr>
          <a:xfrm>
            <a:off x="5836000" y="1705000"/>
            <a:ext cx="520000" cy="280000"/>
          </a:xfrm>
          <a:prstGeom prst="rightArrow">
            <a:avLst/>
          </a:prstGeom>
          <a:solidFill>
            <a:srgbClr val="D6D6DF"/>
          </a:solidFill>
          <a:ln>
            <a:noFill/>
          </a:ln>
        </p:spPr>
        <p:txBody>
          <a:bodyPr rtlCol="0" anchor="ctr"/>
          <a:lstStyle/>
          <a:p>
            <a:pPr algn="ctr"/>
          </a:p>
        </p:txBody>
      </p:sp>
      <p:sp>
        <p:nvSpPr>
          <p:cNvPr id="511" name="Rounded Rectangle 510"/>
          <p:cNvSpPr/>
          <p:nvPr/>
        </p:nvSpPr>
        <p:spPr>
          <a:xfrm>
            <a:off x="6506000" y="1170000"/>
            <a:ext cx="5228800" cy="13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56032" tIns="91440" rIns="228600" bIns="73152"/>
          <a:lstStyle/>
          <a:p>
            <a:pPr algn="l">
              <a:spcBef>
                <a:spcPts val="400"/>
              </a:spcBef>
              <a:spcAft>
                <a:spcPts val="200"/>
              </a:spcAft>
            </a:pPr>
            <a:r>
              <a:rPr sz="850" b="1" i="0" cap="all" spc="100">
                <a:solidFill>
                  <a:srgbClr val="D6D6DF"/>
                </a:solidFill>
              </a:rPr>
              <a:t>With this</a:t>
            </a:r>
          </a:p>
          <a:p>
            <a:pPr algn="l">
              <a:spcAft>
                <a:spcPts val="600"/>
              </a:spcAft>
            </a:pPr>
            <a:r>
              <a:rPr sz="1500" b="1" i="0">
                <a:solidFill>
                  <a:srgbClr val="FFFFFF"/>
                </a:solidFill>
              </a:rPr>
              <a:t>Every deal categorized at qualification into one of 5-6 core models, so pricing and staffing follow a known shape.</a:t>
            </a:r>
          </a:p>
        </p:txBody>
      </p:sp>
      <p:sp>
        <p:nvSpPr>
          <p:cNvPr id="512" name="Rounded Rectangle 511"/>
          <p:cNvSpPr/>
          <p:nvPr/>
        </p:nvSpPr>
        <p:spPr>
          <a:xfrm>
            <a:off x="457200" y="2670000"/>
            <a:ext cx="4700000" cy="28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How it works</a:t>
            </a:r>
          </a:p>
          <a:p>
            <a:pPr algn="l" marL="171450" indent="-171450">
              <a:spcAft>
                <a:spcPts val="500"/>
              </a:spcAft>
              <a:buFont typeface="Arial"/>
              <a:buChar char="•"/>
            </a:pPr>
            <a:r>
              <a:rPr sz="1150" b="0" i="0">
                <a:solidFill>
                  <a:srgbClr val="000000"/>
                </a:solidFill>
              </a:rPr>
              <a:t>Standardize a small set of named models mapped to commercial structure (e.g., gates vs. PI cadence vs. OKR-anchored backlog)</a:t>
            </a:r>
          </a:p>
          <a:p>
            <a:pPr algn="l" marL="171450" indent="-171450">
              <a:spcAft>
                <a:spcPts val="500"/>
              </a:spcAft>
              <a:buFont typeface="Arial"/>
              <a:buChar char="•"/>
            </a:pPr>
            <a:r>
              <a:rPr sz="1150" b="0" i="0">
                <a:solidFill>
                  <a:srgbClr val="000000"/>
                </a:solidFill>
              </a:rPr>
              <a:t>Treat multi-track programs as portfolios of clearly defined tracks mapped to a model, not one label stretched over the whole account.</a:t>
            </a:r>
          </a:p>
          <a:p>
            <a:pPr algn="l" marL="171450" indent="-171450">
              <a:spcAft>
                <a:spcPts val="500"/>
              </a:spcAft>
              <a:buFont typeface="Arial"/>
              <a:buChar char="•"/>
            </a:pPr>
            <a:r>
              <a:rPr sz="1150" b="0" i="0">
                <a:solidFill>
                  <a:srgbClr val="000000"/>
                </a:solidFill>
              </a:rPr>
              <a:t>No SOW is signed without a model name attached to it, and that name determines governance</a:t>
            </a:r>
          </a:p>
        </p:txBody>
      </p:sp>
      <p:sp>
        <p:nvSpPr>
          <p:cNvPr id="513" name="Rounded Rectangle 512"/>
          <p:cNvSpPr/>
          <p:nvPr/>
        </p:nvSpPr>
        <p:spPr>
          <a:xfrm>
            <a:off x="5307200" y="2670000"/>
            <a:ext cx="6427600" cy="28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28600" tIns="109728" rIns="201168" bIns="36576"/>
          <a:lstStyle/>
          <a:p>
            <a:pPr algn="l">
              <a:spcAft>
                <a:spcPts val="600"/>
              </a:spcAft>
            </a:pPr>
            <a:r>
              <a:rPr sz="1100" b="1" i="0" cap="all" spc="60">
                <a:solidFill>
                  <a:srgbClr val="D6D6DF"/>
                </a:solidFill>
              </a:rPr>
              <a:t>How we measure success</a:t>
            </a:r>
          </a:p>
          <a:p>
            <a:pPr algn="l">
              <a:spcBef>
                <a:spcPts val="400"/>
              </a:spcBef>
              <a:spcAft>
                <a:spcPts val="200"/>
              </a:spcAft>
            </a:pPr>
            <a:r>
              <a:rPr sz="850" b="1" i="0" cap="all" spc="100">
                <a:solidFill>
                  <a:srgbClr val="D6D6DF"/>
                </a:solidFill>
              </a:rPr>
              <a:t>Signal</a:t>
            </a:r>
          </a:p>
          <a:p>
            <a:pPr algn="l">
              <a:spcBef>
                <a:spcPts val="500"/>
              </a:spcBef>
              <a:spcAft>
                <a:spcPts val="200"/>
              </a:spcAft>
            </a:pPr>
            <a:r>
              <a:rPr sz="1000" b="1" i="0">
                <a:solidFill>
                  <a:srgbClr val="FFFFFF"/>
                </a:solidFill>
              </a:rPr>
              <a:t>No SOW is signed without a model name attached.</a:t>
            </a:r>
          </a:p>
          <a:p>
            <a:pPr algn="l">
              <a:spcBef>
                <a:spcPts val="400"/>
              </a:spcBef>
              <a:spcAft>
                <a:spcPts val="200"/>
              </a:spcAft>
            </a:pPr>
            <a:r>
              <a:rPr sz="850" b="1" i="0" cap="all" spc="100">
                <a:solidFill>
                  <a:srgbClr val="D6D6DF"/>
                </a:solidFill>
              </a:rPr>
              <a:t>How we measure it</a:t>
            </a:r>
          </a:p>
          <a:p>
            <a:pPr algn="l">
              <a:spcAft>
                <a:spcPts val="500"/>
              </a:spcAft>
            </a:pPr>
            <a:r>
              <a:rPr sz="950" b="0" i="1">
                <a:solidFill>
                  <a:srgbClr val="D6D6DF"/>
                </a:solidFill>
              </a:rPr>
              <a:t>[How we will measure this.]</a:t>
            </a:r>
          </a:p>
          <a:p>
            <a:pPr algn="l">
              <a:spcAft>
                <a:spcPts val="500"/>
              </a:spcAft>
            </a:pPr>
            <a:r>
              <a:rPr sz="950" b="0" i="1">
                <a:solidFill>
                  <a:srgbClr val="D6D6DF"/>
                </a:solidFill>
              </a:rPr>
              <a:t>Today: [baseline]     Target: [target] by [date]</a:t>
            </a:r>
          </a:p>
          <a:p>
            <a:pPr algn="l">
              <a:spcBef>
                <a:spcPts val="400"/>
              </a:spcBef>
              <a:spcAft>
                <a:spcPts val="200"/>
              </a:spcAft>
            </a:pPr>
            <a:r>
              <a:rPr sz="850" b="1" i="0" cap="all" spc="100">
                <a:solidFill>
                  <a:srgbClr val="D6D6DF"/>
                </a:solidFill>
              </a:rPr>
              <a:t>Signal</a:t>
            </a:r>
          </a:p>
          <a:p>
            <a:pPr algn="l">
              <a:spcBef>
                <a:spcPts val="500"/>
              </a:spcBef>
              <a:spcAft>
                <a:spcPts val="200"/>
              </a:spcAft>
            </a:pPr>
            <a:r>
              <a:rPr sz="1000" b="1" i="0">
                <a:solidFill>
                  <a:srgbClr val="FFFFFF"/>
                </a:solidFill>
              </a:rPr>
              <a:t>Drift is visible in week 2 to 4 of a track, instead of at the next executive review.</a:t>
            </a:r>
          </a:p>
          <a:p>
            <a:pPr algn="l">
              <a:spcBef>
                <a:spcPts val="400"/>
              </a:spcBef>
              <a:spcAft>
                <a:spcPts val="200"/>
              </a:spcAft>
            </a:pPr>
            <a:r>
              <a:rPr sz="850" b="1" i="0" cap="all" spc="100">
                <a:solidFill>
                  <a:srgbClr val="D6D6DF"/>
                </a:solidFill>
              </a:rPr>
              <a:t>How we measure it</a:t>
            </a:r>
          </a:p>
          <a:p>
            <a:pPr algn="l">
              <a:spcAft>
                <a:spcPts val="500"/>
              </a:spcAft>
            </a:pPr>
            <a:r>
              <a:rPr sz="1000" b="0" i="0">
                <a:solidFill>
                  <a:srgbClr val="FFFFFF"/>
                </a:solidFill>
              </a:rPr>
              <a:t>Each model gets 3 to 4 checkable signals (e.g., for Model 1: is there a backcasted plan and is the client tracking to gates; for Model 2: is velocity being reported against contracted throughput)</a:t>
            </a:r>
          </a:p>
          <a:p>
            <a:pPr algn="l">
              <a:spcAft>
                <a:spcPts val="500"/>
              </a:spcAft>
            </a:pPr>
            <a:r>
              <a:rPr sz="950" b="0" i="1">
                <a:solidFill>
                  <a:srgbClr val="D6D6DF"/>
                </a:solidFill>
              </a:rPr>
              <a:t>Today: [baseline]     Target: [target] by [date]</a:t>
            </a:r>
          </a:p>
        </p:txBody>
      </p:sp>
      <p:sp>
        <p:nvSpPr>
          <p:cNvPr id="514" name="Rounded Rectangle 513"/>
          <p:cNvSpPr/>
          <p:nvPr/>
        </p:nvSpPr>
        <p:spPr>
          <a:xfrm>
            <a:off x="457200" y="5670000"/>
            <a:ext cx="5563800" cy="7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54864" rIns="274320" bIns="36576"/>
          <a:lstStyle/>
          <a:p>
            <a:pPr algn="l">
              <a:spcBef>
                <a:spcPts val="400"/>
              </a:spcBef>
              <a:spcAft>
                <a:spcPts val="200"/>
              </a:spcAft>
            </a:pPr>
            <a:r>
              <a:rPr sz="850" b="1" i="0" cap="all" spc="100">
                <a:solidFill>
                  <a:srgbClr val="60607D"/>
                </a:solidFill>
              </a:rPr>
              <a:t>Shooting for</a:t>
            </a:r>
          </a:p>
          <a:p>
            <a:pPr algn="l">
              <a:spcAft>
                <a:spcPts val="500"/>
              </a:spcAft>
            </a:pPr>
            <a:r>
              <a:rPr sz="1150" b="0" i="0">
                <a:solidFill>
                  <a:srgbClr val="000000"/>
                </a:solidFill>
              </a:rPr>
              <a:t>Initial Models Well Defined: Nov 6 (was Oct 23)</a:t>
            </a:r>
          </a:p>
          <a:p>
            <a:pPr algn="l">
              <a:spcAft>
                <a:spcPts val="500"/>
              </a:spcAft>
            </a:pPr>
            <a:r>
              <a:rPr sz="1150" b="0" i="0">
                <a:solidFill>
                  <a:srgbClr val="000000"/>
                </a:solidFill>
              </a:rPr>
              <a:t>1st Batch of Models &amp; Program "Stack" Guidance: Nov 13</a:t>
            </a:r>
          </a:p>
        </p:txBody>
      </p:sp>
      <p:sp>
        <p:nvSpPr>
          <p:cNvPr id="515" name="Rounded Rectangle 514"/>
          <p:cNvSpPr/>
          <p:nvPr/>
        </p:nvSpPr>
        <p:spPr>
          <a:xfrm>
            <a:off x="6171000" y="5670000"/>
            <a:ext cx="5563800" cy="7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91440" rIns="182880"/>
          <a:lstStyle/>
          <a:p>
            <a:pPr algn="l">
              <a:spcBef>
                <a:spcPts val="400"/>
              </a:spcBef>
              <a:spcAft>
                <a:spcPts val="200"/>
              </a:spcAft>
            </a:pPr>
            <a:r>
              <a:rPr sz="850" b="1" i="0" cap="all" spc="100">
                <a:solidFill>
                  <a:srgbClr val="60607D"/>
                </a:solidFill>
              </a:rPr>
              <a:t>Owner and team</a:t>
            </a:r>
          </a:p>
        </p:txBody>
      </p:sp>
      <p:sp>
        <p:nvSpPr>
          <p:cNvPr id="516" name="Rounded Rectangle 515"/>
          <p:cNvSpPr/>
          <p:nvPr/>
        </p:nvSpPr>
        <p:spPr>
          <a:xfrm>
            <a:off x="6399600" y="5962608"/>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[Owner]</a:t>
            </a:r>
          </a:p>
        </p:txBody>
      </p:sp>
      <p:sp>
        <p:nvSpPr>
          <p:cNvPr id="517" name="Rounded Rectangle 516"/>
          <p:cNvSpPr/>
          <p:nvPr/>
        </p:nvSpPr>
        <p:spPr>
          <a:xfrm>
            <a:off x="7242676" y="5962608"/>
            <a:ext cx="55229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John</a:t>
            </a:r>
          </a:p>
        </p:txBody>
      </p:sp>
      <p:sp>
        <p:nvSpPr>
          <p:cNvPr id="518" name="Rounded Rectangle 517"/>
          <p:cNvSpPr/>
          <p:nvPr/>
        </p:nvSpPr>
        <p:spPr>
          <a:xfrm>
            <a:off x="7877269" y="5962608"/>
            <a:ext cx="621792"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Chris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Contracts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MVP · STORY 2 OF 3</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5228800" cy="13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56032" tIns="91440" rIns="228600" bIns="73152"/>
          <a:lstStyle/>
          <a:p>
            <a:pPr algn="l">
              <a:spcBef>
                <a:spcPts val="400"/>
              </a:spcBef>
              <a:spcAft>
                <a:spcPts val="200"/>
              </a:spcAft>
            </a:pPr>
            <a:r>
              <a:rPr sz="850" b="1" i="0" cap="all" spc="100">
                <a:solidFill>
                  <a:srgbClr val="60607D"/>
                </a:solidFill>
              </a:rPr>
              <a:t>Today</a:t>
            </a:r>
          </a:p>
          <a:p>
            <a:pPr algn="l">
              <a:spcAft>
                <a:spcPts val="500"/>
              </a:spcAft>
            </a:pPr>
            <a:r>
              <a:rPr sz="1300" b="0" i="0">
                <a:solidFill>
                  <a:srgbClr val="000000"/>
                </a:solidFill>
              </a:rPr>
              <a:t>Agreeing to unfeasible combinations, like fixed-price with no scope control.</a:t>
            </a:r>
          </a:p>
        </p:txBody>
      </p:sp>
      <p:sp>
        <p:nvSpPr>
          <p:cNvPr id="510" name="Right Arrow 509"/>
          <p:cNvSpPr/>
          <p:nvPr/>
        </p:nvSpPr>
        <p:spPr>
          <a:xfrm>
            <a:off x="5836000" y="1705000"/>
            <a:ext cx="520000" cy="280000"/>
          </a:xfrm>
          <a:prstGeom prst="rightArrow">
            <a:avLst/>
          </a:prstGeom>
          <a:solidFill>
            <a:srgbClr val="D6D6DF"/>
          </a:solidFill>
          <a:ln>
            <a:noFill/>
          </a:ln>
        </p:spPr>
        <p:txBody>
          <a:bodyPr rtlCol="0" anchor="ctr"/>
          <a:lstStyle/>
          <a:p>
            <a:pPr algn="ctr"/>
          </a:p>
        </p:txBody>
      </p:sp>
      <p:sp>
        <p:nvSpPr>
          <p:cNvPr id="511" name="Rounded Rectangle 510"/>
          <p:cNvSpPr/>
          <p:nvPr/>
        </p:nvSpPr>
        <p:spPr>
          <a:xfrm>
            <a:off x="6506000" y="1170000"/>
            <a:ext cx="5228800" cy="13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56032" tIns="91440" rIns="228600" bIns="73152"/>
          <a:lstStyle/>
          <a:p>
            <a:pPr algn="l">
              <a:spcBef>
                <a:spcPts val="400"/>
              </a:spcBef>
              <a:spcAft>
                <a:spcPts val="200"/>
              </a:spcAft>
            </a:pPr>
            <a:r>
              <a:rPr sz="850" b="1" i="0" cap="all" spc="100">
                <a:solidFill>
                  <a:srgbClr val="D6D6DF"/>
                </a:solidFill>
              </a:rPr>
              <a:t>With this</a:t>
            </a:r>
          </a:p>
          <a:p>
            <a:pPr algn="l">
              <a:spcAft>
                <a:spcPts val="600"/>
              </a:spcAft>
            </a:pPr>
            <a:r>
              <a:rPr sz="1500" b="1" i="0">
                <a:solidFill>
                  <a:srgbClr val="FFFFFF"/>
                </a:solidFill>
              </a:rPr>
              <a:t>Terms, scope language, and billing matched to the chosen model — no more fixed price with no scope control.</a:t>
            </a:r>
          </a:p>
        </p:txBody>
      </p:sp>
      <p:sp>
        <p:nvSpPr>
          <p:cNvPr id="512" name="Rounded Rectangle 511"/>
          <p:cNvSpPr/>
          <p:nvPr/>
        </p:nvSpPr>
        <p:spPr>
          <a:xfrm>
            <a:off x="457200" y="2670000"/>
            <a:ext cx="4700000" cy="28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How it works</a:t>
            </a:r>
          </a:p>
          <a:p>
            <a:pPr algn="l" marL="171450" indent="-171450">
              <a:spcAft>
                <a:spcPts val="500"/>
              </a:spcAft>
              <a:buFont typeface="Arial"/>
              <a:buChar char="•"/>
            </a:pPr>
            <a:r>
              <a:rPr sz="1150" b="0" i="0">
                <a:solidFill>
                  <a:srgbClr val="000000"/>
                </a:solidFill>
              </a:rPr>
              <a:t>This ensures we establish authorized contract structures that match terms, scope language, and billing mechanics to the specific model.</a:t>
            </a:r>
          </a:p>
          <a:p>
            <a:pPr algn="l" marL="171450" indent="-171450">
              <a:spcAft>
                <a:spcPts val="500"/>
              </a:spcAft>
              <a:buFont typeface="Arial"/>
              <a:buChar char="•"/>
            </a:pPr>
            <a:r>
              <a:rPr sz="1150" b="0" i="0">
                <a:solidFill>
                  <a:srgbClr val="000000"/>
                </a:solidFill>
              </a:rPr>
              <a:t>A named accountable role (Program or Account Lead and Delivery Lead) signs off, at kickoff and at defined checkpoints, that the working model, the staffing, and the contract still agree with each other.</a:t>
            </a:r>
          </a:p>
        </p:txBody>
      </p:sp>
      <p:sp>
        <p:nvSpPr>
          <p:cNvPr id="513" name="Rounded Rectangle 512"/>
          <p:cNvSpPr/>
          <p:nvPr/>
        </p:nvSpPr>
        <p:spPr>
          <a:xfrm>
            <a:off x="5307200" y="2670000"/>
            <a:ext cx="6427600" cy="28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28600" tIns="109728" rIns="201168" bIns="36576"/>
          <a:lstStyle/>
          <a:p>
            <a:pPr algn="l">
              <a:spcAft>
                <a:spcPts val="600"/>
              </a:spcAft>
            </a:pPr>
            <a:r>
              <a:rPr sz="1100" b="1" i="0" cap="all" spc="60">
                <a:solidFill>
                  <a:srgbClr val="D6D6DF"/>
                </a:solidFill>
              </a:rPr>
              <a:t>How we measure success</a:t>
            </a:r>
          </a:p>
          <a:p>
            <a:pPr algn="l">
              <a:spcBef>
                <a:spcPts val="400"/>
              </a:spcBef>
              <a:spcAft>
                <a:spcPts val="200"/>
              </a:spcAft>
            </a:pPr>
            <a:r>
              <a:rPr sz="850" b="1" i="0" cap="all" spc="100">
                <a:solidFill>
                  <a:srgbClr val="D6D6DF"/>
                </a:solidFill>
              </a:rPr>
              <a:t>Signal</a:t>
            </a:r>
          </a:p>
          <a:p>
            <a:pPr algn="l">
              <a:spcBef>
                <a:spcPts val="500"/>
              </a:spcBef>
              <a:spcAft>
                <a:spcPts val="200"/>
              </a:spcAft>
            </a:pPr>
            <a:r>
              <a:rPr sz="1000" b="1" i="0">
                <a:solidFill>
                  <a:srgbClr val="FFFFFF"/>
                </a:solidFill>
              </a:rPr>
              <a:t>We stop agreeing to unfeasible combinations, like fixed-price with no scope control.</a:t>
            </a:r>
          </a:p>
          <a:p>
            <a:pPr algn="l">
              <a:spcBef>
                <a:spcPts val="400"/>
              </a:spcBef>
              <a:spcAft>
                <a:spcPts val="200"/>
              </a:spcAft>
            </a:pPr>
            <a:r>
              <a:rPr sz="850" b="1" i="0" cap="all" spc="100">
                <a:solidFill>
                  <a:srgbClr val="D6D6DF"/>
                </a:solidFill>
              </a:rPr>
              <a:t>How we measure it</a:t>
            </a:r>
          </a:p>
          <a:p>
            <a:pPr algn="l">
              <a:spcAft>
                <a:spcPts val="500"/>
              </a:spcAft>
            </a:pPr>
            <a:r>
              <a:rPr sz="1000" b="0" i="0">
                <a:solidFill>
                  <a:srgbClr val="FFFFFF"/>
                </a:solidFill>
              </a:rPr>
              <a:t>A named accountable role signs off, at kickoff and at defined checkpoints, that the working model, the staffing, and the contract still agree with each other.</a:t>
            </a:r>
          </a:p>
          <a:p>
            <a:pPr algn="l">
              <a:spcAft>
                <a:spcPts val="500"/>
              </a:spcAft>
            </a:pPr>
            <a:r>
              <a:rPr sz="950" b="0" i="1">
                <a:solidFill>
                  <a:srgbClr val="D6D6DF"/>
                </a:solidFill>
              </a:rPr>
              <a:t>Today: [baseline]     Target: [target] by [date]</a:t>
            </a:r>
          </a:p>
        </p:txBody>
      </p:sp>
      <p:sp>
        <p:nvSpPr>
          <p:cNvPr id="514" name="Rounded Rectangle 513"/>
          <p:cNvSpPr/>
          <p:nvPr/>
        </p:nvSpPr>
        <p:spPr>
          <a:xfrm>
            <a:off x="457200" y="5670000"/>
            <a:ext cx="5563800" cy="7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54864" rIns="274320" bIns="36576"/>
          <a:lstStyle/>
          <a:p>
            <a:pPr algn="l">
              <a:spcBef>
                <a:spcPts val="400"/>
              </a:spcBef>
              <a:spcAft>
                <a:spcPts val="200"/>
              </a:spcAft>
            </a:pPr>
            <a:r>
              <a:rPr sz="850" b="1" i="0" cap="all" spc="100">
                <a:solidFill>
                  <a:srgbClr val="60607D"/>
                </a:solidFill>
              </a:rPr>
              <a:t>Shooting for</a:t>
            </a:r>
          </a:p>
          <a:p>
            <a:pPr algn="l">
              <a:spcAft>
                <a:spcPts val="500"/>
              </a:spcAft>
            </a:pPr>
            <a:r>
              <a:rPr sz="1100" b="0" i="1">
                <a:solidFill>
                  <a:srgbClr val="60607D"/>
                </a:solidFill>
              </a:rPr>
              <a:t>[Target date for this story.]</a:t>
            </a:r>
          </a:p>
        </p:txBody>
      </p:sp>
      <p:sp>
        <p:nvSpPr>
          <p:cNvPr id="515" name="Rounded Rectangle 514"/>
          <p:cNvSpPr/>
          <p:nvPr/>
        </p:nvSpPr>
        <p:spPr>
          <a:xfrm>
            <a:off x="6171000" y="5670000"/>
            <a:ext cx="5563800" cy="7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91440" rIns="182880"/>
          <a:lstStyle/>
          <a:p>
            <a:pPr algn="l">
              <a:spcBef>
                <a:spcPts val="400"/>
              </a:spcBef>
              <a:spcAft>
                <a:spcPts val="200"/>
              </a:spcAft>
            </a:pPr>
            <a:r>
              <a:rPr sz="850" b="1" i="0" cap="all" spc="100">
                <a:solidFill>
                  <a:srgbClr val="60607D"/>
                </a:solidFill>
              </a:rPr>
              <a:t>Owner and team</a:t>
            </a:r>
          </a:p>
        </p:txBody>
      </p:sp>
      <p:sp>
        <p:nvSpPr>
          <p:cNvPr id="516" name="Rounded Rectangle 515"/>
          <p:cNvSpPr/>
          <p:nvPr/>
        </p:nvSpPr>
        <p:spPr>
          <a:xfrm>
            <a:off x="6399600" y="5962608"/>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[Owner]</a:t>
            </a:r>
          </a:p>
        </p:txBody>
      </p:sp>
      <p:sp>
        <p:nvSpPr>
          <p:cNvPr id="517" name="Rounded Rectangle 516"/>
          <p:cNvSpPr/>
          <p:nvPr/>
        </p:nvSpPr>
        <p:spPr>
          <a:xfrm>
            <a:off x="7242676" y="5962608"/>
            <a:ext cx="55229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John</a:t>
            </a:r>
          </a:p>
        </p:txBody>
      </p:sp>
      <p:sp>
        <p:nvSpPr>
          <p:cNvPr id="518" name="Rounded Rectangle 517"/>
          <p:cNvSpPr/>
          <p:nvPr/>
        </p:nvSpPr>
        <p:spPr>
          <a:xfrm>
            <a:off x="7877269" y="5962608"/>
            <a:ext cx="621792"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Chris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Methodology Standards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MVP · STORY 3 OF 3</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5228800" cy="13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56032" tIns="91440" rIns="228600" bIns="73152"/>
          <a:lstStyle/>
          <a:p>
            <a:pPr algn="l">
              <a:spcBef>
                <a:spcPts val="400"/>
              </a:spcBef>
              <a:spcAft>
                <a:spcPts val="200"/>
              </a:spcAft>
            </a:pPr>
            <a:r>
              <a:rPr sz="850" b="1" i="0" cap="all" spc="100">
                <a:solidFill>
                  <a:srgbClr val="60607D"/>
                </a:solidFill>
              </a:rPr>
              <a:t>Today</a:t>
            </a:r>
          </a:p>
          <a:p>
            <a:pPr algn="l">
              <a:spcAft>
                <a:spcPts val="500"/>
              </a:spcAft>
            </a:pPr>
            <a:r>
              <a:rPr sz="1300" b="0" i="0">
                <a:solidFill>
                  <a:srgbClr val="000000"/>
                </a:solidFill>
              </a:rPr>
              <a:t>Inheriting confusion from clients or from team preferences.</a:t>
            </a:r>
          </a:p>
        </p:txBody>
      </p:sp>
      <p:sp>
        <p:nvSpPr>
          <p:cNvPr id="510" name="Right Arrow 509"/>
          <p:cNvSpPr/>
          <p:nvPr/>
        </p:nvSpPr>
        <p:spPr>
          <a:xfrm>
            <a:off x="5836000" y="1705000"/>
            <a:ext cx="520000" cy="280000"/>
          </a:xfrm>
          <a:prstGeom prst="rightArrow">
            <a:avLst/>
          </a:prstGeom>
          <a:solidFill>
            <a:srgbClr val="D6D6DF"/>
          </a:solidFill>
          <a:ln>
            <a:noFill/>
          </a:ln>
        </p:spPr>
        <p:txBody>
          <a:bodyPr rtlCol="0" anchor="ctr"/>
          <a:lstStyle/>
          <a:p>
            <a:pPr algn="ctr"/>
          </a:p>
        </p:txBody>
      </p:sp>
      <p:sp>
        <p:nvSpPr>
          <p:cNvPr id="511" name="Rounded Rectangle 510"/>
          <p:cNvSpPr/>
          <p:nvPr/>
        </p:nvSpPr>
        <p:spPr>
          <a:xfrm>
            <a:off x="6506000" y="1170000"/>
            <a:ext cx="5228800" cy="13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56032" tIns="91440" rIns="228600" bIns="73152"/>
          <a:lstStyle/>
          <a:p>
            <a:pPr algn="l">
              <a:spcBef>
                <a:spcPts val="400"/>
              </a:spcBef>
              <a:spcAft>
                <a:spcPts val="200"/>
              </a:spcAft>
            </a:pPr>
            <a:r>
              <a:rPr sz="850" b="1" i="0" cap="all" spc="100">
                <a:solidFill>
                  <a:srgbClr val="D6D6DF"/>
                </a:solidFill>
              </a:rPr>
              <a:t>With this</a:t>
            </a:r>
          </a:p>
          <a:p>
            <a:pPr algn="l">
              <a:spcAft>
                <a:spcPts val="600"/>
              </a:spcAft>
            </a:pPr>
            <a:r>
              <a:rPr sz="1500" b="1" i="0">
                <a:solidFill>
                  <a:srgbClr val="FFFFFF"/>
                </a:solidFill>
              </a:rPr>
              <a:t>Clear underlying working practices (e.g., SAFe Agile, Test-Driven Development), so we proactively guide clients toward successful engagements.</a:t>
            </a:r>
          </a:p>
        </p:txBody>
      </p:sp>
      <p:sp>
        <p:nvSpPr>
          <p:cNvPr id="512" name="Rounded Rectangle 511"/>
          <p:cNvSpPr/>
          <p:nvPr/>
        </p:nvSpPr>
        <p:spPr>
          <a:xfrm>
            <a:off x="457200" y="2670000"/>
            <a:ext cx="4700000" cy="28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How it works</a:t>
            </a:r>
          </a:p>
          <a:p>
            <a:pPr algn="l">
              <a:spcAft>
                <a:spcPts val="500"/>
              </a:spcAft>
            </a:pPr>
            <a:r>
              <a:rPr sz="1100" b="0" i="1">
                <a:solidFill>
                  <a:srgbClr val="60607D"/>
                </a:solidFill>
              </a:rPr>
              <a:t>[How it works: the practices we will standardize, and how teams will use them.]</a:t>
            </a:r>
          </a:p>
        </p:txBody>
      </p:sp>
      <p:sp>
        <p:nvSpPr>
          <p:cNvPr id="513" name="Rounded Rectangle 512"/>
          <p:cNvSpPr/>
          <p:nvPr/>
        </p:nvSpPr>
        <p:spPr>
          <a:xfrm>
            <a:off x="5307200" y="2670000"/>
            <a:ext cx="6427600" cy="28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28600" tIns="109728" rIns="201168" bIns="36576"/>
          <a:lstStyle/>
          <a:p>
            <a:pPr algn="l">
              <a:spcAft>
                <a:spcPts val="600"/>
              </a:spcAft>
            </a:pPr>
            <a:r>
              <a:rPr sz="1100" b="1" i="0" cap="all" spc="60">
                <a:solidFill>
                  <a:srgbClr val="D6D6DF"/>
                </a:solidFill>
              </a:rPr>
              <a:t>How we measure success</a:t>
            </a:r>
          </a:p>
          <a:p>
            <a:pPr algn="l">
              <a:spcBef>
                <a:spcPts val="400"/>
              </a:spcBef>
              <a:spcAft>
                <a:spcPts val="200"/>
              </a:spcAft>
            </a:pPr>
            <a:r>
              <a:rPr sz="850" b="1" i="0" cap="all" spc="100">
                <a:solidFill>
                  <a:srgbClr val="D6D6DF"/>
                </a:solidFill>
              </a:rPr>
              <a:t>Signal</a:t>
            </a:r>
          </a:p>
          <a:p>
            <a:pPr algn="l">
              <a:spcBef>
                <a:spcPts val="500"/>
              </a:spcBef>
              <a:spcAft>
                <a:spcPts val="200"/>
              </a:spcAft>
            </a:pPr>
            <a:r>
              <a:rPr sz="1000" b="1" i="0">
                <a:solidFill>
                  <a:srgbClr val="FFFFFF"/>
                </a:solidFill>
              </a:rPr>
              <a:t>We guide clients into how we work instead of inheriting whatever mix they bring.</a:t>
            </a:r>
          </a:p>
          <a:p>
            <a:pPr algn="l">
              <a:spcBef>
                <a:spcPts val="400"/>
              </a:spcBef>
              <a:spcAft>
                <a:spcPts val="200"/>
              </a:spcAft>
            </a:pPr>
            <a:r>
              <a:rPr sz="850" b="1" i="0" cap="all" spc="100">
                <a:solidFill>
                  <a:srgbClr val="D6D6DF"/>
                </a:solidFill>
              </a:rPr>
              <a:t>How we measure it</a:t>
            </a:r>
          </a:p>
          <a:p>
            <a:pPr algn="l">
              <a:spcAft>
                <a:spcPts val="500"/>
              </a:spcAft>
            </a:pPr>
            <a:r>
              <a:rPr sz="950" b="0" i="1">
                <a:solidFill>
                  <a:srgbClr val="D6D6DF"/>
                </a:solidFill>
              </a:rPr>
              <a:t>[How we will measure this.]</a:t>
            </a:r>
          </a:p>
          <a:p>
            <a:pPr algn="l">
              <a:spcAft>
                <a:spcPts val="500"/>
              </a:spcAft>
            </a:pPr>
            <a:r>
              <a:rPr sz="950" b="0" i="1">
                <a:solidFill>
                  <a:srgbClr val="D6D6DF"/>
                </a:solidFill>
              </a:rPr>
              <a:t>Today: [baseline]     Target: [target] by [date]</a:t>
            </a:r>
          </a:p>
        </p:txBody>
      </p:sp>
      <p:sp>
        <p:nvSpPr>
          <p:cNvPr id="514" name="Rounded Rectangle 513"/>
          <p:cNvSpPr/>
          <p:nvPr/>
        </p:nvSpPr>
        <p:spPr>
          <a:xfrm>
            <a:off x="457200" y="5670000"/>
            <a:ext cx="5563800" cy="7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28600" tIns="54864" rIns="274320" bIns="36576"/>
          <a:lstStyle/>
          <a:p>
            <a:pPr algn="l">
              <a:spcBef>
                <a:spcPts val="400"/>
              </a:spcBef>
              <a:spcAft>
                <a:spcPts val="200"/>
              </a:spcAft>
            </a:pPr>
            <a:r>
              <a:rPr sz="850" b="1" i="0" cap="all" spc="100">
                <a:solidFill>
                  <a:srgbClr val="60607D"/>
                </a:solidFill>
              </a:rPr>
              <a:t>Shooting for</a:t>
            </a:r>
          </a:p>
          <a:p>
            <a:pPr algn="l">
              <a:spcAft>
                <a:spcPts val="500"/>
              </a:spcAft>
            </a:pPr>
            <a:r>
              <a:rPr sz="1100" b="0" i="1">
                <a:solidFill>
                  <a:srgbClr val="60607D"/>
                </a:solidFill>
              </a:rPr>
              <a:t>[Target date for this story.]</a:t>
            </a:r>
          </a:p>
        </p:txBody>
      </p:sp>
      <p:sp>
        <p:nvSpPr>
          <p:cNvPr id="515" name="Rounded Rectangle 514"/>
          <p:cNvSpPr/>
          <p:nvPr/>
        </p:nvSpPr>
        <p:spPr>
          <a:xfrm>
            <a:off x="6171000" y="5670000"/>
            <a:ext cx="5563800" cy="76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28600" tIns="91440" rIns="182880"/>
          <a:lstStyle/>
          <a:p>
            <a:pPr algn="l">
              <a:spcBef>
                <a:spcPts val="400"/>
              </a:spcBef>
              <a:spcAft>
                <a:spcPts val="200"/>
              </a:spcAft>
            </a:pPr>
            <a:r>
              <a:rPr sz="850" b="1" i="0" cap="all" spc="100">
                <a:solidFill>
                  <a:srgbClr val="60607D"/>
                </a:solidFill>
              </a:rPr>
              <a:t>Owner and team</a:t>
            </a:r>
          </a:p>
        </p:txBody>
      </p:sp>
      <p:sp>
        <p:nvSpPr>
          <p:cNvPr id="516" name="Rounded Rectangle 515"/>
          <p:cNvSpPr/>
          <p:nvPr/>
        </p:nvSpPr>
        <p:spPr>
          <a:xfrm>
            <a:off x="6399600" y="5962608"/>
            <a:ext cx="760780"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[Owner]</a:t>
            </a:r>
          </a:p>
        </p:txBody>
      </p:sp>
      <p:sp>
        <p:nvSpPr>
          <p:cNvPr id="517" name="Rounded Rectangle 516"/>
          <p:cNvSpPr/>
          <p:nvPr/>
        </p:nvSpPr>
        <p:spPr>
          <a:xfrm>
            <a:off x="7242676" y="5962608"/>
            <a:ext cx="552297"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John</a:t>
            </a:r>
          </a:p>
        </p:txBody>
      </p:sp>
      <p:sp>
        <p:nvSpPr>
          <p:cNvPr id="518" name="Rounded Rectangle 517"/>
          <p:cNvSpPr/>
          <p:nvPr/>
        </p:nvSpPr>
        <p:spPr>
          <a:xfrm>
            <a:off x="7877269" y="5962608"/>
            <a:ext cx="621792" cy="310896"/>
          </a:xfrm>
          <a:prstGeom prst="roundRect">
            <a:avLst>
              <a:gd name="adj" fmla="val 50000"/>
            </a:avLst>
          </a:prstGeom>
          <a:solidFill>
            <a:srgbClr val="FFFFFF"/>
          </a:solidFill>
          <a:ln w="12700">
            <a:solidFill>
              <a:srgbClr val="000000"/>
            </a:solidFill>
          </a:ln>
        </p:spPr>
        <p:txBody>
          <a:bodyPr rtlCol="0" anchor="ctr" wrap="none" lIns="0" rIns="0" tIns="0" bIns="0"/>
          <a:lstStyle/>
          <a:p>
            <a:pPr algn="ctr"/>
            <a:r>
              <a:rPr sz="1050" b="1" i="0">
                <a:solidFill>
                  <a:srgbClr val="000000"/>
                </a:solidFill>
              </a:rPr>
              <a:t>Chris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Delivery Models: the four starting models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MVP · STORY 1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2706900" cy="4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850" b="1" i="0" cap="all" spc="100">
                <a:solidFill>
                  <a:srgbClr val="60607D"/>
                </a:solidFill>
              </a:rPr>
              <a:t>MODEL 1</a:t>
            </a:r>
          </a:p>
          <a:p>
            <a:pPr algn="l">
              <a:spcAft>
                <a:spcPts val="600"/>
              </a:spcAft>
            </a:pPr>
            <a:r>
              <a:rPr sz="1400" b="1" i="0">
                <a:solidFill>
                  <a:srgbClr val="000000"/>
                </a:solidFill>
              </a:rPr>
              <a:t>Fixed Constraint Delivery</a:t>
            </a:r>
          </a:p>
          <a:p>
            <a:pPr algn="l">
              <a:spcAft>
                <a:spcPts val="500"/>
              </a:spcAft>
            </a:pPr>
            <a:r>
              <a:rPr sz="1200" b="0" i="0">
                <a:solidFill>
                  <a:srgbClr val="000000"/>
                </a:solidFill>
              </a:rPr>
              <a:t>A fixed constraint (budget, deadline, or scope) is set, and delivery is planned backward to it.</a:t>
            </a:r>
          </a:p>
          <a:p>
            <a:pPr algn="l">
              <a:spcBef>
                <a:spcPts val="500"/>
              </a:spcBef>
              <a:spcAft>
                <a:spcPts val="200"/>
              </a:spcAft>
            </a:pPr>
            <a:r>
              <a:rPr sz="1200" b="1" i="0">
                <a:solidFill>
                  <a:srgbClr val="000000"/>
                </a:solidFill>
              </a:rPr>
              <a:t>Key characteristics</a:t>
            </a:r>
          </a:p>
          <a:p>
            <a:pPr algn="l" marL="171450" indent="-171450">
              <a:spcAft>
                <a:spcPts val="500"/>
              </a:spcAft>
              <a:buFont typeface="Arial"/>
              <a:buChar char="•"/>
            </a:pPr>
            <a:r>
              <a:rPr sz="1200" b="0" i="0">
                <a:solidFill>
                  <a:srgbClr val="000000"/>
                </a:solidFill>
              </a:rPr>
              <a:t>Backcasted plan is mandatory before build starts — no backcast, no green light</a:t>
            </a:r>
          </a:p>
          <a:p>
            <a:pPr algn="l" marL="171450" indent="-171450">
              <a:spcAft>
                <a:spcPts val="500"/>
              </a:spcAft>
              <a:buFont typeface="Arial"/>
              <a:buChar char="•"/>
            </a:pPr>
            <a:r>
              <a:rPr sz="1200" b="0" i="0">
                <a:solidFill>
                  <a:srgbClr val="000000"/>
                </a:solidFill>
              </a:rPr>
              <a:t>Phase-gated structure with formal sign-offs</a:t>
            </a:r>
          </a:p>
        </p:txBody>
      </p:sp>
      <p:sp>
        <p:nvSpPr>
          <p:cNvPr id="510" name="Rounded Rectangle 509"/>
          <p:cNvSpPr/>
          <p:nvPr/>
        </p:nvSpPr>
        <p:spPr>
          <a:xfrm>
            <a:off x="3314100" y="1170000"/>
            <a:ext cx="2706900" cy="4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850" b="1" i="0" cap="all" spc="100">
                <a:solidFill>
                  <a:srgbClr val="60607D"/>
                </a:solidFill>
              </a:rPr>
              <a:t>MODEL 2</a:t>
            </a:r>
          </a:p>
          <a:p>
            <a:pPr algn="l">
              <a:spcAft>
                <a:spcPts val="600"/>
              </a:spcAft>
            </a:pPr>
            <a:r>
              <a:rPr sz="1400" b="1" i="0">
                <a:solidFill>
                  <a:srgbClr val="000000"/>
                </a:solidFill>
              </a:rPr>
              <a:t>Velocity Based Delivery</a:t>
            </a:r>
          </a:p>
          <a:p>
            <a:pPr algn="l">
              <a:spcAft>
                <a:spcPts val="500"/>
              </a:spcAft>
            </a:pPr>
            <a:r>
              <a:rPr sz="1200" b="0" i="0">
                <a:solidFill>
                  <a:srgbClr val="000000"/>
                </a:solidFill>
              </a:rPr>
              <a:t>A contracted team delivers at a predictable, measurable pace; value is demonstrated through throughput and periodic releases, not a fixed feature list.</a:t>
            </a:r>
          </a:p>
          <a:p>
            <a:pPr algn="l">
              <a:spcBef>
                <a:spcPts val="500"/>
              </a:spcBef>
              <a:spcAft>
                <a:spcPts val="200"/>
              </a:spcAft>
            </a:pPr>
            <a:r>
              <a:rPr sz="1200" b="1" i="0">
                <a:solidFill>
                  <a:srgbClr val="000000"/>
                </a:solidFill>
              </a:rPr>
              <a:t>Key characteristics</a:t>
            </a:r>
          </a:p>
          <a:p>
            <a:pPr algn="l" marL="171450" indent="-171450">
              <a:spcAft>
                <a:spcPts val="500"/>
              </a:spcAft>
              <a:buFont typeface="Arial"/>
              <a:buChar char="•"/>
            </a:pPr>
            <a:r>
              <a:rPr sz="1200" b="0" i="0">
                <a:solidFill>
                  <a:srgbClr val="000000"/>
                </a:solidFill>
              </a:rPr>
              <a:t>No fixed scope commitment — backlog is client-prioritized, reordered freely</a:t>
            </a:r>
          </a:p>
          <a:p>
            <a:pPr algn="l" marL="171450" indent="-171450">
              <a:spcAft>
                <a:spcPts val="500"/>
              </a:spcAft>
              <a:buFont typeface="Arial"/>
              <a:buChar char="•"/>
            </a:pPr>
            <a:r>
              <a:rPr sz="1200" b="0" i="0">
                <a:solidFill>
                  <a:srgbClr val="000000"/>
                </a:solidFill>
              </a:rPr>
              <a:t>Velocity baseline is established and defended</a:t>
            </a:r>
          </a:p>
        </p:txBody>
      </p:sp>
      <p:sp>
        <p:nvSpPr>
          <p:cNvPr id="511" name="Rounded Rectangle 510"/>
          <p:cNvSpPr/>
          <p:nvPr/>
        </p:nvSpPr>
        <p:spPr>
          <a:xfrm>
            <a:off x="6171000" y="1170000"/>
            <a:ext cx="2706900" cy="4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850" b="1" i="0" cap="all" spc="100">
                <a:solidFill>
                  <a:srgbClr val="60607D"/>
                </a:solidFill>
              </a:rPr>
              <a:t>MODEL 3</a:t>
            </a:r>
          </a:p>
          <a:p>
            <a:pPr algn="l">
              <a:spcAft>
                <a:spcPts val="600"/>
              </a:spcAft>
            </a:pPr>
            <a:r>
              <a:rPr sz="1400" b="1" i="0">
                <a:solidFill>
                  <a:srgbClr val="000000"/>
                </a:solidFill>
              </a:rPr>
              <a:t>Outcomes Based Delivery</a:t>
            </a:r>
          </a:p>
          <a:p>
            <a:pPr algn="l">
              <a:spcAft>
                <a:spcPts val="500"/>
              </a:spcAft>
            </a:pPr>
            <a:r>
              <a:rPr sz="1200" b="0" i="0">
                <a:solidFill>
                  <a:srgbClr val="000000"/>
                </a:solidFill>
              </a:rPr>
              <a:t>A strategic product partnership; the backlog exists to move measurable business outcomes, not just to ship features.</a:t>
            </a:r>
          </a:p>
          <a:p>
            <a:pPr algn="l">
              <a:spcBef>
                <a:spcPts val="500"/>
              </a:spcBef>
              <a:spcAft>
                <a:spcPts val="200"/>
              </a:spcAft>
            </a:pPr>
            <a:r>
              <a:rPr sz="1200" b="1" i="0">
                <a:solidFill>
                  <a:srgbClr val="000000"/>
                </a:solidFill>
              </a:rPr>
              <a:t>Key characteristics</a:t>
            </a:r>
          </a:p>
          <a:p>
            <a:pPr algn="l" marL="171450" indent="-171450">
              <a:spcAft>
                <a:spcPts val="500"/>
              </a:spcAft>
              <a:buFont typeface="Arial"/>
              <a:buChar char="•"/>
            </a:pPr>
            <a:r>
              <a:rPr sz="1200" b="0" i="0">
                <a:solidFill>
                  <a:srgbClr val="000000"/>
                </a:solidFill>
              </a:rPr>
              <a:t>Every backlog item is anchored to an OKR before it enters a sprint</a:t>
            </a:r>
          </a:p>
          <a:p>
            <a:pPr algn="l" marL="171450" indent="-171450">
              <a:spcAft>
                <a:spcPts val="500"/>
              </a:spcAft>
              <a:buFont typeface="Arial"/>
              <a:buChar char="•"/>
            </a:pPr>
            <a:r>
              <a:rPr sz="1200" b="0" i="0">
                <a:solidFill>
                  <a:srgbClr val="000000"/>
                </a:solidFill>
              </a:rPr>
              <a:t>Client Product Owner co-owns the roadmap (not just consulted)</a:t>
            </a:r>
          </a:p>
        </p:txBody>
      </p:sp>
      <p:sp>
        <p:nvSpPr>
          <p:cNvPr id="512" name="Rounded Rectangle 511"/>
          <p:cNvSpPr/>
          <p:nvPr/>
        </p:nvSpPr>
        <p:spPr>
          <a:xfrm>
            <a:off x="9027900" y="1170000"/>
            <a:ext cx="2706900" cy="4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850" b="1" i="0" cap="all" spc="100">
                <a:solidFill>
                  <a:srgbClr val="60607D"/>
                </a:solidFill>
              </a:rPr>
              <a:t>MODEL 4</a:t>
            </a:r>
          </a:p>
          <a:p>
            <a:pPr algn="l">
              <a:spcAft>
                <a:spcPts val="600"/>
              </a:spcAft>
            </a:pPr>
            <a:r>
              <a:rPr sz="1400" b="1" i="0">
                <a:solidFill>
                  <a:srgbClr val="000000"/>
                </a:solidFill>
              </a:rPr>
              <a:t>Retainer (Site Support Example)</a:t>
            </a:r>
          </a:p>
          <a:p>
            <a:pPr algn="l">
              <a:spcAft>
                <a:spcPts val="500"/>
              </a:spcAft>
            </a:pPr>
            <a:r>
              <a:rPr sz="1200" b="0" i="0">
                <a:solidFill>
                  <a:srgbClr val="000000"/>
                </a:solidFill>
              </a:rPr>
              <a:t>Live Ops/Support retainer running and sustaining what's already been built. This is not new development, this is protecting existing value and responding to it.</a:t>
            </a:r>
          </a:p>
          <a:p>
            <a:pPr algn="l">
              <a:spcBef>
                <a:spcPts val="500"/>
              </a:spcBef>
              <a:spcAft>
                <a:spcPts val="200"/>
              </a:spcAft>
            </a:pPr>
            <a:r>
              <a:rPr sz="1200" b="1" i="0">
                <a:solidFill>
                  <a:srgbClr val="000000"/>
                </a:solidFill>
              </a:rPr>
              <a:t>Key characteristics</a:t>
            </a:r>
          </a:p>
          <a:p>
            <a:pPr algn="l" marL="171450" indent="-171450">
              <a:spcAft>
                <a:spcPts val="500"/>
              </a:spcAft>
              <a:buFont typeface="Arial"/>
              <a:buChar char="•"/>
            </a:pPr>
            <a:r>
              <a:rPr sz="1200" b="0" i="0">
                <a:solidFill>
                  <a:srgbClr val="000000"/>
                </a:solidFill>
              </a:rPr>
              <a:t>Scope is reactive + scheduled maintenance</a:t>
            </a:r>
          </a:p>
          <a:p>
            <a:pPr algn="l" marL="171450" indent="-171450">
              <a:spcAft>
                <a:spcPts val="500"/>
              </a:spcAft>
              <a:buFont typeface="Arial"/>
              <a:buChar char="•"/>
            </a:pPr>
            <a:r>
              <a:rPr sz="1200" b="0" i="0">
                <a:solidFill>
                  <a:srgbClr val="000000"/>
                </a:solidFill>
              </a:rPr>
              <a:t>Governed by SLAs (response/resolution time by severity)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Estimation, Pricing, and Staffing</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AFTER THE MVP</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3659200" cy="4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850" b="1" i="0" cap="all" spc="100">
                <a:solidFill>
                  <a:srgbClr val="60607D"/>
                </a:solidFill>
              </a:rPr>
              <a:t>Story 4</a:t>
            </a:r>
          </a:p>
          <a:p>
            <a:pPr algn="l">
              <a:spcAft>
                <a:spcPts val="600"/>
              </a:spcAft>
            </a:pPr>
            <a:r>
              <a:rPr sz="1450" b="1" i="0">
                <a:solidFill>
                  <a:srgbClr val="000000"/>
                </a:solidFill>
              </a:rPr>
              <a:t>Estimation</a:t>
            </a:r>
          </a:p>
          <a:p>
            <a:pPr algn="l">
              <a:spcBef>
                <a:spcPts val="400"/>
              </a:spcBef>
              <a:spcAft>
                <a:spcPts val="200"/>
              </a:spcAft>
            </a:pPr>
            <a:r>
              <a:rPr sz="850" b="1" i="0" cap="all" spc="100">
                <a:solidFill>
                  <a:srgbClr val="60607D"/>
                </a:solidFill>
              </a:rPr>
              <a:t>What it is</a:t>
            </a:r>
          </a:p>
          <a:p>
            <a:pPr algn="l">
              <a:spcAft>
                <a:spcPts val="500"/>
              </a:spcAft>
            </a:pPr>
            <a:r>
              <a:rPr sz="1250" b="0" i="0">
                <a:solidFill>
                  <a:srgbClr val="000000"/>
                </a:solidFill>
              </a:rPr>
              <a:t>This playbook ends siloed estimation by bringing the right people in before the deal closes, ensuring our pricing tools reflect true deliverability, not just theoretical margin.</a:t>
            </a:r>
          </a:p>
          <a:p>
            <a:pPr algn="l">
              <a:spcBef>
                <a:spcPts val="400"/>
              </a:spcBef>
              <a:spcAft>
                <a:spcPts val="200"/>
              </a:spcAft>
            </a:pPr>
            <a:r>
              <a:rPr sz="850" b="1" i="0" cap="all" spc="100">
                <a:solidFill>
                  <a:srgbClr val="60607D"/>
                </a:solidFill>
              </a:rPr>
              <a:t>How we measure success</a:t>
            </a:r>
          </a:p>
          <a:p>
            <a:pPr algn="l">
              <a:spcAft>
                <a:spcPts val="500"/>
              </a:spcAft>
            </a:pPr>
            <a:r>
              <a:rPr sz="1200" b="0" i="1">
                <a:solidFill>
                  <a:srgbClr val="60607D"/>
                </a:solidFill>
              </a:rPr>
              <a:t>[Signal, how we measure it, today, target and date.]</a:t>
            </a:r>
          </a:p>
          <a:p>
            <a:pPr algn="l">
              <a:spcBef>
                <a:spcPts val="400"/>
              </a:spcBef>
              <a:spcAft>
                <a:spcPts val="200"/>
              </a:spcAft>
            </a:pPr>
            <a:r>
              <a:rPr sz="850" b="1" i="0" cap="all" spc="100">
                <a:solidFill>
                  <a:srgbClr val="60607D"/>
                </a:solidFill>
              </a:rPr>
              <a:t>Owner and team</a:t>
            </a:r>
          </a:p>
          <a:p>
            <a:pPr algn="l">
              <a:spcAft>
                <a:spcPts val="500"/>
              </a:spcAft>
            </a:pPr>
            <a:r>
              <a:rPr sz="1200" b="0" i="1">
                <a:solidFill>
                  <a:srgbClr val="60607D"/>
                </a:solidFill>
              </a:rPr>
              <a:t>[Names.]</a:t>
            </a:r>
          </a:p>
          <a:p>
            <a:pPr algn="l">
              <a:spcBef>
                <a:spcPts val="400"/>
              </a:spcBef>
              <a:spcAft>
                <a:spcPts val="200"/>
              </a:spcAft>
            </a:pPr>
            <a:r>
              <a:rPr sz="850" b="1" i="0" cap="all" spc="100">
                <a:solidFill>
                  <a:srgbClr val="60607D"/>
                </a:solidFill>
              </a:rPr>
              <a:t>Shooting for</a:t>
            </a:r>
          </a:p>
          <a:p>
            <a:pPr algn="l">
              <a:spcAft>
                <a:spcPts val="500"/>
              </a:spcAft>
            </a:pPr>
            <a:r>
              <a:rPr sz="1200" b="0" i="1">
                <a:solidFill>
                  <a:srgbClr val="60607D"/>
                </a:solidFill>
              </a:rPr>
              <a:t>[Target date.]</a:t>
            </a:r>
          </a:p>
        </p:txBody>
      </p:sp>
      <p:sp>
        <p:nvSpPr>
          <p:cNvPr id="510" name="Rounded Rectangle 509"/>
          <p:cNvSpPr/>
          <p:nvPr/>
        </p:nvSpPr>
        <p:spPr>
          <a:xfrm>
            <a:off x="4266400" y="1170000"/>
            <a:ext cx="3659200" cy="4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850" b="1" i="0" cap="all" spc="100">
                <a:solidFill>
                  <a:srgbClr val="60607D"/>
                </a:solidFill>
              </a:rPr>
              <a:t>Story 5</a:t>
            </a:r>
          </a:p>
          <a:p>
            <a:pPr algn="l">
              <a:spcAft>
                <a:spcPts val="600"/>
              </a:spcAft>
            </a:pPr>
            <a:r>
              <a:rPr sz="1450" b="1" i="0">
                <a:solidFill>
                  <a:srgbClr val="000000"/>
                </a:solidFill>
              </a:rPr>
              <a:t>Pricing</a:t>
            </a:r>
          </a:p>
          <a:p>
            <a:pPr algn="l">
              <a:spcBef>
                <a:spcPts val="400"/>
              </a:spcBef>
              <a:spcAft>
                <a:spcPts val="200"/>
              </a:spcAft>
            </a:pPr>
            <a:r>
              <a:rPr sz="850" b="1" i="0" cap="all" spc="100">
                <a:solidFill>
                  <a:srgbClr val="60607D"/>
                </a:solidFill>
              </a:rPr>
              <a:t>What it is</a:t>
            </a:r>
          </a:p>
          <a:p>
            <a:pPr algn="l">
              <a:spcAft>
                <a:spcPts val="500"/>
              </a:spcAft>
            </a:pPr>
            <a:r>
              <a:rPr sz="1250" b="0" i="0">
                <a:solidFill>
                  <a:srgbClr val="000000"/>
                </a:solidFill>
              </a:rPr>
              <a:t>We will purposefully weave AI capabilities into these methodologies from the start. This allows us to accurately scope future baseline roles and begin transitioning toward metered or token-based commercial pricing.</a:t>
            </a:r>
          </a:p>
          <a:p>
            <a:pPr algn="l">
              <a:spcBef>
                <a:spcPts val="400"/>
              </a:spcBef>
              <a:spcAft>
                <a:spcPts val="200"/>
              </a:spcAft>
            </a:pPr>
            <a:r>
              <a:rPr sz="850" b="1" i="0" cap="all" spc="100">
                <a:solidFill>
                  <a:srgbClr val="60607D"/>
                </a:solidFill>
              </a:rPr>
              <a:t>How we measure success</a:t>
            </a:r>
          </a:p>
          <a:p>
            <a:pPr algn="l">
              <a:spcAft>
                <a:spcPts val="500"/>
              </a:spcAft>
            </a:pPr>
            <a:r>
              <a:rPr sz="1200" b="0" i="1">
                <a:solidFill>
                  <a:srgbClr val="60607D"/>
                </a:solidFill>
              </a:rPr>
              <a:t>[Signal, how we measure it, today, target and date.]</a:t>
            </a:r>
          </a:p>
          <a:p>
            <a:pPr algn="l">
              <a:spcBef>
                <a:spcPts val="400"/>
              </a:spcBef>
              <a:spcAft>
                <a:spcPts val="200"/>
              </a:spcAft>
            </a:pPr>
            <a:r>
              <a:rPr sz="850" b="1" i="0" cap="all" spc="100">
                <a:solidFill>
                  <a:srgbClr val="60607D"/>
                </a:solidFill>
              </a:rPr>
              <a:t>Owner and team</a:t>
            </a:r>
          </a:p>
          <a:p>
            <a:pPr algn="l">
              <a:spcAft>
                <a:spcPts val="500"/>
              </a:spcAft>
            </a:pPr>
            <a:r>
              <a:rPr sz="1200" b="0" i="1">
                <a:solidFill>
                  <a:srgbClr val="60607D"/>
                </a:solidFill>
              </a:rPr>
              <a:t>[Names.]</a:t>
            </a:r>
          </a:p>
          <a:p>
            <a:pPr algn="l">
              <a:spcBef>
                <a:spcPts val="400"/>
              </a:spcBef>
              <a:spcAft>
                <a:spcPts val="200"/>
              </a:spcAft>
            </a:pPr>
            <a:r>
              <a:rPr sz="850" b="1" i="0" cap="all" spc="100">
                <a:solidFill>
                  <a:srgbClr val="60607D"/>
                </a:solidFill>
              </a:rPr>
              <a:t>Shooting for</a:t>
            </a:r>
          </a:p>
          <a:p>
            <a:pPr algn="l">
              <a:spcAft>
                <a:spcPts val="500"/>
              </a:spcAft>
            </a:pPr>
            <a:r>
              <a:rPr sz="1200" b="0" i="1">
                <a:solidFill>
                  <a:srgbClr val="60607D"/>
                </a:solidFill>
              </a:rPr>
              <a:t>[Target date.]</a:t>
            </a:r>
          </a:p>
        </p:txBody>
      </p:sp>
      <p:sp>
        <p:nvSpPr>
          <p:cNvPr id="511" name="Rounded Rectangle 510"/>
          <p:cNvSpPr/>
          <p:nvPr/>
        </p:nvSpPr>
        <p:spPr>
          <a:xfrm>
            <a:off x="8075600" y="1170000"/>
            <a:ext cx="3659200" cy="4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200"/>
              </a:spcAft>
            </a:pPr>
            <a:r>
              <a:rPr sz="850" b="1" i="0" cap="all" spc="100">
                <a:solidFill>
                  <a:srgbClr val="60607D"/>
                </a:solidFill>
              </a:rPr>
              <a:t>Story 6</a:t>
            </a:r>
          </a:p>
          <a:p>
            <a:pPr algn="l">
              <a:spcAft>
                <a:spcPts val="600"/>
              </a:spcAft>
            </a:pPr>
            <a:r>
              <a:rPr sz="1450" b="1" i="0">
                <a:solidFill>
                  <a:srgbClr val="000000"/>
                </a:solidFill>
              </a:rPr>
              <a:t>Staffing</a:t>
            </a:r>
          </a:p>
          <a:p>
            <a:pPr algn="l">
              <a:spcBef>
                <a:spcPts val="400"/>
              </a:spcBef>
              <a:spcAft>
                <a:spcPts val="200"/>
              </a:spcAft>
            </a:pPr>
            <a:r>
              <a:rPr sz="850" b="1" i="0" cap="all" spc="100">
                <a:solidFill>
                  <a:srgbClr val="60607D"/>
                </a:solidFill>
              </a:rPr>
              <a:t>What it is</a:t>
            </a:r>
          </a:p>
          <a:p>
            <a:pPr algn="l">
              <a:spcAft>
                <a:spcPts val="500"/>
              </a:spcAft>
            </a:pPr>
            <a:r>
              <a:rPr sz="1200" b="0" i="1">
                <a:solidFill>
                  <a:srgbClr val="60607D"/>
                </a:solidFill>
              </a:rPr>
              <a:t>[What this story is, in plain words.]</a:t>
            </a:r>
          </a:p>
          <a:p>
            <a:pPr algn="l">
              <a:spcBef>
                <a:spcPts val="400"/>
              </a:spcBef>
              <a:spcAft>
                <a:spcPts val="200"/>
              </a:spcAft>
            </a:pPr>
            <a:r>
              <a:rPr sz="850" b="1" i="0" cap="all" spc="100">
                <a:solidFill>
                  <a:srgbClr val="60607D"/>
                </a:solidFill>
              </a:rPr>
              <a:t>How we measure success</a:t>
            </a:r>
          </a:p>
          <a:p>
            <a:pPr algn="l">
              <a:spcAft>
                <a:spcPts val="500"/>
              </a:spcAft>
            </a:pPr>
            <a:r>
              <a:rPr sz="1200" b="0" i="1">
                <a:solidFill>
                  <a:srgbClr val="60607D"/>
                </a:solidFill>
              </a:rPr>
              <a:t>[Signal, how we measure it, today, target and date.]</a:t>
            </a:r>
          </a:p>
          <a:p>
            <a:pPr algn="l">
              <a:spcBef>
                <a:spcPts val="400"/>
              </a:spcBef>
              <a:spcAft>
                <a:spcPts val="200"/>
              </a:spcAft>
            </a:pPr>
            <a:r>
              <a:rPr sz="850" b="1" i="0" cap="all" spc="100">
                <a:solidFill>
                  <a:srgbClr val="60607D"/>
                </a:solidFill>
              </a:rPr>
              <a:t>Owner and team</a:t>
            </a:r>
          </a:p>
          <a:p>
            <a:pPr algn="l">
              <a:spcAft>
                <a:spcPts val="500"/>
              </a:spcAft>
            </a:pPr>
            <a:r>
              <a:rPr sz="1200" b="0" i="1">
                <a:solidFill>
                  <a:srgbClr val="60607D"/>
                </a:solidFill>
              </a:rPr>
              <a:t>[Names.]</a:t>
            </a:r>
          </a:p>
          <a:p>
            <a:pPr algn="l">
              <a:spcBef>
                <a:spcPts val="400"/>
              </a:spcBef>
              <a:spcAft>
                <a:spcPts val="200"/>
              </a:spcAft>
            </a:pPr>
            <a:r>
              <a:rPr sz="850" b="1" i="0" cap="all" spc="100">
                <a:solidFill>
                  <a:srgbClr val="60607D"/>
                </a:solidFill>
              </a:rPr>
              <a:t>Shooting for</a:t>
            </a:r>
          </a:p>
          <a:p>
            <a:pPr algn="l">
              <a:spcAft>
                <a:spcPts val="500"/>
              </a:spcAft>
            </a:pPr>
            <a:r>
              <a:rPr sz="1200" b="0" i="1">
                <a:solidFill>
                  <a:srgbClr val="60607D"/>
                </a:solidFill>
              </a:rPr>
              <a:t>[Target date.]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TEMPLATE · ADDITIONAL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11277600" cy="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256032" tIns="73152" rIns="228600" bIns="54864"/>
          <a:lstStyle/>
          <a:p>
            <a:pPr algn="l">
              <a:spcBef>
                <a:spcPts val="400"/>
              </a:spcBef>
              <a:spcAft>
                <a:spcPts val="200"/>
              </a:spcAft>
            </a:pPr>
            <a:r>
              <a:rPr sz="850" b="1" i="0" cap="all" spc="100">
                <a:solidFill>
                  <a:srgbClr val="60607D"/>
                </a:solidFill>
              </a:rPr>
              <a:t>Use this when a story needs more than the core slide</a:t>
            </a:r>
          </a:p>
          <a:p>
            <a:pPr algn="l">
              <a:spcAft>
                <a:spcPts val="500"/>
              </a:spcAft>
            </a:pPr>
            <a:r>
              <a:rPr sz="1200" b="0" i="1">
                <a:solidFill>
                  <a:srgbClr val="60607D"/>
                </a:solidFill>
              </a:rPr>
              <a:t>Pick what helps people see it or trust it. Two to four blocks, each with a header. Delete the slide if there is nothing to add.</a:t>
            </a:r>
          </a:p>
        </p:txBody>
      </p:sp>
      <p:sp>
        <p:nvSpPr>
          <p:cNvPr id="510" name="Rounded Rectangle 509"/>
          <p:cNvSpPr/>
          <p:nvPr/>
        </p:nvSpPr>
        <p:spPr>
          <a:xfrm>
            <a:off x="457200" y="2020000"/>
            <a:ext cx="2706900" cy="35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Bef>
                <a:spcPts val="400"/>
              </a:spcBef>
              <a:spcAft>
                <a:spcPts val="200"/>
              </a:spcAft>
            </a:pPr>
            <a:r>
              <a:rPr sz="850" b="1" i="0" cap="all" spc="100">
                <a:solidFill>
                  <a:srgbClr val="60607D"/>
                </a:solidFill>
              </a:rPr>
              <a:t>Could be</a:t>
            </a:r>
          </a:p>
          <a:p>
            <a:pPr algn="l">
              <a:spcBef>
                <a:spcPts val="500"/>
              </a:spcBef>
              <a:spcAft>
                <a:spcPts val="200"/>
              </a:spcAft>
            </a:pPr>
            <a:r>
              <a:rPr sz="1250" b="1" i="0">
                <a:solidFill>
                  <a:srgbClr val="000000"/>
                </a:solidFill>
              </a:rPr>
              <a:t>The options or models</a:t>
            </a:r>
          </a:p>
          <a:p>
            <a:pPr algn="l">
              <a:spcAft>
                <a:spcPts val="500"/>
              </a:spcAft>
            </a:pPr>
            <a:r>
              <a:rPr sz="1200" b="0" i="1">
                <a:solidFill>
                  <a:srgbClr val="60607D"/>
                </a:solidFill>
              </a:rPr>
              <a:t>[The options we considered, the models, or the categories, and what defines each. Example: the four starting models for Delivery Models.]</a:t>
            </a:r>
          </a:p>
        </p:txBody>
      </p:sp>
      <p:sp>
        <p:nvSpPr>
          <p:cNvPr id="511" name="Rounded Rectangle 510"/>
          <p:cNvSpPr/>
          <p:nvPr/>
        </p:nvSpPr>
        <p:spPr>
          <a:xfrm>
            <a:off x="3314100" y="2020000"/>
            <a:ext cx="2706900" cy="35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Bef>
                <a:spcPts val="400"/>
              </a:spcBef>
              <a:spcAft>
                <a:spcPts val="200"/>
              </a:spcAft>
            </a:pPr>
            <a:r>
              <a:rPr sz="850" b="1" i="0" cap="all" spc="100">
                <a:solidFill>
                  <a:srgbClr val="60607D"/>
                </a:solidFill>
              </a:rPr>
              <a:t>Could be</a:t>
            </a:r>
          </a:p>
          <a:p>
            <a:pPr algn="l">
              <a:spcBef>
                <a:spcPts val="500"/>
              </a:spcBef>
              <a:spcAft>
                <a:spcPts val="200"/>
              </a:spcAft>
            </a:pPr>
            <a:r>
              <a:rPr sz="1250" b="1" i="0">
                <a:solidFill>
                  <a:srgbClr val="000000"/>
                </a:solidFill>
              </a:rPr>
              <a:t>A diagram or flow</a:t>
            </a:r>
          </a:p>
          <a:p>
            <a:pPr algn="l">
              <a:spcAft>
                <a:spcPts val="500"/>
              </a:spcAft>
            </a:pPr>
            <a:r>
              <a:rPr sz="1200" b="0" i="1">
                <a:solidFill>
                  <a:srgbClr val="60607D"/>
                </a:solidFill>
              </a:rPr>
              <a:t>[How it works, in a picture or a few steps.]</a:t>
            </a:r>
          </a:p>
        </p:txBody>
      </p:sp>
      <p:sp>
        <p:nvSpPr>
          <p:cNvPr id="512" name="Rounded Rectangle 511"/>
          <p:cNvSpPr/>
          <p:nvPr/>
        </p:nvSpPr>
        <p:spPr>
          <a:xfrm>
            <a:off x="6171000" y="2020000"/>
            <a:ext cx="2706900" cy="35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Bef>
                <a:spcPts val="400"/>
              </a:spcBef>
              <a:spcAft>
                <a:spcPts val="200"/>
              </a:spcAft>
            </a:pPr>
            <a:r>
              <a:rPr sz="850" b="1" i="0" cap="all" spc="100">
                <a:solidFill>
                  <a:srgbClr val="60607D"/>
                </a:solidFill>
              </a:rPr>
              <a:t>Could be</a:t>
            </a:r>
          </a:p>
          <a:p>
            <a:pPr algn="l">
              <a:spcBef>
                <a:spcPts val="500"/>
              </a:spcBef>
              <a:spcAft>
                <a:spcPts val="200"/>
              </a:spcAft>
            </a:pPr>
            <a:r>
              <a:rPr sz="1250" b="1" i="0">
                <a:solidFill>
                  <a:srgbClr val="000000"/>
                </a:solidFill>
              </a:rPr>
              <a:t>Show it</a:t>
            </a:r>
          </a:p>
          <a:p>
            <a:pPr algn="l">
              <a:spcAft>
                <a:spcPts val="500"/>
              </a:spcAft>
            </a:pPr>
            <a:r>
              <a:rPr sz="1200" b="0" i="1">
                <a:solidFill>
                  <a:srgbClr val="60607D"/>
                </a:solidFill>
              </a:rPr>
              <a:t>[A demo, a screenshot, or a link. A client or internal example. Before and after.]</a:t>
            </a:r>
          </a:p>
        </p:txBody>
      </p:sp>
      <p:sp>
        <p:nvSpPr>
          <p:cNvPr id="513" name="Rounded Rectangle 512"/>
          <p:cNvSpPr/>
          <p:nvPr/>
        </p:nvSpPr>
        <p:spPr>
          <a:xfrm>
            <a:off x="9027900" y="2020000"/>
            <a:ext cx="2706900" cy="35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[Add a header]</a:t>
            </a:r>
          </a:p>
          <a:p>
            <a:pPr algn="l">
              <a:spcBef>
                <a:spcPts val="400"/>
              </a:spcBef>
              <a:spcAft>
                <a:spcPts val="200"/>
              </a:spcAft>
            </a:pPr>
            <a:r>
              <a:rPr sz="850" b="1" i="0" cap="all" spc="100">
                <a:solidFill>
                  <a:srgbClr val="60607D"/>
                </a:solidFill>
              </a:rPr>
              <a:t>Could be</a:t>
            </a:r>
          </a:p>
          <a:p>
            <a:pPr algn="l">
              <a:spcBef>
                <a:spcPts val="500"/>
              </a:spcBef>
              <a:spcAft>
                <a:spcPts val="200"/>
              </a:spcAft>
            </a:pPr>
            <a:r>
              <a:rPr sz="1250" b="1" i="0">
                <a:solidFill>
                  <a:srgbClr val="000000"/>
                </a:solidFill>
              </a:rPr>
              <a:t>Back it up</a:t>
            </a:r>
          </a:p>
          <a:p>
            <a:pPr algn="l">
              <a:spcAft>
                <a:spcPts val="500"/>
              </a:spcAft>
            </a:pPr>
            <a:r>
              <a:rPr sz="1200" b="0" i="1">
                <a:solidFill>
                  <a:srgbClr val="60607D"/>
                </a:solidFill>
              </a:rPr>
              <a:t>[Key numbers and where they come from. What it costs. Questions we expect, with answers.]</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5.xml><?xml version="1.0" encoding="utf-8"?>
<TemplafySlideFormConfiguration><![CDATA[{"formFields":[],"formDataEntries":[]}]]></TemplafySlideFormConfiguration>
</file>

<file path=customXml/itemProps1.xml><?xml version="1.0" encoding="utf-8"?>
<ds:datastoreItem xmlns:ds="http://schemas.openxmlformats.org/officeDocument/2006/customXml" ds:itemID="{32C947A3-4CBF-434C-A709-03C12B0F1660}">
  <ds:schemaRef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purl.org/dc/elements/1.1/"/>
    <ds:schemaRef ds:uri="ffd69ccd-669e-4a1a-b9ff-a607e277eb6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C2D6E68-51DB-4BFD-88E4-E31D99A1A821}">
  <ds:schemaRefs/>
</ds:datastoreItem>
</file>

<file path=customXml/itemProps3.xml><?xml version="1.0" encoding="utf-8"?>
<ds:datastoreItem xmlns:ds="http://schemas.openxmlformats.org/officeDocument/2006/customXml" ds:itemID="{3A934794-B7B9-40A5-BC3E-83474445FB2C}">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8ED5A302-E581-4954-9104-07BBB2BA16EA}">
  <ds:schemaRefs/>
</ds:datastoreItem>
</file>

<file path=customXml/itemProps6.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7.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xml><?xml version="1.0" encoding="utf-8"?>
<ds:datastoreItem xmlns:ds="http://schemas.openxmlformats.org/officeDocument/2006/customXml" ds:itemID="{C978122E-4CF7-4DAF-A638-3228CFE4D0E4}">
  <ds:schemaRefs/>
</ds:datastoreItem>
</file>

<file path=customXml/itemProps9.xml><?xml version="1.0" encoding="utf-8"?>
<ds:datastoreItem xmlns:ds="http://schemas.openxmlformats.org/officeDocument/2006/customXml" ds:itemID="{641488FD-1F5F-4710-8EC0-17A522704CC6}">
  <ds:schemaRefs/>
</ds:datastoreItem>
</file>

<file path=customXml/itemProps10.xml><?xml version="1.0" encoding="utf-8"?>
<ds:datastoreItem xmlns:ds="http://schemas.openxmlformats.org/officeDocument/2006/customXml" ds:itemID="{B82A8263-E571-43F3-9E91-8424F188A071}">
  <ds:schemaRefs/>
</ds:datastoreItem>
</file>

<file path=customXml/itemProps11.xml><?xml version="1.0" encoding="utf-8"?>
<ds:datastoreItem xmlns:ds="http://schemas.openxmlformats.org/officeDocument/2006/customXml" ds:itemID="{D19811AB-F04C-4CB1-906B-120DD81CEC00}">
  <ds:schemaRefs/>
</ds:datastoreItem>
</file>

<file path=customXml/itemProps12.xml><?xml version="1.0" encoding="utf-8"?>
<ds:datastoreItem xmlns:ds="http://schemas.openxmlformats.org/officeDocument/2006/customXml" ds:itemID="{C45642DC-9A5F-4645-ADA4-4C9C3418D003}">
  <ds:schemaRefs/>
</ds:datastoreItem>
</file>

<file path=customXml/itemProps13.xml><?xml version="1.0" encoding="utf-8"?>
<ds:datastoreItem xmlns:ds="http://schemas.openxmlformats.org/officeDocument/2006/customXml" ds:itemID="{4D8D6E3D-6D95-4645-9B5B-00A02728EFE6}">
  <ds:schemaRefs/>
</ds:datastoreItem>
</file>

<file path=customXml/itemProps14.xml><?xml version="1.0" encoding="utf-8"?>
<ds:datastoreItem xmlns:ds="http://schemas.openxmlformats.org/officeDocument/2006/customXml" ds:itemID="{7175AA37-2E84-4AD4-A69B-19A9990FFAFF}">
  <ds:schemaRefs/>
</ds:datastoreItem>
</file>

<file path=customXml/itemProps15.xml><?xml version="1.0" encoding="utf-8"?>
<ds:datastoreItem xmlns:ds="http://schemas.openxmlformats.org/officeDocument/2006/customXml" ds:itemID="{E15543A8-80BA-4997-B7AD-F61A4B2E048D}">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1006</TotalTime>
  <Words>2141</Words>
  <Application>Microsoft Office PowerPoint</Application>
  <PresentationFormat>Widescreen</PresentationFormat>
  <Paragraphs>168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Aptos</vt:lpstr>
      <vt:lpstr>Proxima Nova</vt:lpstr>
      <vt:lpstr>COLLABORATIVE WIREFRAME - 2025</vt:lpstr>
      <vt:lpstr>Play to Win</vt:lpstr>
      <vt:lpstr>B2B Growth Platform</vt:lpstr>
      <vt:lpstr>Deal to Delivery Playbook: Context</vt:lpstr>
      <vt:lpstr>Deal to Delivery Playbook: Update</vt:lpstr>
      <vt:lpstr>Accountability Framework: Context</vt:lpstr>
      <vt:lpstr>Accountability Framework: Update</vt:lpstr>
      <vt:lpstr>Intake Updates: Context</vt:lpstr>
      <vt:lpstr>Intake Updates: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4</cp:revision>
  <dcterms:created xsi:type="dcterms:W3CDTF">2026-08-19T11:07:14Z</dcterms:created>
  <dcterms:modified xsi:type="dcterms:W3CDTF">2026-10-21T14:19:20Z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