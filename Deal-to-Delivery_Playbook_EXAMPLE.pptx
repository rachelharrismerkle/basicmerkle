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262" r:id="rId38"/>
    <p:sldId id="2147483647" r:id="rId19"/>
    <p:sldId id="257" r:id="rId20"/>
    <p:sldId id="256" r:id="rId24"/>
    <p:sldId id="258" r:id="rId23"/>
    <p:sldId id="259" r:id="rId22"/>
    <p:sldId id="260" r:id="rId21"/>
    <p:sldId id="261" r:id="rId18"/>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8" Type="http://schemas.openxmlformats.org/officeDocument/2006/relationships/slide" Target="slides/slide8.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7.xml"/><Relationship Id="rId22" Type="http://schemas.openxmlformats.org/officeDocument/2006/relationships/slide" Target="slides/slide6.xml"/><Relationship Id="rId23" Type="http://schemas.openxmlformats.org/officeDocument/2006/relationships/slide" Target="slides/slide5.xml"/><Relationship Id="rId24" Type="http://schemas.openxmlformats.org/officeDocument/2006/relationships/slide" Target="slides/slide4.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 MVP, then what comes after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457200" y="1170000"/>
            <a:ext cx="7000000" cy="54864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a:p>
            <a:pPr algn="l">
              <a:spcAft>
                <a:spcPts val="500"/>
              </a:spcAft>
            </a:pPr>
            <a:r>
              <a:rPr sz="1200" b="0" i="0">
                <a:solidFill>
                  <a:srgbClr val="000000"/>
                </a:solidFill>
              </a:rPr>
              <a:t>Three stories, not one, because all three must work together for this to work.</a:t>
            </a:r>
          </a:p>
        </p:txBody>
      </p:sp>
      <p:sp>
        <p:nvSpPr>
          <p:cNvPr id="510" name="TextBox 509"/>
          <p:cNvSpPr txBox="1"/>
          <p:nvPr/>
        </p:nvSpPr>
        <p:spPr>
          <a:xfrm>
            <a:off x="7607200" y="1170000"/>
            <a:ext cx="4127600" cy="54864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a:p>
            <a:pPr algn="l">
              <a:spcAft>
                <a:spcPts val="500"/>
              </a:spcAft>
            </a:pPr>
            <a:r>
              <a:rPr sz="1200" b="0" i="0">
                <a:solidFill>
                  <a:srgbClr val="000000"/>
                </a:solidFill>
              </a:rPr>
              <a:t>Supported by AI: Estimation, Pricing, and Staffing follow once the MVP is solid.</a:t>
            </a:r>
          </a:p>
        </p:txBody>
      </p:sp>
      <p:sp>
        <p:nvSpPr>
          <p:cNvPr id="511" name="Rounded Rectangle 510"/>
          <p:cNvSpPr/>
          <p:nvPr/>
        </p:nvSpPr>
        <p:spPr>
          <a:xfrm>
            <a:off x="457200" y="1883232"/>
            <a:ext cx="7000000" cy="1300000"/>
          </a:xfrm>
          <a:prstGeom prst="roundRect">
            <a:avLst>
              <a:gd name="adj" fmla="val 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713232" tIns="91440" rIns="182880"/>
          <a:lstStyle/>
          <a:p>
            <a:pPr algn="l">
              <a:spcBef>
                <a:spcPts val="500"/>
              </a:spcBef>
              <a:spcAft>
                <a:spcPts val="200"/>
              </a:spcAft>
            </a:pPr>
            <a:r>
              <a:rPr sz="1200" b="1" i="0">
                <a:solidFill>
                  <a:srgbClr val="000000"/>
                </a:solidFill>
              </a:rPr>
              <a:t>Delivery Models</a:t>
            </a:r>
          </a:p>
          <a:p>
            <a:pPr algn="l">
              <a:spcAft>
                <a:spcPts val="500"/>
              </a:spcAft>
            </a:pPr>
            <a:r>
              <a:rPr sz="1200" b="0" i="0">
                <a:solidFill>
                  <a:srgbClr val="000000"/>
                </a:solidFill>
              </a:rPr>
              <a:t>Every deal categorized at qualification into one of 5-6 core models, so pricing and staffing follow a known shape.</a:t>
            </a:r>
          </a:p>
        </p:txBody>
      </p:sp>
      <p:sp>
        <p:nvSpPr>
          <p:cNvPr id="512" name="Oval 511"/>
          <p:cNvSpPr/>
          <p:nvPr/>
        </p:nvSpPr>
        <p:spPr>
          <a:xfrm>
            <a:off x="640080" y="2350352"/>
            <a:ext cx="365760" cy="365760"/>
          </a:xfrm>
          <a:prstGeom prst="ellipse">
            <a:avLst/>
          </a:prstGeom>
          <a:solidFill>
            <a:srgbClr val="000000"/>
          </a:solidFill>
          <a:ln>
            <a:noFill/>
          </a:ln>
        </p:spPr>
        <p:txBody>
          <a:bodyPr rtlCol="0" anchor="ctr" lIns="0" rIns="0" tIns="0" bIns="0"/>
          <a:lstStyle/>
          <a:p>
            <a:pPr algn="ctr"/>
            <a:r>
              <a:rPr sz="1200" b="1" i="0">
                <a:solidFill>
                  <a:srgbClr val="FFFFFF"/>
                </a:solidFill>
              </a:rPr>
              <a:t>1</a:t>
            </a:r>
          </a:p>
        </p:txBody>
      </p:sp>
      <p:sp>
        <p:nvSpPr>
          <p:cNvPr id="513" name="Rounded Rectangle 512"/>
          <p:cNvSpPr/>
          <p:nvPr/>
        </p:nvSpPr>
        <p:spPr>
          <a:xfrm>
            <a:off x="457200" y="3283232"/>
            <a:ext cx="7000000" cy="1300000"/>
          </a:xfrm>
          <a:prstGeom prst="roundRect">
            <a:avLst>
              <a:gd name="adj" fmla="val 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713232" tIns="91440" rIns="182880"/>
          <a:lstStyle/>
          <a:p>
            <a:pPr algn="l">
              <a:spcBef>
                <a:spcPts val="500"/>
              </a:spcBef>
              <a:spcAft>
                <a:spcPts val="200"/>
              </a:spcAft>
            </a:pPr>
            <a:r>
              <a:rPr sz="1200" b="1" i="0">
                <a:solidFill>
                  <a:srgbClr val="000000"/>
                </a:solidFill>
              </a:rPr>
              <a:t>Contracts</a:t>
            </a:r>
          </a:p>
          <a:p>
            <a:pPr algn="l">
              <a:spcAft>
                <a:spcPts val="500"/>
              </a:spcAft>
            </a:pPr>
            <a:r>
              <a:rPr sz="1200" b="0" i="0">
                <a:solidFill>
                  <a:srgbClr val="000000"/>
                </a:solidFill>
              </a:rPr>
              <a:t>Terms, scope language, and billing matched to the chosen model — no more fixed price with no scope control.</a:t>
            </a:r>
          </a:p>
        </p:txBody>
      </p:sp>
      <p:sp>
        <p:nvSpPr>
          <p:cNvPr id="514" name="Oval 513"/>
          <p:cNvSpPr/>
          <p:nvPr/>
        </p:nvSpPr>
        <p:spPr>
          <a:xfrm>
            <a:off x="640080" y="3750352"/>
            <a:ext cx="365760" cy="365760"/>
          </a:xfrm>
          <a:prstGeom prst="ellipse">
            <a:avLst/>
          </a:prstGeom>
          <a:solidFill>
            <a:srgbClr val="000000"/>
          </a:solidFill>
          <a:ln>
            <a:noFill/>
          </a:ln>
        </p:spPr>
        <p:txBody>
          <a:bodyPr rtlCol="0" anchor="ctr" lIns="0" rIns="0" tIns="0" bIns="0"/>
          <a:lstStyle/>
          <a:p>
            <a:pPr algn="ctr"/>
            <a:r>
              <a:rPr sz="1200" b="1" i="0">
                <a:solidFill>
                  <a:srgbClr val="FFFFFF"/>
                </a:solidFill>
              </a:rPr>
              <a:t>2</a:t>
            </a:r>
          </a:p>
        </p:txBody>
      </p:sp>
      <p:sp>
        <p:nvSpPr>
          <p:cNvPr id="515" name="Rounded Rectangle 514"/>
          <p:cNvSpPr/>
          <p:nvPr/>
        </p:nvSpPr>
        <p:spPr>
          <a:xfrm>
            <a:off x="457200" y="4683232"/>
            <a:ext cx="7000000" cy="1300000"/>
          </a:xfrm>
          <a:prstGeom prst="roundRect">
            <a:avLst>
              <a:gd name="adj" fmla="val 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713232" tIns="91440" rIns="182880"/>
          <a:lstStyle/>
          <a:p>
            <a:pPr algn="l">
              <a:spcBef>
                <a:spcPts val="500"/>
              </a:spcBef>
              <a:spcAft>
                <a:spcPts val="200"/>
              </a:spcAft>
            </a:pPr>
            <a:r>
              <a:rPr sz="1200" b="1" i="0">
                <a:solidFill>
                  <a:srgbClr val="000000"/>
                </a:solidFill>
              </a:rPr>
              <a:t>Methodology Standards</a:t>
            </a:r>
          </a:p>
          <a:p>
            <a:pPr algn="l">
              <a:spcAft>
                <a:spcPts val="500"/>
              </a:spcAft>
            </a:pPr>
            <a:r>
              <a:rPr sz="1200" b="0" i="0">
                <a:solidFill>
                  <a:srgbClr val="000000"/>
                </a:solidFill>
              </a:rPr>
              <a:t>Clear working practices, so we guide clients into how we work instead of inheriting whatever mix they bring.</a:t>
            </a:r>
          </a:p>
        </p:txBody>
      </p:sp>
      <p:sp>
        <p:nvSpPr>
          <p:cNvPr id="516" name="Oval 515"/>
          <p:cNvSpPr/>
          <p:nvPr/>
        </p:nvSpPr>
        <p:spPr>
          <a:xfrm>
            <a:off x="640080" y="5150352"/>
            <a:ext cx="365760" cy="365760"/>
          </a:xfrm>
          <a:prstGeom prst="ellipse">
            <a:avLst/>
          </a:prstGeom>
          <a:solidFill>
            <a:srgbClr val="000000"/>
          </a:solidFill>
          <a:ln>
            <a:noFill/>
          </a:ln>
        </p:spPr>
        <p:txBody>
          <a:bodyPr rtlCol="0" anchor="ctr" lIns="0" rIns="0" tIns="0" bIns="0"/>
          <a:lstStyle/>
          <a:p>
            <a:pPr algn="ctr"/>
            <a:r>
              <a:rPr sz="1200" b="1" i="0">
                <a:solidFill>
                  <a:srgbClr val="FFFFFF"/>
                </a:solidFill>
              </a:rPr>
              <a:t>3</a:t>
            </a:r>
          </a:p>
        </p:txBody>
      </p:sp>
      <p:sp>
        <p:nvSpPr>
          <p:cNvPr id="517" name="Rounded Rectangle 516"/>
          <p:cNvSpPr/>
          <p:nvPr/>
        </p:nvSpPr>
        <p:spPr>
          <a:xfrm>
            <a:off x="7607200" y="1883232"/>
            <a:ext cx="4127600" cy="13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713232" tIns="91440" rIns="182880"/>
          <a:lstStyle/>
          <a:p>
            <a:pPr algn="l">
              <a:spcBef>
                <a:spcPts val="500"/>
              </a:spcBef>
              <a:spcAft>
                <a:spcPts val="200"/>
              </a:spcAft>
            </a:pPr>
            <a:r>
              <a:rPr sz="1200" b="1" i="0">
                <a:solidFill>
                  <a:srgbClr val="FFFFFF"/>
                </a:solidFill>
              </a:rPr>
              <a:t>Estimation</a:t>
            </a:r>
          </a:p>
          <a:p>
            <a:pPr algn="l">
              <a:spcAft>
                <a:spcPts val="500"/>
              </a:spcAft>
            </a:pPr>
            <a:r>
              <a:rPr sz="1200" b="0" i="0">
                <a:solidFill>
                  <a:srgbClr val="FFFFFF"/>
                </a:solidFill>
              </a:rPr>
              <a:t>This playbook ends siloed estimation by bringing the right people in before the deal closes.</a:t>
            </a:r>
          </a:p>
        </p:txBody>
      </p:sp>
      <p:sp>
        <p:nvSpPr>
          <p:cNvPr id="518" name="Oval 517"/>
          <p:cNvSpPr/>
          <p:nvPr/>
        </p:nvSpPr>
        <p:spPr>
          <a:xfrm>
            <a:off x="7790080" y="2350352"/>
            <a:ext cx="365760" cy="365760"/>
          </a:xfrm>
          <a:prstGeom prst="ellipse">
            <a:avLst/>
          </a:prstGeom>
          <a:solidFill>
            <a:srgbClr val="FFFFFF"/>
          </a:solidFill>
          <a:ln>
            <a:noFill/>
          </a:ln>
        </p:spPr>
        <p:txBody>
          <a:bodyPr rtlCol="0" anchor="ctr" lIns="0" rIns="0" tIns="0" bIns="0"/>
          <a:lstStyle/>
          <a:p>
            <a:pPr algn="ctr"/>
            <a:r>
              <a:rPr sz="1200" b="1" i="0">
                <a:solidFill>
                  <a:srgbClr val="000000"/>
                </a:solidFill>
              </a:rPr>
              <a:t>4</a:t>
            </a:r>
          </a:p>
        </p:txBody>
      </p:sp>
      <p:sp>
        <p:nvSpPr>
          <p:cNvPr id="519" name="Rounded Rectangle 518"/>
          <p:cNvSpPr/>
          <p:nvPr/>
        </p:nvSpPr>
        <p:spPr>
          <a:xfrm>
            <a:off x="7607200" y="3283232"/>
            <a:ext cx="4127600" cy="13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713232" tIns="91440" rIns="182880"/>
          <a:lstStyle/>
          <a:p>
            <a:pPr algn="l">
              <a:spcBef>
                <a:spcPts val="500"/>
              </a:spcBef>
              <a:spcAft>
                <a:spcPts val="200"/>
              </a:spcAft>
            </a:pPr>
            <a:r>
              <a:rPr sz="1200" b="1" i="0">
                <a:solidFill>
                  <a:srgbClr val="FFFFFF"/>
                </a:solidFill>
              </a:rPr>
              <a:t>Pricing</a:t>
            </a:r>
          </a:p>
          <a:p>
            <a:pPr algn="l">
              <a:spcAft>
                <a:spcPts val="500"/>
              </a:spcAft>
            </a:pPr>
            <a:r>
              <a:rPr sz="1200" b="0" i="0">
                <a:solidFill>
                  <a:srgbClr val="FFFFFF"/>
                </a:solidFill>
              </a:rPr>
              <a:t>Move toward metered or token-based commercial pricing.</a:t>
            </a:r>
          </a:p>
        </p:txBody>
      </p:sp>
      <p:sp>
        <p:nvSpPr>
          <p:cNvPr id="520" name="Oval 519"/>
          <p:cNvSpPr/>
          <p:nvPr/>
        </p:nvSpPr>
        <p:spPr>
          <a:xfrm>
            <a:off x="7790080" y="3750352"/>
            <a:ext cx="365760" cy="365760"/>
          </a:xfrm>
          <a:prstGeom prst="ellipse">
            <a:avLst/>
          </a:prstGeom>
          <a:solidFill>
            <a:srgbClr val="FFFFFF"/>
          </a:solidFill>
          <a:ln>
            <a:noFill/>
          </a:ln>
        </p:spPr>
        <p:txBody>
          <a:bodyPr rtlCol="0" anchor="ctr" lIns="0" rIns="0" tIns="0" bIns="0"/>
          <a:lstStyle/>
          <a:p>
            <a:pPr algn="ctr"/>
            <a:r>
              <a:rPr sz="1200" b="1" i="0">
                <a:solidFill>
                  <a:srgbClr val="000000"/>
                </a:solidFill>
              </a:rPr>
              <a:t>5</a:t>
            </a:r>
          </a:p>
        </p:txBody>
      </p:sp>
      <p:sp>
        <p:nvSpPr>
          <p:cNvPr id="521" name="Rounded Rectangle 520"/>
          <p:cNvSpPr/>
          <p:nvPr/>
        </p:nvSpPr>
        <p:spPr>
          <a:xfrm>
            <a:off x="7607200" y="4683232"/>
            <a:ext cx="4127600" cy="13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713232" tIns="91440" rIns="182880"/>
          <a:lstStyle/>
          <a:p>
            <a:pPr algn="l">
              <a:spcBef>
                <a:spcPts val="500"/>
              </a:spcBef>
              <a:spcAft>
                <a:spcPts val="200"/>
              </a:spcAft>
            </a:pPr>
            <a:r>
              <a:rPr sz="1200" b="1" i="0">
                <a:solidFill>
                  <a:srgbClr val="FFFFFF"/>
                </a:solidFill>
              </a:rPr>
              <a:t>Staffing</a:t>
            </a:r>
          </a:p>
          <a:p>
            <a:pPr algn="l">
              <a:spcAft>
                <a:spcPts val="500"/>
              </a:spcAft>
            </a:pPr>
            <a:r>
              <a:rPr sz="1150" b="0" i="1">
                <a:solidFill>
                  <a:srgbClr val="D6D6DF"/>
                </a:solidFill>
              </a:rPr>
              <a:t>[One line: what this story is.]</a:t>
            </a:r>
          </a:p>
        </p:txBody>
      </p:sp>
      <p:sp>
        <p:nvSpPr>
          <p:cNvPr id="522" name="Oval 521"/>
          <p:cNvSpPr/>
          <p:nvPr/>
        </p:nvSpPr>
        <p:spPr>
          <a:xfrm>
            <a:off x="7790080" y="5150352"/>
            <a:ext cx="365760" cy="365760"/>
          </a:xfrm>
          <a:prstGeom prst="ellipse">
            <a:avLst/>
          </a:prstGeom>
          <a:solidFill>
            <a:srgbClr val="FFFFFF"/>
          </a:solidFill>
          <a:ln>
            <a:noFill/>
          </a:ln>
        </p:spPr>
        <p:txBody>
          <a:bodyPr rtlCol="0" anchor="ctr" lIns="0" rIns="0" tIns="0" bIns="0"/>
          <a:lstStyle/>
          <a:p>
            <a:pPr algn="ctr"/>
            <a:r>
              <a:rPr sz="1200" b="1" i="0">
                <a:solidFill>
                  <a:srgbClr val="000000"/>
                </a:solidFill>
              </a:rPr>
              <a:t>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Delivery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MVP · STORY 1 OF 3</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4900000" cy="26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228600" rIns="274320" bIns="137160"/>
          <a:lstStyle/>
          <a:p>
            <a:pPr algn="l">
              <a:spcAft>
                <a:spcPts val="200"/>
              </a:spcAft>
            </a:pPr>
            <a:r>
              <a:rPr sz="850" b="1" i="0" cap="all" spc="100">
                <a:solidFill>
                  <a:srgbClr val="D6D6DF"/>
                </a:solidFill>
              </a:rPr>
              <a:t>What it is</a:t>
            </a:r>
          </a:p>
          <a:p>
            <a:pPr algn="l">
              <a:spcAft>
                <a:spcPts val="600"/>
              </a:spcAft>
            </a:pPr>
            <a:r>
              <a:rPr sz="1700" b="1" i="0">
                <a:solidFill>
                  <a:srgbClr val="FFFFFF"/>
                </a:solidFill>
              </a:rPr>
              <a:t>Every deal categorized at qualification into one of 5-6 core models, so pricing and staffing follow a known shape.</a:t>
            </a:r>
          </a:p>
        </p:txBody>
      </p:sp>
      <p:sp>
        <p:nvSpPr>
          <p:cNvPr id="510" name="Rounded Rectangle 509"/>
          <p:cNvSpPr/>
          <p:nvPr/>
        </p:nvSpPr>
        <p:spPr>
          <a:xfrm>
            <a:off x="5507200" y="1170000"/>
            <a:ext cx="6227600" cy="26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we're doing</a:t>
            </a:r>
          </a:p>
          <a:p>
            <a:pPr algn="l" marL="171450" indent="-171450">
              <a:spcAft>
                <a:spcPts val="500"/>
              </a:spcAft>
              <a:buFont typeface="Arial"/>
              <a:buChar char="•"/>
            </a:pPr>
            <a:r>
              <a:rPr sz="1200" b="0" i="0">
                <a:solidFill>
                  <a:srgbClr val="000000"/>
                </a:solidFill>
              </a:rPr>
              <a:t>Standardize a small set of named models mapped to commercial structure (e.g., gates vs. PI cadence vs. OKR-anchored backlog)</a:t>
            </a:r>
          </a:p>
          <a:p>
            <a:pPr algn="l" marL="171450" indent="-171450">
              <a:spcAft>
                <a:spcPts val="500"/>
              </a:spcAft>
              <a:buFont typeface="Arial"/>
              <a:buChar char="•"/>
            </a:pPr>
            <a:r>
              <a:rPr sz="1200" b="0" i="0">
                <a:solidFill>
                  <a:srgbClr val="000000"/>
                </a:solidFill>
              </a:rPr>
              <a:t>Treat multi-track programs as portfolios of clearly defined tracks mapped to a model, not one label stretched over the whole account.</a:t>
            </a:r>
          </a:p>
        </p:txBody>
      </p:sp>
      <p:sp>
        <p:nvSpPr>
          <p:cNvPr id="511" name="TextBox 510"/>
          <p:cNvSpPr txBox="1"/>
          <p:nvPr/>
        </p:nvSpPr>
        <p:spPr>
          <a:xfrm>
            <a:off x="5717512" y="2814160"/>
            <a:ext cx="6227600" cy="182880"/>
          </a:xfrm>
          <a:prstGeom prst="rect">
            <a:avLst/>
          </a:prstGeom>
          <a:noFill/>
        </p:spPr>
        <p:txBody>
          <a:bodyPr wrap="square" lIns="0" rIns="0" tIns="0" bIns="0" anchor="t">
            <a:spAutoFit/>
          </a:bodyPr>
          <a:lstStyle/>
          <a:p>
            <a:pPr algn="l">
              <a:spcAft>
                <a:spcPts val="200"/>
              </a:spcAft>
            </a:pPr>
            <a:r>
              <a:rPr sz="850" b="1" i="0" cap="all" spc="100">
                <a:solidFill>
                  <a:srgbClr val="60607D"/>
                </a:solidFill>
              </a:rPr>
              <a:t>Four starting models</a:t>
            </a:r>
          </a:p>
        </p:txBody>
      </p:sp>
      <p:sp>
        <p:nvSpPr>
          <p:cNvPr id="512" name="Rounded Rectangle 511"/>
          <p:cNvSpPr/>
          <p:nvPr/>
        </p:nvSpPr>
        <p:spPr>
          <a:xfrm>
            <a:off x="5717512" y="3051904"/>
            <a:ext cx="1928948"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Fixed Constraint Delivery</a:t>
            </a:r>
          </a:p>
        </p:txBody>
      </p:sp>
      <p:sp>
        <p:nvSpPr>
          <p:cNvPr id="513" name="Rounded Rectangle 512"/>
          <p:cNvSpPr/>
          <p:nvPr/>
        </p:nvSpPr>
        <p:spPr>
          <a:xfrm>
            <a:off x="7728756" y="3051904"/>
            <a:ext cx="1796578"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Velocity Based Delivery</a:t>
            </a:r>
          </a:p>
        </p:txBody>
      </p:sp>
      <p:sp>
        <p:nvSpPr>
          <p:cNvPr id="514" name="Rounded Rectangle 513"/>
          <p:cNvSpPr/>
          <p:nvPr/>
        </p:nvSpPr>
        <p:spPr>
          <a:xfrm>
            <a:off x="9607630" y="3051904"/>
            <a:ext cx="1796578"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Outcomes Based Delivery</a:t>
            </a:r>
          </a:p>
        </p:txBody>
      </p:sp>
      <p:sp>
        <p:nvSpPr>
          <p:cNvPr id="515" name="Rounded Rectangle 514"/>
          <p:cNvSpPr/>
          <p:nvPr/>
        </p:nvSpPr>
        <p:spPr>
          <a:xfrm>
            <a:off x="5717512" y="3445096"/>
            <a:ext cx="803801"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Retainer</a:t>
            </a:r>
          </a:p>
        </p:txBody>
      </p:sp>
      <p:sp>
        <p:nvSpPr>
          <p:cNvPr id="516" name="Rounded Rectangle 515"/>
          <p:cNvSpPr/>
          <p:nvPr/>
        </p:nvSpPr>
        <p:spPr>
          <a:xfrm>
            <a:off x="457200" y="3970000"/>
            <a:ext cx="36592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73152"/>
          <a:lstStyle/>
          <a:p>
            <a:pPr algn="l">
              <a:spcAft>
                <a:spcPts val="600"/>
              </a:spcAft>
            </a:pPr>
            <a:r>
              <a:rPr sz="1100" b="1" i="0" cap="all" spc="60">
                <a:solidFill>
                  <a:srgbClr val="D6D6DF"/>
                </a:solidFill>
              </a:rPr>
              <a:t>What we'll see when it's working</a:t>
            </a:r>
          </a:p>
          <a:p>
            <a:pPr algn="l">
              <a:spcAft>
                <a:spcPts val="600"/>
              </a:spcAft>
            </a:pPr>
            <a:r>
              <a:rPr sz="1500" b="1" i="0">
                <a:solidFill>
                  <a:srgbClr val="FFFFFF"/>
                </a:solidFill>
              </a:rPr>
              <a:t>No SOW is signed without a model name attached, and that name determines governance.</a:t>
            </a:r>
          </a:p>
        </p:txBody>
      </p:sp>
      <p:sp>
        <p:nvSpPr>
          <p:cNvPr id="517" name="Rounded Rectangle 516"/>
          <p:cNvSpPr/>
          <p:nvPr/>
        </p:nvSpPr>
        <p:spPr>
          <a:xfrm>
            <a:off x="4266400" y="3970000"/>
            <a:ext cx="36592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Who's on it</a:t>
            </a:r>
          </a:p>
          <a:p>
            <a:pPr algn="l">
              <a:spcAft>
                <a:spcPts val="200"/>
              </a:spcAft>
            </a:pPr>
            <a:r>
              <a:rPr sz="850" b="1" i="0" cap="all" spc="100">
                <a:solidFill>
                  <a:srgbClr val="60607D"/>
                </a:solidFill>
              </a:rPr>
              <a:t>Working on it now</a:t>
            </a:r>
          </a:p>
        </p:txBody>
      </p:sp>
      <p:sp>
        <p:nvSpPr>
          <p:cNvPr id="518" name="Rounded Rectangle 517"/>
          <p:cNvSpPr/>
          <p:nvPr/>
        </p:nvSpPr>
        <p:spPr>
          <a:xfrm>
            <a:off x="4476712" y="4683232"/>
            <a:ext cx="552297"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50" b="1" i="0">
                <a:solidFill>
                  <a:srgbClr val="000000"/>
                </a:solidFill>
              </a:rPr>
              <a:t>John</a:t>
            </a:r>
          </a:p>
        </p:txBody>
      </p:sp>
      <p:sp>
        <p:nvSpPr>
          <p:cNvPr id="519" name="Rounded Rectangle 518"/>
          <p:cNvSpPr/>
          <p:nvPr/>
        </p:nvSpPr>
        <p:spPr>
          <a:xfrm>
            <a:off x="5111305" y="4683232"/>
            <a:ext cx="621792"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50" b="1" i="0">
                <a:solidFill>
                  <a:srgbClr val="000000"/>
                </a:solidFill>
              </a:rPr>
              <a:t>Chris</a:t>
            </a:r>
          </a:p>
        </p:txBody>
      </p:sp>
      <p:sp>
        <p:nvSpPr>
          <p:cNvPr id="520" name="Rounded Rectangle 519"/>
          <p:cNvSpPr/>
          <p:nvPr/>
        </p:nvSpPr>
        <p:spPr>
          <a:xfrm>
            <a:off x="8075600" y="3970000"/>
            <a:ext cx="36592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Next</a:t>
            </a:r>
          </a:p>
          <a:p>
            <a:pPr algn="l" marL="171450" indent="-171450">
              <a:spcAft>
                <a:spcPts val="500"/>
              </a:spcAft>
              <a:buFont typeface="Arial"/>
              <a:buChar char="•"/>
            </a:pPr>
            <a:r>
              <a:rPr sz="1200" b="0" i="0">
                <a:solidFill>
                  <a:srgbClr val="000000"/>
                </a:solidFill>
              </a:rPr>
              <a:t>Base Model rationalization across groups: week of Oct 26.</a:t>
            </a:r>
          </a:p>
          <a:p>
            <a:pPr algn="l" marL="171450" indent="-171450">
              <a:spcAft>
                <a:spcPts val="500"/>
              </a:spcAft>
              <a:buFont typeface="Arial"/>
              <a:buChar char="•"/>
            </a:pPr>
            <a:r>
              <a:rPr sz="1200" b="0" i="0">
                <a:solidFill>
                  <a:srgbClr val="000000"/>
                </a:solidFill>
              </a:rPr>
              <a:t>Initial Models Well Defined: Oct 23, shifting to Nov 6.</a:t>
            </a:r>
          </a:p>
          <a:p>
            <a:pPr algn="l" marL="171450" indent="-171450">
              <a:spcAft>
                <a:spcPts val="500"/>
              </a:spcAft>
              <a:buFont typeface="Arial"/>
              <a:buChar char="•"/>
            </a:pPr>
            <a:r>
              <a:rPr sz="1200" b="0" i="0">
                <a:solidFill>
                  <a:srgbClr val="000000"/>
                </a:solidFill>
              </a:rPr>
              <a:t>1st Batch of Models &amp; Program "Stack" Guidance: Nov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Contracts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MVP · STORY 2 OF 3</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4900000" cy="26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228600" rIns="274320" bIns="137160"/>
          <a:lstStyle/>
          <a:p>
            <a:pPr algn="l">
              <a:spcAft>
                <a:spcPts val="200"/>
              </a:spcAft>
            </a:pPr>
            <a:r>
              <a:rPr sz="850" b="1" i="0" cap="all" spc="100">
                <a:solidFill>
                  <a:srgbClr val="D6D6DF"/>
                </a:solidFill>
              </a:rPr>
              <a:t>What it is</a:t>
            </a:r>
          </a:p>
          <a:p>
            <a:pPr algn="l">
              <a:spcAft>
                <a:spcPts val="600"/>
              </a:spcAft>
            </a:pPr>
            <a:r>
              <a:rPr sz="1700" b="1" i="0">
                <a:solidFill>
                  <a:srgbClr val="FFFFFF"/>
                </a:solidFill>
              </a:rPr>
              <a:t>Terms, scope language, and billing matched to the chosen model — no more fixed price with no scope control.</a:t>
            </a:r>
          </a:p>
        </p:txBody>
      </p:sp>
      <p:sp>
        <p:nvSpPr>
          <p:cNvPr id="510" name="Rounded Rectangle 509"/>
          <p:cNvSpPr/>
          <p:nvPr/>
        </p:nvSpPr>
        <p:spPr>
          <a:xfrm>
            <a:off x="5507200" y="1170000"/>
            <a:ext cx="6227600" cy="26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we're doing</a:t>
            </a:r>
          </a:p>
          <a:p>
            <a:pPr algn="l" marL="171450" indent="-171450">
              <a:spcAft>
                <a:spcPts val="500"/>
              </a:spcAft>
              <a:buFont typeface="Arial"/>
              <a:buChar char="•"/>
            </a:pPr>
            <a:r>
              <a:rPr sz="1200" b="0" i="0">
                <a:solidFill>
                  <a:srgbClr val="000000"/>
                </a:solidFill>
              </a:rPr>
              <a:t>This ensures we establish authorized contract structures that match terms, scope language, and billing mechanics to the specific model, so we stop agreeing to unfeasible combinations like fixed-price with no scope control.</a:t>
            </a:r>
          </a:p>
          <a:p>
            <a:pPr algn="l" marL="171450" indent="-171450">
              <a:spcAft>
                <a:spcPts val="500"/>
              </a:spcAft>
              <a:buFont typeface="Arial"/>
              <a:buChar char="•"/>
            </a:pPr>
            <a:r>
              <a:rPr sz="1200" b="0" i="0">
                <a:solidFill>
                  <a:srgbClr val="000000"/>
                </a:solidFill>
              </a:rPr>
              <a:t>A named accountable role (Program or Account Lead and Delivery Lead) signs off, at kickoff and at defined checkpoints, that the working model, the staffing, and the contract still agree with each other.</a:t>
            </a:r>
          </a:p>
        </p:txBody>
      </p:sp>
      <p:sp>
        <p:nvSpPr>
          <p:cNvPr id="511" name="Rounded Rectangle 510"/>
          <p:cNvSpPr/>
          <p:nvPr/>
        </p:nvSpPr>
        <p:spPr>
          <a:xfrm>
            <a:off x="457200" y="3970000"/>
            <a:ext cx="36592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73152"/>
          <a:lstStyle/>
          <a:p>
            <a:pPr algn="l">
              <a:spcAft>
                <a:spcPts val="600"/>
              </a:spcAft>
            </a:pPr>
            <a:r>
              <a:rPr sz="1100" b="1" i="0" cap="all" spc="60">
                <a:solidFill>
                  <a:srgbClr val="D6D6DF"/>
                </a:solidFill>
              </a:rPr>
              <a:t>What we'll see when it's working</a:t>
            </a:r>
          </a:p>
          <a:p>
            <a:pPr algn="l">
              <a:spcAft>
                <a:spcPts val="600"/>
              </a:spcAft>
            </a:pPr>
            <a:r>
              <a:rPr sz="1500" b="1" i="0">
                <a:solidFill>
                  <a:srgbClr val="FFFFFF"/>
                </a:solidFill>
              </a:rPr>
              <a:t>We stop agreeing to unfeasible combinations, like fixed-price with no scope control.</a:t>
            </a:r>
          </a:p>
        </p:txBody>
      </p:sp>
      <p:sp>
        <p:nvSpPr>
          <p:cNvPr id="512" name="Rounded Rectangle 511"/>
          <p:cNvSpPr/>
          <p:nvPr/>
        </p:nvSpPr>
        <p:spPr>
          <a:xfrm>
            <a:off x="4266400" y="3970000"/>
            <a:ext cx="36592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Who's on it</a:t>
            </a:r>
          </a:p>
          <a:p>
            <a:pPr algn="l">
              <a:spcAft>
                <a:spcPts val="200"/>
              </a:spcAft>
            </a:pPr>
            <a:r>
              <a:rPr sz="850" b="1" i="0" cap="all" spc="100">
                <a:solidFill>
                  <a:srgbClr val="60607D"/>
                </a:solidFill>
              </a:rPr>
              <a:t>Working on it now</a:t>
            </a:r>
          </a:p>
        </p:txBody>
      </p:sp>
      <p:sp>
        <p:nvSpPr>
          <p:cNvPr id="513" name="Rounded Rectangle 512"/>
          <p:cNvSpPr/>
          <p:nvPr/>
        </p:nvSpPr>
        <p:spPr>
          <a:xfrm>
            <a:off x="4476712" y="4683232"/>
            <a:ext cx="552297"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50" b="1" i="0">
                <a:solidFill>
                  <a:srgbClr val="000000"/>
                </a:solidFill>
              </a:rPr>
              <a:t>John</a:t>
            </a:r>
          </a:p>
        </p:txBody>
      </p:sp>
      <p:sp>
        <p:nvSpPr>
          <p:cNvPr id="514" name="Rounded Rectangle 513"/>
          <p:cNvSpPr/>
          <p:nvPr/>
        </p:nvSpPr>
        <p:spPr>
          <a:xfrm>
            <a:off x="5111305" y="4683232"/>
            <a:ext cx="621792"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50" b="1" i="0">
                <a:solidFill>
                  <a:srgbClr val="000000"/>
                </a:solidFill>
              </a:rPr>
              <a:t>Chris</a:t>
            </a:r>
          </a:p>
        </p:txBody>
      </p:sp>
      <p:sp>
        <p:nvSpPr>
          <p:cNvPr id="515" name="Rounded Rectangle 514"/>
          <p:cNvSpPr/>
          <p:nvPr/>
        </p:nvSpPr>
        <p:spPr>
          <a:xfrm>
            <a:off x="8075600" y="3970000"/>
            <a:ext cx="36592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Next</a:t>
            </a:r>
          </a:p>
          <a:p>
            <a:pPr algn="l">
              <a:spcAft>
                <a:spcPts val="500"/>
              </a:spcAft>
            </a:pPr>
            <a:r>
              <a:rPr sz="1150" b="0" i="1">
                <a:solidFill>
                  <a:srgbClr val="60607D"/>
                </a:solidFill>
              </a:rPr>
              <a:t>[Next milestone and date for this story.]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Methodology Standards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MVP · STORY 3 OF 3</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4900000" cy="26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228600" rIns="274320" bIns="137160"/>
          <a:lstStyle/>
          <a:p>
            <a:pPr algn="l">
              <a:spcAft>
                <a:spcPts val="200"/>
              </a:spcAft>
            </a:pPr>
            <a:r>
              <a:rPr sz="850" b="1" i="0" cap="all" spc="100">
                <a:solidFill>
                  <a:srgbClr val="D6D6DF"/>
                </a:solidFill>
              </a:rPr>
              <a:t>What it is</a:t>
            </a:r>
          </a:p>
          <a:p>
            <a:pPr algn="l">
              <a:spcAft>
                <a:spcPts val="600"/>
              </a:spcAft>
            </a:pPr>
            <a:r>
              <a:rPr sz="1700" b="1" i="0">
                <a:solidFill>
                  <a:srgbClr val="FFFFFF"/>
                </a:solidFill>
              </a:rPr>
              <a:t>Clear working practices, so we guide clients into how we work instead of inheriting whatever mix they bring.</a:t>
            </a:r>
          </a:p>
        </p:txBody>
      </p:sp>
      <p:sp>
        <p:nvSpPr>
          <p:cNvPr id="510" name="Rounded Rectangle 509"/>
          <p:cNvSpPr/>
          <p:nvPr/>
        </p:nvSpPr>
        <p:spPr>
          <a:xfrm>
            <a:off x="5507200" y="1170000"/>
            <a:ext cx="6227600" cy="26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we're doing</a:t>
            </a:r>
          </a:p>
          <a:p>
            <a:pPr algn="l" marL="171450" indent="-171450">
              <a:spcAft>
                <a:spcPts val="500"/>
              </a:spcAft>
              <a:buFont typeface="Arial"/>
              <a:buChar char="•"/>
            </a:pPr>
            <a:r>
              <a:rPr sz="1200" b="0" i="0">
                <a:solidFill>
                  <a:srgbClr val="000000"/>
                </a:solidFill>
              </a:rPr>
              <a:t>We will establish clear underlying working practices (e.g., SAFe Agile, Test-Driven Development) so we proactively guide clients toward successful engagements, rather than inheriting confusion from clients or from team preferences</a:t>
            </a:r>
          </a:p>
        </p:txBody>
      </p:sp>
      <p:sp>
        <p:nvSpPr>
          <p:cNvPr id="511" name="Rounded Rectangle 510"/>
          <p:cNvSpPr/>
          <p:nvPr/>
        </p:nvSpPr>
        <p:spPr>
          <a:xfrm>
            <a:off x="457200" y="3970000"/>
            <a:ext cx="36592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73152"/>
          <a:lstStyle/>
          <a:p>
            <a:pPr algn="l">
              <a:spcAft>
                <a:spcPts val="600"/>
              </a:spcAft>
            </a:pPr>
            <a:r>
              <a:rPr sz="1100" b="1" i="0" cap="all" spc="60">
                <a:solidFill>
                  <a:srgbClr val="D6D6DF"/>
                </a:solidFill>
              </a:rPr>
              <a:t>What we'll see when it's working</a:t>
            </a:r>
          </a:p>
          <a:p>
            <a:pPr algn="l">
              <a:spcAft>
                <a:spcPts val="600"/>
              </a:spcAft>
            </a:pPr>
            <a:r>
              <a:rPr sz="1500" b="1" i="0">
                <a:solidFill>
                  <a:srgbClr val="FFFFFF"/>
                </a:solidFill>
              </a:rPr>
              <a:t>We guide clients into how we work instead of inheriting whatever mix they bring.</a:t>
            </a:r>
          </a:p>
        </p:txBody>
      </p:sp>
      <p:sp>
        <p:nvSpPr>
          <p:cNvPr id="512" name="Rounded Rectangle 511"/>
          <p:cNvSpPr/>
          <p:nvPr/>
        </p:nvSpPr>
        <p:spPr>
          <a:xfrm>
            <a:off x="4266400" y="3970000"/>
            <a:ext cx="36592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Who's on it</a:t>
            </a:r>
          </a:p>
          <a:p>
            <a:pPr algn="l">
              <a:spcAft>
                <a:spcPts val="200"/>
              </a:spcAft>
            </a:pPr>
            <a:r>
              <a:rPr sz="850" b="1" i="0" cap="all" spc="100">
                <a:solidFill>
                  <a:srgbClr val="60607D"/>
                </a:solidFill>
              </a:rPr>
              <a:t>Working on it now</a:t>
            </a:r>
          </a:p>
        </p:txBody>
      </p:sp>
      <p:sp>
        <p:nvSpPr>
          <p:cNvPr id="513" name="Rounded Rectangle 512"/>
          <p:cNvSpPr/>
          <p:nvPr/>
        </p:nvSpPr>
        <p:spPr>
          <a:xfrm>
            <a:off x="4476712" y="4683232"/>
            <a:ext cx="552297"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50" b="1" i="0">
                <a:solidFill>
                  <a:srgbClr val="000000"/>
                </a:solidFill>
              </a:rPr>
              <a:t>John</a:t>
            </a:r>
          </a:p>
        </p:txBody>
      </p:sp>
      <p:sp>
        <p:nvSpPr>
          <p:cNvPr id="514" name="Rounded Rectangle 513"/>
          <p:cNvSpPr/>
          <p:nvPr/>
        </p:nvSpPr>
        <p:spPr>
          <a:xfrm>
            <a:off x="5111305" y="4683232"/>
            <a:ext cx="621792"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50" b="1" i="0">
                <a:solidFill>
                  <a:srgbClr val="000000"/>
                </a:solidFill>
              </a:rPr>
              <a:t>Chris</a:t>
            </a:r>
          </a:p>
        </p:txBody>
      </p:sp>
      <p:sp>
        <p:nvSpPr>
          <p:cNvPr id="515" name="Rounded Rectangle 514"/>
          <p:cNvSpPr/>
          <p:nvPr/>
        </p:nvSpPr>
        <p:spPr>
          <a:xfrm>
            <a:off x="8075600" y="3970000"/>
            <a:ext cx="36592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Next</a:t>
            </a:r>
          </a:p>
          <a:p>
            <a:pPr algn="l">
              <a:spcAft>
                <a:spcPts val="500"/>
              </a:spcAft>
            </a:pPr>
            <a:r>
              <a:rPr sz="1150" b="0" i="1">
                <a:solidFill>
                  <a:srgbClr val="60607D"/>
                </a:solidFill>
              </a:rPr>
              <a:t>[Next milestone and date for this story.]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Estimation, Pricing, and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AFTER THE MVP</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3659200" cy="4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200"/>
              </a:spcAft>
            </a:pPr>
            <a:r>
              <a:rPr sz="850" b="1" i="0" cap="all" spc="100">
                <a:solidFill>
                  <a:srgbClr val="60607D"/>
                </a:solidFill>
              </a:rPr>
              <a:t>Story 4</a:t>
            </a:r>
          </a:p>
          <a:p>
            <a:pPr algn="l">
              <a:spcAft>
                <a:spcPts val="600"/>
              </a:spcAft>
            </a:pPr>
            <a:r>
              <a:rPr sz="1500" b="1" i="0">
                <a:solidFill>
                  <a:srgbClr val="000000"/>
                </a:solidFill>
              </a:rPr>
              <a:t>Estimation</a:t>
            </a:r>
          </a:p>
          <a:p>
            <a:pPr algn="l">
              <a:spcAft>
                <a:spcPts val="200"/>
              </a:spcAft>
            </a:pPr>
            <a:r>
              <a:rPr sz="850" b="1" i="0" cap="all" spc="100">
                <a:solidFill>
                  <a:srgbClr val="60607D"/>
                </a:solidFill>
              </a:rPr>
              <a:t>What it is</a:t>
            </a:r>
          </a:p>
          <a:p>
            <a:pPr algn="l">
              <a:spcAft>
                <a:spcPts val="500"/>
              </a:spcAft>
            </a:pPr>
            <a:r>
              <a:rPr sz="1300" b="0" i="0">
                <a:solidFill>
                  <a:srgbClr val="000000"/>
                </a:solidFill>
              </a:rPr>
              <a:t>This playbook ends siloed estimation by bringing the right people in before the deal closes, ensuring our pricing tools reflect true deliverability, not just theoretical margin.</a:t>
            </a:r>
          </a:p>
          <a:p>
            <a:pPr algn="l">
              <a:spcAft>
                <a:spcPts val="200"/>
              </a:spcAft>
            </a:pPr>
            <a:r>
              <a:rPr sz="850" b="1" i="0" cap="all" spc="100">
                <a:solidFill>
                  <a:srgbClr val="60607D"/>
                </a:solidFill>
              </a:rPr>
              <a:t>What we'll see when it's working</a:t>
            </a:r>
          </a:p>
          <a:p>
            <a:pPr algn="l">
              <a:spcAft>
                <a:spcPts val="500"/>
              </a:spcAft>
            </a:pPr>
            <a:r>
              <a:rPr sz="1250" b="0" i="1">
                <a:solidFill>
                  <a:srgbClr val="60607D"/>
                </a:solidFill>
              </a:rPr>
              <a:t>[Plain statement of what we'd see.]</a:t>
            </a:r>
          </a:p>
          <a:p>
            <a:pPr algn="l">
              <a:spcAft>
                <a:spcPts val="200"/>
              </a:spcAft>
            </a:pPr>
            <a:r>
              <a:rPr sz="850" b="1" i="0" cap="all" spc="100">
                <a:solidFill>
                  <a:srgbClr val="60607D"/>
                </a:solidFill>
              </a:rPr>
              <a:t>Who's on it</a:t>
            </a:r>
          </a:p>
          <a:p>
            <a:pPr algn="l">
              <a:spcAft>
                <a:spcPts val="500"/>
              </a:spcAft>
            </a:pPr>
            <a:r>
              <a:rPr sz="1250" b="0" i="1">
                <a:solidFill>
                  <a:srgbClr val="60607D"/>
                </a:solidFill>
              </a:rPr>
              <a:t>[Names.]</a:t>
            </a:r>
          </a:p>
          <a:p>
            <a:pPr algn="l">
              <a:spcAft>
                <a:spcPts val="200"/>
              </a:spcAft>
            </a:pPr>
            <a:r>
              <a:rPr sz="850" b="1" i="0" cap="all" spc="100">
                <a:solidFill>
                  <a:srgbClr val="60607D"/>
                </a:solidFill>
              </a:rPr>
              <a:t>Next</a:t>
            </a:r>
          </a:p>
          <a:p>
            <a:pPr algn="l">
              <a:spcAft>
                <a:spcPts val="500"/>
              </a:spcAft>
            </a:pPr>
            <a:r>
              <a:rPr sz="1250" b="0" i="1">
                <a:solidFill>
                  <a:srgbClr val="60607D"/>
                </a:solidFill>
              </a:rPr>
              <a:t>[Next step and date.]</a:t>
            </a:r>
          </a:p>
        </p:txBody>
      </p:sp>
      <p:sp>
        <p:nvSpPr>
          <p:cNvPr id="510" name="Rounded Rectangle 509"/>
          <p:cNvSpPr/>
          <p:nvPr/>
        </p:nvSpPr>
        <p:spPr>
          <a:xfrm>
            <a:off x="4266400" y="1170000"/>
            <a:ext cx="3659200" cy="4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200"/>
              </a:spcAft>
            </a:pPr>
            <a:r>
              <a:rPr sz="850" b="1" i="0" cap="all" spc="100">
                <a:solidFill>
                  <a:srgbClr val="60607D"/>
                </a:solidFill>
              </a:rPr>
              <a:t>Story 5</a:t>
            </a:r>
          </a:p>
          <a:p>
            <a:pPr algn="l">
              <a:spcAft>
                <a:spcPts val="600"/>
              </a:spcAft>
            </a:pPr>
            <a:r>
              <a:rPr sz="1500" b="1" i="0">
                <a:solidFill>
                  <a:srgbClr val="000000"/>
                </a:solidFill>
              </a:rPr>
              <a:t>Pricing</a:t>
            </a:r>
          </a:p>
          <a:p>
            <a:pPr algn="l">
              <a:spcAft>
                <a:spcPts val="200"/>
              </a:spcAft>
            </a:pPr>
            <a:r>
              <a:rPr sz="850" b="1" i="0" cap="all" spc="100">
                <a:solidFill>
                  <a:srgbClr val="60607D"/>
                </a:solidFill>
              </a:rPr>
              <a:t>What it is</a:t>
            </a:r>
          </a:p>
          <a:p>
            <a:pPr algn="l">
              <a:spcAft>
                <a:spcPts val="500"/>
              </a:spcAft>
            </a:pPr>
            <a:r>
              <a:rPr sz="1300" b="0" i="0">
                <a:solidFill>
                  <a:srgbClr val="000000"/>
                </a:solidFill>
              </a:rPr>
              <a:t>We will purposefully weave AI capabilities into these methodologies from the start. This allows us to accurately scope future baseline roles and begin transitioning toward metered or token-based commercial pricing.</a:t>
            </a:r>
          </a:p>
          <a:p>
            <a:pPr algn="l">
              <a:spcAft>
                <a:spcPts val="200"/>
              </a:spcAft>
            </a:pPr>
            <a:r>
              <a:rPr sz="850" b="1" i="0" cap="all" spc="100">
                <a:solidFill>
                  <a:srgbClr val="60607D"/>
                </a:solidFill>
              </a:rPr>
              <a:t>What we'll see when it's working</a:t>
            </a:r>
          </a:p>
          <a:p>
            <a:pPr algn="l">
              <a:spcAft>
                <a:spcPts val="500"/>
              </a:spcAft>
            </a:pPr>
            <a:r>
              <a:rPr sz="1250" b="0" i="1">
                <a:solidFill>
                  <a:srgbClr val="60607D"/>
                </a:solidFill>
              </a:rPr>
              <a:t>[Plain statement of what we'd see.]</a:t>
            </a:r>
          </a:p>
          <a:p>
            <a:pPr algn="l">
              <a:spcAft>
                <a:spcPts val="200"/>
              </a:spcAft>
            </a:pPr>
            <a:r>
              <a:rPr sz="850" b="1" i="0" cap="all" spc="100">
                <a:solidFill>
                  <a:srgbClr val="60607D"/>
                </a:solidFill>
              </a:rPr>
              <a:t>Who's on it</a:t>
            </a:r>
          </a:p>
          <a:p>
            <a:pPr algn="l">
              <a:spcAft>
                <a:spcPts val="500"/>
              </a:spcAft>
            </a:pPr>
            <a:r>
              <a:rPr sz="1250" b="0" i="1">
                <a:solidFill>
                  <a:srgbClr val="60607D"/>
                </a:solidFill>
              </a:rPr>
              <a:t>[Names.]</a:t>
            </a:r>
          </a:p>
          <a:p>
            <a:pPr algn="l">
              <a:spcAft>
                <a:spcPts val="200"/>
              </a:spcAft>
            </a:pPr>
            <a:r>
              <a:rPr sz="850" b="1" i="0" cap="all" spc="100">
                <a:solidFill>
                  <a:srgbClr val="60607D"/>
                </a:solidFill>
              </a:rPr>
              <a:t>Next</a:t>
            </a:r>
          </a:p>
          <a:p>
            <a:pPr algn="l">
              <a:spcAft>
                <a:spcPts val="500"/>
              </a:spcAft>
            </a:pPr>
            <a:r>
              <a:rPr sz="1250" b="0" i="1">
                <a:solidFill>
                  <a:srgbClr val="60607D"/>
                </a:solidFill>
              </a:rPr>
              <a:t>[Next step and date.]</a:t>
            </a:r>
          </a:p>
        </p:txBody>
      </p:sp>
      <p:sp>
        <p:nvSpPr>
          <p:cNvPr id="511" name="Rounded Rectangle 510"/>
          <p:cNvSpPr/>
          <p:nvPr/>
        </p:nvSpPr>
        <p:spPr>
          <a:xfrm>
            <a:off x="8075600" y="1170000"/>
            <a:ext cx="3659200" cy="4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200"/>
              </a:spcAft>
            </a:pPr>
            <a:r>
              <a:rPr sz="850" b="1" i="0" cap="all" spc="100">
                <a:solidFill>
                  <a:srgbClr val="60607D"/>
                </a:solidFill>
              </a:rPr>
              <a:t>Story 6</a:t>
            </a:r>
          </a:p>
          <a:p>
            <a:pPr algn="l">
              <a:spcAft>
                <a:spcPts val="600"/>
              </a:spcAft>
            </a:pPr>
            <a:r>
              <a:rPr sz="1500" b="1" i="0">
                <a:solidFill>
                  <a:srgbClr val="000000"/>
                </a:solidFill>
              </a:rPr>
              <a:t>Staffing</a:t>
            </a:r>
          </a:p>
          <a:p>
            <a:pPr algn="l">
              <a:spcAft>
                <a:spcPts val="200"/>
              </a:spcAft>
            </a:pPr>
            <a:r>
              <a:rPr sz="850" b="1" i="0" cap="all" spc="100">
                <a:solidFill>
                  <a:srgbClr val="60607D"/>
                </a:solidFill>
              </a:rPr>
              <a:t>What it is</a:t>
            </a:r>
          </a:p>
          <a:p>
            <a:pPr algn="l">
              <a:spcAft>
                <a:spcPts val="500"/>
              </a:spcAft>
            </a:pPr>
            <a:r>
              <a:rPr sz="1250" b="0" i="1">
                <a:solidFill>
                  <a:srgbClr val="60607D"/>
                </a:solidFill>
              </a:rPr>
              <a:t>[What this story is, in plain words.]</a:t>
            </a:r>
          </a:p>
          <a:p>
            <a:pPr algn="l">
              <a:spcAft>
                <a:spcPts val="200"/>
              </a:spcAft>
            </a:pPr>
            <a:r>
              <a:rPr sz="850" b="1" i="0" cap="all" spc="100">
                <a:solidFill>
                  <a:srgbClr val="60607D"/>
                </a:solidFill>
              </a:rPr>
              <a:t>What we'll see when it's working</a:t>
            </a:r>
          </a:p>
          <a:p>
            <a:pPr algn="l">
              <a:spcAft>
                <a:spcPts val="500"/>
              </a:spcAft>
            </a:pPr>
            <a:r>
              <a:rPr sz="1250" b="0" i="1">
                <a:solidFill>
                  <a:srgbClr val="60607D"/>
                </a:solidFill>
              </a:rPr>
              <a:t>[Plain statement of what we'd see.]</a:t>
            </a:r>
          </a:p>
          <a:p>
            <a:pPr algn="l">
              <a:spcAft>
                <a:spcPts val="200"/>
              </a:spcAft>
            </a:pPr>
            <a:r>
              <a:rPr sz="850" b="1" i="0" cap="all" spc="100">
                <a:solidFill>
                  <a:srgbClr val="60607D"/>
                </a:solidFill>
              </a:rPr>
              <a:t>Who's on it</a:t>
            </a:r>
          </a:p>
          <a:p>
            <a:pPr algn="l">
              <a:spcAft>
                <a:spcPts val="500"/>
              </a:spcAft>
            </a:pPr>
            <a:r>
              <a:rPr sz="1250" b="0" i="1">
                <a:solidFill>
                  <a:srgbClr val="60607D"/>
                </a:solidFill>
              </a:rPr>
              <a:t>[Names.]</a:t>
            </a:r>
          </a:p>
          <a:p>
            <a:pPr algn="l">
              <a:spcAft>
                <a:spcPts val="200"/>
              </a:spcAft>
            </a:pPr>
            <a:r>
              <a:rPr sz="850" b="1" i="0" cap="all" spc="100">
                <a:solidFill>
                  <a:srgbClr val="60607D"/>
                </a:solidFill>
              </a:rPr>
              <a:t>Next</a:t>
            </a:r>
          </a:p>
          <a:p>
            <a:pPr algn="l">
              <a:spcAft>
                <a:spcPts val="500"/>
              </a:spcAft>
            </a:pPr>
            <a:r>
              <a:rPr sz="1250" b="0" i="1">
                <a:solidFill>
                  <a:srgbClr val="60607D"/>
                </a:solidFill>
              </a:rPr>
              <a:t>[Next step and date.]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