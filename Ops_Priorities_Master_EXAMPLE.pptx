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handoutMasters/handoutMaster1.xml" ContentType="application/vnd.openxmlformats-officedocument.presentationml.handoutMaster+xml"/>
  <Override PartName="/ppt/media/image1.svg" ContentType="image/svg+xml"/>
  <Override PartName="/ppt/media/image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4051" r:id="rId16"/>
  </p:sldMasterIdLst>
  <p:notesMasterIdLst>
    <p:notesMasterId r:id="rId72"/>
  </p:notesMasterIdLst>
  <p:handoutMasterIdLst>
    <p:handoutMasterId r:id="rId73"/>
  </p:handoutMasterIdLst>
  <p:sldIdLst>
    <p:sldId id="256" r:id="rId29"/>
    <p:sldId id="257" r:id="rId30"/>
    <p:sldId id="258" r:id="rId31"/>
    <p:sldId id="259" r:id="rId32"/>
    <p:sldId id="260" r:id="rId33"/>
    <p:sldId id="261" r:id="rId34"/>
    <p:sldId id="262" r:id="rId35"/>
    <p:sldId id="263" r:id="rId36"/>
    <p:sldId id="264" r:id="rId37"/>
    <p:sldId id="265" r:id="rId38"/>
    <p:sldId id="266" r:id="rId39"/>
    <p:sldId id="267" r:id="rId40"/>
    <p:sldId id="268" r:id="rId41"/>
  </p:sldIdLst>
  <p:sldSz cx="12192000" cy="6858000"/>
  <p:notesSz cx="6858000" cy="9144000"/>
  <p:embeddedFontLst>
    <p:embeddedFont>
      <p:font typeface="Proxima Nova" panose="020B0604020202020204" charset="0"/>
      <p:regular r:id="rId74"/>
      <p:bold r:id="rId75"/>
      <p:italic r:id="rId76"/>
      <p:boldItalic r:id="rId77"/>
    </p:embeddedFont>
  </p:embeddedFontLst>
  <p:defaultTex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livery Excellence" id="{236F68AB-0181-46F7-9D38-A0ACE40BA1D1}">
          <p14:sldIdLst>
            <p14:sldId id="256"/>
            <p14:sldId id="2147483563"/>
          </p14:sldIdLst>
        </p14:section>
        <p14:section name="What we’re already doing" id="{9DAD2B03-3DC1-4CE0-9145-15194985816E}">
          <p14:sldIdLst>
            <p14:sldId id="257"/>
            <p14:sldId id="258"/>
          </p14:sldIdLst>
        </p14:section>
        <p14:section name="01 Deal-to-Delivery Playbook" id="{A4AB9235-0588-4886-A78A-6E308247A23D}">
          <p14:sldIdLst>
            <p14:sldId id="2147483564"/>
            <p14:sldId id="2147483565"/>
            <p14:sldId id="2147483566"/>
            <p14:sldId id="2147483567"/>
            <p14:sldId id="2147483568"/>
            <p14:sldId id="2147483569"/>
            <p14:sldId id="2147483570"/>
          </p14:sldIdLst>
        </p14:section>
        <p14:section name="02 Accountability Framework" id="{47732A4A-872F-4724-9B5E-238CDAB21C79}">
          <p14:sldIdLst>
            <p14:sldId id="2147483571"/>
            <p14:sldId id="2147483572"/>
          </p14:sldIdLst>
        </p14:section>
        <p14:section name="03 Leadership Dashboards" id="{57A8BE7A-D2A7-4D92-B05A-5B52BF20E400}">
          <p14:sldIdLst>
            <p14:sldId id="2147483573"/>
            <p14:sldId id="2147483574"/>
          </p14:sldIdLst>
        </p14:section>
        <p14:section name="05 Intake Updates" id="{9C1E740B-5455-4392-86BB-694ADDE87398}">
          <p14:sldIdLst>
            <p14:sldId id="2147483580"/>
            <p14:sldId id="2147483581"/>
          </p14:sldIdLst>
        </p14:section>
        <p14:section name="06 Ops Transformation: Rebuild Scoping &amp; Staffing" id="{19195B0A-E1E6-4AE6-BE5D-5B2056CBAEE4}">
          <p14:sldIdLst>
            <p14:sldId id="2147483582"/>
            <p14:sldId id="2147483589"/>
          </p14:sldIdLst>
        </p14:section>
        <p14:section name="07 Earlier Delivery &amp; Talent in Pursuits" id="{F5EB8D02-56C1-4040-B8C9-F7B9E197759A}">
          <p14:sldIdLst>
            <p14:sldId id="2147483584"/>
            <p14:sldId id="2147483585"/>
          </p14:sldIdLst>
        </p14:section>
        <p14:section name="Client and delivery concerns" id="{0721D5D0-11E1-4222-9361-6C8A5C8072E6}">
          <p14:sldIdLst>
            <p14:sldId id="2147483586"/>
          </p14:sldIdLst>
        </p14:section>
        <p14:section name="Staffing" id="{A4B33691-F470-4898-9150-00CA067A88D4}">
          <p14:sldIdLst>
            <p14:sldId id="2147483588"/>
            <p14:sldId id="2147483587"/>
            <p14:sldId id="2147483575"/>
            <p14:sldId id="2147483576"/>
            <p14:sldId id="2147483577"/>
            <p14:sldId id="2147483578"/>
            <p14:sldId id="2147483579"/>
          </p14:sldIdLst>
        </p14:section>
        <p14:section name="Appendix" id="{DCF88902-184F-4D25-A6F5-37F76B6C080A}">
          <p14:sldIdLst>
            <p14:sldId id="290"/>
            <p14:sldId id="259"/>
            <p14:sldId id="260"/>
            <p14:sldId id="261"/>
            <p14:sldId id="262"/>
            <p14:sldId id="263"/>
            <p14:sldId id="264"/>
            <p14:sldId id="265"/>
            <p14:sldId id="266"/>
            <p14:sldId id="271"/>
            <p14:sldId id="272"/>
            <p14:sldId id="273"/>
            <p14:sldId id="274"/>
            <p14:sldId id="275"/>
            <p14:sldId id="276"/>
            <p14:sldId id="277"/>
            <p14:sldId id="278"/>
            <p14:sldId id="279"/>
            <p14:sldId id="291"/>
            <p14:sldId id="292"/>
            <p14:sldId id="293"/>
            <p14:sldId id="294"/>
            <p14:sldId id="295"/>
            <p14:sldId id="296"/>
            <p14:sldId id="297"/>
            <p14:sldId id="300"/>
          </p14:sldIdLst>
        </p14:section>
      </p14:sectionLst>
    </p:ext>
    <p:ext uri="{EFAFB233-063F-42B5-8137-9DF3F51BA10A}">
      <p15:sldGuideLst xmlns:p15="http://schemas.microsoft.com/office/powerpoint/2012/main">
        <p15:guide id="1" orient="horz" pos="2160" userDrawn="1">
          <p15:clr>
            <a:srgbClr val="A4A3A4"/>
          </p15:clr>
        </p15:guide>
        <p15:guide id="2" pos="3864"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4747621-DF21-E75D-272F-6101C8F4D26F}" name="Rachel Harris" initials="RH" userId="S::R.Harris@merkle.com::fd5e8be9-ea2d-44ac-89b2-fdcd1d7c910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888A1"/>
    <a:srgbClr val="0328D1"/>
    <a:srgbClr val="040E4B"/>
    <a:srgbClr val="0391F2"/>
    <a:srgbClr val="D5D5DF"/>
    <a:srgbClr val="030E49"/>
    <a:srgbClr val="0291F0"/>
    <a:srgbClr val="000033"/>
    <a:srgbClr val="041677"/>
    <a:srgbClr val="061FB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D0F2140-EFC0-4990-A6B0-60F0D53B7DDB}" v="157" dt="2026-10-21T14:18:00.9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5" d="100"/>
          <a:sy n="105" d="100"/>
        </p:scale>
        <p:origin x="798" y="96"/>
      </p:cViewPr>
      <p:guideLst>
        <p:guide orient="horz" pos="2160"/>
        <p:guide pos="386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slideMaster" Target="slideMasters/slideMaster1.xml"/><Relationship Id="rId29" Type="http://schemas.openxmlformats.org/officeDocument/2006/relationships/slide" Target="slides/slide1.xml"/><Relationship Id="rId30" Type="http://schemas.openxmlformats.org/officeDocument/2006/relationships/slide" Target="slides/slide2.xml"/><Relationship Id="rId31" Type="http://schemas.openxmlformats.org/officeDocument/2006/relationships/slide" Target="slides/slide3.xml"/><Relationship Id="rId32" Type="http://schemas.openxmlformats.org/officeDocument/2006/relationships/slide" Target="slides/slide4.xml"/><Relationship Id="rId33" Type="http://schemas.openxmlformats.org/officeDocument/2006/relationships/slide" Target="slides/slide5.xml"/><Relationship Id="rId34" Type="http://schemas.openxmlformats.org/officeDocument/2006/relationships/slide" Target="slides/slide6.xml"/><Relationship Id="rId35" Type="http://schemas.openxmlformats.org/officeDocument/2006/relationships/slide" Target="slides/slide7.xml"/><Relationship Id="rId36" Type="http://schemas.openxmlformats.org/officeDocument/2006/relationships/slide" Target="slides/slide8.xml"/><Relationship Id="rId37" Type="http://schemas.openxmlformats.org/officeDocument/2006/relationships/slide" Target="slides/slide9.xml"/><Relationship Id="rId38" Type="http://schemas.openxmlformats.org/officeDocument/2006/relationships/slide" Target="slides/slide10.xml"/><Relationship Id="rId39" Type="http://schemas.openxmlformats.org/officeDocument/2006/relationships/slide" Target="slides/slide11.xml"/><Relationship Id="rId40" Type="http://schemas.openxmlformats.org/officeDocument/2006/relationships/slide" Target="slides/slide12.xml"/><Relationship Id="rId41" Type="http://schemas.openxmlformats.org/officeDocument/2006/relationships/slide" Target="slides/slide13.xml"/><Relationship Id="rId72" Type="http://schemas.openxmlformats.org/officeDocument/2006/relationships/notesMaster" Target="notesMasters/notesMaster1.xml"/><Relationship Id="rId73" Type="http://schemas.openxmlformats.org/officeDocument/2006/relationships/handoutMaster" Target="handoutMasters/handoutMaster1.xml"/><Relationship Id="rId74" Type="http://schemas.openxmlformats.org/officeDocument/2006/relationships/font" Target="fonts/font1.fntdata"/><Relationship Id="rId75" Type="http://schemas.openxmlformats.org/officeDocument/2006/relationships/font" Target="fonts/font2.fntdata"/><Relationship Id="rId76" Type="http://schemas.openxmlformats.org/officeDocument/2006/relationships/font" Target="fonts/font3.fntdata"/><Relationship Id="rId77" Type="http://schemas.openxmlformats.org/officeDocument/2006/relationships/font" Target="fonts/font4.fntdata"/><Relationship Id="rId78" Type="http://schemas.openxmlformats.org/officeDocument/2006/relationships/presProps" Target="presProps.xml"/><Relationship Id="rId79" Type="http://schemas.openxmlformats.org/officeDocument/2006/relationships/viewProps" Target="viewProps.xml"/><Relationship Id="rId80" Type="http://schemas.openxmlformats.org/officeDocument/2006/relationships/theme" Target="theme/theme1.xml"/><Relationship Id="rId81" Type="http://schemas.openxmlformats.org/officeDocument/2006/relationships/tableStyles" Target="tableStyles.xml"/><Relationship Id="rId82" Type="http://schemas.microsoft.com/office/2015/10/relationships/revisionInfo" Target="revisionInfo.xml"/><Relationship Id="rId83" Type="http://schemas.microsoft.com/office/2018/10/relationships/authors" Targe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CB731AF-AEA3-CC40-BFAA-5CC9758FC0D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72820B76-C951-C08D-9CC0-1DF4B94DE31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DAA7B20D-4B9A-0B23-7398-D557F3709F6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B97AEEF-324F-474E-80D9-450D94E3AE5B}" type="slidenum">
              <a:rPr lang="en-US" smtClean="0"/>
              <a:t>‹#›</a:t>
            </a:fld>
            <a:endParaRPr lang="en-US"/>
          </a:p>
        </p:txBody>
      </p:sp>
    </p:spTree>
    <p:extLst>
      <p:ext uri="{BB962C8B-B14F-4D97-AF65-F5344CB8AC3E}">
        <p14:creationId xmlns:p14="http://schemas.microsoft.com/office/powerpoint/2010/main" val="67615815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mj-lt"/>
              </a:defRPr>
            </a:lvl1pPr>
          </a:lstStyle>
          <a:p>
            <a:endParaRPr lang="da-DK"/>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mj-lt"/>
              </a:defRPr>
            </a:lvl1pPr>
          </a:lstStyle>
          <a:p>
            <a:fld id="{5B48345A-856D-4626-95BD-B96C1384D864}" type="datetimeFigureOut">
              <a:rPr lang="da-DK" smtClean="0"/>
              <a:pPr/>
              <a:t>20-10-2026</a:t>
            </a:fld>
            <a:endParaRPr lang="da-DK"/>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a-DK"/>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a-DK"/>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mj-lt"/>
              </a:defRPr>
            </a:lvl1pPr>
          </a:lstStyle>
          <a:p>
            <a:endParaRPr lang="da-DK"/>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mj-lt"/>
              </a:defRPr>
            </a:lvl1pPr>
          </a:lstStyle>
          <a:p>
            <a:fld id="{D85AD6AD-028C-42F2-9F9A-0CB45E44CB25}" type="slidenum">
              <a:rPr lang="da-DK" smtClean="0"/>
              <a:pPr/>
              <a:t>‹#›</a:t>
            </a:fld>
            <a:endParaRPr lang="da-DK"/>
          </a:p>
        </p:txBody>
      </p:sp>
    </p:spTree>
    <p:extLst>
      <p:ext uri="{BB962C8B-B14F-4D97-AF65-F5344CB8AC3E}">
        <p14:creationId xmlns:p14="http://schemas.microsoft.com/office/powerpoint/2010/main" val="1548989323"/>
      </p:ext>
    </p:extLst>
  </p:cSld>
  <p:clrMap bg1="lt1" tx1="dk1" bg2="lt2" tx2="dk2" accent1="accent1" accent2="accent2" accent3="accent3" accent4="accent4" accent5="accent5" accent6="accent6" hlink="hlink" folHlink="folHlink"/>
  <p:notesStyle>
    <a:lvl1pPr marL="0" algn="l" defTabSz="914400" rtl="0" eaLnBrk="1" latinLnBrk="0" hangingPunct="1">
      <a:defRPr sz="1200" b="0" i="0" kern="1200">
        <a:solidFill>
          <a:schemeClr val="tx1"/>
        </a:solidFill>
        <a:latin typeface="+mj-lt"/>
        <a:ea typeface="+mn-ea"/>
        <a:cs typeface="+mn-cs"/>
      </a:defRPr>
    </a:lvl1pPr>
    <a:lvl2pPr marL="457200" algn="l" defTabSz="914400" rtl="0" eaLnBrk="1" latinLnBrk="0" hangingPunct="1">
      <a:defRPr sz="1200" b="0" i="0" kern="1200">
        <a:solidFill>
          <a:schemeClr val="tx1"/>
        </a:solidFill>
        <a:latin typeface="+mj-lt"/>
        <a:ea typeface="+mn-ea"/>
        <a:cs typeface="+mn-cs"/>
      </a:defRPr>
    </a:lvl2pPr>
    <a:lvl3pPr marL="914400" algn="l" defTabSz="914400" rtl="0" eaLnBrk="1" latinLnBrk="0" hangingPunct="1">
      <a:defRPr sz="1200" b="0" i="0" kern="1200">
        <a:solidFill>
          <a:schemeClr val="tx1"/>
        </a:solidFill>
        <a:latin typeface="+mj-lt"/>
        <a:ea typeface="+mn-ea"/>
        <a:cs typeface="+mn-cs"/>
      </a:defRPr>
    </a:lvl3pPr>
    <a:lvl4pPr marL="1371600" algn="l" defTabSz="914400" rtl="0" eaLnBrk="1" latinLnBrk="0" hangingPunct="1">
      <a:defRPr sz="1200" b="0" i="0" kern="1200">
        <a:solidFill>
          <a:schemeClr val="tx1"/>
        </a:solidFill>
        <a:latin typeface="+mj-lt"/>
        <a:ea typeface="+mn-ea"/>
        <a:cs typeface="+mn-cs"/>
      </a:defRPr>
    </a:lvl4pPr>
    <a:lvl5pPr marL="1828800" algn="l" defTabSz="914400" rtl="0" eaLnBrk="1" latinLnBrk="0" hangingPunct="1">
      <a:defRPr sz="1200" b="0" i="0" kern="1200">
        <a:solidFill>
          <a:schemeClr val="tx1"/>
        </a:solidFill>
        <a:latin typeface="+mj-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TEMPLATE: Replace the date. Everything after the executive summary is built from the same click-down pattern, one set per priority.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TEMPLATE: This is the roll-up. One row per priority. Status and the one-line 'what it is' must match the one-pager for that priority. 'How we'll know it's working' is the same idea as the click-down slide, in one line. It is not a KPI: it is what we would see. Add or delete rows as needed; keep it to one slide.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TEMPLATE: One divider per priority. One image per priority, used on every slide of that priority and in every deck it appears in. The line under the title is the same one-liner used on the executive summary.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TEMPLATE, SLIDE 1 OF 4 (the one-pager): this is the update. Why now, what moved, what is next with real dates, and what we need from the room. Status and takeaway here must match the executive summary. Delete a card only if it truly does not apply.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TEMPLATE, SLIDE 2 OF 4 (who and how): who owns it, who is doing the work, who we depend on, and the approach in three steps or fewer. If the approach has more than three parts, put the extra detail on slide 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TEMPLATE, SLIDE 3 OF 4 (how we know it's working): not a KPI list. Three questions: what would we see if this is working, how will we check, and what would tell us it is not. If we do not know yet, leave the prompt and say so.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TEMPLATE, SLIDE 4 OF 4 (supporting detail, optional): anything that helps people see it or trust it. A demo, a diagram, examples, the options we considered, a cost breakdown. Two to four blocks, each with a header. Delete this slide if there is nothing to add. This is the only flexible slide.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BLANK TEMPLATE: copy this and the four slides after it for each new priority. Add one photo from the Merkle library and use it on every slide of the priority.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Template guidance. Hidden in the presentation. Delete before sharing outside the team.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1.svg"/><Relationship Id="rId4"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1.svg"/><Relationship Id="rId4" Type="http://schemas.openxmlformats.org/officeDocument/2006/relationships/image" Target="../media/image2.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svg"/><Relationship Id="rId4" Type="http://schemas.openxmlformats.org/officeDocument/2006/relationships/image" Target="../media/image2.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Page">
    <p:bg>
      <p:bgRef idx="1001">
        <a:schemeClr val="bg1"/>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6EAC907-F59B-B9B6-95C0-82330A9781E3}"/>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D86C4ED2-BE9E-5A4D-8979-FA06EFD126F3}"/>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22" name="Text Placeholder 12">
            <a:extLst>
              <a:ext uri="{FF2B5EF4-FFF2-40B4-BE49-F238E27FC236}">
                <a16:creationId xmlns:a16="http://schemas.microsoft.com/office/drawing/2014/main" id="{1113FBD2-393A-2E4A-A8AB-45F368B8C6B4}"/>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grpSp>
        <p:nvGrpSpPr>
          <p:cNvPr id="9" name="Group 8">
            <a:extLst>
              <a:ext uri="{FF2B5EF4-FFF2-40B4-BE49-F238E27FC236}">
                <a16:creationId xmlns:a16="http://schemas.microsoft.com/office/drawing/2014/main" id="{3D55557A-4A15-1400-45F4-6C5658F1FFF5}"/>
              </a:ext>
            </a:extLst>
          </p:cNvPr>
          <p:cNvGrpSpPr/>
          <p:nvPr userDrawn="1"/>
        </p:nvGrpSpPr>
        <p:grpSpPr>
          <a:xfrm>
            <a:off x="896112" y="6351752"/>
            <a:ext cx="1405514" cy="174291"/>
            <a:chOff x="419100" y="6294132"/>
            <a:chExt cx="1400350" cy="173651"/>
          </a:xfrm>
        </p:grpSpPr>
        <p:pic>
          <p:nvPicPr>
            <p:cNvPr id="10" name="Graphic 9">
              <a:extLst>
                <a:ext uri="{FF2B5EF4-FFF2-40B4-BE49-F238E27FC236}">
                  <a16:creationId xmlns:a16="http://schemas.microsoft.com/office/drawing/2014/main" id="{F332794B-3426-A6FF-7904-E2CD96FA2D0A}"/>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11" name="Graphic 10">
              <a:extLst>
                <a:ext uri="{FF2B5EF4-FFF2-40B4-BE49-F238E27FC236}">
                  <a16:creationId xmlns:a16="http://schemas.microsoft.com/office/drawing/2014/main" id="{40CCC968-732A-C119-AB2B-8E4ECB9631BE}"/>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4274529220"/>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14B3C1D-068A-7379-ABBE-192981F59C35}"/>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7" name="Picture 6" descr="A close up of a blue and black diamond&#10;&#10;AI-generated content may be incorrect.">
            <a:extLst>
              <a:ext uri="{FF2B5EF4-FFF2-40B4-BE49-F238E27FC236}">
                <a16:creationId xmlns:a16="http://schemas.microsoft.com/office/drawing/2014/main" id="{506969F5-ADEC-B44E-47F5-1066D3C379C3}"/>
              </a:ext>
            </a:extLst>
          </p:cNvPr>
          <p:cNvPicPr/>
          <p:nvPr userDrawn="1"/>
        </p:nvPicPr>
        <p:blipFill>
          <a:blip r:embed="rId2">
            <a:alphaModFix/>
          </a:blip>
          <a:srcRect l="4628" t="1913" b="17076"/>
          <a:stretch/>
        </p:blipFill>
        <p:spPr>
          <a:xfrm flipH="1">
            <a:off x="0" y="1032697"/>
            <a:ext cx="12192000" cy="5825303"/>
          </a:xfrm>
          <a:prstGeom prst="rect">
            <a:avLst/>
          </a:prstGeom>
          <a:solidFill>
            <a:schemeClr val="bg2"/>
          </a:solidFill>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latin typeface="+mn-lt"/>
              </a:defRPr>
            </a:lvl1pPr>
          </a:lstStyle>
          <a:p>
            <a:pPr lvl="0"/>
            <a:r>
              <a:rPr lang="en-US"/>
              <a:t>MONTH 00, 2026</a:t>
            </a:r>
          </a:p>
        </p:txBody>
      </p:sp>
      <p:sp>
        <p:nvSpPr>
          <p:cNvPr id="3" name="Title 1">
            <a:extLst>
              <a:ext uri="{FF2B5EF4-FFF2-40B4-BE49-F238E27FC236}">
                <a16:creationId xmlns:a16="http://schemas.microsoft.com/office/drawing/2014/main" id="{14B74312-9F4F-6B46-8C12-AD998C1F3FD7}"/>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4" name="Text Placeholder 12">
            <a:extLst>
              <a:ext uri="{FF2B5EF4-FFF2-40B4-BE49-F238E27FC236}">
                <a16:creationId xmlns:a16="http://schemas.microsoft.com/office/drawing/2014/main" id="{93CE22AD-41AE-BB99-8CE6-6E3E848661B1}"/>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3EBF09FC-180F-E29A-7A91-1C442C3EC016}"/>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D236A869-04E1-3878-AD99-89339143F0D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125594D8-D3CE-ECC4-A0B1-D8D532BF3801}"/>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9485224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2">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C125187-8ABF-297F-4A0C-0C776D86858E}"/>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4" name="Picture 3" descr="A close up of a crystal&#10;&#10;Description automatically generated">
            <a:extLst>
              <a:ext uri="{FF2B5EF4-FFF2-40B4-BE49-F238E27FC236}">
                <a16:creationId xmlns:a16="http://schemas.microsoft.com/office/drawing/2014/main" id="{2410A003-B644-4A74-49AF-2FBF7573BAA5}"/>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4"/>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3" name="Title 1">
            <a:extLst>
              <a:ext uri="{FF2B5EF4-FFF2-40B4-BE49-F238E27FC236}">
                <a16:creationId xmlns:a16="http://schemas.microsoft.com/office/drawing/2014/main" id="{A4009EE5-8318-57AF-CAFA-3F10883CC16B}"/>
              </a:ext>
            </a:extLst>
          </p:cNvPr>
          <p:cNvSpPr>
            <a:spLocks noGrp="1"/>
          </p:cNvSpPr>
          <p:nvPr>
            <p:ph type="title" hasCustomPrompt="1"/>
          </p:nvPr>
        </p:nvSpPr>
        <p:spPr>
          <a:xfrm>
            <a:off x="915725" y="557783"/>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AEAD708F-F6C6-EE02-0A4A-660B5732235F}"/>
              </a:ext>
            </a:extLst>
          </p:cNvPr>
          <p:cNvSpPr>
            <a:spLocks noGrp="1"/>
          </p:cNvSpPr>
          <p:nvPr>
            <p:ph type="body" sz="quarter" idx="10" hasCustomPrompt="1"/>
          </p:nvPr>
        </p:nvSpPr>
        <p:spPr>
          <a:xfrm>
            <a:off x="915725" y="3483864"/>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E28ECA3B-CFD3-A2E6-5A2D-0128B6634369}"/>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2B80F0CB-B009-C3E2-543B-146A6093453F}"/>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DDD7CB60-82BC-BB4C-BC2B-41911FF1A57D}"/>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3161148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3">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9B2BC9-DE54-0166-1F24-4CBB8C07C86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blue and black background&#10;&#10;Description automatically generated">
            <a:extLst>
              <a:ext uri="{FF2B5EF4-FFF2-40B4-BE49-F238E27FC236}">
                <a16:creationId xmlns:a16="http://schemas.microsoft.com/office/drawing/2014/main" id="{6DCF780F-80F9-51BE-CE81-C818AF10AEF2}"/>
              </a:ext>
            </a:extLst>
          </p:cNvPr>
          <p:cNvPicPr>
            <a:picLocks noChangeAspect="1"/>
          </p:cNvPicPr>
          <p:nvPr userDrawn="1"/>
        </p:nvPicPr>
        <p:blipFill>
          <a:blip r:embed="rId2"/>
          <a:srcRect t="15344" b="9160"/>
          <a:stretch/>
        </p:blipFill>
        <p:spPr>
          <a:xfrm rot="10800000">
            <a:off x="11723" y="1680518"/>
            <a:ext cx="12192000" cy="5177481"/>
          </a:xfrm>
          <a:prstGeom prst="rect">
            <a:avLst/>
          </a:prstGeom>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85F3753E-AAD3-BFAA-F724-9A60053E238F}"/>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5E88FC64-C2BF-6FC5-A172-441256DE6C5B}"/>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C00A2EAE-7222-9761-9418-3316BA63F198}"/>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2972A630-63EB-CB8B-B0D5-79C14C540D6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98938FEE-80EE-7939-D67A-27E928B8CAB5}"/>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12882563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Page - Full Bleed Image">
    <p:bg>
      <p:bgPr>
        <a:solidFill>
          <a:schemeClr val="accent5"/>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F99A5A2F-20B5-F28C-3CE4-6A12E0409F51}"/>
              </a:ext>
            </a:extLst>
          </p:cNvPr>
          <p:cNvGrpSpPr/>
          <p:nvPr userDrawn="1"/>
        </p:nvGrpSpPr>
        <p:grpSpPr>
          <a:xfrm>
            <a:off x="896112" y="6351752"/>
            <a:ext cx="1405514" cy="174291"/>
            <a:chOff x="419100" y="6294132"/>
            <a:chExt cx="1400350" cy="173651"/>
          </a:xfrm>
        </p:grpSpPr>
        <p:pic>
          <p:nvPicPr>
            <p:cNvPr id="7" name="Graphic 6">
              <a:extLst>
                <a:ext uri="{FF2B5EF4-FFF2-40B4-BE49-F238E27FC236}">
                  <a16:creationId xmlns:a16="http://schemas.microsoft.com/office/drawing/2014/main" id="{76E0F0CC-0C1B-E198-1E0B-76050D1E1C39}"/>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9" name="Graphic 8">
              <a:extLst>
                <a:ext uri="{FF2B5EF4-FFF2-40B4-BE49-F238E27FC236}">
                  <a16:creationId xmlns:a16="http://schemas.microsoft.com/office/drawing/2014/main" id="{3A9F6F69-5AFC-56BA-0C17-E81E467AA49C}"/>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
        <p:nvSpPr>
          <p:cNvPr id="2" name="Picture Placeholder 1">
            <a:extLst>
              <a:ext uri="{FF2B5EF4-FFF2-40B4-BE49-F238E27FC236}">
                <a16:creationId xmlns:a16="http://schemas.microsoft.com/office/drawing/2014/main" id="{ADA0AC2B-DA1A-6CF5-8E52-82921CC8C9AB}"/>
              </a:ext>
            </a:extLst>
          </p:cNvPr>
          <p:cNvSpPr>
            <a:spLocks noGrp="1"/>
          </p:cNvSpPr>
          <p:nvPr>
            <p:ph type="pic" sz="quarter" idx="12" hasCustomPrompt="1"/>
          </p:nvPr>
        </p:nvSpPr>
        <p:spPr>
          <a:xfrm>
            <a:off x="0" y="1"/>
            <a:ext cx="12191998" cy="6858003"/>
          </a:xfrm>
          <a:custGeom>
            <a:avLst/>
            <a:gdLst>
              <a:gd name="connsiteX0" fmla="*/ 897269 w 12191998"/>
              <a:gd name="connsiteY0" fmla="*/ 6431624 h 6858003"/>
              <a:gd name="connsiteX1" fmla="*/ 993331 w 12191998"/>
              <a:gd name="connsiteY1" fmla="*/ 6528588 h 6858003"/>
              <a:gd name="connsiteX2" fmla="*/ 993331 w 12191998"/>
              <a:gd name="connsiteY2" fmla="*/ 6431624 h 6858003"/>
              <a:gd name="connsiteX3" fmla="*/ 1516925 w 12191998"/>
              <a:gd name="connsiteY3" fmla="*/ 6389274 h 6858003"/>
              <a:gd name="connsiteX4" fmla="*/ 1596273 w 12191998"/>
              <a:gd name="connsiteY4" fmla="*/ 6389274 h 6858003"/>
              <a:gd name="connsiteX5" fmla="*/ 1612525 w 12191998"/>
              <a:gd name="connsiteY5" fmla="*/ 6393128 h 6858003"/>
              <a:gd name="connsiteX6" fmla="*/ 1617305 w 12191998"/>
              <a:gd name="connsiteY6" fmla="*/ 6404690 h 6858003"/>
              <a:gd name="connsiteX7" fmla="*/ 1612525 w 12191998"/>
              <a:gd name="connsiteY7" fmla="*/ 6417214 h 6858003"/>
              <a:gd name="connsiteX8" fmla="*/ 1596273 w 12191998"/>
              <a:gd name="connsiteY8" fmla="*/ 6421550 h 6858003"/>
              <a:gd name="connsiteX9" fmla="*/ 1516925 w 12191998"/>
              <a:gd name="connsiteY9" fmla="*/ 6421550 h 6858003"/>
              <a:gd name="connsiteX10" fmla="*/ 1715460 w 12191998"/>
              <a:gd name="connsiteY10" fmla="*/ 6353146 h 6858003"/>
              <a:gd name="connsiteX11" fmla="*/ 1715460 w 12191998"/>
              <a:gd name="connsiteY11" fmla="*/ 6528495 h 6858003"/>
              <a:gd name="connsiteX12" fmla="*/ 1752796 w 12191998"/>
              <a:gd name="connsiteY12" fmla="*/ 6528495 h 6858003"/>
              <a:gd name="connsiteX13" fmla="*/ 1752796 w 12191998"/>
              <a:gd name="connsiteY13" fmla="*/ 6463461 h 6858003"/>
              <a:gd name="connsiteX14" fmla="*/ 1779122 w 12191998"/>
              <a:gd name="connsiteY14" fmla="*/ 6440820 h 6858003"/>
              <a:gd name="connsiteX15" fmla="*/ 1843741 w 12191998"/>
              <a:gd name="connsiteY15" fmla="*/ 6528495 h 6858003"/>
              <a:gd name="connsiteX16" fmla="*/ 1887299 w 12191998"/>
              <a:gd name="connsiteY16" fmla="*/ 6528495 h 6858003"/>
              <a:gd name="connsiteX17" fmla="*/ 1805928 w 12191998"/>
              <a:gd name="connsiteY17" fmla="*/ 6417697 h 6858003"/>
              <a:gd name="connsiteX18" fmla="*/ 1881555 w 12191998"/>
              <a:gd name="connsiteY18" fmla="*/ 6353146 h 6858003"/>
              <a:gd name="connsiteX19" fmla="*/ 1829860 w 12191998"/>
              <a:gd name="connsiteY19" fmla="*/ 6353146 h 6858003"/>
              <a:gd name="connsiteX20" fmla="*/ 1752796 w 12191998"/>
              <a:gd name="connsiteY20" fmla="*/ 6418661 h 6858003"/>
              <a:gd name="connsiteX21" fmla="*/ 1752796 w 12191998"/>
              <a:gd name="connsiteY21" fmla="*/ 6353146 h 6858003"/>
              <a:gd name="connsiteX22" fmla="*/ 1480119 w 12191998"/>
              <a:gd name="connsiteY22" fmla="*/ 6353146 h 6858003"/>
              <a:gd name="connsiteX23" fmla="*/ 1480119 w 12191998"/>
              <a:gd name="connsiteY23" fmla="*/ 6528495 h 6858003"/>
              <a:gd name="connsiteX24" fmla="*/ 1516925 w 12191998"/>
              <a:gd name="connsiteY24" fmla="*/ 6528495 h 6858003"/>
              <a:gd name="connsiteX25" fmla="*/ 1516925 w 12191998"/>
              <a:gd name="connsiteY25" fmla="*/ 6456716 h 6858003"/>
              <a:gd name="connsiteX26" fmla="*/ 1577631 w 12191998"/>
              <a:gd name="connsiteY26" fmla="*/ 6456716 h 6858003"/>
              <a:gd name="connsiteX27" fmla="*/ 1623519 w 12191998"/>
              <a:gd name="connsiteY27" fmla="*/ 6528495 h 6858003"/>
              <a:gd name="connsiteX28" fmla="*/ 1665104 w 12191998"/>
              <a:gd name="connsiteY28" fmla="*/ 6528495 h 6858003"/>
              <a:gd name="connsiteX29" fmla="*/ 1619217 w 12191998"/>
              <a:gd name="connsiteY29" fmla="*/ 6454790 h 6858003"/>
              <a:gd name="connsiteX30" fmla="*/ 1645507 w 12191998"/>
              <a:gd name="connsiteY30" fmla="*/ 6435521 h 6858003"/>
              <a:gd name="connsiteX31" fmla="*/ 1655067 w 12191998"/>
              <a:gd name="connsiteY31" fmla="*/ 6404691 h 6858003"/>
              <a:gd name="connsiteX32" fmla="*/ 1637859 w 12191998"/>
              <a:gd name="connsiteY32" fmla="*/ 6365671 h 6858003"/>
              <a:gd name="connsiteX33" fmla="*/ 1596751 w 12191998"/>
              <a:gd name="connsiteY33" fmla="*/ 6353146 h 6858003"/>
              <a:gd name="connsiteX34" fmla="*/ 2127612 w 12191998"/>
              <a:gd name="connsiteY34" fmla="*/ 6352198 h 6858003"/>
              <a:gd name="connsiteX35" fmla="*/ 2127612 w 12191998"/>
              <a:gd name="connsiteY35" fmla="*/ 6528494 h 6858003"/>
              <a:gd name="connsiteX36" fmla="*/ 2297579 w 12191998"/>
              <a:gd name="connsiteY36" fmla="*/ 6528494 h 6858003"/>
              <a:gd name="connsiteX37" fmla="*/ 2297579 w 12191998"/>
              <a:gd name="connsiteY37" fmla="*/ 6493138 h 6858003"/>
              <a:gd name="connsiteX38" fmla="*/ 2164479 w 12191998"/>
              <a:gd name="connsiteY38" fmla="*/ 6493138 h 6858003"/>
              <a:gd name="connsiteX39" fmla="*/ 2164479 w 12191998"/>
              <a:gd name="connsiteY39" fmla="*/ 6452939 h 6858003"/>
              <a:gd name="connsiteX40" fmla="*/ 2246830 w 12191998"/>
              <a:gd name="connsiteY40" fmla="*/ 6452939 h 6858003"/>
              <a:gd name="connsiteX41" fmla="*/ 2246830 w 12191998"/>
              <a:gd name="connsiteY41" fmla="*/ 6417583 h 6858003"/>
              <a:gd name="connsiteX42" fmla="*/ 2164479 w 12191998"/>
              <a:gd name="connsiteY42" fmla="*/ 6417583 h 6858003"/>
              <a:gd name="connsiteX43" fmla="*/ 2164479 w 12191998"/>
              <a:gd name="connsiteY43" fmla="*/ 6388523 h 6858003"/>
              <a:gd name="connsiteX44" fmla="*/ 2290390 w 12191998"/>
              <a:gd name="connsiteY44" fmla="*/ 6388523 h 6858003"/>
              <a:gd name="connsiteX45" fmla="*/ 2290390 w 12191998"/>
              <a:gd name="connsiteY45" fmla="*/ 6352198 h 6858003"/>
              <a:gd name="connsiteX46" fmla="*/ 1930569 w 12191998"/>
              <a:gd name="connsiteY46" fmla="*/ 6352198 h 6858003"/>
              <a:gd name="connsiteX47" fmla="*/ 1930569 w 12191998"/>
              <a:gd name="connsiteY47" fmla="*/ 6528494 h 6858003"/>
              <a:gd name="connsiteX48" fmla="*/ 2087383 w 12191998"/>
              <a:gd name="connsiteY48" fmla="*/ 6528494 h 6858003"/>
              <a:gd name="connsiteX49" fmla="*/ 2087383 w 12191998"/>
              <a:gd name="connsiteY49" fmla="*/ 6493138 h 6858003"/>
              <a:gd name="connsiteX50" fmla="*/ 1967861 w 12191998"/>
              <a:gd name="connsiteY50" fmla="*/ 6493138 h 6858003"/>
              <a:gd name="connsiteX51" fmla="*/ 1967861 w 12191998"/>
              <a:gd name="connsiteY51" fmla="*/ 6352198 h 6858003"/>
              <a:gd name="connsiteX52" fmla="*/ 1265509 w 12191998"/>
              <a:gd name="connsiteY52" fmla="*/ 6352198 h 6858003"/>
              <a:gd name="connsiteX53" fmla="*/ 1265509 w 12191998"/>
              <a:gd name="connsiteY53" fmla="*/ 6528494 h 6858003"/>
              <a:gd name="connsiteX54" fmla="*/ 1435470 w 12191998"/>
              <a:gd name="connsiteY54" fmla="*/ 6528494 h 6858003"/>
              <a:gd name="connsiteX55" fmla="*/ 1435470 w 12191998"/>
              <a:gd name="connsiteY55" fmla="*/ 6493138 h 6858003"/>
              <a:gd name="connsiteX56" fmla="*/ 1302853 w 12191998"/>
              <a:gd name="connsiteY56" fmla="*/ 6493138 h 6858003"/>
              <a:gd name="connsiteX57" fmla="*/ 1302853 w 12191998"/>
              <a:gd name="connsiteY57" fmla="*/ 6452939 h 6858003"/>
              <a:gd name="connsiteX58" fmla="*/ 1385200 w 12191998"/>
              <a:gd name="connsiteY58" fmla="*/ 6452939 h 6858003"/>
              <a:gd name="connsiteX59" fmla="*/ 1385200 w 12191998"/>
              <a:gd name="connsiteY59" fmla="*/ 6417583 h 6858003"/>
              <a:gd name="connsiteX60" fmla="*/ 1302853 w 12191998"/>
              <a:gd name="connsiteY60" fmla="*/ 6417583 h 6858003"/>
              <a:gd name="connsiteX61" fmla="*/ 1302853 w 12191998"/>
              <a:gd name="connsiteY61" fmla="*/ 6388523 h 6858003"/>
              <a:gd name="connsiteX62" fmla="*/ 1428289 w 12191998"/>
              <a:gd name="connsiteY62" fmla="*/ 6388523 h 6858003"/>
              <a:gd name="connsiteX63" fmla="*/ 1428289 w 12191998"/>
              <a:gd name="connsiteY63" fmla="*/ 6352198 h 6858003"/>
              <a:gd name="connsiteX64" fmla="*/ 1030531 w 12191998"/>
              <a:gd name="connsiteY64" fmla="*/ 6352198 h 6858003"/>
              <a:gd name="connsiteX65" fmla="*/ 1030531 w 12191998"/>
              <a:gd name="connsiteY65" fmla="*/ 6529014 h 6858003"/>
              <a:gd name="connsiteX66" fmla="*/ 1067731 w 12191998"/>
              <a:gd name="connsiteY66" fmla="*/ 6529014 h 6858003"/>
              <a:gd name="connsiteX67" fmla="*/ 1067731 w 12191998"/>
              <a:gd name="connsiteY67" fmla="*/ 6423970 h 6858003"/>
              <a:gd name="connsiteX68" fmla="*/ 1123532 w 12191998"/>
              <a:gd name="connsiteY68" fmla="*/ 6480295 h 6858003"/>
              <a:gd name="connsiteX69" fmla="*/ 1179333 w 12191998"/>
              <a:gd name="connsiteY69" fmla="*/ 6423970 h 6858003"/>
              <a:gd name="connsiteX70" fmla="*/ 1179333 w 12191998"/>
              <a:gd name="connsiteY70" fmla="*/ 6529014 h 6858003"/>
              <a:gd name="connsiteX71" fmla="*/ 1216533 w 12191998"/>
              <a:gd name="connsiteY71" fmla="*/ 6529014 h 6858003"/>
              <a:gd name="connsiteX72" fmla="*/ 1216533 w 12191998"/>
              <a:gd name="connsiteY72" fmla="*/ 6352198 h 6858003"/>
              <a:gd name="connsiteX73" fmla="*/ 1196756 w 12191998"/>
              <a:gd name="connsiteY73" fmla="*/ 6352198 h 6858003"/>
              <a:gd name="connsiteX74" fmla="*/ 1124003 w 12191998"/>
              <a:gd name="connsiteY74" fmla="*/ 6426584 h 6858003"/>
              <a:gd name="connsiteX75" fmla="*/ 1050308 w 12191998"/>
              <a:gd name="connsiteY75" fmla="*/ 6352198 h 6858003"/>
              <a:gd name="connsiteX76" fmla="*/ 0 w 12191998"/>
              <a:gd name="connsiteY76" fmla="*/ 0 h 6858003"/>
              <a:gd name="connsiteX77" fmla="*/ 12191998 w 12191998"/>
              <a:gd name="connsiteY77" fmla="*/ 0 h 6858003"/>
              <a:gd name="connsiteX78" fmla="*/ 12191998 w 12191998"/>
              <a:gd name="connsiteY78" fmla="*/ 6858003 h 6858003"/>
              <a:gd name="connsiteX79" fmla="*/ 0 w 12191998"/>
              <a:gd name="connsiteY79" fmla="*/ 6858003 h 6858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Lst>
            <a:rect l="l" t="t" r="r" b="b"/>
            <a:pathLst>
              <a:path w="12191998" h="6858003">
                <a:moveTo>
                  <a:pt x="897269" y="6431624"/>
                </a:moveTo>
                <a:lnTo>
                  <a:pt x="993331" y="6528588"/>
                </a:lnTo>
                <a:lnTo>
                  <a:pt x="993331" y="6431624"/>
                </a:lnTo>
                <a:close/>
                <a:moveTo>
                  <a:pt x="1516925" y="6389274"/>
                </a:moveTo>
                <a:lnTo>
                  <a:pt x="1596273" y="6389274"/>
                </a:lnTo>
                <a:cubicBezTo>
                  <a:pt x="1603443" y="6389274"/>
                  <a:pt x="1609179" y="6390720"/>
                  <a:pt x="1612525" y="6393128"/>
                </a:cubicBezTo>
                <a:cubicBezTo>
                  <a:pt x="1615871" y="6396019"/>
                  <a:pt x="1617305" y="6399872"/>
                  <a:pt x="1617305" y="6404690"/>
                </a:cubicBezTo>
                <a:cubicBezTo>
                  <a:pt x="1617305" y="6409025"/>
                  <a:pt x="1615871" y="6412879"/>
                  <a:pt x="1612525" y="6417214"/>
                </a:cubicBezTo>
                <a:cubicBezTo>
                  <a:pt x="1609179" y="6420105"/>
                  <a:pt x="1603921" y="6421550"/>
                  <a:pt x="1596273" y="6421550"/>
                </a:cubicBezTo>
                <a:lnTo>
                  <a:pt x="1516925" y="6421550"/>
                </a:lnTo>
                <a:close/>
                <a:moveTo>
                  <a:pt x="1715460" y="6353146"/>
                </a:moveTo>
                <a:lnTo>
                  <a:pt x="1715460" y="6528495"/>
                </a:lnTo>
                <a:lnTo>
                  <a:pt x="1752796" y="6528495"/>
                </a:lnTo>
                <a:lnTo>
                  <a:pt x="1752796" y="6463461"/>
                </a:lnTo>
                <a:lnTo>
                  <a:pt x="1779122" y="6440820"/>
                </a:lnTo>
                <a:lnTo>
                  <a:pt x="1843741" y="6528495"/>
                </a:lnTo>
                <a:lnTo>
                  <a:pt x="1887299" y="6528495"/>
                </a:lnTo>
                <a:lnTo>
                  <a:pt x="1805928" y="6417697"/>
                </a:lnTo>
                <a:lnTo>
                  <a:pt x="1881555" y="6353146"/>
                </a:lnTo>
                <a:lnTo>
                  <a:pt x="1829860" y="6353146"/>
                </a:lnTo>
                <a:lnTo>
                  <a:pt x="1752796" y="6418661"/>
                </a:lnTo>
                <a:lnTo>
                  <a:pt x="1752796" y="6353146"/>
                </a:lnTo>
                <a:close/>
                <a:moveTo>
                  <a:pt x="1480119" y="6353146"/>
                </a:moveTo>
                <a:lnTo>
                  <a:pt x="1480119" y="6528495"/>
                </a:lnTo>
                <a:lnTo>
                  <a:pt x="1516925" y="6528495"/>
                </a:lnTo>
                <a:lnTo>
                  <a:pt x="1516925" y="6456716"/>
                </a:lnTo>
                <a:lnTo>
                  <a:pt x="1577631" y="6456716"/>
                </a:lnTo>
                <a:lnTo>
                  <a:pt x="1623519" y="6528495"/>
                </a:lnTo>
                <a:lnTo>
                  <a:pt x="1665104" y="6528495"/>
                </a:lnTo>
                <a:lnTo>
                  <a:pt x="1619217" y="6454790"/>
                </a:lnTo>
                <a:cubicBezTo>
                  <a:pt x="1630211" y="6450936"/>
                  <a:pt x="1638814" y="6444674"/>
                  <a:pt x="1645507" y="6435521"/>
                </a:cubicBezTo>
                <a:cubicBezTo>
                  <a:pt x="1651721" y="6426368"/>
                  <a:pt x="1655067" y="6416252"/>
                  <a:pt x="1655067" y="6404691"/>
                </a:cubicBezTo>
                <a:cubicBezTo>
                  <a:pt x="1655067" y="6387830"/>
                  <a:pt x="1649331" y="6374824"/>
                  <a:pt x="1637859" y="6365671"/>
                </a:cubicBezTo>
                <a:cubicBezTo>
                  <a:pt x="1627343" y="6357482"/>
                  <a:pt x="1613959" y="6353146"/>
                  <a:pt x="1596751" y="6353146"/>
                </a:cubicBezTo>
                <a:close/>
                <a:moveTo>
                  <a:pt x="2127612" y="6352198"/>
                </a:moveTo>
                <a:lnTo>
                  <a:pt x="2127612" y="6528494"/>
                </a:lnTo>
                <a:lnTo>
                  <a:pt x="2297579" y="6528494"/>
                </a:lnTo>
                <a:lnTo>
                  <a:pt x="2297579" y="6493138"/>
                </a:lnTo>
                <a:lnTo>
                  <a:pt x="2164479" y="6493138"/>
                </a:lnTo>
                <a:lnTo>
                  <a:pt x="2164479" y="6452939"/>
                </a:lnTo>
                <a:lnTo>
                  <a:pt x="2246830" y="6452939"/>
                </a:lnTo>
                <a:lnTo>
                  <a:pt x="2246830" y="6417583"/>
                </a:lnTo>
                <a:lnTo>
                  <a:pt x="2164479" y="6417583"/>
                </a:lnTo>
                <a:lnTo>
                  <a:pt x="2164479" y="6388523"/>
                </a:lnTo>
                <a:lnTo>
                  <a:pt x="2290390" y="6388523"/>
                </a:lnTo>
                <a:lnTo>
                  <a:pt x="2290390" y="6352198"/>
                </a:lnTo>
                <a:close/>
                <a:moveTo>
                  <a:pt x="1930569" y="6352198"/>
                </a:moveTo>
                <a:lnTo>
                  <a:pt x="1930569" y="6528494"/>
                </a:lnTo>
                <a:lnTo>
                  <a:pt x="2087383" y="6528494"/>
                </a:lnTo>
                <a:lnTo>
                  <a:pt x="2087383" y="6493138"/>
                </a:lnTo>
                <a:lnTo>
                  <a:pt x="1967861" y="6493138"/>
                </a:lnTo>
                <a:lnTo>
                  <a:pt x="1967861" y="6352198"/>
                </a:lnTo>
                <a:close/>
                <a:moveTo>
                  <a:pt x="1265509" y="6352198"/>
                </a:moveTo>
                <a:lnTo>
                  <a:pt x="1265509" y="6528494"/>
                </a:lnTo>
                <a:lnTo>
                  <a:pt x="1435470" y="6528494"/>
                </a:lnTo>
                <a:lnTo>
                  <a:pt x="1435470" y="6493138"/>
                </a:lnTo>
                <a:lnTo>
                  <a:pt x="1302853" y="6493138"/>
                </a:lnTo>
                <a:lnTo>
                  <a:pt x="1302853" y="6452939"/>
                </a:lnTo>
                <a:lnTo>
                  <a:pt x="1385200" y="6452939"/>
                </a:lnTo>
                <a:lnTo>
                  <a:pt x="1385200" y="6417583"/>
                </a:lnTo>
                <a:lnTo>
                  <a:pt x="1302853" y="6417583"/>
                </a:lnTo>
                <a:lnTo>
                  <a:pt x="1302853" y="6388523"/>
                </a:lnTo>
                <a:lnTo>
                  <a:pt x="1428289" y="6388523"/>
                </a:lnTo>
                <a:lnTo>
                  <a:pt x="1428289" y="6352198"/>
                </a:lnTo>
                <a:close/>
                <a:moveTo>
                  <a:pt x="1030531" y="6352198"/>
                </a:moveTo>
                <a:lnTo>
                  <a:pt x="1030531" y="6529014"/>
                </a:lnTo>
                <a:lnTo>
                  <a:pt x="1067731" y="6529014"/>
                </a:lnTo>
                <a:lnTo>
                  <a:pt x="1067731" y="6423970"/>
                </a:lnTo>
                <a:lnTo>
                  <a:pt x="1123532" y="6480295"/>
                </a:lnTo>
                <a:lnTo>
                  <a:pt x="1179333" y="6423970"/>
                </a:lnTo>
                <a:lnTo>
                  <a:pt x="1179333" y="6529014"/>
                </a:lnTo>
                <a:lnTo>
                  <a:pt x="1216533" y="6529014"/>
                </a:lnTo>
                <a:lnTo>
                  <a:pt x="1216533" y="6352198"/>
                </a:lnTo>
                <a:lnTo>
                  <a:pt x="1196756" y="6352198"/>
                </a:lnTo>
                <a:lnTo>
                  <a:pt x="1124003" y="6426584"/>
                </a:lnTo>
                <a:lnTo>
                  <a:pt x="1050308" y="6352198"/>
                </a:lnTo>
                <a:close/>
                <a:moveTo>
                  <a:pt x="0" y="0"/>
                </a:moveTo>
                <a:lnTo>
                  <a:pt x="12191998" y="0"/>
                </a:lnTo>
                <a:lnTo>
                  <a:pt x="12191998" y="6858003"/>
                </a:lnTo>
                <a:lnTo>
                  <a:pt x="0" y="6858003"/>
                </a:lnTo>
                <a:close/>
              </a:path>
            </a:pathLst>
          </a:custGeom>
        </p:spPr>
        <p:txBody>
          <a:bodyPr wrap="square">
            <a:noAutofit/>
          </a:bodyPr>
          <a:lstStyle>
            <a:lvl1pPr marL="66675" indent="0">
              <a:buNone/>
              <a:defRPr>
                <a:solidFill>
                  <a:schemeClr val="bg1"/>
                </a:solidFill>
              </a:defRPr>
            </a:lvl1pPr>
          </a:lstStyle>
          <a:p>
            <a:r>
              <a:rPr lang="en-US"/>
              <a:t>Full bleed image option – click on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88964F60-0CB7-9971-C168-FCFDE0732C0A}"/>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070EF911-B422-12D3-FAAC-6ACB96518D67}"/>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spTree>
    <p:extLst>
      <p:ext uri="{BB962C8B-B14F-4D97-AF65-F5344CB8AC3E}">
        <p14:creationId xmlns:p14="http://schemas.microsoft.com/office/powerpoint/2010/main" val="29685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 Page +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40610D9-A343-A0A7-B0BD-71547EB1CADE}"/>
              </a:ext>
            </a:extLst>
          </p:cNvPr>
          <p:cNvSpPr/>
          <p:nvPr userDrawn="1"/>
        </p:nvSpPr>
        <p:spPr>
          <a:xfrm rot="10800000" flipV="1">
            <a:off x="2" y="0"/>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Freeform 7">
            <a:extLst>
              <a:ext uri="{FF2B5EF4-FFF2-40B4-BE49-F238E27FC236}">
                <a16:creationId xmlns:a16="http://schemas.microsoft.com/office/drawing/2014/main" id="{192B8A04-CAE0-A163-0AEE-90F6CD4678B6}"/>
              </a:ext>
            </a:extLst>
          </p:cNvPr>
          <p:cNvSpPr/>
          <p:nvPr userDrawn="1"/>
        </p:nvSpPr>
        <p:spPr>
          <a:xfrm flipH="1">
            <a:off x="0" y="0"/>
            <a:ext cx="6933399" cy="6857999"/>
          </a:xfrm>
          <a:custGeom>
            <a:avLst/>
            <a:gdLst>
              <a:gd name="connsiteX0" fmla="*/ 6933399 w 6933399"/>
              <a:gd name="connsiteY0" fmla="*/ 0 h 6857999"/>
              <a:gd name="connsiteX1" fmla="*/ 0 w 6933399"/>
              <a:gd name="connsiteY1" fmla="*/ 0 h 6857999"/>
              <a:gd name="connsiteX2" fmla="*/ 1190078 w 6933399"/>
              <a:gd name="connsiteY2" fmla="*/ 6857999 h 6857999"/>
              <a:gd name="connsiteX3" fmla="*/ 6933399 w 6933399"/>
              <a:gd name="connsiteY3" fmla="*/ 6857999 h 6857999"/>
              <a:gd name="connsiteX4" fmla="*/ 6933399 w 6933399"/>
              <a:gd name="connsiteY4" fmla="*/ 0 h 68579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33399" h="6857999">
                <a:moveTo>
                  <a:pt x="6933399" y="0"/>
                </a:moveTo>
                <a:lnTo>
                  <a:pt x="0" y="0"/>
                </a:lnTo>
                <a:lnTo>
                  <a:pt x="1190078" y="6857999"/>
                </a:lnTo>
                <a:lnTo>
                  <a:pt x="6933399" y="6857999"/>
                </a:lnTo>
                <a:lnTo>
                  <a:pt x="6933399" y="0"/>
                </a:lnTo>
                <a:close/>
              </a:path>
            </a:pathLst>
          </a:cu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defPPr>
              <a:defRPr lang="en-DK"/>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b="1">
              <a:solidFill>
                <a:srgbClr val="FFFFFF"/>
              </a:solidFill>
            </a:endParaRPr>
          </a:p>
        </p:txBody>
      </p:sp>
      <p:sp>
        <p:nvSpPr>
          <p:cNvPr id="14" name="Picture Placeholder 8">
            <a:extLst>
              <a:ext uri="{FF2B5EF4-FFF2-40B4-BE49-F238E27FC236}">
                <a16:creationId xmlns:a16="http://schemas.microsoft.com/office/drawing/2014/main" id="{537750C2-2CFC-FA5F-F089-5D7BE482E244}"/>
              </a:ext>
            </a:extLst>
          </p:cNvPr>
          <p:cNvSpPr>
            <a:spLocks noGrp="1"/>
          </p:cNvSpPr>
          <p:nvPr>
            <p:ph type="pic" sz="quarter" idx="12" hasCustomPrompt="1"/>
          </p:nvPr>
        </p:nvSpPr>
        <p:spPr>
          <a:xfrm>
            <a:off x="5743322" y="0"/>
            <a:ext cx="6448678" cy="6858000"/>
          </a:xfrm>
          <a:custGeom>
            <a:avLst/>
            <a:gdLst>
              <a:gd name="connsiteX0" fmla="*/ 1190078 w 6448678"/>
              <a:gd name="connsiteY0" fmla="*/ 0 h 6858000"/>
              <a:gd name="connsiteX1" fmla="*/ 6448678 w 6448678"/>
              <a:gd name="connsiteY1" fmla="*/ 0 h 6858000"/>
              <a:gd name="connsiteX2" fmla="*/ 6448678 w 6448678"/>
              <a:gd name="connsiteY2" fmla="*/ 6858000 h 6858000"/>
              <a:gd name="connsiteX3" fmla="*/ 0 w 6448678"/>
              <a:gd name="connsiteY3" fmla="*/ 6857999 h 6858000"/>
            </a:gdLst>
            <a:ahLst/>
            <a:cxnLst>
              <a:cxn ang="0">
                <a:pos x="connsiteX0" y="connsiteY0"/>
              </a:cxn>
              <a:cxn ang="0">
                <a:pos x="connsiteX1" y="connsiteY1"/>
              </a:cxn>
              <a:cxn ang="0">
                <a:pos x="connsiteX2" y="connsiteY2"/>
              </a:cxn>
              <a:cxn ang="0">
                <a:pos x="connsiteX3" y="connsiteY3"/>
              </a:cxn>
            </a:cxnLst>
            <a:rect l="l" t="t" r="r" b="b"/>
            <a:pathLst>
              <a:path w="6448678" h="6858000">
                <a:moveTo>
                  <a:pt x="1190078" y="0"/>
                </a:moveTo>
                <a:lnTo>
                  <a:pt x="6448678" y="0"/>
                </a:lnTo>
                <a:lnTo>
                  <a:pt x="6448678" y="6858000"/>
                </a:lnTo>
                <a:lnTo>
                  <a:pt x="0" y="6857999"/>
                </a:lnTo>
                <a:close/>
              </a:path>
            </a:pathLst>
          </a:custGeom>
          <a:solidFill>
            <a:schemeClr val="accent5"/>
          </a:solidFill>
        </p:spPr>
        <p:txBody>
          <a:bodyPr wrap="square">
            <a:noAutofit/>
          </a:bodyPr>
          <a:lstStyle>
            <a:lvl1pPr marL="66675" indent="0">
              <a:buNone/>
              <a:defRPr>
                <a:solidFill>
                  <a:schemeClr val="bg1"/>
                </a:solidFill>
              </a:defRPr>
            </a:lvl1pPr>
          </a:lstStyle>
          <a:p>
            <a:r>
              <a:rPr lang="en-US"/>
              <a:t>*Click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3" name="Text Placeholder 11">
            <a:extLst>
              <a:ext uri="{FF2B5EF4-FFF2-40B4-BE49-F238E27FC236}">
                <a16:creationId xmlns:a16="http://schemas.microsoft.com/office/drawing/2014/main" id="{C7F3DED5-6220-ADBB-7581-4FC4A1B601C3}"/>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3" name="Title 1">
            <a:extLst>
              <a:ext uri="{FF2B5EF4-FFF2-40B4-BE49-F238E27FC236}">
                <a16:creationId xmlns:a16="http://schemas.microsoft.com/office/drawing/2014/main" id="{E9BA3374-EAA1-50C0-C7EA-49D0566FE53A}"/>
              </a:ext>
            </a:extLst>
          </p:cNvPr>
          <p:cNvSpPr>
            <a:spLocks noGrp="1"/>
          </p:cNvSpPr>
          <p:nvPr>
            <p:ph type="title" hasCustomPrompt="1"/>
          </p:nvPr>
        </p:nvSpPr>
        <p:spPr>
          <a:xfrm>
            <a:off x="915725" y="557784"/>
            <a:ext cx="5104931"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4" name="Text Placeholder 12">
            <a:extLst>
              <a:ext uri="{FF2B5EF4-FFF2-40B4-BE49-F238E27FC236}">
                <a16:creationId xmlns:a16="http://schemas.microsoft.com/office/drawing/2014/main" id="{C8FBE8DB-5027-C4D6-0A1F-6C57A886A9F3}"/>
              </a:ext>
            </a:extLst>
          </p:cNvPr>
          <p:cNvSpPr>
            <a:spLocks noGrp="1"/>
          </p:cNvSpPr>
          <p:nvPr>
            <p:ph type="body" sz="quarter" idx="10" hasCustomPrompt="1"/>
          </p:nvPr>
        </p:nvSpPr>
        <p:spPr>
          <a:xfrm>
            <a:off x="915725" y="3483865"/>
            <a:ext cx="5104931"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5" name="Group 4">
            <a:extLst>
              <a:ext uri="{FF2B5EF4-FFF2-40B4-BE49-F238E27FC236}">
                <a16:creationId xmlns:a16="http://schemas.microsoft.com/office/drawing/2014/main" id="{02761D30-2E65-16C9-900D-52341B68847B}"/>
              </a:ext>
            </a:extLst>
          </p:cNvPr>
          <p:cNvGrpSpPr/>
          <p:nvPr userDrawn="1"/>
        </p:nvGrpSpPr>
        <p:grpSpPr>
          <a:xfrm>
            <a:off x="896112" y="6351752"/>
            <a:ext cx="1405514" cy="174291"/>
            <a:chOff x="419100" y="6294132"/>
            <a:chExt cx="1400350" cy="173651"/>
          </a:xfrm>
        </p:grpSpPr>
        <p:pic>
          <p:nvPicPr>
            <p:cNvPr id="7" name="Graphic 6">
              <a:extLst>
                <a:ext uri="{FF2B5EF4-FFF2-40B4-BE49-F238E27FC236}">
                  <a16:creationId xmlns:a16="http://schemas.microsoft.com/office/drawing/2014/main" id="{E638B0F6-7E27-F480-F961-848E33FC27C2}"/>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9" name="Graphic 8">
              <a:extLst>
                <a:ext uri="{FF2B5EF4-FFF2-40B4-BE49-F238E27FC236}">
                  <a16:creationId xmlns:a16="http://schemas.microsoft.com/office/drawing/2014/main" id="{2338C327-541D-059F-4FA7-BC4C86213B44}"/>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13151283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le Page + Image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96FAC30-37D0-2A31-92EC-DDB649D9182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3" name="Picture Placeholder 8">
            <a:extLst>
              <a:ext uri="{FF2B5EF4-FFF2-40B4-BE49-F238E27FC236}">
                <a16:creationId xmlns:a16="http://schemas.microsoft.com/office/drawing/2014/main" id="{3EDD5D33-1863-491B-BF03-502056AF2633}"/>
              </a:ext>
            </a:extLst>
          </p:cNvPr>
          <p:cNvSpPr>
            <a:spLocks noGrp="1"/>
          </p:cNvSpPr>
          <p:nvPr>
            <p:ph type="pic" sz="quarter" idx="12" hasCustomPrompt="1"/>
          </p:nvPr>
        </p:nvSpPr>
        <p:spPr>
          <a:xfrm>
            <a:off x="6678324" y="0"/>
            <a:ext cx="5513676" cy="6857999"/>
          </a:xfrm>
          <a:prstGeom prst="rect">
            <a:avLst/>
          </a:prstGeom>
          <a:solidFill>
            <a:schemeClr val="accent5"/>
          </a:solidFill>
        </p:spPr>
        <p:txBody>
          <a:bodyPr wrap="square">
            <a:noAutofit/>
          </a:bodyPr>
          <a:lstStyle>
            <a:lvl1pPr marL="0" indent="0">
              <a:buNone/>
              <a:defRPr b="0">
                <a:solidFill>
                  <a:schemeClr val="bg1"/>
                </a:solidFill>
              </a:defRPr>
            </a:lvl1pPr>
          </a:lstStyle>
          <a:p>
            <a:r>
              <a:rPr lang="en-US"/>
              <a:t>*Click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3" name="Text Placeholder 11">
            <a:extLst>
              <a:ext uri="{FF2B5EF4-FFF2-40B4-BE49-F238E27FC236}">
                <a16:creationId xmlns:a16="http://schemas.microsoft.com/office/drawing/2014/main" id="{C7F3DED5-6220-ADBB-7581-4FC4A1B601C3}"/>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0EC419B7-C447-D270-BE9E-FCE60CA674DF}"/>
              </a:ext>
            </a:extLst>
          </p:cNvPr>
          <p:cNvSpPr>
            <a:spLocks noGrp="1"/>
          </p:cNvSpPr>
          <p:nvPr>
            <p:ph type="title" hasCustomPrompt="1"/>
          </p:nvPr>
        </p:nvSpPr>
        <p:spPr>
          <a:xfrm>
            <a:off x="915725" y="557784"/>
            <a:ext cx="5372059"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40773FED-138B-073C-AAB6-722D3F147581}"/>
              </a:ext>
            </a:extLst>
          </p:cNvPr>
          <p:cNvSpPr>
            <a:spLocks noGrp="1"/>
          </p:cNvSpPr>
          <p:nvPr>
            <p:ph type="body" sz="quarter" idx="10" hasCustomPrompt="1"/>
          </p:nvPr>
        </p:nvSpPr>
        <p:spPr>
          <a:xfrm>
            <a:off x="915725" y="3483865"/>
            <a:ext cx="5372059"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7" name="Group 6">
            <a:extLst>
              <a:ext uri="{FF2B5EF4-FFF2-40B4-BE49-F238E27FC236}">
                <a16:creationId xmlns:a16="http://schemas.microsoft.com/office/drawing/2014/main" id="{C68993E1-6EAB-7E41-AA6A-50B7D5F12432}"/>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37B02FEB-149E-9A9F-E99A-E16C24B5DEA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8027D52B-8CEC-ACD4-9B1C-2768494AA315}"/>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26928587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 Textur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8467A25-6525-DEF0-6E9C-88EB741150E3}"/>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12" name="Picture 11">
            <a:extLst>
              <a:ext uri="{FF2B5EF4-FFF2-40B4-BE49-F238E27FC236}">
                <a16:creationId xmlns:a16="http://schemas.microsoft.com/office/drawing/2014/main" id="{C6F3087F-EC64-F7D2-2A63-A07B6B42CC0A}"/>
              </a:ext>
            </a:extLst>
          </p:cNvPr>
          <p:cNvPicPr>
            <a:picLocks noChangeAspect="1"/>
          </p:cNvPicPr>
          <p:nvPr userDrawn="1"/>
        </p:nvPicPr>
        <p:blipFill>
          <a:blip r:embed="rId2" cstate="screen">
            <a:extLst>
              <a:ext uri="{28A0092B-C50C-407E-A947-70E740481C1C}">
                <a14:useLocalDpi xmlns:a14="http://schemas.microsoft.com/office/drawing/2010/main"/>
              </a:ext>
            </a:extLst>
          </a:blip>
          <a:srcRect l="11298"/>
          <a:stretch/>
        </p:blipFill>
        <p:spPr>
          <a:xfrm rot="5400000">
            <a:off x="4897244" y="-436756"/>
            <a:ext cx="6858000" cy="7731512"/>
          </a:xfrm>
          <a:prstGeom prst="rect">
            <a:avLst/>
          </a:prstGeom>
        </p:spPr>
      </p:pic>
      <p:sp>
        <p:nvSpPr>
          <p:cNvPr id="4" name="TextBox 3">
            <a:extLst>
              <a:ext uri="{FF2B5EF4-FFF2-40B4-BE49-F238E27FC236}">
                <a16:creationId xmlns:a16="http://schemas.microsoft.com/office/drawing/2014/main" id="{FF9B4D72-F7FA-C6E0-1638-99CC0590BC3D}"/>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bg2">
                    <a:lumMod val="90000"/>
                  </a:schemeClr>
                </a:solidFill>
                <a:latin typeface="+mn-lt"/>
              </a:defRPr>
            </a:lvl1pPr>
          </a:lstStyle>
          <a:p>
            <a:r>
              <a:rPr lang="en-US"/>
              <a:t>AGENDA</a:t>
            </a:r>
          </a:p>
        </p:txBody>
      </p:sp>
      <p:sp>
        <p:nvSpPr>
          <p:cNvPr id="6" name="Content Placeholder 4">
            <a:extLst>
              <a:ext uri="{FF2B5EF4-FFF2-40B4-BE49-F238E27FC236}">
                <a16:creationId xmlns:a16="http://schemas.microsoft.com/office/drawing/2014/main" id="{0405A382-3757-DDEC-4576-50C6A93B346D}"/>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bg1"/>
                </a:solidFill>
                <a:latin typeface="+mn-lt"/>
                <a:ea typeface="+mn-ea"/>
                <a:cs typeface="+mn-cs"/>
              </a:defRPr>
            </a:lvl1pPr>
            <a:lvl2pPr marL="7938" indent="0">
              <a:lnSpc>
                <a:spcPct val="100000"/>
              </a:lnSpc>
              <a:spcBef>
                <a:spcPts val="600"/>
              </a:spcBef>
              <a:buNone/>
              <a:tabLst/>
              <a:defRPr>
                <a:solidFill>
                  <a:schemeClr val="bg1"/>
                </a:solidFill>
              </a:defRPr>
            </a:lvl2pPr>
            <a:lvl3pPr marL="173736" indent="-109728">
              <a:lnSpc>
                <a:spcPct val="100000"/>
              </a:lnSpc>
              <a:spcBef>
                <a:spcPts val="600"/>
              </a:spcBef>
              <a:defRPr sz="1200">
                <a:solidFill>
                  <a:schemeClr val="bg1"/>
                </a:solidFill>
              </a:defRPr>
            </a:lvl3pPr>
            <a:lvl4pPr marL="402336" indent="-173736">
              <a:lnSpc>
                <a:spcPct val="100000"/>
              </a:lnSpc>
              <a:spcBef>
                <a:spcPts val="600"/>
              </a:spcBef>
              <a:buFont typeface="Arial" panose="020B0604020202020204" pitchFamily="34" charset="0"/>
              <a:buChar char="•"/>
              <a:defRPr sz="1200">
                <a:solidFill>
                  <a:schemeClr val="bg1"/>
                </a:solidFill>
              </a:defRPr>
            </a:lvl4pPr>
            <a:lvl5pPr marL="576072" indent="-109728">
              <a:lnSpc>
                <a:spcPct val="100000"/>
              </a:lnSpc>
              <a:spcBef>
                <a:spcPts val="600"/>
              </a:spcBef>
              <a:buFont typeface="Arial" panose="020B0604020202020204" pitchFamily="34" charset="0"/>
              <a:buChar char="•"/>
              <a:defRPr sz="1200">
                <a:solidFill>
                  <a:schemeClr val="bg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grpSp>
        <p:nvGrpSpPr>
          <p:cNvPr id="5" name="Graphic 9">
            <a:extLst>
              <a:ext uri="{FF2B5EF4-FFF2-40B4-BE49-F238E27FC236}">
                <a16:creationId xmlns:a16="http://schemas.microsoft.com/office/drawing/2014/main" id="{B7483D9C-A8AF-28C7-C2E8-9E9C66A321ED}"/>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0" name="Freeform 9">
              <a:extLst>
                <a:ext uri="{FF2B5EF4-FFF2-40B4-BE49-F238E27FC236}">
                  <a16:creationId xmlns:a16="http://schemas.microsoft.com/office/drawing/2014/main" id="{6FFDC0C2-9DB0-2E6F-9474-FD166AA82FBF}"/>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1" name="Freeform 10">
              <a:extLst>
                <a:ext uri="{FF2B5EF4-FFF2-40B4-BE49-F238E27FC236}">
                  <a16:creationId xmlns:a16="http://schemas.microsoft.com/office/drawing/2014/main" id="{41505EF2-9C4E-DB81-F431-F03DC000421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6340368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Slide - Image Dark">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5B1102-0EBD-E982-3358-18916BADB73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10" name="Picture Placeholder 6">
            <a:extLst>
              <a:ext uri="{FF2B5EF4-FFF2-40B4-BE49-F238E27FC236}">
                <a16:creationId xmlns:a16="http://schemas.microsoft.com/office/drawing/2014/main" id="{04512901-5206-5467-E6E2-1B836F7ACC29}"/>
              </a:ext>
            </a:extLst>
          </p:cNvPr>
          <p:cNvSpPr>
            <a:spLocks noGrp="1"/>
          </p:cNvSpPr>
          <p:nvPr>
            <p:ph type="pic" sz="quarter" idx="12" hasCustomPrompt="1"/>
          </p:nvPr>
        </p:nvSpPr>
        <p:spPr>
          <a:xfrm>
            <a:off x="5743322" y="0"/>
            <a:ext cx="6448678" cy="6857999"/>
          </a:xfrm>
          <a:prstGeom prst="rect">
            <a:avLst/>
          </a:prstGeom>
          <a:solidFill>
            <a:schemeClr val="accent5"/>
          </a:solidFill>
        </p:spPr>
        <p:txBody>
          <a:bodyPr wrap="square">
            <a:noAutofit/>
          </a:bodyPr>
          <a:lstStyle>
            <a:lvl1pPr marL="0" indent="0">
              <a:buNone/>
              <a:defRPr b="0">
                <a:solidFill>
                  <a:schemeClr val="bg1"/>
                </a:solidFill>
                <a:latin typeface="+mn-lt"/>
              </a:defRPr>
            </a:lvl1pPr>
          </a:lstStyle>
          <a:p>
            <a:r>
              <a:rPr lang="en-US"/>
              <a:t>*Click image icon to insert*</a:t>
            </a: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bg2">
                    <a:lumMod val="90000"/>
                  </a:schemeClr>
                </a:solidFill>
                <a:latin typeface="+mn-lt"/>
              </a:defRPr>
            </a:lvl1pPr>
          </a:lstStyle>
          <a:p>
            <a:r>
              <a:rPr lang="en-US"/>
              <a:t>AGENDA</a:t>
            </a:r>
          </a:p>
        </p:txBody>
      </p:sp>
      <p:sp>
        <p:nvSpPr>
          <p:cNvPr id="4" name="TextBox 3">
            <a:extLst>
              <a:ext uri="{FF2B5EF4-FFF2-40B4-BE49-F238E27FC236}">
                <a16:creationId xmlns:a16="http://schemas.microsoft.com/office/drawing/2014/main" id="{FF9B4D72-F7FA-C6E0-1638-99CC0590BC3D}"/>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6" name="Content Placeholder 4">
            <a:extLst>
              <a:ext uri="{FF2B5EF4-FFF2-40B4-BE49-F238E27FC236}">
                <a16:creationId xmlns:a16="http://schemas.microsoft.com/office/drawing/2014/main" id="{0405A382-3757-DDEC-4576-50C6A93B346D}"/>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bg1"/>
                </a:solidFill>
                <a:latin typeface="+mn-lt"/>
                <a:ea typeface="+mn-ea"/>
                <a:cs typeface="+mn-cs"/>
              </a:defRPr>
            </a:lvl1pPr>
            <a:lvl2pPr marL="7938" indent="0">
              <a:lnSpc>
                <a:spcPct val="100000"/>
              </a:lnSpc>
              <a:spcBef>
                <a:spcPts val="600"/>
              </a:spcBef>
              <a:buNone/>
              <a:tabLst/>
              <a:defRPr>
                <a:solidFill>
                  <a:schemeClr val="bg1"/>
                </a:solidFill>
              </a:defRPr>
            </a:lvl2pPr>
            <a:lvl3pPr marL="173736" indent="-109728">
              <a:lnSpc>
                <a:spcPct val="100000"/>
              </a:lnSpc>
              <a:spcBef>
                <a:spcPts val="600"/>
              </a:spcBef>
              <a:defRPr sz="1200">
                <a:solidFill>
                  <a:schemeClr val="bg1"/>
                </a:solidFill>
              </a:defRPr>
            </a:lvl3pPr>
            <a:lvl4pPr marL="402336" indent="-173736">
              <a:lnSpc>
                <a:spcPct val="100000"/>
              </a:lnSpc>
              <a:spcBef>
                <a:spcPts val="600"/>
              </a:spcBef>
              <a:buFont typeface="Arial" panose="020B0604020202020204" pitchFamily="34" charset="0"/>
              <a:buChar char="•"/>
              <a:defRPr sz="1200">
                <a:solidFill>
                  <a:schemeClr val="bg1"/>
                </a:solidFill>
              </a:defRPr>
            </a:lvl4pPr>
            <a:lvl5pPr marL="576072" indent="-109728">
              <a:lnSpc>
                <a:spcPct val="100000"/>
              </a:lnSpc>
              <a:spcBef>
                <a:spcPts val="600"/>
              </a:spcBef>
              <a:buFont typeface="Arial" panose="020B0604020202020204" pitchFamily="34" charset="0"/>
              <a:buChar char="•"/>
              <a:defRPr sz="1200">
                <a:solidFill>
                  <a:schemeClr val="bg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5" name="TextBox 4">
            <a:extLst>
              <a:ext uri="{FF2B5EF4-FFF2-40B4-BE49-F238E27FC236}">
                <a16:creationId xmlns:a16="http://schemas.microsoft.com/office/drawing/2014/main" id="{7229B836-2CF3-2B59-3C0F-7283E00BA955}"/>
              </a:ext>
            </a:extLst>
          </p:cNvPr>
          <p:cNvSpPr txBox="1"/>
          <p:nvPr userDrawn="1"/>
        </p:nvSpPr>
        <p:spPr>
          <a:xfrm>
            <a:off x="8122722" y="-498764"/>
            <a:ext cx="0" cy="0"/>
          </a:xfrm>
          <a:prstGeom prst="rect">
            <a:avLst/>
          </a:prstGeom>
          <a:noFill/>
        </p:spPr>
        <p:txBody>
          <a:bodyPr wrap="none" rtlCol="0">
            <a:noAutofit/>
          </a:bodyPr>
          <a:lstStyle/>
          <a:p>
            <a:pPr algn="l">
              <a:spcAft>
                <a:spcPts val="600"/>
              </a:spcAft>
            </a:pPr>
            <a:endParaRPr lang="en-US" sz="1400"/>
          </a:p>
        </p:txBody>
      </p:sp>
      <p:grpSp>
        <p:nvGrpSpPr>
          <p:cNvPr id="11" name="Graphic 9">
            <a:extLst>
              <a:ext uri="{FF2B5EF4-FFF2-40B4-BE49-F238E27FC236}">
                <a16:creationId xmlns:a16="http://schemas.microsoft.com/office/drawing/2014/main" id="{61D4772C-0237-9278-49C2-024DDD16DF4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2" name="Freeform 11">
              <a:extLst>
                <a:ext uri="{FF2B5EF4-FFF2-40B4-BE49-F238E27FC236}">
                  <a16:creationId xmlns:a16="http://schemas.microsoft.com/office/drawing/2014/main" id="{30BC871A-7FC5-1A88-E623-D1315B45B18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3" name="Freeform 12">
              <a:extLst>
                <a:ext uri="{FF2B5EF4-FFF2-40B4-BE49-F238E27FC236}">
                  <a16:creationId xmlns:a16="http://schemas.microsoft.com/office/drawing/2014/main" id="{DDD58B76-62E5-50A7-DD88-DDF61335B612}"/>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1552620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Slide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5A10F1C-046F-1CBE-F91B-EB48F6346AC8}"/>
              </a:ext>
            </a:extLst>
          </p:cNvPr>
          <p:cNvSpPr/>
          <p:nvPr userDrawn="1"/>
        </p:nvSpPr>
        <p:spPr>
          <a:xfrm>
            <a:off x="5207000" y="6129867"/>
            <a:ext cx="1972733" cy="72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n-lt"/>
            </a:endParaRPr>
          </a:p>
        </p:txBody>
      </p:sp>
      <p:sp>
        <p:nvSpPr>
          <p:cNvPr id="8" name="Picture Placeholder 8">
            <a:extLst>
              <a:ext uri="{FF2B5EF4-FFF2-40B4-BE49-F238E27FC236}">
                <a16:creationId xmlns:a16="http://schemas.microsoft.com/office/drawing/2014/main" id="{28B13C15-A48B-B4D1-051D-3DA53D30DFC2}"/>
              </a:ext>
            </a:extLst>
          </p:cNvPr>
          <p:cNvSpPr>
            <a:spLocks noGrp="1"/>
          </p:cNvSpPr>
          <p:nvPr>
            <p:ph type="pic" sz="quarter" idx="12"/>
          </p:nvPr>
        </p:nvSpPr>
        <p:spPr>
          <a:xfrm>
            <a:off x="5743322" y="0"/>
            <a:ext cx="6448678" cy="6858000"/>
          </a:xfrm>
          <a:custGeom>
            <a:avLst/>
            <a:gdLst>
              <a:gd name="connsiteX0" fmla="*/ 1190078 w 6448678"/>
              <a:gd name="connsiteY0" fmla="*/ 0 h 6858000"/>
              <a:gd name="connsiteX1" fmla="*/ 6448678 w 6448678"/>
              <a:gd name="connsiteY1" fmla="*/ 0 h 6858000"/>
              <a:gd name="connsiteX2" fmla="*/ 6448678 w 6448678"/>
              <a:gd name="connsiteY2" fmla="*/ 6858000 h 6858000"/>
              <a:gd name="connsiteX3" fmla="*/ 0 w 6448678"/>
              <a:gd name="connsiteY3" fmla="*/ 6857999 h 6858000"/>
            </a:gdLst>
            <a:ahLst/>
            <a:cxnLst>
              <a:cxn ang="0">
                <a:pos x="connsiteX0" y="connsiteY0"/>
              </a:cxn>
              <a:cxn ang="0">
                <a:pos x="connsiteX1" y="connsiteY1"/>
              </a:cxn>
              <a:cxn ang="0">
                <a:pos x="connsiteX2" y="connsiteY2"/>
              </a:cxn>
              <a:cxn ang="0">
                <a:pos x="connsiteX3" y="connsiteY3"/>
              </a:cxn>
            </a:cxnLst>
            <a:rect l="l" t="t" r="r" b="b"/>
            <a:pathLst>
              <a:path w="6448678" h="6858000">
                <a:moveTo>
                  <a:pt x="1190078" y="0"/>
                </a:moveTo>
                <a:lnTo>
                  <a:pt x="6448678" y="0"/>
                </a:lnTo>
                <a:lnTo>
                  <a:pt x="6448678" y="6858000"/>
                </a:lnTo>
                <a:lnTo>
                  <a:pt x="0" y="6857999"/>
                </a:lnTo>
                <a:close/>
              </a:path>
            </a:pathLst>
          </a:custGeom>
          <a:solidFill>
            <a:schemeClr val="bg2"/>
          </a:solidFill>
        </p:spPr>
        <p:txBody>
          <a:bodyPr wrap="square">
            <a:noAutofit/>
          </a:bodyPr>
          <a:lstStyle>
            <a:lvl1pPr>
              <a:defRPr>
                <a:latin typeface="+mn-lt"/>
              </a:defRPr>
            </a:lvl1pPr>
          </a:lstStyle>
          <a:p>
            <a:r>
              <a:rPr lang="en-US"/>
              <a:t>Click icon to add picture</a:t>
            </a: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408622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Slide - Tea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8F5D0E0E-0A59-C262-2E84-D5250A85B9E6}"/>
              </a:ext>
            </a:extLst>
          </p:cNvPr>
          <p:cNvSpPr>
            <a:spLocks noGrp="1"/>
          </p:cNvSpPr>
          <p:nvPr>
            <p:ph type="pic" sz="quarter" idx="12" hasCustomPrompt="1"/>
          </p:nvPr>
        </p:nvSpPr>
        <p:spPr>
          <a:xfrm>
            <a:off x="8941462" y="1847088"/>
            <a:ext cx="628574" cy="626280"/>
          </a:xfrm>
          <a:prstGeom prst="ellipse">
            <a:avLst/>
          </a:prstGeom>
          <a:solidFill>
            <a:schemeClr val="tx2"/>
          </a:solidFill>
        </p:spPr>
        <p:txBody>
          <a:bodyPr/>
          <a:lstStyle>
            <a:lvl1pPr marL="66675" indent="0">
              <a:buNone/>
              <a:defRPr b="1">
                <a:latin typeface="+mn-lt"/>
              </a:defRPr>
            </a:lvl1pPr>
          </a:lstStyle>
          <a:p>
            <a:r>
              <a:rPr lang="en-US" sz="600"/>
              <a:t> </a:t>
            </a:r>
          </a:p>
        </p:txBody>
      </p:sp>
      <p:sp>
        <p:nvSpPr>
          <p:cNvPr id="7" name="Picture Placeholder 2">
            <a:extLst>
              <a:ext uri="{FF2B5EF4-FFF2-40B4-BE49-F238E27FC236}">
                <a16:creationId xmlns:a16="http://schemas.microsoft.com/office/drawing/2014/main" id="{B6CAC3CE-CD4C-55F2-634E-4DFD4B911B05}"/>
              </a:ext>
            </a:extLst>
          </p:cNvPr>
          <p:cNvSpPr>
            <a:spLocks noGrp="1"/>
          </p:cNvSpPr>
          <p:nvPr>
            <p:ph type="pic" sz="quarter" idx="13" hasCustomPrompt="1"/>
          </p:nvPr>
        </p:nvSpPr>
        <p:spPr>
          <a:xfrm>
            <a:off x="6135756" y="1847088"/>
            <a:ext cx="628574" cy="626280"/>
          </a:xfrm>
          <a:prstGeom prst="ellipse">
            <a:avLst/>
          </a:prstGeom>
          <a:solidFill>
            <a:schemeClr val="tx2"/>
          </a:solidFill>
        </p:spPr>
        <p:txBody>
          <a:bodyPr/>
          <a:lstStyle>
            <a:lvl1pPr marL="66675" indent="0">
              <a:buNone/>
              <a:defRPr b="1">
                <a:latin typeface="+mn-lt"/>
              </a:defRPr>
            </a:lvl1pPr>
          </a:lstStyle>
          <a:p>
            <a:r>
              <a:rPr lang="en-US" sz="600"/>
              <a:t> </a:t>
            </a:r>
          </a:p>
        </p:txBody>
      </p:sp>
      <p:sp>
        <p:nvSpPr>
          <p:cNvPr id="8" name="Picture Placeholder 3">
            <a:extLst>
              <a:ext uri="{FF2B5EF4-FFF2-40B4-BE49-F238E27FC236}">
                <a16:creationId xmlns:a16="http://schemas.microsoft.com/office/drawing/2014/main" id="{154F1B20-8829-99ED-6527-725F590FF71E}"/>
              </a:ext>
            </a:extLst>
          </p:cNvPr>
          <p:cNvSpPr>
            <a:spLocks noGrp="1"/>
          </p:cNvSpPr>
          <p:nvPr>
            <p:ph type="pic" sz="quarter" idx="14" hasCustomPrompt="1"/>
          </p:nvPr>
        </p:nvSpPr>
        <p:spPr>
          <a:xfrm>
            <a:off x="6135756" y="2789560"/>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9" name="Picture Placeholder 5">
            <a:extLst>
              <a:ext uri="{FF2B5EF4-FFF2-40B4-BE49-F238E27FC236}">
                <a16:creationId xmlns:a16="http://schemas.microsoft.com/office/drawing/2014/main" id="{E1C58B29-DBBD-6004-2842-DC8FF4B96C2F}"/>
              </a:ext>
            </a:extLst>
          </p:cNvPr>
          <p:cNvSpPr>
            <a:spLocks noGrp="1"/>
          </p:cNvSpPr>
          <p:nvPr>
            <p:ph type="pic" sz="quarter" idx="16" hasCustomPrompt="1"/>
          </p:nvPr>
        </p:nvSpPr>
        <p:spPr>
          <a:xfrm>
            <a:off x="8937655" y="2789560"/>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1" name="Picture Placeholder 7">
            <a:extLst>
              <a:ext uri="{FF2B5EF4-FFF2-40B4-BE49-F238E27FC236}">
                <a16:creationId xmlns:a16="http://schemas.microsoft.com/office/drawing/2014/main" id="{FA3F649A-0DCE-9785-3674-5452A110AEF0}"/>
              </a:ext>
            </a:extLst>
          </p:cNvPr>
          <p:cNvSpPr>
            <a:spLocks noGrp="1"/>
          </p:cNvSpPr>
          <p:nvPr>
            <p:ph type="pic" sz="quarter" idx="18" hasCustomPrompt="1"/>
          </p:nvPr>
        </p:nvSpPr>
        <p:spPr>
          <a:xfrm>
            <a:off x="8937655" y="3770026"/>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2" name="Picture Placeholder 8">
            <a:extLst>
              <a:ext uri="{FF2B5EF4-FFF2-40B4-BE49-F238E27FC236}">
                <a16:creationId xmlns:a16="http://schemas.microsoft.com/office/drawing/2014/main" id="{E5083365-E602-C03D-64C8-E1AF47E5DE59}"/>
              </a:ext>
            </a:extLst>
          </p:cNvPr>
          <p:cNvSpPr>
            <a:spLocks noGrp="1"/>
          </p:cNvSpPr>
          <p:nvPr>
            <p:ph type="pic" sz="quarter" idx="19" hasCustomPrompt="1"/>
          </p:nvPr>
        </p:nvSpPr>
        <p:spPr>
          <a:xfrm>
            <a:off x="6135756" y="373203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3" name="Picture Placeholder 9">
            <a:extLst>
              <a:ext uri="{FF2B5EF4-FFF2-40B4-BE49-F238E27FC236}">
                <a16:creationId xmlns:a16="http://schemas.microsoft.com/office/drawing/2014/main" id="{C545EFE3-FA36-364F-3506-16CBB259473E}"/>
              </a:ext>
            </a:extLst>
          </p:cNvPr>
          <p:cNvSpPr>
            <a:spLocks noGrp="1"/>
          </p:cNvSpPr>
          <p:nvPr>
            <p:ph type="pic" sz="quarter" idx="20" hasCustomPrompt="1"/>
          </p:nvPr>
        </p:nvSpPr>
        <p:spPr>
          <a:xfrm>
            <a:off x="6135756" y="467871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5" name="Picture Placeholder 11">
            <a:extLst>
              <a:ext uri="{FF2B5EF4-FFF2-40B4-BE49-F238E27FC236}">
                <a16:creationId xmlns:a16="http://schemas.microsoft.com/office/drawing/2014/main" id="{DD445EE6-B934-7390-6760-4BFC0A0AC254}"/>
              </a:ext>
            </a:extLst>
          </p:cNvPr>
          <p:cNvSpPr>
            <a:spLocks noGrp="1"/>
          </p:cNvSpPr>
          <p:nvPr>
            <p:ph type="pic" sz="quarter" idx="22" hasCustomPrompt="1"/>
          </p:nvPr>
        </p:nvSpPr>
        <p:spPr>
          <a:xfrm>
            <a:off x="8921447" y="467871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8" name="Text Placeholder 17">
            <a:extLst>
              <a:ext uri="{FF2B5EF4-FFF2-40B4-BE49-F238E27FC236}">
                <a16:creationId xmlns:a16="http://schemas.microsoft.com/office/drawing/2014/main" id="{5A82CAF8-782E-6B97-B6B0-0260DCE4F197}"/>
              </a:ext>
            </a:extLst>
          </p:cNvPr>
          <p:cNvSpPr>
            <a:spLocks noGrp="1"/>
          </p:cNvSpPr>
          <p:nvPr>
            <p:ph type="body" sz="quarter" idx="23" hasCustomPrompt="1"/>
          </p:nvPr>
        </p:nvSpPr>
        <p:spPr>
          <a:xfrm>
            <a:off x="6096000" y="731839"/>
            <a:ext cx="4049712" cy="840930"/>
          </a:xfrm>
        </p:spPr>
        <p:txBody>
          <a:bodyPr anchor="b"/>
          <a:lstStyle>
            <a:lvl1pPr marL="0" indent="0">
              <a:buNone/>
              <a:defRPr sz="1000" b="1" cap="all" spc="200" baseline="0">
                <a:solidFill>
                  <a:schemeClr val="accent5"/>
                </a:solidFill>
                <a:latin typeface="+mn-lt"/>
              </a:defRPr>
            </a:lvl1pPr>
            <a:lvl2pPr marL="457200" indent="0">
              <a:buNone/>
              <a:defRPr sz="800" b="1"/>
            </a:lvl2pPr>
            <a:lvl3pPr marL="914400" indent="0">
              <a:buNone/>
              <a:defRPr sz="800" b="1"/>
            </a:lvl3pPr>
            <a:lvl4pPr marL="1371600" indent="0">
              <a:buNone/>
              <a:defRPr sz="800" b="1"/>
            </a:lvl4pPr>
            <a:lvl5pPr marL="1828800" indent="0">
              <a:buNone/>
              <a:defRPr sz="800" b="1"/>
            </a:lvl5pPr>
          </a:lstStyle>
          <a:p>
            <a:pPr lvl="0"/>
            <a:r>
              <a:rPr lang="en-US"/>
              <a:t>MEET THE TEAM</a:t>
            </a:r>
          </a:p>
        </p:txBody>
      </p:sp>
    </p:spTree>
    <p:extLst>
      <p:ext uri="{BB962C8B-B14F-4D97-AF65-F5344CB8AC3E}">
        <p14:creationId xmlns:p14="http://schemas.microsoft.com/office/powerpoint/2010/main" val="7708278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 Slide - Image Ligh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476FD4A-8DEC-4288-31FC-E11FAEAEB878}"/>
              </a:ext>
            </a:extLst>
          </p:cNvPr>
          <p:cNvSpPr/>
          <p:nvPr userDrawn="1"/>
        </p:nvSpPr>
        <p:spPr>
          <a:xfrm>
            <a:off x="5207000" y="6129867"/>
            <a:ext cx="1972733" cy="72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n-lt"/>
            </a:endParaRP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3" name="Picture Placeholder 6">
            <a:extLst>
              <a:ext uri="{FF2B5EF4-FFF2-40B4-BE49-F238E27FC236}">
                <a16:creationId xmlns:a16="http://schemas.microsoft.com/office/drawing/2014/main" id="{B3093CCE-368A-239E-8D3F-6FCA13314FC3}"/>
              </a:ext>
            </a:extLst>
          </p:cNvPr>
          <p:cNvSpPr>
            <a:spLocks noGrp="1"/>
          </p:cNvSpPr>
          <p:nvPr>
            <p:ph type="pic" sz="quarter" idx="12" hasCustomPrompt="1"/>
          </p:nvPr>
        </p:nvSpPr>
        <p:spPr>
          <a:xfrm>
            <a:off x="5743322" y="1"/>
            <a:ext cx="6448678" cy="6857999"/>
          </a:xfrm>
          <a:prstGeom prst="rect">
            <a:avLst/>
          </a:prstGeom>
          <a:solidFill>
            <a:schemeClr val="bg2"/>
          </a:solidFill>
        </p:spPr>
        <p:txBody>
          <a:bodyPr wrap="square">
            <a:noAutofit/>
          </a:bodyPr>
          <a:lstStyle>
            <a:lvl1pPr marL="0" indent="0">
              <a:buNone/>
              <a:defRPr b="0">
                <a:solidFill>
                  <a:schemeClr val="bg1"/>
                </a:solidFill>
                <a:latin typeface="+mn-lt"/>
              </a:defRPr>
            </a:lvl1pPr>
          </a:lstStyle>
          <a:p>
            <a:r>
              <a:rPr lang="en-US"/>
              <a:t>*Click image icon to insert*</a:t>
            </a:r>
          </a:p>
        </p:txBody>
      </p:sp>
      <p:sp>
        <p:nvSpPr>
          <p:cNvPr id="4" name="TextBox 3">
            <a:extLst>
              <a:ext uri="{FF2B5EF4-FFF2-40B4-BE49-F238E27FC236}">
                <a16:creationId xmlns:a16="http://schemas.microsoft.com/office/drawing/2014/main" id="{9A815C76-9273-44CE-603F-F4A10C34A659}"/>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Tree>
    <p:extLst>
      <p:ext uri="{BB962C8B-B14F-4D97-AF65-F5344CB8AC3E}">
        <p14:creationId xmlns:p14="http://schemas.microsoft.com/office/powerpoint/2010/main" val="26768698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ivider Slide 1">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5519A66-EB16-1A1C-E787-A898E82A40F2}"/>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D86C4ED2-BE9E-5A4D-8979-FA06EFD126F3}"/>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FCFFBCBA-0559-328A-A56A-19158E195F3E}"/>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31E1F5A4-4FDE-935B-A4FD-B4C29343FACD}"/>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BCB53C9B-EBD3-5ABA-2E39-0B9E964BA2B3}"/>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85089650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Divider Slide - Texture, 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702C4C0-6AF4-A751-D91A-FC5F17759A5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blue and black diamond&#10;&#10;AI-generated content may be incorrect.">
            <a:extLst>
              <a:ext uri="{FF2B5EF4-FFF2-40B4-BE49-F238E27FC236}">
                <a16:creationId xmlns:a16="http://schemas.microsoft.com/office/drawing/2014/main" id="{3A8CA6DA-F5A8-713D-4994-D03AAE9DB1DE}"/>
              </a:ext>
            </a:extLst>
          </p:cNvPr>
          <p:cNvPicPr/>
          <p:nvPr userDrawn="1"/>
        </p:nvPicPr>
        <p:blipFill>
          <a:blip r:embed="rId2">
            <a:alphaModFix/>
          </a:blip>
          <a:srcRect l="4628" t="1913" b="17076"/>
          <a:stretch/>
        </p:blipFill>
        <p:spPr>
          <a:xfrm flipH="1">
            <a:off x="0" y="1032697"/>
            <a:ext cx="12192000" cy="5825303"/>
          </a:xfrm>
          <a:prstGeom prst="rect">
            <a:avLst/>
          </a:prstGeom>
          <a:solidFill>
            <a:schemeClr val="bg2"/>
          </a:solidFill>
        </p:spPr>
      </p:pic>
      <p:sp>
        <p:nvSpPr>
          <p:cNvPr id="7" name="Title 1">
            <a:extLst>
              <a:ext uri="{FF2B5EF4-FFF2-40B4-BE49-F238E27FC236}">
                <a16:creationId xmlns:a16="http://schemas.microsoft.com/office/drawing/2014/main" id="{D20BAF10-7045-56DD-9CD8-14C315EB5B3B}"/>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86E32514-7374-FBA6-E3BA-B1F5A00FDC8D}"/>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9FC621CF-7D6E-189D-DB48-B3B57464B4CD}"/>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3ABC6638-711B-F07F-BEC7-E4FC3B5EF3C9}"/>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5850369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ivider Slide - Texture, Dark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D10BA4-827D-AA38-97A3-C2740EFBBA7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crystal&#10;&#10;Description automatically generated">
            <a:extLst>
              <a:ext uri="{FF2B5EF4-FFF2-40B4-BE49-F238E27FC236}">
                <a16:creationId xmlns:a16="http://schemas.microsoft.com/office/drawing/2014/main" id="{A1D1A869-B1B3-5954-7BA3-3805061FB807}"/>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5835316"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D7326869-F134-6A80-8C87-240FB555D7FB}"/>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6BA00105-FD57-9129-08E6-FD38D2AF053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5BBCC59D-398D-4651-7DAB-5DB02B14E956}"/>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61165183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ivider Slide - Texture, Dark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D10BA4-827D-AA38-97A3-C2740EFBBA7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8" name="Picture 7" descr="A close up of a blue and black background&#10;&#10;Description automatically generated">
            <a:extLst>
              <a:ext uri="{FF2B5EF4-FFF2-40B4-BE49-F238E27FC236}">
                <a16:creationId xmlns:a16="http://schemas.microsoft.com/office/drawing/2014/main" id="{91A43463-E247-52FD-0BBD-07F9DA95E8F8}"/>
              </a:ext>
            </a:extLst>
          </p:cNvPr>
          <p:cNvPicPr>
            <a:picLocks noChangeAspect="1"/>
          </p:cNvPicPr>
          <p:nvPr userDrawn="1"/>
        </p:nvPicPr>
        <p:blipFill>
          <a:blip r:embed="rId2"/>
          <a:srcRect t="15344" b="9160"/>
          <a:stretch/>
        </p:blipFill>
        <p:spPr>
          <a:xfrm rot="10800000">
            <a:off x="11723" y="1680518"/>
            <a:ext cx="12192000" cy="5177481"/>
          </a:xfrm>
          <a:prstGeom prst="rect">
            <a:avLst/>
          </a:prstGeom>
        </p:spPr>
      </p:pic>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D7326869-F134-6A80-8C87-240FB555D7FB}"/>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6BA00105-FD57-9129-08E6-FD38D2AF053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5BBCC59D-398D-4651-7DAB-5DB02B14E956}"/>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76500303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ivider Slide - Texture, L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41928FC-79A3-190F-8F05-6BA96E237EBF}"/>
              </a:ext>
            </a:extLst>
          </p:cNvPr>
          <p:cNvSpPr/>
          <p:nvPr userDrawn="1"/>
        </p:nvSpPr>
        <p:spPr>
          <a:xfrm rot="10800000" flipV="1">
            <a:off x="0" y="0"/>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9" name="Picture 8">
            <a:extLst>
              <a:ext uri="{FF2B5EF4-FFF2-40B4-BE49-F238E27FC236}">
                <a16:creationId xmlns:a16="http://schemas.microsoft.com/office/drawing/2014/main" id="{531776B3-790F-BFCC-B158-72F24BAAADBF}"/>
              </a:ext>
            </a:extLst>
          </p:cNvPr>
          <p:cNvPicPr>
            <a:picLocks noChangeAspect="1"/>
          </p:cNvPicPr>
          <p:nvPr userDrawn="1"/>
        </p:nvPicPr>
        <p:blipFill>
          <a:blip r:embed="rId2"/>
          <a:srcRect l="32657" t="10642" r="-3" b="13034"/>
          <a:stretch/>
        </p:blipFill>
        <p:spPr>
          <a:xfrm rot="5400000">
            <a:off x="6577010" y="1243014"/>
            <a:ext cx="6858001" cy="4371975"/>
          </a:xfrm>
          <a:prstGeom prst="rect">
            <a:avLst/>
          </a:prstGeom>
        </p:spPr>
      </p:pic>
      <p:grpSp>
        <p:nvGrpSpPr>
          <p:cNvPr id="10" name="Graphic 9">
            <a:extLst>
              <a:ext uri="{FF2B5EF4-FFF2-40B4-BE49-F238E27FC236}">
                <a16:creationId xmlns:a16="http://schemas.microsoft.com/office/drawing/2014/main" id="{62515DD1-8C1A-0C64-9E44-1E116A32E439}"/>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1" name="Freeform 10">
              <a:extLst>
                <a:ext uri="{FF2B5EF4-FFF2-40B4-BE49-F238E27FC236}">
                  <a16:creationId xmlns:a16="http://schemas.microsoft.com/office/drawing/2014/main" id="{23F89819-46B3-3107-41D5-6CAB71E77DFA}"/>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2" name="Freeform 11">
              <a:extLst>
                <a:ext uri="{FF2B5EF4-FFF2-40B4-BE49-F238E27FC236}">
                  <a16:creationId xmlns:a16="http://schemas.microsoft.com/office/drawing/2014/main" id="{4D660E8C-B871-6A95-F225-A5B539A04A70}"/>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123249941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Divider Slide - Texture, Light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DC4ADE0-0FB5-D047-00E9-C3F86508ACA3}"/>
              </a:ext>
            </a:extLst>
          </p:cNvPr>
          <p:cNvSpPr/>
          <p:nvPr userDrawn="1"/>
        </p:nvSpPr>
        <p:spPr>
          <a:xfrm rot="10800000" flipV="1">
            <a:off x="2" y="0"/>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a:extLst>
              <a:ext uri="{FF2B5EF4-FFF2-40B4-BE49-F238E27FC236}">
                <a16:creationId xmlns:a16="http://schemas.microsoft.com/office/drawing/2014/main" id="{A221CAF3-AB05-F456-E3E0-86189F496F39}"/>
              </a:ext>
            </a:extLst>
          </p:cNvPr>
          <p:cNvPicPr>
            <a:picLocks noChangeAspect="1"/>
          </p:cNvPicPr>
          <p:nvPr userDrawn="1"/>
        </p:nvPicPr>
        <p:blipFill>
          <a:blip r:embed="rId2"/>
          <a:srcRect l="58512" t="17473" r="-64" b="3447"/>
          <a:stretch/>
        </p:blipFill>
        <p:spPr>
          <a:xfrm rot="5400000" flipH="1">
            <a:off x="6947338" y="1613338"/>
            <a:ext cx="5065986" cy="5423338"/>
          </a:xfrm>
          <a:prstGeom prst="rect">
            <a:avLst/>
          </a:prstGeom>
        </p:spPr>
      </p:pic>
      <p:grpSp>
        <p:nvGrpSpPr>
          <p:cNvPr id="6" name="Graphic 9">
            <a:extLst>
              <a:ext uri="{FF2B5EF4-FFF2-40B4-BE49-F238E27FC236}">
                <a16:creationId xmlns:a16="http://schemas.microsoft.com/office/drawing/2014/main" id="{10C1272F-E48D-13A6-C867-593EC65548CE}"/>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7" name="Freeform 6">
              <a:extLst>
                <a:ext uri="{FF2B5EF4-FFF2-40B4-BE49-F238E27FC236}">
                  <a16:creationId xmlns:a16="http://schemas.microsoft.com/office/drawing/2014/main" id="{DFE6C87D-DA3E-6368-E300-E2A2D01BC13F}"/>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8" name="Freeform 7">
              <a:extLst>
                <a:ext uri="{FF2B5EF4-FFF2-40B4-BE49-F238E27FC236}">
                  <a16:creationId xmlns:a16="http://schemas.microsoft.com/office/drawing/2014/main" id="{CB7481C0-6D1E-EF36-C613-3E7785AEF37A}"/>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4" name="Title 1">
            <a:extLst>
              <a:ext uri="{FF2B5EF4-FFF2-40B4-BE49-F238E27FC236}">
                <a16:creationId xmlns:a16="http://schemas.microsoft.com/office/drawing/2014/main" id="{6CE20A1F-2047-7BC9-8B59-CED282DAA681}"/>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309307609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vider Slide - Texture, Light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62D6E5A-3F26-3F8D-C878-96A904D35C87}"/>
              </a:ext>
            </a:extLst>
          </p:cNvPr>
          <p:cNvSpPr/>
          <p:nvPr userDrawn="1"/>
        </p:nvSpPr>
        <p:spPr>
          <a:xfrm rot="10800000" flipV="1">
            <a:off x="2" y="-3"/>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5" name="Picture 4">
            <a:extLst>
              <a:ext uri="{FF2B5EF4-FFF2-40B4-BE49-F238E27FC236}">
                <a16:creationId xmlns:a16="http://schemas.microsoft.com/office/drawing/2014/main" id="{660C216B-A8AC-384A-81FE-0ED05251E3C5}"/>
              </a:ext>
            </a:extLst>
          </p:cNvPr>
          <p:cNvPicPr>
            <a:picLocks noChangeAspect="1"/>
          </p:cNvPicPr>
          <p:nvPr userDrawn="1"/>
        </p:nvPicPr>
        <p:blipFill>
          <a:blip r:embed="rId2"/>
          <a:srcRect r="32407" b="4787"/>
          <a:stretch/>
        </p:blipFill>
        <p:spPr>
          <a:xfrm rot="5400000">
            <a:off x="6046075" y="712077"/>
            <a:ext cx="6858001" cy="5433849"/>
          </a:xfrm>
          <a:prstGeom prst="rect">
            <a:avLst/>
          </a:prstGeom>
        </p:spPr>
      </p:pic>
      <p:grpSp>
        <p:nvGrpSpPr>
          <p:cNvPr id="6" name="Graphic 9">
            <a:extLst>
              <a:ext uri="{FF2B5EF4-FFF2-40B4-BE49-F238E27FC236}">
                <a16:creationId xmlns:a16="http://schemas.microsoft.com/office/drawing/2014/main" id="{72E8A13F-22E9-99BA-FAFF-672D279ABDC0}"/>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7" name="Freeform 6">
              <a:extLst>
                <a:ext uri="{FF2B5EF4-FFF2-40B4-BE49-F238E27FC236}">
                  <a16:creationId xmlns:a16="http://schemas.microsoft.com/office/drawing/2014/main" id="{290E42D1-AA36-19D3-3286-A45AF96EE9A7}"/>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8" name="Freeform 7">
              <a:extLst>
                <a:ext uri="{FF2B5EF4-FFF2-40B4-BE49-F238E27FC236}">
                  <a16:creationId xmlns:a16="http://schemas.microsoft.com/office/drawing/2014/main" id="{A702E34B-F934-E630-C91C-379464692887}"/>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4" name="Title 1">
            <a:extLst>
              <a:ext uri="{FF2B5EF4-FFF2-40B4-BE49-F238E27FC236}">
                <a16:creationId xmlns:a16="http://schemas.microsoft.com/office/drawing/2014/main" id="{F5064E94-0FC8-C479-67A7-81481582BE63}"/>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253005728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ivider Slide + EYEBROW, 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BF33162-B13D-704C-3524-E527FF5BEC09}"/>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5" name="TextBox 24">
            <a:extLst>
              <a:ext uri="{FF2B5EF4-FFF2-40B4-BE49-F238E27FC236}">
                <a16:creationId xmlns:a16="http://schemas.microsoft.com/office/drawing/2014/main" id="{7A83B8F5-18AE-B94A-82A0-B580840EFE63}"/>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45BF5F69-E10A-F6B1-3F95-D3C57AE277B8}"/>
              </a:ext>
            </a:extLst>
          </p:cNvPr>
          <p:cNvSpPr>
            <a:spLocks noGrp="1"/>
          </p:cNvSpPr>
          <p:nvPr>
            <p:ph type="title" hasCustomPrompt="1"/>
          </p:nvPr>
        </p:nvSpPr>
        <p:spPr>
          <a:xfrm>
            <a:off x="914400" y="1318719"/>
            <a:ext cx="9709484" cy="2870201"/>
          </a:xfrm>
        </p:spPr>
        <p:txBody>
          <a:bodyPr vert="horz" lIns="91440" tIns="45720" rIns="91440" bIns="45720" rtlCol="0" anchor="t">
            <a:noAutofit/>
          </a:bodyPr>
          <a:lstStyle>
            <a:lvl1pPr>
              <a:defRPr lang="en-US" sz="6000" b="0" cap="none" spc="-50" baseline="0" dirty="0">
                <a:solidFill>
                  <a:schemeClr val="bg1"/>
                </a:solidFill>
                <a:latin typeface="+mj-lt"/>
              </a:defRPr>
            </a:lvl1pPr>
          </a:lstStyle>
          <a:p>
            <a:pPr lvl="0">
              <a:lnSpc>
                <a:spcPct val="85000"/>
              </a:lnSpc>
            </a:pPr>
            <a:r>
              <a:rPr lang="en-US"/>
              <a:t>Divider copy goes here</a:t>
            </a:r>
          </a:p>
        </p:txBody>
      </p:sp>
      <p:sp>
        <p:nvSpPr>
          <p:cNvPr id="5" name="Text Placeholder 12">
            <a:extLst>
              <a:ext uri="{FF2B5EF4-FFF2-40B4-BE49-F238E27FC236}">
                <a16:creationId xmlns:a16="http://schemas.microsoft.com/office/drawing/2014/main" id="{03653832-9177-0922-2808-259E17057D89}"/>
              </a:ext>
            </a:extLst>
          </p:cNvPr>
          <p:cNvSpPr>
            <a:spLocks noGrp="1"/>
          </p:cNvSpPr>
          <p:nvPr>
            <p:ph type="body" sz="quarter" idx="15" hasCustomPrompt="1"/>
          </p:nvPr>
        </p:nvSpPr>
        <p:spPr>
          <a:xfrm>
            <a:off x="914400" y="937172"/>
            <a:ext cx="9709484" cy="290049"/>
          </a:xfrm>
        </p:spPr>
        <p:txBody>
          <a:bodyPr lIns="137160" rIns="91440" anchor="b">
            <a:noAutofit/>
          </a:bodyPr>
          <a:lstStyle>
            <a:lvl1pPr marL="0" indent="0">
              <a:buNone/>
              <a:defRPr sz="800" b="1" i="0" cap="all" spc="150" baseline="0">
                <a:solidFill>
                  <a:schemeClr val="bg2">
                    <a:lumMod val="90000"/>
                  </a:schemeClr>
                </a:solidFill>
                <a:latin typeface="+mj-lt"/>
              </a:defRPr>
            </a:lvl1pPr>
          </a:lstStyle>
          <a:p>
            <a:pPr lvl="0"/>
            <a:r>
              <a:rPr lang="en-US"/>
              <a:t>Two to three word eyebrow (optional)</a:t>
            </a:r>
          </a:p>
        </p:txBody>
      </p:sp>
      <p:grpSp>
        <p:nvGrpSpPr>
          <p:cNvPr id="4" name="Graphic 9">
            <a:extLst>
              <a:ext uri="{FF2B5EF4-FFF2-40B4-BE49-F238E27FC236}">
                <a16:creationId xmlns:a16="http://schemas.microsoft.com/office/drawing/2014/main" id="{17E7EE1E-226D-38AF-361F-E567ED24DDE6}"/>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C94A7307-B4FD-2762-B048-B46752517BB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4FB4FB2C-2043-7793-4C1D-1FCACAD624F3}"/>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69004681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ivider Slide + EYEBROW, Light">
    <p:spTree>
      <p:nvGrpSpPr>
        <p:cNvPr id="1" name=""/>
        <p:cNvGrpSpPr/>
        <p:nvPr/>
      </p:nvGrpSpPr>
      <p:grpSpPr>
        <a:xfrm>
          <a:off x="0" y="0"/>
          <a:ext cx="0" cy="0"/>
          <a:chOff x="0" y="0"/>
          <a:chExt cx="0" cy="0"/>
        </a:xfrm>
      </p:grpSpPr>
      <p:sp>
        <p:nvSpPr>
          <p:cNvPr id="3" name="Text Placeholder 12">
            <a:extLst>
              <a:ext uri="{FF2B5EF4-FFF2-40B4-BE49-F238E27FC236}">
                <a16:creationId xmlns:a16="http://schemas.microsoft.com/office/drawing/2014/main" id="{C29B351B-52EF-CC43-0932-43B95E39A9F9}"/>
              </a:ext>
            </a:extLst>
          </p:cNvPr>
          <p:cNvSpPr>
            <a:spLocks noGrp="1"/>
          </p:cNvSpPr>
          <p:nvPr>
            <p:ph type="body" sz="quarter" idx="15" hasCustomPrompt="1"/>
          </p:nvPr>
        </p:nvSpPr>
        <p:spPr>
          <a:xfrm>
            <a:off x="914398" y="937172"/>
            <a:ext cx="9710927" cy="290049"/>
          </a:xfrm>
        </p:spPr>
        <p:txBody>
          <a:bodyPr lIns="137160" rIns="45720" anchor="b">
            <a:noAutofit/>
          </a:bodyPr>
          <a:lstStyle>
            <a:lvl1pPr marL="0" indent="0">
              <a:buNone/>
              <a:defRPr sz="800" b="1" i="0" cap="all" spc="150" baseline="0">
                <a:solidFill>
                  <a:schemeClr val="accent5"/>
                </a:solidFill>
                <a:latin typeface="+mj-lt"/>
              </a:defRPr>
            </a:lvl1pPr>
          </a:lstStyle>
          <a:p>
            <a:pPr lvl="0"/>
            <a:r>
              <a:rPr lang="en-US"/>
              <a:t>Two to three word eyebrow (optional)</a:t>
            </a:r>
          </a:p>
        </p:txBody>
      </p:sp>
      <p:sp>
        <p:nvSpPr>
          <p:cNvPr id="6" name="Title 1">
            <a:extLst>
              <a:ext uri="{FF2B5EF4-FFF2-40B4-BE49-F238E27FC236}">
                <a16:creationId xmlns:a16="http://schemas.microsoft.com/office/drawing/2014/main" id="{24D1596B-D4ED-3AE3-A9C3-CB2EDEB8D053}"/>
              </a:ext>
            </a:extLst>
          </p:cNvPr>
          <p:cNvSpPr>
            <a:spLocks noGrp="1"/>
          </p:cNvSpPr>
          <p:nvPr>
            <p:ph type="title" hasCustomPrompt="1"/>
          </p:nvPr>
        </p:nvSpPr>
        <p:spPr>
          <a:xfrm>
            <a:off x="914400" y="1318719"/>
            <a:ext cx="9709484" cy="2870201"/>
          </a:xfrm>
        </p:spPr>
        <p:txBody>
          <a:bodyPr vert="horz" lIns="91440" tIns="45720" rIns="91440" bIns="45720" rtlCol="0" anchor="t">
            <a:noAutofit/>
          </a:bodyPr>
          <a:lstStyle>
            <a:lvl1pPr>
              <a:defRPr lang="en-US" sz="6000" b="0" cap="none" spc="-50" baseline="0" dirty="0">
                <a:solidFill>
                  <a:schemeClr val="tx1"/>
                </a:solidFill>
              </a:defRPr>
            </a:lvl1pPr>
          </a:lstStyle>
          <a:p>
            <a:pPr lvl="0">
              <a:lnSpc>
                <a:spcPct val="85000"/>
              </a:lnSpc>
            </a:pPr>
            <a:r>
              <a:rPr lang="en-US"/>
              <a:t>Divider copy goes here</a:t>
            </a:r>
          </a:p>
        </p:txBody>
      </p:sp>
    </p:spTree>
    <p:extLst>
      <p:ext uri="{BB962C8B-B14F-4D97-AF65-F5344CB8AC3E}">
        <p14:creationId xmlns:p14="http://schemas.microsoft.com/office/powerpoint/2010/main" val="186888247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Statement Slide 1">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324C33D-B737-F9C5-FEEF-BCCE6B68BB0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TextBox 7">
            <a:extLst>
              <a:ext uri="{FF2B5EF4-FFF2-40B4-BE49-F238E27FC236}">
                <a16:creationId xmlns:a16="http://schemas.microsoft.com/office/drawing/2014/main" id="{D4CD5E66-0DCE-50E7-3440-C11A15865C4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02203853-1382-5769-6B65-A05E73FDEE94}"/>
              </a:ext>
            </a:extLst>
          </p:cNvPr>
          <p:cNvSpPr>
            <a:spLocks noGrp="1"/>
          </p:cNvSpPr>
          <p:nvPr>
            <p:ph type="title" hasCustomPrompt="1"/>
          </p:nvPr>
        </p:nvSpPr>
        <p:spPr>
          <a:xfrm>
            <a:off x="1241244" y="1993899"/>
            <a:ext cx="9709484" cy="2870201"/>
          </a:xfrm>
        </p:spPr>
        <p:txBody>
          <a:bodyPr vert="horz" lIns="91440" tIns="45720" rIns="91440" bIns="45720" rtlCol="0" anchor="ctr">
            <a:noAutofit/>
          </a:bodyPr>
          <a:lstStyle>
            <a:lvl1pPr algn="ctr">
              <a:defRPr lang="en-US" sz="4400" b="0" cap="none" spc="-50" baseline="0" dirty="0">
                <a:solidFill>
                  <a:schemeClr val="bg1"/>
                </a:solidFill>
                <a:latin typeface="+mj-lt"/>
              </a:defRPr>
            </a:lvl1pPr>
          </a:lstStyle>
          <a:p>
            <a:pPr lvl="0">
              <a:lnSpc>
                <a:spcPct val="85000"/>
              </a:lnSpc>
            </a:pPr>
            <a:r>
              <a:rPr lang="en-US"/>
              <a:t>Statement copy goes here</a:t>
            </a:r>
          </a:p>
        </p:txBody>
      </p:sp>
      <p:grpSp>
        <p:nvGrpSpPr>
          <p:cNvPr id="2" name="Graphic 9">
            <a:extLst>
              <a:ext uri="{FF2B5EF4-FFF2-40B4-BE49-F238E27FC236}">
                <a16:creationId xmlns:a16="http://schemas.microsoft.com/office/drawing/2014/main" id="{766D62DE-CF40-057B-C7A1-7C1F85B1FCCA}"/>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4" name="Freeform 3">
              <a:extLst>
                <a:ext uri="{FF2B5EF4-FFF2-40B4-BE49-F238E27FC236}">
                  <a16:creationId xmlns:a16="http://schemas.microsoft.com/office/drawing/2014/main" id="{4C29980B-38B0-E1FA-2321-A37FE238E4BE}"/>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5" name="Freeform 4">
              <a:extLst>
                <a:ext uri="{FF2B5EF4-FFF2-40B4-BE49-F238E27FC236}">
                  <a16:creationId xmlns:a16="http://schemas.microsoft.com/office/drawing/2014/main" id="{36B6559D-DFD7-D3F6-073A-B30CA655B0F7}"/>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4760598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Statement Slide - Dark Image">
    <p:bg>
      <p:bgPr>
        <a:solidFill>
          <a:schemeClr val="tx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432818-24CB-12AD-36F8-601D317ED98F}"/>
              </a:ext>
            </a:extLst>
          </p:cNvPr>
          <p:cNvSpPr/>
          <p:nvPr userDrawn="1"/>
        </p:nvSpPr>
        <p:spPr>
          <a:xfrm rot="10800000" flipV="1">
            <a:off x="2" y="-3"/>
            <a:ext cx="12191998" cy="6858003"/>
          </a:xfrm>
          <a:prstGeom prst="rect">
            <a:avLst/>
          </a:prstGeom>
          <a:solidFill>
            <a:schemeClr val="accent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9" name="Picture Placeholder 8">
            <a:extLst>
              <a:ext uri="{FF2B5EF4-FFF2-40B4-BE49-F238E27FC236}">
                <a16:creationId xmlns:a16="http://schemas.microsoft.com/office/drawing/2014/main" id="{71E72675-4E9E-486A-C051-C92449EE7939}"/>
              </a:ext>
            </a:extLst>
          </p:cNvPr>
          <p:cNvSpPr>
            <a:spLocks noGrp="1"/>
          </p:cNvSpPr>
          <p:nvPr>
            <p:ph type="pic" sz="quarter" idx="10" hasCustomPrompt="1"/>
          </p:nvPr>
        </p:nvSpPr>
        <p:spPr>
          <a:xfrm>
            <a:off x="3" y="0"/>
            <a:ext cx="12191997" cy="6858002"/>
          </a:xfrm>
          <a:custGeom>
            <a:avLst/>
            <a:gdLst>
              <a:gd name="connsiteX0" fmla="*/ 417190 w 12191997"/>
              <a:gd name="connsiteY0" fmla="*/ 6550173 h 6858002"/>
              <a:gd name="connsiteX1" fmla="*/ 419098 w 12191997"/>
              <a:gd name="connsiteY1" fmla="*/ 6550173 h 6858002"/>
              <a:gd name="connsiteX2" fmla="*/ 419098 w 12191997"/>
              <a:gd name="connsiteY2" fmla="*/ 6552070 h 6858002"/>
              <a:gd name="connsiteX3" fmla="*/ 522773 w 12191997"/>
              <a:gd name="connsiteY3" fmla="*/ 6489534 h 6858002"/>
              <a:gd name="connsiteX4" fmla="*/ 522773 w 12191997"/>
              <a:gd name="connsiteY4" fmla="*/ 6626228 h 6858002"/>
              <a:gd name="connsiteX5" fmla="*/ 552231 w 12191997"/>
              <a:gd name="connsiteY5" fmla="*/ 6626228 h 6858002"/>
              <a:gd name="connsiteX6" fmla="*/ 552231 w 12191997"/>
              <a:gd name="connsiteY6" fmla="*/ 6544276 h 6858002"/>
              <a:gd name="connsiteX7" fmla="*/ 596420 w 12191997"/>
              <a:gd name="connsiteY7" fmla="*/ 6588218 h 6858002"/>
              <a:gd name="connsiteX8" fmla="*/ 640607 w 12191997"/>
              <a:gd name="connsiteY8" fmla="*/ 6544276 h 6858002"/>
              <a:gd name="connsiteX9" fmla="*/ 640607 w 12191997"/>
              <a:gd name="connsiteY9" fmla="*/ 6626228 h 6858002"/>
              <a:gd name="connsiteX10" fmla="*/ 668233 w 12191997"/>
              <a:gd name="connsiteY10" fmla="*/ 6626228 h 6858002"/>
              <a:gd name="connsiteX11" fmla="*/ 668233 w 12191997"/>
              <a:gd name="connsiteY11" fmla="*/ 6489534 h 6858002"/>
              <a:gd name="connsiteX12" fmla="*/ 653161 w 12191997"/>
              <a:gd name="connsiteY12" fmla="*/ 6489534 h 6858002"/>
              <a:gd name="connsiteX13" fmla="*/ 653160 w 12191997"/>
              <a:gd name="connsiteY13" fmla="*/ 6489534 h 6858002"/>
              <a:gd name="connsiteX14" fmla="*/ 596792 w 12191997"/>
              <a:gd name="connsiteY14" fmla="*/ 6546315 h 6858002"/>
              <a:gd name="connsiteX15" fmla="*/ 539693 w 12191997"/>
              <a:gd name="connsiteY15" fmla="*/ 6489534 h 6858002"/>
              <a:gd name="connsiteX16" fmla="*/ 419098 w 12191997"/>
              <a:gd name="connsiteY16" fmla="*/ 6489534 h 6858002"/>
              <a:gd name="connsiteX17" fmla="*/ 419098 w 12191997"/>
              <a:gd name="connsiteY17" fmla="*/ 6550172 h 6858002"/>
              <a:gd name="connsiteX18" fmla="*/ 417189 w 12191997"/>
              <a:gd name="connsiteY18" fmla="*/ 6550172 h 6858002"/>
              <a:gd name="connsiteX19" fmla="*/ 417190 w 12191997"/>
              <a:gd name="connsiteY19" fmla="*/ 6550173 h 6858002"/>
              <a:gd name="connsiteX20" fmla="*/ 419099 w 12191997"/>
              <a:gd name="connsiteY20" fmla="*/ 6552071 h 6858002"/>
              <a:gd name="connsiteX21" fmla="*/ 419098 w 12191997"/>
              <a:gd name="connsiteY21" fmla="*/ 6552071 h 6858002"/>
              <a:gd name="connsiteX22" fmla="*/ 419098 w 12191997"/>
              <a:gd name="connsiteY22" fmla="*/ 6626781 h 6858002"/>
              <a:gd name="connsiteX23" fmla="*/ 419099 w 12191997"/>
              <a:gd name="connsiteY23" fmla="*/ 6626781 h 6858002"/>
              <a:gd name="connsiteX24" fmla="*/ 419099 w 12191997"/>
              <a:gd name="connsiteY24" fmla="*/ 6552071 h 6858002"/>
              <a:gd name="connsiteX25" fmla="*/ 493259 w 12191997"/>
              <a:gd name="connsiteY25" fmla="*/ 6625821 h 6858002"/>
              <a:gd name="connsiteX26" fmla="*/ 493259 w 12191997"/>
              <a:gd name="connsiteY26" fmla="*/ 6550173 h 6858002"/>
              <a:gd name="connsiteX27" fmla="*/ 419099 w 12191997"/>
              <a:gd name="connsiteY27" fmla="*/ 6550173 h 6858002"/>
              <a:gd name="connsiteX28" fmla="*/ 419099 w 12191997"/>
              <a:gd name="connsiteY28" fmla="*/ 6489534 h 6858002"/>
              <a:gd name="connsiteX29" fmla="*/ 0 w 12191997"/>
              <a:gd name="connsiteY29" fmla="*/ 0 h 6858002"/>
              <a:gd name="connsiteX30" fmla="*/ 12191997 w 12191997"/>
              <a:gd name="connsiteY30" fmla="*/ 0 h 6858002"/>
              <a:gd name="connsiteX31" fmla="*/ 12191997 w 12191997"/>
              <a:gd name="connsiteY31" fmla="*/ 6858002 h 6858002"/>
              <a:gd name="connsiteX32" fmla="*/ 0 w 12191997"/>
              <a:gd name="connsiteY32" fmla="*/ 6858002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489534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626781 h 6858002"/>
              <a:gd name="connsiteX26" fmla="*/ 419099 w 12191997"/>
              <a:gd name="connsiteY26" fmla="*/ 6552071 h 6858002"/>
              <a:gd name="connsiteX27" fmla="*/ 493259 w 12191997"/>
              <a:gd name="connsiteY27" fmla="*/ 6625821 h 6858002"/>
              <a:gd name="connsiteX28" fmla="*/ 493259 w 12191997"/>
              <a:gd name="connsiteY28" fmla="*/ 6550173 h 6858002"/>
              <a:gd name="connsiteX29" fmla="*/ 419099 w 12191997"/>
              <a:gd name="connsiteY29" fmla="*/ 6550173 h 6858002"/>
              <a:gd name="connsiteX30" fmla="*/ 419099 w 12191997"/>
              <a:gd name="connsiteY30" fmla="*/ 6489534 h 6858002"/>
              <a:gd name="connsiteX31" fmla="*/ 0 w 12191997"/>
              <a:gd name="connsiteY31" fmla="*/ 0 h 6858002"/>
              <a:gd name="connsiteX32" fmla="*/ 12191997 w 12191997"/>
              <a:gd name="connsiteY32" fmla="*/ 0 h 6858002"/>
              <a:gd name="connsiteX33" fmla="*/ 12191997 w 12191997"/>
              <a:gd name="connsiteY33" fmla="*/ 6858002 h 6858002"/>
              <a:gd name="connsiteX34" fmla="*/ 0 w 12191997"/>
              <a:gd name="connsiteY34" fmla="*/ 6858002 h 6858002"/>
              <a:gd name="connsiteX35" fmla="*/ 0 w 12191997"/>
              <a:gd name="connsiteY35"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626781 h 6858002"/>
              <a:gd name="connsiteX26" fmla="*/ 419099 w 12191997"/>
              <a:gd name="connsiteY26" fmla="*/ 6552071 h 6858002"/>
              <a:gd name="connsiteX27" fmla="*/ 493259 w 12191997"/>
              <a:gd name="connsiteY27" fmla="*/ 6625821 h 6858002"/>
              <a:gd name="connsiteX28" fmla="*/ 493259 w 12191997"/>
              <a:gd name="connsiteY28" fmla="*/ 6550173 h 6858002"/>
              <a:gd name="connsiteX29" fmla="*/ 419099 w 12191997"/>
              <a:gd name="connsiteY29" fmla="*/ 6550173 h 6858002"/>
              <a:gd name="connsiteX30" fmla="*/ 0 w 12191997"/>
              <a:gd name="connsiteY30" fmla="*/ 0 h 6858002"/>
              <a:gd name="connsiteX31" fmla="*/ 12191997 w 12191997"/>
              <a:gd name="connsiteY31" fmla="*/ 0 h 6858002"/>
              <a:gd name="connsiteX32" fmla="*/ 12191997 w 12191997"/>
              <a:gd name="connsiteY32" fmla="*/ 6858002 h 6858002"/>
              <a:gd name="connsiteX33" fmla="*/ 0 w 12191997"/>
              <a:gd name="connsiteY33" fmla="*/ 6858002 h 6858002"/>
              <a:gd name="connsiteX34" fmla="*/ 0 w 12191997"/>
              <a:gd name="connsiteY34"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552071 h 6858002"/>
              <a:gd name="connsiteX26" fmla="*/ 493259 w 12191997"/>
              <a:gd name="connsiteY26" fmla="*/ 6625821 h 6858002"/>
              <a:gd name="connsiteX27" fmla="*/ 493259 w 12191997"/>
              <a:gd name="connsiteY27" fmla="*/ 6550173 h 6858002"/>
              <a:gd name="connsiteX28" fmla="*/ 419099 w 12191997"/>
              <a:gd name="connsiteY28" fmla="*/ 6550173 h 6858002"/>
              <a:gd name="connsiteX29" fmla="*/ 0 w 12191997"/>
              <a:gd name="connsiteY29" fmla="*/ 0 h 6858002"/>
              <a:gd name="connsiteX30" fmla="*/ 12191997 w 12191997"/>
              <a:gd name="connsiteY30" fmla="*/ 0 h 6858002"/>
              <a:gd name="connsiteX31" fmla="*/ 12191997 w 12191997"/>
              <a:gd name="connsiteY31" fmla="*/ 6858002 h 6858002"/>
              <a:gd name="connsiteX32" fmla="*/ 0 w 12191997"/>
              <a:gd name="connsiteY32" fmla="*/ 6858002 h 6858002"/>
              <a:gd name="connsiteX33" fmla="*/ 0 w 12191997"/>
              <a:gd name="connsiteY33"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9 w 12191997"/>
              <a:gd name="connsiteY24" fmla="*/ 6552071 h 6858002"/>
              <a:gd name="connsiteX25" fmla="*/ 493259 w 12191997"/>
              <a:gd name="connsiteY25" fmla="*/ 6625821 h 6858002"/>
              <a:gd name="connsiteX26" fmla="*/ 493259 w 12191997"/>
              <a:gd name="connsiteY26" fmla="*/ 6550173 h 6858002"/>
              <a:gd name="connsiteX27" fmla="*/ 419099 w 12191997"/>
              <a:gd name="connsiteY27" fmla="*/ 6550173 h 6858002"/>
              <a:gd name="connsiteX28" fmla="*/ 0 w 12191997"/>
              <a:gd name="connsiteY28" fmla="*/ 0 h 6858002"/>
              <a:gd name="connsiteX29" fmla="*/ 12191997 w 12191997"/>
              <a:gd name="connsiteY29" fmla="*/ 0 h 6858002"/>
              <a:gd name="connsiteX30" fmla="*/ 12191997 w 12191997"/>
              <a:gd name="connsiteY30" fmla="*/ 6858002 h 6858002"/>
              <a:gd name="connsiteX31" fmla="*/ 0 w 12191997"/>
              <a:gd name="connsiteY31" fmla="*/ 6858002 h 6858002"/>
              <a:gd name="connsiteX32" fmla="*/ 0 w 12191997"/>
              <a:gd name="connsiteY32" fmla="*/ 0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2191997" h="6858002">
                <a:moveTo>
                  <a:pt x="417190" y="6550173"/>
                </a:moveTo>
                <a:lnTo>
                  <a:pt x="419098" y="6550173"/>
                </a:lnTo>
                <a:lnTo>
                  <a:pt x="419098" y="6552070"/>
                </a:lnTo>
                <a:lnTo>
                  <a:pt x="417190" y="6550173"/>
                </a:lnTo>
                <a:close/>
                <a:moveTo>
                  <a:pt x="522773" y="6489534"/>
                </a:moveTo>
                <a:lnTo>
                  <a:pt x="522773" y="6626228"/>
                </a:lnTo>
                <a:lnTo>
                  <a:pt x="552231" y="6626228"/>
                </a:lnTo>
                <a:lnTo>
                  <a:pt x="552231" y="6544276"/>
                </a:lnTo>
                <a:lnTo>
                  <a:pt x="596420" y="6588218"/>
                </a:lnTo>
                <a:lnTo>
                  <a:pt x="640607" y="6544276"/>
                </a:lnTo>
                <a:lnTo>
                  <a:pt x="640607" y="6626228"/>
                </a:lnTo>
                <a:lnTo>
                  <a:pt x="668233" y="6626228"/>
                </a:lnTo>
                <a:lnTo>
                  <a:pt x="668233" y="6489534"/>
                </a:lnTo>
                <a:lnTo>
                  <a:pt x="653161" y="6489534"/>
                </a:lnTo>
                <a:lnTo>
                  <a:pt x="653160" y="6489534"/>
                </a:lnTo>
                <a:lnTo>
                  <a:pt x="596792" y="6546315"/>
                </a:lnTo>
                <a:lnTo>
                  <a:pt x="539693" y="6489534"/>
                </a:lnTo>
                <a:lnTo>
                  <a:pt x="522773" y="6489534"/>
                </a:lnTo>
                <a:close/>
                <a:moveTo>
                  <a:pt x="419099" y="6550173"/>
                </a:moveTo>
                <a:lnTo>
                  <a:pt x="419098" y="6550172"/>
                </a:lnTo>
                <a:lnTo>
                  <a:pt x="417189" y="6550172"/>
                </a:lnTo>
                <a:lnTo>
                  <a:pt x="417190" y="6550173"/>
                </a:lnTo>
                <a:lnTo>
                  <a:pt x="419099" y="6552071"/>
                </a:lnTo>
                <a:lnTo>
                  <a:pt x="419098" y="6552071"/>
                </a:lnTo>
                <a:lnTo>
                  <a:pt x="419099" y="6552071"/>
                </a:lnTo>
                <a:lnTo>
                  <a:pt x="493259" y="6625821"/>
                </a:lnTo>
                <a:lnTo>
                  <a:pt x="493259" y="6550173"/>
                </a:lnTo>
                <a:lnTo>
                  <a:pt x="419099" y="6550173"/>
                </a:lnTo>
                <a:close/>
                <a:moveTo>
                  <a:pt x="0" y="0"/>
                </a:moveTo>
                <a:lnTo>
                  <a:pt x="12191997" y="0"/>
                </a:lnTo>
                <a:lnTo>
                  <a:pt x="12191997" y="6858002"/>
                </a:lnTo>
                <a:lnTo>
                  <a:pt x="0" y="6858002"/>
                </a:lnTo>
                <a:lnTo>
                  <a:pt x="0" y="0"/>
                </a:lnTo>
                <a:close/>
              </a:path>
            </a:pathLst>
          </a:custGeom>
          <a:solidFill>
            <a:schemeClr val="accent5"/>
          </a:solidFill>
        </p:spPr>
        <p:txBody>
          <a:bodyPr wrap="square">
            <a:noAutofit/>
          </a:bodyPr>
          <a:lstStyle>
            <a:lvl1pPr marL="0" indent="0" algn="ctr">
              <a:buNone/>
              <a:defRPr sz="1200" b="0">
                <a:solidFill>
                  <a:schemeClr val="bg1"/>
                </a:solidFill>
                <a:latin typeface="+mj-lt"/>
              </a:defRPr>
            </a:lvl1pPr>
          </a:lstStyle>
          <a:p>
            <a:r>
              <a:rPr lang="en-US"/>
              <a:t>Full Bleed Image Option – click on image icon to insert</a:t>
            </a:r>
          </a:p>
        </p:txBody>
      </p:sp>
      <p:sp>
        <p:nvSpPr>
          <p:cNvPr id="8" name="TextBox 7">
            <a:extLst>
              <a:ext uri="{FF2B5EF4-FFF2-40B4-BE49-F238E27FC236}">
                <a16:creationId xmlns:a16="http://schemas.microsoft.com/office/drawing/2014/main" id="{D4CD5E66-0DCE-50E7-3440-C11A15865C4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02203853-1382-5769-6B65-A05E73FDEE94}"/>
              </a:ext>
            </a:extLst>
          </p:cNvPr>
          <p:cNvSpPr>
            <a:spLocks noGrp="1"/>
          </p:cNvSpPr>
          <p:nvPr>
            <p:ph type="title" hasCustomPrompt="1"/>
          </p:nvPr>
        </p:nvSpPr>
        <p:spPr>
          <a:xfrm>
            <a:off x="1241244" y="1993899"/>
            <a:ext cx="9709484" cy="2870201"/>
          </a:xfrm>
        </p:spPr>
        <p:txBody>
          <a:bodyPr vert="horz" lIns="91440" tIns="45720" rIns="91440" bIns="45720" rtlCol="0" anchor="ctr">
            <a:noAutofit/>
          </a:bodyPr>
          <a:lstStyle>
            <a:lvl1pPr algn="ctr">
              <a:defRPr lang="en-US" sz="4400" b="0" cap="none" spc="-50" baseline="0" dirty="0">
                <a:solidFill>
                  <a:schemeClr val="bg1"/>
                </a:solidFill>
                <a:latin typeface="+mj-lt"/>
              </a:defRPr>
            </a:lvl1pPr>
          </a:lstStyle>
          <a:p>
            <a:pPr lvl="0">
              <a:lnSpc>
                <a:spcPct val="85000"/>
              </a:lnSpc>
            </a:pPr>
            <a:r>
              <a:rPr lang="en-US"/>
              <a:t>Statement copy goes here</a:t>
            </a:r>
          </a:p>
        </p:txBody>
      </p:sp>
      <p:grpSp>
        <p:nvGrpSpPr>
          <p:cNvPr id="4" name="Graphic 9">
            <a:extLst>
              <a:ext uri="{FF2B5EF4-FFF2-40B4-BE49-F238E27FC236}">
                <a16:creationId xmlns:a16="http://schemas.microsoft.com/office/drawing/2014/main" id="{3A3D2473-9F36-446A-A8FA-6492495329A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F487E1F0-8E2B-D294-12AE-66769DB84F75}"/>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6BDBB09E-07B6-82BF-25AF-60D2713980F8}"/>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814232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Statement Slide - Light Imag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E997BFE9-BEE7-F58E-6537-4215445B6864}"/>
              </a:ext>
            </a:extLst>
          </p:cNvPr>
          <p:cNvSpPr>
            <a:spLocks noGrp="1"/>
          </p:cNvSpPr>
          <p:nvPr>
            <p:ph type="title"/>
          </p:nvPr>
        </p:nvSpPr>
        <p:spPr>
          <a:xfrm>
            <a:off x="1241258" y="1993899"/>
            <a:ext cx="9709484" cy="2870201"/>
          </a:xfrm>
        </p:spPr>
        <p:txBody>
          <a:bodyPr vert="horz" lIns="91440" tIns="45720" rIns="91440" bIns="45720" rtlCol="0" anchor="ctr">
            <a:noAutofit/>
          </a:bodyPr>
          <a:lstStyle>
            <a:lvl1pPr algn="ctr">
              <a:defRPr lang="en-US" sz="4400" b="0" cap="none" spc="-50" baseline="0" dirty="0">
                <a:solidFill>
                  <a:schemeClr val="tx1"/>
                </a:solidFill>
                <a:latin typeface="+mj-lt"/>
              </a:defRPr>
            </a:lvl1pPr>
          </a:lstStyle>
          <a:p>
            <a:pPr lvl="0">
              <a:lnSpc>
                <a:spcPct val="85000"/>
              </a:lnSpc>
            </a:pPr>
            <a:r>
              <a:rPr lang="en-US"/>
              <a:t>Click to edit Master title style</a:t>
            </a:r>
          </a:p>
        </p:txBody>
      </p:sp>
    </p:spTree>
    <p:extLst>
      <p:ext uri="{BB962C8B-B14F-4D97-AF65-F5344CB8AC3E}">
        <p14:creationId xmlns:p14="http://schemas.microsoft.com/office/powerpoint/2010/main" val="277321747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mp; Body + EYEBROW">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463040"/>
            <a:ext cx="11125200" cy="4553712"/>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731520"/>
            <a:ext cx="11128248" cy="612648"/>
          </a:xfrm>
        </p:spPr>
        <p:txBody>
          <a:bodyPr anchor="t">
            <a:noAutofit/>
          </a:bodyPr>
          <a:lstStyle>
            <a:lvl1pPr>
              <a:defRPr spc="-50" baseline="0"/>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tx2"/>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spTree>
    <p:extLst>
      <p:ext uri="{BB962C8B-B14F-4D97-AF65-F5344CB8AC3E}">
        <p14:creationId xmlns:p14="http://schemas.microsoft.com/office/powerpoint/2010/main" val="159081603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mp; Body + EYEBROW + 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914400"/>
            <a:ext cx="11128248" cy="612648"/>
          </a:xfrm>
        </p:spPr>
        <p:txBody>
          <a:bodyPr anchor="t">
            <a:noAutofit/>
          </a:bodyPr>
          <a:lstStyle>
            <a:lvl1pPr>
              <a:defRPr spc="-50" baseline="0"/>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tx2"/>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cxnSp>
        <p:nvCxnSpPr>
          <p:cNvPr id="6" name="Straight Connector 5">
            <a:extLst>
              <a:ext uri="{FF2B5EF4-FFF2-40B4-BE49-F238E27FC236}">
                <a16:creationId xmlns:a16="http://schemas.microsoft.com/office/drawing/2014/main" id="{A9A652DD-9EB4-EBCC-D99F-7C1BD35129EA}"/>
              </a:ext>
            </a:extLst>
          </p:cNvPr>
          <p:cNvCxnSpPr>
            <a:cxnSpLocks/>
          </p:cNvCxnSpPr>
          <p:nvPr userDrawn="1"/>
        </p:nvCxnSpPr>
        <p:spPr>
          <a:xfrm>
            <a:off x="533400" y="806092"/>
            <a:ext cx="11125200"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
        <p:nvSpPr>
          <p:cNvPr id="3" name="Content Placeholder 4">
            <a:extLst>
              <a:ext uri="{FF2B5EF4-FFF2-40B4-BE49-F238E27FC236}">
                <a16:creationId xmlns:a16="http://schemas.microsoft.com/office/drawing/2014/main" id="{72E01C5B-B994-ECBE-A728-43FA40CF55CE}"/>
              </a:ext>
            </a:extLst>
          </p:cNvPr>
          <p:cNvSpPr>
            <a:spLocks noGrp="1"/>
          </p:cNvSpPr>
          <p:nvPr>
            <p:ph sz="quarter" idx="11"/>
          </p:nvPr>
        </p:nvSpPr>
        <p:spPr>
          <a:xfrm>
            <a:off x="533400" y="1635354"/>
            <a:ext cx="11125200" cy="4381397"/>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244121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mp; Body">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219200"/>
            <a:ext cx="11125200" cy="4800599"/>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Tree>
    <p:extLst>
      <p:ext uri="{BB962C8B-B14F-4D97-AF65-F5344CB8AC3E}">
        <p14:creationId xmlns:p14="http://schemas.microsoft.com/office/powerpoint/2010/main" val="11818961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mp; Body 2 Column">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398" y="2204484"/>
            <a:ext cx="4983480"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
        <p:nvSpPr>
          <p:cNvPr id="3" name="Content Placeholder 4">
            <a:extLst>
              <a:ext uri="{FF2B5EF4-FFF2-40B4-BE49-F238E27FC236}">
                <a16:creationId xmlns:a16="http://schemas.microsoft.com/office/drawing/2014/main" id="{DF286743-D2CF-A33E-5ECD-A9033A58A8C0}"/>
              </a:ext>
            </a:extLst>
          </p:cNvPr>
          <p:cNvSpPr>
            <a:spLocks noGrp="1"/>
          </p:cNvSpPr>
          <p:nvPr>
            <p:ph sz="quarter" idx="12"/>
          </p:nvPr>
        </p:nvSpPr>
        <p:spPr>
          <a:xfrm>
            <a:off x="6675120" y="2204484"/>
            <a:ext cx="4983480"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629976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amp; Body 3 Column">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399"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
        <p:nvSpPr>
          <p:cNvPr id="3" name="Content Placeholder 4">
            <a:extLst>
              <a:ext uri="{FF2B5EF4-FFF2-40B4-BE49-F238E27FC236}">
                <a16:creationId xmlns:a16="http://schemas.microsoft.com/office/drawing/2014/main" id="{DF286743-D2CF-A33E-5ECD-A9033A58A8C0}"/>
              </a:ext>
            </a:extLst>
          </p:cNvPr>
          <p:cNvSpPr>
            <a:spLocks noGrp="1"/>
          </p:cNvSpPr>
          <p:nvPr>
            <p:ph sz="quarter" idx="12"/>
          </p:nvPr>
        </p:nvSpPr>
        <p:spPr>
          <a:xfrm>
            <a:off x="4322064"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4">
            <a:extLst>
              <a:ext uri="{FF2B5EF4-FFF2-40B4-BE49-F238E27FC236}">
                <a16:creationId xmlns:a16="http://schemas.microsoft.com/office/drawing/2014/main" id="{F466B4D2-38C6-E3E9-D68E-B47FB0924CA0}"/>
              </a:ext>
            </a:extLst>
          </p:cNvPr>
          <p:cNvSpPr>
            <a:spLocks noGrp="1"/>
          </p:cNvSpPr>
          <p:nvPr>
            <p:ph sz="quarter" idx="13"/>
          </p:nvPr>
        </p:nvSpPr>
        <p:spPr>
          <a:xfrm>
            <a:off x="8110728"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2089744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p>
            <a:r>
              <a:rPr lang="en-US"/>
              <a:t>Click to edit Master title style</a:t>
            </a:r>
          </a:p>
        </p:txBody>
      </p:sp>
    </p:spTree>
    <p:extLst>
      <p:ext uri="{BB962C8B-B14F-4D97-AF65-F5344CB8AC3E}">
        <p14:creationId xmlns:p14="http://schemas.microsoft.com/office/powerpoint/2010/main" val="10189223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Tree>
    <p:extLst>
      <p:ext uri="{BB962C8B-B14F-4D97-AF65-F5344CB8AC3E}">
        <p14:creationId xmlns:p14="http://schemas.microsoft.com/office/powerpoint/2010/main" val="78980765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Only with Backgroun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F89D0F4-D14E-2391-C035-8D4F022380C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lvl1pPr>
              <a:defRPr>
                <a:solidFill>
                  <a:schemeClr val="bg1"/>
                </a:solidFill>
              </a:defRPr>
            </a:lvl1pPr>
          </a:lstStyle>
          <a:p>
            <a:r>
              <a:rPr lang="en-US"/>
              <a:t>Click to edit Master title style</a:t>
            </a:r>
          </a:p>
        </p:txBody>
      </p:sp>
      <p:sp>
        <p:nvSpPr>
          <p:cNvPr id="8" name="TextBox 7">
            <a:extLst>
              <a:ext uri="{FF2B5EF4-FFF2-40B4-BE49-F238E27FC236}">
                <a16:creationId xmlns:a16="http://schemas.microsoft.com/office/drawing/2014/main" id="{BF3C50C5-83D2-174A-8E01-353653718445}"/>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grpSp>
        <p:nvGrpSpPr>
          <p:cNvPr id="3" name="Graphic 9">
            <a:extLst>
              <a:ext uri="{FF2B5EF4-FFF2-40B4-BE49-F238E27FC236}">
                <a16:creationId xmlns:a16="http://schemas.microsoft.com/office/drawing/2014/main" id="{732AA259-A6AF-EC29-5532-7F89B2999E1C}"/>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F6E9AE4E-794D-87F2-4C05-6D750127774B}"/>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1FFB977A-09D9-1892-6CC0-012B3144D78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49702448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amp; Body with Background">
    <p:bg>
      <p:bgPr>
        <a:solidFill>
          <a:schemeClr val="tx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5646CBC-6FE2-3596-CA9A-848AF961AE20}"/>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lvl1pPr>
              <a:defRPr>
                <a:solidFill>
                  <a:schemeClr val="bg1"/>
                </a:solidFill>
              </a:defRPr>
            </a:lvl1pPr>
          </a:lstStyle>
          <a:p>
            <a:r>
              <a:rPr lang="en-US"/>
              <a:t>Click to edit Master title style</a:t>
            </a:r>
          </a:p>
        </p:txBody>
      </p:sp>
      <p:sp>
        <p:nvSpPr>
          <p:cNvPr id="10" name="TextBox 9">
            <a:extLst>
              <a:ext uri="{FF2B5EF4-FFF2-40B4-BE49-F238E27FC236}">
                <a16:creationId xmlns:a16="http://schemas.microsoft.com/office/drawing/2014/main" id="{1B97C4DD-D778-3B47-91CB-0DBEC93C9B2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9" name="Content Placeholder 4">
            <a:extLst>
              <a:ext uri="{FF2B5EF4-FFF2-40B4-BE49-F238E27FC236}">
                <a16:creationId xmlns:a16="http://schemas.microsoft.com/office/drawing/2014/main" id="{5B3261BB-9F2B-9340-9D35-C7D084FF499C}"/>
              </a:ext>
            </a:extLst>
          </p:cNvPr>
          <p:cNvSpPr>
            <a:spLocks noGrp="1"/>
          </p:cNvSpPr>
          <p:nvPr>
            <p:ph sz="quarter" idx="11"/>
          </p:nvPr>
        </p:nvSpPr>
        <p:spPr>
          <a:xfrm>
            <a:off x="533400" y="1219200"/>
            <a:ext cx="11125200" cy="4800599"/>
          </a:xfrm>
        </p:spPr>
        <p:txBody>
          <a:bodyPr/>
          <a:lstStyle>
            <a:lvl1pPr>
              <a:defRPr>
                <a:solidFill>
                  <a:schemeClr val="bg1"/>
                </a:solidFill>
              </a:defRPr>
            </a:lvl1pPr>
            <a:lvl2pPr marL="274320" indent="-182880">
              <a:buFont typeface="Arial" panose="020B0604020202020204" pitchFamily="34" charset="0"/>
              <a:buChar char="•"/>
              <a:defRPr>
                <a:solidFill>
                  <a:schemeClr val="bg1"/>
                </a:solidFill>
              </a:defRPr>
            </a:lvl2pPr>
            <a:lvl3pPr marL="640080" indent="-182880">
              <a:buFont typeface="Arial" panose="020B0604020202020204" pitchFamily="34" charset="0"/>
              <a:buChar char="•"/>
              <a:defRPr>
                <a:solidFill>
                  <a:schemeClr val="bg1"/>
                </a:solidFill>
              </a:defRPr>
            </a:lvl3pPr>
            <a:lvl4pPr marL="1005840" indent="-182880">
              <a:buFont typeface="Arial" panose="020B0604020202020204" pitchFamily="34" charset="0"/>
              <a:buChar char="•"/>
              <a:defRPr>
                <a:solidFill>
                  <a:schemeClr val="bg1"/>
                </a:solidFill>
              </a:defRPr>
            </a:lvl4pPr>
            <a:lvl5pPr marL="1371600" indent="-182880">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aphic 9">
            <a:extLst>
              <a:ext uri="{FF2B5EF4-FFF2-40B4-BE49-F238E27FC236}">
                <a16:creationId xmlns:a16="http://schemas.microsoft.com/office/drawing/2014/main" id="{F8B5E816-7D75-0001-CE5A-06EF94F015C5}"/>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4B571E3A-ACB2-CF3F-D682-5A60220C80B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A6BD859A-D9BF-AD32-D97B-51D39374A711}"/>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34955197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le &amp; Body + EYEBROW with Backgroun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5CB87FB-A401-9C88-F7DA-B4DB9C08974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463040"/>
            <a:ext cx="11125200" cy="4553712"/>
          </a:xfrm>
        </p:spPr>
        <p:txBody>
          <a:bodyPr/>
          <a:lstStyle>
            <a:lvl1pPr marL="0" indent="0">
              <a:lnSpc>
                <a:spcPct val="100000"/>
              </a:lnSpc>
              <a:spcBef>
                <a:spcPts val="0"/>
              </a:spcBef>
              <a:spcAft>
                <a:spcPts val="600"/>
              </a:spcAft>
              <a:buFont typeface="Arial" panose="020B0604020202020204" pitchFamily="34" charset="0"/>
              <a:buNone/>
              <a:defRPr>
                <a:solidFill>
                  <a:schemeClr val="bg1"/>
                </a:solidFill>
              </a:defRPr>
            </a:lvl1pPr>
            <a:lvl2pPr marL="274320" indent="-182880">
              <a:lnSpc>
                <a:spcPct val="100000"/>
              </a:lnSpc>
              <a:spcBef>
                <a:spcPts val="0"/>
              </a:spcBef>
              <a:spcAft>
                <a:spcPts val="600"/>
              </a:spcAft>
              <a:buFont typeface="Arial" panose="020B0604020202020204" pitchFamily="34" charset="0"/>
              <a:buChar char="•"/>
              <a:defRPr>
                <a:solidFill>
                  <a:schemeClr val="bg1"/>
                </a:solidFill>
              </a:defRPr>
            </a:lvl2pPr>
            <a:lvl3pPr marL="640080" indent="-182880">
              <a:lnSpc>
                <a:spcPct val="100000"/>
              </a:lnSpc>
              <a:spcBef>
                <a:spcPts val="0"/>
              </a:spcBef>
              <a:spcAft>
                <a:spcPts val="600"/>
              </a:spcAft>
              <a:buFont typeface="Arial" panose="020B0604020202020204" pitchFamily="34" charset="0"/>
              <a:buChar char="•"/>
              <a:defRPr>
                <a:solidFill>
                  <a:schemeClr val="bg1"/>
                </a:solidFill>
              </a:defRPr>
            </a:lvl3pPr>
            <a:lvl4pPr marL="1005840" indent="-182880">
              <a:lnSpc>
                <a:spcPct val="100000"/>
              </a:lnSpc>
              <a:spcBef>
                <a:spcPts val="0"/>
              </a:spcBef>
              <a:spcAft>
                <a:spcPts val="600"/>
              </a:spcAft>
              <a:buFont typeface="Arial" panose="020B0604020202020204" pitchFamily="34" charset="0"/>
              <a:buChar char="•"/>
              <a:defRPr>
                <a:solidFill>
                  <a:schemeClr val="bg1"/>
                </a:solidFill>
              </a:defRPr>
            </a:lvl4pPr>
            <a:lvl5pPr marL="1371600" indent="-182880">
              <a:lnSpc>
                <a:spcPct val="100000"/>
              </a:lnSpc>
              <a:spcBef>
                <a:spcPts val="0"/>
              </a:spcBef>
              <a:spcAft>
                <a:spcPts val="600"/>
              </a:spcAft>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731520"/>
            <a:ext cx="11128248" cy="612648"/>
          </a:xfrm>
        </p:spPr>
        <p:txBody>
          <a:bodyPr anchor="t">
            <a:noAutofit/>
          </a:bodyPr>
          <a:lstStyle>
            <a:lvl1pPr>
              <a:defRPr spc="-50" baseline="0">
                <a:solidFill>
                  <a:schemeClr val="bg1"/>
                </a:solidFill>
              </a:defRPr>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bg2">
                    <a:lumMod val="90000"/>
                  </a:schemeClr>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grpSp>
        <p:nvGrpSpPr>
          <p:cNvPr id="7" name="Graphic 9">
            <a:extLst>
              <a:ext uri="{FF2B5EF4-FFF2-40B4-BE49-F238E27FC236}">
                <a16:creationId xmlns:a16="http://schemas.microsoft.com/office/drawing/2014/main" id="{D9FCE122-784E-9DC6-F7E8-FA43165BFF36}"/>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8" name="Freeform 7">
              <a:extLst>
                <a:ext uri="{FF2B5EF4-FFF2-40B4-BE49-F238E27FC236}">
                  <a16:creationId xmlns:a16="http://schemas.microsoft.com/office/drawing/2014/main" id="{22731A90-798F-263D-EA32-25545EDF5D05}"/>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9" name="Freeform 8">
              <a:extLst>
                <a:ext uri="{FF2B5EF4-FFF2-40B4-BE49-F238E27FC236}">
                  <a16:creationId xmlns:a16="http://schemas.microsoft.com/office/drawing/2014/main" id="{2B36744D-81AD-D6CF-EAF0-E1488DD39B7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6" name="TextBox 5">
            <a:extLst>
              <a:ext uri="{FF2B5EF4-FFF2-40B4-BE49-F238E27FC236}">
                <a16:creationId xmlns:a16="http://schemas.microsoft.com/office/drawing/2014/main" id="{F630058B-B427-5441-01EF-12AB013E7785}"/>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Tree>
    <p:extLst>
      <p:ext uri="{BB962C8B-B14F-4D97-AF65-F5344CB8AC3E}">
        <p14:creationId xmlns:p14="http://schemas.microsoft.com/office/powerpoint/2010/main" val="264306177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p:cSld name="Closin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7D13399-5BEF-EEED-B940-0B118B8114F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TextBox 7">
            <a:extLst>
              <a:ext uri="{FF2B5EF4-FFF2-40B4-BE49-F238E27FC236}">
                <a16:creationId xmlns:a16="http://schemas.microsoft.com/office/drawing/2014/main" id="{EE1B876D-140A-A646-9E95-8CA988F4773F}"/>
              </a:ext>
            </a:extLst>
          </p:cNvPr>
          <p:cNvSpPr txBox="1"/>
          <p:nvPr/>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grpSp>
        <p:nvGrpSpPr>
          <p:cNvPr id="11" name="Graphic 9">
            <a:extLst>
              <a:ext uri="{FF2B5EF4-FFF2-40B4-BE49-F238E27FC236}">
                <a16:creationId xmlns:a16="http://schemas.microsoft.com/office/drawing/2014/main" id="{3266A6D4-7FA8-1F50-AF70-17632A9A1500}"/>
              </a:ext>
            </a:extLst>
          </p:cNvPr>
          <p:cNvGrpSpPr>
            <a:grpSpLocks noChangeAspect="1"/>
          </p:cNvGrpSpPr>
          <p:nvPr userDrawn="1"/>
        </p:nvGrpSpPr>
        <p:grpSpPr>
          <a:xfrm>
            <a:off x="5473098" y="3188907"/>
            <a:ext cx="878544" cy="482508"/>
            <a:chOff x="11484948" y="313034"/>
            <a:chExt cx="401233" cy="220363"/>
          </a:xfrm>
          <a:solidFill>
            <a:schemeClr val="accent5"/>
          </a:solidFill>
        </p:grpSpPr>
        <p:sp>
          <p:nvSpPr>
            <p:cNvPr id="12" name="Freeform 11">
              <a:extLst>
                <a:ext uri="{FF2B5EF4-FFF2-40B4-BE49-F238E27FC236}">
                  <a16:creationId xmlns:a16="http://schemas.microsoft.com/office/drawing/2014/main" id="{D38B71AF-F8A4-A1E9-B960-47978F397A7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3" name="Freeform 12">
              <a:extLst>
                <a:ext uri="{FF2B5EF4-FFF2-40B4-BE49-F238E27FC236}">
                  <a16:creationId xmlns:a16="http://schemas.microsoft.com/office/drawing/2014/main" id="{8D225686-E5A8-A339-D3BA-08D00055A0AB}"/>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247342055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4403024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9000266-3898-8EF3-245A-BC5A713B8748}"/>
              </a:ext>
            </a:extLst>
          </p:cNvPr>
          <p:cNvSpPr>
            <a:spLocks noGrp="1"/>
          </p:cNvSpPr>
          <p:nvPr>
            <p:ph type="dt" sz="half" idx="10"/>
          </p:nvPr>
        </p:nvSpPr>
        <p:spPr/>
        <p:txBody>
          <a:bodyPr/>
          <a:lstStyle/>
          <a:p>
            <a:fld id="{356A56AD-59C9-49A6-A4DB-26BD3DAE1E77}" type="datetimeFigureOut">
              <a:rPr lang="en-US" smtClean="0"/>
              <a:t>10/20/2026</a:t>
            </a:fld>
            <a:endParaRPr lang="en-US"/>
          </a:p>
        </p:txBody>
      </p:sp>
      <p:sp>
        <p:nvSpPr>
          <p:cNvPr id="3" name="Footer Placeholder 2">
            <a:extLst>
              <a:ext uri="{FF2B5EF4-FFF2-40B4-BE49-F238E27FC236}">
                <a16:creationId xmlns:a16="http://schemas.microsoft.com/office/drawing/2014/main" id="{70FA1A70-26C8-F697-653B-ADB1C0031F7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A4DEF5F-B2AB-33A0-2E48-9C7C7AE08460}"/>
              </a:ext>
            </a:extLst>
          </p:cNvPr>
          <p:cNvSpPr>
            <a:spLocks noGrp="1"/>
          </p:cNvSpPr>
          <p:nvPr>
            <p:ph type="sldNum" sz="quarter" idx="12"/>
          </p:nvPr>
        </p:nvSpPr>
        <p:spPr/>
        <p:txBody>
          <a:bodyPr/>
          <a:lstStyle/>
          <a:p>
            <a:fld id="{B0FD4039-54B5-4A64-9CCD-BAE3A4B329A0}" type="slidenum">
              <a:rPr lang="en-US" smtClean="0"/>
              <a:t>‹#›</a:t>
            </a:fld>
            <a:endParaRPr lang="en-US"/>
          </a:p>
        </p:txBody>
      </p:sp>
    </p:spTree>
    <p:extLst>
      <p:ext uri="{BB962C8B-B14F-4D97-AF65-F5344CB8AC3E}">
        <p14:creationId xmlns:p14="http://schemas.microsoft.com/office/powerpoint/2010/main" val="3069486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2B730ED-7B9D-40FC-B1E0-F1125DD90F87}"/>
              </a:ext>
            </a:extLst>
          </p:cNvPr>
          <p:cNvSpPr>
            <a:spLocks noGrp="1"/>
          </p:cNvSpPr>
          <p:nvPr>
            <p:ph type="title"/>
          </p:nvPr>
        </p:nvSpPr>
        <p:spPr>
          <a:xfrm>
            <a:off x="533400" y="457200"/>
            <a:ext cx="11125200" cy="609600"/>
          </a:xfrm>
          <a:prstGeom prst="rect">
            <a:avLst/>
          </a:prstGeom>
        </p:spPr>
        <p:txBody>
          <a:bodyPr vert="horz" lIns="91440" tIns="45720" rIns="91440" bIns="45720" rtlCol="0" anchor="t">
            <a:noAutofit/>
          </a:bodyPr>
          <a:lstStyle/>
          <a:p>
            <a:r>
              <a:rPr lang="en-US"/>
              <a:t>Click to edit Master title style</a:t>
            </a:r>
            <a:endParaRPr lang="da-DK"/>
          </a:p>
        </p:txBody>
      </p:sp>
      <p:sp>
        <p:nvSpPr>
          <p:cNvPr id="3" name="Text Placeholder 2">
            <a:extLst>
              <a:ext uri="{FF2B5EF4-FFF2-40B4-BE49-F238E27FC236}">
                <a16:creationId xmlns:a16="http://schemas.microsoft.com/office/drawing/2014/main" id="{F1B16267-223E-41DF-97C0-3C5C64CF28FE}"/>
              </a:ext>
            </a:extLst>
          </p:cNvPr>
          <p:cNvSpPr>
            <a:spLocks noGrp="1"/>
          </p:cNvSpPr>
          <p:nvPr>
            <p:ph type="body" idx="1"/>
          </p:nvPr>
        </p:nvSpPr>
        <p:spPr>
          <a:xfrm>
            <a:off x="533400" y="1219200"/>
            <a:ext cx="11125200" cy="4800599"/>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0F89AE7F-24B1-A64B-B288-B6C5E8A9B846}"/>
              </a:ext>
            </a:extLst>
          </p:cNvPr>
          <p:cNvSpPr txBox="1"/>
          <p:nvPr/>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9" name="TextBox 8">
            <a:extLst>
              <a:ext uri="{FF2B5EF4-FFF2-40B4-BE49-F238E27FC236}">
                <a16:creationId xmlns:a16="http://schemas.microsoft.com/office/drawing/2014/main" id="{A90C8A3C-DD41-F348-BAAE-28579DC164C9}"/>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grpSp>
        <p:nvGrpSpPr>
          <p:cNvPr id="14" name="Graphic 9">
            <a:extLst>
              <a:ext uri="{FF2B5EF4-FFF2-40B4-BE49-F238E27FC236}">
                <a16:creationId xmlns:a16="http://schemas.microsoft.com/office/drawing/2014/main" id="{91938403-5DD2-285C-67C1-6B3077C17CA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5" name="Freeform 14">
              <a:extLst>
                <a:ext uri="{FF2B5EF4-FFF2-40B4-BE49-F238E27FC236}">
                  <a16:creationId xmlns:a16="http://schemas.microsoft.com/office/drawing/2014/main" id="{2C8368F7-FE0C-4A9D-A6AC-23CC716F632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6" name="Freeform 15">
              <a:extLst>
                <a:ext uri="{FF2B5EF4-FFF2-40B4-BE49-F238E27FC236}">
                  <a16:creationId xmlns:a16="http://schemas.microsoft.com/office/drawing/2014/main" id="{B327AF6F-810F-21C4-8946-5FD13473973C}"/>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2038093919"/>
      </p:ext>
    </p:extLst>
  </p:cSld>
  <p:clrMap bg1="dk1" tx1="lt1" bg2="dk2" tx2="lt2" accent1="accent1" accent2="accent2" accent3="accent3" accent4="accent4" accent5="accent5" accent6="accent6" hlink="hlink" folHlink="folHlink"/>
  <p:sldLayoutIdLst>
    <p:sldLayoutId id="2147484052" r:id="rId1"/>
    <p:sldLayoutId id="2147484053" r:id="rId2"/>
    <p:sldLayoutId id="2147484088" r:id="rId3"/>
    <p:sldLayoutId id="2147484087" r:id="rId4"/>
    <p:sldLayoutId id="2147484054" r:id="rId5"/>
    <p:sldLayoutId id="2147484057" r:id="rId6"/>
    <p:sldLayoutId id="2147484101" r:id="rId7"/>
    <p:sldLayoutId id="2147484059" r:id="rId8"/>
    <p:sldLayoutId id="2147484100" r:id="rId9"/>
    <p:sldLayoutId id="2147484089" r:id="rId10"/>
    <p:sldLayoutId id="2147484098" r:id="rId11"/>
    <p:sldLayoutId id="2147484090" r:id="rId12"/>
    <p:sldLayoutId id="2147484105" r:id="rId13"/>
    <p:sldLayoutId id="2147484104" r:id="rId14"/>
    <p:sldLayoutId id="2147484061" r:id="rId15"/>
    <p:sldLayoutId id="2147484119" r:id="rId16"/>
    <p:sldLayoutId id="2147484120" r:id="rId17"/>
    <p:sldLayoutId id="2147484121" r:id="rId18"/>
    <p:sldLayoutId id="2147484122" r:id="rId19"/>
    <p:sldLayoutId id="2147484075" r:id="rId20"/>
    <p:sldLayoutId id="2147484096" r:id="rId21"/>
    <p:sldLayoutId id="2147484117" r:id="rId22"/>
    <p:sldLayoutId id="2147484076" r:id="rId23"/>
    <p:sldLayoutId id="2147484077" r:id="rId24"/>
    <p:sldLayoutId id="2147484064" r:id="rId25"/>
    <p:sldLayoutId id="2147484116" r:id="rId26"/>
    <p:sldLayoutId id="2147484063" r:id="rId27"/>
    <p:sldLayoutId id="2147484066" r:id="rId28"/>
    <p:sldLayoutId id="2147484065" r:id="rId29"/>
    <p:sldLayoutId id="2147484067" r:id="rId30"/>
    <p:sldLayoutId id="2147484068" r:id="rId31"/>
    <p:sldLayoutId id="2147484074" r:id="rId32"/>
    <p:sldLayoutId id="2147484073" r:id="rId33"/>
    <p:sldLayoutId id="2147484118" r:id="rId34"/>
    <p:sldLayoutId id="2147484086" r:id="rId35"/>
    <p:sldLayoutId id="2147484123" r:id="rId36"/>
    <p:sldLayoutId id="2147484124" r:id="rId37"/>
  </p:sldLayoutIdLst>
  <p:txStyles>
    <p:titleStyle>
      <a:lvl1pPr algn="l" defTabSz="914400" rtl="0" eaLnBrk="1" latinLnBrk="0" hangingPunct="1">
        <a:lnSpc>
          <a:spcPct val="90000"/>
        </a:lnSpc>
        <a:spcBef>
          <a:spcPct val="0"/>
        </a:spcBef>
        <a:buNone/>
        <a:defRPr sz="2400" b="1" kern="1200" spc="-50" baseline="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600"/>
        </a:spcAft>
        <a:buFont typeface="Arial" panose="020B0604020202020204" pitchFamily="34" charset="0"/>
        <a:buNone/>
        <a:tabLst/>
        <a:defRPr sz="1400" kern="1200">
          <a:solidFill>
            <a:schemeClr val="tx1"/>
          </a:solidFill>
          <a:latin typeface="+mn-lt"/>
          <a:ea typeface="+mn-ea"/>
          <a:cs typeface="+mn-cs"/>
        </a:defRPr>
      </a:lvl1pPr>
      <a:lvl2pPr marL="27432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2pPr>
      <a:lvl3pPr marL="64008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3pPr>
      <a:lvl4pPr marL="100584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4pPr>
      <a:lvl5pPr marL="137160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1" orient="horz" pos="3936">
          <p15:clr>
            <a:srgbClr val="F26B43"/>
          </p15:clr>
        </p15:guide>
        <p15:guide id="22" orient="horz" pos="4176">
          <p15:clr>
            <a:srgbClr val="F26B43"/>
          </p15:clr>
        </p15:guide>
        <p15:guide id="27" orient="horz" pos="336">
          <p15:clr>
            <a:srgbClr val="5ACBF0"/>
          </p15:clr>
        </p15:guide>
        <p15:guide id="28" orient="horz" pos="3792">
          <p15:clr>
            <a:srgbClr val="5ACBF0"/>
          </p15:clr>
        </p15:guide>
        <p15:guide id="29" pos="336">
          <p15:clr>
            <a:srgbClr val="5ACBF0"/>
          </p15:clr>
        </p15:guide>
        <p15:guide id="30" pos="7344">
          <p15:clr>
            <a:srgbClr val="5ACBF0"/>
          </p15:clr>
        </p15:guide>
        <p15:guide id="31" orient="horz" pos="768">
          <p15:clr>
            <a:srgbClr val="5ACBF0"/>
          </p15:clr>
        </p15:guide>
        <p15:guide id="32" orient="horz" pos="720">
          <p15:clr>
            <a:srgbClr val="5ACBF0"/>
          </p15:clr>
        </p15:guide>
        <p15:guide id="33" orient="horz" pos="2160">
          <p15:clr>
            <a:srgbClr val="FDE53C"/>
          </p15:clr>
        </p15:guide>
        <p15:guide id="34" pos="3840">
          <p15:clr>
            <a:srgbClr val="FDE53C"/>
          </p15:clr>
        </p15:guide>
        <p15:guide id="35" pos="1366">
          <p15:clr>
            <a:srgbClr val="A4A3A4"/>
          </p15:clr>
        </p15:guide>
        <p15:guide id="36" pos="1533">
          <p15:clr>
            <a:srgbClr val="A4A3A4"/>
          </p15:clr>
        </p15:guide>
        <p15:guide id="37" pos="2561">
          <p15:clr>
            <a:srgbClr val="A4A3A4"/>
          </p15:clr>
        </p15:guide>
        <p15:guide id="38" pos="2729">
          <p15:clr>
            <a:srgbClr val="A4A3A4"/>
          </p15:clr>
        </p15:guide>
        <p15:guide id="39" pos="3756">
          <p15:clr>
            <a:srgbClr val="A4A3A4"/>
          </p15:clr>
        </p15:guide>
        <p15:guide id="40" pos="3927">
          <p15:clr>
            <a:srgbClr val="A4A3A4"/>
          </p15:clr>
        </p15:guide>
        <p15:guide id="41" pos="4957">
          <p15:clr>
            <a:srgbClr val="A4A3A4"/>
          </p15:clr>
        </p15:guide>
        <p15:guide id="42" pos="5122">
          <p15:clr>
            <a:srgbClr val="A4A3A4"/>
          </p15:clr>
        </p15:guide>
        <p15:guide id="43" pos="6153">
          <p15:clr>
            <a:srgbClr val="A4A3A4"/>
          </p15:clr>
        </p15:guide>
        <p15:guide id="44" pos="6320">
          <p15:clr>
            <a:srgbClr val="A4A3A4"/>
          </p15:clr>
        </p15:guide>
        <p15:guide id="45" pos="240">
          <p15:clr>
            <a:srgbClr val="FDE53C"/>
          </p15:clr>
        </p15:guide>
        <p15:guide id="46" pos="340">
          <p15:clr>
            <a:srgbClr val="FDE53C"/>
          </p15:clr>
        </p15:guide>
        <p15:guide id="47" pos="7464">
          <p15:clr>
            <a:srgbClr val="FDE53C"/>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10.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t>[MONTH YEAR]</a:t>
            </a:r>
          </a:p>
        </p:txBody>
      </p:sp>
      <p:sp>
        <p:nvSpPr>
          <p:cNvPr id="3" name="Title 2"/>
          <p:cNvSpPr>
            <a:spLocks noGrp="1"/>
          </p:cNvSpPr>
          <p:nvPr>
            <p:ph type="title"/>
          </p:nvPr>
        </p:nvSpPr>
        <p:spPr/>
        <p:txBody>
          <a:bodyPr/>
          <a:lstStyle/>
          <a:p>
            <a:r>
              <a:t>Operations Priorities</a:t>
            </a:r>
          </a:p>
        </p:txBody>
      </p:sp>
      <p:sp>
        <p:nvSpPr>
          <p:cNvPr id="4" name="Text Placeholder 3"/>
          <p:cNvSpPr>
            <a:spLocks noGrp="1"/>
          </p:cNvSpPr>
          <p:nvPr>
            <p:ph type="body" idx="10" sz="quarter"/>
          </p:nvPr>
        </p:nvSpPr>
        <p:spPr/>
        <p:txBody>
          <a:bodyPr/>
          <a:lstStyle/>
          <a:p>
            <a:r>
              <a:t>Executive summary and click-downs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530352" y="603504"/>
            <a:ext cx="6949440" cy="566928"/>
          </a:xfrm>
        </p:spPr>
        <p:txBody>
          <a:bodyPr/>
          <a:lstStyle/>
          <a:p>
            <a:r>
              <a:rPr sz="2800"/>
              <a:t>Executive summary</a:t>
            </a:r>
          </a:p>
        </p:txBody>
      </p:sp>
      <p:sp>
        <p:nvSpPr>
          <p:cNvPr id="4" name="Text Placeholder 3"/>
          <p:cNvSpPr>
            <a:spLocks noGrp="1"/>
          </p:cNvSpPr>
          <p:nvPr>
            <p:ph type="body" idx="12" sz="quarter"/>
          </p:nvPr>
        </p:nvSpPr>
        <p:spPr>
          <a:xfrm>
            <a:off x="530352" y="384048"/>
            <a:ext cx="6949440" cy="182880"/>
          </a:xfrm>
        </p:spPr>
        <p:txBody>
          <a:bodyPr/>
          <a:lstStyle/>
          <a:p>
            <a:r>
              <a:t>OPS PRIORITIES</a:t>
            </a:r>
          </a:p>
        </p:txBody>
      </p:sp>
      <p:sp>
        <p:nvSpPr>
          <p:cNvPr id="5" name="TextBox 4"/>
          <p:cNvSpPr txBox="1"/>
          <p:nvPr/>
        </p:nvSpPr>
        <p:spPr>
          <a:xfrm>
            <a:off x="530352" y="1115568"/>
            <a:ext cx="11131296" cy="457200"/>
          </a:xfrm>
          <a:prstGeom prst="rect">
            <a:avLst/>
          </a:prstGeom>
          <a:noFill/>
        </p:spPr>
        <p:txBody>
          <a:bodyPr wrap="square" lIns="0" rIns="0" tIns="0" bIns="0" anchor="t">
            <a:spAutoFit/>
          </a:bodyPr>
          <a:lstStyle/>
          <a:p>
            <a:pPr algn="l">
              <a:spcAft>
                <a:spcPts val="600"/>
              </a:spcAft>
            </a:pPr>
            <a:r>
              <a:rPr sz="1150" b="0" i="0">
                <a:solidFill>
                  <a:srgbClr val="000000"/>
                </a:solidFill>
              </a:rPr>
              <a:t>Top priorities, agreed as a team. Together, this is how we answer Play to Win's Delivery Excellence and Operational Review asks. We're tackling one epic at a time, starting with the Deal-to-Delivery Playbook, and moving to the next once it has real momentum.</a:t>
            </a:r>
          </a:p>
        </p:txBody>
      </p:sp>
      <p:sp>
        <p:nvSpPr>
          <p:cNvPr id="6" name="TextBox 5"/>
          <p:cNvSpPr txBox="1"/>
          <p:nvPr/>
        </p:nvSpPr>
        <p:spPr>
          <a:xfrm>
            <a:off x="1188720" y="1700784"/>
            <a:ext cx="2194560" cy="182880"/>
          </a:xfrm>
          <a:prstGeom prst="rect">
            <a:avLst/>
          </a:prstGeom>
          <a:noFill/>
        </p:spPr>
        <p:txBody>
          <a:bodyPr wrap="square" lIns="0" rIns="0" tIns="0" bIns="0" anchor="t">
            <a:spAutoFit/>
          </a:bodyPr>
          <a:lstStyle/>
          <a:p>
            <a:pPr algn="l">
              <a:spcAft>
                <a:spcPts val="100"/>
              </a:spcAft>
            </a:pPr>
            <a:r>
              <a:rPr sz="850" b="1" i="0" cap="all" spc="100">
                <a:solidFill>
                  <a:srgbClr val="60607D"/>
                </a:solidFill>
              </a:rPr>
              <a:t>Priority</a:t>
            </a:r>
          </a:p>
        </p:txBody>
      </p:sp>
      <p:sp>
        <p:nvSpPr>
          <p:cNvPr id="7" name="TextBox 6"/>
          <p:cNvSpPr txBox="1"/>
          <p:nvPr/>
        </p:nvSpPr>
        <p:spPr>
          <a:xfrm>
            <a:off x="3456432" y="1700784"/>
            <a:ext cx="3474720" cy="182880"/>
          </a:xfrm>
          <a:prstGeom prst="rect">
            <a:avLst/>
          </a:prstGeom>
          <a:noFill/>
        </p:spPr>
        <p:txBody>
          <a:bodyPr wrap="square" lIns="0" rIns="0" tIns="0" bIns="0" anchor="t">
            <a:spAutoFit/>
          </a:bodyPr>
          <a:lstStyle/>
          <a:p>
            <a:pPr algn="l">
              <a:spcAft>
                <a:spcPts val="100"/>
              </a:spcAft>
            </a:pPr>
            <a:r>
              <a:rPr sz="850" b="1" i="0" cap="all" spc="100">
                <a:solidFill>
                  <a:srgbClr val="60607D"/>
                </a:solidFill>
              </a:rPr>
              <a:t>What it is</a:t>
            </a:r>
          </a:p>
        </p:txBody>
      </p:sp>
      <p:sp>
        <p:nvSpPr>
          <p:cNvPr id="8" name="TextBox 7"/>
          <p:cNvSpPr txBox="1"/>
          <p:nvPr/>
        </p:nvSpPr>
        <p:spPr>
          <a:xfrm>
            <a:off x="7068312" y="1700784"/>
            <a:ext cx="3108960" cy="182880"/>
          </a:xfrm>
          <a:prstGeom prst="rect">
            <a:avLst/>
          </a:prstGeom>
          <a:noFill/>
        </p:spPr>
        <p:txBody>
          <a:bodyPr wrap="square" lIns="0" rIns="0" tIns="0" bIns="0" anchor="t">
            <a:spAutoFit/>
          </a:bodyPr>
          <a:lstStyle/>
          <a:p>
            <a:pPr algn="l">
              <a:spcAft>
                <a:spcPts val="100"/>
              </a:spcAft>
            </a:pPr>
            <a:r>
              <a:rPr sz="850" b="1" i="0" cap="all" spc="100">
                <a:solidFill>
                  <a:srgbClr val="60607D"/>
                </a:solidFill>
              </a:rPr>
              <a:t>How we'll know it's working</a:t>
            </a:r>
          </a:p>
        </p:txBody>
      </p:sp>
      <p:sp>
        <p:nvSpPr>
          <p:cNvPr id="9" name="TextBox 8"/>
          <p:cNvSpPr txBox="1"/>
          <p:nvPr/>
        </p:nvSpPr>
        <p:spPr>
          <a:xfrm>
            <a:off x="10290048" y="1700784"/>
            <a:ext cx="1188720" cy="182880"/>
          </a:xfrm>
          <a:prstGeom prst="rect">
            <a:avLst/>
          </a:prstGeom>
          <a:noFill/>
        </p:spPr>
        <p:txBody>
          <a:bodyPr wrap="square" lIns="0" rIns="0" tIns="0" bIns="0" anchor="t">
            <a:spAutoFit/>
          </a:bodyPr>
          <a:lstStyle/>
          <a:p>
            <a:pPr algn="l">
              <a:spcAft>
                <a:spcPts val="100"/>
              </a:spcAft>
            </a:pPr>
            <a:r>
              <a:rPr sz="850" b="1" i="0" cap="all" spc="100">
                <a:solidFill>
                  <a:srgbClr val="60607D"/>
                </a:solidFill>
              </a:rPr>
              <a:t>Status</a:t>
            </a:r>
          </a:p>
        </p:txBody>
      </p:sp>
      <p:sp>
        <p:nvSpPr>
          <p:cNvPr id="10" name="Rounded Rectangle 9"/>
          <p:cNvSpPr/>
          <p:nvPr/>
        </p:nvSpPr>
        <p:spPr>
          <a:xfrm>
            <a:off x="530352" y="1920240"/>
            <a:ext cx="11131296" cy="4846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a:lstStyle/>
          <a:p>
            <a:pPr algn="ctr"/>
          </a:p>
        </p:txBody>
      </p:sp>
      <p:sp>
        <p:nvSpPr>
          <p:cNvPr id="11" name="TextBox 10"/>
          <p:cNvSpPr txBox="1"/>
          <p:nvPr/>
        </p:nvSpPr>
        <p:spPr>
          <a:xfrm>
            <a:off x="713232" y="1920240"/>
            <a:ext cx="457200" cy="484632"/>
          </a:xfrm>
          <a:prstGeom prst="rect">
            <a:avLst/>
          </a:prstGeom>
          <a:noFill/>
        </p:spPr>
        <p:txBody>
          <a:bodyPr wrap="square" lIns="0" rIns="0" tIns="0" bIns="0" anchor="ctr">
            <a:spAutoFit/>
          </a:bodyPr>
          <a:lstStyle/>
          <a:p>
            <a:pPr algn="l">
              <a:spcAft>
                <a:spcPts val="600"/>
              </a:spcAft>
            </a:pPr>
            <a:r>
              <a:rPr sz="1500" b="1" i="0">
                <a:solidFill>
                  <a:srgbClr val="000000"/>
                </a:solidFill>
              </a:rPr>
              <a:t>01</a:t>
            </a:r>
          </a:p>
        </p:txBody>
      </p:sp>
      <p:sp>
        <p:nvSpPr>
          <p:cNvPr id="12" name="TextBox 11"/>
          <p:cNvSpPr txBox="1"/>
          <p:nvPr/>
        </p:nvSpPr>
        <p:spPr>
          <a:xfrm>
            <a:off x="1188720" y="1920240"/>
            <a:ext cx="2194560" cy="484632"/>
          </a:xfrm>
          <a:prstGeom prst="rect">
            <a:avLst/>
          </a:prstGeom>
          <a:noFill/>
        </p:spPr>
        <p:txBody>
          <a:bodyPr wrap="square" lIns="0" rIns="0" tIns="0" bIns="0" anchor="ctr">
            <a:spAutoFit/>
          </a:bodyPr>
          <a:lstStyle/>
          <a:p>
            <a:pPr algn="l">
              <a:spcAft>
                <a:spcPts val="600"/>
              </a:spcAft>
            </a:pPr>
            <a:r>
              <a:rPr sz="1100" b="1" i="0">
                <a:solidFill>
                  <a:srgbClr val="000000"/>
                </a:solidFill>
              </a:rPr>
              <a:t>Deal-to-Delivery Playbook</a:t>
            </a:r>
          </a:p>
        </p:txBody>
      </p:sp>
      <p:sp>
        <p:nvSpPr>
          <p:cNvPr id="13" name="TextBox 12"/>
          <p:cNvSpPr txBox="1"/>
          <p:nvPr/>
        </p:nvSpPr>
        <p:spPr>
          <a:xfrm>
            <a:off x="3456432" y="1920240"/>
            <a:ext cx="3474720" cy="484632"/>
          </a:xfrm>
          <a:prstGeom prst="rect">
            <a:avLst/>
          </a:prstGeom>
          <a:noFill/>
        </p:spPr>
        <p:txBody>
          <a:bodyPr wrap="square" lIns="0" rIns="0" tIns="0" bIns="0" anchor="ctr">
            <a:spAutoFit/>
          </a:bodyPr>
          <a:lstStyle/>
          <a:p>
            <a:pPr algn="l">
              <a:spcAft>
                <a:spcPts val="0"/>
              </a:spcAft>
            </a:pPr>
            <a:r>
              <a:rPr sz="950" b="0" i="0">
                <a:solidFill>
                  <a:srgbClr val="000000"/>
                </a:solidFill>
              </a:rPr>
              <a:t>Work is sold in shapes we cannot staff or deliver.</a:t>
            </a:r>
          </a:p>
        </p:txBody>
      </p:sp>
      <p:sp>
        <p:nvSpPr>
          <p:cNvPr id="14" name="TextBox 13"/>
          <p:cNvSpPr txBox="1"/>
          <p:nvPr/>
        </p:nvSpPr>
        <p:spPr>
          <a:xfrm>
            <a:off x="7068312" y="1920240"/>
            <a:ext cx="3063240" cy="484632"/>
          </a:xfrm>
          <a:prstGeom prst="rect">
            <a:avLst/>
          </a:prstGeom>
          <a:noFill/>
        </p:spPr>
        <p:txBody>
          <a:bodyPr wrap="square" lIns="0" rIns="0" tIns="0" bIns="0" anchor="ctr">
            <a:spAutoFit/>
          </a:bodyPr>
          <a:lstStyle/>
          <a:p>
            <a:pPr algn="l">
              <a:spcAft>
                <a:spcPts val="0"/>
              </a:spcAft>
            </a:pPr>
            <a:r>
              <a:rPr sz="950" b="0" i="0">
                <a:solidFill>
                  <a:srgbClr val="000000"/>
                </a:solidFill>
              </a:rPr>
              <a:t>No SOW signed without a model name; drift visible in weeks 2 to 4, not at the next executive review.</a:t>
            </a:r>
          </a:p>
        </p:txBody>
      </p:sp>
      <p:sp>
        <p:nvSpPr>
          <p:cNvPr id="15" name="Rounded Rectangle 14"/>
          <p:cNvSpPr/>
          <p:nvPr/>
        </p:nvSpPr>
        <p:spPr>
          <a:xfrm>
            <a:off x="10290048" y="2011680"/>
            <a:ext cx="1188720" cy="274320"/>
          </a:xfrm>
          <a:prstGeom prst="roundRect">
            <a:avLst>
              <a:gd name="adj" fmla="val 50000"/>
            </a:avLst>
          </a:prstGeom>
          <a:solidFill>
            <a:srgbClr val="000000"/>
          </a:solidFill>
          <a:ln>
            <a:noFill/>
          </a:ln>
        </p:spPr>
        <p:txBody>
          <a:bodyPr rtlCol="0" anchor="ctr" lIns="0" rIns="0" tIns="0" bIns="0"/>
          <a:lstStyle/>
          <a:p>
            <a:pPr algn="ctr"/>
            <a:r>
              <a:rPr sz="800" b="1" i="0" cap="all" spc="60">
                <a:solidFill>
                  <a:srgbClr val="FFFFFF"/>
                </a:solidFill>
              </a:rPr>
              <a:t>FOCUS NOW</a:t>
            </a:r>
          </a:p>
        </p:txBody>
      </p:sp>
      <p:sp>
        <p:nvSpPr>
          <p:cNvPr id="16" name="Rounded Rectangle 15"/>
          <p:cNvSpPr/>
          <p:nvPr/>
        </p:nvSpPr>
        <p:spPr>
          <a:xfrm>
            <a:off x="530352" y="2446020"/>
            <a:ext cx="11131296" cy="4846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a:lstStyle/>
          <a:p>
            <a:pPr algn="ctr"/>
          </a:p>
        </p:txBody>
      </p:sp>
      <p:sp>
        <p:nvSpPr>
          <p:cNvPr id="17" name="TextBox 16"/>
          <p:cNvSpPr txBox="1"/>
          <p:nvPr/>
        </p:nvSpPr>
        <p:spPr>
          <a:xfrm>
            <a:off x="713232" y="2446020"/>
            <a:ext cx="457200" cy="484632"/>
          </a:xfrm>
          <a:prstGeom prst="rect">
            <a:avLst/>
          </a:prstGeom>
          <a:noFill/>
        </p:spPr>
        <p:txBody>
          <a:bodyPr wrap="square" lIns="0" rIns="0" tIns="0" bIns="0" anchor="ctr">
            <a:spAutoFit/>
          </a:bodyPr>
          <a:lstStyle/>
          <a:p>
            <a:pPr algn="l">
              <a:spcAft>
                <a:spcPts val="600"/>
              </a:spcAft>
            </a:pPr>
            <a:r>
              <a:rPr sz="1500" b="1" i="0">
                <a:solidFill>
                  <a:srgbClr val="000000"/>
                </a:solidFill>
              </a:rPr>
              <a:t>02</a:t>
            </a:r>
          </a:p>
        </p:txBody>
      </p:sp>
      <p:sp>
        <p:nvSpPr>
          <p:cNvPr id="18" name="TextBox 17"/>
          <p:cNvSpPr txBox="1"/>
          <p:nvPr/>
        </p:nvSpPr>
        <p:spPr>
          <a:xfrm>
            <a:off x="1188720" y="2446020"/>
            <a:ext cx="2194560" cy="484632"/>
          </a:xfrm>
          <a:prstGeom prst="rect">
            <a:avLst/>
          </a:prstGeom>
          <a:noFill/>
        </p:spPr>
        <p:txBody>
          <a:bodyPr wrap="square" lIns="0" rIns="0" tIns="0" bIns="0" anchor="ctr">
            <a:spAutoFit/>
          </a:bodyPr>
          <a:lstStyle/>
          <a:p>
            <a:pPr algn="l">
              <a:spcAft>
                <a:spcPts val="600"/>
              </a:spcAft>
            </a:pPr>
            <a:r>
              <a:rPr sz="1100" b="1" i="0">
                <a:solidFill>
                  <a:srgbClr val="000000"/>
                </a:solidFill>
              </a:rPr>
              <a:t>Accountability Framework</a:t>
            </a:r>
          </a:p>
        </p:txBody>
      </p:sp>
      <p:sp>
        <p:nvSpPr>
          <p:cNvPr id="19" name="TextBox 18"/>
          <p:cNvSpPr txBox="1"/>
          <p:nvPr/>
        </p:nvSpPr>
        <p:spPr>
          <a:xfrm>
            <a:off x="3456432" y="2446020"/>
            <a:ext cx="3474720" cy="484632"/>
          </a:xfrm>
          <a:prstGeom prst="rect">
            <a:avLst/>
          </a:prstGeom>
          <a:noFill/>
        </p:spPr>
        <p:txBody>
          <a:bodyPr wrap="square" lIns="0" rIns="0" tIns="0" bIns="0" anchor="ctr">
            <a:spAutoFit/>
          </a:bodyPr>
          <a:lstStyle/>
          <a:p>
            <a:pPr algn="l">
              <a:spcAft>
                <a:spcPts val="0"/>
              </a:spcAft>
            </a:pPr>
            <a:r>
              <a:rPr sz="950" b="0" i="0">
                <a:solidFill>
                  <a:srgbClr val="000000"/>
                </a:solidFill>
              </a:rPr>
              <a:t>Define accountability for every project, with clear delivery roles, executive sponsorship, and regular reviews that highlight high risk projects.</a:t>
            </a:r>
          </a:p>
        </p:txBody>
      </p:sp>
      <p:sp>
        <p:nvSpPr>
          <p:cNvPr id="20" name="TextBox 19"/>
          <p:cNvSpPr txBox="1"/>
          <p:nvPr/>
        </p:nvSpPr>
        <p:spPr>
          <a:xfrm>
            <a:off x="7068312" y="2446020"/>
            <a:ext cx="3063240" cy="484632"/>
          </a:xfrm>
          <a:prstGeom prst="rect">
            <a:avLst/>
          </a:prstGeom>
          <a:noFill/>
        </p:spPr>
        <p:txBody>
          <a:bodyPr wrap="square" lIns="0" rIns="0" tIns="0" bIns="0" anchor="ctr">
            <a:spAutoFit/>
          </a:bodyPr>
          <a:lstStyle/>
          <a:p>
            <a:pPr algn="l">
              <a:spcAft>
                <a:spcPts val="0"/>
              </a:spcAft>
            </a:pPr>
            <a:r>
              <a:rPr sz="950" b="0" i="0">
                <a:solidFill>
                  <a:srgbClr val="000000"/>
                </a:solidFill>
              </a:rPr>
              <a:t>Every key project has named delivery roles and an executive sponsor, and quarterly reviews surface high-risk projects early.</a:t>
            </a:r>
          </a:p>
        </p:txBody>
      </p:sp>
      <p:sp>
        <p:nvSpPr>
          <p:cNvPr id="21" name="Rounded Rectangle 20"/>
          <p:cNvSpPr/>
          <p:nvPr/>
        </p:nvSpPr>
        <p:spPr>
          <a:xfrm>
            <a:off x="10290048" y="2537460"/>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NEXT</a:t>
            </a:r>
          </a:p>
        </p:txBody>
      </p:sp>
      <p:sp>
        <p:nvSpPr>
          <p:cNvPr id="22" name="Rounded Rectangle 21"/>
          <p:cNvSpPr/>
          <p:nvPr/>
        </p:nvSpPr>
        <p:spPr>
          <a:xfrm>
            <a:off x="530352" y="2971800"/>
            <a:ext cx="11131296" cy="4846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a:lstStyle/>
          <a:p>
            <a:pPr algn="ctr"/>
          </a:p>
        </p:txBody>
      </p:sp>
      <p:sp>
        <p:nvSpPr>
          <p:cNvPr id="23" name="TextBox 22"/>
          <p:cNvSpPr txBox="1"/>
          <p:nvPr/>
        </p:nvSpPr>
        <p:spPr>
          <a:xfrm>
            <a:off x="713232" y="2971800"/>
            <a:ext cx="457200" cy="484632"/>
          </a:xfrm>
          <a:prstGeom prst="rect">
            <a:avLst/>
          </a:prstGeom>
          <a:noFill/>
        </p:spPr>
        <p:txBody>
          <a:bodyPr wrap="square" lIns="0" rIns="0" tIns="0" bIns="0" anchor="ctr">
            <a:spAutoFit/>
          </a:bodyPr>
          <a:lstStyle/>
          <a:p>
            <a:pPr algn="l">
              <a:spcAft>
                <a:spcPts val="600"/>
              </a:spcAft>
            </a:pPr>
            <a:r>
              <a:rPr sz="1500" b="1" i="0">
                <a:solidFill>
                  <a:srgbClr val="000000"/>
                </a:solidFill>
              </a:rPr>
              <a:t>03</a:t>
            </a:r>
          </a:p>
        </p:txBody>
      </p:sp>
      <p:sp>
        <p:nvSpPr>
          <p:cNvPr id="24" name="TextBox 23"/>
          <p:cNvSpPr txBox="1"/>
          <p:nvPr/>
        </p:nvSpPr>
        <p:spPr>
          <a:xfrm>
            <a:off x="1188720" y="2971800"/>
            <a:ext cx="2194560" cy="484632"/>
          </a:xfrm>
          <a:prstGeom prst="rect">
            <a:avLst/>
          </a:prstGeom>
          <a:noFill/>
        </p:spPr>
        <p:txBody>
          <a:bodyPr wrap="square" lIns="0" rIns="0" tIns="0" bIns="0" anchor="ctr">
            <a:spAutoFit/>
          </a:bodyPr>
          <a:lstStyle/>
          <a:p>
            <a:pPr algn="l">
              <a:spcAft>
                <a:spcPts val="600"/>
              </a:spcAft>
            </a:pPr>
            <a:r>
              <a:rPr sz="1100" b="1" i="0">
                <a:solidFill>
                  <a:srgbClr val="000000"/>
                </a:solidFill>
              </a:rPr>
              <a:t>Leadership Dashboards</a:t>
            </a:r>
          </a:p>
        </p:txBody>
      </p:sp>
      <p:sp>
        <p:nvSpPr>
          <p:cNvPr id="25" name="TextBox 24"/>
          <p:cNvSpPr txBox="1"/>
          <p:nvPr/>
        </p:nvSpPr>
        <p:spPr>
          <a:xfrm>
            <a:off x="3456432" y="2971800"/>
            <a:ext cx="3474720" cy="484632"/>
          </a:xfrm>
          <a:prstGeom prst="rect">
            <a:avLst/>
          </a:prstGeom>
          <a:noFill/>
        </p:spPr>
        <p:txBody>
          <a:bodyPr wrap="square" lIns="0" rIns="0" tIns="0" bIns="0" anchor="ctr">
            <a:spAutoFit/>
          </a:bodyPr>
          <a:lstStyle/>
          <a:p>
            <a:pPr algn="l">
              <a:spcAft>
                <a:spcPts val="0"/>
              </a:spcAft>
            </a:pPr>
            <a:r>
              <a:rPr sz="950" b="0" i="0">
                <a:solidFill>
                  <a:srgbClr val="000000"/>
                </a:solidFill>
              </a:rPr>
              <a:t>One leadership dashboard — shoring, chargeability, margin, capacity, forecast, rate cards, burn, and revenue recognition.</a:t>
            </a:r>
          </a:p>
        </p:txBody>
      </p:sp>
      <p:sp>
        <p:nvSpPr>
          <p:cNvPr id="26" name="TextBox 25"/>
          <p:cNvSpPr txBox="1"/>
          <p:nvPr/>
        </p:nvSpPr>
        <p:spPr>
          <a:xfrm>
            <a:off x="7068312" y="2971800"/>
            <a:ext cx="3063240" cy="484632"/>
          </a:xfrm>
          <a:prstGeom prst="rect">
            <a:avLst/>
          </a:prstGeom>
          <a:noFill/>
        </p:spPr>
        <p:txBody>
          <a:bodyPr wrap="square" lIns="0" rIns="0" tIns="0" bIns="0" anchor="ctr">
            <a:spAutoFit/>
          </a:bodyPr>
          <a:lstStyle/>
          <a:p>
            <a:pPr algn="l">
              <a:spcAft>
                <a:spcPts val="0"/>
              </a:spcAft>
            </a:pPr>
            <a:r>
              <a:rPr sz="950" b="0" i="0">
                <a:solidFill>
                  <a:srgbClr val="000000"/>
                </a:solidFill>
              </a:rPr>
              <a:t>One place for leaders to see the health of their business, instead of too many reports.</a:t>
            </a:r>
          </a:p>
        </p:txBody>
      </p:sp>
      <p:sp>
        <p:nvSpPr>
          <p:cNvPr id="27" name="Rounded Rectangle 26"/>
          <p:cNvSpPr/>
          <p:nvPr/>
        </p:nvSpPr>
        <p:spPr>
          <a:xfrm>
            <a:off x="10290048" y="3063240"/>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NEXT</a:t>
            </a:r>
          </a:p>
        </p:txBody>
      </p:sp>
      <p:sp>
        <p:nvSpPr>
          <p:cNvPr id="28" name="Rounded Rectangle 27"/>
          <p:cNvSpPr/>
          <p:nvPr/>
        </p:nvSpPr>
        <p:spPr>
          <a:xfrm>
            <a:off x="530352" y="3497580"/>
            <a:ext cx="11131296" cy="4846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a:lstStyle/>
          <a:p>
            <a:pPr algn="ctr"/>
          </a:p>
        </p:txBody>
      </p:sp>
      <p:sp>
        <p:nvSpPr>
          <p:cNvPr id="29" name="TextBox 28"/>
          <p:cNvSpPr txBox="1"/>
          <p:nvPr/>
        </p:nvSpPr>
        <p:spPr>
          <a:xfrm>
            <a:off x="713232" y="3497580"/>
            <a:ext cx="457200" cy="484632"/>
          </a:xfrm>
          <a:prstGeom prst="rect">
            <a:avLst/>
          </a:prstGeom>
          <a:noFill/>
        </p:spPr>
        <p:txBody>
          <a:bodyPr wrap="square" lIns="0" rIns="0" tIns="0" bIns="0" anchor="ctr">
            <a:spAutoFit/>
          </a:bodyPr>
          <a:lstStyle/>
          <a:p>
            <a:pPr algn="l">
              <a:spcAft>
                <a:spcPts val="600"/>
              </a:spcAft>
            </a:pPr>
            <a:r>
              <a:rPr sz="1500" b="1" i="0">
                <a:solidFill>
                  <a:srgbClr val="000000"/>
                </a:solidFill>
              </a:rPr>
              <a:t>04</a:t>
            </a:r>
          </a:p>
        </p:txBody>
      </p:sp>
      <p:sp>
        <p:nvSpPr>
          <p:cNvPr id="30" name="TextBox 29"/>
          <p:cNvSpPr txBox="1"/>
          <p:nvPr/>
        </p:nvSpPr>
        <p:spPr>
          <a:xfrm>
            <a:off x="1188720" y="3497580"/>
            <a:ext cx="2194560" cy="484632"/>
          </a:xfrm>
          <a:prstGeom prst="rect">
            <a:avLst/>
          </a:prstGeom>
          <a:noFill/>
        </p:spPr>
        <p:txBody>
          <a:bodyPr wrap="square" lIns="0" rIns="0" tIns="0" bIns="0" anchor="ctr">
            <a:spAutoFit/>
          </a:bodyPr>
          <a:lstStyle/>
          <a:p>
            <a:pPr algn="l">
              <a:spcAft>
                <a:spcPts val="600"/>
              </a:spcAft>
            </a:pPr>
            <a:r>
              <a:rPr sz="1100" b="1" i="0">
                <a:solidFill>
                  <a:srgbClr val="000000"/>
                </a:solidFill>
              </a:rPr>
              <a:t>Capacity Planning &amp; Romulus</a:t>
            </a:r>
          </a:p>
        </p:txBody>
      </p:sp>
      <p:sp>
        <p:nvSpPr>
          <p:cNvPr id="31" name="TextBox 30"/>
          <p:cNvSpPr txBox="1"/>
          <p:nvPr/>
        </p:nvSpPr>
        <p:spPr>
          <a:xfrm>
            <a:off x="3456432" y="3497580"/>
            <a:ext cx="3474720" cy="484632"/>
          </a:xfrm>
          <a:prstGeom prst="rect">
            <a:avLst/>
          </a:prstGeom>
          <a:noFill/>
        </p:spPr>
        <p:txBody>
          <a:bodyPr wrap="square" lIns="0" rIns="0" tIns="0" bIns="0" anchor="ctr">
            <a:spAutoFit/>
          </a:bodyPr>
          <a:lstStyle/>
          <a:p>
            <a:pPr algn="l">
              <a:spcAft>
                <a:spcPts val="0"/>
              </a:spcAft>
            </a:pPr>
            <a:r>
              <a:rPr sz="950" b="0" i="0">
                <a:solidFill>
                  <a:srgbClr val="000000"/>
                </a:solidFill>
              </a:rPr>
              <a:t>Closing the skills and bench visibility gap so we can staff ahead of demand.</a:t>
            </a:r>
          </a:p>
        </p:txBody>
      </p:sp>
      <p:sp>
        <p:nvSpPr>
          <p:cNvPr id="32" name="TextBox 31"/>
          <p:cNvSpPr txBox="1"/>
          <p:nvPr/>
        </p:nvSpPr>
        <p:spPr>
          <a:xfrm>
            <a:off x="7068312" y="3497580"/>
            <a:ext cx="3063240" cy="484632"/>
          </a:xfrm>
          <a:prstGeom prst="rect">
            <a:avLst/>
          </a:prstGeom>
          <a:noFill/>
        </p:spPr>
        <p:txBody>
          <a:bodyPr wrap="square" lIns="0" rIns="0" tIns="0" bIns="0" anchor="ctr">
            <a:spAutoFit/>
          </a:bodyPr>
          <a:lstStyle/>
          <a:p>
            <a:pPr algn="l">
              <a:spcAft>
                <a:spcPts val="0"/>
              </a:spcAft>
            </a:pPr>
            <a:r>
              <a:rPr sz="950" b="0" i="0">
                <a:solidFill>
                  <a:srgbClr val="000000"/>
                </a:solidFill>
              </a:rPr>
              <a:t>One trusted view of skills, and teams ready to start instead of scrambling after signature.</a:t>
            </a:r>
          </a:p>
        </p:txBody>
      </p:sp>
      <p:sp>
        <p:nvSpPr>
          <p:cNvPr id="33" name="Rounded Rectangle 32"/>
          <p:cNvSpPr/>
          <p:nvPr/>
        </p:nvSpPr>
        <p:spPr>
          <a:xfrm>
            <a:off x="10290048" y="3589020"/>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NEXT</a:t>
            </a:r>
          </a:p>
        </p:txBody>
      </p:sp>
      <p:sp>
        <p:nvSpPr>
          <p:cNvPr id="34" name="Rounded Rectangle 33"/>
          <p:cNvSpPr/>
          <p:nvPr/>
        </p:nvSpPr>
        <p:spPr>
          <a:xfrm>
            <a:off x="530352" y="4114800"/>
            <a:ext cx="11131296" cy="4846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a:lstStyle/>
          <a:p>
            <a:pPr algn="ctr"/>
          </a:p>
        </p:txBody>
      </p:sp>
      <p:sp>
        <p:nvSpPr>
          <p:cNvPr id="35" name="TextBox 34"/>
          <p:cNvSpPr txBox="1"/>
          <p:nvPr/>
        </p:nvSpPr>
        <p:spPr>
          <a:xfrm>
            <a:off x="713232" y="4114800"/>
            <a:ext cx="457200" cy="484632"/>
          </a:xfrm>
          <a:prstGeom prst="rect">
            <a:avLst/>
          </a:prstGeom>
          <a:noFill/>
        </p:spPr>
        <p:txBody>
          <a:bodyPr wrap="square" lIns="0" rIns="0" tIns="0" bIns="0" anchor="ctr">
            <a:spAutoFit/>
          </a:bodyPr>
          <a:lstStyle/>
          <a:p>
            <a:pPr algn="l">
              <a:spcAft>
                <a:spcPts val="600"/>
              </a:spcAft>
            </a:pPr>
            <a:r>
              <a:rPr sz="1500" b="1" i="0">
                <a:solidFill>
                  <a:srgbClr val="000000"/>
                </a:solidFill>
              </a:rPr>
              <a:t>05</a:t>
            </a:r>
          </a:p>
        </p:txBody>
      </p:sp>
      <p:sp>
        <p:nvSpPr>
          <p:cNvPr id="36" name="TextBox 35"/>
          <p:cNvSpPr txBox="1"/>
          <p:nvPr/>
        </p:nvSpPr>
        <p:spPr>
          <a:xfrm>
            <a:off x="1188720" y="4114800"/>
            <a:ext cx="2194560" cy="484632"/>
          </a:xfrm>
          <a:prstGeom prst="rect">
            <a:avLst/>
          </a:prstGeom>
          <a:noFill/>
        </p:spPr>
        <p:txBody>
          <a:bodyPr wrap="square" lIns="0" rIns="0" tIns="0" bIns="0" anchor="ctr">
            <a:spAutoFit/>
          </a:bodyPr>
          <a:lstStyle/>
          <a:p>
            <a:pPr algn="l">
              <a:spcAft>
                <a:spcPts val="600"/>
              </a:spcAft>
            </a:pPr>
            <a:r>
              <a:rPr sz="1100" b="1" i="0">
                <a:solidFill>
                  <a:srgbClr val="000000"/>
                </a:solidFill>
              </a:rPr>
              <a:t>DGS Leadership Transition</a:t>
            </a:r>
          </a:p>
        </p:txBody>
      </p:sp>
      <p:sp>
        <p:nvSpPr>
          <p:cNvPr id="37" name="TextBox 36"/>
          <p:cNvSpPr txBox="1"/>
          <p:nvPr/>
        </p:nvSpPr>
        <p:spPr>
          <a:xfrm>
            <a:off x="3456432" y="4114800"/>
            <a:ext cx="3474720" cy="484632"/>
          </a:xfrm>
          <a:prstGeom prst="rect">
            <a:avLst/>
          </a:prstGeom>
          <a:noFill/>
        </p:spPr>
        <p:txBody>
          <a:bodyPr wrap="square" lIns="0" rIns="0" tIns="0" bIns="0" anchor="ctr">
            <a:spAutoFit/>
          </a:bodyPr>
          <a:lstStyle/>
          <a:p>
            <a:pPr algn="l">
              <a:spcAft>
                <a:spcPts val="0"/>
              </a:spcAft>
            </a:pPr>
            <a:r>
              <a:rPr sz="950" b="0" i="0">
                <a:solidFill>
                  <a:srgbClr val="000000"/>
                </a:solidFill>
              </a:rPr>
              <a:t>Naazneen departs 12/31 — two-phase effort to map dependencies, resolve Extentia's operating model, and set leadership coverage.</a:t>
            </a:r>
          </a:p>
        </p:txBody>
      </p:sp>
      <p:sp>
        <p:nvSpPr>
          <p:cNvPr id="38" name="TextBox 37"/>
          <p:cNvSpPr txBox="1"/>
          <p:nvPr/>
        </p:nvSpPr>
        <p:spPr>
          <a:xfrm>
            <a:off x="7068312" y="4114800"/>
            <a:ext cx="3063240" cy="484632"/>
          </a:xfrm>
          <a:prstGeom prst="rect">
            <a:avLst/>
          </a:prstGeom>
          <a:noFill/>
        </p:spPr>
        <p:txBody>
          <a:bodyPr wrap="square" lIns="0" rIns="0" tIns="0" bIns="0" anchor="ctr">
            <a:spAutoFit/>
          </a:bodyPr>
          <a:lstStyle/>
          <a:p>
            <a:pPr algn="l">
              <a:spcAft>
                <a:spcPts val="0"/>
              </a:spcAft>
            </a:pPr>
            <a:r>
              <a:rPr sz="950" b="0" i="0">
                <a:solidFill>
                  <a:srgbClr val="000000"/>
                </a:solidFill>
              </a:rPr>
              <a:t>A clean transition by year-end: knowledge captured, ownership resolved, coverage in place.</a:t>
            </a:r>
          </a:p>
        </p:txBody>
      </p:sp>
      <p:sp>
        <p:nvSpPr>
          <p:cNvPr id="39" name="Rounded Rectangle 38"/>
          <p:cNvSpPr/>
          <p:nvPr/>
        </p:nvSpPr>
        <p:spPr>
          <a:xfrm>
            <a:off x="10290048" y="4206240"/>
            <a:ext cx="1188720" cy="274320"/>
          </a:xfrm>
          <a:prstGeom prst="roundRect">
            <a:avLst>
              <a:gd name="adj" fmla="val 50000"/>
            </a:avLst>
          </a:prstGeom>
          <a:solidFill>
            <a:srgbClr val="000000"/>
          </a:solidFill>
          <a:ln>
            <a:noFill/>
          </a:ln>
        </p:spPr>
        <p:txBody>
          <a:bodyPr rtlCol="0" anchor="ctr" lIns="0" rIns="0" tIns="0" bIns="0"/>
          <a:lstStyle/>
          <a:p>
            <a:pPr algn="ctr"/>
            <a:r>
              <a:rPr sz="800" b="1" i="0" cap="all" spc="60">
                <a:solidFill>
                  <a:srgbClr val="FFFFFF"/>
                </a:solidFill>
              </a:rPr>
              <a:t>FOCUS NOW</a:t>
            </a:r>
          </a:p>
        </p:txBody>
      </p:sp>
      <p:sp>
        <p:nvSpPr>
          <p:cNvPr id="40" name="Rounded Rectangle 39"/>
          <p:cNvSpPr/>
          <p:nvPr/>
        </p:nvSpPr>
        <p:spPr>
          <a:xfrm>
            <a:off x="530352" y="4640580"/>
            <a:ext cx="11131296" cy="4846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a:lstStyle/>
          <a:p>
            <a:pPr algn="ctr"/>
          </a:p>
        </p:txBody>
      </p:sp>
      <p:sp>
        <p:nvSpPr>
          <p:cNvPr id="41" name="TextBox 40"/>
          <p:cNvSpPr txBox="1"/>
          <p:nvPr/>
        </p:nvSpPr>
        <p:spPr>
          <a:xfrm>
            <a:off x="713232" y="4640580"/>
            <a:ext cx="457200" cy="484632"/>
          </a:xfrm>
          <a:prstGeom prst="rect">
            <a:avLst/>
          </a:prstGeom>
          <a:noFill/>
        </p:spPr>
        <p:txBody>
          <a:bodyPr wrap="square" lIns="0" rIns="0" tIns="0" bIns="0" anchor="ctr">
            <a:spAutoFit/>
          </a:bodyPr>
          <a:lstStyle/>
          <a:p>
            <a:pPr algn="l">
              <a:spcAft>
                <a:spcPts val="600"/>
              </a:spcAft>
            </a:pPr>
            <a:r>
              <a:rPr sz="1500" b="1" i="0">
                <a:solidFill>
                  <a:srgbClr val="000000"/>
                </a:solidFill>
              </a:rPr>
              <a:t>06</a:t>
            </a:r>
          </a:p>
        </p:txBody>
      </p:sp>
      <p:sp>
        <p:nvSpPr>
          <p:cNvPr id="42" name="TextBox 41"/>
          <p:cNvSpPr txBox="1"/>
          <p:nvPr/>
        </p:nvSpPr>
        <p:spPr>
          <a:xfrm>
            <a:off x="1188720" y="4640580"/>
            <a:ext cx="2194560" cy="484632"/>
          </a:xfrm>
          <a:prstGeom prst="rect">
            <a:avLst/>
          </a:prstGeom>
          <a:noFill/>
        </p:spPr>
        <p:txBody>
          <a:bodyPr wrap="square" lIns="0" rIns="0" tIns="0" bIns="0" anchor="ctr">
            <a:spAutoFit/>
          </a:bodyPr>
          <a:lstStyle/>
          <a:p>
            <a:pPr algn="l">
              <a:spcAft>
                <a:spcPts val="600"/>
              </a:spcAft>
            </a:pPr>
            <a:r>
              <a:rPr sz="1100" b="1" i="0">
                <a:solidFill>
                  <a:srgbClr val="000000"/>
                </a:solidFill>
              </a:rPr>
              <a:t>Intake Updates</a:t>
            </a:r>
          </a:p>
        </p:txBody>
      </p:sp>
      <p:sp>
        <p:nvSpPr>
          <p:cNvPr id="43" name="TextBox 42"/>
          <p:cNvSpPr txBox="1"/>
          <p:nvPr/>
        </p:nvSpPr>
        <p:spPr>
          <a:xfrm>
            <a:off x="3456432" y="4640580"/>
            <a:ext cx="3474720" cy="484632"/>
          </a:xfrm>
          <a:prstGeom prst="rect">
            <a:avLst/>
          </a:prstGeom>
          <a:noFill/>
        </p:spPr>
        <p:txBody>
          <a:bodyPr wrap="square" lIns="0" rIns="0" tIns="0" bIns="0" anchor="ctr">
            <a:spAutoFit/>
          </a:bodyPr>
          <a:lstStyle/>
          <a:p>
            <a:pPr algn="l">
              <a:spcAft>
                <a:spcPts val="0"/>
              </a:spcAft>
            </a:pPr>
            <a:r>
              <a:rPr sz="950" b="0" i="0">
                <a:solidFill>
                  <a:srgbClr val="000000"/>
                </a:solidFill>
              </a:rPr>
              <a:t>Upstream of Delivery Models — alias routing is live; SME case request tool and RACI updates underway to close adoption gaps.</a:t>
            </a:r>
          </a:p>
        </p:txBody>
      </p:sp>
      <p:sp>
        <p:nvSpPr>
          <p:cNvPr id="44" name="TextBox 43"/>
          <p:cNvSpPr txBox="1"/>
          <p:nvPr/>
        </p:nvSpPr>
        <p:spPr>
          <a:xfrm>
            <a:off x="7068312" y="4640580"/>
            <a:ext cx="3063240" cy="484632"/>
          </a:xfrm>
          <a:prstGeom prst="rect">
            <a:avLst/>
          </a:prstGeom>
          <a:noFill/>
        </p:spPr>
        <p:txBody>
          <a:bodyPr wrap="square" lIns="0" rIns="0" tIns="0" bIns="0" anchor="ctr">
            <a:spAutoFit/>
          </a:bodyPr>
          <a:lstStyle/>
          <a:p>
            <a:pPr algn="l">
              <a:spcAft>
                <a:spcPts val="0"/>
              </a:spcAft>
            </a:pPr>
            <a:r>
              <a:rPr sz="950" b="0" i="0">
                <a:solidFill>
                  <a:srgbClr val="000000"/>
                </a:solidFill>
              </a:rPr>
              <a:t>Requests reach the right BU SMEs through the alias, instead of going to known individuals.</a:t>
            </a:r>
          </a:p>
        </p:txBody>
      </p:sp>
      <p:sp>
        <p:nvSpPr>
          <p:cNvPr id="45" name="Rounded Rectangle 44"/>
          <p:cNvSpPr/>
          <p:nvPr/>
        </p:nvSpPr>
        <p:spPr>
          <a:xfrm>
            <a:off x="10290048" y="4732020"/>
            <a:ext cx="1188720" cy="274320"/>
          </a:xfrm>
          <a:prstGeom prst="roundRect">
            <a:avLst>
              <a:gd name="adj" fmla="val 50000"/>
            </a:avLst>
          </a:prstGeom>
          <a:solidFill>
            <a:srgbClr val="000000"/>
          </a:solidFill>
          <a:ln>
            <a:noFill/>
          </a:ln>
        </p:spPr>
        <p:txBody>
          <a:bodyPr rtlCol="0" anchor="ctr" lIns="0" rIns="0" tIns="0" bIns="0"/>
          <a:lstStyle/>
          <a:p>
            <a:pPr algn="ctr"/>
            <a:r>
              <a:rPr sz="800" b="1" i="0" cap="all" spc="60">
                <a:solidFill>
                  <a:srgbClr val="FFFFFF"/>
                </a:solidFill>
              </a:rPr>
              <a:t>IN MOTION</a:t>
            </a:r>
          </a:p>
        </p:txBody>
      </p:sp>
      <p:sp>
        <p:nvSpPr>
          <p:cNvPr id="46" name="Rounded Rectangle 45"/>
          <p:cNvSpPr/>
          <p:nvPr/>
        </p:nvSpPr>
        <p:spPr>
          <a:xfrm>
            <a:off x="530352" y="5166360"/>
            <a:ext cx="11131296" cy="4846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a:lstStyle/>
          <a:p>
            <a:pPr algn="ctr"/>
          </a:p>
        </p:txBody>
      </p:sp>
      <p:sp>
        <p:nvSpPr>
          <p:cNvPr id="47" name="TextBox 46"/>
          <p:cNvSpPr txBox="1"/>
          <p:nvPr/>
        </p:nvSpPr>
        <p:spPr>
          <a:xfrm>
            <a:off x="713232" y="5166360"/>
            <a:ext cx="457200" cy="484632"/>
          </a:xfrm>
          <a:prstGeom prst="rect">
            <a:avLst/>
          </a:prstGeom>
          <a:noFill/>
        </p:spPr>
        <p:txBody>
          <a:bodyPr wrap="square" lIns="0" rIns="0" tIns="0" bIns="0" anchor="ctr">
            <a:spAutoFit/>
          </a:bodyPr>
          <a:lstStyle/>
          <a:p>
            <a:pPr algn="l">
              <a:spcAft>
                <a:spcPts val="600"/>
              </a:spcAft>
            </a:pPr>
            <a:r>
              <a:rPr sz="1500" b="1" i="0">
                <a:solidFill>
                  <a:srgbClr val="000000"/>
                </a:solidFill>
              </a:rPr>
              <a:t>07</a:t>
            </a:r>
          </a:p>
        </p:txBody>
      </p:sp>
      <p:sp>
        <p:nvSpPr>
          <p:cNvPr id="48" name="TextBox 47"/>
          <p:cNvSpPr txBox="1"/>
          <p:nvPr/>
        </p:nvSpPr>
        <p:spPr>
          <a:xfrm>
            <a:off x="1188720" y="5166360"/>
            <a:ext cx="2194560" cy="484632"/>
          </a:xfrm>
          <a:prstGeom prst="rect">
            <a:avLst/>
          </a:prstGeom>
          <a:noFill/>
        </p:spPr>
        <p:txBody>
          <a:bodyPr wrap="square" lIns="0" rIns="0" tIns="0" bIns="0" anchor="ctr">
            <a:spAutoFit/>
          </a:bodyPr>
          <a:lstStyle/>
          <a:p>
            <a:pPr algn="l">
              <a:spcAft>
                <a:spcPts val="600"/>
              </a:spcAft>
            </a:pPr>
            <a:r>
              <a:rPr sz="1100" b="1" i="0">
                <a:solidFill>
                  <a:srgbClr val="000000"/>
                </a:solidFill>
              </a:rPr>
              <a:t>Ops Transformation: Rebuild Scoping &amp; Staffing</a:t>
            </a:r>
          </a:p>
        </p:txBody>
      </p:sp>
      <p:sp>
        <p:nvSpPr>
          <p:cNvPr id="49" name="TextBox 48"/>
          <p:cNvSpPr txBox="1"/>
          <p:nvPr/>
        </p:nvSpPr>
        <p:spPr>
          <a:xfrm>
            <a:off x="3456432" y="5166360"/>
            <a:ext cx="3474720" cy="484632"/>
          </a:xfrm>
          <a:prstGeom prst="rect">
            <a:avLst/>
          </a:prstGeom>
          <a:noFill/>
        </p:spPr>
        <p:txBody>
          <a:bodyPr wrap="square" lIns="0" rIns="0" tIns="0" bIns="0" anchor="ctr">
            <a:spAutoFit/>
          </a:bodyPr>
          <a:lstStyle/>
          <a:p>
            <a:pPr algn="l">
              <a:spcAft>
                <a:spcPts val="0"/>
              </a:spcAft>
            </a:pPr>
            <a:r>
              <a:rPr sz="950" b="0" i="0">
                <a:solidFill>
                  <a:srgbClr val="000000"/>
                </a:solidFill>
              </a:rPr>
              <a:t>Deliverables go in, and a timeline and staffing plan come out, with AI doing real work and learning from what we deliver.</a:t>
            </a:r>
          </a:p>
        </p:txBody>
      </p:sp>
      <p:sp>
        <p:nvSpPr>
          <p:cNvPr id="50" name="TextBox 49"/>
          <p:cNvSpPr txBox="1"/>
          <p:nvPr/>
        </p:nvSpPr>
        <p:spPr>
          <a:xfrm>
            <a:off x="7068312" y="5166360"/>
            <a:ext cx="3063240" cy="484632"/>
          </a:xfrm>
          <a:prstGeom prst="rect">
            <a:avLst/>
          </a:prstGeom>
          <a:noFill/>
        </p:spPr>
        <p:txBody>
          <a:bodyPr wrap="square" lIns="0" rIns="0" tIns="0" bIns="0" anchor="ctr">
            <a:spAutoFit/>
          </a:bodyPr>
          <a:lstStyle/>
          <a:p>
            <a:pPr algn="l">
              <a:spcAft>
                <a:spcPts val="0"/>
              </a:spcAft>
            </a:pPr>
            <a:r>
              <a:rPr sz="950" b="0" i="0">
                <a:solidFill>
                  <a:srgbClr val="000000"/>
                </a:solidFill>
              </a:rPr>
              <a:t>[To be defined. This is a new ask, and we are still working through it.]</a:t>
            </a:r>
          </a:p>
        </p:txBody>
      </p:sp>
      <p:sp>
        <p:nvSpPr>
          <p:cNvPr id="51" name="Rounded Rectangle 50"/>
          <p:cNvSpPr/>
          <p:nvPr/>
        </p:nvSpPr>
        <p:spPr>
          <a:xfrm>
            <a:off x="10290048" y="5257800"/>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TAKING SHAPE</a:t>
            </a:r>
          </a:p>
        </p:txBody>
      </p:sp>
      <p:sp>
        <p:nvSpPr>
          <p:cNvPr id="52" name="Rounded Rectangle 51"/>
          <p:cNvSpPr/>
          <p:nvPr/>
        </p:nvSpPr>
        <p:spPr>
          <a:xfrm>
            <a:off x="530352" y="5692140"/>
            <a:ext cx="11131296" cy="4846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a:lstStyle/>
          <a:p>
            <a:pPr algn="ctr"/>
          </a:p>
        </p:txBody>
      </p:sp>
      <p:sp>
        <p:nvSpPr>
          <p:cNvPr id="53" name="TextBox 52"/>
          <p:cNvSpPr txBox="1"/>
          <p:nvPr/>
        </p:nvSpPr>
        <p:spPr>
          <a:xfrm>
            <a:off x="713232" y="5692140"/>
            <a:ext cx="457200" cy="484632"/>
          </a:xfrm>
          <a:prstGeom prst="rect">
            <a:avLst/>
          </a:prstGeom>
          <a:noFill/>
        </p:spPr>
        <p:txBody>
          <a:bodyPr wrap="square" lIns="0" rIns="0" tIns="0" bIns="0" anchor="ctr">
            <a:spAutoFit/>
          </a:bodyPr>
          <a:lstStyle/>
          <a:p>
            <a:pPr algn="l">
              <a:spcAft>
                <a:spcPts val="600"/>
              </a:spcAft>
            </a:pPr>
            <a:r>
              <a:rPr sz="1500" b="1" i="0">
                <a:solidFill>
                  <a:srgbClr val="000000"/>
                </a:solidFill>
              </a:rPr>
              <a:t>08</a:t>
            </a:r>
          </a:p>
        </p:txBody>
      </p:sp>
      <p:sp>
        <p:nvSpPr>
          <p:cNvPr id="54" name="TextBox 53"/>
          <p:cNvSpPr txBox="1"/>
          <p:nvPr/>
        </p:nvSpPr>
        <p:spPr>
          <a:xfrm>
            <a:off x="1188720" y="5692140"/>
            <a:ext cx="2194560" cy="484632"/>
          </a:xfrm>
          <a:prstGeom prst="rect">
            <a:avLst/>
          </a:prstGeom>
          <a:noFill/>
        </p:spPr>
        <p:txBody>
          <a:bodyPr wrap="square" lIns="0" rIns="0" tIns="0" bIns="0" anchor="ctr">
            <a:spAutoFit/>
          </a:bodyPr>
          <a:lstStyle/>
          <a:p>
            <a:pPr algn="l">
              <a:spcAft>
                <a:spcPts val="600"/>
              </a:spcAft>
            </a:pPr>
            <a:r>
              <a:rPr sz="1100" b="1" i="0">
                <a:solidFill>
                  <a:srgbClr val="000000"/>
                </a:solidFill>
              </a:rPr>
              <a:t>Earlier Delivery &amp; Talent in Pursuits</a:t>
            </a:r>
          </a:p>
        </p:txBody>
      </p:sp>
      <p:sp>
        <p:nvSpPr>
          <p:cNvPr id="55" name="TextBox 54"/>
          <p:cNvSpPr txBox="1"/>
          <p:nvPr/>
        </p:nvSpPr>
        <p:spPr>
          <a:xfrm>
            <a:off x="3456432" y="5692140"/>
            <a:ext cx="3474720" cy="484632"/>
          </a:xfrm>
          <a:prstGeom prst="rect">
            <a:avLst/>
          </a:prstGeom>
          <a:noFill/>
        </p:spPr>
        <p:txBody>
          <a:bodyPr wrap="square" lIns="0" rIns="0" tIns="0" bIns="0" anchor="ctr">
            <a:spAutoFit/>
          </a:bodyPr>
          <a:lstStyle/>
          <a:p>
            <a:pPr algn="l">
              <a:spcAft>
                <a:spcPts val="0"/>
              </a:spcAft>
            </a:pPr>
            <a:r>
              <a:rPr sz="950" b="0" i="0">
                <a:solidFill>
                  <a:srgbClr val="000000"/>
                </a:solidFill>
              </a:rPr>
              <a:t>Bring SME expertise into upfront deal evaluation to lift our win rate on the deals we already capture.</a:t>
            </a:r>
          </a:p>
        </p:txBody>
      </p:sp>
      <p:sp>
        <p:nvSpPr>
          <p:cNvPr id="56" name="TextBox 55"/>
          <p:cNvSpPr txBox="1"/>
          <p:nvPr/>
        </p:nvSpPr>
        <p:spPr>
          <a:xfrm>
            <a:off x="7068312" y="5692140"/>
            <a:ext cx="3063240" cy="484632"/>
          </a:xfrm>
          <a:prstGeom prst="rect">
            <a:avLst/>
          </a:prstGeom>
          <a:noFill/>
        </p:spPr>
        <p:txBody>
          <a:bodyPr wrap="square" lIns="0" rIns="0" tIns="0" bIns="0" anchor="ctr">
            <a:spAutoFit/>
          </a:bodyPr>
          <a:lstStyle/>
          <a:p>
            <a:pPr algn="l">
              <a:spcAft>
                <a:spcPts val="0"/>
              </a:spcAft>
            </a:pPr>
            <a:r>
              <a:rPr sz="950" b="0" i="0">
                <a:solidFill>
                  <a:srgbClr val="000000"/>
                </a:solidFill>
              </a:rPr>
              <a:t>A higher win rate on the deal volume we're already capturing.</a:t>
            </a:r>
          </a:p>
        </p:txBody>
      </p:sp>
      <p:sp>
        <p:nvSpPr>
          <p:cNvPr id="57" name="Rounded Rectangle 56"/>
          <p:cNvSpPr/>
          <p:nvPr/>
        </p:nvSpPr>
        <p:spPr>
          <a:xfrm>
            <a:off x="10290048" y="5783580"/>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QUICK WIN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m_divider.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731520"/>
            <a:ext cx="6583680" cy="3239616"/>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1828800"/>
          </a:xfrm>
        </p:spPr>
        <p:txBody>
          <a:bodyPr anchor="t"/>
          <a:lstStyle/>
          <a:p>
            <a:r>
              <a:t>Deal-to-Delivery Playbook</a:t>
            </a:r>
          </a:p>
        </p:txBody>
      </p:sp>
      <p:sp>
        <p:nvSpPr>
          <p:cNvPr id="3" name="Text Placeholder 2"/>
          <p:cNvSpPr>
            <a:spLocks noGrp="1"/>
          </p:cNvSpPr>
          <p:nvPr>
            <p:ph type="body" idx="15" sz="quarter"/>
          </p:nvPr>
        </p:nvSpPr>
        <p:spPr>
          <a:xfrm>
            <a:off x="914400" y="932688"/>
            <a:ext cx="6400800" cy="292608"/>
          </a:xfrm>
        </p:spPr>
        <p:txBody>
          <a:bodyPr/>
          <a:lstStyle/>
          <a:p>
            <a:r>
              <a:t>PRIORITY 01</a:t>
            </a:r>
          </a:p>
        </p:txBody>
      </p:sp>
      <p:sp>
        <p:nvSpPr>
          <p:cNvPr id="7" name="TextBox 6"/>
          <p:cNvSpPr txBox="1"/>
          <p:nvPr/>
        </p:nvSpPr>
        <p:spPr>
          <a:xfrm>
            <a:off x="914400" y="3056736"/>
            <a:ext cx="5852160" cy="822960"/>
          </a:xfrm>
          <a:prstGeom prst="rect">
            <a:avLst/>
          </a:prstGeom>
          <a:noFill/>
        </p:spPr>
        <p:txBody>
          <a:bodyPr wrap="square" lIns="0" rIns="0" tIns="0" bIns="0" anchor="t">
            <a:spAutoFit/>
          </a:bodyPr>
          <a:lstStyle/>
          <a:p>
            <a:pPr algn="l">
              <a:spcAft>
                <a:spcPts val="600"/>
              </a:spcAft>
            </a:pPr>
            <a:r>
              <a:rPr sz="1800" b="0" i="0">
                <a:solidFill>
                  <a:srgbClr val="FFFFFF"/>
                </a:solidFill>
              </a:rPr>
              <a:t>Work is sold in shapes we cannot staff or deliver. One playbook ties delivery models, contracts, and methodology together.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530352" y="603504"/>
            <a:ext cx="6949440" cy="566928"/>
          </a:xfrm>
        </p:spPr>
        <p:txBody>
          <a:bodyPr/>
          <a:lstStyle/>
          <a:p>
            <a:r>
              <a:rPr sz="2800"/>
              <a:t>Deal-to-Delivery Playbook</a:t>
            </a:r>
          </a:p>
        </p:txBody>
      </p:sp>
      <p:sp>
        <p:nvSpPr>
          <p:cNvPr id="4" name="Text Placeholder 3"/>
          <p:cNvSpPr>
            <a:spLocks noGrp="1"/>
          </p:cNvSpPr>
          <p:nvPr>
            <p:ph type="body" idx="12" sz="quarter"/>
          </p:nvPr>
        </p:nvSpPr>
        <p:spPr>
          <a:xfrm>
            <a:off x="530352" y="384048"/>
            <a:ext cx="6949440" cy="182880"/>
          </a:xfrm>
        </p:spPr>
        <p:txBody>
          <a:bodyPr/>
          <a:lstStyle/>
          <a:p>
            <a:r>
              <a:t>PRIORITY 01 · DEAL-TO-DELIVERY PLAYBOOK · ONE-PAGER</a:t>
            </a:r>
          </a:p>
        </p:txBody>
      </p:sp>
      <p:sp>
        <p:nvSpPr>
          <p:cNvPr id="5" name="Rounded Rectangle 4"/>
          <p:cNvSpPr/>
          <p:nvPr/>
        </p:nvSpPr>
        <p:spPr>
          <a:xfrm>
            <a:off x="10427208" y="566928"/>
            <a:ext cx="1234440" cy="310896"/>
          </a:xfrm>
          <a:prstGeom prst="roundRect">
            <a:avLst>
              <a:gd name="adj" fmla="val 50000"/>
            </a:avLst>
          </a:prstGeom>
          <a:solidFill>
            <a:srgbClr val="000000"/>
          </a:solidFill>
          <a:ln>
            <a:noFill/>
          </a:ln>
        </p:spPr>
        <p:txBody>
          <a:bodyPr rtlCol="0" anchor="ctr" lIns="0" rIns="0" tIns="0" bIns="0"/>
          <a:lstStyle/>
          <a:p>
            <a:pPr algn="ctr"/>
            <a:r>
              <a:rPr sz="900" b="1" i="0" cap="all" spc="60">
                <a:solidFill>
                  <a:srgbClr val="FFFFFF"/>
                </a:solidFill>
              </a:rPr>
              <a:t>FOCUS NOW</a:t>
            </a:r>
          </a:p>
        </p:txBody>
      </p:sp>
      <p:sp>
        <p:nvSpPr>
          <p:cNvPr id="6" name="TextBox 5"/>
          <p:cNvSpPr txBox="1"/>
          <p:nvPr/>
        </p:nvSpPr>
        <p:spPr>
          <a:xfrm>
            <a:off x="7089648" y="365760"/>
            <a:ext cx="3200400" cy="502920"/>
          </a:xfrm>
          <a:prstGeom prst="rect">
            <a:avLst/>
          </a:prstGeom>
          <a:noFill/>
        </p:spPr>
        <p:txBody>
          <a:bodyPr wrap="square" lIns="0" rIns="0" tIns="0" bIns="0" anchor="t">
            <a:spAutoFit/>
          </a:bodyPr>
          <a:lstStyle/>
          <a:p>
            <a:pPr algn="r">
              <a:spcAft>
                <a:spcPts val="100"/>
              </a:spcAft>
            </a:pPr>
            <a:r>
              <a:rPr sz="850" b="1" i="0" cap="all" spc="100">
                <a:solidFill>
                  <a:srgbClr val="60607D"/>
                </a:solidFill>
              </a:rPr>
              <a:t>Owner(s)</a:t>
            </a:r>
          </a:p>
          <a:p>
            <a:pPr algn="r">
              <a:spcAft>
                <a:spcPts val="600"/>
              </a:spcAft>
            </a:pPr>
            <a:r>
              <a:rPr sz="1050" b="0" i="0">
                <a:solidFill>
                  <a:srgbClr val="000000"/>
                </a:solidFill>
              </a:rPr>
              <a:t>Missy Foristall, Chris McComas, Deana Derocha</a:t>
            </a:r>
          </a:p>
        </p:txBody>
      </p:sp>
      <p:sp>
        <p:nvSpPr>
          <p:cNvPr id="7" name="Rounded Rectangle 6"/>
          <p:cNvSpPr/>
          <p:nvPr/>
        </p:nvSpPr>
        <p:spPr>
          <a:xfrm>
            <a:off x="530352" y="1371600"/>
            <a:ext cx="3618992" cy="22402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82880" tIns="155448" rIns="182880" bIns="91440"/>
          <a:lstStyle/>
          <a:p>
            <a:pPr algn="l">
              <a:spcAft>
                <a:spcPts val="600"/>
              </a:spcAft>
            </a:pPr>
            <a:r>
              <a:rPr sz="1100" b="1" i="0" cap="all" spc="60">
                <a:solidFill>
                  <a:srgbClr val="000000"/>
                </a:solidFill>
              </a:rPr>
              <a:t>Why now</a:t>
            </a:r>
          </a:p>
          <a:p>
            <a:pPr algn="l">
              <a:spcAft>
                <a:spcPts val="600"/>
              </a:spcAft>
            </a:pPr>
            <a:r>
              <a:rPr sz="1350" b="0" i="0">
                <a:solidFill>
                  <a:srgbClr val="000000"/>
                </a:solidFill>
              </a:rPr>
              <a:t>Work is being sold in shapes we cannot staff or deliver, and that's costing us today — not a future risk.</a:t>
            </a:r>
          </a:p>
        </p:txBody>
      </p:sp>
      <p:sp>
        <p:nvSpPr>
          <p:cNvPr id="8" name="Rounded Rectangle 7"/>
          <p:cNvSpPr/>
          <p:nvPr/>
        </p:nvSpPr>
        <p:spPr>
          <a:xfrm>
            <a:off x="4286504" y="1371600"/>
            <a:ext cx="3618992" cy="22402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82880" tIns="155448" rIns="182880" bIns="91440"/>
          <a:lstStyle/>
          <a:p>
            <a:pPr algn="l">
              <a:spcAft>
                <a:spcPts val="600"/>
              </a:spcAft>
            </a:pPr>
            <a:r>
              <a:rPr sz="1100" b="1" i="0" cap="all" spc="60">
                <a:solidFill>
                  <a:srgbClr val="000000"/>
                </a:solidFill>
              </a:rPr>
              <a:t>What has been accomplished</a:t>
            </a:r>
          </a:p>
          <a:p>
            <a:pPr algn="l" marL="171450" indent="-171450">
              <a:spcAft>
                <a:spcPts val="600"/>
              </a:spcAft>
              <a:buFont typeface="Arial"/>
              <a:buChar char="•"/>
            </a:pPr>
            <a:r>
              <a:rPr sz="1350" b="0" i="0">
                <a:solidFill>
                  <a:srgbClr val="000000"/>
                </a:solidFill>
              </a:rPr>
              <a:t>Problem statement and recommendation drafted (Sept 16).</a:t>
            </a:r>
          </a:p>
          <a:p>
            <a:pPr algn="l" marL="171450" indent="-171450">
              <a:spcAft>
                <a:spcPts val="600"/>
              </a:spcAft>
              <a:buFont typeface="Arial"/>
              <a:buChar char="•"/>
            </a:pPr>
            <a:r>
              <a:rPr sz="1350" b="0" i="0">
                <a:solidFill>
                  <a:srgbClr val="000000"/>
                </a:solidFill>
              </a:rPr>
              <a:t>Four model examples defined (Sept 16).</a:t>
            </a:r>
          </a:p>
          <a:p>
            <a:pPr algn="l" marL="171450" indent="-171450">
              <a:spcAft>
                <a:spcPts val="600"/>
              </a:spcAft>
              <a:buFont typeface="Arial"/>
              <a:buChar char="•"/>
            </a:pPr>
            <a:r>
              <a:rPr sz="1350" b="0" i="0">
                <a:solidFill>
                  <a:srgbClr val="000000"/>
                </a:solidFill>
              </a:rPr>
              <a:t>Draft models gathered (Oct 16).</a:t>
            </a:r>
          </a:p>
        </p:txBody>
      </p:sp>
      <p:sp>
        <p:nvSpPr>
          <p:cNvPr id="9" name="Rounded Rectangle 8"/>
          <p:cNvSpPr/>
          <p:nvPr/>
        </p:nvSpPr>
        <p:spPr>
          <a:xfrm>
            <a:off x="8042656" y="1371600"/>
            <a:ext cx="3618992" cy="22402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82880" tIns="155448" rIns="182880" bIns="91440"/>
          <a:lstStyle/>
          <a:p>
            <a:pPr algn="l">
              <a:spcAft>
                <a:spcPts val="600"/>
              </a:spcAft>
            </a:pPr>
            <a:r>
              <a:rPr sz="1100" b="1" i="0" cap="all" spc="60">
                <a:solidFill>
                  <a:srgbClr val="000000"/>
                </a:solidFill>
              </a:rPr>
              <a:t>Next milestones</a:t>
            </a:r>
          </a:p>
          <a:p>
            <a:pPr algn="l" marL="171450" indent="-171450">
              <a:spcAft>
                <a:spcPts val="600"/>
              </a:spcAft>
              <a:buFont typeface="Arial"/>
              <a:buChar char="•"/>
            </a:pPr>
            <a:r>
              <a:rPr sz="1350" b="0" i="0">
                <a:solidFill>
                  <a:srgbClr val="000000"/>
                </a:solidFill>
              </a:rPr>
              <a:t>Base Model rationalization across groups: week of Oct 26.</a:t>
            </a:r>
          </a:p>
          <a:p>
            <a:pPr algn="l" marL="171450" indent="-171450">
              <a:spcAft>
                <a:spcPts val="600"/>
              </a:spcAft>
              <a:buFont typeface="Arial"/>
              <a:buChar char="•"/>
            </a:pPr>
            <a:r>
              <a:rPr sz="1350" b="0" i="0">
                <a:solidFill>
                  <a:srgbClr val="000000"/>
                </a:solidFill>
              </a:rPr>
              <a:t>Initial Models Well Defined: Oct 23, shifting to Nov 6.</a:t>
            </a:r>
          </a:p>
          <a:p>
            <a:pPr algn="l" marL="171450" indent="-171450">
              <a:spcAft>
                <a:spcPts val="600"/>
              </a:spcAft>
              <a:buFont typeface="Arial"/>
              <a:buChar char="•"/>
            </a:pPr>
            <a:r>
              <a:rPr sz="1350" b="0" i="0">
                <a:solidFill>
                  <a:srgbClr val="000000"/>
                </a:solidFill>
              </a:rPr>
              <a:t>1st Batch of Models &amp; Program "Stack" Guidance: Nov 13.</a:t>
            </a:r>
          </a:p>
        </p:txBody>
      </p:sp>
      <p:sp>
        <p:nvSpPr>
          <p:cNvPr id="10" name="Rounded Rectangle 9"/>
          <p:cNvSpPr/>
          <p:nvPr/>
        </p:nvSpPr>
        <p:spPr>
          <a:xfrm>
            <a:off x="530352" y="3749040"/>
            <a:ext cx="11131296" cy="150876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182880" tIns="155448" rIns="182880" bIns="91440"/>
          <a:lstStyle/>
          <a:p>
            <a:pPr algn="l">
              <a:spcAft>
                <a:spcPts val="600"/>
              </a:spcAft>
            </a:pPr>
            <a:r>
              <a:rPr sz="1100" b="1" i="0" cap="all" spc="60">
                <a:solidFill>
                  <a:srgbClr val="D6D6DF"/>
                </a:solidFill>
              </a:rPr>
              <a:t>What is in our way / what we need from you</a:t>
            </a:r>
          </a:p>
          <a:p>
            <a:pPr algn="l" marL="171450" indent="-171450">
              <a:spcAft>
                <a:spcPts val="600"/>
              </a:spcAft>
              <a:buFont typeface="Arial"/>
              <a:buChar char="•"/>
            </a:pPr>
            <a:r>
              <a:rPr sz="1350" b="0" i="0">
                <a:solidFill>
                  <a:srgbClr val="FFFFFF"/>
                </a:solidFill>
              </a:rPr>
              <a:t>Alignment on base model set (Delivery/Ops, Legal and Finance) and on model definition.</a:t>
            </a:r>
          </a:p>
          <a:p>
            <a:pPr algn="l" marL="171450" indent="-171450">
              <a:spcAft>
                <a:spcPts val="600"/>
              </a:spcAft>
              <a:buFont typeface="Arial"/>
              <a:buChar char="•"/>
            </a:pPr>
            <a:r>
              <a:rPr sz="1350" b="0" i="0">
                <a:solidFill>
                  <a:srgbClr val="FFFFFF"/>
                </a:solidFill>
              </a:rPr>
              <a:t>SME feedback, and intake routing.</a:t>
            </a:r>
          </a:p>
          <a:p>
            <a:pPr algn="l" marL="171450" indent="-171450">
              <a:spcAft>
                <a:spcPts val="600"/>
              </a:spcAft>
              <a:buFont typeface="Arial"/>
              <a:buChar char="•"/>
            </a:pPr>
            <a:r>
              <a:rPr sz="1350" b="0" i="0">
                <a:solidFill>
                  <a:srgbClr val="FFFFFF"/>
                </a:solidFill>
              </a:rPr>
              <a:t>Everyone needs to lean in, support development of, and use these models. Participate, provide insights, give feedback, and embrace this initiative.</a:t>
            </a:r>
          </a:p>
        </p:txBody>
      </p:sp>
      <p:sp>
        <p:nvSpPr>
          <p:cNvPr id="11" name="Rounded Rectangle 10"/>
          <p:cNvSpPr/>
          <p:nvPr/>
        </p:nvSpPr>
        <p:spPr>
          <a:xfrm>
            <a:off x="530352" y="5394960"/>
            <a:ext cx="11131296" cy="713232"/>
          </a:xfrm>
          <a:prstGeom prst="roundRect">
            <a:avLst>
              <a:gd name="adj" fmla="val 9000"/>
            </a:avLst>
          </a:prstGeom>
          <a:solidFill>
            <a:srgbClr val="FFFFFF"/>
          </a:solidFill>
          <a:ln w="19050">
            <a:solidFill>
              <a:srgbClr val="000000"/>
            </a:solidFill>
          </a:ln>
        </p:spPr>
        <p:txBody>
          <a:bodyPr rtlCol="0" anchor="ctr" wrap="square" lIns="274320" rIns="274320" tIns="36576" bIns="36576"/>
          <a:lstStyle/>
          <a:p>
            <a:pPr algn="ctr"/>
            <a:r>
              <a:rPr sz="900" b="1" i="0" cap="all" spc="100">
                <a:solidFill>
                  <a:srgbClr val="60607D"/>
                </a:solidFill>
              </a:rPr>
              <a:t>KEY TAKEAWAY   </a:t>
            </a:r>
            <a:r>
              <a:rPr sz="1400" b="1" i="0">
                <a:solidFill>
                  <a:srgbClr val="000000"/>
                </a:solidFill>
              </a:rPr>
              <a:t>If we do nothing else, we must stop selling what we cannot properly deliver.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530352" y="603504"/>
            <a:ext cx="6949440" cy="566928"/>
          </a:xfrm>
        </p:spPr>
        <p:txBody>
          <a:bodyPr/>
          <a:lstStyle/>
          <a:p>
            <a:r>
              <a:rPr sz="2800"/>
              <a:t>Who and how</a:t>
            </a:r>
          </a:p>
        </p:txBody>
      </p:sp>
      <p:sp>
        <p:nvSpPr>
          <p:cNvPr id="4" name="Text Placeholder 3"/>
          <p:cNvSpPr>
            <a:spLocks noGrp="1"/>
          </p:cNvSpPr>
          <p:nvPr>
            <p:ph type="body" idx="12" sz="quarter"/>
          </p:nvPr>
        </p:nvSpPr>
        <p:spPr>
          <a:xfrm>
            <a:off x="530352" y="384048"/>
            <a:ext cx="6949440" cy="182880"/>
          </a:xfrm>
        </p:spPr>
        <p:txBody>
          <a:bodyPr/>
          <a:lstStyle/>
          <a:p>
            <a:r>
              <a:t>PRIORITY 01 · DEAL-TO-DELIVERY PLAYBOOK · WHO AND HOW</a:t>
            </a:r>
          </a:p>
        </p:txBody>
      </p:sp>
      <p:sp>
        <p:nvSpPr>
          <p:cNvPr id="5" name="Rounded Rectangle 4"/>
          <p:cNvSpPr/>
          <p:nvPr/>
        </p:nvSpPr>
        <p:spPr>
          <a:xfrm>
            <a:off x="10427208" y="566928"/>
            <a:ext cx="1234440" cy="310896"/>
          </a:xfrm>
          <a:prstGeom prst="roundRect">
            <a:avLst>
              <a:gd name="adj" fmla="val 50000"/>
            </a:avLst>
          </a:prstGeom>
          <a:solidFill>
            <a:srgbClr val="000000"/>
          </a:solidFill>
          <a:ln>
            <a:noFill/>
          </a:ln>
        </p:spPr>
        <p:txBody>
          <a:bodyPr rtlCol="0" anchor="ctr" lIns="0" rIns="0" tIns="0" bIns="0"/>
          <a:lstStyle/>
          <a:p>
            <a:pPr algn="ctr"/>
            <a:r>
              <a:rPr sz="900" b="1" i="0" cap="all" spc="60">
                <a:solidFill>
                  <a:srgbClr val="FFFFFF"/>
                </a:solidFill>
              </a:rPr>
              <a:t>FOCUS NOW</a:t>
            </a:r>
          </a:p>
        </p:txBody>
      </p:sp>
      <p:sp>
        <p:nvSpPr>
          <p:cNvPr id="6" name="TextBox 5"/>
          <p:cNvSpPr txBox="1"/>
          <p:nvPr/>
        </p:nvSpPr>
        <p:spPr>
          <a:xfrm>
            <a:off x="7089648" y="365760"/>
            <a:ext cx="3200400" cy="502920"/>
          </a:xfrm>
          <a:prstGeom prst="rect">
            <a:avLst/>
          </a:prstGeom>
          <a:noFill/>
        </p:spPr>
        <p:txBody>
          <a:bodyPr wrap="square" lIns="0" rIns="0" tIns="0" bIns="0" anchor="t">
            <a:spAutoFit/>
          </a:bodyPr>
          <a:lstStyle/>
          <a:p>
            <a:pPr algn="r">
              <a:spcAft>
                <a:spcPts val="100"/>
              </a:spcAft>
            </a:pPr>
            <a:r>
              <a:rPr sz="850" b="1" i="0" cap="all" spc="100">
                <a:solidFill>
                  <a:srgbClr val="60607D"/>
                </a:solidFill>
              </a:rPr>
              <a:t>Owner(s)</a:t>
            </a:r>
          </a:p>
          <a:p>
            <a:pPr algn="r">
              <a:spcAft>
                <a:spcPts val="600"/>
              </a:spcAft>
            </a:pPr>
            <a:r>
              <a:rPr sz="1050" b="0" i="0">
                <a:solidFill>
                  <a:srgbClr val="000000"/>
                </a:solidFill>
              </a:rPr>
              <a:t>Missy Foristall, Chris McComas, Deana Derocha</a:t>
            </a:r>
          </a:p>
        </p:txBody>
      </p:sp>
      <p:sp>
        <p:nvSpPr>
          <p:cNvPr id="7" name="Rounded Rectangle 6"/>
          <p:cNvSpPr/>
          <p:nvPr/>
        </p:nvSpPr>
        <p:spPr>
          <a:xfrm>
            <a:off x="530352" y="1371600"/>
            <a:ext cx="3749039" cy="45262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82880" tIns="155448" rIns="182880" bIns="91440"/>
          <a:lstStyle/>
          <a:p>
            <a:pPr algn="l">
              <a:spcAft>
                <a:spcPts val="600"/>
              </a:spcAft>
            </a:pPr>
            <a:r>
              <a:rPr sz="1100" b="1" i="0" cap="all" spc="60">
                <a:solidFill>
                  <a:srgbClr val="000000"/>
                </a:solidFill>
              </a:rPr>
              <a:t>The team</a:t>
            </a:r>
          </a:p>
          <a:p>
            <a:pPr algn="l">
              <a:spcAft>
                <a:spcPts val="100"/>
              </a:spcAft>
            </a:pPr>
            <a:r>
              <a:rPr sz="850" b="1" i="0" cap="all" spc="100">
                <a:solidFill>
                  <a:srgbClr val="60607D"/>
                </a:solidFill>
              </a:rPr>
              <a:t>Owners</a:t>
            </a:r>
          </a:p>
          <a:p>
            <a:pPr algn="l">
              <a:spcAft>
                <a:spcPts val="600"/>
              </a:spcAft>
            </a:pPr>
            <a:r>
              <a:rPr sz="1300" b="0" i="0">
                <a:solidFill>
                  <a:srgbClr val="000000"/>
                </a:solidFill>
              </a:rPr>
              <a:t>Missy Foristall, Chris McComas, Deana Derocha</a:t>
            </a:r>
          </a:p>
          <a:p>
            <a:pPr algn="l">
              <a:spcAft>
                <a:spcPts val="100"/>
              </a:spcAft>
            </a:pPr>
            <a:r>
              <a:rPr sz="850" b="1" i="0" cap="all" spc="100">
                <a:solidFill>
                  <a:srgbClr val="60607D"/>
                </a:solidFill>
              </a:rPr>
              <a:t>Working on it now</a:t>
            </a:r>
          </a:p>
          <a:p>
            <a:pPr algn="l">
              <a:spcAft>
                <a:spcPts val="600"/>
              </a:spcAft>
            </a:pPr>
            <a:r>
              <a:rPr sz="1300" b="0" i="0">
                <a:solidFill>
                  <a:srgbClr val="000000"/>
                </a:solidFill>
              </a:rPr>
              <a:t>John and Chris are pulling together the problem statement, dependencies, size, and recommendation for the three MVP stories.</a:t>
            </a:r>
          </a:p>
          <a:p>
            <a:pPr algn="l">
              <a:spcAft>
                <a:spcPts val="100"/>
              </a:spcAft>
            </a:pPr>
            <a:r>
              <a:rPr sz="850" b="1" i="0" cap="all" spc="100">
                <a:solidFill>
                  <a:srgbClr val="60607D"/>
                </a:solidFill>
              </a:rPr>
              <a:t>Partners &amp; stakeholders</a:t>
            </a:r>
          </a:p>
          <a:p>
            <a:pPr algn="l">
              <a:spcAft>
                <a:spcPts val="600"/>
              </a:spcAft>
            </a:pPr>
            <a:r>
              <a:rPr sz="1300" b="0" i="0">
                <a:solidFill>
                  <a:srgbClr val="000000"/>
                </a:solidFill>
              </a:rPr>
              <a:t>BU COOs and Delivery Leads partner directly with Enterprise Project Management, Client &amp; Commercial teams, and Finance to build this playbook together.</a:t>
            </a:r>
          </a:p>
        </p:txBody>
      </p:sp>
      <p:sp>
        <p:nvSpPr>
          <p:cNvPr id="8" name="TextBox 7"/>
          <p:cNvSpPr txBox="1"/>
          <p:nvPr/>
        </p:nvSpPr>
        <p:spPr>
          <a:xfrm>
            <a:off x="4416551" y="1371600"/>
            <a:ext cx="7245097" cy="228600"/>
          </a:xfrm>
          <a:prstGeom prst="rect">
            <a:avLst/>
          </a:prstGeom>
          <a:noFill/>
        </p:spPr>
        <p:txBody>
          <a:bodyPr wrap="square" lIns="0" rIns="0" tIns="0" bIns="0" anchor="t">
            <a:spAutoFit/>
          </a:bodyPr>
          <a:lstStyle/>
          <a:p>
            <a:pPr algn="l">
              <a:spcAft>
                <a:spcPts val="600"/>
              </a:spcAft>
            </a:pPr>
            <a:r>
              <a:rPr sz="1100" b="1" i="0" cap="all" spc="60">
                <a:solidFill>
                  <a:srgbClr val="000000"/>
                </a:solidFill>
              </a:rPr>
              <a:t>How we're approaching it</a:t>
            </a:r>
          </a:p>
        </p:txBody>
      </p:sp>
      <p:sp>
        <p:nvSpPr>
          <p:cNvPr id="9" name="TextBox 8"/>
          <p:cNvSpPr txBox="1"/>
          <p:nvPr/>
        </p:nvSpPr>
        <p:spPr>
          <a:xfrm>
            <a:off x="4416551" y="1645920"/>
            <a:ext cx="7245097" cy="457200"/>
          </a:xfrm>
          <a:prstGeom prst="rect">
            <a:avLst/>
          </a:prstGeom>
          <a:noFill/>
        </p:spPr>
        <p:txBody>
          <a:bodyPr wrap="square" lIns="0" rIns="0" tIns="0" bIns="0" anchor="t">
            <a:spAutoFit/>
          </a:bodyPr>
          <a:lstStyle/>
          <a:p>
            <a:pPr algn="l">
              <a:spcAft>
                <a:spcPts val="600"/>
              </a:spcAft>
            </a:pPr>
            <a:r>
              <a:rPr sz="1300" b="0" i="0">
                <a:solidFill>
                  <a:srgbClr val="000000"/>
                </a:solidFill>
              </a:rPr>
              <a:t>Three stories, not one, because all three must work together for this to work.</a:t>
            </a:r>
          </a:p>
        </p:txBody>
      </p:sp>
      <p:sp>
        <p:nvSpPr>
          <p:cNvPr id="10" name="Rounded Rectangle 9"/>
          <p:cNvSpPr/>
          <p:nvPr/>
        </p:nvSpPr>
        <p:spPr>
          <a:xfrm>
            <a:off x="4416551" y="2148840"/>
            <a:ext cx="2323592" cy="26060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82880" tIns="155448" rIns="182880" bIns="91440"/>
          <a:lstStyle/>
          <a:p>
            <a:pPr algn="l">
              <a:spcAft>
                <a:spcPts val="100"/>
              </a:spcAft>
            </a:pPr>
            <a:r>
              <a:rPr sz="850" b="1" i="0" cap="all" spc="100">
                <a:solidFill>
                  <a:srgbClr val="60607D"/>
                </a:solidFill>
              </a:rPr>
              <a:t>Story 1</a:t>
            </a:r>
          </a:p>
          <a:p>
            <a:pPr algn="l">
              <a:spcBef>
                <a:spcPts val="500"/>
              </a:spcBef>
              <a:spcAft>
                <a:spcPts val="200"/>
              </a:spcAft>
            </a:pPr>
            <a:r>
              <a:rPr sz="1300" b="1" i="0">
                <a:solidFill>
                  <a:srgbClr val="000000"/>
                </a:solidFill>
              </a:rPr>
              <a:t>Delivery Models</a:t>
            </a:r>
          </a:p>
          <a:p>
            <a:pPr algn="l">
              <a:spcAft>
                <a:spcPts val="600"/>
              </a:spcAft>
            </a:pPr>
            <a:r>
              <a:rPr sz="1300" b="0" i="0">
                <a:solidFill>
                  <a:srgbClr val="000000"/>
                </a:solidFill>
              </a:rPr>
              <a:t>Every deal categorized at qualification into one of 5-6 core models, so pricing and staffing follow a known shape.</a:t>
            </a:r>
          </a:p>
        </p:txBody>
      </p:sp>
      <p:sp>
        <p:nvSpPr>
          <p:cNvPr id="11" name="Rounded Rectangle 10"/>
          <p:cNvSpPr/>
          <p:nvPr/>
        </p:nvSpPr>
        <p:spPr>
          <a:xfrm>
            <a:off x="6877303" y="2148840"/>
            <a:ext cx="2323592" cy="26060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82880" tIns="155448" rIns="182880" bIns="91440"/>
          <a:lstStyle/>
          <a:p>
            <a:pPr algn="l">
              <a:spcAft>
                <a:spcPts val="100"/>
              </a:spcAft>
            </a:pPr>
            <a:r>
              <a:rPr sz="850" b="1" i="0" cap="all" spc="100">
                <a:solidFill>
                  <a:srgbClr val="60607D"/>
                </a:solidFill>
              </a:rPr>
              <a:t>Story 2</a:t>
            </a:r>
          </a:p>
          <a:p>
            <a:pPr algn="l">
              <a:spcBef>
                <a:spcPts val="500"/>
              </a:spcBef>
              <a:spcAft>
                <a:spcPts val="200"/>
              </a:spcAft>
            </a:pPr>
            <a:r>
              <a:rPr sz="1300" b="1" i="0">
                <a:solidFill>
                  <a:srgbClr val="000000"/>
                </a:solidFill>
              </a:rPr>
              <a:t>Contracts</a:t>
            </a:r>
          </a:p>
          <a:p>
            <a:pPr algn="l">
              <a:spcAft>
                <a:spcPts val="600"/>
              </a:spcAft>
            </a:pPr>
            <a:r>
              <a:rPr sz="1300" b="0" i="0">
                <a:solidFill>
                  <a:srgbClr val="000000"/>
                </a:solidFill>
              </a:rPr>
              <a:t>Terms, scope language, and billing matched to the chosen model — no more fixed price with no scope control.</a:t>
            </a:r>
          </a:p>
        </p:txBody>
      </p:sp>
      <p:sp>
        <p:nvSpPr>
          <p:cNvPr id="12" name="Rounded Rectangle 11"/>
          <p:cNvSpPr/>
          <p:nvPr/>
        </p:nvSpPr>
        <p:spPr>
          <a:xfrm>
            <a:off x="9338055" y="2148840"/>
            <a:ext cx="2323592" cy="26060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82880" tIns="155448" rIns="182880" bIns="91440"/>
          <a:lstStyle/>
          <a:p>
            <a:pPr algn="l">
              <a:spcAft>
                <a:spcPts val="100"/>
              </a:spcAft>
            </a:pPr>
            <a:r>
              <a:rPr sz="850" b="1" i="0" cap="all" spc="100">
                <a:solidFill>
                  <a:srgbClr val="60607D"/>
                </a:solidFill>
              </a:rPr>
              <a:t>Story 3</a:t>
            </a:r>
          </a:p>
          <a:p>
            <a:pPr algn="l">
              <a:spcBef>
                <a:spcPts val="500"/>
              </a:spcBef>
              <a:spcAft>
                <a:spcPts val="200"/>
              </a:spcAft>
            </a:pPr>
            <a:r>
              <a:rPr sz="1300" b="1" i="0">
                <a:solidFill>
                  <a:srgbClr val="000000"/>
                </a:solidFill>
              </a:rPr>
              <a:t>Methodology Standards</a:t>
            </a:r>
          </a:p>
          <a:p>
            <a:pPr algn="l">
              <a:spcAft>
                <a:spcPts val="600"/>
              </a:spcAft>
            </a:pPr>
            <a:r>
              <a:rPr sz="1300" b="0" i="0">
                <a:solidFill>
                  <a:srgbClr val="000000"/>
                </a:solidFill>
              </a:rPr>
              <a:t>Clear working practices, so we guide clients into how we work instead of inheriting whatever mix they bring.</a:t>
            </a:r>
          </a:p>
        </p:txBody>
      </p:sp>
      <p:sp>
        <p:nvSpPr>
          <p:cNvPr id="13" name="Rounded Rectangle 12"/>
          <p:cNvSpPr/>
          <p:nvPr/>
        </p:nvSpPr>
        <p:spPr>
          <a:xfrm>
            <a:off x="4416551" y="4892040"/>
            <a:ext cx="7245097" cy="100584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182880" tIns="155448" rIns="182880" bIns="91440"/>
          <a:lstStyle/>
          <a:p>
            <a:pPr algn="l">
              <a:spcAft>
                <a:spcPts val="100"/>
              </a:spcAft>
            </a:pPr>
            <a:r>
              <a:rPr sz="850" b="1" i="0" cap="all" spc="100">
                <a:solidFill>
                  <a:srgbClr val="D6D6DF"/>
                </a:solidFill>
              </a:rPr>
              <a:t>Then</a:t>
            </a:r>
          </a:p>
          <a:p>
            <a:pPr algn="l">
              <a:spcAft>
                <a:spcPts val="600"/>
              </a:spcAft>
            </a:pPr>
            <a:r>
              <a:rPr sz="1300" b="0" i="0">
                <a:solidFill>
                  <a:srgbClr val="FFFFFF"/>
                </a:solidFill>
              </a:rPr>
              <a:t>Supported by AI: Estimation, Pricing, and Staffing follow once the MVP is solid.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530352" y="603504"/>
            <a:ext cx="6949440" cy="566928"/>
          </a:xfrm>
        </p:spPr>
        <p:txBody>
          <a:bodyPr/>
          <a:lstStyle/>
          <a:p>
            <a:r>
              <a:rPr sz="2800"/>
              <a:t>How we'll know it's working</a:t>
            </a:r>
          </a:p>
        </p:txBody>
      </p:sp>
      <p:sp>
        <p:nvSpPr>
          <p:cNvPr id="4" name="Text Placeholder 3"/>
          <p:cNvSpPr>
            <a:spLocks noGrp="1"/>
          </p:cNvSpPr>
          <p:nvPr>
            <p:ph type="body" idx="12" sz="quarter"/>
          </p:nvPr>
        </p:nvSpPr>
        <p:spPr>
          <a:xfrm>
            <a:off x="530352" y="384048"/>
            <a:ext cx="6949440" cy="182880"/>
          </a:xfrm>
        </p:spPr>
        <p:txBody>
          <a:bodyPr/>
          <a:lstStyle/>
          <a:p>
            <a:r>
              <a:t>PRIORITY 01 · DEAL-TO-DELIVERY PLAYBOOK · HOW WE'LL KNOW</a:t>
            </a:r>
          </a:p>
        </p:txBody>
      </p:sp>
      <p:sp>
        <p:nvSpPr>
          <p:cNvPr id="5" name="Rounded Rectangle 4"/>
          <p:cNvSpPr/>
          <p:nvPr/>
        </p:nvSpPr>
        <p:spPr>
          <a:xfrm>
            <a:off x="10427208" y="566928"/>
            <a:ext cx="1234440" cy="310896"/>
          </a:xfrm>
          <a:prstGeom prst="roundRect">
            <a:avLst>
              <a:gd name="adj" fmla="val 50000"/>
            </a:avLst>
          </a:prstGeom>
          <a:solidFill>
            <a:srgbClr val="000000"/>
          </a:solidFill>
          <a:ln>
            <a:noFill/>
          </a:ln>
        </p:spPr>
        <p:txBody>
          <a:bodyPr rtlCol="0" anchor="ctr" lIns="0" rIns="0" tIns="0" bIns="0"/>
          <a:lstStyle/>
          <a:p>
            <a:pPr algn="ctr"/>
            <a:r>
              <a:rPr sz="900" b="1" i="0" cap="all" spc="60">
                <a:solidFill>
                  <a:srgbClr val="FFFFFF"/>
                </a:solidFill>
              </a:rPr>
              <a:t>FOCUS NOW</a:t>
            </a:r>
          </a:p>
        </p:txBody>
      </p:sp>
      <p:sp>
        <p:nvSpPr>
          <p:cNvPr id="6" name="TextBox 5"/>
          <p:cNvSpPr txBox="1"/>
          <p:nvPr/>
        </p:nvSpPr>
        <p:spPr>
          <a:xfrm>
            <a:off x="7089648" y="365760"/>
            <a:ext cx="3200400" cy="502920"/>
          </a:xfrm>
          <a:prstGeom prst="rect">
            <a:avLst/>
          </a:prstGeom>
          <a:noFill/>
        </p:spPr>
        <p:txBody>
          <a:bodyPr wrap="square" lIns="0" rIns="0" tIns="0" bIns="0" anchor="t">
            <a:spAutoFit/>
          </a:bodyPr>
          <a:lstStyle/>
          <a:p>
            <a:pPr algn="r">
              <a:spcAft>
                <a:spcPts val="100"/>
              </a:spcAft>
            </a:pPr>
            <a:r>
              <a:rPr sz="850" b="1" i="0" cap="all" spc="100">
                <a:solidFill>
                  <a:srgbClr val="60607D"/>
                </a:solidFill>
              </a:rPr>
              <a:t>Owner(s)</a:t>
            </a:r>
          </a:p>
          <a:p>
            <a:pPr algn="r">
              <a:spcAft>
                <a:spcPts val="600"/>
              </a:spcAft>
            </a:pPr>
            <a:r>
              <a:rPr sz="1050" b="0" i="0">
                <a:solidFill>
                  <a:srgbClr val="000000"/>
                </a:solidFill>
              </a:rPr>
              <a:t>Missy Foristall, Chris McComas, Deana Derocha</a:t>
            </a:r>
          </a:p>
        </p:txBody>
      </p:sp>
      <p:sp>
        <p:nvSpPr>
          <p:cNvPr id="7" name="TextBox 6"/>
          <p:cNvSpPr txBox="1"/>
          <p:nvPr/>
        </p:nvSpPr>
        <p:spPr>
          <a:xfrm>
            <a:off x="530352" y="1353312"/>
            <a:ext cx="11131296" cy="274320"/>
          </a:xfrm>
          <a:prstGeom prst="rect">
            <a:avLst/>
          </a:prstGeom>
          <a:noFill/>
        </p:spPr>
        <p:txBody>
          <a:bodyPr wrap="square" lIns="0" rIns="0" tIns="0" bIns="0" anchor="t">
            <a:spAutoFit/>
          </a:bodyPr>
          <a:lstStyle/>
          <a:p>
            <a:pPr algn="l">
              <a:spcAft>
                <a:spcPts val="400"/>
              </a:spcAft>
            </a:pPr>
            <a:r>
              <a:rPr sz="1000" b="0" i="1">
                <a:solidFill>
                  <a:srgbClr val="60607D"/>
                </a:solidFill>
              </a:rPr>
              <a:t>How we know it's working: not a KPI list. What we would see, how we would check, and what would tell us it is not.</a:t>
            </a:r>
          </a:p>
        </p:txBody>
      </p:sp>
      <p:sp>
        <p:nvSpPr>
          <p:cNvPr id="8" name="Rounded Rectangle 7"/>
          <p:cNvSpPr/>
          <p:nvPr/>
        </p:nvSpPr>
        <p:spPr>
          <a:xfrm>
            <a:off x="530352" y="1719072"/>
            <a:ext cx="3618992" cy="32004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182880" tIns="155448" rIns="182880" bIns="91440"/>
          <a:lstStyle/>
          <a:p>
            <a:pPr algn="l">
              <a:spcAft>
                <a:spcPts val="600"/>
              </a:spcAft>
            </a:pPr>
            <a:r>
              <a:rPr sz="1100" b="1" i="0" cap="all" spc="60">
                <a:solidFill>
                  <a:srgbClr val="D6D6DF"/>
                </a:solidFill>
              </a:rPr>
              <a:t>What we'll see when it's working</a:t>
            </a:r>
          </a:p>
          <a:p>
            <a:pPr algn="l" marL="171450" indent="-171450">
              <a:spcAft>
                <a:spcPts val="600"/>
              </a:spcAft>
              <a:buFont typeface="Arial"/>
              <a:buChar char="•"/>
            </a:pPr>
            <a:r>
              <a:rPr sz="1300" b="0" i="0">
                <a:solidFill>
                  <a:srgbClr val="FFFFFF"/>
                </a:solidFill>
              </a:rPr>
              <a:t>We stop agreeing to unfeasible combinations, like fixed-price with no scope control.</a:t>
            </a:r>
          </a:p>
          <a:p>
            <a:pPr algn="l" marL="171450" indent="-171450">
              <a:spcAft>
                <a:spcPts val="600"/>
              </a:spcAft>
              <a:buFont typeface="Arial"/>
              <a:buChar char="•"/>
            </a:pPr>
            <a:r>
              <a:rPr sz="1300" b="0" i="0">
                <a:solidFill>
                  <a:srgbClr val="FFFFFF"/>
                </a:solidFill>
              </a:rPr>
              <a:t>Our pricing tools reflect true deliverability, not just theoretical margin.</a:t>
            </a:r>
          </a:p>
          <a:p>
            <a:pPr algn="l" marL="171450" indent="-171450">
              <a:spcAft>
                <a:spcPts val="600"/>
              </a:spcAft>
              <a:buFont typeface="Arial"/>
              <a:buChar char="•"/>
            </a:pPr>
            <a:r>
              <a:rPr sz="1300" b="0" i="0">
                <a:solidFill>
                  <a:srgbClr val="FFFFFF"/>
                </a:solidFill>
              </a:rPr>
              <a:t>We guide clients into how we work instead of inheriting whatever mix they bring.</a:t>
            </a:r>
          </a:p>
        </p:txBody>
      </p:sp>
      <p:sp>
        <p:nvSpPr>
          <p:cNvPr id="9" name="Rounded Rectangle 8"/>
          <p:cNvSpPr/>
          <p:nvPr/>
        </p:nvSpPr>
        <p:spPr>
          <a:xfrm>
            <a:off x="4286504" y="1719072"/>
            <a:ext cx="3618992" cy="3200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82880" tIns="155448" rIns="182880" bIns="91440"/>
          <a:lstStyle/>
          <a:p>
            <a:pPr algn="l">
              <a:spcAft>
                <a:spcPts val="600"/>
              </a:spcAft>
            </a:pPr>
            <a:r>
              <a:rPr sz="1100" b="1" i="0" cap="all" spc="60">
                <a:solidFill>
                  <a:srgbClr val="000000"/>
                </a:solidFill>
              </a:rPr>
              <a:t>How we'll check</a:t>
            </a:r>
          </a:p>
          <a:p>
            <a:pPr algn="l" marL="171450" indent="-171450">
              <a:spcAft>
                <a:spcPts val="600"/>
              </a:spcAft>
              <a:buFont typeface="Arial"/>
              <a:buChar char="•"/>
            </a:pPr>
            <a:r>
              <a:rPr sz="1300" b="0" i="0">
                <a:solidFill>
                  <a:srgbClr val="000000"/>
                </a:solidFill>
              </a:rPr>
              <a:t>No SOW is signed without a model name attached, and that name determines governance.</a:t>
            </a:r>
          </a:p>
          <a:p>
            <a:pPr algn="l" marL="171450" indent="-171450">
              <a:spcAft>
                <a:spcPts val="600"/>
              </a:spcAft>
              <a:buFont typeface="Arial"/>
              <a:buChar char="•"/>
            </a:pPr>
            <a:r>
              <a:rPr sz="1300" b="0" i="0">
                <a:solidFill>
                  <a:srgbClr val="000000"/>
                </a:solidFill>
              </a:rPr>
              <a:t>A named accountable role signs off, at kickoff and at defined checkpoints, that the working model, the staffing, and the contract still agree with each other.</a:t>
            </a:r>
          </a:p>
          <a:p>
            <a:pPr algn="l" marL="171450" indent="-171450">
              <a:spcAft>
                <a:spcPts val="600"/>
              </a:spcAft>
              <a:buFont typeface="Arial"/>
              <a:buChar char="•"/>
            </a:pPr>
            <a:r>
              <a:rPr sz="1300" b="0" i="0">
                <a:solidFill>
                  <a:srgbClr val="000000"/>
                </a:solidFill>
              </a:rPr>
              <a:t>Each model gets 3 to 4 checkable signals, so drift is visible in week 2 to 4 of a track instead of at the next executive review.</a:t>
            </a:r>
          </a:p>
        </p:txBody>
      </p:sp>
      <p:sp>
        <p:nvSpPr>
          <p:cNvPr id="10" name="Rounded Rectangle 9"/>
          <p:cNvSpPr/>
          <p:nvPr/>
        </p:nvSpPr>
        <p:spPr>
          <a:xfrm>
            <a:off x="8042656" y="1719072"/>
            <a:ext cx="3618992" cy="3200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82880" tIns="155448" rIns="182880" bIns="91440"/>
          <a:lstStyle/>
          <a:p>
            <a:pPr algn="l">
              <a:spcAft>
                <a:spcPts val="600"/>
              </a:spcAft>
            </a:pPr>
            <a:r>
              <a:rPr sz="1100" b="1" i="0" cap="all" spc="60">
                <a:solidFill>
                  <a:srgbClr val="000000"/>
                </a:solidFill>
              </a:rPr>
              <a:t>Top risks &amp; failure points</a:t>
            </a:r>
          </a:p>
          <a:p>
            <a:pPr algn="l" marL="171450" indent="-171450">
              <a:spcAft>
                <a:spcPts val="600"/>
              </a:spcAft>
              <a:buFont typeface="Arial"/>
              <a:buChar char="•"/>
            </a:pPr>
            <a:r>
              <a:rPr sz="1300" b="0" i="0">
                <a:solidFill>
                  <a:srgbClr val="000000"/>
                </a:solidFill>
              </a:rPr>
              <a:t>Missed model(s) from assessment.</a:t>
            </a:r>
          </a:p>
          <a:p>
            <a:pPr algn="l" marL="171450" indent="-171450">
              <a:spcAft>
                <a:spcPts val="600"/>
              </a:spcAft>
              <a:buFont typeface="Arial"/>
              <a:buChar char="•"/>
            </a:pPr>
            <a:r>
              <a:rPr sz="1300" b="0" i="0">
                <a:solidFill>
                  <a:srgbClr val="000000"/>
                </a:solidFill>
              </a:rPr>
              <a:t>Alignment on model definition.</a:t>
            </a:r>
          </a:p>
          <a:p>
            <a:pPr algn="l" marL="171450" indent="-171450">
              <a:spcAft>
                <a:spcPts val="600"/>
              </a:spcAft>
              <a:buFont typeface="Arial"/>
              <a:buChar char="•"/>
            </a:pPr>
            <a:r>
              <a:rPr sz="1300" b="0" i="0">
                <a:solidFill>
                  <a:srgbClr val="000000"/>
                </a:solidFill>
              </a:rPr>
              <a:t>Poor rollout &amp; communication.</a:t>
            </a:r>
          </a:p>
          <a:p>
            <a:pPr algn="l" marL="171450" indent="-171450">
              <a:spcAft>
                <a:spcPts val="600"/>
              </a:spcAft>
              <a:buFont typeface="Arial"/>
              <a:buChar char="•"/>
            </a:pPr>
            <a:r>
              <a:rPr sz="1300" b="0" i="0">
                <a:solidFill>
                  <a:srgbClr val="000000"/>
                </a:solidFill>
              </a:rPr>
              <a:t>Failure to use models for grounding approaches, contracts, teams.</a:t>
            </a:r>
          </a:p>
        </p:txBody>
      </p:sp>
      <p:sp>
        <p:nvSpPr>
          <p:cNvPr id="11" name="Rounded Rectangle 10"/>
          <p:cNvSpPr/>
          <p:nvPr/>
        </p:nvSpPr>
        <p:spPr>
          <a:xfrm>
            <a:off x="530352" y="5056632"/>
            <a:ext cx="11131296" cy="7772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wrap="square" lIns="182880" tIns="155448" rIns="182880" bIns="91440"/>
          <a:lstStyle/>
          <a:p>
            <a:pPr algn="l">
              <a:spcAft>
                <a:spcPts val="100"/>
              </a:spcAft>
            </a:pPr>
            <a:r>
              <a:rPr sz="850" b="1" i="0" cap="all" spc="100">
                <a:solidFill>
                  <a:srgbClr val="60607D"/>
                </a:solidFill>
              </a:rPr>
              <a:t>Dependencies</a:t>
            </a:r>
          </a:p>
          <a:p>
            <a:pPr algn="l">
              <a:spcAft>
                <a:spcPts val="600"/>
              </a:spcAft>
            </a:pPr>
            <a:r>
              <a:rPr sz="1300" b="0" i="0">
                <a:solidFill>
                  <a:srgbClr val="000000"/>
                </a:solidFill>
              </a:rPr>
              <a:t>Intake routing  ·  SME feedback  ·  Alignment on base model set (Delivery/Ops, Legal and Finance)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530352" y="603504"/>
            <a:ext cx="6949440" cy="566928"/>
          </a:xfrm>
        </p:spPr>
        <p:txBody>
          <a:bodyPr/>
          <a:lstStyle/>
          <a:p>
            <a:r>
              <a:rPr sz="2800"/>
              <a:t>Model examples</a:t>
            </a:r>
          </a:p>
        </p:txBody>
      </p:sp>
      <p:sp>
        <p:nvSpPr>
          <p:cNvPr id="4" name="Text Placeholder 3"/>
          <p:cNvSpPr>
            <a:spLocks noGrp="1"/>
          </p:cNvSpPr>
          <p:nvPr>
            <p:ph type="body" idx="12" sz="quarter"/>
          </p:nvPr>
        </p:nvSpPr>
        <p:spPr>
          <a:xfrm>
            <a:off x="530352" y="384048"/>
            <a:ext cx="6949440" cy="182880"/>
          </a:xfrm>
        </p:spPr>
        <p:txBody>
          <a:bodyPr/>
          <a:lstStyle/>
          <a:p>
            <a:r>
              <a:t>PRIORITY 01 · DEAL-TO-DELIVERY PLAYBOOK · SUPPORTING DETAIL</a:t>
            </a:r>
          </a:p>
        </p:txBody>
      </p:sp>
      <p:sp>
        <p:nvSpPr>
          <p:cNvPr id="5" name="Rounded Rectangle 4"/>
          <p:cNvSpPr/>
          <p:nvPr/>
        </p:nvSpPr>
        <p:spPr>
          <a:xfrm>
            <a:off x="10427208" y="566928"/>
            <a:ext cx="1234440" cy="310896"/>
          </a:xfrm>
          <a:prstGeom prst="roundRect">
            <a:avLst>
              <a:gd name="adj" fmla="val 50000"/>
            </a:avLst>
          </a:prstGeom>
          <a:solidFill>
            <a:srgbClr val="000000"/>
          </a:solidFill>
          <a:ln>
            <a:noFill/>
          </a:ln>
        </p:spPr>
        <p:txBody>
          <a:bodyPr rtlCol="0" anchor="ctr" lIns="0" rIns="0" tIns="0" bIns="0"/>
          <a:lstStyle/>
          <a:p>
            <a:pPr algn="ctr"/>
            <a:r>
              <a:rPr sz="900" b="1" i="0" cap="all" spc="60">
                <a:solidFill>
                  <a:srgbClr val="FFFFFF"/>
                </a:solidFill>
              </a:rPr>
              <a:t>FOCUS NOW</a:t>
            </a:r>
          </a:p>
        </p:txBody>
      </p:sp>
      <p:sp>
        <p:nvSpPr>
          <p:cNvPr id="6" name="TextBox 5"/>
          <p:cNvSpPr txBox="1"/>
          <p:nvPr/>
        </p:nvSpPr>
        <p:spPr>
          <a:xfrm>
            <a:off x="7089648" y="365760"/>
            <a:ext cx="3200400" cy="502920"/>
          </a:xfrm>
          <a:prstGeom prst="rect">
            <a:avLst/>
          </a:prstGeom>
          <a:noFill/>
        </p:spPr>
        <p:txBody>
          <a:bodyPr wrap="square" lIns="0" rIns="0" tIns="0" bIns="0" anchor="t">
            <a:spAutoFit/>
          </a:bodyPr>
          <a:lstStyle/>
          <a:p>
            <a:pPr algn="r">
              <a:spcAft>
                <a:spcPts val="100"/>
              </a:spcAft>
            </a:pPr>
            <a:r>
              <a:rPr sz="850" b="1" i="0" cap="all" spc="100">
                <a:solidFill>
                  <a:srgbClr val="60607D"/>
                </a:solidFill>
              </a:rPr>
              <a:t>Owner(s)</a:t>
            </a:r>
          </a:p>
          <a:p>
            <a:pPr algn="r">
              <a:spcAft>
                <a:spcPts val="600"/>
              </a:spcAft>
            </a:pPr>
            <a:r>
              <a:rPr sz="1050" b="0" i="0">
                <a:solidFill>
                  <a:srgbClr val="000000"/>
                </a:solidFill>
              </a:rPr>
              <a:t>Missy Foristall, Chris McComas, Deana Derocha</a:t>
            </a:r>
          </a:p>
        </p:txBody>
      </p:sp>
      <p:sp>
        <p:nvSpPr>
          <p:cNvPr id="7" name="Rounded Rectangle 6"/>
          <p:cNvSpPr/>
          <p:nvPr/>
        </p:nvSpPr>
        <p:spPr>
          <a:xfrm>
            <a:off x="530352" y="1371600"/>
            <a:ext cx="2679954" cy="461772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82880" tIns="155448" rIns="182880" bIns="91440"/>
          <a:lstStyle/>
          <a:p>
            <a:pPr algn="l">
              <a:spcAft>
                <a:spcPts val="100"/>
              </a:spcAft>
            </a:pPr>
            <a:r>
              <a:rPr sz="850" b="1" i="0" cap="all" spc="100">
                <a:solidFill>
                  <a:srgbClr val="60607D"/>
                </a:solidFill>
              </a:rPr>
              <a:t>MODEL 1</a:t>
            </a:r>
          </a:p>
          <a:p>
            <a:pPr algn="l">
              <a:spcBef>
                <a:spcPts val="500"/>
              </a:spcBef>
              <a:spcAft>
                <a:spcPts val="200"/>
              </a:spcAft>
            </a:pPr>
            <a:r>
              <a:rPr sz="1200" b="1" i="0">
                <a:solidFill>
                  <a:srgbClr val="000000"/>
                </a:solidFill>
              </a:rPr>
              <a:t>Fixed Constraint Delivery</a:t>
            </a:r>
          </a:p>
          <a:p>
            <a:pPr algn="l">
              <a:spcAft>
                <a:spcPts val="600"/>
              </a:spcAft>
            </a:pPr>
            <a:r>
              <a:rPr sz="1200" b="0" i="0">
                <a:solidFill>
                  <a:srgbClr val="000000"/>
                </a:solidFill>
              </a:rPr>
              <a:t>A fixed constraint (budget, deadline, or scope) is set, and delivery is planned backward to it.</a:t>
            </a:r>
          </a:p>
          <a:p>
            <a:pPr algn="l">
              <a:spcBef>
                <a:spcPts val="500"/>
              </a:spcBef>
              <a:spcAft>
                <a:spcPts val="200"/>
              </a:spcAft>
            </a:pPr>
            <a:r>
              <a:rPr sz="1200" b="1" i="0">
                <a:solidFill>
                  <a:srgbClr val="000000"/>
                </a:solidFill>
              </a:rPr>
              <a:t>Key characteristics</a:t>
            </a:r>
          </a:p>
          <a:p>
            <a:pPr algn="l" marL="171450" indent="-171450">
              <a:spcAft>
                <a:spcPts val="600"/>
              </a:spcAft>
              <a:buFont typeface="Arial"/>
              <a:buChar char="•"/>
            </a:pPr>
            <a:r>
              <a:rPr sz="1200" b="0" i="0">
                <a:solidFill>
                  <a:srgbClr val="000000"/>
                </a:solidFill>
              </a:rPr>
              <a:t>Backcasted plan is mandatory before build starts — no backcast, no green light</a:t>
            </a:r>
          </a:p>
          <a:p>
            <a:pPr algn="l" marL="171450" indent="-171450">
              <a:spcAft>
                <a:spcPts val="600"/>
              </a:spcAft>
              <a:buFont typeface="Arial"/>
              <a:buChar char="•"/>
            </a:pPr>
            <a:r>
              <a:rPr sz="1200" b="0" i="0">
                <a:solidFill>
                  <a:srgbClr val="000000"/>
                </a:solidFill>
              </a:rPr>
              <a:t>Scope is fixed and baselined at Gate 1; change flows through CR (constraint-impacting) or Scope Bank (parity swaps)</a:t>
            </a:r>
          </a:p>
          <a:p>
            <a:pPr algn="l" marL="171450" indent="-171450">
              <a:spcAft>
                <a:spcPts val="600"/>
              </a:spcAft>
              <a:buFont typeface="Arial"/>
              <a:buChar char="•"/>
            </a:pPr>
            <a:r>
              <a:rPr sz="1200" b="0" i="0">
                <a:solidFill>
                  <a:srgbClr val="000000"/>
                </a:solidFill>
              </a:rPr>
              <a:t>Phase-gated structure with formal sign-offs</a:t>
            </a:r>
          </a:p>
        </p:txBody>
      </p:sp>
      <p:sp>
        <p:nvSpPr>
          <p:cNvPr id="8" name="Rounded Rectangle 7"/>
          <p:cNvSpPr/>
          <p:nvPr/>
        </p:nvSpPr>
        <p:spPr>
          <a:xfrm>
            <a:off x="3347466" y="1371600"/>
            <a:ext cx="2679954" cy="461772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82880" tIns="155448" rIns="182880" bIns="91440"/>
          <a:lstStyle/>
          <a:p>
            <a:pPr algn="l">
              <a:spcAft>
                <a:spcPts val="100"/>
              </a:spcAft>
            </a:pPr>
            <a:r>
              <a:rPr sz="850" b="1" i="0" cap="all" spc="100">
                <a:solidFill>
                  <a:srgbClr val="60607D"/>
                </a:solidFill>
              </a:rPr>
              <a:t>MODEL 2</a:t>
            </a:r>
          </a:p>
          <a:p>
            <a:pPr algn="l">
              <a:spcBef>
                <a:spcPts val="500"/>
              </a:spcBef>
              <a:spcAft>
                <a:spcPts val="200"/>
              </a:spcAft>
            </a:pPr>
            <a:r>
              <a:rPr sz="1200" b="1" i="0">
                <a:solidFill>
                  <a:srgbClr val="000000"/>
                </a:solidFill>
              </a:rPr>
              <a:t>Velocity Based Delivery</a:t>
            </a:r>
          </a:p>
          <a:p>
            <a:pPr algn="l">
              <a:spcAft>
                <a:spcPts val="600"/>
              </a:spcAft>
            </a:pPr>
            <a:r>
              <a:rPr sz="1200" b="0" i="0">
                <a:solidFill>
                  <a:srgbClr val="000000"/>
                </a:solidFill>
              </a:rPr>
              <a:t>A contracted team delivers at a predictable, measurable pace; value is demonstrated through throughput and periodic releases, not a fixed feature list.</a:t>
            </a:r>
          </a:p>
          <a:p>
            <a:pPr algn="l">
              <a:spcBef>
                <a:spcPts val="500"/>
              </a:spcBef>
              <a:spcAft>
                <a:spcPts val="200"/>
              </a:spcAft>
            </a:pPr>
            <a:r>
              <a:rPr sz="1200" b="1" i="0">
                <a:solidFill>
                  <a:srgbClr val="000000"/>
                </a:solidFill>
              </a:rPr>
              <a:t>Key characteristics</a:t>
            </a:r>
          </a:p>
          <a:p>
            <a:pPr algn="l" marL="171450" indent="-171450">
              <a:spcAft>
                <a:spcPts val="600"/>
              </a:spcAft>
              <a:buFont typeface="Arial"/>
              <a:buChar char="•"/>
            </a:pPr>
            <a:r>
              <a:rPr sz="1200" b="0" i="0">
                <a:solidFill>
                  <a:srgbClr val="000000"/>
                </a:solidFill>
              </a:rPr>
              <a:t>No fixed scope commitment — backlog is client-prioritized, reordered freely</a:t>
            </a:r>
          </a:p>
          <a:p>
            <a:pPr algn="l" marL="171450" indent="-171450">
              <a:spcAft>
                <a:spcPts val="600"/>
              </a:spcAft>
              <a:buFont typeface="Arial"/>
              <a:buChar char="•"/>
            </a:pPr>
            <a:r>
              <a:rPr sz="1200" b="0" i="0">
                <a:solidFill>
                  <a:srgbClr val="000000"/>
                </a:solidFill>
              </a:rPr>
              <a:t>Velocity baseline is established and defended</a:t>
            </a:r>
          </a:p>
          <a:p>
            <a:pPr algn="l" marL="171450" indent="-171450">
              <a:spcAft>
                <a:spcPts val="600"/>
              </a:spcAft>
              <a:buFont typeface="Arial"/>
              <a:buChar char="•"/>
            </a:pPr>
            <a:r>
              <a:rPr sz="1200" b="0" i="0">
                <a:solidFill>
                  <a:srgbClr val="000000"/>
                </a:solidFill>
              </a:rPr>
              <a:t>PI Planning cadence (8–10 weeks) anchors medium-term commitments</a:t>
            </a:r>
          </a:p>
        </p:txBody>
      </p:sp>
      <p:sp>
        <p:nvSpPr>
          <p:cNvPr id="9" name="Rounded Rectangle 8"/>
          <p:cNvSpPr/>
          <p:nvPr/>
        </p:nvSpPr>
        <p:spPr>
          <a:xfrm>
            <a:off x="6164580" y="1371600"/>
            <a:ext cx="2679954" cy="461772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82880" tIns="155448" rIns="182880" bIns="91440"/>
          <a:lstStyle/>
          <a:p>
            <a:pPr algn="l">
              <a:spcAft>
                <a:spcPts val="100"/>
              </a:spcAft>
            </a:pPr>
            <a:r>
              <a:rPr sz="850" b="1" i="0" cap="all" spc="100">
                <a:solidFill>
                  <a:srgbClr val="60607D"/>
                </a:solidFill>
              </a:rPr>
              <a:t>MODEL 3</a:t>
            </a:r>
          </a:p>
          <a:p>
            <a:pPr algn="l">
              <a:spcBef>
                <a:spcPts val="500"/>
              </a:spcBef>
              <a:spcAft>
                <a:spcPts val="200"/>
              </a:spcAft>
            </a:pPr>
            <a:r>
              <a:rPr sz="1200" b="1" i="0">
                <a:solidFill>
                  <a:srgbClr val="000000"/>
                </a:solidFill>
              </a:rPr>
              <a:t>Outcomes Based Delivery</a:t>
            </a:r>
          </a:p>
          <a:p>
            <a:pPr algn="l">
              <a:spcAft>
                <a:spcPts val="600"/>
              </a:spcAft>
            </a:pPr>
            <a:r>
              <a:rPr sz="1200" b="0" i="0">
                <a:solidFill>
                  <a:srgbClr val="000000"/>
                </a:solidFill>
              </a:rPr>
              <a:t>A strategic product partnership; the backlog exists to move measurable business outcomes, not just to ship features.</a:t>
            </a:r>
          </a:p>
          <a:p>
            <a:pPr algn="l">
              <a:spcBef>
                <a:spcPts val="500"/>
              </a:spcBef>
              <a:spcAft>
                <a:spcPts val="200"/>
              </a:spcAft>
            </a:pPr>
            <a:r>
              <a:rPr sz="1200" b="1" i="0">
                <a:solidFill>
                  <a:srgbClr val="000000"/>
                </a:solidFill>
              </a:rPr>
              <a:t>Key characteristics</a:t>
            </a:r>
          </a:p>
          <a:p>
            <a:pPr algn="l" marL="171450" indent="-171450">
              <a:spcAft>
                <a:spcPts val="600"/>
              </a:spcAft>
              <a:buFont typeface="Arial"/>
              <a:buChar char="•"/>
            </a:pPr>
            <a:r>
              <a:rPr sz="1200" b="0" i="0">
                <a:solidFill>
                  <a:srgbClr val="000000"/>
                </a:solidFill>
              </a:rPr>
              <a:t>Every backlog item is anchored to an OKR before it enters a sprint</a:t>
            </a:r>
          </a:p>
          <a:p>
            <a:pPr algn="l" marL="171450" indent="-171450">
              <a:spcAft>
                <a:spcPts val="600"/>
              </a:spcAft>
              <a:buFont typeface="Arial"/>
              <a:buChar char="•"/>
            </a:pPr>
            <a:r>
              <a:rPr sz="1200" b="0" i="0">
                <a:solidFill>
                  <a:srgbClr val="000000"/>
                </a:solidFill>
              </a:rPr>
              <a:t>Client Product Owner co-owns the roadmap (not just consulted)</a:t>
            </a:r>
          </a:p>
          <a:p>
            <a:pPr algn="l" marL="171450" indent="-171450">
              <a:spcAft>
                <a:spcPts val="600"/>
              </a:spcAft>
              <a:buFont typeface="Arial"/>
              <a:buChar char="•"/>
            </a:pPr>
            <a:r>
              <a:rPr sz="1200" b="0" i="0">
                <a:solidFill>
                  <a:srgbClr val="000000"/>
                </a:solidFill>
              </a:rPr>
              <a:t>Quarterly roadmap/OKR review with Exec Sponsor</a:t>
            </a:r>
          </a:p>
        </p:txBody>
      </p:sp>
      <p:sp>
        <p:nvSpPr>
          <p:cNvPr id="10" name="Rounded Rectangle 9"/>
          <p:cNvSpPr/>
          <p:nvPr/>
        </p:nvSpPr>
        <p:spPr>
          <a:xfrm>
            <a:off x="8981694" y="1371600"/>
            <a:ext cx="2679954" cy="461772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82880" tIns="155448" rIns="182880" bIns="91440"/>
          <a:lstStyle/>
          <a:p>
            <a:pPr algn="l">
              <a:spcAft>
                <a:spcPts val="100"/>
              </a:spcAft>
            </a:pPr>
            <a:r>
              <a:rPr sz="850" b="1" i="0" cap="all" spc="100">
                <a:solidFill>
                  <a:srgbClr val="60607D"/>
                </a:solidFill>
              </a:rPr>
              <a:t>MODEL 4</a:t>
            </a:r>
          </a:p>
          <a:p>
            <a:pPr algn="l">
              <a:spcBef>
                <a:spcPts val="500"/>
              </a:spcBef>
              <a:spcAft>
                <a:spcPts val="200"/>
              </a:spcAft>
            </a:pPr>
            <a:r>
              <a:rPr sz="1200" b="1" i="0">
                <a:solidFill>
                  <a:srgbClr val="000000"/>
                </a:solidFill>
              </a:rPr>
              <a:t>Retainer (Site Support Example)</a:t>
            </a:r>
          </a:p>
          <a:p>
            <a:pPr algn="l">
              <a:spcAft>
                <a:spcPts val="600"/>
              </a:spcAft>
            </a:pPr>
            <a:r>
              <a:rPr sz="1200" b="0" i="0">
                <a:solidFill>
                  <a:srgbClr val="000000"/>
                </a:solidFill>
              </a:rPr>
              <a:t>Live Ops/Support retainer running and sustaining what's already been built. This is not new development, this is protecting existing value and responding to it.</a:t>
            </a:r>
          </a:p>
          <a:p>
            <a:pPr algn="l">
              <a:spcBef>
                <a:spcPts val="500"/>
              </a:spcBef>
              <a:spcAft>
                <a:spcPts val="200"/>
              </a:spcAft>
            </a:pPr>
            <a:r>
              <a:rPr sz="1200" b="1" i="0">
                <a:solidFill>
                  <a:srgbClr val="000000"/>
                </a:solidFill>
              </a:rPr>
              <a:t>Key characteristics</a:t>
            </a:r>
          </a:p>
          <a:p>
            <a:pPr algn="l" marL="171450" indent="-171450">
              <a:spcAft>
                <a:spcPts val="600"/>
              </a:spcAft>
              <a:buFont typeface="Arial"/>
              <a:buChar char="•"/>
            </a:pPr>
            <a:r>
              <a:rPr sz="1200" b="0" i="0">
                <a:solidFill>
                  <a:srgbClr val="000000"/>
                </a:solidFill>
              </a:rPr>
              <a:t>Scope is reactive + scheduled maintenance</a:t>
            </a:r>
          </a:p>
          <a:p>
            <a:pPr algn="l" marL="171450" indent="-171450">
              <a:spcAft>
                <a:spcPts val="600"/>
              </a:spcAft>
              <a:buFont typeface="Arial"/>
              <a:buChar char="•"/>
            </a:pPr>
            <a:r>
              <a:rPr sz="1200" b="0" i="0">
                <a:solidFill>
                  <a:srgbClr val="000000"/>
                </a:solidFill>
              </a:rPr>
              <a:t>Governed by SLAs (response/resolution time by severity)</a:t>
            </a:r>
          </a:p>
          <a:p>
            <a:pPr algn="l" marL="171450" indent="-171450">
              <a:spcAft>
                <a:spcPts val="600"/>
              </a:spcAft>
              <a:buFont typeface="Arial"/>
              <a:buChar char="•"/>
            </a:pPr>
            <a:r>
              <a:rPr sz="1200" b="0" i="0">
                <a:solidFill>
                  <a:srgbClr val="000000"/>
                </a:solidFill>
              </a:rPr>
              <a:t>Escalation tiers are explicit (L1/L2/L3)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5" name="Rounded Rectangle 4"/>
          <p:cNvSpPr/>
          <p:nvPr/>
        </p:nvSpPr>
        <p:spPr>
          <a:xfrm>
            <a:off x="640080" y="731520"/>
            <a:ext cx="6583680" cy="2509616"/>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1828800"/>
          </a:xfrm>
        </p:spPr>
        <p:txBody>
          <a:bodyPr anchor="t"/>
          <a:lstStyle/>
          <a:p>
            <a:r>
              <a:t>[Priority name]</a:t>
            </a:r>
          </a:p>
        </p:txBody>
      </p:sp>
      <p:sp>
        <p:nvSpPr>
          <p:cNvPr id="3" name="Text Placeholder 2"/>
          <p:cNvSpPr>
            <a:spLocks noGrp="1"/>
          </p:cNvSpPr>
          <p:nvPr>
            <p:ph type="body" idx="15" sz="quarter"/>
          </p:nvPr>
        </p:nvSpPr>
        <p:spPr>
          <a:xfrm>
            <a:off x="914400" y="932688"/>
            <a:ext cx="6400800" cy="292608"/>
          </a:xfrm>
        </p:spPr>
        <p:txBody>
          <a:bodyPr/>
          <a:lstStyle/>
          <a:p>
            <a:r>
              <a:t>PRIORITY [NN]</a:t>
            </a:r>
          </a:p>
        </p:txBody>
      </p:sp>
      <p:sp>
        <p:nvSpPr>
          <p:cNvPr id="4" name="TextBox 3"/>
          <p:cNvSpPr txBox="1"/>
          <p:nvPr/>
        </p:nvSpPr>
        <p:spPr>
          <a:xfrm>
            <a:off x="914400" y="2326736"/>
            <a:ext cx="5852160" cy="822960"/>
          </a:xfrm>
          <a:prstGeom prst="rect">
            <a:avLst/>
          </a:prstGeom>
          <a:noFill/>
        </p:spPr>
        <p:txBody>
          <a:bodyPr wrap="square" lIns="0" rIns="0" tIns="0" bIns="0" anchor="t">
            <a:spAutoFit/>
          </a:bodyPr>
          <a:lstStyle/>
          <a:p>
            <a:pPr algn="l">
              <a:spcAft>
                <a:spcPts val="600"/>
              </a:spcAft>
            </a:pPr>
            <a:r>
              <a:rPr sz="1800" b="0" i="0">
                <a:solidFill>
                  <a:srgbClr val="FFFFFF"/>
                </a:solidFill>
              </a:rPr>
              <a:t>[The one-liner from the executive summary.]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3" name="Title 2"/>
          <p:cNvSpPr>
            <a:spLocks noGrp="1"/>
          </p:cNvSpPr>
          <p:nvPr>
            <p:ph type="title"/>
          </p:nvPr>
        </p:nvSpPr>
        <p:spPr>
          <a:xfrm>
            <a:off x="530352" y="603504"/>
            <a:ext cx="6949440" cy="566928"/>
          </a:xfrm>
        </p:spPr>
        <p:txBody>
          <a:bodyPr/>
          <a:lstStyle/>
          <a:p>
            <a:r>
              <a:rPr sz="2800"/>
              <a:t>[Priority name]</a:t>
            </a:r>
          </a:p>
        </p:txBody>
      </p:sp>
      <p:sp>
        <p:nvSpPr>
          <p:cNvPr id="4" name="Text Placeholder 3"/>
          <p:cNvSpPr>
            <a:spLocks noGrp="1"/>
          </p:cNvSpPr>
          <p:nvPr>
            <p:ph type="body" idx="12" sz="quarter"/>
          </p:nvPr>
        </p:nvSpPr>
        <p:spPr>
          <a:xfrm>
            <a:off x="530352" y="384048"/>
            <a:ext cx="6949440" cy="182880"/>
          </a:xfrm>
        </p:spPr>
        <p:txBody>
          <a:bodyPr/>
          <a:lstStyle/>
          <a:p>
            <a:r>
              <a:t>PRIORITY [NN] · [PRIORITY NAME] · ONE-PAGER</a:t>
            </a:r>
          </a:p>
        </p:txBody>
      </p:sp>
      <p:sp>
        <p:nvSpPr>
          <p:cNvPr id="5" name="Rounded Rectangle 4"/>
          <p:cNvSpPr/>
          <p:nvPr/>
        </p:nvSpPr>
        <p:spPr>
          <a:xfrm>
            <a:off x="10427208" y="566928"/>
            <a:ext cx="1234440" cy="310896"/>
          </a:xfrm>
          <a:prstGeom prst="roundRect">
            <a:avLst>
              <a:gd name="adj" fmla="val 50000"/>
            </a:avLst>
          </a:prstGeom>
          <a:solidFill>
            <a:srgbClr val="FFFFFF"/>
          </a:solidFill>
          <a:ln w="12700">
            <a:solidFill>
              <a:srgbClr val="000000"/>
            </a:solidFill>
          </a:ln>
        </p:spPr>
        <p:txBody>
          <a:bodyPr rtlCol="0" anchor="ctr" lIns="0" rIns="0" tIns="0" bIns="0"/>
          <a:lstStyle/>
          <a:p>
            <a:pPr algn="ctr"/>
            <a:r>
              <a:rPr sz="900" b="1" i="0" cap="all" spc="60">
                <a:solidFill>
                  <a:srgbClr val="000000"/>
                </a:solidFill>
              </a:rPr>
              <a:t>[Status]</a:t>
            </a:r>
          </a:p>
        </p:txBody>
      </p:sp>
      <p:sp>
        <p:nvSpPr>
          <p:cNvPr id="6" name="TextBox 5"/>
          <p:cNvSpPr txBox="1"/>
          <p:nvPr/>
        </p:nvSpPr>
        <p:spPr>
          <a:xfrm>
            <a:off x="7089648" y="365760"/>
            <a:ext cx="3200400" cy="502920"/>
          </a:xfrm>
          <a:prstGeom prst="rect">
            <a:avLst/>
          </a:prstGeom>
          <a:noFill/>
        </p:spPr>
        <p:txBody>
          <a:bodyPr wrap="square" lIns="0" rIns="0" tIns="0" bIns="0" anchor="t">
            <a:spAutoFit/>
          </a:bodyPr>
          <a:lstStyle/>
          <a:p>
            <a:pPr algn="r">
              <a:spcAft>
                <a:spcPts val="100"/>
              </a:spcAft>
            </a:pPr>
            <a:r>
              <a:rPr sz="850" b="1" i="0" cap="all" spc="100">
                <a:solidFill>
                  <a:srgbClr val="60607D"/>
                </a:solidFill>
              </a:rPr>
              <a:t>Owner(s)</a:t>
            </a:r>
          </a:p>
          <a:p>
            <a:pPr algn="r">
              <a:spcAft>
                <a:spcPts val="600"/>
              </a:spcAft>
            </a:pPr>
            <a:r>
              <a:rPr sz="1050" b="0" i="0">
                <a:solidFill>
                  <a:srgbClr val="000000"/>
                </a:solidFill>
              </a:rPr>
              <a:t>[Names]</a:t>
            </a:r>
          </a:p>
        </p:txBody>
      </p:sp>
      <p:sp>
        <p:nvSpPr>
          <p:cNvPr id="7" name="Rounded Rectangle 6"/>
          <p:cNvSpPr/>
          <p:nvPr/>
        </p:nvSpPr>
        <p:spPr>
          <a:xfrm>
            <a:off x="530352" y="1371600"/>
            <a:ext cx="3618992" cy="22402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82880" tIns="155448" rIns="182880" bIns="91440"/>
          <a:lstStyle/>
          <a:p>
            <a:pPr algn="l">
              <a:spcAft>
                <a:spcPts val="600"/>
              </a:spcAft>
            </a:pPr>
            <a:r>
              <a:rPr sz="1100" b="1" i="0" cap="all" spc="60">
                <a:solidFill>
                  <a:srgbClr val="000000"/>
                </a:solidFill>
              </a:rPr>
              <a:t>Why now</a:t>
            </a:r>
          </a:p>
          <a:p>
            <a:pPr algn="l">
              <a:spcAft>
                <a:spcPts val="500"/>
              </a:spcAft>
            </a:pPr>
            <a:r>
              <a:rPr sz="1300" b="0" i="1">
                <a:solidFill>
                  <a:srgbClr val="60607D"/>
                </a:solidFill>
              </a:rPr>
              <a:t>[Why this one, and why now? What does it cost us today?]</a:t>
            </a:r>
          </a:p>
        </p:txBody>
      </p:sp>
      <p:sp>
        <p:nvSpPr>
          <p:cNvPr id="8" name="Rounded Rectangle 7"/>
          <p:cNvSpPr/>
          <p:nvPr/>
        </p:nvSpPr>
        <p:spPr>
          <a:xfrm>
            <a:off x="4286504" y="1371600"/>
            <a:ext cx="3618992" cy="22402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82880" tIns="155448" rIns="182880" bIns="91440"/>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[What has moved since last time. Use dates, not "recently".]</a:t>
            </a:r>
          </a:p>
        </p:txBody>
      </p:sp>
      <p:sp>
        <p:nvSpPr>
          <p:cNvPr id="9" name="Rounded Rectangle 8"/>
          <p:cNvSpPr/>
          <p:nvPr/>
        </p:nvSpPr>
        <p:spPr>
          <a:xfrm>
            <a:off x="8042656" y="1371600"/>
            <a:ext cx="3618992" cy="22402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82880" tIns="155448" rIns="182880" bIns="91440"/>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[Next milestones, with real dates.]</a:t>
            </a:r>
          </a:p>
        </p:txBody>
      </p:sp>
      <p:sp>
        <p:nvSpPr>
          <p:cNvPr id="10" name="Rounded Rectangle 9"/>
          <p:cNvSpPr/>
          <p:nvPr/>
        </p:nvSpPr>
        <p:spPr>
          <a:xfrm>
            <a:off x="530352" y="3749040"/>
            <a:ext cx="11131296" cy="150876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182880" tIns="155448" rIns="182880" bIns="91440"/>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[What is in the way, and the specific ask: who, by when.]</a:t>
            </a:r>
          </a:p>
        </p:txBody>
      </p:sp>
      <p:sp>
        <p:nvSpPr>
          <p:cNvPr id="11" name="Rounded Rectangle 10"/>
          <p:cNvSpPr/>
          <p:nvPr/>
        </p:nvSpPr>
        <p:spPr>
          <a:xfrm>
            <a:off x="530352" y="5394960"/>
            <a:ext cx="11131296" cy="713232"/>
          </a:xfrm>
          <a:prstGeom prst="roundRect">
            <a:avLst>
              <a:gd name="adj" fmla="val 9000"/>
            </a:avLst>
          </a:prstGeom>
          <a:solidFill>
            <a:srgbClr val="FFFFFF"/>
          </a:solidFill>
          <a:ln w="19050">
            <a:solidFill>
              <a:srgbClr val="000000"/>
            </a:solidFill>
          </a:ln>
        </p:spPr>
        <p:txBody>
          <a:bodyPr rtlCol="0" anchor="ctr" wrap="square" lIns="274320" rIns="274320" tIns="36576" bIns="36576"/>
          <a:lstStyle/>
          <a:p>
            <a:pPr algn="ctr"/>
            <a:r>
              <a:rPr sz="900" b="1" i="0" cap="all" spc="100">
                <a:solidFill>
                  <a:srgbClr val="60607D"/>
                </a:solidFill>
              </a:rPr>
              <a:t>KEY TAKEAWAY   </a:t>
            </a:r>
            <a:r>
              <a:rPr sz="1400" b="1" i="1">
                <a:solidFill>
                  <a:srgbClr val="000000"/>
                </a:solidFill>
              </a:rPr>
              <a:t>[One sentence: the thing that matters most if we do nothing else.]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3" name="Title 2"/>
          <p:cNvSpPr>
            <a:spLocks noGrp="1"/>
          </p:cNvSpPr>
          <p:nvPr>
            <p:ph type="title"/>
          </p:nvPr>
        </p:nvSpPr>
        <p:spPr>
          <a:xfrm>
            <a:off x="530352" y="603504"/>
            <a:ext cx="6949440" cy="566928"/>
          </a:xfrm>
        </p:spPr>
        <p:txBody>
          <a:bodyPr/>
          <a:lstStyle/>
          <a:p>
            <a:r>
              <a:rPr sz="2800"/>
              <a:t>Who and how</a:t>
            </a:r>
          </a:p>
        </p:txBody>
      </p:sp>
      <p:sp>
        <p:nvSpPr>
          <p:cNvPr id="4" name="Text Placeholder 3"/>
          <p:cNvSpPr>
            <a:spLocks noGrp="1"/>
          </p:cNvSpPr>
          <p:nvPr>
            <p:ph type="body" idx="12" sz="quarter"/>
          </p:nvPr>
        </p:nvSpPr>
        <p:spPr>
          <a:xfrm>
            <a:off x="530352" y="384048"/>
            <a:ext cx="6949440" cy="182880"/>
          </a:xfrm>
        </p:spPr>
        <p:txBody>
          <a:bodyPr/>
          <a:lstStyle/>
          <a:p>
            <a:r>
              <a:t>PRIORITY [NN] · [PRIORITY NAME] · WHO AND HOW</a:t>
            </a:r>
          </a:p>
        </p:txBody>
      </p:sp>
      <p:sp>
        <p:nvSpPr>
          <p:cNvPr id="5" name="Rounded Rectangle 4"/>
          <p:cNvSpPr/>
          <p:nvPr/>
        </p:nvSpPr>
        <p:spPr>
          <a:xfrm>
            <a:off x="10427208" y="566928"/>
            <a:ext cx="1234440" cy="310896"/>
          </a:xfrm>
          <a:prstGeom prst="roundRect">
            <a:avLst>
              <a:gd name="adj" fmla="val 50000"/>
            </a:avLst>
          </a:prstGeom>
          <a:solidFill>
            <a:srgbClr val="FFFFFF"/>
          </a:solidFill>
          <a:ln w="12700">
            <a:solidFill>
              <a:srgbClr val="000000"/>
            </a:solidFill>
          </a:ln>
        </p:spPr>
        <p:txBody>
          <a:bodyPr rtlCol="0" anchor="ctr" lIns="0" rIns="0" tIns="0" bIns="0"/>
          <a:lstStyle/>
          <a:p>
            <a:pPr algn="ctr"/>
            <a:r>
              <a:rPr sz="900" b="1" i="0" cap="all" spc="60">
                <a:solidFill>
                  <a:srgbClr val="000000"/>
                </a:solidFill>
              </a:rPr>
              <a:t>[Status]</a:t>
            </a:r>
          </a:p>
        </p:txBody>
      </p:sp>
      <p:sp>
        <p:nvSpPr>
          <p:cNvPr id="6" name="TextBox 5"/>
          <p:cNvSpPr txBox="1"/>
          <p:nvPr/>
        </p:nvSpPr>
        <p:spPr>
          <a:xfrm>
            <a:off x="7089648" y="365760"/>
            <a:ext cx="3200400" cy="502920"/>
          </a:xfrm>
          <a:prstGeom prst="rect">
            <a:avLst/>
          </a:prstGeom>
          <a:noFill/>
        </p:spPr>
        <p:txBody>
          <a:bodyPr wrap="square" lIns="0" rIns="0" tIns="0" bIns="0" anchor="t">
            <a:spAutoFit/>
          </a:bodyPr>
          <a:lstStyle/>
          <a:p>
            <a:pPr algn="r">
              <a:spcAft>
                <a:spcPts val="100"/>
              </a:spcAft>
            </a:pPr>
            <a:r>
              <a:rPr sz="850" b="1" i="0" cap="all" spc="100">
                <a:solidFill>
                  <a:srgbClr val="60607D"/>
                </a:solidFill>
              </a:rPr>
              <a:t>Owner(s)</a:t>
            </a:r>
          </a:p>
          <a:p>
            <a:pPr algn="r">
              <a:spcAft>
                <a:spcPts val="600"/>
              </a:spcAft>
            </a:pPr>
            <a:r>
              <a:rPr sz="1050" b="0" i="0">
                <a:solidFill>
                  <a:srgbClr val="000000"/>
                </a:solidFill>
              </a:rPr>
              <a:t>[Names]</a:t>
            </a:r>
          </a:p>
        </p:txBody>
      </p:sp>
      <p:sp>
        <p:nvSpPr>
          <p:cNvPr id="7" name="Rounded Rectangle 6"/>
          <p:cNvSpPr/>
          <p:nvPr/>
        </p:nvSpPr>
        <p:spPr>
          <a:xfrm>
            <a:off x="530352" y="1371600"/>
            <a:ext cx="3749039" cy="45262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82880" tIns="155448" rIns="182880" bIns="91440"/>
          <a:lstStyle/>
          <a:p>
            <a:pPr algn="l">
              <a:spcAft>
                <a:spcPts val="600"/>
              </a:spcAft>
            </a:pPr>
            <a:r>
              <a:rPr sz="1100" b="1" i="0" cap="all" spc="60">
                <a:solidFill>
                  <a:srgbClr val="000000"/>
                </a:solidFill>
              </a:rPr>
              <a:t>The team</a:t>
            </a:r>
          </a:p>
          <a:p>
            <a:pPr algn="l">
              <a:spcAft>
                <a:spcPts val="100"/>
              </a:spcAft>
            </a:pPr>
            <a:r>
              <a:rPr sz="850" b="1" i="0" cap="all" spc="100">
                <a:solidFill>
                  <a:srgbClr val="60607D"/>
                </a:solidFill>
              </a:rPr>
              <a:t>Owners</a:t>
            </a:r>
          </a:p>
          <a:p>
            <a:pPr algn="l">
              <a:spcAft>
                <a:spcPts val="500"/>
              </a:spcAft>
            </a:pPr>
            <a:r>
              <a:rPr sz="1250" b="0" i="1">
                <a:solidFill>
                  <a:srgbClr val="60607D"/>
                </a:solidFill>
              </a:rPr>
              <a:t>[Name, role]</a:t>
            </a:r>
          </a:p>
          <a:p>
            <a:pPr algn="l">
              <a:spcAft>
                <a:spcPts val="100"/>
              </a:spcAft>
            </a:pPr>
            <a:r>
              <a:rPr sz="850" b="1" i="0" cap="all" spc="100">
                <a:solidFill>
                  <a:srgbClr val="60607D"/>
                </a:solidFill>
              </a:rPr>
              <a:t>Working on it now</a:t>
            </a:r>
          </a:p>
          <a:p>
            <a:pPr algn="l">
              <a:spcAft>
                <a:spcPts val="500"/>
              </a:spcAft>
            </a:pPr>
            <a:r>
              <a:rPr sz="1250" b="0" i="1">
                <a:solidFill>
                  <a:srgbClr val="60607D"/>
                </a:solidFill>
              </a:rPr>
              <a:t>[Who is doing the work]</a:t>
            </a:r>
          </a:p>
          <a:p>
            <a:pPr algn="l">
              <a:spcAft>
                <a:spcPts val="100"/>
              </a:spcAft>
            </a:pPr>
            <a:r>
              <a:rPr sz="850" b="1" i="0" cap="all" spc="100">
                <a:solidFill>
                  <a:srgbClr val="60607D"/>
                </a:solidFill>
              </a:rPr>
              <a:t>Partners &amp; stakeholders</a:t>
            </a:r>
          </a:p>
          <a:p>
            <a:pPr algn="l">
              <a:spcAft>
                <a:spcPts val="500"/>
              </a:spcAft>
            </a:pPr>
            <a:r>
              <a:rPr sz="1250" b="0" i="1">
                <a:solidFill>
                  <a:srgbClr val="60607D"/>
                </a:solidFill>
              </a:rPr>
              <a:t>[Who we depend on]</a:t>
            </a:r>
          </a:p>
        </p:txBody>
      </p:sp>
      <p:sp>
        <p:nvSpPr>
          <p:cNvPr id="8" name="TextBox 7"/>
          <p:cNvSpPr txBox="1"/>
          <p:nvPr/>
        </p:nvSpPr>
        <p:spPr>
          <a:xfrm>
            <a:off x="4416551" y="1371600"/>
            <a:ext cx="7245097" cy="228600"/>
          </a:xfrm>
          <a:prstGeom prst="rect">
            <a:avLst/>
          </a:prstGeom>
          <a:noFill/>
        </p:spPr>
        <p:txBody>
          <a:bodyPr wrap="square" lIns="0" rIns="0" tIns="0" bIns="0" anchor="t">
            <a:spAutoFit/>
          </a:bodyPr>
          <a:lstStyle/>
          <a:p>
            <a:pPr algn="l">
              <a:spcAft>
                <a:spcPts val="600"/>
              </a:spcAft>
            </a:pPr>
            <a:r>
              <a:rPr sz="1100" b="1" i="0" cap="all" spc="60">
                <a:solidFill>
                  <a:srgbClr val="000000"/>
                </a:solidFill>
              </a:rPr>
              <a:t>How we're approaching it</a:t>
            </a:r>
          </a:p>
        </p:txBody>
      </p:sp>
      <p:sp>
        <p:nvSpPr>
          <p:cNvPr id="9" name="TextBox 8"/>
          <p:cNvSpPr txBox="1"/>
          <p:nvPr/>
        </p:nvSpPr>
        <p:spPr>
          <a:xfrm>
            <a:off x="4416551" y="1645920"/>
            <a:ext cx="7245097" cy="457200"/>
          </a:xfrm>
          <a:prstGeom prst="rect">
            <a:avLst/>
          </a:prstGeom>
          <a:noFill/>
        </p:spPr>
        <p:txBody>
          <a:bodyPr wrap="square" lIns="0" rIns="0" tIns="0" bIns="0" anchor="t">
            <a:spAutoFit/>
          </a:bodyPr>
          <a:lstStyle/>
          <a:p>
            <a:pPr algn="l">
              <a:spcAft>
                <a:spcPts val="500"/>
              </a:spcAft>
            </a:pPr>
            <a:r>
              <a:rPr sz="1300" b="0" i="1">
                <a:solidFill>
                  <a:srgbClr val="60607D"/>
                </a:solidFill>
              </a:rPr>
              <a:t>[One line on the approach. Three steps or fewer.]</a:t>
            </a:r>
          </a:p>
        </p:txBody>
      </p:sp>
      <p:sp>
        <p:nvSpPr>
          <p:cNvPr id="10" name="Rounded Rectangle 9"/>
          <p:cNvSpPr/>
          <p:nvPr/>
        </p:nvSpPr>
        <p:spPr>
          <a:xfrm>
            <a:off x="4416551" y="2148840"/>
            <a:ext cx="2323592" cy="26060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82880" tIns="155448" rIns="182880" bIns="91440"/>
          <a:lstStyle/>
          <a:p>
            <a:pPr algn="l">
              <a:spcAft>
                <a:spcPts val="100"/>
              </a:spcAft>
            </a:pPr>
            <a:r>
              <a:rPr sz="850" b="1" i="0" cap="all" spc="100">
                <a:solidFill>
                  <a:srgbClr val="60607D"/>
                </a:solidFill>
              </a:rPr>
              <a:t>Step 1</a:t>
            </a:r>
          </a:p>
          <a:p>
            <a:pPr algn="l">
              <a:spcBef>
                <a:spcPts val="500"/>
              </a:spcBef>
              <a:spcAft>
                <a:spcPts val="200"/>
              </a:spcAft>
            </a:pPr>
            <a:r>
              <a:rPr sz="1300" b="1" i="0">
                <a:solidFill>
                  <a:srgbClr val="000000"/>
                </a:solidFill>
              </a:rPr>
              <a:t>[Name]</a:t>
            </a:r>
          </a:p>
          <a:p>
            <a:pPr algn="l">
              <a:spcAft>
                <a:spcPts val="500"/>
              </a:spcAft>
            </a:pPr>
            <a:r>
              <a:rPr sz="1250" b="0" i="1">
                <a:solidFill>
                  <a:srgbClr val="60607D"/>
                </a:solidFill>
              </a:rPr>
              <a:t>[What it is, in plain words.]</a:t>
            </a:r>
          </a:p>
        </p:txBody>
      </p:sp>
      <p:sp>
        <p:nvSpPr>
          <p:cNvPr id="11" name="Rounded Rectangle 10"/>
          <p:cNvSpPr/>
          <p:nvPr/>
        </p:nvSpPr>
        <p:spPr>
          <a:xfrm>
            <a:off x="6877303" y="2148840"/>
            <a:ext cx="2323592" cy="26060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82880" tIns="155448" rIns="182880" bIns="91440"/>
          <a:lstStyle/>
          <a:p>
            <a:pPr algn="l">
              <a:spcAft>
                <a:spcPts val="100"/>
              </a:spcAft>
            </a:pPr>
            <a:r>
              <a:rPr sz="850" b="1" i="0" cap="all" spc="100">
                <a:solidFill>
                  <a:srgbClr val="60607D"/>
                </a:solidFill>
              </a:rPr>
              <a:t>Step 2</a:t>
            </a:r>
          </a:p>
          <a:p>
            <a:pPr algn="l">
              <a:spcBef>
                <a:spcPts val="500"/>
              </a:spcBef>
              <a:spcAft>
                <a:spcPts val="200"/>
              </a:spcAft>
            </a:pPr>
            <a:r>
              <a:rPr sz="1300" b="1" i="0">
                <a:solidFill>
                  <a:srgbClr val="000000"/>
                </a:solidFill>
              </a:rPr>
              <a:t>[Name]</a:t>
            </a:r>
          </a:p>
          <a:p>
            <a:pPr algn="l">
              <a:spcAft>
                <a:spcPts val="500"/>
              </a:spcAft>
            </a:pPr>
            <a:r>
              <a:rPr sz="1250" b="0" i="1">
                <a:solidFill>
                  <a:srgbClr val="60607D"/>
                </a:solidFill>
              </a:rPr>
              <a:t>[What it is, in plain words.]</a:t>
            </a:r>
          </a:p>
        </p:txBody>
      </p:sp>
      <p:sp>
        <p:nvSpPr>
          <p:cNvPr id="12" name="Rounded Rectangle 11"/>
          <p:cNvSpPr/>
          <p:nvPr/>
        </p:nvSpPr>
        <p:spPr>
          <a:xfrm>
            <a:off x="9338055" y="2148840"/>
            <a:ext cx="2323592" cy="26060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82880" tIns="155448" rIns="182880" bIns="91440"/>
          <a:lstStyle/>
          <a:p>
            <a:pPr algn="l">
              <a:spcAft>
                <a:spcPts val="100"/>
              </a:spcAft>
            </a:pPr>
            <a:r>
              <a:rPr sz="850" b="1" i="0" cap="all" spc="100">
                <a:solidFill>
                  <a:srgbClr val="60607D"/>
                </a:solidFill>
              </a:rPr>
              <a:t>Step 3</a:t>
            </a:r>
          </a:p>
          <a:p>
            <a:pPr algn="l">
              <a:spcBef>
                <a:spcPts val="500"/>
              </a:spcBef>
              <a:spcAft>
                <a:spcPts val="200"/>
              </a:spcAft>
            </a:pPr>
            <a:r>
              <a:rPr sz="1300" b="1" i="0">
                <a:solidFill>
                  <a:srgbClr val="000000"/>
                </a:solidFill>
              </a:rPr>
              <a:t>[Name]</a:t>
            </a:r>
          </a:p>
          <a:p>
            <a:pPr algn="l">
              <a:spcAft>
                <a:spcPts val="500"/>
              </a:spcAft>
            </a:pPr>
            <a:r>
              <a:rPr sz="1250" b="0" i="1">
                <a:solidFill>
                  <a:srgbClr val="60607D"/>
                </a:solidFill>
              </a:rPr>
              <a:t>[What it is, in plain words.]</a:t>
            </a:r>
          </a:p>
        </p:txBody>
      </p:sp>
      <p:sp>
        <p:nvSpPr>
          <p:cNvPr id="13" name="Rounded Rectangle 12"/>
          <p:cNvSpPr/>
          <p:nvPr/>
        </p:nvSpPr>
        <p:spPr>
          <a:xfrm>
            <a:off x="4416551" y="4892040"/>
            <a:ext cx="7245097" cy="100584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182880" tIns="155448" rIns="182880" bIns="91440"/>
          <a:lstStyle/>
          <a:p>
            <a:pPr algn="l">
              <a:spcAft>
                <a:spcPts val="100"/>
              </a:spcAft>
            </a:pPr>
            <a:r>
              <a:rPr sz="850" b="1" i="0" cap="all" spc="100">
                <a:solidFill>
                  <a:srgbClr val="D6D6DF"/>
                </a:solidFill>
              </a:rPr>
              <a:t>Then</a:t>
            </a:r>
          </a:p>
          <a:p>
            <a:pPr algn="l">
              <a:spcAft>
                <a:spcPts val="500"/>
              </a:spcAft>
            </a:pPr>
            <a:r>
              <a:rPr sz="1250" b="0" i="1">
                <a:solidFill>
                  <a:srgbClr val="D6D6DF"/>
                </a:solidFill>
              </a:rPr>
              <a:t>[What follows once the first steps land. Optional.]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3" name="Title 2"/>
          <p:cNvSpPr>
            <a:spLocks noGrp="1"/>
          </p:cNvSpPr>
          <p:nvPr>
            <p:ph type="title"/>
          </p:nvPr>
        </p:nvSpPr>
        <p:spPr>
          <a:xfrm>
            <a:off x="530352" y="603504"/>
            <a:ext cx="6949440" cy="566928"/>
          </a:xfrm>
        </p:spPr>
        <p:txBody>
          <a:bodyPr/>
          <a:lstStyle/>
          <a:p>
            <a:r>
              <a:rPr sz="2800"/>
              <a:t>How we'll know it's working</a:t>
            </a:r>
          </a:p>
        </p:txBody>
      </p:sp>
      <p:sp>
        <p:nvSpPr>
          <p:cNvPr id="4" name="Text Placeholder 3"/>
          <p:cNvSpPr>
            <a:spLocks noGrp="1"/>
          </p:cNvSpPr>
          <p:nvPr>
            <p:ph type="body" idx="12" sz="quarter"/>
          </p:nvPr>
        </p:nvSpPr>
        <p:spPr>
          <a:xfrm>
            <a:off x="530352" y="384048"/>
            <a:ext cx="6949440" cy="182880"/>
          </a:xfrm>
        </p:spPr>
        <p:txBody>
          <a:bodyPr/>
          <a:lstStyle/>
          <a:p>
            <a:r>
              <a:t>PRIORITY [NN] · [PRIORITY NAME] · HOW WE'LL KNOW</a:t>
            </a:r>
          </a:p>
        </p:txBody>
      </p:sp>
      <p:sp>
        <p:nvSpPr>
          <p:cNvPr id="5" name="Rounded Rectangle 4"/>
          <p:cNvSpPr/>
          <p:nvPr/>
        </p:nvSpPr>
        <p:spPr>
          <a:xfrm>
            <a:off x="10427208" y="566928"/>
            <a:ext cx="1234440" cy="310896"/>
          </a:xfrm>
          <a:prstGeom prst="roundRect">
            <a:avLst>
              <a:gd name="adj" fmla="val 50000"/>
            </a:avLst>
          </a:prstGeom>
          <a:solidFill>
            <a:srgbClr val="FFFFFF"/>
          </a:solidFill>
          <a:ln w="12700">
            <a:solidFill>
              <a:srgbClr val="000000"/>
            </a:solidFill>
          </a:ln>
        </p:spPr>
        <p:txBody>
          <a:bodyPr rtlCol="0" anchor="ctr" lIns="0" rIns="0" tIns="0" bIns="0"/>
          <a:lstStyle/>
          <a:p>
            <a:pPr algn="ctr"/>
            <a:r>
              <a:rPr sz="900" b="1" i="0" cap="all" spc="60">
                <a:solidFill>
                  <a:srgbClr val="000000"/>
                </a:solidFill>
              </a:rPr>
              <a:t>[Status]</a:t>
            </a:r>
          </a:p>
        </p:txBody>
      </p:sp>
      <p:sp>
        <p:nvSpPr>
          <p:cNvPr id="6" name="TextBox 5"/>
          <p:cNvSpPr txBox="1"/>
          <p:nvPr/>
        </p:nvSpPr>
        <p:spPr>
          <a:xfrm>
            <a:off x="7089648" y="365760"/>
            <a:ext cx="3200400" cy="502920"/>
          </a:xfrm>
          <a:prstGeom prst="rect">
            <a:avLst/>
          </a:prstGeom>
          <a:noFill/>
        </p:spPr>
        <p:txBody>
          <a:bodyPr wrap="square" lIns="0" rIns="0" tIns="0" bIns="0" anchor="t">
            <a:spAutoFit/>
          </a:bodyPr>
          <a:lstStyle/>
          <a:p>
            <a:pPr algn="r">
              <a:spcAft>
                <a:spcPts val="100"/>
              </a:spcAft>
            </a:pPr>
            <a:r>
              <a:rPr sz="850" b="1" i="0" cap="all" spc="100">
                <a:solidFill>
                  <a:srgbClr val="60607D"/>
                </a:solidFill>
              </a:rPr>
              <a:t>Owner(s)</a:t>
            </a:r>
          </a:p>
          <a:p>
            <a:pPr algn="r">
              <a:spcAft>
                <a:spcPts val="600"/>
              </a:spcAft>
            </a:pPr>
            <a:r>
              <a:rPr sz="1050" b="0" i="0">
                <a:solidFill>
                  <a:srgbClr val="000000"/>
                </a:solidFill>
              </a:rPr>
              <a:t>[Names]</a:t>
            </a:r>
          </a:p>
        </p:txBody>
      </p:sp>
      <p:sp>
        <p:nvSpPr>
          <p:cNvPr id="7" name="TextBox 6"/>
          <p:cNvSpPr txBox="1"/>
          <p:nvPr/>
        </p:nvSpPr>
        <p:spPr>
          <a:xfrm>
            <a:off x="530352" y="1353312"/>
            <a:ext cx="11131296" cy="274320"/>
          </a:xfrm>
          <a:prstGeom prst="rect">
            <a:avLst/>
          </a:prstGeom>
          <a:noFill/>
        </p:spPr>
        <p:txBody>
          <a:bodyPr wrap="square" lIns="0" rIns="0" tIns="0" bIns="0" anchor="t">
            <a:spAutoFit/>
          </a:bodyPr>
          <a:lstStyle/>
          <a:p>
            <a:pPr algn="l">
              <a:spcAft>
                <a:spcPts val="400"/>
              </a:spcAft>
            </a:pPr>
            <a:r>
              <a:rPr sz="1000" b="0" i="1">
                <a:solidFill>
                  <a:srgbClr val="60607D"/>
                </a:solidFill>
              </a:rPr>
              <a:t>How we know it's working: not a KPI list. What we would see, how we would check, and what would tell us it is not.</a:t>
            </a:r>
          </a:p>
        </p:txBody>
      </p:sp>
      <p:sp>
        <p:nvSpPr>
          <p:cNvPr id="8" name="Rounded Rectangle 7"/>
          <p:cNvSpPr/>
          <p:nvPr/>
        </p:nvSpPr>
        <p:spPr>
          <a:xfrm>
            <a:off x="530352" y="1719072"/>
            <a:ext cx="3618992" cy="32004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182880" tIns="155448" rIns="182880" bIns="91440"/>
          <a:lstStyle/>
          <a:p>
            <a:pPr algn="l">
              <a:spcAft>
                <a:spcPts val="600"/>
              </a:spcAft>
            </a:pPr>
            <a:r>
              <a:rPr sz="1100" b="1" i="0" cap="all" spc="60">
                <a:solidFill>
                  <a:srgbClr val="D6D6DF"/>
                </a:solidFill>
              </a:rPr>
              <a:t>What we'll see when it's working</a:t>
            </a:r>
          </a:p>
          <a:p>
            <a:pPr algn="l">
              <a:spcAft>
                <a:spcPts val="500"/>
              </a:spcAft>
            </a:pPr>
            <a:r>
              <a:rPr sz="1250" b="0" i="1">
                <a:solidFill>
                  <a:srgbClr val="D6D6DF"/>
                </a:solidFill>
              </a:rPr>
              <a:t>[What would we see if this is working? In plain words, not a KPI.]</a:t>
            </a:r>
          </a:p>
        </p:txBody>
      </p:sp>
      <p:sp>
        <p:nvSpPr>
          <p:cNvPr id="9" name="Rounded Rectangle 8"/>
          <p:cNvSpPr/>
          <p:nvPr/>
        </p:nvSpPr>
        <p:spPr>
          <a:xfrm>
            <a:off x="4286504" y="1719072"/>
            <a:ext cx="3618992" cy="3200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82880" tIns="155448" rIns="182880" bIns="91440"/>
          <a:lstStyle/>
          <a:p>
            <a:pPr algn="l">
              <a:spcAft>
                <a:spcPts val="600"/>
              </a:spcAft>
            </a:pPr>
            <a:r>
              <a:rPr sz="1100" b="1" i="0" cap="all" spc="60">
                <a:solidFill>
                  <a:srgbClr val="000000"/>
                </a:solidFill>
              </a:rPr>
              <a:t>How we'll check</a:t>
            </a:r>
          </a:p>
          <a:p>
            <a:pPr algn="l">
              <a:spcAft>
                <a:spcPts val="500"/>
              </a:spcAft>
            </a:pPr>
            <a:r>
              <a:rPr sz="1250" b="0" i="1">
                <a:solidFill>
                  <a:srgbClr val="60607D"/>
                </a:solidFill>
              </a:rPr>
              <a:t>[How will we check? Who signs off, what do we look at, and when?]</a:t>
            </a:r>
          </a:p>
        </p:txBody>
      </p:sp>
      <p:sp>
        <p:nvSpPr>
          <p:cNvPr id="10" name="Rounded Rectangle 9"/>
          <p:cNvSpPr/>
          <p:nvPr/>
        </p:nvSpPr>
        <p:spPr>
          <a:xfrm>
            <a:off x="8042656" y="1719072"/>
            <a:ext cx="3618992" cy="3200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82880" tIns="155448" rIns="182880" bIns="91440"/>
          <a:lstStyle/>
          <a:p>
            <a:pPr algn="l">
              <a:spcAft>
                <a:spcPts val="600"/>
              </a:spcAft>
            </a:pPr>
            <a:r>
              <a:rPr sz="1100" b="1" i="0" cap="all" spc="60">
                <a:solidFill>
                  <a:srgbClr val="000000"/>
                </a:solidFill>
              </a:rPr>
              <a:t>Top risks &amp; failure points</a:t>
            </a:r>
          </a:p>
          <a:p>
            <a:pPr algn="l">
              <a:spcAft>
                <a:spcPts val="500"/>
              </a:spcAft>
            </a:pPr>
            <a:r>
              <a:rPr sz="1250" b="0" i="1">
                <a:solidFill>
                  <a:srgbClr val="60607D"/>
                </a:solidFill>
              </a:rPr>
              <a:t>[What would tell us it is not working? What could stop it?]</a:t>
            </a:r>
          </a:p>
        </p:txBody>
      </p:sp>
      <p:sp>
        <p:nvSpPr>
          <p:cNvPr id="11" name="Rounded Rectangle 10"/>
          <p:cNvSpPr/>
          <p:nvPr/>
        </p:nvSpPr>
        <p:spPr>
          <a:xfrm>
            <a:off x="530352" y="5056632"/>
            <a:ext cx="11131296" cy="7772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wrap="square" lIns="182880" tIns="155448" rIns="182880" bIns="91440"/>
          <a:lstStyle/>
          <a:p>
            <a:pPr algn="l">
              <a:spcAft>
                <a:spcPts val="100"/>
              </a:spcAft>
            </a:pPr>
            <a:r>
              <a:rPr sz="850" b="1" i="0" cap="all" spc="100">
                <a:solidFill>
                  <a:srgbClr val="60607D"/>
                </a:solidFill>
              </a:rPr>
              <a:t>Dependencies</a:t>
            </a:r>
          </a:p>
          <a:p>
            <a:pPr algn="l">
              <a:spcAft>
                <a:spcPts val="500"/>
              </a:spcAft>
            </a:pPr>
            <a:r>
              <a:rPr sz="1250" b="0" i="1">
                <a:solidFill>
                  <a:srgbClr val="60607D"/>
                </a:solidFill>
              </a:rPr>
              <a:t>[What has to be true first, and who we are waiting 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3" name="Title 2"/>
          <p:cNvSpPr>
            <a:spLocks noGrp="1"/>
          </p:cNvSpPr>
          <p:nvPr>
            <p:ph type="title"/>
          </p:nvPr>
        </p:nvSpPr>
        <p:spPr>
          <a:xfrm>
            <a:off x="530352" y="603504"/>
            <a:ext cx="6949440" cy="566928"/>
          </a:xfrm>
        </p:spPr>
        <p:txBody>
          <a:bodyPr/>
          <a:lstStyle/>
          <a:p>
            <a:r>
              <a:rPr sz="2800"/>
              <a:t>[Add a header]</a:t>
            </a:r>
          </a:p>
        </p:txBody>
      </p:sp>
      <p:sp>
        <p:nvSpPr>
          <p:cNvPr id="4" name="Text Placeholder 3"/>
          <p:cNvSpPr>
            <a:spLocks noGrp="1"/>
          </p:cNvSpPr>
          <p:nvPr>
            <p:ph type="body" idx="12" sz="quarter"/>
          </p:nvPr>
        </p:nvSpPr>
        <p:spPr>
          <a:xfrm>
            <a:off x="530352" y="384048"/>
            <a:ext cx="6949440" cy="182880"/>
          </a:xfrm>
        </p:spPr>
        <p:txBody>
          <a:bodyPr/>
          <a:lstStyle/>
          <a:p>
            <a:r>
              <a:t>PRIORITY [NN] · [PRIORITY NAME] · SUPPORTING DETAIL</a:t>
            </a:r>
          </a:p>
        </p:txBody>
      </p:sp>
      <p:sp>
        <p:nvSpPr>
          <p:cNvPr id="5" name="Rounded Rectangle 4"/>
          <p:cNvSpPr/>
          <p:nvPr/>
        </p:nvSpPr>
        <p:spPr>
          <a:xfrm>
            <a:off x="10427208" y="566928"/>
            <a:ext cx="1234440" cy="310896"/>
          </a:xfrm>
          <a:prstGeom prst="roundRect">
            <a:avLst>
              <a:gd name="adj" fmla="val 50000"/>
            </a:avLst>
          </a:prstGeom>
          <a:solidFill>
            <a:srgbClr val="FFFFFF"/>
          </a:solidFill>
          <a:ln w="12700">
            <a:solidFill>
              <a:srgbClr val="000000"/>
            </a:solidFill>
          </a:ln>
        </p:spPr>
        <p:txBody>
          <a:bodyPr rtlCol="0" anchor="ctr" lIns="0" rIns="0" tIns="0" bIns="0"/>
          <a:lstStyle/>
          <a:p>
            <a:pPr algn="ctr"/>
            <a:r>
              <a:rPr sz="900" b="1" i="0" cap="all" spc="60">
                <a:solidFill>
                  <a:srgbClr val="000000"/>
                </a:solidFill>
              </a:rPr>
              <a:t>[Status]</a:t>
            </a:r>
          </a:p>
        </p:txBody>
      </p:sp>
      <p:sp>
        <p:nvSpPr>
          <p:cNvPr id="6" name="TextBox 5"/>
          <p:cNvSpPr txBox="1"/>
          <p:nvPr/>
        </p:nvSpPr>
        <p:spPr>
          <a:xfrm>
            <a:off x="7089648" y="365760"/>
            <a:ext cx="3200400" cy="502920"/>
          </a:xfrm>
          <a:prstGeom prst="rect">
            <a:avLst/>
          </a:prstGeom>
          <a:noFill/>
        </p:spPr>
        <p:txBody>
          <a:bodyPr wrap="square" lIns="0" rIns="0" tIns="0" bIns="0" anchor="t">
            <a:spAutoFit/>
          </a:bodyPr>
          <a:lstStyle/>
          <a:p>
            <a:pPr algn="r">
              <a:spcAft>
                <a:spcPts val="100"/>
              </a:spcAft>
            </a:pPr>
            <a:r>
              <a:rPr sz="850" b="1" i="0" cap="all" spc="100">
                <a:solidFill>
                  <a:srgbClr val="60607D"/>
                </a:solidFill>
              </a:rPr>
              <a:t>Owner(s)</a:t>
            </a:r>
          </a:p>
          <a:p>
            <a:pPr algn="r">
              <a:spcAft>
                <a:spcPts val="600"/>
              </a:spcAft>
            </a:pPr>
            <a:r>
              <a:rPr sz="1050" b="0" i="0">
                <a:solidFill>
                  <a:srgbClr val="000000"/>
                </a:solidFill>
              </a:rPr>
              <a:t>[Names]</a:t>
            </a:r>
          </a:p>
        </p:txBody>
      </p:sp>
      <p:sp>
        <p:nvSpPr>
          <p:cNvPr id="7" name="Rounded Rectangle 6"/>
          <p:cNvSpPr/>
          <p:nvPr/>
        </p:nvSpPr>
        <p:spPr>
          <a:xfrm>
            <a:off x="530352" y="1371600"/>
            <a:ext cx="5497068" cy="461772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82880" tIns="155448" rIns="182880" bIns="91440"/>
          <a:lstStyle/>
          <a:p>
            <a:pPr algn="l">
              <a:spcAft>
                <a:spcPts val="600"/>
              </a:spcAft>
            </a:pPr>
            <a:r>
              <a:rPr sz="1100" b="1" i="0" cap="all" spc="60">
                <a:solidFill>
                  <a:srgbClr val="000000"/>
                </a:solidFill>
              </a:rPr>
              <a:t>[Add a header]</a:t>
            </a:r>
          </a:p>
          <a:p>
            <a:pPr algn="l">
              <a:spcAft>
                <a:spcPts val="500"/>
              </a:spcAft>
            </a:pPr>
            <a:r>
              <a:rPr sz="1150" b="0" i="1">
                <a:solidFill>
                  <a:srgbClr val="60607D"/>
                </a:solidFill>
              </a:rPr>
              <a:t>[A demo, a diagram, examples, options we considered, or a cost breakdown.]</a:t>
            </a:r>
          </a:p>
        </p:txBody>
      </p:sp>
      <p:sp>
        <p:nvSpPr>
          <p:cNvPr id="8" name="Rounded Rectangle 7"/>
          <p:cNvSpPr/>
          <p:nvPr/>
        </p:nvSpPr>
        <p:spPr>
          <a:xfrm>
            <a:off x="6164580" y="1371600"/>
            <a:ext cx="5497068" cy="461772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82880" tIns="155448" rIns="182880" bIns="91440"/>
          <a:lstStyle/>
          <a:p>
            <a:pPr algn="l">
              <a:spcAft>
                <a:spcPts val="600"/>
              </a:spcAft>
            </a:pPr>
            <a:r>
              <a:rPr sz="1100" b="1" i="0" cap="all" spc="60">
                <a:solidFill>
                  <a:srgbClr val="000000"/>
                </a:solidFill>
              </a:rPr>
              <a:t>[Add a header]</a:t>
            </a:r>
          </a:p>
          <a:p>
            <a:pPr algn="l">
              <a:spcAft>
                <a:spcPts val="500"/>
              </a:spcAft>
            </a:pPr>
            <a:r>
              <a:rPr sz="1150" b="0" i="1">
                <a:solidFill>
                  <a:srgbClr val="60607D"/>
                </a:solidFill>
              </a:rPr>
              <a:t>[Anything that helps people see it or trust it. Delete the slide if there is nothing to add.]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3" name="Title 2"/>
          <p:cNvSpPr>
            <a:spLocks noGrp="1"/>
          </p:cNvSpPr>
          <p:nvPr>
            <p:ph type="title"/>
          </p:nvPr>
        </p:nvSpPr>
        <p:spPr>
          <a:xfrm>
            <a:off x="530352" y="603504"/>
            <a:ext cx="6949440" cy="566928"/>
          </a:xfrm>
        </p:spPr>
        <p:txBody>
          <a:bodyPr/>
          <a:lstStyle/>
          <a:p>
            <a:r>
              <a:rPr sz="2800"/>
              <a:t>One pattern for every priority</a:t>
            </a:r>
          </a:p>
        </p:txBody>
      </p:sp>
      <p:sp>
        <p:nvSpPr>
          <p:cNvPr id="4" name="Text Placeholder 3"/>
          <p:cNvSpPr>
            <a:spLocks noGrp="1"/>
          </p:cNvSpPr>
          <p:nvPr>
            <p:ph type="body" idx="12" sz="quarter"/>
          </p:nvPr>
        </p:nvSpPr>
        <p:spPr>
          <a:xfrm>
            <a:off x="530352" y="384048"/>
            <a:ext cx="6949440" cy="182880"/>
          </a:xfrm>
        </p:spPr>
        <p:txBody>
          <a:bodyPr/>
          <a:lstStyle/>
          <a:p>
            <a:r>
              <a:t>HOW THIS MASTER WORKS</a:t>
            </a:r>
          </a:p>
        </p:txBody>
      </p:sp>
      <p:sp>
        <p:nvSpPr>
          <p:cNvPr id="5" name="Rounded Rectangle 4"/>
          <p:cNvSpPr/>
          <p:nvPr/>
        </p:nvSpPr>
        <p:spPr>
          <a:xfrm>
            <a:off x="530352" y="1371600"/>
            <a:ext cx="1763776" cy="201168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137160" tIns="137160" rIns="109728" bIns="91440"/>
          <a:lstStyle/>
          <a:p>
            <a:pPr algn="l">
              <a:spcAft>
                <a:spcPts val="600"/>
              </a:spcAft>
            </a:pPr>
            <a:r>
              <a:rPr sz="1500" b="1" i="0">
                <a:solidFill>
                  <a:srgbClr val="FFFFFF"/>
                </a:solidFill>
              </a:rPr>
              <a:t>1</a:t>
            </a:r>
          </a:p>
          <a:p>
            <a:pPr algn="l">
              <a:spcBef>
                <a:spcPts val="500"/>
              </a:spcBef>
              <a:spcAft>
                <a:spcPts val="200"/>
              </a:spcAft>
            </a:pPr>
            <a:r>
              <a:rPr sz="1200" b="1" i="0">
                <a:solidFill>
                  <a:srgbClr val="FFFFFF"/>
                </a:solidFill>
              </a:rPr>
              <a:t>Executive summary</a:t>
            </a:r>
          </a:p>
          <a:p>
            <a:pPr algn="l">
              <a:spcAft>
                <a:spcPts val="600"/>
              </a:spcAft>
            </a:pPr>
            <a:r>
              <a:rPr sz="1200" b="0" i="0">
                <a:solidFill>
                  <a:srgbClr val="FFFFFF"/>
                </a:solidFill>
              </a:rPr>
              <a:t>One slide. Every priority, its status, and how we will know it is working. Rolls up from the pages below.</a:t>
            </a:r>
          </a:p>
        </p:txBody>
      </p:sp>
      <p:sp>
        <p:nvSpPr>
          <p:cNvPr id="6" name="Rounded Rectangle 5"/>
          <p:cNvSpPr/>
          <p:nvPr/>
        </p:nvSpPr>
        <p:spPr>
          <a:xfrm>
            <a:off x="2403856" y="1371600"/>
            <a:ext cx="1763776" cy="20116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37160" tIns="137160" rIns="109728" bIns="91440"/>
          <a:lstStyle/>
          <a:p>
            <a:pPr algn="l">
              <a:spcAft>
                <a:spcPts val="600"/>
              </a:spcAft>
            </a:pPr>
            <a:r>
              <a:rPr sz="1500" b="1" i="0">
                <a:solidFill>
                  <a:srgbClr val="000000"/>
                </a:solidFill>
              </a:rPr>
              <a:t>2</a:t>
            </a:r>
          </a:p>
          <a:p>
            <a:pPr algn="l">
              <a:spcBef>
                <a:spcPts val="500"/>
              </a:spcBef>
              <a:spcAft>
                <a:spcPts val="200"/>
              </a:spcAft>
            </a:pPr>
            <a:r>
              <a:rPr sz="1200" b="1" i="0">
                <a:solidFill>
                  <a:srgbClr val="000000"/>
                </a:solidFill>
              </a:rPr>
              <a:t>Divider</a:t>
            </a:r>
          </a:p>
          <a:p>
            <a:pPr algn="l">
              <a:spcAft>
                <a:spcPts val="600"/>
              </a:spcAft>
            </a:pPr>
            <a:r>
              <a:rPr sz="1200" b="0" i="0">
                <a:solidFill>
                  <a:srgbClr val="000000"/>
                </a:solidFill>
              </a:rPr>
              <a:t>One per priority, with one image. That image is used on every slide of the priority, in every deck it appears in.</a:t>
            </a:r>
          </a:p>
        </p:txBody>
      </p:sp>
      <p:sp>
        <p:nvSpPr>
          <p:cNvPr id="7" name="Rounded Rectangle 6"/>
          <p:cNvSpPr/>
          <p:nvPr/>
        </p:nvSpPr>
        <p:spPr>
          <a:xfrm>
            <a:off x="4277360" y="1371600"/>
            <a:ext cx="1763776" cy="20116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37160" tIns="137160" rIns="109728" bIns="91440"/>
          <a:lstStyle/>
          <a:p>
            <a:pPr algn="l">
              <a:spcAft>
                <a:spcPts val="600"/>
              </a:spcAft>
            </a:pPr>
            <a:r>
              <a:rPr sz="1500" b="1" i="0">
                <a:solidFill>
                  <a:srgbClr val="000000"/>
                </a:solidFill>
              </a:rPr>
              <a:t>3</a:t>
            </a:r>
          </a:p>
          <a:p>
            <a:pPr algn="l">
              <a:spcBef>
                <a:spcPts val="500"/>
              </a:spcBef>
              <a:spcAft>
                <a:spcPts val="200"/>
              </a:spcAft>
            </a:pPr>
            <a:r>
              <a:rPr sz="1200" b="1" i="0">
                <a:solidFill>
                  <a:srgbClr val="000000"/>
                </a:solidFill>
              </a:rPr>
              <a:t>One-pager</a:t>
            </a:r>
          </a:p>
          <a:p>
            <a:pPr algn="l">
              <a:spcAft>
                <a:spcPts val="600"/>
              </a:spcAft>
            </a:pPr>
            <a:r>
              <a:rPr sz="1200" b="0" i="0">
                <a:solidFill>
                  <a:srgbClr val="000000"/>
                </a:solidFill>
              </a:rPr>
              <a:t>Why now, what moved, what is next, what we need. The update.</a:t>
            </a:r>
          </a:p>
        </p:txBody>
      </p:sp>
      <p:sp>
        <p:nvSpPr>
          <p:cNvPr id="8" name="Rounded Rectangle 7"/>
          <p:cNvSpPr/>
          <p:nvPr/>
        </p:nvSpPr>
        <p:spPr>
          <a:xfrm>
            <a:off x="6150864" y="1371600"/>
            <a:ext cx="1763776" cy="20116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37160" tIns="137160" rIns="109728" bIns="91440"/>
          <a:lstStyle/>
          <a:p>
            <a:pPr algn="l">
              <a:spcAft>
                <a:spcPts val="600"/>
              </a:spcAft>
            </a:pPr>
            <a:r>
              <a:rPr sz="1500" b="1" i="0">
                <a:solidFill>
                  <a:srgbClr val="000000"/>
                </a:solidFill>
              </a:rPr>
              <a:t>4</a:t>
            </a:r>
          </a:p>
          <a:p>
            <a:pPr algn="l">
              <a:spcBef>
                <a:spcPts val="500"/>
              </a:spcBef>
              <a:spcAft>
                <a:spcPts val="200"/>
              </a:spcAft>
            </a:pPr>
            <a:r>
              <a:rPr sz="1200" b="1" i="0">
                <a:solidFill>
                  <a:srgbClr val="000000"/>
                </a:solidFill>
              </a:rPr>
              <a:t>Who and how</a:t>
            </a:r>
          </a:p>
          <a:p>
            <a:pPr algn="l">
              <a:spcAft>
                <a:spcPts val="600"/>
              </a:spcAft>
            </a:pPr>
            <a:r>
              <a:rPr sz="1200" b="0" i="0">
                <a:solidFill>
                  <a:srgbClr val="000000"/>
                </a:solidFill>
              </a:rPr>
              <a:t>The team, and the approach in three steps or fewer.</a:t>
            </a:r>
          </a:p>
        </p:txBody>
      </p:sp>
      <p:sp>
        <p:nvSpPr>
          <p:cNvPr id="9" name="Rounded Rectangle 8"/>
          <p:cNvSpPr/>
          <p:nvPr/>
        </p:nvSpPr>
        <p:spPr>
          <a:xfrm>
            <a:off x="8024368" y="1371600"/>
            <a:ext cx="1763776" cy="20116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37160" tIns="137160" rIns="109728" bIns="91440"/>
          <a:lstStyle/>
          <a:p>
            <a:pPr algn="l">
              <a:spcAft>
                <a:spcPts val="600"/>
              </a:spcAft>
            </a:pPr>
            <a:r>
              <a:rPr sz="1500" b="1" i="0">
                <a:solidFill>
                  <a:srgbClr val="000000"/>
                </a:solidFill>
              </a:rPr>
              <a:t>5</a:t>
            </a:r>
          </a:p>
          <a:p>
            <a:pPr algn="l">
              <a:spcBef>
                <a:spcPts val="500"/>
              </a:spcBef>
              <a:spcAft>
                <a:spcPts val="200"/>
              </a:spcAft>
            </a:pPr>
            <a:r>
              <a:rPr sz="1200" b="1" i="0">
                <a:solidFill>
                  <a:srgbClr val="000000"/>
                </a:solidFill>
              </a:rPr>
              <a:t>How we'll know</a:t>
            </a:r>
          </a:p>
          <a:p>
            <a:pPr algn="l">
              <a:spcAft>
                <a:spcPts val="600"/>
              </a:spcAft>
            </a:pPr>
            <a:r>
              <a:rPr sz="1200" b="0" i="0">
                <a:solidFill>
                  <a:srgbClr val="000000"/>
                </a:solidFill>
              </a:rPr>
              <a:t>What we would see, how we check, what would tell us it is not working. Not a KPI list.</a:t>
            </a:r>
          </a:p>
        </p:txBody>
      </p:sp>
      <p:sp>
        <p:nvSpPr>
          <p:cNvPr id="10" name="Rounded Rectangle 9"/>
          <p:cNvSpPr/>
          <p:nvPr/>
        </p:nvSpPr>
        <p:spPr>
          <a:xfrm>
            <a:off x="9897872" y="1371600"/>
            <a:ext cx="1763776" cy="20116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37160" tIns="137160" rIns="109728" bIns="91440"/>
          <a:lstStyle/>
          <a:p>
            <a:pPr algn="l">
              <a:spcAft>
                <a:spcPts val="600"/>
              </a:spcAft>
            </a:pPr>
            <a:r>
              <a:rPr sz="1500" b="1" i="0">
                <a:solidFill>
                  <a:srgbClr val="000000"/>
                </a:solidFill>
              </a:rPr>
              <a:t>6</a:t>
            </a:r>
          </a:p>
          <a:p>
            <a:pPr algn="l">
              <a:spcBef>
                <a:spcPts val="500"/>
              </a:spcBef>
              <a:spcAft>
                <a:spcPts val="200"/>
              </a:spcAft>
            </a:pPr>
            <a:r>
              <a:rPr sz="1200" b="1" i="0">
                <a:solidFill>
                  <a:srgbClr val="000000"/>
                </a:solidFill>
              </a:rPr>
              <a:t>Supporting detail</a:t>
            </a:r>
          </a:p>
          <a:p>
            <a:pPr algn="l">
              <a:spcAft>
                <a:spcPts val="600"/>
              </a:spcAft>
            </a:pPr>
            <a:r>
              <a:rPr sz="1200" b="0" i="0">
                <a:solidFill>
                  <a:srgbClr val="000000"/>
                </a:solidFill>
              </a:rPr>
              <a:t>Optional and flexible. Demo, diagram, examples, options considered.</a:t>
            </a:r>
          </a:p>
        </p:txBody>
      </p:sp>
      <p:sp>
        <p:nvSpPr>
          <p:cNvPr id="11" name="Rounded Rectangle 10"/>
          <p:cNvSpPr/>
          <p:nvPr/>
        </p:nvSpPr>
        <p:spPr>
          <a:xfrm>
            <a:off x="530352" y="3566160"/>
            <a:ext cx="11131296" cy="233172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82880" tIns="155448" rIns="182880" bIns="91440"/>
          <a:lstStyle/>
          <a:p>
            <a:pPr algn="l">
              <a:spcAft>
                <a:spcPts val="600"/>
              </a:spcAft>
            </a:pPr>
            <a:r>
              <a:rPr sz="1100" b="1" i="0" cap="all" spc="60">
                <a:solidFill>
                  <a:srgbClr val="000000"/>
                </a:solidFill>
              </a:rPr>
              <a:t>Rules</a:t>
            </a:r>
          </a:p>
          <a:p>
            <a:pPr algn="l" marL="171450" indent="-171450">
              <a:spcAft>
                <a:spcPts val="600"/>
              </a:spcAft>
              <a:buFont typeface="Arial"/>
              <a:buChar char="•"/>
            </a:pPr>
            <a:r>
              <a:rPr sz="1200" b="0" i="0">
                <a:solidFill>
                  <a:srgbClr val="000000"/>
                </a:solidFill>
              </a:rPr>
              <a:t>After the executive summary, a priority gets four slides at most. Delete the ones you do not need.</a:t>
            </a:r>
          </a:p>
          <a:p>
            <a:pPr algn="l" marL="171450" indent="-171450">
              <a:spcAft>
                <a:spcPts val="600"/>
              </a:spcAft>
              <a:buFont typeface="Arial"/>
              <a:buChar char="•"/>
            </a:pPr>
            <a:r>
              <a:rPr sz="1200" b="0" i="0">
                <a:solidFill>
                  <a:srgbClr val="000000"/>
                </a:solidFill>
              </a:rPr>
              <a:t>Status and the one-line description must match between the executive summary and the one-pager.</a:t>
            </a:r>
          </a:p>
          <a:p>
            <a:pPr algn="l" marL="171450" indent="-171450">
              <a:spcAft>
                <a:spcPts val="600"/>
              </a:spcAft>
              <a:buFont typeface="Arial"/>
              <a:buChar char="•"/>
            </a:pPr>
            <a:r>
              <a:rPr sz="1200" b="0" i="0">
                <a:solidFill>
                  <a:srgbClr val="000000"/>
                </a:solidFill>
              </a:rPr>
              <a:t>Do not have the content yet? Keep the slide and leave the bracketed prompt. An honest gap is better than a vague line.</a:t>
            </a:r>
          </a:p>
          <a:p>
            <a:pPr algn="l" marL="171450" indent="-171450">
              <a:spcAft>
                <a:spcPts val="600"/>
              </a:spcAft>
              <a:buFont typeface="Arial"/>
              <a:buChar char="•"/>
            </a:pPr>
            <a:r>
              <a:rPr sz="1200" b="0" i="0">
                <a:solidFill>
                  <a:srgbClr val="000000"/>
                </a:solidFill>
              </a:rPr>
              <a:t>'How we'll know it's working' is not a KPI. It is what we would see, and how we would check.</a:t>
            </a:r>
          </a:p>
          <a:p>
            <a:pPr algn="l" marL="171450" indent="-171450">
              <a:spcAft>
                <a:spcPts val="600"/>
              </a:spcAft>
              <a:buFont typeface="Arial"/>
              <a:buChar char="•"/>
            </a:pPr>
            <a:r>
              <a:rPr sz="1200" b="0" i="0">
                <a:solidFill>
                  <a:srgbClr val="000000"/>
                </a:solidFill>
              </a:rPr>
              <a:t>Longer decks: reuse these slides rather than building new formats. Blank copies of every template slide follow this one.</a:t>
            </a:r>
          </a:p>
        </p:txBody>
      </p:sp>
    </p:spTree>
  </p:cSld>
  <p:clrMapOvr>
    <a:masterClrMapping/>
  </p:clrMapOvr>
</p:sld>
</file>

<file path=ppt/theme/theme1.xml><?xml version="1.0" encoding="utf-8"?>
<a:theme xmlns:a="http://schemas.openxmlformats.org/drawingml/2006/main" name="COLLABORATIVE WIREFRAME - 2025">
  <a:themeElements>
    <a:clrScheme name="Merkle_2025_v2">
      <a:dk1>
        <a:srgbClr val="FFFFFF"/>
      </a:dk1>
      <a:lt1>
        <a:srgbClr val="000000"/>
      </a:lt1>
      <a:dk2>
        <a:srgbClr val="D6D6DF"/>
      </a:dk2>
      <a:lt2>
        <a:srgbClr val="8888A1"/>
      </a:lt2>
      <a:accent1>
        <a:srgbClr val="040E4B"/>
      </a:accent1>
      <a:accent2>
        <a:srgbClr val="0391F2"/>
      </a:accent2>
      <a:accent3>
        <a:srgbClr val="031FA3"/>
      </a:accent3>
      <a:accent4>
        <a:srgbClr val="0328D1"/>
      </a:accent4>
      <a:accent5>
        <a:srgbClr val="60607D"/>
      </a:accent5>
      <a:accent6>
        <a:srgbClr val="DD3038"/>
      </a:accent6>
      <a:hlink>
        <a:srgbClr val="0228D0"/>
      </a:hlink>
      <a:folHlink>
        <a:srgbClr val="0291F1"/>
      </a:folHlink>
    </a:clrScheme>
    <a:fontScheme name="Proxima test">
      <a:majorFont>
        <a:latin typeface="Proxima Nova"/>
        <a:ea typeface=""/>
        <a:cs typeface=""/>
      </a:majorFont>
      <a:minorFont>
        <a:latin typeface="Proxima Nov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lumMod val="20000"/>
            <a:lumOff val="80000"/>
          </a:schemeClr>
        </a:solidFill>
        <a:ln>
          <a:noFill/>
        </a:ln>
      </a:spPr>
      <a:bodyPr rtlCol="0" anchor="ctr">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noAutofit/>
      </a:bodyPr>
      <a:lstStyle>
        <a:defPPr algn="l">
          <a:spcAft>
            <a:spcPts val="600"/>
          </a:spcAft>
          <a:defRPr sz="1400" dirty="0" smtClean="0"/>
        </a:defPPr>
      </a:lstStyle>
    </a:txDef>
  </a:objectDefaults>
  <a:extraClrSchemeLst/>
  <a:custClrLst>
    <a:custClr name="Deep Blue">
      <a:srgbClr val="000033"/>
    </a:custClr>
    <a:custClr name="Merkle Blue">
      <a:srgbClr val="040E4B"/>
    </a:custClr>
    <a:custClr name="Gulf Blue">
      <a:srgbClr val="041677"/>
    </a:custClr>
    <a:custClr name="Klein">
      <a:srgbClr val="031FA4"/>
    </a:custClr>
    <a:custClr name="Cobalt">
      <a:srgbClr val="0328D1"/>
    </a:custClr>
    <a:custClr name="Sky Blue">
      <a:srgbClr val="0391F2"/>
    </a:custClr>
    <a:custClr name="White">
      <a:srgbClr val="FFFFFF"/>
    </a:custClr>
    <a:custClr name="White">
      <a:srgbClr val="FFFFFF"/>
    </a:custClr>
    <a:custClr name="White">
      <a:srgbClr val="FFFFFF"/>
    </a:custClr>
    <a:custClr name="White">
      <a:srgbClr val="FFFFFF"/>
    </a:custClr>
    <a:custClr name="Dark Gray Tint">
      <a:srgbClr val="8888A1"/>
    </a:custClr>
    <a:custClr name="Mid Gray">
      <a:srgbClr val="AEAEBC"/>
    </a:custClr>
    <a:custClr name="Mid Gray Tint">
      <a:srgbClr val="D6D6DF"/>
    </a:custClr>
    <a:custClr name="Light Gray">
      <a:srgbClr val="E5E5E9"/>
    </a:custClr>
    <a:custClr name="Light Gray Tint">
      <a:srgbClr val="F2F2F4"/>
    </a:custClr>
    <a:custClr name="White">
      <a:srgbClr val="FFFFFF"/>
    </a:custClr>
    <a:custClr name="White">
      <a:srgbClr val="FFFFFF"/>
    </a:custClr>
    <a:custClr name="White">
      <a:srgbClr val="FFFFFF"/>
    </a:custClr>
    <a:custClr name="White">
      <a:srgbClr val="FFFFFF"/>
    </a:custClr>
    <a:custClr name="White">
      <a:srgbClr val="FFFFFF"/>
    </a:custClr>
  </a:custClrLst>
  <a:extLst>
    <a:ext uri="{05A4C25C-085E-4340-85A3-A5531E510DB2}">
      <thm15:themeFamily xmlns:thm15="http://schemas.microsoft.com/office/thememl/2012/main" name="Presentation14" id="{6AAA1F15-3B3D-DC40-84A7-038FCC97591D}" vid="{52855127-7402-5345-9C1A-ACD26C0731C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item1.xml><?xml version="1.0" encoding="utf-8"?>
<TemplafySlideFormConfiguration><![CDATA[{"formFields":[],"formDataEntries":[]}]]></TemplafySlideFormConfiguration>
</file>

<file path=customXml/item2.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3.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4.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5.xml><?xml version="1.0" encoding="utf-8"?>
<ct:contentTypeSchema xmlns:ct="http://schemas.microsoft.com/office/2006/metadata/contentType" xmlns:ma="http://schemas.microsoft.com/office/2006/metadata/properties/metaAttributes" ct:_="" ma:_="" ma:contentTypeName="Document" ma:contentTypeID="0x0101000E03A52DFF83D84488E93803DDBB9CF7" ma:contentTypeVersion="3" ma:contentTypeDescription="Create a new document." ma:contentTypeScope="" ma:versionID="7183402d5426fb7fa40a57754f8987a7">
  <xsd:schema xmlns:xsd="http://www.w3.org/2001/XMLSchema" xmlns:xs="http://www.w3.org/2001/XMLSchema" xmlns:p="http://schemas.microsoft.com/office/2006/metadata/properties" xmlns:ns2="ffd69ccd-669e-4a1a-b9ff-a607e277eb6b" targetNamespace="http://schemas.microsoft.com/office/2006/metadata/properties" ma:root="true" ma:fieldsID="fce94913ec708fae3ad90612dc7fd3f5" ns2:_="">
    <xsd:import namespace="ffd69ccd-669e-4a1a-b9ff-a607e277eb6b"/>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fd69ccd-669e-4a1a-b9ff-a607e277e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6.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7.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8.xml><?xml version="1.0" encoding="utf-8"?>
<TemplafySlideFormConfiguration><![CDATA[{"formFields":[],"formDataEntries":[]}]]></TemplafySlideFormConfiguration>
</file>

<file path=customXml/item9.xml><?xml version="1.0" encoding="utf-8"?>
<TemplafySlideFormConfiguration><![CDATA[{"formFields":[],"formDataEntries":[]}]]></TemplafySlideFormConfiguration>
</file>

<file path=customXml/item10.xml><?xml version="1.0" encoding="utf-8"?>
<p:properties xmlns:p="http://schemas.microsoft.com/office/2006/metadata/properties" xmlns:xsi="http://www.w3.org/2001/XMLSchema-instance" xmlns:pc="http://schemas.microsoft.com/office/infopath/2007/PartnerControls">
  <documentManagement/>
</p:properties>
</file>

<file path=customXml/item11.xml><?xml version="1.0" encoding="utf-8"?>
<TemplafySlideFormConfiguration><![CDATA[{"formFields":[],"formDataEntries":[]}]]></TemplafySlideFormConfiguration>
</file>

<file path=customXml/item12.xml><?xml version="1.0" encoding="utf-8"?>
<TemplafySlideFormConfiguration><![CDATA[{"formFields":[],"formDataEntries":[]}]]></TemplafySlideFormConfiguration>
</file>

<file path=customXml/item13.xml><?xml version="1.0" encoding="utf-8"?>
<TemplafySlideFormConfiguration><![CDATA[{"formFields":[],"formDataEntries":[]}]]></TemplafySlideFormConfiguration>
</file>

<file path=customXml/item14.xml><?xml version="1.0" encoding="utf-8"?>
<?mso-contentType ?>
<FormTemplates xmlns="http://schemas.microsoft.com/sharepoint/v3/contenttype/forms">
  <Display>DocumentLibraryForm</Display>
  <Edit>DocumentLibraryForm</Edit>
  <New>DocumentLibraryForm</New>
</FormTemplates>
</file>

<file path=customXml/item15.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Props1.xml><?xml version="1.0" encoding="utf-8"?>
<ds:datastoreItem xmlns:ds="http://schemas.openxmlformats.org/officeDocument/2006/customXml" ds:itemID="{C978122E-4CF7-4DAF-A638-3228CFE4D0E4}">
  <ds:schemaRefs/>
</ds:datastoreItem>
</file>

<file path=customXml/itemProps2.xml><?xml version="1.0" encoding="utf-8"?>
<ds:datastoreItem xmlns:ds="http://schemas.openxmlformats.org/officeDocument/2006/customXml" ds:itemID="{4D8D6E3D-6D95-4645-9B5B-00A02728EFE6}">
  <ds:schemaRefs/>
</ds:datastoreItem>
</file>

<file path=customXml/itemProps3.xml><?xml version="1.0" encoding="utf-8"?>
<ds:datastoreItem xmlns:ds="http://schemas.openxmlformats.org/officeDocument/2006/customXml" ds:itemID="{7175AA37-2E84-4AD4-A69B-19A9990FFAFF}">
  <ds:schemaRefs/>
</ds:datastoreItem>
</file>

<file path=customXml/itemProps4.xml><?xml version="1.0" encoding="utf-8"?>
<ds:datastoreItem xmlns:ds="http://schemas.openxmlformats.org/officeDocument/2006/customXml" ds:itemID="{A48A09DB-9412-4CC5-853B-30DF5312F164}">
  <ds:schemaRefs/>
</ds:datastoreItem>
</file>

<file path=customXml/itemProps5.xml><?xml version="1.0" encoding="utf-8"?>
<ds:datastoreItem xmlns:ds="http://schemas.openxmlformats.org/officeDocument/2006/customXml" ds:itemID="{67BEF938-330B-4D83-BEC7-2D1BE76C92B0}">
  <ds:schemaRefs>
    <ds:schemaRef ds:uri="ffd69ccd-669e-4a1a-b9ff-a607e277eb6b"/>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6.xml><?xml version="1.0" encoding="utf-8"?>
<ds:datastoreItem xmlns:ds="http://schemas.openxmlformats.org/officeDocument/2006/customXml" ds:itemID="{B82A8263-E571-43F3-9E91-8424F188A071}">
  <ds:schemaRefs/>
</ds:datastoreItem>
</file>

<file path=customXml/itemProps7.xml><?xml version="1.0" encoding="utf-8"?>
<ds:datastoreItem xmlns:ds="http://schemas.openxmlformats.org/officeDocument/2006/customXml" ds:itemID="{1C2D6E68-51DB-4BFD-88E4-E31D99A1A821}">
  <ds:schemaRefs/>
</ds:datastoreItem>
</file>

<file path=customXml/itemProps8.xml><?xml version="1.0" encoding="utf-8"?>
<ds:datastoreItem xmlns:ds="http://schemas.openxmlformats.org/officeDocument/2006/customXml" ds:itemID="{8ED5A302-E581-4954-9104-07BBB2BA16EA}">
  <ds:schemaRefs/>
</ds:datastoreItem>
</file>

<file path=customXml/itemProps9.xml><?xml version="1.0" encoding="utf-8"?>
<ds:datastoreItem xmlns:ds="http://schemas.openxmlformats.org/officeDocument/2006/customXml" ds:itemID="{D19811AB-F04C-4CB1-906B-120DD81CEC00}">
  <ds:schemaRefs/>
</ds:datastoreItem>
</file>

<file path=customXml/itemProps10.xml><?xml version="1.0" encoding="utf-8"?>
<ds:datastoreItem xmlns:ds="http://schemas.openxmlformats.org/officeDocument/2006/customXml" ds:itemID="{32C947A3-4CBF-434C-A709-03C12B0F1660}">
  <ds:schemaRefs>
    <ds:schemaRef ds:uri="http://schemas.microsoft.com/office/2006/documentManagement/types"/>
    <ds:schemaRef ds:uri="http://schemas.microsoft.com/office/2006/metadata/properties"/>
    <ds:schemaRef ds:uri="http://purl.org/dc/dcmitype/"/>
    <ds:schemaRef ds:uri="http://schemas.openxmlformats.org/package/2006/metadata/core-properties"/>
    <ds:schemaRef ds:uri="http://schemas.microsoft.com/office/infopath/2007/PartnerControls"/>
    <ds:schemaRef ds:uri="ffd69ccd-669e-4a1a-b9ff-a607e277eb6b"/>
    <ds:schemaRef ds:uri="http://purl.org/dc/elements/1.1/"/>
    <ds:schemaRef ds:uri="http://purl.org/dc/terms/"/>
    <ds:schemaRef ds:uri="http://www.w3.org/XML/1998/namespace"/>
  </ds:schemaRefs>
</ds:datastoreItem>
</file>

<file path=customXml/itemProps11.xml><?xml version="1.0" encoding="utf-8"?>
<ds:datastoreItem xmlns:ds="http://schemas.openxmlformats.org/officeDocument/2006/customXml" ds:itemID="{E15543A8-80BA-4997-B7AD-F61A4B2E048D}">
  <ds:schemaRefs/>
</ds:datastoreItem>
</file>

<file path=customXml/itemProps12.xml><?xml version="1.0" encoding="utf-8"?>
<ds:datastoreItem xmlns:ds="http://schemas.openxmlformats.org/officeDocument/2006/customXml" ds:itemID="{641488FD-1F5F-4710-8EC0-17A522704CC6}">
  <ds:schemaRefs/>
</ds:datastoreItem>
</file>

<file path=customXml/itemProps13.xml><?xml version="1.0" encoding="utf-8"?>
<ds:datastoreItem xmlns:ds="http://schemas.openxmlformats.org/officeDocument/2006/customXml" ds:itemID="{3A934794-B7B9-40A5-BC3E-83474445FB2C}">
  <ds:schemaRefs/>
</ds:datastoreItem>
</file>

<file path=customXml/itemProps14.xml><?xml version="1.0" encoding="utf-8"?>
<ds:datastoreItem xmlns:ds="http://schemas.openxmlformats.org/officeDocument/2006/customXml" ds:itemID="{55D39E11-1D25-4CE1-BD32-66A872E6EE8D}">
  <ds:schemaRefs>
    <ds:schemaRef ds:uri="http://schemas.microsoft.com/sharepoint/v3/contenttype/forms"/>
  </ds:schemaRefs>
</ds:datastoreItem>
</file>

<file path=customXml/itemProps15.xml><?xml version="1.0" encoding="utf-8"?>
<ds:datastoreItem xmlns:ds="http://schemas.openxmlformats.org/officeDocument/2006/customXml" ds:itemID="{C45642DC-9A5F-4645-ADA4-4C9C3418D003}">
  <ds:schemaRefs/>
</ds:datastoreItem>
</file>

<file path=docMetadata/LabelInfo.xml><?xml version="1.0" encoding="utf-8"?>
<clbl:labelList xmlns:clbl="http://schemas.microsoft.com/office/2020/mipLabelMetadata">
  <clbl:label id="{6e8992ec-76d5-4ea5-8eae-b0c5e558749a}" enabled="0" method="" siteId="{6e8992ec-76d5-4ea5-8eae-b0c5e558749a}" removed="1"/>
</clbl:labelList>
</file>

<file path=docProps/app.xml><?xml version="1.0" encoding="utf-8"?>
<Properties xmlns="http://schemas.openxmlformats.org/officeDocument/2006/extended-properties" xmlns:vt="http://schemas.openxmlformats.org/officeDocument/2006/docPropsVTypes">
  <Template/>
  <TotalTime>1004</TotalTime>
  <Words>8202</Words>
  <Application>Microsoft Office PowerPoint</Application>
  <PresentationFormat>Widescreen</PresentationFormat>
  <Paragraphs>917</Paragraphs>
  <Slides>55</Slides>
  <Notes>21</Notes>
  <HiddenSlides>28</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55</vt:i4>
      </vt:variant>
    </vt:vector>
  </HeadingPairs>
  <TitlesOfParts>
    <vt:vector size="60" baseType="lpstr">
      <vt:lpstr>Arial</vt:lpstr>
      <vt:lpstr>Aptos</vt:lpstr>
      <vt:lpstr>Proxima Nova</vt:lpstr>
      <vt:lpstr>Calibri Light</vt:lpstr>
      <vt:lpstr>COLLABORATIVE WIREFRAME - 2025</vt:lpstr>
      <vt:lpstr>Delivery Excellence</vt:lpstr>
      <vt:lpstr>Agenda</vt:lpstr>
      <vt:lpstr>What we’re already doing</vt:lpstr>
      <vt:lpstr>Where we’re focusing</vt:lpstr>
      <vt:lpstr>Deal-to-Delivery Playbook</vt:lpstr>
      <vt:lpstr>Deal-to-Delivery Problem Statement</vt:lpstr>
      <vt:lpstr>Deal-to-Delivery Recommendation</vt:lpstr>
      <vt:lpstr>Deal-to-Delivery Model Examples</vt:lpstr>
      <vt:lpstr>Timeline, Dependencies &amp; Stakeholders</vt:lpstr>
      <vt:lpstr>The Deal-to-Delivery Playbook</vt:lpstr>
      <vt:lpstr>Deal-to-Delivery Playbook</vt:lpstr>
      <vt:lpstr>Accountability Framework</vt:lpstr>
      <vt:lpstr>Accountability Framework</vt:lpstr>
      <vt:lpstr>Leadership Dashboards</vt:lpstr>
      <vt:lpstr>Leadership Dashboard</vt:lpstr>
      <vt:lpstr>Intake Updates</vt:lpstr>
      <vt:lpstr>Intake Updates</vt:lpstr>
      <vt:lpstr>Ops Transformation: Rebuild Scoping &amp; Staffing</vt:lpstr>
      <vt:lpstr>Ops Transformation: Rebuild Scoping &amp; Staffing</vt:lpstr>
      <vt:lpstr>Earlier Delivery &amp; Talent in Pursuits</vt:lpstr>
      <vt:lpstr>Earlier delivery and talent involvement in major pursuits</vt:lpstr>
      <vt:lpstr>Client &amp; Delivery Concerns</vt:lpstr>
      <vt:lpstr>Staffing</vt:lpstr>
      <vt:lpstr>Staffing</vt:lpstr>
      <vt:lpstr>Capacity Planning &amp; Romulus</vt:lpstr>
      <vt:lpstr>Capacity Planning &amp; Romulus</vt:lpstr>
      <vt:lpstr>What’s Next</vt:lpstr>
      <vt:lpstr>Romulus</vt:lpstr>
      <vt:lpstr>Mid-November</vt:lpstr>
      <vt:lpstr>Appendix</vt:lpstr>
      <vt:lpstr>The ask</vt:lpstr>
      <vt:lpstr>What leadership is asking for</vt:lpstr>
      <vt:lpstr>What it looks like on the ground</vt:lpstr>
      <vt:lpstr>How what we’re doing answers the ask</vt:lpstr>
      <vt:lpstr>How we define the work</vt:lpstr>
      <vt:lpstr>One shared way to define the work</vt:lpstr>
      <vt:lpstr>Who owns it</vt:lpstr>
      <vt:lpstr>Who owns each account</vt:lpstr>
      <vt:lpstr>How it gets staffed</vt:lpstr>
      <vt:lpstr>Staffing and talent</vt:lpstr>
      <vt:lpstr>How it gets delivered</vt:lpstr>
      <vt:lpstr>Modern ways of working</vt:lpstr>
      <vt:lpstr>Doing more than the contract</vt:lpstr>
      <vt:lpstr>How we watch it</vt:lpstr>
      <vt:lpstr>Seeing risk early</vt:lpstr>
      <vt:lpstr>A regular leadership meeting</vt:lpstr>
      <vt:lpstr>The 2027 revenue map</vt:lpstr>
      <vt:lpstr>Engagement vs. delivery layers</vt:lpstr>
      <vt:lpstr>The four delivery models</vt:lpstr>
      <vt:lpstr>How the layers stack (RL)</vt:lpstr>
      <vt:lpstr>The three account roles</vt:lpstr>
      <vt:lpstr>How we’ll know it’s working</vt:lpstr>
      <vt:lpstr>Client detail (1 of 2)</vt:lpstr>
      <vt:lpstr>Client detail (2 of 2)</vt:lpstr>
      <vt:lpstr>The RevTech stack behind this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Delivery Excellence</dc:title>
  <dc:creator>Kimberly Fisher</dc:creator>
  <cp:lastModifiedBy>Rachel Harris</cp:lastModifiedBy>
  <cp:revision>3</cp:revision>
  <dcterms:created xsi:type="dcterms:W3CDTF">2026-01-16T22:13:07Z</dcterms:created>
  <dcterms:modified xsi:type="dcterms:W3CDTF">2026-10-21T14:18:01Z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0x0101000E03A52DFF83D84488E93803DDBB9CF7</vt:lpwstr>
  </property>
  <property fmtid="{D5CDD505-2E9C-101B-9397-08002B2CF9AE}" pid="4" name="_dlc_DocIdItemGuid">
    <vt:lpwstr>195c4cb1-5c2c-4249-a77b-33076e76f845</vt:lpwstr>
  </property>
</Properties>
</file>