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51" r:id="rId16"/>
  </p:sldMasterIdLst>
  <p:notesMasterIdLst>
    <p:notesMasterId r:id="rId72"/>
  </p:notesMasterIdLst>
  <p:handoutMasterIdLst>
    <p:handoutMasterId r:id="rId73"/>
  </p:handoutMasterIdLst>
  <p:sldIdLst>
    <p:sldId id="256" r:id="rId29"/>
    <p:sldId id="257" r:id="rId30"/>
    <p:sldId id="258" r:id="rId31"/>
    <p:sldId id="259" r:id="rId32"/>
    <p:sldId id="260" r:id="rId33"/>
    <p:sldId id="261" r:id="rId34"/>
    <p:sldId id="262" r:id="rId35"/>
    <p:sldId id="263" r:id="rId36"/>
    <p:sldId id="264" r:id="rId37"/>
    <p:sldId id="265" r:id="rId38"/>
    <p:sldId id="266" r:id="rId39"/>
    <p:sldId id="267" r:id="rId40"/>
    <p:sldId id="268" r:id="rId41"/>
    <p:sldId id="269" r:id="rId42"/>
    <p:sldId id="270" r:id="rId43"/>
  </p:sldIdLst>
  <p:sldSz cx="12192000" cy="6858000"/>
  <p:notesSz cx="6858000" cy="9144000"/>
  <p:embeddedFontLst>
    <p:embeddedFont>
      <p:font typeface="Proxima Nova" panose="020B0604020202020204" charset="0"/>
      <p:regular r:id="rId74"/>
      <p:bold r:id="rId75"/>
      <p:italic r:id="rId76"/>
      <p:boldItalic r:id="rId77"/>
    </p:embeddedFont>
  </p:embeddedFont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livery Excellence" id="{236F68AB-0181-46F7-9D38-A0ACE40BA1D1}">
          <p14:sldIdLst>
            <p14:sldId id="256"/>
            <p14:sldId id="2147483563"/>
          </p14:sldIdLst>
        </p14:section>
        <p14:section name="What we’re already doing" id="{9DAD2B03-3DC1-4CE0-9145-15194985816E}">
          <p14:sldIdLst>
            <p14:sldId id="257"/>
            <p14:sldId id="258"/>
          </p14:sldIdLst>
        </p14:section>
        <p14:section name="01 Deal-to-Delivery Playbook" id="{A4AB9235-0588-4886-A78A-6E308247A23D}">
          <p14:sldIdLst>
            <p14:sldId id="2147483564"/>
            <p14:sldId id="2147483565"/>
            <p14:sldId id="2147483566"/>
            <p14:sldId id="2147483567"/>
            <p14:sldId id="2147483568"/>
            <p14:sldId id="2147483569"/>
            <p14:sldId id="2147483570"/>
          </p14:sldIdLst>
        </p14:section>
        <p14:section name="02 Accountability Framework" id="{47732A4A-872F-4724-9B5E-238CDAB21C79}">
          <p14:sldIdLst>
            <p14:sldId id="2147483571"/>
            <p14:sldId id="2147483572"/>
          </p14:sldIdLst>
        </p14:section>
        <p14:section name="03 Leadership Dashboards" id="{57A8BE7A-D2A7-4D92-B05A-5B52BF20E400}">
          <p14:sldIdLst>
            <p14:sldId id="2147483573"/>
            <p14:sldId id="2147483574"/>
          </p14:sldIdLst>
        </p14:section>
        <p14:section name="05 Intake Updates" id="{9C1E740B-5455-4392-86BB-694ADDE87398}">
          <p14:sldIdLst>
            <p14:sldId id="2147483580"/>
            <p14:sldId id="2147483581"/>
          </p14:sldIdLst>
        </p14:section>
        <p14:section name="06 Ops Transformation: Rebuild Scoping &amp; Staffing" id="{19195B0A-E1E6-4AE6-BE5D-5B2056CBAEE4}">
          <p14:sldIdLst>
            <p14:sldId id="2147483582"/>
            <p14:sldId id="2147483589"/>
          </p14:sldIdLst>
        </p14:section>
        <p14:section name="07 Earlier Delivery &amp; Talent in Pursuits" id="{F5EB8D02-56C1-4040-B8C9-F7B9E197759A}">
          <p14:sldIdLst>
            <p14:sldId id="2147483584"/>
            <p14:sldId id="2147483585"/>
          </p14:sldIdLst>
        </p14:section>
        <p14:section name="Client and delivery concerns" id="{0721D5D0-11E1-4222-9361-6C8A5C8072E6}">
          <p14:sldIdLst>
            <p14:sldId id="2147483586"/>
          </p14:sldIdLst>
        </p14:section>
        <p14:section name="Staffing" id="{A4B33691-F470-4898-9150-00CA067A88D4}">
          <p14:sldIdLst>
            <p14:sldId id="2147483588"/>
            <p14:sldId id="2147483587"/>
            <p14:sldId id="2147483575"/>
            <p14:sldId id="2147483576"/>
            <p14:sldId id="2147483577"/>
            <p14:sldId id="2147483578"/>
            <p14:sldId id="2147483579"/>
          </p14:sldIdLst>
        </p14:section>
        <p14:section name="Appendix" id="{DCF88902-184F-4D25-A6F5-37F76B6C080A}">
          <p14:sldIdLst>
            <p14:sldId id="290"/>
            <p14:sldId id="259"/>
            <p14:sldId id="260"/>
            <p14:sldId id="261"/>
            <p14:sldId id="262"/>
            <p14:sldId id="263"/>
            <p14:sldId id="264"/>
            <p14:sldId id="265"/>
            <p14:sldId id="266"/>
            <p14:sldId id="271"/>
            <p14:sldId id="272"/>
            <p14:sldId id="273"/>
            <p14:sldId id="274"/>
            <p14:sldId id="275"/>
            <p14:sldId id="276"/>
            <p14:sldId id="277"/>
            <p14:sldId id="278"/>
            <p14:sldId id="279"/>
            <p14:sldId id="291"/>
            <p14:sldId id="292"/>
            <p14:sldId id="293"/>
            <p14:sldId id="294"/>
            <p14:sldId id="295"/>
            <p14:sldId id="296"/>
            <p14:sldId id="297"/>
            <p14:sldId id="300"/>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47621-DF21-E75D-272F-6101C8F4D26F}" name="Rachel Harris" initials="RH" userId="S::R.Harris@merkle.com::fd5e8be9-ea2d-44ac-89b2-fdcd1d7c910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88A1"/>
    <a:srgbClr val="0328D1"/>
    <a:srgbClr val="040E4B"/>
    <a:srgbClr val="0391F2"/>
    <a:srgbClr val="D5D5DF"/>
    <a:srgbClr val="030E49"/>
    <a:srgbClr val="0291F0"/>
    <a:srgbClr val="000033"/>
    <a:srgbClr val="041677"/>
    <a:srgbClr val="061F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0F2140-EFC0-4990-A6B0-60F0D53B7DDB}" v="157" dt="2026-10-21T14:18:00.9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slideMaster" Target="slideMasters/slideMaster1.xml"/><Relationship Id="rId29" Type="http://schemas.openxmlformats.org/officeDocument/2006/relationships/slide" Target="slides/slide1.xml"/><Relationship Id="rId30" Type="http://schemas.openxmlformats.org/officeDocument/2006/relationships/slide" Target="slides/slide2.xml"/><Relationship Id="rId31" Type="http://schemas.openxmlformats.org/officeDocument/2006/relationships/slide" Target="slides/slide3.xml"/><Relationship Id="rId32" Type="http://schemas.openxmlformats.org/officeDocument/2006/relationships/slide" Target="slides/slide4.xml"/><Relationship Id="rId33" Type="http://schemas.openxmlformats.org/officeDocument/2006/relationships/slide" Target="slides/slide5.xml"/><Relationship Id="rId34" Type="http://schemas.openxmlformats.org/officeDocument/2006/relationships/slide" Target="slides/slide6.xml"/><Relationship Id="rId35" Type="http://schemas.openxmlformats.org/officeDocument/2006/relationships/slide" Target="slides/slide7.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11.xml"/><Relationship Id="rId40" Type="http://schemas.openxmlformats.org/officeDocument/2006/relationships/slide" Target="slides/slide12.xml"/><Relationship Id="rId41" Type="http://schemas.openxmlformats.org/officeDocument/2006/relationships/slide" Target="slides/slide13.xml"/><Relationship Id="rId42" Type="http://schemas.openxmlformats.org/officeDocument/2006/relationships/slide" Target="slides/slide14.xml"/><Relationship Id="rId43" Type="http://schemas.openxmlformats.org/officeDocument/2006/relationships/slide" Target="slides/slide15.xml"/><Relationship Id="rId72" Type="http://schemas.openxmlformats.org/officeDocument/2006/relationships/notesMaster" Target="notesMasters/notesMaster1.xml"/><Relationship Id="rId73" Type="http://schemas.openxmlformats.org/officeDocument/2006/relationships/handoutMaster" Target="handoutMasters/handoutMaster1.xml"/><Relationship Id="rId74" Type="http://schemas.openxmlformats.org/officeDocument/2006/relationships/font" Target="fonts/font1.fntdata"/><Relationship Id="rId75" Type="http://schemas.openxmlformats.org/officeDocument/2006/relationships/font" Target="fonts/font2.fntdata"/><Relationship Id="rId76" Type="http://schemas.openxmlformats.org/officeDocument/2006/relationships/font" Target="fonts/font3.fntdata"/><Relationship Id="rId77" Type="http://schemas.openxmlformats.org/officeDocument/2006/relationships/font" Target="fonts/font4.fntdata"/><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 Id="rId82" Type="http://schemas.microsoft.com/office/2015/10/relationships/revisionInfo" Target="revisionInfo.xml"/><Relationship Id="rId83"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B731AF-AEA3-CC40-BFAA-5CC9758FC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72820B76-C951-C08D-9CC0-1DF4B94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AA7B20D-4B9A-0B23-7398-D557F3709F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97AEEF-324F-474E-80D9-450D94E3AE5B}" type="slidenum">
              <a:rPr lang="en-US" smtClean="0"/>
              <a:t>‹#›</a:t>
            </a:fld>
            <a:endParaRPr lang="en-US"/>
          </a:p>
        </p:txBody>
      </p:sp>
    </p:spTree>
    <p:extLst>
      <p:ext uri="{BB962C8B-B14F-4D97-AF65-F5344CB8AC3E}">
        <p14:creationId xmlns:p14="http://schemas.microsoft.com/office/powerpoint/2010/main" val="676158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j-lt"/>
              </a:defRPr>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j-lt"/>
              </a:defRPr>
            </a:lvl1pPr>
          </a:lstStyle>
          <a:p>
            <a:fld id="{5B48345A-856D-4626-95BD-B96C1384D864}" type="datetimeFigureOut">
              <a:rPr lang="da-DK" smtClean="0"/>
              <a:pPr/>
              <a:t>20-10-2026</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j-lt"/>
              </a:defRPr>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j-lt"/>
              </a:defRPr>
            </a:lvl1pPr>
          </a:lstStyle>
          <a:p>
            <a:fld id="{D85AD6AD-028C-42F2-9F9A-0CB45E44CB25}" type="slidenum">
              <a:rPr lang="da-DK" smtClean="0"/>
              <a:pPr/>
              <a:t>‹#›</a:t>
            </a:fld>
            <a:endParaRPr lang="da-DK"/>
          </a:p>
        </p:txBody>
      </p:sp>
    </p:spTree>
    <p:extLst>
      <p:ext uri="{BB962C8B-B14F-4D97-AF65-F5344CB8AC3E}">
        <p14:creationId xmlns:p14="http://schemas.microsoft.com/office/powerpoint/2010/main" val="1548989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j-lt"/>
        <a:ea typeface="+mn-ea"/>
        <a:cs typeface="+mn-cs"/>
      </a:defRPr>
    </a:lvl1pPr>
    <a:lvl2pPr marL="457200" algn="l" defTabSz="914400" rtl="0" eaLnBrk="1" latinLnBrk="0" hangingPunct="1">
      <a:defRPr sz="1200" b="0" i="0" kern="1200">
        <a:solidFill>
          <a:schemeClr val="tx1"/>
        </a:solidFill>
        <a:latin typeface="+mj-lt"/>
        <a:ea typeface="+mn-ea"/>
        <a:cs typeface="+mn-cs"/>
      </a:defRPr>
    </a:lvl2pPr>
    <a:lvl3pPr marL="914400" algn="l" defTabSz="914400" rtl="0" eaLnBrk="1" latinLnBrk="0" hangingPunct="1">
      <a:defRPr sz="1200" b="0" i="0" kern="1200">
        <a:solidFill>
          <a:schemeClr val="tx1"/>
        </a:solidFill>
        <a:latin typeface="+mj-lt"/>
        <a:ea typeface="+mn-ea"/>
        <a:cs typeface="+mn-cs"/>
      </a:defRPr>
    </a:lvl3pPr>
    <a:lvl4pPr marL="1371600" algn="l" defTabSz="914400" rtl="0" eaLnBrk="1" latinLnBrk="0" hangingPunct="1">
      <a:defRPr sz="1200" b="0" i="0" kern="1200">
        <a:solidFill>
          <a:schemeClr val="tx1"/>
        </a:solidFill>
        <a:latin typeface="+mj-lt"/>
        <a:ea typeface="+mn-ea"/>
        <a:cs typeface="+mn-cs"/>
      </a:defRPr>
    </a:lvl4pPr>
    <a:lvl5pPr marL="1828800" algn="l" defTabSz="914400" rtl="0" eaLnBrk="1" latinLnBrk="0" hangingPunct="1">
      <a:defRPr sz="1200" b="0" i="0" kern="1200">
        <a:solidFill>
          <a:schemeClr val="tx1"/>
        </a:solidFill>
        <a:latin typeface="+mj-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Replace the date.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Priorities at a glance. One row per priority, in the same order as the rest of the deck. 'How we'll know it's working' is one plain line, not a KPI. Add or delete rows; keep it to one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One divider per priority. One image per priority, used on every slide of that priority and in every deck it appears 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SLIDE 1 (exec summary): the Play to Win context slide. Four headers: 2026 goal, the problem, what we are changing, what this unlocks. The three click-down slides that follow each open up one of these headers. Key takeaway is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SLIDE 2 (update): the Play to Win update slide. What moved, what is next with real dates, and what is in our way or what we need. Dependencies and risks live here, in the black band, not in the click-down.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CLICK-DOWN 1 (from 'the problem'): why now, in one statement. What is happening today, and what we therefore need. Keep the statement to one or two sentences. Say what it costs us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CLICK-DOWN 2 (from 'what we are changing'): what is in the MVP, and what comes after. Three items in the MVP at most. 'After the MVP' is the next step, in one or two sentences. The strip at the bottom is optional: use it for any small set that defines the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CLICK-DOWN 3 (from 'what this unlocks'): how we will know it is working, in three plain statements of what we would see. Not a KPI list. On the right, who is on it: owners, who is doing the work, and who we partner with. Names 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BLANK TEMPLATE: copy this divider and the five slides after it for each new priority. Pick one image and use it on every slide of the priority.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guidance. Hidden in the presentation. Delete before sharing outside the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EAC907-F59B-B9B6-95C0-82330A9781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22" name="Text Placeholder 12">
            <a:extLst>
              <a:ext uri="{FF2B5EF4-FFF2-40B4-BE49-F238E27FC236}">
                <a16:creationId xmlns:a16="http://schemas.microsoft.com/office/drawing/2014/main" id="{1113FBD2-393A-2E4A-A8AB-45F368B8C6B4}"/>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grpSp>
        <p:nvGrpSpPr>
          <p:cNvPr id="9" name="Group 8">
            <a:extLst>
              <a:ext uri="{FF2B5EF4-FFF2-40B4-BE49-F238E27FC236}">
                <a16:creationId xmlns:a16="http://schemas.microsoft.com/office/drawing/2014/main" id="{3D55557A-4A15-1400-45F4-6C5658F1FFF5}"/>
              </a:ext>
            </a:extLst>
          </p:cNvPr>
          <p:cNvGrpSpPr/>
          <p:nvPr userDrawn="1"/>
        </p:nvGrpSpPr>
        <p:grpSpPr>
          <a:xfrm>
            <a:off x="896112" y="6351752"/>
            <a:ext cx="1405514" cy="174291"/>
            <a:chOff x="419100" y="6294132"/>
            <a:chExt cx="1400350" cy="173651"/>
          </a:xfrm>
        </p:grpSpPr>
        <p:pic>
          <p:nvPicPr>
            <p:cNvPr id="10" name="Graphic 9">
              <a:extLst>
                <a:ext uri="{FF2B5EF4-FFF2-40B4-BE49-F238E27FC236}">
                  <a16:creationId xmlns:a16="http://schemas.microsoft.com/office/drawing/2014/main" id="{F332794B-3426-A6FF-7904-E2CD96FA2D0A}"/>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1" name="Graphic 10">
              <a:extLst>
                <a:ext uri="{FF2B5EF4-FFF2-40B4-BE49-F238E27FC236}">
                  <a16:creationId xmlns:a16="http://schemas.microsoft.com/office/drawing/2014/main" id="{40CCC968-732A-C119-AB2B-8E4ECB9631BE}"/>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427452922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B3C1D-068A-7379-ABBE-192981F59C35}"/>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7" name="Picture 6" descr="A close up of a blue and black diamond&#10;&#10;AI-generated content may be incorrect.">
            <a:extLst>
              <a:ext uri="{FF2B5EF4-FFF2-40B4-BE49-F238E27FC236}">
                <a16:creationId xmlns:a16="http://schemas.microsoft.com/office/drawing/2014/main" id="{506969F5-ADEC-B44E-47F5-1066D3C379C3}"/>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latin typeface="+mn-lt"/>
              </a:defRPr>
            </a:lvl1pPr>
          </a:lstStyle>
          <a:p>
            <a:pPr lvl="0"/>
            <a:r>
              <a:rPr lang="en-US"/>
              <a:t>MONTH 00, 2026</a:t>
            </a:r>
          </a:p>
        </p:txBody>
      </p:sp>
      <p:sp>
        <p:nvSpPr>
          <p:cNvPr id="3" name="Title 1">
            <a:extLst>
              <a:ext uri="{FF2B5EF4-FFF2-40B4-BE49-F238E27FC236}">
                <a16:creationId xmlns:a16="http://schemas.microsoft.com/office/drawing/2014/main" id="{14B74312-9F4F-6B46-8C12-AD998C1F3FD7}"/>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93CE22AD-41AE-BB99-8CE6-6E3E848661B1}"/>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3EBF09FC-180F-E29A-7A91-1C442C3EC016}"/>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D236A869-04E1-3878-AD99-89339143F0D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125594D8-D3CE-ECC4-A0B1-D8D532BF3801}"/>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94852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25187-8ABF-297F-4A0C-0C776D86858E}"/>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4" name="Picture 3" descr="A close up of a crystal&#10;&#10;Description automatically generated">
            <a:extLst>
              <a:ext uri="{FF2B5EF4-FFF2-40B4-BE49-F238E27FC236}">
                <a16:creationId xmlns:a16="http://schemas.microsoft.com/office/drawing/2014/main" id="{2410A003-B644-4A74-49AF-2FBF7573BA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4"/>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A4009EE5-8318-57AF-CAFA-3F10883CC16B}"/>
              </a:ext>
            </a:extLst>
          </p:cNvPr>
          <p:cNvSpPr>
            <a:spLocks noGrp="1"/>
          </p:cNvSpPr>
          <p:nvPr>
            <p:ph type="title" hasCustomPrompt="1"/>
          </p:nvPr>
        </p:nvSpPr>
        <p:spPr>
          <a:xfrm>
            <a:off x="915725" y="557783"/>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AEAD708F-F6C6-EE02-0A4A-660B5732235F}"/>
              </a:ext>
            </a:extLst>
          </p:cNvPr>
          <p:cNvSpPr>
            <a:spLocks noGrp="1"/>
          </p:cNvSpPr>
          <p:nvPr>
            <p:ph type="body" sz="quarter" idx="10" hasCustomPrompt="1"/>
          </p:nvPr>
        </p:nvSpPr>
        <p:spPr>
          <a:xfrm>
            <a:off x="915725" y="3483864"/>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E28ECA3B-CFD3-A2E6-5A2D-0128B6634369}"/>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B80F0CB-B009-C3E2-543B-146A6093453F}"/>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DDD7CB60-82BC-BB4C-BC2B-41911FF1A57D}"/>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316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9B2BC9-DE54-0166-1F24-4CBB8C07C86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background&#10;&#10;Description automatically generated">
            <a:extLst>
              <a:ext uri="{FF2B5EF4-FFF2-40B4-BE49-F238E27FC236}">
                <a16:creationId xmlns:a16="http://schemas.microsoft.com/office/drawing/2014/main" id="{6DCF780F-80F9-51BE-CE81-C818AF10AEF2}"/>
              </a:ext>
            </a:extLst>
          </p:cNvPr>
          <p:cNvPicPr>
            <a:picLocks noChangeAspect="1"/>
          </p:cNvPicPr>
          <p:nvPr userDrawn="1"/>
        </p:nvPicPr>
        <p:blipFill>
          <a:blip r:embed="rId2"/>
          <a:srcRect t="15344" b="9160"/>
          <a:stretch/>
        </p:blipFill>
        <p:spPr>
          <a:xfrm rot="10800000">
            <a:off x="11723" y="1680518"/>
            <a:ext cx="12192000" cy="5177481"/>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5F3753E-AAD3-BFAA-F724-9A60053E238F}"/>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5E88FC64-C2BF-6FC5-A172-441256DE6C5B}"/>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C00A2EAE-7222-9761-9418-3316BA63F198}"/>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972A630-63EB-CB8B-B0D5-79C14C540D6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98938FEE-80EE-7939-D67A-27E928B8CAB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28825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age - Full Bleed Image">
    <p:bg>
      <p:bgPr>
        <a:solidFill>
          <a:schemeClr val="accent5"/>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9A5A2F-20B5-F28C-3CE4-6A12E0409F51}"/>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76E0F0CC-0C1B-E198-1E0B-76050D1E1C39}"/>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3A9F6F69-5AFC-56BA-0C17-E81E467AA49C}"/>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
        <p:nvSpPr>
          <p:cNvPr id="2" name="Picture Placeholder 1">
            <a:extLst>
              <a:ext uri="{FF2B5EF4-FFF2-40B4-BE49-F238E27FC236}">
                <a16:creationId xmlns:a16="http://schemas.microsoft.com/office/drawing/2014/main" id="{ADA0AC2B-DA1A-6CF5-8E52-82921CC8C9AB}"/>
              </a:ext>
            </a:extLst>
          </p:cNvPr>
          <p:cNvSpPr>
            <a:spLocks noGrp="1"/>
          </p:cNvSpPr>
          <p:nvPr>
            <p:ph type="pic" sz="quarter" idx="12" hasCustomPrompt="1"/>
          </p:nvPr>
        </p:nvSpPr>
        <p:spPr>
          <a:xfrm>
            <a:off x="0" y="1"/>
            <a:ext cx="12191998" cy="6858003"/>
          </a:xfrm>
          <a:custGeom>
            <a:avLst/>
            <a:gdLst>
              <a:gd name="connsiteX0" fmla="*/ 897269 w 12191998"/>
              <a:gd name="connsiteY0" fmla="*/ 6431624 h 6858003"/>
              <a:gd name="connsiteX1" fmla="*/ 993331 w 12191998"/>
              <a:gd name="connsiteY1" fmla="*/ 6528588 h 6858003"/>
              <a:gd name="connsiteX2" fmla="*/ 993331 w 12191998"/>
              <a:gd name="connsiteY2" fmla="*/ 6431624 h 6858003"/>
              <a:gd name="connsiteX3" fmla="*/ 1516925 w 12191998"/>
              <a:gd name="connsiteY3" fmla="*/ 6389274 h 6858003"/>
              <a:gd name="connsiteX4" fmla="*/ 1596273 w 12191998"/>
              <a:gd name="connsiteY4" fmla="*/ 6389274 h 6858003"/>
              <a:gd name="connsiteX5" fmla="*/ 1612525 w 12191998"/>
              <a:gd name="connsiteY5" fmla="*/ 6393128 h 6858003"/>
              <a:gd name="connsiteX6" fmla="*/ 1617305 w 12191998"/>
              <a:gd name="connsiteY6" fmla="*/ 6404690 h 6858003"/>
              <a:gd name="connsiteX7" fmla="*/ 1612525 w 12191998"/>
              <a:gd name="connsiteY7" fmla="*/ 6417214 h 6858003"/>
              <a:gd name="connsiteX8" fmla="*/ 1596273 w 12191998"/>
              <a:gd name="connsiteY8" fmla="*/ 6421550 h 6858003"/>
              <a:gd name="connsiteX9" fmla="*/ 1516925 w 12191998"/>
              <a:gd name="connsiteY9" fmla="*/ 6421550 h 6858003"/>
              <a:gd name="connsiteX10" fmla="*/ 1715460 w 12191998"/>
              <a:gd name="connsiteY10" fmla="*/ 6353146 h 6858003"/>
              <a:gd name="connsiteX11" fmla="*/ 1715460 w 12191998"/>
              <a:gd name="connsiteY11" fmla="*/ 6528495 h 6858003"/>
              <a:gd name="connsiteX12" fmla="*/ 1752796 w 12191998"/>
              <a:gd name="connsiteY12" fmla="*/ 6528495 h 6858003"/>
              <a:gd name="connsiteX13" fmla="*/ 1752796 w 12191998"/>
              <a:gd name="connsiteY13" fmla="*/ 6463461 h 6858003"/>
              <a:gd name="connsiteX14" fmla="*/ 1779122 w 12191998"/>
              <a:gd name="connsiteY14" fmla="*/ 6440820 h 6858003"/>
              <a:gd name="connsiteX15" fmla="*/ 1843741 w 12191998"/>
              <a:gd name="connsiteY15" fmla="*/ 6528495 h 6858003"/>
              <a:gd name="connsiteX16" fmla="*/ 1887299 w 12191998"/>
              <a:gd name="connsiteY16" fmla="*/ 6528495 h 6858003"/>
              <a:gd name="connsiteX17" fmla="*/ 1805928 w 12191998"/>
              <a:gd name="connsiteY17" fmla="*/ 6417697 h 6858003"/>
              <a:gd name="connsiteX18" fmla="*/ 1881555 w 12191998"/>
              <a:gd name="connsiteY18" fmla="*/ 6353146 h 6858003"/>
              <a:gd name="connsiteX19" fmla="*/ 1829860 w 12191998"/>
              <a:gd name="connsiteY19" fmla="*/ 6353146 h 6858003"/>
              <a:gd name="connsiteX20" fmla="*/ 1752796 w 12191998"/>
              <a:gd name="connsiteY20" fmla="*/ 6418661 h 6858003"/>
              <a:gd name="connsiteX21" fmla="*/ 1752796 w 12191998"/>
              <a:gd name="connsiteY21" fmla="*/ 6353146 h 6858003"/>
              <a:gd name="connsiteX22" fmla="*/ 1480119 w 12191998"/>
              <a:gd name="connsiteY22" fmla="*/ 6353146 h 6858003"/>
              <a:gd name="connsiteX23" fmla="*/ 1480119 w 12191998"/>
              <a:gd name="connsiteY23" fmla="*/ 6528495 h 6858003"/>
              <a:gd name="connsiteX24" fmla="*/ 1516925 w 12191998"/>
              <a:gd name="connsiteY24" fmla="*/ 6528495 h 6858003"/>
              <a:gd name="connsiteX25" fmla="*/ 1516925 w 12191998"/>
              <a:gd name="connsiteY25" fmla="*/ 6456716 h 6858003"/>
              <a:gd name="connsiteX26" fmla="*/ 1577631 w 12191998"/>
              <a:gd name="connsiteY26" fmla="*/ 6456716 h 6858003"/>
              <a:gd name="connsiteX27" fmla="*/ 1623519 w 12191998"/>
              <a:gd name="connsiteY27" fmla="*/ 6528495 h 6858003"/>
              <a:gd name="connsiteX28" fmla="*/ 1665104 w 12191998"/>
              <a:gd name="connsiteY28" fmla="*/ 6528495 h 6858003"/>
              <a:gd name="connsiteX29" fmla="*/ 1619217 w 12191998"/>
              <a:gd name="connsiteY29" fmla="*/ 6454790 h 6858003"/>
              <a:gd name="connsiteX30" fmla="*/ 1645507 w 12191998"/>
              <a:gd name="connsiteY30" fmla="*/ 6435521 h 6858003"/>
              <a:gd name="connsiteX31" fmla="*/ 1655067 w 12191998"/>
              <a:gd name="connsiteY31" fmla="*/ 6404691 h 6858003"/>
              <a:gd name="connsiteX32" fmla="*/ 1637859 w 12191998"/>
              <a:gd name="connsiteY32" fmla="*/ 6365671 h 6858003"/>
              <a:gd name="connsiteX33" fmla="*/ 1596751 w 12191998"/>
              <a:gd name="connsiteY33" fmla="*/ 6353146 h 6858003"/>
              <a:gd name="connsiteX34" fmla="*/ 2127612 w 12191998"/>
              <a:gd name="connsiteY34" fmla="*/ 6352198 h 6858003"/>
              <a:gd name="connsiteX35" fmla="*/ 2127612 w 12191998"/>
              <a:gd name="connsiteY35" fmla="*/ 6528494 h 6858003"/>
              <a:gd name="connsiteX36" fmla="*/ 2297579 w 12191998"/>
              <a:gd name="connsiteY36" fmla="*/ 6528494 h 6858003"/>
              <a:gd name="connsiteX37" fmla="*/ 2297579 w 12191998"/>
              <a:gd name="connsiteY37" fmla="*/ 6493138 h 6858003"/>
              <a:gd name="connsiteX38" fmla="*/ 2164479 w 12191998"/>
              <a:gd name="connsiteY38" fmla="*/ 6493138 h 6858003"/>
              <a:gd name="connsiteX39" fmla="*/ 2164479 w 12191998"/>
              <a:gd name="connsiteY39" fmla="*/ 6452939 h 6858003"/>
              <a:gd name="connsiteX40" fmla="*/ 2246830 w 12191998"/>
              <a:gd name="connsiteY40" fmla="*/ 6452939 h 6858003"/>
              <a:gd name="connsiteX41" fmla="*/ 2246830 w 12191998"/>
              <a:gd name="connsiteY41" fmla="*/ 6417583 h 6858003"/>
              <a:gd name="connsiteX42" fmla="*/ 2164479 w 12191998"/>
              <a:gd name="connsiteY42" fmla="*/ 6417583 h 6858003"/>
              <a:gd name="connsiteX43" fmla="*/ 2164479 w 12191998"/>
              <a:gd name="connsiteY43" fmla="*/ 6388523 h 6858003"/>
              <a:gd name="connsiteX44" fmla="*/ 2290390 w 12191998"/>
              <a:gd name="connsiteY44" fmla="*/ 6388523 h 6858003"/>
              <a:gd name="connsiteX45" fmla="*/ 2290390 w 12191998"/>
              <a:gd name="connsiteY45" fmla="*/ 6352198 h 6858003"/>
              <a:gd name="connsiteX46" fmla="*/ 1930569 w 12191998"/>
              <a:gd name="connsiteY46" fmla="*/ 6352198 h 6858003"/>
              <a:gd name="connsiteX47" fmla="*/ 1930569 w 12191998"/>
              <a:gd name="connsiteY47" fmla="*/ 6528494 h 6858003"/>
              <a:gd name="connsiteX48" fmla="*/ 2087383 w 12191998"/>
              <a:gd name="connsiteY48" fmla="*/ 6528494 h 6858003"/>
              <a:gd name="connsiteX49" fmla="*/ 2087383 w 12191998"/>
              <a:gd name="connsiteY49" fmla="*/ 6493138 h 6858003"/>
              <a:gd name="connsiteX50" fmla="*/ 1967861 w 12191998"/>
              <a:gd name="connsiteY50" fmla="*/ 6493138 h 6858003"/>
              <a:gd name="connsiteX51" fmla="*/ 1967861 w 12191998"/>
              <a:gd name="connsiteY51" fmla="*/ 6352198 h 6858003"/>
              <a:gd name="connsiteX52" fmla="*/ 1265509 w 12191998"/>
              <a:gd name="connsiteY52" fmla="*/ 6352198 h 6858003"/>
              <a:gd name="connsiteX53" fmla="*/ 1265509 w 12191998"/>
              <a:gd name="connsiteY53" fmla="*/ 6528494 h 6858003"/>
              <a:gd name="connsiteX54" fmla="*/ 1435470 w 12191998"/>
              <a:gd name="connsiteY54" fmla="*/ 6528494 h 6858003"/>
              <a:gd name="connsiteX55" fmla="*/ 1435470 w 12191998"/>
              <a:gd name="connsiteY55" fmla="*/ 6493138 h 6858003"/>
              <a:gd name="connsiteX56" fmla="*/ 1302853 w 12191998"/>
              <a:gd name="connsiteY56" fmla="*/ 6493138 h 6858003"/>
              <a:gd name="connsiteX57" fmla="*/ 1302853 w 12191998"/>
              <a:gd name="connsiteY57" fmla="*/ 6452939 h 6858003"/>
              <a:gd name="connsiteX58" fmla="*/ 1385200 w 12191998"/>
              <a:gd name="connsiteY58" fmla="*/ 6452939 h 6858003"/>
              <a:gd name="connsiteX59" fmla="*/ 1385200 w 12191998"/>
              <a:gd name="connsiteY59" fmla="*/ 6417583 h 6858003"/>
              <a:gd name="connsiteX60" fmla="*/ 1302853 w 12191998"/>
              <a:gd name="connsiteY60" fmla="*/ 6417583 h 6858003"/>
              <a:gd name="connsiteX61" fmla="*/ 1302853 w 12191998"/>
              <a:gd name="connsiteY61" fmla="*/ 6388523 h 6858003"/>
              <a:gd name="connsiteX62" fmla="*/ 1428289 w 12191998"/>
              <a:gd name="connsiteY62" fmla="*/ 6388523 h 6858003"/>
              <a:gd name="connsiteX63" fmla="*/ 1428289 w 12191998"/>
              <a:gd name="connsiteY63" fmla="*/ 6352198 h 6858003"/>
              <a:gd name="connsiteX64" fmla="*/ 1030531 w 12191998"/>
              <a:gd name="connsiteY64" fmla="*/ 6352198 h 6858003"/>
              <a:gd name="connsiteX65" fmla="*/ 1030531 w 12191998"/>
              <a:gd name="connsiteY65" fmla="*/ 6529014 h 6858003"/>
              <a:gd name="connsiteX66" fmla="*/ 1067731 w 12191998"/>
              <a:gd name="connsiteY66" fmla="*/ 6529014 h 6858003"/>
              <a:gd name="connsiteX67" fmla="*/ 1067731 w 12191998"/>
              <a:gd name="connsiteY67" fmla="*/ 6423970 h 6858003"/>
              <a:gd name="connsiteX68" fmla="*/ 1123532 w 12191998"/>
              <a:gd name="connsiteY68" fmla="*/ 6480295 h 6858003"/>
              <a:gd name="connsiteX69" fmla="*/ 1179333 w 12191998"/>
              <a:gd name="connsiteY69" fmla="*/ 6423970 h 6858003"/>
              <a:gd name="connsiteX70" fmla="*/ 1179333 w 12191998"/>
              <a:gd name="connsiteY70" fmla="*/ 6529014 h 6858003"/>
              <a:gd name="connsiteX71" fmla="*/ 1216533 w 12191998"/>
              <a:gd name="connsiteY71" fmla="*/ 6529014 h 6858003"/>
              <a:gd name="connsiteX72" fmla="*/ 1216533 w 12191998"/>
              <a:gd name="connsiteY72" fmla="*/ 6352198 h 6858003"/>
              <a:gd name="connsiteX73" fmla="*/ 1196756 w 12191998"/>
              <a:gd name="connsiteY73" fmla="*/ 6352198 h 6858003"/>
              <a:gd name="connsiteX74" fmla="*/ 1124003 w 12191998"/>
              <a:gd name="connsiteY74" fmla="*/ 6426584 h 6858003"/>
              <a:gd name="connsiteX75" fmla="*/ 1050308 w 12191998"/>
              <a:gd name="connsiteY75" fmla="*/ 6352198 h 6858003"/>
              <a:gd name="connsiteX76" fmla="*/ 0 w 12191998"/>
              <a:gd name="connsiteY76" fmla="*/ 0 h 6858003"/>
              <a:gd name="connsiteX77" fmla="*/ 12191998 w 12191998"/>
              <a:gd name="connsiteY77" fmla="*/ 0 h 6858003"/>
              <a:gd name="connsiteX78" fmla="*/ 12191998 w 12191998"/>
              <a:gd name="connsiteY78" fmla="*/ 6858003 h 6858003"/>
              <a:gd name="connsiteX79" fmla="*/ 0 w 12191998"/>
              <a:gd name="connsiteY79" fmla="*/ 685800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1998" h="6858003">
                <a:moveTo>
                  <a:pt x="897269" y="6431624"/>
                </a:moveTo>
                <a:lnTo>
                  <a:pt x="993331" y="6528588"/>
                </a:lnTo>
                <a:lnTo>
                  <a:pt x="993331" y="6431624"/>
                </a:lnTo>
                <a:close/>
                <a:moveTo>
                  <a:pt x="1516925" y="6389274"/>
                </a:moveTo>
                <a:lnTo>
                  <a:pt x="1596273" y="6389274"/>
                </a:lnTo>
                <a:cubicBezTo>
                  <a:pt x="1603443" y="6389274"/>
                  <a:pt x="1609179" y="6390720"/>
                  <a:pt x="1612525" y="6393128"/>
                </a:cubicBezTo>
                <a:cubicBezTo>
                  <a:pt x="1615871" y="6396019"/>
                  <a:pt x="1617305" y="6399872"/>
                  <a:pt x="1617305" y="6404690"/>
                </a:cubicBezTo>
                <a:cubicBezTo>
                  <a:pt x="1617305" y="6409025"/>
                  <a:pt x="1615871" y="6412879"/>
                  <a:pt x="1612525" y="6417214"/>
                </a:cubicBezTo>
                <a:cubicBezTo>
                  <a:pt x="1609179" y="6420105"/>
                  <a:pt x="1603921" y="6421550"/>
                  <a:pt x="1596273" y="6421550"/>
                </a:cubicBezTo>
                <a:lnTo>
                  <a:pt x="1516925" y="6421550"/>
                </a:lnTo>
                <a:close/>
                <a:moveTo>
                  <a:pt x="1715460" y="6353146"/>
                </a:moveTo>
                <a:lnTo>
                  <a:pt x="1715460" y="6528495"/>
                </a:lnTo>
                <a:lnTo>
                  <a:pt x="1752796" y="6528495"/>
                </a:lnTo>
                <a:lnTo>
                  <a:pt x="1752796" y="6463461"/>
                </a:lnTo>
                <a:lnTo>
                  <a:pt x="1779122" y="6440820"/>
                </a:lnTo>
                <a:lnTo>
                  <a:pt x="1843741" y="6528495"/>
                </a:lnTo>
                <a:lnTo>
                  <a:pt x="1887299" y="6528495"/>
                </a:lnTo>
                <a:lnTo>
                  <a:pt x="1805928" y="6417697"/>
                </a:lnTo>
                <a:lnTo>
                  <a:pt x="1881555" y="6353146"/>
                </a:lnTo>
                <a:lnTo>
                  <a:pt x="1829860" y="6353146"/>
                </a:lnTo>
                <a:lnTo>
                  <a:pt x="1752796" y="6418661"/>
                </a:lnTo>
                <a:lnTo>
                  <a:pt x="1752796" y="6353146"/>
                </a:lnTo>
                <a:close/>
                <a:moveTo>
                  <a:pt x="1480119" y="6353146"/>
                </a:moveTo>
                <a:lnTo>
                  <a:pt x="1480119" y="6528495"/>
                </a:lnTo>
                <a:lnTo>
                  <a:pt x="1516925" y="6528495"/>
                </a:lnTo>
                <a:lnTo>
                  <a:pt x="1516925" y="6456716"/>
                </a:lnTo>
                <a:lnTo>
                  <a:pt x="1577631" y="6456716"/>
                </a:lnTo>
                <a:lnTo>
                  <a:pt x="1623519" y="6528495"/>
                </a:lnTo>
                <a:lnTo>
                  <a:pt x="1665104" y="6528495"/>
                </a:lnTo>
                <a:lnTo>
                  <a:pt x="1619217" y="6454790"/>
                </a:lnTo>
                <a:cubicBezTo>
                  <a:pt x="1630211" y="6450936"/>
                  <a:pt x="1638814" y="6444674"/>
                  <a:pt x="1645507" y="6435521"/>
                </a:cubicBezTo>
                <a:cubicBezTo>
                  <a:pt x="1651721" y="6426368"/>
                  <a:pt x="1655067" y="6416252"/>
                  <a:pt x="1655067" y="6404691"/>
                </a:cubicBezTo>
                <a:cubicBezTo>
                  <a:pt x="1655067" y="6387830"/>
                  <a:pt x="1649331" y="6374824"/>
                  <a:pt x="1637859" y="6365671"/>
                </a:cubicBezTo>
                <a:cubicBezTo>
                  <a:pt x="1627343" y="6357482"/>
                  <a:pt x="1613959" y="6353146"/>
                  <a:pt x="1596751" y="6353146"/>
                </a:cubicBezTo>
                <a:close/>
                <a:moveTo>
                  <a:pt x="2127612" y="6352198"/>
                </a:moveTo>
                <a:lnTo>
                  <a:pt x="2127612" y="6528494"/>
                </a:lnTo>
                <a:lnTo>
                  <a:pt x="2297579" y="6528494"/>
                </a:lnTo>
                <a:lnTo>
                  <a:pt x="2297579" y="6493138"/>
                </a:lnTo>
                <a:lnTo>
                  <a:pt x="2164479" y="6493138"/>
                </a:lnTo>
                <a:lnTo>
                  <a:pt x="2164479" y="6452939"/>
                </a:lnTo>
                <a:lnTo>
                  <a:pt x="2246830" y="6452939"/>
                </a:lnTo>
                <a:lnTo>
                  <a:pt x="2246830" y="6417583"/>
                </a:lnTo>
                <a:lnTo>
                  <a:pt x="2164479" y="6417583"/>
                </a:lnTo>
                <a:lnTo>
                  <a:pt x="2164479" y="6388523"/>
                </a:lnTo>
                <a:lnTo>
                  <a:pt x="2290390" y="6388523"/>
                </a:lnTo>
                <a:lnTo>
                  <a:pt x="2290390" y="6352198"/>
                </a:lnTo>
                <a:close/>
                <a:moveTo>
                  <a:pt x="1930569" y="6352198"/>
                </a:moveTo>
                <a:lnTo>
                  <a:pt x="1930569" y="6528494"/>
                </a:lnTo>
                <a:lnTo>
                  <a:pt x="2087383" y="6528494"/>
                </a:lnTo>
                <a:lnTo>
                  <a:pt x="2087383" y="6493138"/>
                </a:lnTo>
                <a:lnTo>
                  <a:pt x="1967861" y="6493138"/>
                </a:lnTo>
                <a:lnTo>
                  <a:pt x="1967861" y="6352198"/>
                </a:lnTo>
                <a:close/>
                <a:moveTo>
                  <a:pt x="1265509" y="6352198"/>
                </a:moveTo>
                <a:lnTo>
                  <a:pt x="1265509" y="6528494"/>
                </a:lnTo>
                <a:lnTo>
                  <a:pt x="1435470" y="6528494"/>
                </a:lnTo>
                <a:lnTo>
                  <a:pt x="1435470" y="6493138"/>
                </a:lnTo>
                <a:lnTo>
                  <a:pt x="1302853" y="6493138"/>
                </a:lnTo>
                <a:lnTo>
                  <a:pt x="1302853" y="6452939"/>
                </a:lnTo>
                <a:lnTo>
                  <a:pt x="1385200" y="6452939"/>
                </a:lnTo>
                <a:lnTo>
                  <a:pt x="1385200" y="6417583"/>
                </a:lnTo>
                <a:lnTo>
                  <a:pt x="1302853" y="6417583"/>
                </a:lnTo>
                <a:lnTo>
                  <a:pt x="1302853" y="6388523"/>
                </a:lnTo>
                <a:lnTo>
                  <a:pt x="1428289" y="6388523"/>
                </a:lnTo>
                <a:lnTo>
                  <a:pt x="1428289" y="6352198"/>
                </a:lnTo>
                <a:close/>
                <a:moveTo>
                  <a:pt x="1030531" y="6352198"/>
                </a:moveTo>
                <a:lnTo>
                  <a:pt x="1030531" y="6529014"/>
                </a:lnTo>
                <a:lnTo>
                  <a:pt x="1067731" y="6529014"/>
                </a:lnTo>
                <a:lnTo>
                  <a:pt x="1067731" y="6423970"/>
                </a:lnTo>
                <a:lnTo>
                  <a:pt x="1123532" y="6480295"/>
                </a:lnTo>
                <a:lnTo>
                  <a:pt x="1179333" y="6423970"/>
                </a:lnTo>
                <a:lnTo>
                  <a:pt x="1179333" y="6529014"/>
                </a:lnTo>
                <a:lnTo>
                  <a:pt x="1216533" y="6529014"/>
                </a:lnTo>
                <a:lnTo>
                  <a:pt x="1216533" y="6352198"/>
                </a:lnTo>
                <a:lnTo>
                  <a:pt x="1196756" y="6352198"/>
                </a:lnTo>
                <a:lnTo>
                  <a:pt x="1124003" y="6426584"/>
                </a:lnTo>
                <a:lnTo>
                  <a:pt x="1050308" y="6352198"/>
                </a:lnTo>
                <a:close/>
                <a:moveTo>
                  <a:pt x="0" y="0"/>
                </a:moveTo>
                <a:lnTo>
                  <a:pt x="12191998" y="0"/>
                </a:lnTo>
                <a:lnTo>
                  <a:pt x="12191998" y="6858003"/>
                </a:lnTo>
                <a:lnTo>
                  <a:pt x="0" y="6858003"/>
                </a:lnTo>
                <a:close/>
              </a:path>
            </a:pathLst>
          </a:custGeom>
        </p:spPr>
        <p:txBody>
          <a:bodyPr wrap="square">
            <a:noAutofit/>
          </a:bodyPr>
          <a:lstStyle>
            <a:lvl1pPr marL="66675" indent="0">
              <a:buNone/>
              <a:defRPr>
                <a:solidFill>
                  <a:schemeClr val="bg1"/>
                </a:solidFill>
              </a:defRPr>
            </a:lvl1pPr>
          </a:lstStyle>
          <a:p>
            <a:r>
              <a:rPr lang="en-US"/>
              <a:t>Full bleed image option – click on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8964F60-0CB7-9971-C168-FCFDE0732C0A}"/>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070EF911-B422-12D3-FAAC-6ACB96518D67}"/>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Tree>
    <p:extLst>
      <p:ext uri="{BB962C8B-B14F-4D97-AF65-F5344CB8AC3E}">
        <p14:creationId xmlns:p14="http://schemas.microsoft.com/office/powerpoint/2010/main" val="296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ag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0610D9-A343-A0A7-B0BD-71547EB1CADE}"/>
              </a:ext>
            </a:extLst>
          </p:cNvPr>
          <p:cNvSpPr/>
          <p:nvPr userDrawn="1"/>
        </p:nvSpPr>
        <p:spPr>
          <a:xfrm rot="10800000" flipV="1">
            <a:off x="2" y="0"/>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Freeform 7">
            <a:extLst>
              <a:ext uri="{FF2B5EF4-FFF2-40B4-BE49-F238E27FC236}">
                <a16:creationId xmlns:a16="http://schemas.microsoft.com/office/drawing/2014/main" id="{192B8A04-CAE0-A163-0AEE-90F6CD4678B6}"/>
              </a:ext>
            </a:extLst>
          </p:cNvPr>
          <p:cNvSpPr/>
          <p:nvPr userDrawn="1"/>
        </p:nvSpPr>
        <p:spPr>
          <a:xfrm flipH="1">
            <a:off x="0" y="0"/>
            <a:ext cx="6933399" cy="6857999"/>
          </a:xfrm>
          <a:custGeom>
            <a:avLst/>
            <a:gdLst>
              <a:gd name="connsiteX0" fmla="*/ 6933399 w 6933399"/>
              <a:gd name="connsiteY0" fmla="*/ 0 h 6857999"/>
              <a:gd name="connsiteX1" fmla="*/ 0 w 6933399"/>
              <a:gd name="connsiteY1" fmla="*/ 0 h 6857999"/>
              <a:gd name="connsiteX2" fmla="*/ 1190078 w 6933399"/>
              <a:gd name="connsiteY2" fmla="*/ 6857999 h 6857999"/>
              <a:gd name="connsiteX3" fmla="*/ 6933399 w 6933399"/>
              <a:gd name="connsiteY3" fmla="*/ 6857999 h 6857999"/>
              <a:gd name="connsiteX4" fmla="*/ 6933399 w 6933399"/>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399" h="6857999">
                <a:moveTo>
                  <a:pt x="6933399" y="0"/>
                </a:moveTo>
                <a:lnTo>
                  <a:pt x="0" y="0"/>
                </a:lnTo>
                <a:lnTo>
                  <a:pt x="1190078" y="6857999"/>
                </a:lnTo>
                <a:lnTo>
                  <a:pt x="6933399" y="6857999"/>
                </a:lnTo>
                <a:lnTo>
                  <a:pt x="6933399"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rgbClr val="FFFFFF"/>
              </a:solidFill>
            </a:endParaRPr>
          </a:p>
        </p:txBody>
      </p:sp>
      <p:sp>
        <p:nvSpPr>
          <p:cNvPr id="14" name="Picture Placeholder 8">
            <a:extLst>
              <a:ext uri="{FF2B5EF4-FFF2-40B4-BE49-F238E27FC236}">
                <a16:creationId xmlns:a16="http://schemas.microsoft.com/office/drawing/2014/main" id="{537750C2-2CFC-FA5F-F089-5D7BE482E244}"/>
              </a:ext>
            </a:extLst>
          </p:cNvPr>
          <p:cNvSpPr>
            <a:spLocks noGrp="1"/>
          </p:cNvSpPr>
          <p:nvPr>
            <p:ph type="pic" sz="quarter" idx="12" hasCustomPrompt="1"/>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accent5"/>
          </a:solidFill>
        </p:spPr>
        <p:txBody>
          <a:bodyPr wrap="square">
            <a:noAutofit/>
          </a:bodyPr>
          <a:lstStyle>
            <a:lvl1pPr marL="66675" indent="0">
              <a:buNone/>
              <a:defRPr>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E9BA3374-EAA1-50C0-C7EA-49D0566FE53A}"/>
              </a:ext>
            </a:extLst>
          </p:cNvPr>
          <p:cNvSpPr>
            <a:spLocks noGrp="1"/>
          </p:cNvSpPr>
          <p:nvPr>
            <p:ph type="title" hasCustomPrompt="1"/>
          </p:nvPr>
        </p:nvSpPr>
        <p:spPr>
          <a:xfrm>
            <a:off x="915725" y="557784"/>
            <a:ext cx="5104931"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C8FBE8DB-5027-C4D6-0A1F-6C57A886A9F3}"/>
              </a:ext>
            </a:extLst>
          </p:cNvPr>
          <p:cNvSpPr>
            <a:spLocks noGrp="1"/>
          </p:cNvSpPr>
          <p:nvPr>
            <p:ph type="body" sz="quarter" idx="10" hasCustomPrompt="1"/>
          </p:nvPr>
        </p:nvSpPr>
        <p:spPr>
          <a:xfrm>
            <a:off x="915725" y="3483865"/>
            <a:ext cx="5104931"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5" name="Group 4">
            <a:extLst>
              <a:ext uri="{FF2B5EF4-FFF2-40B4-BE49-F238E27FC236}">
                <a16:creationId xmlns:a16="http://schemas.microsoft.com/office/drawing/2014/main" id="{02761D30-2E65-16C9-900D-52341B68847B}"/>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E638B0F6-7E27-F480-F961-848E33FC27C2}"/>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2338C327-541D-059F-4FA7-BC4C86213B44}"/>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3151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6FAC30-37D0-2A31-92EC-DDB649D9182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3" name="Picture Placeholder 8">
            <a:extLst>
              <a:ext uri="{FF2B5EF4-FFF2-40B4-BE49-F238E27FC236}">
                <a16:creationId xmlns:a16="http://schemas.microsoft.com/office/drawing/2014/main" id="{3EDD5D33-1863-491B-BF03-502056AF2633}"/>
              </a:ext>
            </a:extLst>
          </p:cNvPr>
          <p:cNvSpPr>
            <a:spLocks noGrp="1"/>
          </p:cNvSpPr>
          <p:nvPr>
            <p:ph type="pic" sz="quarter" idx="12" hasCustomPrompt="1"/>
          </p:nvPr>
        </p:nvSpPr>
        <p:spPr>
          <a:xfrm>
            <a:off x="6678324" y="0"/>
            <a:ext cx="5513676" cy="6857999"/>
          </a:xfrm>
          <a:prstGeom prst="rect">
            <a:avLst/>
          </a:prstGeom>
          <a:solidFill>
            <a:schemeClr val="accent5"/>
          </a:solidFill>
        </p:spPr>
        <p:txBody>
          <a:bodyPr wrap="square">
            <a:noAutofit/>
          </a:bodyPr>
          <a:lstStyle>
            <a:lvl1pPr marL="0" indent="0">
              <a:buNone/>
              <a:defRPr b="0">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0EC419B7-C447-D270-BE9E-FCE60CA674DF}"/>
              </a:ext>
            </a:extLst>
          </p:cNvPr>
          <p:cNvSpPr>
            <a:spLocks noGrp="1"/>
          </p:cNvSpPr>
          <p:nvPr>
            <p:ph type="title" hasCustomPrompt="1"/>
          </p:nvPr>
        </p:nvSpPr>
        <p:spPr>
          <a:xfrm>
            <a:off x="915725" y="557784"/>
            <a:ext cx="5372059"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40773FED-138B-073C-AAB6-722D3F147581}"/>
              </a:ext>
            </a:extLst>
          </p:cNvPr>
          <p:cNvSpPr>
            <a:spLocks noGrp="1"/>
          </p:cNvSpPr>
          <p:nvPr>
            <p:ph type="body" sz="quarter" idx="10" hasCustomPrompt="1"/>
          </p:nvPr>
        </p:nvSpPr>
        <p:spPr>
          <a:xfrm>
            <a:off x="915725" y="3483865"/>
            <a:ext cx="5372059"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7" name="Group 6">
            <a:extLst>
              <a:ext uri="{FF2B5EF4-FFF2-40B4-BE49-F238E27FC236}">
                <a16:creationId xmlns:a16="http://schemas.microsoft.com/office/drawing/2014/main" id="{C68993E1-6EAB-7E41-AA6A-50B7D5F12432}"/>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37B02FEB-149E-9A9F-E99A-E16C24B5DEA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8027D52B-8CEC-ACD4-9B1C-2768494AA31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269285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Textu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467A25-6525-DEF0-6E9C-88EB741150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12" name="Picture 11">
            <a:extLst>
              <a:ext uri="{FF2B5EF4-FFF2-40B4-BE49-F238E27FC236}">
                <a16:creationId xmlns:a16="http://schemas.microsoft.com/office/drawing/2014/main" id="{C6F3087F-EC64-F7D2-2A63-A07B6B42CC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298"/>
          <a:stretch/>
        </p:blipFill>
        <p:spPr>
          <a:xfrm rot="5400000">
            <a:off x="4897244" y="-436756"/>
            <a:ext cx="6858000" cy="7731512"/>
          </a:xfrm>
          <a:prstGeom prst="rect">
            <a:avLst/>
          </a:prstGeom>
        </p:spPr>
      </p:pic>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grpSp>
        <p:nvGrpSpPr>
          <p:cNvPr id="5" name="Graphic 9">
            <a:extLst>
              <a:ext uri="{FF2B5EF4-FFF2-40B4-BE49-F238E27FC236}">
                <a16:creationId xmlns:a16="http://schemas.microsoft.com/office/drawing/2014/main" id="{B7483D9C-A8AF-28C7-C2E8-9E9C66A321E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0" name="Freeform 9">
              <a:extLst>
                <a:ext uri="{FF2B5EF4-FFF2-40B4-BE49-F238E27FC236}">
                  <a16:creationId xmlns:a16="http://schemas.microsoft.com/office/drawing/2014/main" id="{6FFDC0C2-9DB0-2E6F-9474-FD166AA82FB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1" name="Freeform 10">
              <a:extLst>
                <a:ext uri="{FF2B5EF4-FFF2-40B4-BE49-F238E27FC236}">
                  <a16:creationId xmlns:a16="http://schemas.microsoft.com/office/drawing/2014/main" id="{41505EF2-9C4E-DB81-F431-F03DC000421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6340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Imag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5B1102-0EBD-E982-3358-18916BADB73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10" name="Picture Placeholder 6">
            <a:extLst>
              <a:ext uri="{FF2B5EF4-FFF2-40B4-BE49-F238E27FC236}">
                <a16:creationId xmlns:a16="http://schemas.microsoft.com/office/drawing/2014/main" id="{04512901-5206-5467-E6E2-1B836F7ACC29}"/>
              </a:ext>
            </a:extLst>
          </p:cNvPr>
          <p:cNvSpPr>
            <a:spLocks noGrp="1"/>
          </p:cNvSpPr>
          <p:nvPr>
            <p:ph type="pic" sz="quarter" idx="12" hasCustomPrompt="1"/>
          </p:nvPr>
        </p:nvSpPr>
        <p:spPr>
          <a:xfrm>
            <a:off x="5743322" y="0"/>
            <a:ext cx="6448678" cy="6857999"/>
          </a:xfrm>
          <a:prstGeom prst="rect">
            <a:avLst/>
          </a:prstGeom>
          <a:solidFill>
            <a:schemeClr val="accent5"/>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7229B836-2CF3-2B59-3C0F-7283E00BA955}"/>
              </a:ext>
            </a:extLst>
          </p:cNvPr>
          <p:cNvSpPr txBox="1"/>
          <p:nvPr userDrawn="1"/>
        </p:nvSpPr>
        <p:spPr>
          <a:xfrm>
            <a:off x="8122722" y="-498764"/>
            <a:ext cx="0" cy="0"/>
          </a:xfrm>
          <a:prstGeom prst="rect">
            <a:avLst/>
          </a:prstGeom>
          <a:noFill/>
        </p:spPr>
        <p:txBody>
          <a:bodyPr wrap="none" rtlCol="0">
            <a:noAutofit/>
          </a:bodyPr>
          <a:lstStyle/>
          <a:p>
            <a:pPr algn="l">
              <a:spcAft>
                <a:spcPts val="600"/>
              </a:spcAft>
            </a:pPr>
            <a:endParaRPr lang="en-US" sz="1400"/>
          </a:p>
        </p:txBody>
      </p:sp>
      <p:grpSp>
        <p:nvGrpSpPr>
          <p:cNvPr id="11" name="Graphic 9">
            <a:extLst>
              <a:ext uri="{FF2B5EF4-FFF2-40B4-BE49-F238E27FC236}">
                <a16:creationId xmlns:a16="http://schemas.microsoft.com/office/drawing/2014/main" id="{61D4772C-0237-9278-49C2-024DDD16DF4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2" name="Freeform 11">
              <a:extLst>
                <a:ext uri="{FF2B5EF4-FFF2-40B4-BE49-F238E27FC236}">
                  <a16:creationId xmlns:a16="http://schemas.microsoft.com/office/drawing/2014/main" id="{30BC871A-7FC5-1A88-E623-D1315B45B18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DDD58B76-62E5-50A7-DD88-DDF61335B612}"/>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15526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A10F1C-046F-1CBE-F91B-EB48F6346AC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Picture Placeholder 8">
            <a:extLst>
              <a:ext uri="{FF2B5EF4-FFF2-40B4-BE49-F238E27FC236}">
                <a16:creationId xmlns:a16="http://schemas.microsoft.com/office/drawing/2014/main" id="{28B13C15-A48B-B4D1-051D-3DA53D30DFC2}"/>
              </a:ext>
            </a:extLst>
          </p:cNvPr>
          <p:cNvSpPr>
            <a:spLocks noGrp="1"/>
          </p:cNvSpPr>
          <p:nvPr>
            <p:ph type="pic" sz="quarter" idx="12"/>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bg2"/>
          </a:solidFill>
        </p:spPr>
        <p:txBody>
          <a:bodyPr wrap="square">
            <a:noAutofit/>
          </a:bodyPr>
          <a:lstStyle>
            <a:lvl1pPr>
              <a:defRPr>
                <a:latin typeface="+mn-lt"/>
              </a:defRPr>
            </a:lvl1pPr>
          </a:lstStyle>
          <a:p>
            <a:r>
              <a:rPr lang="en-US"/>
              <a:t>Click icon to add picture</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086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8F5D0E0E-0A59-C262-2E84-D5250A85B9E6}"/>
              </a:ext>
            </a:extLst>
          </p:cNvPr>
          <p:cNvSpPr>
            <a:spLocks noGrp="1"/>
          </p:cNvSpPr>
          <p:nvPr>
            <p:ph type="pic" sz="quarter" idx="12" hasCustomPrompt="1"/>
          </p:nvPr>
        </p:nvSpPr>
        <p:spPr>
          <a:xfrm>
            <a:off x="8941462"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7" name="Picture Placeholder 2">
            <a:extLst>
              <a:ext uri="{FF2B5EF4-FFF2-40B4-BE49-F238E27FC236}">
                <a16:creationId xmlns:a16="http://schemas.microsoft.com/office/drawing/2014/main" id="{B6CAC3CE-CD4C-55F2-634E-4DFD4B911B05}"/>
              </a:ext>
            </a:extLst>
          </p:cNvPr>
          <p:cNvSpPr>
            <a:spLocks noGrp="1"/>
          </p:cNvSpPr>
          <p:nvPr>
            <p:ph type="pic" sz="quarter" idx="13" hasCustomPrompt="1"/>
          </p:nvPr>
        </p:nvSpPr>
        <p:spPr>
          <a:xfrm>
            <a:off x="6135756"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8" name="Picture Placeholder 3">
            <a:extLst>
              <a:ext uri="{FF2B5EF4-FFF2-40B4-BE49-F238E27FC236}">
                <a16:creationId xmlns:a16="http://schemas.microsoft.com/office/drawing/2014/main" id="{154F1B20-8829-99ED-6527-725F590FF71E}"/>
              </a:ext>
            </a:extLst>
          </p:cNvPr>
          <p:cNvSpPr>
            <a:spLocks noGrp="1"/>
          </p:cNvSpPr>
          <p:nvPr>
            <p:ph type="pic" sz="quarter" idx="14" hasCustomPrompt="1"/>
          </p:nvPr>
        </p:nvSpPr>
        <p:spPr>
          <a:xfrm>
            <a:off x="6135756"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9" name="Picture Placeholder 5">
            <a:extLst>
              <a:ext uri="{FF2B5EF4-FFF2-40B4-BE49-F238E27FC236}">
                <a16:creationId xmlns:a16="http://schemas.microsoft.com/office/drawing/2014/main" id="{E1C58B29-DBBD-6004-2842-DC8FF4B96C2F}"/>
              </a:ext>
            </a:extLst>
          </p:cNvPr>
          <p:cNvSpPr>
            <a:spLocks noGrp="1"/>
          </p:cNvSpPr>
          <p:nvPr>
            <p:ph type="pic" sz="quarter" idx="16" hasCustomPrompt="1"/>
          </p:nvPr>
        </p:nvSpPr>
        <p:spPr>
          <a:xfrm>
            <a:off x="8937655"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1" name="Picture Placeholder 7">
            <a:extLst>
              <a:ext uri="{FF2B5EF4-FFF2-40B4-BE49-F238E27FC236}">
                <a16:creationId xmlns:a16="http://schemas.microsoft.com/office/drawing/2014/main" id="{FA3F649A-0DCE-9785-3674-5452A110AEF0}"/>
              </a:ext>
            </a:extLst>
          </p:cNvPr>
          <p:cNvSpPr>
            <a:spLocks noGrp="1"/>
          </p:cNvSpPr>
          <p:nvPr>
            <p:ph type="pic" sz="quarter" idx="18" hasCustomPrompt="1"/>
          </p:nvPr>
        </p:nvSpPr>
        <p:spPr>
          <a:xfrm>
            <a:off x="8937655" y="3770026"/>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2" name="Picture Placeholder 8">
            <a:extLst>
              <a:ext uri="{FF2B5EF4-FFF2-40B4-BE49-F238E27FC236}">
                <a16:creationId xmlns:a16="http://schemas.microsoft.com/office/drawing/2014/main" id="{E5083365-E602-C03D-64C8-E1AF47E5DE59}"/>
              </a:ext>
            </a:extLst>
          </p:cNvPr>
          <p:cNvSpPr>
            <a:spLocks noGrp="1"/>
          </p:cNvSpPr>
          <p:nvPr>
            <p:ph type="pic" sz="quarter" idx="19" hasCustomPrompt="1"/>
          </p:nvPr>
        </p:nvSpPr>
        <p:spPr>
          <a:xfrm>
            <a:off x="6135756" y="373203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3" name="Picture Placeholder 9">
            <a:extLst>
              <a:ext uri="{FF2B5EF4-FFF2-40B4-BE49-F238E27FC236}">
                <a16:creationId xmlns:a16="http://schemas.microsoft.com/office/drawing/2014/main" id="{C545EFE3-FA36-364F-3506-16CBB259473E}"/>
              </a:ext>
            </a:extLst>
          </p:cNvPr>
          <p:cNvSpPr>
            <a:spLocks noGrp="1"/>
          </p:cNvSpPr>
          <p:nvPr>
            <p:ph type="pic" sz="quarter" idx="20" hasCustomPrompt="1"/>
          </p:nvPr>
        </p:nvSpPr>
        <p:spPr>
          <a:xfrm>
            <a:off x="6135756"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5" name="Picture Placeholder 11">
            <a:extLst>
              <a:ext uri="{FF2B5EF4-FFF2-40B4-BE49-F238E27FC236}">
                <a16:creationId xmlns:a16="http://schemas.microsoft.com/office/drawing/2014/main" id="{DD445EE6-B934-7390-6760-4BFC0A0AC254}"/>
              </a:ext>
            </a:extLst>
          </p:cNvPr>
          <p:cNvSpPr>
            <a:spLocks noGrp="1"/>
          </p:cNvSpPr>
          <p:nvPr>
            <p:ph type="pic" sz="quarter" idx="22" hasCustomPrompt="1"/>
          </p:nvPr>
        </p:nvSpPr>
        <p:spPr>
          <a:xfrm>
            <a:off x="8921447"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8" name="Text Placeholder 17">
            <a:extLst>
              <a:ext uri="{FF2B5EF4-FFF2-40B4-BE49-F238E27FC236}">
                <a16:creationId xmlns:a16="http://schemas.microsoft.com/office/drawing/2014/main" id="{5A82CAF8-782E-6B97-B6B0-0260DCE4F197}"/>
              </a:ext>
            </a:extLst>
          </p:cNvPr>
          <p:cNvSpPr>
            <a:spLocks noGrp="1"/>
          </p:cNvSpPr>
          <p:nvPr>
            <p:ph type="body" sz="quarter" idx="23" hasCustomPrompt="1"/>
          </p:nvPr>
        </p:nvSpPr>
        <p:spPr>
          <a:xfrm>
            <a:off x="6096000" y="731839"/>
            <a:ext cx="4049712" cy="840930"/>
          </a:xfrm>
        </p:spPr>
        <p:txBody>
          <a:bodyPr anchor="b"/>
          <a:lstStyle>
            <a:lvl1pPr marL="0" indent="0">
              <a:buNone/>
              <a:defRPr sz="1000" b="1" cap="all" spc="200" baseline="0">
                <a:solidFill>
                  <a:schemeClr val="accent5"/>
                </a:solidFill>
                <a:latin typeface="+mn-lt"/>
              </a:defRPr>
            </a:lvl1pPr>
            <a:lvl2pPr marL="457200" indent="0">
              <a:buNone/>
              <a:defRPr sz="800" b="1"/>
            </a:lvl2pPr>
            <a:lvl3pPr marL="914400" indent="0">
              <a:buNone/>
              <a:defRPr sz="800" b="1"/>
            </a:lvl3pPr>
            <a:lvl4pPr marL="1371600" indent="0">
              <a:buNone/>
              <a:defRPr sz="800" b="1"/>
            </a:lvl4pPr>
            <a:lvl5pPr marL="1828800" indent="0">
              <a:buNone/>
              <a:defRPr sz="800" b="1"/>
            </a:lvl5pPr>
          </a:lstStyle>
          <a:p>
            <a:pPr lvl="0"/>
            <a:r>
              <a:rPr lang="en-US"/>
              <a:t>MEET THE TEAM</a:t>
            </a:r>
          </a:p>
        </p:txBody>
      </p:sp>
    </p:spTree>
    <p:extLst>
      <p:ext uri="{BB962C8B-B14F-4D97-AF65-F5344CB8AC3E}">
        <p14:creationId xmlns:p14="http://schemas.microsoft.com/office/powerpoint/2010/main" val="77082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 Image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6FD4A-8DEC-4288-31FC-E11FAEAEB87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B3093CCE-368A-239E-8D3F-6FCA13314FC3}"/>
              </a:ext>
            </a:extLst>
          </p:cNvPr>
          <p:cNvSpPr>
            <a:spLocks noGrp="1"/>
          </p:cNvSpPr>
          <p:nvPr>
            <p:ph type="pic" sz="quarter" idx="12" hasCustomPrompt="1"/>
          </p:nvPr>
        </p:nvSpPr>
        <p:spPr>
          <a:xfrm>
            <a:off x="5743322" y="1"/>
            <a:ext cx="6448678" cy="6857999"/>
          </a:xfrm>
          <a:prstGeom prst="rect">
            <a:avLst/>
          </a:prstGeom>
          <a:solidFill>
            <a:schemeClr val="bg2"/>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4" name="TextBox 3">
            <a:extLst>
              <a:ext uri="{FF2B5EF4-FFF2-40B4-BE49-F238E27FC236}">
                <a16:creationId xmlns:a16="http://schemas.microsoft.com/office/drawing/2014/main" id="{9A815C76-9273-44CE-603F-F4A10C34A65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76869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519A66-EB16-1A1C-E787-A898E82A40F2}"/>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FCFFBCBA-0559-328A-A56A-19158E195F3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31E1F5A4-4FDE-935B-A4FD-B4C29343FA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BCB53C9B-EBD3-5ABA-2E39-0B9E964BA2B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85089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 Texture,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2C4C0-6AF4-A751-D91A-FC5F17759A5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diamond&#10;&#10;AI-generated content may be incorrect.">
            <a:extLst>
              <a:ext uri="{FF2B5EF4-FFF2-40B4-BE49-F238E27FC236}">
                <a16:creationId xmlns:a16="http://schemas.microsoft.com/office/drawing/2014/main" id="{3A8CA6DA-F5A8-713D-4994-D03AAE9DB1DE}"/>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7" name="Title 1">
            <a:extLst>
              <a:ext uri="{FF2B5EF4-FFF2-40B4-BE49-F238E27FC236}">
                <a16:creationId xmlns:a16="http://schemas.microsoft.com/office/drawing/2014/main" id="{D20BAF10-7045-56DD-9CD8-14C315EB5B3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86E32514-7374-FBA6-E3BA-B1F5A00FDC8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9FC621CF-7D6E-189D-DB48-B3B57464B4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3ABC6638-711B-F07F-BEC7-E4FC3B5EF3C9}"/>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5850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 Texture, Dark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crystal&#10;&#10;Description automatically generated">
            <a:extLst>
              <a:ext uri="{FF2B5EF4-FFF2-40B4-BE49-F238E27FC236}">
                <a16:creationId xmlns:a16="http://schemas.microsoft.com/office/drawing/2014/main" id="{A1D1A869-B1B3-5954-7BA3-3805061FB80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35316"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11651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 Texture, Dark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8" name="Picture 7" descr="A close up of a blue and black background&#10;&#10;Description automatically generated">
            <a:extLst>
              <a:ext uri="{FF2B5EF4-FFF2-40B4-BE49-F238E27FC236}">
                <a16:creationId xmlns:a16="http://schemas.microsoft.com/office/drawing/2014/main" id="{91A43463-E247-52FD-0BBD-07F9DA95E8F8}"/>
              </a:ext>
            </a:extLst>
          </p:cNvPr>
          <p:cNvPicPr>
            <a:picLocks noChangeAspect="1"/>
          </p:cNvPicPr>
          <p:nvPr userDrawn="1"/>
        </p:nvPicPr>
        <p:blipFill>
          <a:blip r:embed="rId2"/>
          <a:srcRect t="15344" b="9160"/>
          <a:stretch/>
        </p:blipFill>
        <p:spPr>
          <a:xfrm rot="10800000">
            <a:off x="11723" y="1680518"/>
            <a:ext cx="12192000" cy="5177481"/>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7650030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 Textur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928FC-79A3-190F-8F05-6BA96E237EBF}"/>
              </a:ext>
            </a:extLst>
          </p:cNvPr>
          <p:cNvSpPr/>
          <p:nvPr userDrawn="1"/>
        </p:nvSpPr>
        <p:spPr>
          <a:xfrm rot="10800000" flipV="1">
            <a:off x="0"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9" name="Picture 8">
            <a:extLst>
              <a:ext uri="{FF2B5EF4-FFF2-40B4-BE49-F238E27FC236}">
                <a16:creationId xmlns:a16="http://schemas.microsoft.com/office/drawing/2014/main" id="{531776B3-790F-BFCC-B158-72F24BAAADBF}"/>
              </a:ext>
            </a:extLst>
          </p:cNvPr>
          <p:cNvPicPr>
            <a:picLocks noChangeAspect="1"/>
          </p:cNvPicPr>
          <p:nvPr userDrawn="1"/>
        </p:nvPicPr>
        <p:blipFill>
          <a:blip r:embed="rId2"/>
          <a:srcRect l="32657" t="10642" r="-3" b="13034"/>
          <a:stretch/>
        </p:blipFill>
        <p:spPr>
          <a:xfrm rot="5400000">
            <a:off x="6577010" y="1243014"/>
            <a:ext cx="6858001" cy="4371975"/>
          </a:xfrm>
          <a:prstGeom prst="rect">
            <a:avLst/>
          </a:prstGeom>
        </p:spPr>
      </p:pic>
      <p:grpSp>
        <p:nvGrpSpPr>
          <p:cNvPr id="10" name="Graphic 9">
            <a:extLst>
              <a:ext uri="{FF2B5EF4-FFF2-40B4-BE49-F238E27FC236}">
                <a16:creationId xmlns:a16="http://schemas.microsoft.com/office/drawing/2014/main" id="{62515DD1-8C1A-0C64-9E44-1E116A32E439}"/>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1" name="Freeform 10">
              <a:extLst>
                <a:ext uri="{FF2B5EF4-FFF2-40B4-BE49-F238E27FC236}">
                  <a16:creationId xmlns:a16="http://schemas.microsoft.com/office/drawing/2014/main" id="{23F89819-46B3-3107-41D5-6CAB71E77DFA}"/>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2" name="Freeform 11">
              <a:extLst>
                <a:ext uri="{FF2B5EF4-FFF2-40B4-BE49-F238E27FC236}">
                  <a16:creationId xmlns:a16="http://schemas.microsoft.com/office/drawing/2014/main" id="{4D660E8C-B871-6A95-F225-A5B539A04A70}"/>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12324994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 Texture, Ligh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4ADE0-0FB5-D047-00E9-C3F86508ACA3}"/>
              </a:ext>
            </a:extLst>
          </p:cNvPr>
          <p:cNvSpPr/>
          <p:nvPr userDrawn="1"/>
        </p:nvSpPr>
        <p:spPr>
          <a:xfrm rot="10800000" flipV="1">
            <a:off x="2"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a:extLst>
              <a:ext uri="{FF2B5EF4-FFF2-40B4-BE49-F238E27FC236}">
                <a16:creationId xmlns:a16="http://schemas.microsoft.com/office/drawing/2014/main" id="{A221CAF3-AB05-F456-E3E0-86189F496F39}"/>
              </a:ext>
            </a:extLst>
          </p:cNvPr>
          <p:cNvPicPr>
            <a:picLocks noChangeAspect="1"/>
          </p:cNvPicPr>
          <p:nvPr userDrawn="1"/>
        </p:nvPicPr>
        <p:blipFill>
          <a:blip r:embed="rId2"/>
          <a:srcRect l="58512" t="17473" r="-64" b="3447"/>
          <a:stretch/>
        </p:blipFill>
        <p:spPr>
          <a:xfrm rot="5400000" flipH="1">
            <a:off x="6947338" y="1613338"/>
            <a:ext cx="5065986" cy="5423338"/>
          </a:xfrm>
          <a:prstGeom prst="rect">
            <a:avLst/>
          </a:prstGeom>
        </p:spPr>
      </p:pic>
      <p:grpSp>
        <p:nvGrpSpPr>
          <p:cNvPr id="6" name="Graphic 9">
            <a:extLst>
              <a:ext uri="{FF2B5EF4-FFF2-40B4-BE49-F238E27FC236}">
                <a16:creationId xmlns:a16="http://schemas.microsoft.com/office/drawing/2014/main" id="{10C1272F-E48D-13A6-C867-593EC65548C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DFE6C87D-DA3E-6368-E300-E2A2D01BC13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CB7481C0-6D1E-EF36-C613-3E7785AEF37A}"/>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6CE20A1F-2047-7BC9-8B59-CED282DAA681}"/>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3093076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 Texture, Ligh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D6E5A-3F26-3F8D-C878-96A904D35C87}"/>
              </a:ext>
            </a:extLst>
          </p:cNvPr>
          <p:cNvSpPr/>
          <p:nvPr userDrawn="1"/>
        </p:nvSpPr>
        <p:spPr>
          <a:xfrm rot="10800000" flipV="1">
            <a:off x="2" y="-3"/>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5" name="Picture 4">
            <a:extLst>
              <a:ext uri="{FF2B5EF4-FFF2-40B4-BE49-F238E27FC236}">
                <a16:creationId xmlns:a16="http://schemas.microsoft.com/office/drawing/2014/main" id="{660C216B-A8AC-384A-81FE-0ED05251E3C5}"/>
              </a:ext>
            </a:extLst>
          </p:cNvPr>
          <p:cNvPicPr>
            <a:picLocks noChangeAspect="1"/>
          </p:cNvPicPr>
          <p:nvPr userDrawn="1"/>
        </p:nvPicPr>
        <p:blipFill>
          <a:blip r:embed="rId2"/>
          <a:srcRect r="32407" b="4787"/>
          <a:stretch/>
        </p:blipFill>
        <p:spPr>
          <a:xfrm rot="5400000">
            <a:off x="6046075" y="712077"/>
            <a:ext cx="6858001" cy="5433849"/>
          </a:xfrm>
          <a:prstGeom prst="rect">
            <a:avLst/>
          </a:prstGeom>
        </p:spPr>
      </p:pic>
      <p:grpSp>
        <p:nvGrpSpPr>
          <p:cNvPr id="6" name="Graphic 9">
            <a:extLst>
              <a:ext uri="{FF2B5EF4-FFF2-40B4-BE49-F238E27FC236}">
                <a16:creationId xmlns:a16="http://schemas.microsoft.com/office/drawing/2014/main" id="{72E8A13F-22E9-99BA-FAFF-672D279ABDC0}"/>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290E42D1-AA36-19D3-3286-A45AF96EE9A7}"/>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A702E34B-F934-E630-C91C-37946469288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F5064E94-0FC8-C479-67A7-81481582BE63}"/>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25300572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 EYEBROW,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33162-B13D-704C-3524-E527FF5BEC09}"/>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5" name="TextBox 24">
            <a:extLst>
              <a:ext uri="{FF2B5EF4-FFF2-40B4-BE49-F238E27FC236}">
                <a16:creationId xmlns:a16="http://schemas.microsoft.com/office/drawing/2014/main" id="{7A83B8F5-18AE-B94A-82A0-B580840EFE63}"/>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45BF5F69-E10A-F6B1-3F95-D3C57AE277B8}"/>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bg1"/>
                </a:solidFill>
                <a:latin typeface="+mj-lt"/>
              </a:defRPr>
            </a:lvl1pPr>
          </a:lstStyle>
          <a:p>
            <a:pPr lvl="0">
              <a:lnSpc>
                <a:spcPct val="85000"/>
              </a:lnSpc>
            </a:pPr>
            <a:r>
              <a:rPr lang="en-US"/>
              <a:t>Divider copy goes here</a:t>
            </a:r>
          </a:p>
        </p:txBody>
      </p:sp>
      <p:sp>
        <p:nvSpPr>
          <p:cNvPr id="5" name="Text Placeholder 12">
            <a:extLst>
              <a:ext uri="{FF2B5EF4-FFF2-40B4-BE49-F238E27FC236}">
                <a16:creationId xmlns:a16="http://schemas.microsoft.com/office/drawing/2014/main" id="{03653832-9177-0922-2808-259E17057D89}"/>
              </a:ext>
            </a:extLst>
          </p:cNvPr>
          <p:cNvSpPr>
            <a:spLocks noGrp="1"/>
          </p:cNvSpPr>
          <p:nvPr>
            <p:ph type="body" sz="quarter" idx="15" hasCustomPrompt="1"/>
          </p:nvPr>
        </p:nvSpPr>
        <p:spPr>
          <a:xfrm>
            <a:off x="914400" y="937172"/>
            <a:ext cx="9709484" cy="290049"/>
          </a:xfrm>
        </p:spPr>
        <p:txBody>
          <a:bodyPr lIns="137160" rIns="91440" anchor="b">
            <a:noAutofit/>
          </a:bodyPr>
          <a:lstStyle>
            <a:lvl1pPr marL="0" indent="0">
              <a:buNone/>
              <a:defRPr sz="800" b="1" i="0" cap="all" spc="150" baseline="0">
                <a:solidFill>
                  <a:schemeClr val="bg2">
                    <a:lumMod val="90000"/>
                  </a:schemeClr>
                </a:solidFill>
                <a:latin typeface="+mj-lt"/>
              </a:defRPr>
            </a:lvl1pPr>
          </a:lstStyle>
          <a:p>
            <a:pPr lvl="0"/>
            <a:r>
              <a:rPr lang="en-US"/>
              <a:t>Two to three word eyebrow (optional)</a:t>
            </a:r>
          </a:p>
        </p:txBody>
      </p:sp>
      <p:grpSp>
        <p:nvGrpSpPr>
          <p:cNvPr id="4" name="Graphic 9">
            <a:extLst>
              <a:ext uri="{FF2B5EF4-FFF2-40B4-BE49-F238E27FC236}">
                <a16:creationId xmlns:a16="http://schemas.microsoft.com/office/drawing/2014/main" id="{17E7EE1E-226D-38AF-361F-E567ED24DDE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C94A7307-B4FD-2762-B048-B46752517B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4FB4FB2C-2043-7793-4C1D-1FCACAD624F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90046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EYEBROW, Light">
    <p:spTree>
      <p:nvGrpSpPr>
        <p:cNvPr id="1" name=""/>
        <p:cNvGrpSpPr/>
        <p:nvPr/>
      </p:nvGrpSpPr>
      <p:grpSpPr>
        <a:xfrm>
          <a:off x="0" y="0"/>
          <a:ext cx="0" cy="0"/>
          <a:chOff x="0" y="0"/>
          <a:chExt cx="0" cy="0"/>
        </a:xfrm>
      </p:grpSpPr>
      <p:sp>
        <p:nvSpPr>
          <p:cNvPr id="3" name="Text Placeholder 12">
            <a:extLst>
              <a:ext uri="{FF2B5EF4-FFF2-40B4-BE49-F238E27FC236}">
                <a16:creationId xmlns:a16="http://schemas.microsoft.com/office/drawing/2014/main" id="{C29B351B-52EF-CC43-0932-43B95E39A9F9}"/>
              </a:ext>
            </a:extLst>
          </p:cNvPr>
          <p:cNvSpPr>
            <a:spLocks noGrp="1"/>
          </p:cNvSpPr>
          <p:nvPr>
            <p:ph type="body" sz="quarter" idx="15" hasCustomPrompt="1"/>
          </p:nvPr>
        </p:nvSpPr>
        <p:spPr>
          <a:xfrm>
            <a:off x="914398" y="937172"/>
            <a:ext cx="9710927" cy="290049"/>
          </a:xfrm>
        </p:spPr>
        <p:txBody>
          <a:bodyPr lIns="137160" rIns="45720" anchor="b">
            <a:noAutofit/>
          </a:bodyPr>
          <a:lstStyle>
            <a:lvl1pPr marL="0" indent="0">
              <a:buNone/>
              <a:defRPr sz="800" b="1" i="0" cap="all" spc="150" baseline="0">
                <a:solidFill>
                  <a:schemeClr val="accent5"/>
                </a:solidFill>
                <a:latin typeface="+mj-lt"/>
              </a:defRPr>
            </a:lvl1pPr>
          </a:lstStyle>
          <a:p>
            <a:pPr lvl="0"/>
            <a:r>
              <a:rPr lang="en-US"/>
              <a:t>Two to three word eyebrow (optional)</a:t>
            </a:r>
          </a:p>
        </p:txBody>
      </p:sp>
      <p:sp>
        <p:nvSpPr>
          <p:cNvPr id="6" name="Title 1">
            <a:extLst>
              <a:ext uri="{FF2B5EF4-FFF2-40B4-BE49-F238E27FC236}">
                <a16:creationId xmlns:a16="http://schemas.microsoft.com/office/drawing/2014/main" id="{24D1596B-D4ED-3AE3-A9C3-CB2EDEB8D053}"/>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tx1"/>
                </a:solidFill>
              </a:defRPr>
            </a:lvl1pPr>
          </a:lstStyle>
          <a:p>
            <a:pPr lvl="0">
              <a:lnSpc>
                <a:spcPct val="85000"/>
              </a:lnSpc>
            </a:pPr>
            <a:r>
              <a:rPr lang="en-US"/>
              <a:t>Divider copy goes here</a:t>
            </a:r>
          </a:p>
        </p:txBody>
      </p:sp>
    </p:spTree>
    <p:extLst>
      <p:ext uri="{BB962C8B-B14F-4D97-AF65-F5344CB8AC3E}">
        <p14:creationId xmlns:p14="http://schemas.microsoft.com/office/powerpoint/2010/main" val="1868882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24C33D-B737-F9C5-FEEF-BCCE6B68BB0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2" name="Graphic 9">
            <a:extLst>
              <a:ext uri="{FF2B5EF4-FFF2-40B4-BE49-F238E27FC236}">
                <a16:creationId xmlns:a16="http://schemas.microsoft.com/office/drawing/2014/main" id="{766D62DE-CF40-057B-C7A1-7C1F85B1FCCA}"/>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4" name="Freeform 3">
              <a:extLst>
                <a:ext uri="{FF2B5EF4-FFF2-40B4-BE49-F238E27FC236}">
                  <a16:creationId xmlns:a16="http://schemas.microsoft.com/office/drawing/2014/main" id="{4C29980B-38B0-E1FA-2321-A37FE238E4BE}"/>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5" name="Freeform 4">
              <a:extLst>
                <a:ext uri="{FF2B5EF4-FFF2-40B4-BE49-F238E27FC236}">
                  <a16:creationId xmlns:a16="http://schemas.microsoft.com/office/drawing/2014/main" id="{36B6559D-DFD7-D3F6-073A-B30CA655B0F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4760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tatement Slide - Dark Image">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32818-24CB-12AD-36F8-601D317ED98F}"/>
              </a:ext>
            </a:extLst>
          </p:cNvPr>
          <p:cNvSpPr/>
          <p:nvPr userDrawn="1"/>
        </p:nvSpPr>
        <p:spPr>
          <a:xfrm rot="10800000" flipV="1">
            <a:off x="2" y="-3"/>
            <a:ext cx="12191998" cy="6858003"/>
          </a:xfrm>
          <a:prstGeom prst="rect">
            <a:avLst/>
          </a:prstGeom>
          <a:solidFill>
            <a:schemeClr val="accent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9" name="Picture Placeholder 8">
            <a:extLst>
              <a:ext uri="{FF2B5EF4-FFF2-40B4-BE49-F238E27FC236}">
                <a16:creationId xmlns:a16="http://schemas.microsoft.com/office/drawing/2014/main" id="{71E72675-4E9E-486A-C051-C92449EE7939}"/>
              </a:ext>
            </a:extLst>
          </p:cNvPr>
          <p:cNvSpPr>
            <a:spLocks noGrp="1"/>
          </p:cNvSpPr>
          <p:nvPr>
            <p:ph type="pic" sz="quarter" idx="10" hasCustomPrompt="1"/>
          </p:nvPr>
        </p:nvSpPr>
        <p:spPr>
          <a:xfrm>
            <a:off x="3" y="0"/>
            <a:ext cx="12191997" cy="6858002"/>
          </a:xfrm>
          <a:custGeom>
            <a:avLst/>
            <a:gdLst>
              <a:gd name="connsiteX0" fmla="*/ 417190 w 12191997"/>
              <a:gd name="connsiteY0" fmla="*/ 6550173 h 6858002"/>
              <a:gd name="connsiteX1" fmla="*/ 419098 w 12191997"/>
              <a:gd name="connsiteY1" fmla="*/ 6550173 h 6858002"/>
              <a:gd name="connsiteX2" fmla="*/ 419098 w 12191997"/>
              <a:gd name="connsiteY2" fmla="*/ 6552070 h 6858002"/>
              <a:gd name="connsiteX3" fmla="*/ 522773 w 12191997"/>
              <a:gd name="connsiteY3" fmla="*/ 6489534 h 6858002"/>
              <a:gd name="connsiteX4" fmla="*/ 522773 w 12191997"/>
              <a:gd name="connsiteY4" fmla="*/ 6626228 h 6858002"/>
              <a:gd name="connsiteX5" fmla="*/ 552231 w 12191997"/>
              <a:gd name="connsiteY5" fmla="*/ 6626228 h 6858002"/>
              <a:gd name="connsiteX6" fmla="*/ 552231 w 12191997"/>
              <a:gd name="connsiteY6" fmla="*/ 6544276 h 6858002"/>
              <a:gd name="connsiteX7" fmla="*/ 596420 w 12191997"/>
              <a:gd name="connsiteY7" fmla="*/ 6588218 h 6858002"/>
              <a:gd name="connsiteX8" fmla="*/ 640607 w 12191997"/>
              <a:gd name="connsiteY8" fmla="*/ 6544276 h 6858002"/>
              <a:gd name="connsiteX9" fmla="*/ 640607 w 12191997"/>
              <a:gd name="connsiteY9" fmla="*/ 6626228 h 6858002"/>
              <a:gd name="connsiteX10" fmla="*/ 668233 w 12191997"/>
              <a:gd name="connsiteY10" fmla="*/ 6626228 h 6858002"/>
              <a:gd name="connsiteX11" fmla="*/ 668233 w 12191997"/>
              <a:gd name="connsiteY11" fmla="*/ 6489534 h 6858002"/>
              <a:gd name="connsiteX12" fmla="*/ 653161 w 12191997"/>
              <a:gd name="connsiteY12" fmla="*/ 6489534 h 6858002"/>
              <a:gd name="connsiteX13" fmla="*/ 653160 w 12191997"/>
              <a:gd name="connsiteY13" fmla="*/ 6489534 h 6858002"/>
              <a:gd name="connsiteX14" fmla="*/ 596792 w 12191997"/>
              <a:gd name="connsiteY14" fmla="*/ 6546315 h 6858002"/>
              <a:gd name="connsiteX15" fmla="*/ 539693 w 12191997"/>
              <a:gd name="connsiteY15" fmla="*/ 6489534 h 6858002"/>
              <a:gd name="connsiteX16" fmla="*/ 419098 w 12191997"/>
              <a:gd name="connsiteY16" fmla="*/ 6489534 h 6858002"/>
              <a:gd name="connsiteX17" fmla="*/ 419098 w 12191997"/>
              <a:gd name="connsiteY17" fmla="*/ 6550172 h 6858002"/>
              <a:gd name="connsiteX18" fmla="*/ 417189 w 12191997"/>
              <a:gd name="connsiteY18" fmla="*/ 6550172 h 6858002"/>
              <a:gd name="connsiteX19" fmla="*/ 417190 w 12191997"/>
              <a:gd name="connsiteY19" fmla="*/ 6550173 h 6858002"/>
              <a:gd name="connsiteX20" fmla="*/ 419099 w 12191997"/>
              <a:gd name="connsiteY20" fmla="*/ 6552071 h 6858002"/>
              <a:gd name="connsiteX21" fmla="*/ 419098 w 12191997"/>
              <a:gd name="connsiteY21" fmla="*/ 6552071 h 6858002"/>
              <a:gd name="connsiteX22" fmla="*/ 419098 w 12191997"/>
              <a:gd name="connsiteY22" fmla="*/ 6626781 h 6858002"/>
              <a:gd name="connsiteX23" fmla="*/ 419099 w 12191997"/>
              <a:gd name="connsiteY23" fmla="*/ 662678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419099 w 12191997"/>
              <a:gd name="connsiteY28" fmla="*/ 6489534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489534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419099 w 12191997"/>
              <a:gd name="connsiteY30" fmla="*/ 6489534 h 6858002"/>
              <a:gd name="connsiteX31" fmla="*/ 0 w 12191997"/>
              <a:gd name="connsiteY31" fmla="*/ 0 h 6858002"/>
              <a:gd name="connsiteX32" fmla="*/ 12191997 w 12191997"/>
              <a:gd name="connsiteY32" fmla="*/ 0 h 6858002"/>
              <a:gd name="connsiteX33" fmla="*/ 12191997 w 12191997"/>
              <a:gd name="connsiteY33" fmla="*/ 6858002 h 6858002"/>
              <a:gd name="connsiteX34" fmla="*/ 0 w 12191997"/>
              <a:gd name="connsiteY34" fmla="*/ 6858002 h 6858002"/>
              <a:gd name="connsiteX35" fmla="*/ 0 w 12191997"/>
              <a:gd name="connsiteY35"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0 w 12191997"/>
              <a:gd name="connsiteY30" fmla="*/ 0 h 6858002"/>
              <a:gd name="connsiteX31" fmla="*/ 12191997 w 12191997"/>
              <a:gd name="connsiteY31" fmla="*/ 0 h 6858002"/>
              <a:gd name="connsiteX32" fmla="*/ 12191997 w 12191997"/>
              <a:gd name="connsiteY32" fmla="*/ 6858002 h 6858002"/>
              <a:gd name="connsiteX33" fmla="*/ 0 w 12191997"/>
              <a:gd name="connsiteY33" fmla="*/ 6858002 h 6858002"/>
              <a:gd name="connsiteX34" fmla="*/ 0 w 12191997"/>
              <a:gd name="connsiteY34"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552071 h 6858002"/>
              <a:gd name="connsiteX26" fmla="*/ 493259 w 12191997"/>
              <a:gd name="connsiteY26" fmla="*/ 6625821 h 6858002"/>
              <a:gd name="connsiteX27" fmla="*/ 493259 w 12191997"/>
              <a:gd name="connsiteY27" fmla="*/ 6550173 h 6858002"/>
              <a:gd name="connsiteX28" fmla="*/ 419099 w 12191997"/>
              <a:gd name="connsiteY28" fmla="*/ 6550173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33" fmla="*/ 0 w 12191997"/>
              <a:gd name="connsiteY33"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0 w 12191997"/>
              <a:gd name="connsiteY28" fmla="*/ 0 h 6858002"/>
              <a:gd name="connsiteX29" fmla="*/ 12191997 w 12191997"/>
              <a:gd name="connsiteY29" fmla="*/ 0 h 6858002"/>
              <a:gd name="connsiteX30" fmla="*/ 12191997 w 12191997"/>
              <a:gd name="connsiteY30" fmla="*/ 6858002 h 6858002"/>
              <a:gd name="connsiteX31" fmla="*/ 0 w 12191997"/>
              <a:gd name="connsiteY31" fmla="*/ 6858002 h 6858002"/>
              <a:gd name="connsiteX32" fmla="*/ 0 w 12191997"/>
              <a:gd name="connsiteY32"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1997" h="6858002">
                <a:moveTo>
                  <a:pt x="417190" y="6550173"/>
                </a:moveTo>
                <a:lnTo>
                  <a:pt x="419098" y="6550173"/>
                </a:lnTo>
                <a:lnTo>
                  <a:pt x="419098" y="6552070"/>
                </a:lnTo>
                <a:lnTo>
                  <a:pt x="417190" y="6550173"/>
                </a:lnTo>
                <a:close/>
                <a:moveTo>
                  <a:pt x="522773" y="6489534"/>
                </a:moveTo>
                <a:lnTo>
                  <a:pt x="522773" y="6626228"/>
                </a:lnTo>
                <a:lnTo>
                  <a:pt x="552231" y="6626228"/>
                </a:lnTo>
                <a:lnTo>
                  <a:pt x="552231" y="6544276"/>
                </a:lnTo>
                <a:lnTo>
                  <a:pt x="596420" y="6588218"/>
                </a:lnTo>
                <a:lnTo>
                  <a:pt x="640607" y="6544276"/>
                </a:lnTo>
                <a:lnTo>
                  <a:pt x="640607" y="6626228"/>
                </a:lnTo>
                <a:lnTo>
                  <a:pt x="668233" y="6626228"/>
                </a:lnTo>
                <a:lnTo>
                  <a:pt x="668233" y="6489534"/>
                </a:lnTo>
                <a:lnTo>
                  <a:pt x="653161" y="6489534"/>
                </a:lnTo>
                <a:lnTo>
                  <a:pt x="653160" y="6489534"/>
                </a:lnTo>
                <a:lnTo>
                  <a:pt x="596792" y="6546315"/>
                </a:lnTo>
                <a:lnTo>
                  <a:pt x="539693" y="6489534"/>
                </a:lnTo>
                <a:lnTo>
                  <a:pt x="522773" y="6489534"/>
                </a:lnTo>
                <a:close/>
                <a:moveTo>
                  <a:pt x="419099" y="6550173"/>
                </a:moveTo>
                <a:lnTo>
                  <a:pt x="419098" y="6550172"/>
                </a:lnTo>
                <a:lnTo>
                  <a:pt x="417189" y="6550172"/>
                </a:lnTo>
                <a:lnTo>
                  <a:pt x="417190" y="6550173"/>
                </a:lnTo>
                <a:lnTo>
                  <a:pt x="419099" y="6552071"/>
                </a:lnTo>
                <a:lnTo>
                  <a:pt x="419098" y="6552071"/>
                </a:lnTo>
                <a:lnTo>
                  <a:pt x="419099" y="6552071"/>
                </a:lnTo>
                <a:lnTo>
                  <a:pt x="493259" y="6625821"/>
                </a:lnTo>
                <a:lnTo>
                  <a:pt x="493259" y="6550173"/>
                </a:lnTo>
                <a:lnTo>
                  <a:pt x="419099" y="6550173"/>
                </a:lnTo>
                <a:close/>
                <a:moveTo>
                  <a:pt x="0" y="0"/>
                </a:moveTo>
                <a:lnTo>
                  <a:pt x="12191997" y="0"/>
                </a:lnTo>
                <a:lnTo>
                  <a:pt x="12191997" y="6858002"/>
                </a:lnTo>
                <a:lnTo>
                  <a:pt x="0" y="6858002"/>
                </a:lnTo>
                <a:lnTo>
                  <a:pt x="0" y="0"/>
                </a:lnTo>
                <a:close/>
              </a:path>
            </a:pathLst>
          </a:custGeom>
          <a:solidFill>
            <a:schemeClr val="accent5"/>
          </a:solidFill>
        </p:spPr>
        <p:txBody>
          <a:bodyPr wrap="square">
            <a:noAutofit/>
          </a:bodyPr>
          <a:lstStyle>
            <a:lvl1pPr marL="0" indent="0" algn="ctr">
              <a:buNone/>
              <a:defRPr sz="1200" b="0">
                <a:solidFill>
                  <a:schemeClr val="bg1"/>
                </a:solidFill>
                <a:latin typeface="+mj-lt"/>
              </a:defRPr>
            </a:lvl1pPr>
          </a:lstStyle>
          <a:p>
            <a:r>
              <a:rPr lang="en-US"/>
              <a:t>Full Bleed Image Option – click on image icon to insert</a:t>
            </a: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4" name="Graphic 9">
            <a:extLst>
              <a:ext uri="{FF2B5EF4-FFF2-40B4-BE49-F238E27FC236}">
                <a16:creationId xmlns:a16="http://schemas.microsoft.com/office/drawing/2014/main" id="{3A3D2473-9F36-446A-A8FA-6492495329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487E1F0-8E2B-D294-12AE-66769DB84F7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6BDBB09E-07B6-82BF-25AF-60D2713980F8}"/>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8142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Slide - Light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97BFE9-BEE7-F58E-6537-4215445B6864}"/>
              </a:ext>
            </a:extLst>
          </p:cNvPr>
          <p:cNvSpPr>
            <a:spLocks noGrp="1"/>
          </p:cNvSpPr>
          <p:nvPr>
            <p:ph type="title"/>
          </p:nvPr>
        </p:nvSpPr>
        <p:spPr>
          <a:xfrm>
            <a:off x="1241258" y="1993899"/>
            <a:ext cx="9709484" cy="2870201"/>
          </a:xfrm>
        </p:spPr>
        <p:txBody>
          <a:bodyPr vert="horz" lIns="91440" tIns="45720" rIns="91440" bIns="45720" rtlCol="0" anchor="ctr">
            <a:noAutofit/>
          </a:bodyPr>
          <a:lstStyle>
            <a:lvl1pPr algn="ctr">
              <a:defRPr lang="en-US" sz="4400" b="0" cap="none" spc="-50" baseline="0" dirty="0">
                <a:solidFill>
                  <a:schemeClr val="tx1"/>
                </a:solidFill>
                <a:latin typeface="+mj-lt"/>
              </a:defRPr>
            </a:lvl1pPr>
          </a:lstStyle>
          <a:p>
            <a:pPr lvl="0">
              <a:lnSpc>
                <a:spcPct val="85000"/>
              </a:lnSpc>
            </a:pPr>
            <a:r>
              <a:rPr lang="en-US"/>
              <a:t>Click to edit Master title style</a:t>
            </a:r>
          </a:p>
        </p:txBody>
      </p:sp>
    </p:spTree>
    <p:extLst>
      <p:ext uri="{BB962C8B-B14F-4D97-AF65-F5344CB8AC3E}">
        <p14:creationId xmlns:p14="http://schemas.microsoft.com/office/powerpoint/2010/main" val="2773217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Body + EYEBROW">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spTree>
    <p:extLst>
      <p:ext uri="{BB962C8B-B14F-4D97-AF65-F5344CB8AC3E}">
        <p14:creationId xmlns:p14="http://schemas.microsoft.com/office/powerpoint/2010/main" val="1590816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Body + EYEBROW +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91440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cxnSp>
        <p:nvCxnSpPr>
          <p:cNvPr id="6" name="Straight Connector 5">
            <a:extLst>
              <a:ext uri="{FF2B5EF4-FFF2-40B4-BE49-F238E27FC236}">
                <a16:creationId xmlns:a16="http://schemas.microsoft.com/office/drawing/2014/main" id="{A9A652DD-9EB4-EBCC-D99F-7C1BD35129EA}"/>
              </a:ext>
            </a:extLst>
          </p:cNvPr>
          <p:cNvCxnSpPr>
            <a:cxnSpLocks/>
          </p:cNvCxnSpPr>
          <p:nvPr userDrawn="1"/>
        </p:nvCxnSpPr>
        <p:spPr>
          <a:xfrm>
            <a:off x="533400" y="806092"/>
            <a:ext cx="11125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72E01C5B-B994-ECBE-A728-43FA40CF55CE}"/>
              </a:ext>
            </a:extLst>
          </p:cNvPr>
          <p:cNvSpPr>
            <a:spLocks noGrp="1"/>
          </p:cNvSpPr>
          <p:nvPr>
            <p:ph sz="quarter" idx="11"/>
          </p:nvPr>
        </p:nvSpPr>
        <p:spPr>
          <a:xfrm>
            <a:off x="533400" y="1635354"/>
            <a:ext cx="11125200" cy="4381397"/>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1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Body">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219200"/>
            <a:ext cx="11125200" cy="4800599"/>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Tree>
    <p:extLst>
      <p:ext uri="{BB962C8B-B14F-4D97-AF65-F5344CB8AC3E}">
        <p14:creationId xmlns:p14="http://schemas.microsoft.com/office/powerpoint/2010/main" val="1181896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2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8"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6675120"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99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Body 3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9"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4322064"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F466B4D2-38C6-E3E9-D68E-B47FB0924CA0}"/>
              </a:ext>
            </a:extLst>
          </p:cNvPr>
          <p:cNvSpPr>
            <a:spLocks noGrp="1"/>
          </p:cNvSpPr>
          <p:nvPr>
            <p:ph sz="quarter" idx="13"/>
          </p:nvPr>
        </p:nvSpPr>
        <p:spPr>
          <a:xfrm>
            <a:off x="8110728"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8974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p>
            <a:r>
              <a:rPr lang="en-US"/>
              <a:t>Click to edit Master title style</a:t>
            </a:r>
          </a:p>
        </p:txBody>
      </p:sp>
    </p:spTree>
    <p:extLst>
      <p:ext uri="{BB962C8B-B14F-4D97-AF65-F5344CB8AC3E}">
        <p14:creationId xmlns:p14="http://schemas.microsoft.com/office/powerpoint/2010/main" val="1018922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807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9D0F4-D14E-2391-C035-8D4F022380C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8" name="TextBox 7">
            <a:extLst>
              <a:ext uri="{FF2B5EF4-FFF2-40B4-BE49-F238E27FC236}">
                <a16:creationId xmlns:a16="http://schemas.microsoft.com/office/drawing/2014/main" id="{BF3C50C5-83D2-174A-8E01-35365371844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3" name="Graphic 9">
            <a:extLst>
              <a:ext uri="{FF2B5EF4-FFF2-40B4-BE49-F238E27FC236}">
                <a16:creationId xmlns:a16="http://schemas.microsoft.com/office/drawing/2014/main" id="{732AA259-A6AF-EC29-5532-7F89B2999E1C}"/>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6E9AE4E-794D-87F2-4C05-6D750127774B}"/>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1FFB977A-09D9-1892-6CC0-012B3144D78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970244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Body with Background">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646CBC-6FE2-3596-CA9A-848AF961AE20}"/>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10" name="TextBox 9">
            <a:extLst>
              <a:ext uri="{FF2B5EF4-FFF2-40B4-BE49-F238E27FC236}">
                <a16:creationId xmlns:a16="http://schemas.microsoft.com/office/drawing/2014/main" id="{1B97C4DD-D778-3B47-91CB-0DBEC93C9B2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Content Placeholder 4">
            <a:extLst>
              <a:ext uri="{FF2B5EF4-FFF2-40B4-BE49-F238E27FC236}">
                <a16:creationId xmlns:a16="http://schemas.microsoft.com/office/drawing/2014/main" id="{5B3261BB-9F2B-9340-9D35-C7D084FF499C}"/>
              </a:ext>
            </a:extLst>
          </p:cNvPr>
          <p:cNvSpPr>
            <a:spLocks noGrp="1"/>
          </p:cNvSpPr>
          <p:nvPr>
            <p:ph sz="quarter" idx="11"/>
          </p:nvPr>
        </p:nvSpPr>
        <p:spPr>
          <a:xfrm>
            <a:off x="533400" y="1219200"/>
            <a:ext cx="11125200" cy="4800599"/>
          </a:xfrm>
        </p:spPr>
        <p:txBody>
          <a:bodyPr/>
          <a:lstStyle>
            <a:lvl1pPr>
              <a:defRPr>
                <a:solidFill>
                  <a:schemeClr val="bg1"/>
                </a:solidFill>
              </a:defRPr>
            </a:lvl1pPr>
            <a:lvl2pPr marL="274320" indent="-182880">
              <a:buFont typeface="Arial" panose="020B0604020202020204" pitchFamily="34" charset="0"/>
              <a:buChar char="•"/>
              <a:defRPr>
                <a:solidFill>
                  <a:schemeClr val="bg1"/>
                </a:solidFill>
              </a:defRPr>
            </a:lvl2pPr>
            <a:lvl3pPr marL="640080" indent="-182880">
              <a:buFont typeface="Arial" panose="020B0604020202020204" pitchFamily="34" charset="0"/>
              <a:buChar char="•"/>
              <a:defRPr>
                <a:solidFill>
                  <a:schemeClr val="bg1"/>
                </a:solidFill>
              </a:defRPr>
            </a:lvl3pPr>
            <a:lvl4pPr marL="1005840" indent="-182880">
              <a:buFont typeface="Arial" panose="020B0604020202020204" pitchFamily="34" charset="0"/>
              <a:buChar char="•"/>
              <a:defRPr>
                <a:solidFill>
                  <a:schemeClr val="bg1"/>
                </a:solidFill>
              </a:defRPr>
            </a:lvl4pPr>
            <a:lvl5pPr marL="1371600" indent="-18288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aphic 9">
            <a:extLst>
              <a:ext uri="{FF2B5EF4-FFF2-40B4-BE49-F238E27FC236}">
                <a16:creationId xmlns:a16="http://schemas.microsoft.com/office/drawing/2014/main" id="{F8B5E816-7D75-0001-CE5A-06EF94F015C5}"/>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4B571E3A-ACB2-CF3F-D682-5A60220C80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A6BD859A-D9BF-AD32-D97B-51D39374A711}"/>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349551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Body + EYEBROW with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B87FB-A401-9C88-F7DA-B4DB9C08974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solidFill>
                  <a:schemeClr val="bg1"/>
                </a:solidFill>
              </a:defRPr>
            </a:lvl1pPr>
            <a:lvl2pPr marL="274320" indent="-182880">
              <a:lnSpc>
                <a:spcPct val="100000"/>
              </a:lnSpc>
              <a:spcBef>
                <a:spcPts val="0"/>
              </a:spcBef>
              <a:spcAft>
                <a:spcPts val="600"/>
              </a:spcAft>
              <a:buFont typeface="Arial" panose="020B0604020202020204" pitchFamily="34" charset="0"/>
              <a:buChar char="•"/>
              <a:defRPr>
                <a:solidFill>
                  <a:schemeClr val="bg1"/>
                </a:solidFill>
              </a:defRPr>
            </a:lvl2pPr>
            <a:lvl3pPr marL="640080" indent="-182880">
              <a:lnSpc>
                <a:spcPct val="100000"/>
              </a:lnSpc>
              <a:spcBef>
                <a:spcPts val="0"/>
              </a:spcBef>
              <a:spcAft>
                <a:spcPts val="600"/>
              </a:spcAft>
              <a:buFont typeface="Arial" panose="020B0604020202020204" pitchFamily="34" charset="0"/>
              <a:buChar char="•"/>
              <a:defRPr>
                <a:solidFill>
                  <a:schemeClr val="bg1"/>
                </a:solidFill>
              </a:defRPr>
            </a:lvl3pPr>
            <a:lvl4pPr marL="1005840" indent="-182880">
              <a:lnSpc>
                <a:spcPct val="100000"/>
              </a:lnSpc>
              <a:spcBef>
                <a:spcPts val="0"/>
              </a:spcBef>
              <a:spcAft>
                <a:spcPts val="600"/>
              </a:spcAft>
              <a:buFont typeface="Arial" panose="020B0604020202020204" pitchFamily="34" charset="0"/>
              <a:buChar char="•"/>
              <a:defRPr>
                <a:solidFill>
                  <a:schemeClr val="bg1"/>
                </a:solidFill>
              </a:defRPr>
            </a:lvl4pPr>
            <a:lvl5pPr marL="1371600" indent="-18288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bg2">
                    <a:lumMod val="90000"/>
                  </a:schemeClr>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grpSp>
        <p:nvGrpSpPr>
          <p:cNvPr id="7" name="Graphic 9">
            <a:extLst>
              <a:ext uri="{FF2B5EF4-FFF2-40B4-BE49-F238E27FC236}">
                <a16:creationId xmlns:a16="http://schemas.microsoft.com/office/drawing/2014/main" id="{D9FCE122-784E-9DC6-F7E8-FA43165BFF3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8" name="Freeform 7">
              <a:extLst>
                <a:ext uri="{FF2B5EF4-FFF2-40B4-BE49-F238E27FC236}">
                  <a16:creationId xmlns:a16="http://schemas.microsoft.com/office/drawing/2014/main" id="{22731A90-798F-263D-EA32-25545EDF5D0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8">
              <a:extLst>
                <a:ext uri="{FF2B5EF4-FFF2-40B4-BE49-F238E27FC236}">
                  <a16:creationId xmlns:a16="http://schemas.microsoft.com/office/drawing/2014/main" id="{2B36744D-81AD-D6CF-EAF0-E1488DD39B7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6" name="TextBox 5">
            <a:extLst>
              <a:ext uri="{FF2B5EF4-FFF2-40B4-BE49-F238E27FC236}">
                <a16:creationId xmlns:a16="http://schemas.microsoft.com/office/drawing/2014/main" id="{F630058B-B427-5441-01EF-12AB013E778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43061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D13399-5BEF-EEED-B940-0B118B8114F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EE1B876D-140A-A646-9E95-8CA988F4773F}"/>
              </a:ext>
            </a:extLst>
          </p:cNvPr>
          <p:cNvSpPr txBox="1"/>
          <p:nvPr/>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grpSp>
        <p:nvGrpSpPr>
          <p:cNvPr id="11" name="Graphic 9">
            <a:extLst>
              <a:ext uri="{FF2B5EF4-FFF2-40B4-BE49-F238E27FC236}">
                <a16:creationId xmlns:a16="http://schemas.microsoft.com/office/drawing/2014/main" id="{3266A6D4-7FA8-1F50-AF70-17632A9A1500}"/>
              </a:ext>
            </a:extLst>
          </p:cNvPr>
          <p:cNvGrpSpPr>
            <a:grpSpLocks noChangeAspect="1"/>
          </p:cNvGrpSpPr>
          <p:nvPr userDrawn="1"/>
        </p:nvGrpSpPr>
        <p:grpSpPr>
          <a:xfrm>
            <a:off x="5473098" y="3188907"/>
            <a:ext cx="878544" cy="482508"/>
            <a:chOff x="11484948" y="313034"/>
            <a:chExt cx="401233" cy="220363"/>
          </a:xfrm>
          <a:solidFill>
            <a:schemeClr val="accent5"/>
          </a:solidFill>
        </p:grpSpPr>
        <p:sp>
          <p:nvSpPr>
            <p:cNvPr id="12" name="Freeform 11">
              <a:extLst>
                <a:ext uri="{FF2B5EF4-FFF2-40B4-BE49-F238E27FC236}">
                  <a16:creationId xmlns:a16="http://schemas.microsoft.com/office/drawing/2014/main" id="{D38B71AF-F8A4-A1E9-B960-47978F397A7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8D225686-E5A8-A339-D3BA-08D00055A0AB}"/>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73420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40302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000266-3898-8EF3-245A-BC5A713B8748}"/>
              </a:ext>
            </a:extLst>
          </p:cNvPr>
          <p:cNvSpPr>
            <a:spLocks noGrp="1"/>
          </p:cNvSpPr>
          <p:nvPr>
            <p:ph type="dt" sz="half" idx="10"/>
          </p:nvPr>
        </p:nvSpPr>
        <p:spPr/>
        <p:txBody>
          <a:bodyPr/>
          <a:lstStyle/>
          <a:p>
            <a:fld id="{356A56AD-59C9-49A6-A4DB-26BD3DAE1E77}" type="datetimeFigureOut">
              <a:rPr lang="en-US" smtClean="0"/>
              <a:t>10/20/2026</a:t>
            </a:fld>
            <a:endParaRPr lang="en-US"/>
          </a:p>
        </p:txBody>
      </p:sp>
      <p:sp>
        <p:nvSpPr>
          <p:cNvPr id="3" name="Footer Placeholder 2">
            <a:extLst>
              <a:ext uri="{FF2B5EF4-FFF2-40B4-BE49-F238E27FC236}">
                <a16:creationId xmlns:a16="http://schemas.microsoft.com/office/drawing/2014/main" id="{70FA1A70-26C8-F697-653B-ADB1C0031F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4DEF5F-B2AB-33A0-2E48-9C7C7AE08460}"/>
              </a:ext>
            </a:extLst>
          </p:cNvPr>
          <p:cNvSpPr>
            <a:spLocks noGrp="1"/>
          </p:cNvSpPr>
          <p:nvPr>
            <p:ph type="sldNum" sz="quarter" idx="12"/>
          </p:nvPr>
        </p:nvSpPr>
        <p:spPr/>
        <p:txBody>
          <a:bodyPr/>
          <a:lstStyle/>
          <a:p>
            <a:fld id="{B0FD4039-54B5-4A64-9CCD-BAE3A4B329A0}" type="slidenum">
              <a:rPr lang="en-US" smtClean="0"/>
              <a:t>‹#›</a:t>
            </a:fld>
            <a:endParaRPr lang="en-US"/>
          </a:p>
        </p:txBody>
      </p:sp>
    </p:spTree>
    <p:extLst>
      <p:ext uri="{BB962C8B-B14F-4D97-AF65-F5344CB8AC3E}">
        <p14:creationId xmlns:p14="http://schemas.microsoft.com/office/powerpoint/2010/main" val="3069486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730ED-7B9D-40FC-B1E0-F1125DD90F87}"/>
              </a:ext>
            </a:extLst>
          </p:cNvPr>
          <p:cNvSpPr>
            <a:spLocks noGrp="1"/>
          </p:cNvSpPr>
          <p:nvPr>
            <p:ph type="title"/>
          </p:nvPr>
        </p:nvSpPr>
        <p:spPr>
          <a:xfrm>
            <a:off x="533400" y="457200"/>
            <a:ext cx="11125200" cy="609600"/>
          </a:xfrm>
          <a:prstGeom prst="rect">
            <a:avLst/>
          </a:prstGeom>
        </p:spPr>
        <p:txBody>
          <a:bodyPr vert="horz" lIns="91440" tIns="45720" rIns="91440" bIns="45720" rtlCol="0" anchor="t">
            <a:no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F1B16267-223E-41DF-97C0-3C5C64CF28FE}"/>
              </a:ext>
            </a:extLst>
          </p:cNvPr>
          <p:cNvSpPr>
            <a:spLocks noGrp="1"/>
          </p:cNvSpPr>
          <p:nvPr>
            <p:ph type="body" idx="1"/>
          </p:nvPr>
        </p:nvSpPr>
        <p:spPr>
          <a:xfrm>
            <a:off x="533400" y="1219200"/>
            <a:ext cx="11125200" cy="480059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F89AE7F-24B1-A64B-B288-B6C5E8A9B846}"/>
              </a:ext>
            </a:extLst>
          </p:cNvPr>
          <p:cNvSpPr txBox="1"/>
          <p:nvPr/>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TextBox 8">
            <a:extLst>
              <a:ext uri="{FF2B5EF4-FFF2-40B4-BE49-F238E27FC236}">
                <a16:creationId xmlns:a16="http://schemas.microsoft.com/office/drawing/2014/main" id="{A90C8A3C-DD41-F348-BAAE-28579DC164C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14" name="Graphic 9">
            <a:extLst>
              <a:ext uri="{FF2B5EF4-FFF2-40B4-BE49-F238E27FC236}">
                <a16:creationId xmlns:a16="http://schemas.microsoft.com/office/drawing/2014/main" id="{91938403-5DD2-285C-67C1-6B3077C17C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5" name="Freeform 14">
              <a:extLst>
                <a:ext uri="{FF2B5EF4-FFF2-40B4-BE49-F238E27FC236}">
                  <a16:creationId xmlns:a16="http://schemas.microsoft.com/office/drawing/2014/main" id="{2C8368F7-FE0C-4A9D-A6AC-23CC716F632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6" name="Freeform 15">
              <a:extLst>
                <a:ext uri="{FF2B5EF4-FFF2-40B4-BE49-F238E27FC236}">
                  <a16:creationId xmlns:a16="http://schemas.microsoft.com/office/drawing/2014/main" id="{B327AF6F-810F-21C4-8946-5FD13473973C}"/>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038093919"/>
      </p:ext>
    </p:extLst>
  </p:cSld>
  <p:clrMap bg1="dk1" tx1="lt1" bg2="dk2" tx2="lt2" accent1="accent1" accent2="accent2" accent3="accent3" accent4="accent4" accent5="accent5" accent6="accent6" hlink="hlink" folHlink="folHlink"/>
  <p:sldLayoutIdLst>
    <p:sldLayoutId id="2147484052" r:id="rId1"/>
    <p:sldLayoutId id="2147484053" r:id="rId2"/>
    <p:sldLayoutId id="2147484088" r:id="rId3"/>
    <p:sldLayoutId id="2147484087" r:id="rId4"/>
    <p:sldLayoutId id="2147484054" r:id="rId5"/>
    <p:sldLayoutId id="2147484057" r:id="rId6"/>
    <p:sldLayoutId id="2147484101" r:id="rId7"/>
    <p:sldLayoutId id="2147484059" r:id="rId8"/>
    <p:sldLayoutId id="2147484100" r:id="rId9"/>
    <p:sldLayoutId id="2147484089" r:id="rId10"/>
    <p:sldLayoutId id="2147484098" r:id="rId11"/>
    <p:sldLayoutId id="2147484090" r:id="rId12"/>
    <p:sldLayoutId id="2147484105" r:id="rId13"/>
    <p:sldLayoutId id="2147484104" r:id="rId14"/>
    <p:sldLayoutId id="2147484061" r:id="rId15"/>
    <p:sldLayoutId id="2147484119" r:id="rId16"/>
    <p:sldLayoutId id="2147484120" r:id="rId17"/>
    <p:sldLayoutId id="2147484121" r:id="rId18"/>
    <p:sldLayoutId id="2147484122" r:id="rId19"/>
    <p:sldLayoutId id="2147484075" r:id="rId20"/>
    <p:sldLayoutId id="2147484096" r:id="rId21"/>
    <p:sldLayoutId id="2147484117" r:id="rId22"/>
    <p:sldLayoutId id="2147484076" r:id="rId23"/>
    <p:sldLayoutId id="2147484077" r:id="rId24"/>
    <p:sldLayoutId id="2147484064" r:id="rId25"/>
    <p:sldLayoutId id="2147484116" r:id="rId26"/>
    <p:sldLayoutId id="2147484063" r:id="rId27"/>
    <p:sldLayoutId id="2147484066" r:id="rId28"/>
    <p:sldLayoutId id="2147484065" r:id="rId29"/>
    <p:sldLayoutId id="2147484067" r:id="rId30"/>
    <p:sldLayoutId id="2147484068" r:id="rId31"/>
    <p:sldLayoutId id="2147484074" r:id="rId32"/>
    <p:sldLayoutId id="2147484073" r:id="rId33"/>
    <p:sldLayoutId id="2147484118" r:id="rId34"/>
    <p:sldLayoutId id="2147484086" r:id="rId35"/>
    <p:sldLayoutId id="2147484123" r:id="rId36"/>
    <p:sldLayoutId id="2147484124" r:id="rId37"/>
  </p:sldLayoutIdLst>
  <p:txStyles>
    <p:titleStyle>
      <a:lvl1pPr algn="l" defTabSz="914400" rtl="0" eaLnBrk="1" latinLnBrk="0" hangingPunct="1">
        <a:lnSpc>
          <a:spcPct val="9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3936">
          <p15:clr>
            <a:srgbClr val="F26B43"/>
          </p15:clr>
        </p15:guide>
        <p15:guide id="22" orient="horz" pos="4176">
          <p15:clr>
            <a:srgbClr val="F26B43"/>
          </p15:clr>
        </p15:guide>
        <p15:guide id="27" orient="horz" pos="336">
          <p15:clr>
            <a:srgbClr val="5ACBF0"/>
          </p15:clr>
        </p15:guide>
        <p15:guide id="28" orient="horz" pos="3792">
          <p15:clr>
            <a:srgbClr val="5ACBF0"/>
          </p15:clr>
        </p15:guide>
        <p15:guide id="29" pos="336">
          <p15:clr>
            <a:srgbClr val="5ACBF0"/>
          </p15:clr>
        </p15:guide>
        <p15:guide id="30" pos="7344">
          <p15:clr>
            <a:srgbClr val="5ACBF0"/>
          </p15:clr>
        </p15:guide>
        <p15:guide id="31" orient="horz" pos="768">
          <p15:clr>
            <a:srgbClr val="5ACBF0"/>
          </p15:clr>
        </p15:guide>
        <p15:guide id="32" orient="horz" pos="720">
          <p15:clr>
            <a:srgbClr val="5ACBF0"/>
          </p15:clr>
        </p15:guide>
        <p15:guide id="33" orient="horz" pos="2160">
          <p15:clr>
            <a:srgbClr val="FDE53C"/>
          </p15:clr>
        </p15:guide>
        <p15:guide id="34" pos="3840">
          <p15:clr>
            <a:srgbClr val="FDE53C"/>
          </p15:clr>
        </p15:guide>
        <p15:guide id="35" pos="1366">
          <p15:clr>
            <a:srgbClr val="A4A3A4"/>
          </p15:clr>
        </p15:guide>
        <p15:guide id="36" pos="1533">
          <p15:clr>
            <a:srgbClr val="A4A3A4"/>
          </p15:clr>
        </p15:guide>
        <p15:guide id="37" pos="2561">
          <p15:clr>
            <a:srgbClr val="A4A3A4"/>
          </p15:clr>
        </p15:guide>
        <p15:guide id="38" pos="2729">
          <p15:clr>
            <a:srgbClr val="A4A3A4"/>
          </p15:clr>
        </p15:guide>
        <p15:guide id="39" pos="3756">
          <p15:clr>
            <a:srgbClr val="A4A3A4"/>
          </p15:clr>
        </p15:guide>
        <p15:guide id="40" pos="3927">
          <p15:clr>
            <a:srgbClr val="A4A3A4"/>
          </p15:clr>
        </p15:guide>
        <p15:guide id="41" pos="4957">
          <p15:clr>
            <a:srgbClr val="A4A3A4"/>
          </p15:clr>
        </p15:guide>
        <p15:guide id="42" pos="5122">
          <p15:clr>
            <a:srgbClr val="A4A3A4"/>
          </p15:clr>
        </p15:guide>
        <p15:guide id="43" pos="6153">
          <p15:clr>
            <a:srgbClr val="A4A3A4"/>
          </p15:clr>
        </p15:guide>
        <p15:guide id="44" pos="6320">
          <p15:clr>
            <a:srgbClr val="A4A3A4"/>
          </p15:clr>
        </p15:guide>
        <p15:guide id="45" pos="240">
          <p15:clr>
            <a:srgbClr val="FDE53C"/>
          </p15:clr>
        </p15:guide>
        <p15:guide id="46" pos="340">
          <p15:clr>
            <a:srgbClr val="FDE53C"/>
          </p15:clr>
        </p15:guide>
        <p15:guide id="47" pos="7464">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0.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[MONTH YEAR]</a:t>
            </a:r>
          </a:p>
        </p:txBody>
      </p:sp>
      <p:sp>
        <p:nvSpPr>
          <p:cNvPr id="3" name="Title 2"/>
          <p:cNvSpPr>
            <a:spLocks noGrp="1"/>
          </p:cNvSpPr>
          <p:nvPr>
            <p:ph type="title"/>
          </p:nvPr>
        </p:nvSpPr>
        <p:spPr/>
        <p:txBody>
          <a:bodyPr/>
          <a:lstStyle/>
          <a:p>
            <a:r>
              <a:t>Operations Priorities</a:t>
            </a:r>
          </a:p>
        </p:txBody>
      </p:sp>
      <p:sp>
        <p:nvSpPr>
          <p:cNvPr id="4" name="Text Placeholder 3"/>
          <p:cNvSpPr>
            <a:spLocks noGrp="1"/>
          </p:cNvSpPr>
          <p:nvPr>
            <p:ph type="body" idx="10" sz="quarter"/>
          </p:nvPr>
        </p:nvSpPr>
        <p:spPr/>
        <p:txBody>
          <a:bodyPr/>
          <a:lstStyle/>
          <a:p>
            <a:r>
              <a:t>Executive summary and click-downs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m_hero.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Priorities at a glance</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PRIORITIES</a:t>
            </a:r>
          </a:p>
        </p:txBody>
      </p:sp>
      <p:sp>
        <p:nvSpPr>
          <p:cNvPr id="7" name="TextBox 6"/>
          <p:cNvSpPr txBox="1"/>
          <p:nvPr/>
        </p:nvSpPr>
        <p:spPr>
          <a:xfrm>
            <a:off x="457200" y="1188720"/>
            <a:ext cx="11277600" cy="457200"/>
          </a:xfrm>
          <a:prstGeom prst="rect">
            <a:avLst/>
          </a:prstGeom>
          <a:noFill/>
        </p:spPr>
        <p:txBody>
          <a:bodyPr wrap="square" lIns="0" rIns="0" tIns="0" bIns="0" anchor="t">
            <a:spAutoFit/>
          </a:bodyPr>
          <a:lstStyle/>
          <a:p>
            <a:pPr algn="l">
              <a:spcAft>
                <a:spcPts val="500"/>
              </a:spcAft>
            </a:pPr>
            <a:r>
              <a:rPr sz="1150" b="0" i="0">
                <a:solidFill>
                  <a:srgbClr val="000000"/>
                </a:solidFill>
              </a:rPr>
              <a:t>Top priorities, agreed as a team. Together, this is how we answer Play to Win's Delivery Excellence and Operational Review asks. We're tackling one epic at a time, starting with the Deal-to-Delivery Playbook, and moving to the next once it has real momentum.</a:t>
            </a:r>
          </a:p>
        </p:txBody>
      </p:sp>
      <p:sp>
        <p:nvSpPr>
          <p:cNvPr id="8" name="TextBox 7"/>
          <p:cNvSpPr txBox="1"/>
          <p:nvPr/>
        </p:nvSpPr>
        <p:spPr>
          <a:xfrm>
            <a:off x="1115568" y="1755648"/>
            <a:ext cx="2194560" cy="182880"/>
          </a:xfrm>
          <a:prstGeom prst="rect">
            <a:avLst/>
          </a:prstGeom>
          <a:noFill/>
        </p:spPr>
        <p:txBody>
          <a:bodyPr wrap="square" lIns="0" rIns="0" tIns="0" bIns="0" anchor="t">
            <a:spAutoFit/>
          </a:bodyPr>
          <a:lstStyle/>
          <a:p>
            <a:pPr algn="l">
              <a:spcAft>
                <a:spcPts val="200"/>
              </a:spcAft>
            </a:pPr>
            <a:r>
              <a:rPr sz="850" b="1" i="0" cap="all" spc="100">
                <a:solidFill>
                  <a:srgbClr val="60607D"/>
                </a:solidFill>
              </a:rPr>
              <a:t>Priority</a:t>
            </a:r>
          </a:p>
        </p:txBody>
      </p:sp>
      <p:sp>
        <p:nvSpPr>
          <p:cNvPr id="9" name="TextBox 8"/>
          <p:cNvSpPr txBox="1"/>
          <p:nvPr/>
        </p:nvSpPr>
        <p:spPr>
          <a:xfrm>
            <a:off x="3383280" y="1755648"/>
            <a:ext cx="3474720" cy="182880"/>
          </a:xfrm>
          <a:prstGeom prst="rect">
            <a:avLst/>
          </a:prstGeom>
          <a:noFill/>
        </p:spPr>
        <p:txBody>
          <a:bodyPr wrap="square" lIns="0" rIns="0" tIns="0" bIns="0" anchor="t">
            <a:spAutoFit/>
          </a:bodyPr>
          <a:lstStyle/>
          <a:p>
            <a:pPr algn="l">
              <a:spcAft>
                <a:spcPts val="200"/>
              </a:spcAft>
            </a:pPr>
            <a:r>
              <a:rPr sz="850" b="1" i="0" cap="all" spc="100">
                <a:solidFill>
                  <a:srgbClr val="60607D"/>
                </a:solidFill>
              </a:rPr>
              <a:t>What it is</a:t>
            </a:r>
          </a:p>
        </p:txBody>
      </p:sp>
      <p:sp>
        <p:nvSpPr>
          <p:cNvPr id="10" name="TextBox 9"/>
          <p:cNvSpPr txBox="1"/>
          <p:nvPr/>
        </p:nvSpPr>
        <p:spPr>
          <a:xfrm>
            <a:off x="7040880" y="1755648"/>
            <a:ext cx="3108960" cy="182880"/>
          </a:xfrm>
          <a:prstGeom prst="rect">
            <a:avLst/>
          </a:prstGeom>
          <a:noFill/>
        </p:spPr>
        <p:txBody>
          <a:bodyPr wrap="square" lIns="0" rIns="0" tIns="0" bIns="0" anchor="t">
            <a:spAutoFit/>
          </a:bodyPr>
          <a:lstStyle/>
          <a:p>
            <a:pPr algn="l">
              <a:spcAft>
                <a:spcPts val="200"/>
              </a:spcAft>
            </a:pPr>
            <a:r>
              <a:rPr sz="850" b="1" i="0" cap="all" spc="100">
                <a:solidFill>
                  <a:srgbClr val="60607D"/>
                </a:solidFill>
              </a:rPr>
              <a:t>How we'll know it's working</a:t>
            </a:r>
          </a:p>
        </p:txBody>
      </p:sp>
      <p:sp>
        <p:nvSpPr>
          <p:cNvPr id="11" name="TextBox 10"/>
          <p:cNvSpPr txBox="1"/>
          <p:nvPr/>
        </p:nvSpPr>
        <p:spPr>
          <a:xfrm>
            <a:off x="10363200" y="1755648"/>
            <a:ext cx="1188720" cy="182880"/>
          </a:xfrm>
          <a:prstGeom prst="rect">
            <a:avLst/>
          </a:prstGeom>
          <a:noFill/>
        </p:spPr>
        <p:txBody>
          <a:bodyPr wrap="square" lIns="0" rIns="0" tIns="0" bIns="0" anchor="t">
            <a:spAutoFit/>
          </a:bodyPr>
          <a:lstStyle/>
          <a:p>
            <a:pPr algn="l">
              <a:spcAft>
                <a:spcPts val="200"/>
              </a:spcAft>
            </a:pPr>
            <a:r>
              <a:rPr sz="850" b="1" i="0" cap="all" spc="100">
                <a:solidFill>
                  <a:srgbClr val="60607D"/>
                </a:solidFill>
              </a:rPr>
              <a:t>Status</a:t>
            </a:r>
          </a:p>
        </p:txBody>
      </p:sp>
      <p:sp>
        <p:nvSpPr>
          <p:cNvPr id="12" name="Rounded Rectangle 11"/>
          <p:cNvSpPr/>
          <p:nvPr/>
        </p:nvSpPr>
        <p:spPr>
          <a:xfrm>
            <a:off x="457200" y="1965960"/>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13" name="TextBox 12"/>
          <p:cNvSpPr txBox="1"/>
          <p:nvPr/>
        </p:nvSpPr>
        <p:spPr>
          <a:xfrm>
            <a:off x="640080" y="1965960"/>
            <a:ext cx="457200" cy="457200"/>
          </a:xfrm>
          <a:prstGeom prst="rect">
            <a:avLst/>
          </a:prstGeom>
          <a:noFill/>
        </p:spPr>
        <p:txBody>
          <a:bodyPr wrap="square" lIns="0" rIns="0" tIns="0" bIns="0" anchor="ctr">
            <a:spAutoFit/>
          </a:bodyPr>
          <a:lstStyle/>
          <a:p>
            <a:pPr algn="l">
              <a:spcAft>
                <a:spcPts val="600"/>
              </a:spcAft>
            </a:pPr>
            <a:r>
              <a:rPr sz="1400" b="1" i="0">
                <a:solidFill>
                  <a:srgbClr val="000000"/>
                </a:solidFill>
              </a:rPr>
              <a:t>01</a:t>
            </a:r>
          </a:p>
        </p:txBody>
      </p:sp>
      <p:sp>
        <p:nvSpPr>
          <p:cNvPr id="14" name="TextBox 13"/>
          <p:cNvSpPr txBox="1"/>
          <p:nvPr/>
        </p:nvSpPr>
        <p:spPr>
          <a:xfrm>
            <a:off x="1115568" y="1965960"/>
            <a:ext cx="2194560" cy="457200"/>
          </a:xfrm>
          <a:prstGeom prst="rect">
            <a:avLst/>
          </a:prstGeom>
          <a:noFill/>
        </p:spPr>
        <p:txBody>
          <a:bodyPr wrap="square" lIns="0" rIns="0" tIns="0" bIns="0" anchor="ctr">
            <a:spAutoFit/>
          </a:bodyPr>
          <a:lstStyle/>
          <a:p>
            <a:pPr algn="l">
              <a:spcAft>
                <a:spcPts val="500"/>
              </a:spcAft>
            </a:pPr>
            <a:r>
              <a:rPr sz="1100" b="1" i="0">
                <a:solidFill>
                  <a:srgbClr val="000000"/>
                </a:solidFill>
              </a:rPr>
              <a:t>Deal-to-Delivery Playbook</a:t>
            </a:r>
          </a:p>
        </p:txBody>
      </p:sp>
      <p:sp>
        <p:nvSpPr>
          <p:cNvPr id="15" name="TextBox 14"/>
          <p:cNvSpPr txBox="1"/>
          <p:nvPr/>
        </p:nvSpPr>
        <p:spPr>
          <a:xfrm>
            <a:off x="3383280" y="1965960"/>
            <a:ext cx="3474720" cy="457200"/>
          </a:xfrm>
          <a:prstGeom prst="rect">
            <a:avLst/>
          </a:prstGeom>
          <a:noFill/>
        </p:spPr>
        <p:txBody>
          <a:bodyPr wrap="square" lIns="0" rIns="0" tIns="0" bIns="0" anchor="ctr">
            <a:spAutoFit/>
          </a:bodyPr>
          <a:lstStyle/>
          <a:p>
            <a:pPr algn="l">
              <a:spcAft>
                <a:spcPts val="0"/>
              </a:spcAft>
            </a:pPr>
            <a:r>
              <a:rPr sz="900" b="0" i="0">
                <a:solidFill>
                  <a:srgbClr val="000000"/>
                </a:solidFill>
              </a:rPr>
              <a:t>Work is sold in shapes we cannot staff or deliver.</a:t>
            </a:r>
          </a:p>
        </p:txBody>
      </p:sp>
      <p:sp>
        <p:nvSpPr>
          <p:cNvPr id="16" name="TextBox 15"/>
          <p:cNvSpPr txBox="1"/>
          <p:nvPr/>
        </p:nvSpPr>
        <p:spPr>
          <a:xfrm>
            <a:off x="7040880" y="1965960"/>
            <a:ext cx="3017520" cy="457200"/>
          </a:xfrm>
          <a:prstGeom prst="rect">
            <a:avLst/>
          </a:prstGeom>
          <a:noFill/>
        </p:spPr>
        <p:txBody>
          <a:bodyPr wrap="square" lIns="0" rIns="0" tIns="0" bIns="0" anchor="ctr">
            <a:spAutoFit/>
          </a:bodyPr>
          <a:lstStyle/>
          <a:p>
            <a:pPr algn="l">
              <a:spcAft>
                <a:spcPts val="0"/>
              </a:spcAft>
            </a:pPr>
            <a:r>
              <a:rPr sz="900" b="0" i="0">
                <a:solidFill>
                  <a:srgbClr val="000000"/>
                </a:solidFill>
              </a:rPr>
              <a:t>No SOW signed without a model name; drift visible in weeks 2 to 4, not at the next executive review.</a:t>
            </a:r>
          </a:p>
        </p:txBody>
      </p:sp>
      <p:sp>
        <p:nvSpPr>
          <p:cNvPr id="17" name="Rounded Rectangle 16"/>
          <p:cNvSpPr/>
          <p:nvPr/>
        </p:nvSpPr>
        <p:spPr>
          <a:xfrm>
            <a:off x="10363200" y="2057400"/>
            <a:ext cx="1188720" cy="274320"/>
          </a:xfrm>
          <a:prstGeom prst="roundRect">
            <a:avLst>
              <a:gd name="adj" fmla="val 50000"/>
            </a:avLst>
          </a:prstGeom>
          <a:solidFill>
            <a:srgbClr val="000000"/>
          </a:solidFill>
          <a:ln>
            <a:noFill/>
          </a:ln>
        </p:spPr>
        <p:txBody>
          <a:bodyPr rtlCol="0" anchor="ctr" lIns="0" rIns="0" tIns="0" bIns="0"/>
          <a:lstStyle/>
          <a:p>
            <a:pPr algn="ctr"/>
            <a:r>
              <a:rPr sz="800" b="1" i="0" cap="all" spc="60">
                <a:solidFill>
                  <a:srgbClr val="FFFFFF"/>
                </a:solidFill>
              </a:rPr>
              <a:t>FOCUS NOW</a:t>
            </a:r>
          </a:p>
        </p:txBody>
      </p:sp>
      <p:sp>
        <p:nvSpPr>
          <p:cNvPr id="18" name="Rounded Rectangle 17"/>
          <p:cNvSpPr/>
          <p:nvPr/>
        </p:nvSpPr>
        <p:spPr>
          <a:xfrm>
            <a:off x="457200" y="2464308"/>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19" name="TextBox 18"/>
          <p:cNvSpPr txBox="1"/>
          <p:nvPr/>
        </p:nvSpPr>
        <p:spPr>
          <a:xfrm>
            <a:off x="640080" y="2464308"/>
            <a:ext cx="457200" cy="457200"/>
          </a:xfrm>
          <a:prstGeom prst="rect">
            <a:avLst/>
          </a:prstGeom>
          <a:noFill/>
        </p:spPr>
        <p:txBody>
          <a:bodyPr wrap="square" lIns="0" rIns="0" tIns="0" bIns="0" anchor="ctr">
            <a:spAutoFit/>
          </a:bodyPr>
          <a:lstStyle/>
          <a:p>
            <a:pPr algn="l">
              <a:spcAft>
                <a:spcPts val="600"/>
              </a:spcAft>
            </a:pPr>
            <a:r>
              <a:rPr sz="1400" b="1" i="0">
                <a:solidFill>
                  <a:srgbClr val="000000"/>
                </a:solidFill>
              </a:rPr>
              <a:t>02</a:t>
            </a:r>
          </a:p>
        </p:txBody>
      </p:sp>
      <p:sp>
        <p:nvSpPr>
          <p:cNvPr id="20" name="TextBox 19"/>
          <p:cNvSpPr txBox="1"/>
          <p:nvPr/>
        </p:nvSpPr>
        <p:spPr>
          <a:xfrm>
            <a:off x="1115568" y="2464308"/>
            <a:ext cx="2194560" cy="457200"/>
          </a:xfrm>
          <a:prstGeom prst="rect">
            <a:avLst/>
          </a:prstGeom>
          <a:noFill/>
        </p:spPr>
        <p:txBody>
          <a:bodyPr wrap="square" lIns="0" rIns="0" tIns="0" bIns="0" anchor="ctr">
            <a:spAutoFit/>
          </a:bodyPr>
          <a:lstStyle/>
          <a:p>
            <a:pPr algn="l">
              <a:spcAft>
                <a:spcPts val="500"/>
              </a:spcAft>
            </a:pPr>
            <a:r>
              <a:rPr sz="1100" b="1" i="0">
                <a:solidFill>
                  <a:srgbClr val="000000"/>
                </a:solidFill>
              </a:rPr>
              <a:t>Accountability Framework</a:t>
            </a:r>
          </a:p>
        </p:txBody>
      </p:sp>
      <p:sp>
        <p:nvSpPr>
          <p:cNvPr id="21" name="TextBox 20"/>
          <p:cNvSpPr txBox="1"/>
          <p:nvPr/>
        </p:nvSpPr>
        <p:spPr>
          <a:xfrm>
            <a:off x="3383280" y="2464308"/>
            <a:ext cx="3474720" cy="457200"/>
          </a:xfrm>
          <a:prstGeom prst="rect">
            <a:avLst/>
          </a:prstGeom>
          <a:noFill/>
        </p:spPr>
        <p:txBody>
          <a:bodyPr wrap="square" lIns="0" rIns="0" tIns="0" bIns="0" anchor="ctr">
            <a:spAutoFit/>
          </a:bodyPr>
          <a:lstStyle/>
          <a:p>
            <a:pPr algn="l">
              <a:spcAft>
                <a:spcPts val="0"/>
              </a:spcAft>
            </a:pPr>
            <a:r>
              <a:rPr sz="900" b="0" i="0">
                <a:solidFill>
                  <a:srgbClr val="000000"/>
                </a:solidFill>
              </a:rPr>
              <a:t>Define accountability for every project, with clear delivery roles, executive sponsorship, and regular reviews that highlight high risk projects.</a:t>
            </a:r>
          </a:p>
        </p:txBody>
      </p:sp>
      <p:sp>
        <p:nvSpPr>
          <p:cNvPr id="22" name="TextBox 21"/>
          <p:cNvSpPr txBox="1"/>
          <p:nvPr/>
        </p:nvSpPr>
        <p:spPr>
          <a:xfrm>
            <a:off x="7040880" y="2464308"/>
            <a:ext cx="3017520" cy="457200"/>
          </a:xfrm>
          <a:prstGeom prst="rect">
            <a:avLst/>
          </a:prstGeom>
          <a:noFill/>
        </p:spPr>
        <p:txBody>
          <a:bodyPr wrap="square" lIns="0" rIns="0" tIns="0" bIns="0" anchor="ctr">
            <a:spAutoFit/>
          </a:bodyPr>
          <a:lstStyle/>
          <a:p>
            <a:pPr algn="l">
              <a:spcAft>
                <a:spcPts val="0"/>
              </a:spcAft>
            </a:pPr>
            <a:r>
              <a:rPr sz="900" b="0" i="0">
                <a:solidFill>
                  <a:srgbClr val="000000"/>
                </a:solidFill>
              </a:rPr>
              <a:t>Every key project has named delivery roles and an executive sponsor, and quarterly reviews surface high-risk projects early.</a:t>
            </a:r>
          </a:p>
        </p:txBody>
      </p:sp>
      <p:sp>
        <p:nvSpPr>
          <p:cNvPr id="23" name="Rounded Rectangle 22"/>
          <p:cNvSpPr/>
          <p:nvPr/>
        </p:nvSpPr>
        <p:spPr>
          <a:xfrm>
            <a:off x="10363200" y="2555748"/>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NEXT</a:t>
            </a:r>
          </a:p>
        </p:txBody>
      </p:sp>
      <p:sp>
        <p:nvSpPr>
          <p:cNvPr id="24" name="Rounded Rectangle 23"/>
          <p:cNvSpPr/>
          <p:nvPr/>
        </p:nvSpPr>
        <p:spPr>
          <a:xfrm>
            <a:off x="457200" y="2962656"/>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25" name="TextBox 24"/>
          <p:cNvSpPr txBox="1"/>
          <p:nvPr/>
        </p:nvSpPr>
        <p:spPr>
          <a:xfrm>
            <a:off x="640080" y="2962656"/>
            <a:ext cx="457200" cy="457200"/>
          </a:xfrm>
          <a:prstGeom prst="rect">
            <a:avLst/>
          </a:prstGeom>
          <a:noFill/>
        </p:spPr>
        <p:txBody>
          <a:bodyPr wrap="square" lIns="0" rIns="0" tIns="0" bIns="0" anchor="ctr">
            <a:spAutoFit/>
          </a:bodyPr>
          <a:lstStyle/>
          <a:p>
            <a:pPr algn="l">
              <a:spcAft>
                <a:spcPts val="600"/>
              </a:spcAft>
            </a:pPr>
            <a:r>
              <a:rPr sz="1400" b="1" i="0">
                <a:solidFill>
                  <a:srgbClr val="000000"/>
                </a:solidFill>
              </a:rPr>
              <a:t>03</a:t>
            </a:r>
          </a:p>
        </p:txBody>
      </p:sp>
      <p:sp>
        <p:nvSpPr>
          <p:cNvPr id="26" name="TextBox 25"/>
          <p:cNvSpPr txBox="1"/>
          <p:nvPr/>
        </p:nvSpPr>
        <p:spPr>
          <a:xfrm>
            <a:off x="1115568" y="2962656"/>
            <a:ext cx="2194560" cy="457200"/>
          </a:xfrm>
          <a:prstGeom prst="rect">
            <a:avLst/>
          </a:prstGeom>
          <a:noFill/>
        </p:spPr>
        <p:txBody>
          <a:bodyPr wrap="square" lIns="0" rIns="0" tIns="0" bIns="0" anchor="ctr">
            <a:spAutoFit/>
          </a:bodyPr>
          <a:lstStyle/>
          <a:p>
            <a:pPr algn="l">
              <a:spcAft>
                <a:spcPts val="500"/>
              </a:spcAft>
            </a:pPr>
            <a:r>
              <a:rPr sz="1100" b="1" i="0">
                <a:solidFill>
                  <a:srgbClr val="000000"/>
                </a:solidFill>
              </a:rPr>
              <a:t>Leadership Dashboards</a:t>
            </a:r>
          </a:p>
        </p:txBody>
      </p:sp>
      <p:sp>
        <p:nvSpPr>
          <p:cNvPr id="27" name="TextBox 26"/>
          <p:cNvSpPr txBox="1"/>
          <p:nvPr/>
        </p:nvSpPr>
        <p:spPr>
          <a:xfrm>
            <a:off x="3383280" y="2962656"/>
            <a:ext cx="3474720" cy="457200"/>
          </a:xfrm>
          <a:prstGeom prst="rect">
            <a:avLst/>
          </a:prstGeom>
          <a:noFill/>
        </p:spPr>
        <p:txBody>
          <a:bodyPr wrap="square" lIns="0" rIns="0" tIns="0" bIns="0" anchor="ctr">
            <a:spAutoFit/>
          </a:bodyPr>
          <a:lstStyle/>
          <a:p>
            <a:pPr algn="l">
              <a:spcAft>
                <a:spcPts val="0"/>
              </a:spcAft>
            </a:pPr>
            <a:r>
              <a:rPr sz="900" b="0" i="0">
                <a:solidFill>
                  <a:srgbClr val="000000"/>
                </a:solidFill>
              </a:rPr>
              <a:t>One leadership dashboard — shoring, chargeability, margin, capacity, forecast, rate cards, burn, and revenue recognition.</a:t>
            </a:r>
          </a:p>
        </p:txBody>
      </p:sp>
      <p:sp>
        <p:nvSpPr>
          <p:cNvPr id="28" name="TextBox 27"/>
          <p:cNvSpPr txBox="1"/>
          <p:nvPr/>
        </p:nvSpPr>
        <p:spPr>
          <a:xfrm>
            <a:off x="7040880" y="2962656"/>
            <a:ext cx="3017520" cy="457200"/>
          </a:xfrm>
          <a:prstGeom prst="rect">
            <a:avLst/>
          </a:prstGeom>
          <a:noFill/>
        </p:spPr>
        <p:txBody>
          <a:bodyPr wrap="square" lIns="0" rIns="0" tIns="0" bIns="0" anchor="ctr">
            <a:spAutoFit/>
          </a:bodyPr>
          <a:lstStyle/>
          <a:p>
            <a:pPr algn="l">
              <a:spcAft>
                <a:spcPts val="0"/>
              </a:spcAft>
            </a:pPr>
            <a:r>
              <a:rPr sz="900" b="0" i="0">
                <a:solidFill>
                  <a:srgbClr val="000000"/>
                </a:solidFill>
              </a:rPr>
              <a:t>One place for leaders to see the health of their business, instead of too many reports.</a:t>
            </a:r>
          </a:p>
        </p:txBody>
      </p:sp>
      <p:sp>
        <p:nvSpPr>
          <p:cNvPr id="29" name="Rounded Rectangle 28"/>
          <p:cNvSpPr/>
          <p:nvPr/>
        </p:nvSpPr>
        <p:spPr>
          <a:xfrm>
            <a:off x="10363200" y="3054096"/>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NEXT</a:t>
            </a:r>
          </a:p>
        </p:txBody>
      </p:sp>
      <p:sp>
        <p:nvSpPr>
          <p:cNvPr id="30" name="Rounded Rectangle 29"/>
          <p:cNvSpPr/>
          <p:nvPr/>
        </p:nvSpPr>
        <p:spPr>
          <a:xfrm>
            <a:off x="457200" y="3461004"/>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31" name="TextBox 30"/>
          <p:cNvSpPr txBox="1"/>
          <p:nvPr/>
        </p:nvSpPr>
        <p:spPr>
          <a:xfrm>
            <a:off x="640080" y="3461004"/>
            <a:ext cx="457200" cy="457200"/>
          </a:xfrm>
          <a:prstGeom prst="rect">
            <a:avLst/>
          </a:prstGeom>
          <a:noFill/>
        </p:spPr>
        <p:txBody>
          <a:bodyPr wrap="square" lIns="0" rIns="0" tIns="0" bIns="0" anchor="ctr">
            <a:spAutoFit/>
          </a:bodyPr>
          <a:lstStyle/>
          <a:p>
            <a:pPr algn="l">
              <a:spcAft>
                <a:spcPts val="600"/>
              </a:spcAft>
            </a:pPr>
            <a:r>
              <a:rPr sz="1400" b="1" i="0">
                <a:solidFill>
                  <a:srgbClr val="000000"/>
                </a:solidFill>
              </a:rPr>
              <a:t>04</a:t>
            </a:r>
          </a:p>
        </p:txBody>
      </p:sp>
      <p:sp>
        <p:nvSpPr>
          <p:cNvPr id="32" name="TextBox 31"/>
          <p:cNvSpPr txBox="1"/>
          <p:nvPr/>
        </p:nvSpPr>
        <p:spPr>
          <a:xfrm>
            <a:off x="1115568" y="3461004"/>
            <a:ext cx="2194560" cy="457200"/>
          </a:xfrm>
          <a:prstGeom prst="rect">
            <a:avLst/>
          </a:prstGeom>
          <a:noFill/>
        </p:spPr>
        <p:txBody>
          <a:bodyPr wrap="square" lIns="0" rIns="0" tIns="0" bIns="0" anchor="ctr">
            <a:spAutoFit/>
          </a:bodyPr>
          <a:lstStyle/>
          <a:p>
            <a:pPr algn="l">
              <a:spcAft>
                <a:spcPts val="500"/>
              </a:spcAft>
            </a:pPr>
            <a:r>
              <a:rPr sz="1100" b="1" i="0">
                <a:solidFill>
                  <a:srgbClr val="000000"/>
                </a:solidFill>
              </a:rPr>
              <a:t>Capacity Planning &amp; Romulus</a:t>
            </a:r>
          </a:p>
        </p:txBody>
      </p:sp>
      <p:sp>
        <p:nvSpPr>
          <p:cNvPr id="33" name="TextBox 32"/>
          <p:cNvSpPr txBox="1"/>
          <p:nvPr/>
        </p:nvSpPr>
        <p:spPr>
          <a:xfrm>
            <a:off x="3383280" y="3461004"/>
            <a:ext cx="3474720" cy="457200"/>
          </a:xfrm>
          <a:prstGeom prst="rect">
            <a:avLst/>
          </a:prstGeom>
          <a:noFill/>
        </p:spPr>
        <p:txBody>
          <a:bodyPr wrap="square" lIns="0" rIns="0" tIns="0" bIns="0" anchor="ctr">
            <a:spAutoFit/>
          </a:bodyPr>
          <a:lstStyle/>
          <a:p>
            <a:pPr algn="l">
              <a:spcAft>
                <a:spcPts val="0"/>
              </a:spcAft>
            </a:pPr>
            <a:r>
              <a:rPr sz="900" b="0" i="0">
                <a:solidFill>
                  <a:srgbClr val="000000"/>
                </a:solidFill>
              </a:rPr>
              <a:t>Closing the skills and bench visibility gap so we can staff ahead of demand.</a:t>
            </a:r>
          </a:p>
        </p:txBody>
      </p:sp>
      <p:sp>
        <p:nvSpPr>
          <p:cNvPr id="34" name="TextBox 33"/>
          <p:cNvSpPr txBox="1"/>
          <p:nvPr/>
        </p:nvSpPr>
        <p:spPr>
          <a:xfrm>
            <a:off x="7040880" y="3461004"/>
            <a:ext cx="3017520" cy="457200"/>
          </a:xfrm>
          <a:prstGeom prst="rect">
            <a:avLst/>
          </a:prstGeom>
          <a:noFill/>
        </p:spPr>
        <p:txBody>
          <a:bodyPr wrap="square" lIns="0" rIns="0" tIns="0" bIns="0" anchor="ctr">
            <a:spAutoFit/>
          </a:bodyPr>
          <a:lstStyle/>
          <a:p>
            <a:pPr algn="l">
              <a:spcAft>
                <a:spcPts val="0"/>
              </a:spcAft>
            </a:pPr>
            <a:r>
              <a:rPr sz="900" b="0" i="0">
                <a:solidFill>
                  <a:srgbClr val="000000"/>
                </a:solidFill>
              </a:rPr>
              <a:t>One trusted view of skills, and teams ready to start instead of scrambling after signature.</a:t>
            </a:r>
          </a:p>
        </p:txBody>
      </p:sp>
      <p:sp>
        <p:nvSpPr>
          <p:cNvPr id="35" name="Rounded Rectangle 34"/>
          <p:cNvSpPr/>
          <p:nvPr/>
        </p:nvSpPr>
        <p:spPr>
          <a:xfrm>
            <a:off x="10363200" y="3552444"/>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NEXT</a:t>
            </a:r>
          </a:p>
        </p:txBody>
      </p:sp>
      <p:sp>
        <p:nvSpPr>
          <p:cNvPr id="36" name="Rounded Rectangle 35"/>
          <p:cNvSpPr/>
          <p:nvPr/>
        </p:nvSpPr>
        <p:spPr>
          <a:xfrm>
            <a:off x="457200" y="4050792"/>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37" name="TextBox 36"/>
          <p:cNvSpPr txBox="1"/>
          <p:nvPr/>
        </p:nvSpPr>
        <p:spPr>
          <a:xfrm>
            <a:off x="640080" y="4050792"/>
            <a:ext cx="457200" cy="457200"/>
          </a:xfrm>
          <a:prstGeom prst="rect">
            <a:avLst/>
          </a:prstGeom>
          <a:noFill/>
        </p:spPr>
        <p:txBody>
          <a:bodyPr wrap="square" lIns="0" rIns="0" tIns="0" bIns="0" anchor="ctr">
            <a:spAutoFit/>
          </a:bodyPr>
          <a:lstStyle/>
          <a:p>
            <a:pPr algn="l">
              <a:spcAft>
                <a:spcPts val="600"/>
              </a:spcAft>
            </a:pPr>
            <a:r>
              <a:rPr sz="1400" b="1" i="0">
                <a:solidFill>
                  <a:srgbClr val="000000"/>
                </a:solidFill>
              </a:rPr>
              <a:t>05</a:t>
            </a:r>
          </a:p>
        </p:txBody>
      </p:sp>
      <p:sp>
        <p:nvSpPr>
          <p:cNvPr id="38" name="TextBox 37"/>
          <p:cNvSpPr txBox="1"/>
          <p:nvPr/>
        </p:nvSpPr>
        <p:spPr>
          <a:xfrm>
            <a:off x="1115568" y="4050792"/>
            <a:ext cx="2194560" cy="457200"/>
          </a:xfrm>
          <a:prstGeom prst="rect">
            <a:avLst/>
          </a:prstGeom>
          <a:noFill/>
        </p:spPr>
        <p:txBody>
          <a:bodyPr wrap="square" lIns="0" rIns="0" tIns="0" bIns="0" anchor="ctr">
            <a:spAutoFit/>
          </a:bodyPr>
          <a:lstStyle/>
          <a:p>
            <a:pPr algn="l">
              <a:spcAft>
                <a:spcPts val="500"/>
              </a:spcAft>
            </a:pPr>
            <a:r>
              <a:rPr sz="1100" b="1" i="0">
                <a:solidFill>
                  <a:srgbClr val="000000"/>
                </a:solidFill>
              </a:rPr>
              <a:t>DGS Leadership Transition</a:t>
            </a:r>
          </a:p>
        </p:txBody>
      </p:sp>
      <p:sp>
        <p:nvSpPr>
          <p:cNvPr id="39" name="TextBox 38"/>
          <p:cNvSpPr txBox="1"/>
          <p:nvPr/>
        </p:nvSpPr>
        <p:spPr>
          <a:xfrm>
            <a:off x="3383280" y="4050792"/>
            <a:ext cx="3474720" cy="457200"/>
          </a:xfrm>
          <a:prstGeom prst="rect">
            <a:avLst/>
          </a:prstGeom>
          <a:noFill/>
        </p:spPr>
        <p:txBody>
          <a:bodyPr wrap="square" lIns="0" rIns="0" tIns="0" bIns="0" anchor="ctr">
            <a:spAutoFit/>
          </a:bodyPr>
          <a:lstStyle/>
          <a:p>
            <a:pPr algn="l">
              <a:spcAft>
                <a:spcPts val="0"/>
              </a:spcAft>
            </a:pPr>
            <a:r>
              <a:rPr sz="900" b="0" i="0">
                <a:solidFill>
                  <a:srgbClr val="000000"/>
                </a:solidFill>
              </a:rPr>
              <a:t>Naazneen departs 12/31 — two-phase effort to map dependencies, resolve Extentia's operating model, and set leadership coverage.</a:t>
            </a:r>
          </a:p>
        </p:txBody>
      </p:sp>
      <p:sp>
        <p:nvSpPr>
          <p:cNvPr id="40" name="TextBox 39"/>
          <p:cNvSpPr txBox="1"/>
          <p:nvPr/>
        </p:nvSpPr>
        <p:spPr>
          <a:xfrm>
            <a:off x="7040880" y="4050792"/>
            <a:ext cx="3017520" cy="457200"/>
          </a:xfrm>
          <a:prstGeom prst="rect">
            <a:avLst/>
          </a:prstGeom>
          <a:noFill/>
        </p:spPr>
        <p:txBody>
          <a:bodyPr wrap="square" lIns="0" rIns="0" tIns="0" bIns="0" anchor="ctr">
            <a:spAutoFit/>
          </a:bodyPr>
          <a:lstStyle/>
          <a:p>
            <a:pPr algn="l">
              <a:spcAft>
                <a:spcPts val="0"/>
              </a:spcAft>
            </a:pPr>
            <a:r>
              <a:rPr sz="900" b="0" i="0">
                <a:solidFill>
                  <a:srgbClr val="000000"/>
                </a:solidFill>
              </a:rPr>
              <a:t>A clean transition by year-end: knowledge captured, ownership resolved, coverage in place.</a:t>
            </a:r>
          </a:p>
        </p:txBody>
      </p:sp>
      <p:sp>
        <p:nvSpPr>
          <p:cNvPr id="41" name="Rounded Rectangle 40"/>
          <p:cNvSpPr/>
          <p:nvPr/>
        </p:nvSpPr>
        <p:spPr>
          <a:xfrm>
            <a:off x="10363200" y="4142232"/>
            <a:ext cx="1188720" cy="274320"/>
          </a:xfrm>
          <a:prstGeom prst="roundRect">
            <a:avLst>
              <a:gd name="adj" fmla="val 50000"/>
            </a:avLst>
          </a:prstGeom>
          <a:solidFill>
            <a:srgbClr val="000000"/>
          </a:solidFill>
          <a:ln>
            <a:noFill/>
          </a:ln>
        </p:spPr>
        <p:txBody>
          <a:bodyPr rtlCol="0" anchor="ctr" lIns="0" rIns="0" tIns="0" bIns="0"/>
          <a:lstStyle/>
          <a:p>
            <a:pPr algn="ctr"/>
            <a:r>
              <a:rPr sz="800" b="1" i="0" cap="all" spc="60">
                <a:solidFill>
                  <a:srgbClr val="FFFFFF"/>
                </a:solidFill>
              </a:rPr>
              <a:t>FOCUS NOW</a:t>
            </a:r>
          </a:p>
        </p:txBody>
      </p:sp>
      <p:sp>
        <p:nvSpPr>
          <p:cNvPr id="42" name="Rounded Rectangle 41"/>
          <p:cNvSpPr/>
          <p:nvPr/>
        </p:nvSpPr>
        <p:spPr>
          <a:xfrm>
            <a:off x="457200" y="4549140"/>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43" name="TextBox 42"/>
          <p:cNvSpPr txBox="1"/>
          <p:nvPr/>
        </p:nvSpPr>
        <p:spPr>
          <a:xfrm>
            <a:off x="640080" y="4549140"/>
            <a:ext cx="457200" cy="457200"/>
          </a:xfrm>
          <a:prstGeom prst="rect">
            <a:avLst/>
          </a:prstGeom>
          <a:noFill/>
        </p:spPr>
        <p:txBody>
          <a:bodyPr wrap="square" lIns="0" rIns="0" tIns="0" bIns="0" anchor="ctr">
            <a:spAutoFit/>
          </a:bodyPr>
          <a:lstStyle/>
          <a:p>
            <a:pPr algn="l">
              <a:spcAft>
                <a:spcPts val="600"/>
              </a:spcAft>
            </a:pPr>
            <a:r>
              <a:rPr sz="1400" b="1" i="0">
                <a:solidFill>
                  <a:srgbClr val="000000"/>
                </a:solidFill>
              </a:rPr>
              <a:t>06</a:t>
            </a:r>
          </a:p>
        </p:txBody>
      </p:sp>
      <p:sp>
        <p:nvSpPr>
          <p:cNvPr id="44" name="TextBox 43"/>
          <p:cNvSpPr txBox="1"/>
          <p:nvPr/>
        </p:nvSpPr>
        <p:spPr>
          <a:xfrm>
            <a:off x="1115568" y="4549140"/>
            <a:ext cx="2194560" cy="457200"/>
          </a:xfrm>
          <a:prstGeom prst="rect">
            <a:avLst/>
          </a:prstGeom>
          <a:noFill/>
        </p:spPr>
        <p:txBody>
          <a:bodyPr wrap="square" lIns="0" rIns="0" tIns="0" bIns="0" anchor="ctr">
            <a:spAutoFit/>
          </a:bodyPr>
          <a:lstStyle/>
          <a:p>
            <a:pPr algn="l">
              <a:spcAft>
                <a:spcPts val="500"/>
              </a:spcAft>
            </a:pPr>
            <a:r>
              <a:rPr sz="1100" b="1" i="0">
                <a:solidFill>
                  <a:srgbClr val="000000"/>
                </a:solidFill>
              </a:rPr>
              <a:t>Intake Updates</a:t>
            </a:r>
          </a:p>
        </p:txBody>
      </p:sp>
      <p:sp>
        <p:nvSpPr>
          <p:cNvPr id="45" name="TextBox 44"/>
          <p:cNvSpPr txBox="1"/>
          <p:nvPr/>
        </p:nvSpPr>
        <p:spPr>
          <a:xfrm>
            <a:off x="3383280" y="4549140"/>
            <a:ext cx="3474720" cy="457200"/>
          </a:xfrm>
          <a:prstGeom prst="rect">
            <a:avLst/>
          </a:prstGeom>
          <a:noFill/>
        </p:spPr>
        <p:txBody>
          <a:bodyPr wrap="square" lIns="0" rIns="0" tIns="0" bIns="0" anchor="ctr">
            <a:spAutoFit/>
          </a:bodyPr>
          <a:lstStyle/>
          <a:p>
            <a:pPr algn="l">
              <a:spcAft>
                <a:spcPts val="0"/>
              </a:spcAft>
            </a:pPr>
            <a:r>
              <a:rPr sz="900" b="0" i="0">
                <a:solidFill>
                  <a:srgbClr val="000000"/>
                </a:solidFill>
              </a:rPr>
              <a:t>Upstream of Delivery Models — alias routing is live; SME case request tool and RACI updates underway to close adoption gaps.</a:t>
            </a:r>
          </a:p>
        </p:txBody>
      </p:sp>
      <p:sp>
        <p:nvSpPr>
          <p:cNvPr id="46" name="TextBox 45"/>
          <p:cNvSpPr txBox="1"/>
          <p:nvPr/>
        </p:nvSpPr>
        <p:spPr>
          <a:xfrm>
            <a:off x="7040880" y="4549140"/>
            <a:ext cx="3017520" cy="457200"/>
          </a:xfrm>
          <a:prstGeom prst="rect">
            <a:avLst/>
          </a:prstGeom>
          <a:noFill/>
        </p:spPr>
        <p:txBody>
          <a:bodyPr wrap="square" lIns="0" rIns="0" tIns="0" bIns="0" anchor="ctr">
            <a:spAutoFit/>
          </a:bodyPr>
          <a:lstStyle/>
          <a:p>
            <a:pPr algn="l">
              <a:spcAft>
                <a:spcPts val="0"/>
              </a:spcAft>
            </a:pPr>
            <a:r>
              <a:rPr sz="900" b="0" i="0">
                <a:solidFill>
                  <a:srgbClr val="000000"/>
                </a:solidFill>
              </a:rPr>
              <a:t>Requests reach the right BU SMEs through the alias, instead of going to known individuals.</a:t>
            </a:r>
          </a:p>
        </p:txBody>
      </p:sp>
      <p:sp>
        <p:nvSpPr>
          <p:cNvPr id="47" name="Rounded Rectangle 46"/>
          <p:cNvSpPr/>
          <p:nvPr/>
        </p:nvSpPr>
        <p:spPr>
          <a:xfrm>
            <a:off x="10363200" y="4640580"/>
            <a:ext cx="1188720" cy="274320"/>
          </a:xfrm>
          <a:prstGeom prst="roundRect">
            <a:avLst>
              <a:gd name="adj" fmla="val 50000"/>
            </a:avLst>
          </a:prstGeom>
          <a:solidFill>
            <a:srgbClr val="000000"/>
          </a:solidFill>
          <a:ln>
            <a:noFill/>
          </a:ln>
        </p:spPr>
        <p:txBody>
          <a:bodyPr rtlCol="0" anchor="ctr" lIns="0" rIns="0" tIns="0" bIns="0"/>
          <a:lstStyle/>
          <a:p>
            <a:pPr algn="ctr"/>
            <a:r>
              <a:rPr sz="800" b="1" i="0" cap="all" spc="60">
                <a:solidFill>
                  <a:srgbClr val="FFFFFF"/>
                </a:solidFill>
              </a:rPr>
              <a:t>IN MOTION</a:t>
            </a:r>
          </a:p>
        </p:txBody>
      </p:sp>
      <p:sp>
        <p:nvSpPr>
          <p:cNvPr id="48" name="Rounded Rectangle 47"/>
          <p:cNvSpPr/>
          <p:nvPr/>
        </p:nvSpPr>
        <p:spPr>
          <a:xfrm>
            <a:off x="457200" y="5047488"/>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49" name="TextBox 48"/>
          <p:cNvSpPr txBox="1"/>
          <p:nvPr/>
        </p:nvSpPr>
        <p:spPr>
          <a:xfrm>
            <a:off x="640080" y="5047488"/>
            <a:ext cx="457200" cy="457200"/>
          </a:xfrm>
          <a:prstGeom prst="rect">
            <a:avLst/>
          </a:prstGeom>
          <a:noFill/>
        </p:spPr>
        <p:txBody>
          <a:bodyPr wrap="square" lIns="0" rIns="0" tIns="0" bIns="0" anchor="ctr">
            <a:spAutoFit/>
          </a:bodyPr>
          <a:lstStyle/>
          <a:p>
            <a:pPr algn="l">
              <a:spcAft>
                <a:spcPts val="600"/>
              </a:spcAft>
            </a:pPr>
            <a:r>
              <a:rPr sz="1400" b="1" i="0">
                <a:solidFill>
                  <a:srgbClr val="000000"/>
                </a:solidFill>
              </a:rPr>
              <a:t>07</a:t>
            </a:r>
          </a:p>
        </p:txBody>
      </p:sp>
      <p:sp>
        <p:nvSpPr>
          <p:cNvPr id="50" name="TextBox 49"/>
          <p:cNvSpPr txBox="1"/>
          <p:nvPr/>
        </p:nvSpPr>
        <p:spPr>
          <a:xfrm>
            <a:off x="1115568" y="5047488"/>
            <a:ext cx="2194560" cy="457200"/>
          </a:xfrm>
          <a:prstGeom prst="rect">
            <a:avLst/>
          </a:prstGeom>
          <a:noFill/>
        </p:spPr>
        <p:txBody>
          <a:bodyPr wrap="square" lIns="0" rIns="0" tIns="0" bIns="0" anchor="ctr">
            <a:spAutoFit/>
          </a:bodyPr>
          <a:lstStyle/>
          <a:p>
            <a:pPr algn="l">
              <a:spcAft>
                <a:spcPts val="500"/>
              </a:spcAft>
            </a:pPr>
            <a:r>
              <a:rPr sz="1100" b="1" i="0">
                <a:solidFill>
                  <a:srgbClr val="000000"/>
                </a:solidFill>
              </a:rPr>
              <a:t>Ops Transformation: Rebuild Scoping &amp; Staffing</a:t>
            </a:r>
          </a:p>
        </p:txBody>
      </p:sp>
      <p:sp>
        <p:nvSpPr>
          <p:cNvPr id="51" name="TextBox 50"/>
          <p:cNvSpPr txBox="1"/>
          <p:nvPr/>
        </p:nvSpPr>
        <p:spPr>
          <a:xfrm>
            <a:off x="3383280" y="5047488"/>
            <a:ext cx="3474720" cy="457200"/>
          </a:xfrm>
          <a:prstGeom prst="rect">
            <a:avLst/>
          </a:prstGeom>
          <a:noFill/>
        </p:spPr>
        <p:txBody>
          <a:bodyPr wrap="square" lIns="0" rIns="0" tIns="0" bIns="0" anchor="ctr">
            <a:spAutoFit/>
          </a:bodyPr>
          <a:lstStyle/>
          <a:p>
            <a:pPr algn="l">
              <a:spcAft>
                <a:spcPts val="0"/>
              </a:spcAft>
            </a:pPr>
            <a:r>
              <a:rPr sz="900" b="0" i="0">
                <a:solidFill>
                  <a:srgbClr val="000000"/>
                </a:solidFill>
              </a:rPr>
              <a:t>Deliverables go in, and a timeline and staffing plan come out, with AI doing real work and learning from what we deliver.</a:t>
            </a:r>
          </a:p>
        </p:txBody>
      </p:sp>
      <p:sp>
        <p:nvSpPr>
          <p:cNvPr id="52" name="TextBox 51"/>
          <p:cNvSpPr txBox="1"/>
          <p:nvPr/>
        </p:nvSpPr>
        <p:spPr>
          <a:xfrm>
            <a:off x="7040880" y="5047488"/>
            <a:ext cx="3017520" cy="457200"/>
          </a:xfrm>
          <a:prstGeom prst="rect">
            <a:avLst/>
          </a:prstGeom>
          <a:noFill/>
        </p:spPr>
        <p:txBody>
          <a:bodyPr wrap="square" lIns="0" rIns="0" tIns="0" bIns="0" anchor="ctr">
            <a:spAutoFit/>
          </a:bodyPr>
          <a:lstStyle/>
          <a:p>
            <a:pPr algn="l">
              <a:spcAft>
                <a:spcPts val="0"/>
              </a:spcAft>
            </a:pPr>
            <a:r>
              <a:rPr sz="900" b="0" i="0">
                <a:solidFill>
                  <a:srgbClr val="000000"/>
                </a:solidFill>
              </a:rPr>
              <a:t>[To be defined. This is a new ask, and we are still working through it.]</a:t>
            </a:r>
          </a:p>
        </p:txBody>
      </p:sp>
      <p:sp>
        <p:nvSpPr>
          <p:cNvPr id="53" name="Rounded Rectangle 52"/>
          <p:cNvSpPr/>
          <p:nvPr/>
        </p:nvSpPr>
        <p:spPr>
          <a:xfrm>
            <a:off x="10363200" y="5138928"/>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TAKING SHAPE</a:t>
            </a:r>
          </a:p>
        </p:txBody>
      </p:sp>
      <p:sp>
        <p:nvSpPr>
          <p:cNvPr id="54" name="Rounded Rectangle 53"/>
          <p:cNvSpPr/>
          <p:nvPr/>
        </p:nvSpPr>
        <p:spPr>
          <a:xfrm>
            <a:off x="457200" y="5545836"/>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55" name="TextBox 54"/>
          <p:cNvSpPr txBox="1"/>
          <p:nvPr/>
        </p:nvSpPr>
        <p:spPr>
          <a:xfrm>
            <a:off x="640080" y="5545836"/>
            <a:ext cx="457200" cy="457200"/>
          </a:xfrm>
          <a:prstGeom prst="rect">
            <a:avLst/>
          </a:prstGeom>
          <a:noFill/>
        </p:spPr>
        <p:txBody>
          <a:bodyPr wrap="square" lIns="0" rIns="0" tIns="0" bIns="0" anchor="ctr">
            <a:spAutoFit/>
          </a:bodyPr>
          <a:lstStyle/>
          <a:p>
            <a:pPr algn="l">
              <a:spcAft>
                <a:spcPts val="600"/>
              </a:spcAft>
            </a:pPr>
            <a:r>
              <a:rPr sz="1400" b="1" i="0">
                <a:solidFill>
                  <a:srgbClr val="000000"/>
                </a:solidFill>
              </a:rPr>
              <a:t>08</a:t>
            </a:r>
          </a:p>
        </p:txBody>
      </p:sp>
      <p:sp>
        <p:nvSpPr>
          <p:cNvPr id="56" name="TextBox 55"/>
          <p:cNvSpPr txBox="1"/>
          <p:nvPr/>
        </p:nvSpPr>
        <p:spPr>
          <a:xfrm>
            <a:off x="1115568" y="5545836"/>
            <a:ext cx="2194560" cy="457200"/>
          </a:xfrm>
          <a:prstGeom prst="rect">
            <a:avLst/>
          </a:prstGeom>
          <a:noFill/>
        </p:spPr>
        <p:txBody>
          <a:bodyPr wrap="square" lIns="0" rIns="0" tIns="0" bIns="0" anchor="ctr">
            <a:spAutoFit/>
          </a:bodyPr>
          <a:lstStyle/>
          <a:p>
            <a:pPr algn="l">
              <a:spcAft>
                <a:spcPts val="500"/>
              </a:spcAft>
            </a:pPr>
            <a:r>
              <a:rPr sz="1100" b="1" i="0">
                <a:solidFill>
                  <a:srgbClr val="000000"/>
                </a:solidFill>
              </a:rPr>
              <a:t>Earlier Delivery &amp; Talent in Pursuits</a:t>
            </a:r>
          </a:p>
        </p:txBody>
      </p:sp>
      <p:sp>
        <p:nvSpPr>
          <p:cNvPr id="57" name="TextBox 56"/>
          <p:cNvSpPr txBox="1"/>
          <p:nvPr/>
        </p:nvSpPr>
        <p:spPr>
          <a:xfrm>
            <a:off x="3383280" y="5545836"/>
            <a:ext cx="3474720" cy="457200"/>
          </a:xfrm>
          <a:prstGeom prst="rect">
            <a:avLst/>
          </a:prstGeom>
          <a:noFill/>
        </p:spPr>
        <p:txBody>
          <a:bodyPr wrap="square" lIns="0" rIns="0" tIns="0" bIns="0" anchor="ctr">
            <a:spAutoFit/>
          </a:bodyPr>
          <a:lstStyle/>
          <a:p>
            <a:pPr algn="l">
              <a:spcAft>
                <a:spcPts val="0"/>
              </a:spcAft>
            </a:pPr>
            <a:r>
              <a:rPr sz="900" b="0" i="0">
                <a:solidFill>
                  <a:srgbClr val="000000"/>
                </a:solidFill>
              </a:rPr>
              <a:t>Bring SME expertise into upfront deal evaluation to lift our win rate on the deals we already capture.</a:t>
            </a:r>
          </a:p>
        </p:txBody>
      </p:sp>
      <p:sp>
        <p:nvSpPr>
          <p:cNvPr id="58" name="TextBox 57"/>
          <p:cNvSpPr txBox="1"/>
          <p:nvPr/>
        </p:nvSpPr>
        <p:spPr>
          <a:xfrm>
            <a:off x="7040880" y="5545836"/>
            <a:ext cx="3017520" cy="457200"/>
          </a:xfrm>
          <a:prstGeom prst="rect">
            <a:avLst/>
          </a:prstGeom>
          <a:noFill/>
        </p:spPr>
        <p:txBody>
          <a:bodyPr wrap="square" lIns="0" rIns="0" tIns="0" bIns="0" anchor="ctr">
            <a:spAutoFit/>
          </a:bodyPr>
          <a:lstStyle/>
          <a:p>
            <a:pPr algn="l">
              <a:spcAft>
                <a:spcPts val="0"/>
              </a:spcAft>
            </a:pPr>
            <a:r>
              <a:rPr sz="900" b="0" i="0">
                <a:solidFill>
                  <a:srgbClr val="000000"/>
                </a:solidFill>
              </a:rPr>
              <a:t>A higher win rate on the deal volume we're already capturing.</a:t>
            </a:r>
          </a:p>
        </p:txBody>
      </p:sp>
      <p:sp>
        <p:nvSpPr>
          <p:cNvPr id="59" name="Rounded Rectangle 58"/>
          <p:cNvSpPr/>
          <p:nvPr/>
        </p:nvSpPr>
        <p:spPr>
          <a:xfrm>
            <a:off x="10363200" y="5637276"/>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QUICK WIN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m_divider.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731520"/>
            <a:ext cx="6583680" cy="3239616"/>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1828800"/>
          </a:xfrm>
        </p:spPr>
        <p:txBody>
          <a:bodyPr anchor="t"/>
          <a:lstStyle/>
          <a:p>
            <a:r>
              <a:t>Deal-to-Delivery Playbook</a:t>
            </a:r>
          </a:p>
        </p:txBody>
      </p:sp>
      <p:sp>
        <p:nvSpPr>
          <p:cNvPr id="3" name="Text Placeholder 2"/>
          <p:cNvSpPr>
            <a:spLocks noGrp="1"/>
          </p:cNvSpPr>
          <p:nvPr>
            <p:ph type="body" idx="15" sz="quarter"/>
          </p:nvPr>
        </p:nvSpPr>
        <p:spPr>
          <a:xfrm>
            <a:off x="914400" y="932688"/>
            <a:ext cx="6400800" cy="292608"/>
          </a:xfrm>
        </p:spPr>
        <p:txBody>
          <a:bodyPr/>
          <a:lstStyle/>
          <a:p>
            <a:r>
              <a:t>PRIORITY 01</a:t>
            </a:r>
          </a:p>
        </p:txBody>
      </p:sp>
      <p:sp>
        <p:nvSpPr>
          <p:cNvPr id="7" name="TextBox 6"/>
          <p:cNvSpPr txBox="1"/>
          <p:nvPr/>
        </p:nvSpPr>
        <p:spPr>
          <a:xfrm>
            <a:off x="914400" y="3056736"/>
            <a:ext cx="5852160" cy="822960"/>
          </a:xfrm>
          <a:prstGeom prst="rect">
            <a:avLst/>
          </a:prstGeom>
          <a:noFill/>
        </p:spPr>
        <p:txBody>
          <a:bodyPr wrap="square" lIns="0" rIns="0" tIns="0" bIns="0" anchor="t">
            <a:spAutoFit/>
          </a:bodyPr>
          <a:lstStyle/>
          <a:p>
            <a:pPr algn="l">
              <a:spcAft>
                <a:spcPts val="500"/>
              </a:spcAft>
            </a:pPr>
            <a:r>
              <a:rPr sz="1800" b="0" i="0">
                <a:solidFill>
                  <a:srgbClr val="FFFFFF"/>
                </a:solidFill>
              </a:rPr>
              <a:t>Work is sold in shapes we cannot staff or deliver. One playbook ties delivery models, contracts, and methodology together.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m_hero.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Deal-to-Delivery Playbook</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01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FFFFFF"/>
                </a:solidFill>
              </a:rPr>
              <a:t>Missy Foristall, Chris McComas, Deana Derocha</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46304" rIns="182880" bIns="54864"/>
          <a:lstStyle/>
          <a:p>
            <a:pPr algn="l">
              <a:spcAft>
                <a:spcPts val="600"/>
              </a:spcAft>
            </a:pPr>
            <a:r>
              <a:rPr sz="1100" b="1" i="0" cap="all" spc="60">
                <a:solidFill>
                  <a:srgbClr val="D6D6DF"/>
                </a:solidFill>
              </a:rPr>
              <a:t>2026 Goal</a:t>
            </a:r>
          </a:p>
          <a:p>
            <a:pPr algn="l">
              <a:spcAft>
                <a:spcPts val="600"/>
              </a:spcAft>
            </a:pPr>
            <a:r>
              <a:rPr sz="1250" b="1" i="0">
                <a:solidFill>
                  <a:srgbClr val="FFFFFF"/>
                </a:solidFill>
              </a:rPr>
              <a:t>Align how we scope, execute, and set client expectations, so what we sell is what we deliver.</a:t>
            </a:r>
          </a:p>
          <a:p>
            <a:pPr algn="l" marL="171450" indent="-171450">
              <a:spcAft>
                <a:spcPts val="500"/>
              </a:spcAft>
              <a:buFont typeface="Arial"/>
              <a:buChar char="•"/>
            </a:pPr>
            <a:r>
              <a:rPr sz="1050" b="0" i="0">
                <a:solidFill>
                  <a:srgbClr val="FFFFFF"/>
                </a:solidFill>
              </a:rPr>
              <a:t>In practice: each deal is sold on a named delivery model, with contract, scope and billing matched to it, and delivery follows that same shape from qualification through staffing.</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46304" rIns="182880" bIns="54864"/>
          <a:lstStyle/>
          <a:p>
            <a:pPr algn="l">
              <a:spcAft>
                <a:spcPts val="600"/>
              </a:spcAft>
            </a:pPr>
            <a:r>
              <a:rPr sz="1100" b="1" i="0" cap="all" spc="60">
                <a:solidFill>
                  <a:srgbClr val="000000"/>
                </a:solidFill>
              </a:rPr>
              <a:t>The problem</a:t>
            </a:r>
          </a:p>
          <a:p>
            <a:pPr algn="l" marL="171450" indent="-171450">
              <a:spcAft>
                <a:spcPts val="500"/>
              </a:spcAft>
              <a:buFont typeface="Arial"/>
              <a:buChar char="•"/>
            </a:pPr>
            <a:r>
              <a:rPr sz="1050" b="0" i="0">
                <a:solidFill>
                  <a:srgbClr val="000000"/>
                </a:solidFill>
              </a:rPr>
              <a:t>Work is sold in shapes we cannot staff or deliver.</a:t>
            </a:r>
          </a:p>
          <a:p>
            <a:pPr algn="l" marL="171450" indent="-171450">
              <a:spcAft>
                <a:spcPts val="500"/>
              </a:spcAft>
              <a:buFont typeface="Arial"/>
              <a:buChar char="•"/>
            </a:pPr>
            <a:r>
              <a:rPr sz="1050" b="0" i="0">
                <a:solidFill>
                  <a:srgbClr val="000000"/>
                </a:solidFill>
              </a:rPr>
              <a:t>There is no standardized, named set of delivery models that is declared at the point of sale, carried into contracting, enforced at staffing and used for delivery.</a:t>
            </a:r>
          </a:p>
          <a:p>
            <a:pPr algn="l" marL="171450" indent="-171450">
              <a:spcAft>
                <a:spcPts val="500"/>
              </a:spcAft>
              <a:buFont typeface="Arial"/>
              <a:buChar char="•"/>
            </a:pPr>
            <a:r>
              <a:rPr sz="1050" b="0" i="0">
                <a:solidFill>
                  <a:srgbClr val="000000"/>
                </a:solidFill>
              </a:rPr>
              <a:t>The delivery approach is decided implicitly by whoever is making decisions at that moment, and it is often not understood until the symptoms are visible to the client or a pivot needs investment.</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46304" rIns="182880" bIns="54864"/>
          <a:lstStyle/>
          <a:p>
            <a:pPr algn="l">
              <a:spcAft>
                <a:spcPts val="600"/>
              </a:spcAft>
            </a:pPr>
            <a:r>
              <a:rPr sz="1100" b="1" i="0" cap="all" spc="60">
                <a:solidFill>
                  <a:srgbClr val="000000"/>
                </a:solidFill>
              </a:rPr>
              <a:t>What we are changing</a:t>
            </a:r>
          </a:p>
          <a:p>
            <a:pPr algn="l" marL="171450" indent="-171450">
              <a:spcAft>
                <a:spcPts val="500"/>
              </a:spcAft>
              <a:buFont typeface="Arial"/>
              <a:buChar char="•"/>
            </a:pPr>
            <a:r>
              <a:rPr sz="1050" b="0" i="0">
                <a:solidFill>
                  <a:srgbClr val="000000"/>
                </a:solidFill>
              </a:rPr>
              <a:t>Every engagement and every track gets a named delivery model from a small, standard set, declared before review and staffing.</a:t>
            </a:r>
          </a:p>
          <a:p>
            <a:pPr algn="l" marL="171450" indent="-171450">
              <a:spcAft>
                <a:spcPts val="500"/>
              </a:spcAft>
              <a:buFont typeface="Arial"/>
              <a:buChar char="•"/>
            </a:pPr>
            <a:r>
              <a:rPr sz="1050" b="0" i="0">
                <a:solidFill>
                  <a:srgbClr val="000000"/>
                </a:solidFill>
              </a:rPr>
              <a:t>No SOW is signed without a model name attached, and that name determines governance.</a:t>
            </a:r>
          </a:p>
          <a:p>
            <a:pPr algn="l">
              <a:spcBef>
                <a:spcPts val="500"/>
              </a:spcBef>
              <a:spcAft>
                <a:spcPts val="200"/>
              </a:spcAft>
            </a:pPr>
            <a:r>
              <a:rPr sz="1050" b="1" i="0">
                <a:solidFill>
                  <a:srgbClr val="000000"/>
                </a:solidFill>
              </a:rPr>
              <a:t>Four starting models</a:t>
            </a:r>
          </a:p>
          <a:p>
            <a:pPr algn="l" marL="171450" indent="-171450">
              <a:spcAft>
                <a:spcPts val="500"/>
              </a:spcAft>
              <a:buFont typeface="Arial"/>
              <a:buChar char="•"/>
            </a:pPr>
            <a:r>
              <a:rPr sz="1050" b="0" i="0">
                <a:solidFill>
                  <a:srgbClr val="000000"/>
                </a:solidFill>
              </a:rPr>
              <a:t>Fixed Constraint Delivery, Velocity Based Delivery, Outcomes Based Delivery, Retainer</a:t>
            </a:r>
          </a:p>
          <a:p>
            <a:pPr algn="l">
              <a:spcBef>
                <a:spcPts val="500"/>
              </a:spcBef>
              <a:spcAft>
                <a:spcPts val="200"/>
              </a:spcAft>
            </a:pPr>
            <a:r>
              <a:rPr sz="1050" b="1" i="0">
                <a:solidFill>
                  <a:srgbClr val="000000"/>
                </a:solidFill>
              </a:rPr>
              <a:t>MVP: three stories, all three must work together</a:t>
            </a:r>
          </a:p>
          <a:p>
            <a:pPr algn="l" marL="171450" indent="-171450">
              <a:spcAft>
                <a:spcPts val="500"/>
              </a:spcAft>
              <a:buFont typeface="Arial"/>
              <a:buChar char="•"/>
            </a:pPr>
            <a:r>
              <a:rPr sz="1050" b="0" i="0">
                <a:solidFill>
                  <a:srgbClr val="000000"/>
                </a:solidFill>
              </a:rPr>
              <a:t>Delivery Models, Contracts, Methodology Standards</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46304" rIns="182880" bIns="54864"/>
          <a:lstStyle/>
          <a:p>
            <a:pPr algn="l">
              <a:spcAft>
                <a:spcPts val="600"/>
              </a:spcAft>
            </a:pPr>
            <a:r>
              <a:rPr sz="1100" b="1" i="0" cap="all" spc="60">
                <a:solidFill>
                  <a:srgbClr val="D6D6DF"/>
                </a:solidFill>
              </a:rPr>
              <a:t>What this unlocks</a:t>
            </a:r>
          </a:p>
          <a:p>
            <a:pPr algn="l" marL="171450" indent="-171450">
              <a:spcAft>
                <a:spcPts val="500"/>
              </a:spcAft>
              <a:buFont typeface="Arial"/>
              <a:buChar char="•"/>
            </a:pPr>
            <a:r>
              <a:rPr sz="1050" b="0" i="0">
                <a:solidFill>
                  <a:srgbClr val="FFFFFF"/>
                </a:solidFill>
              </a:rPr>
              <a:t>We stop agreeing to unfeasible combinations, like fixed-price with no scope control.</a:t>
            </a:r>
          </a:p>
          <a:p>
            <a:pPr algn="l" marL="171450" indent="-171450">
              <a:spcAft>
                <a:spcPts val="500"/>
              </a:spcAft>
              <a:buFont typeface="Arial"/>
              <a:buChar char="•"/>
            </a:pPr>
            <a:r>
              <a:rPr sz="1050" b="0" i="0">
                <a:solidFill>
                  <a:srgbClr val="FFFFFF"/>
                </a:solidFill>
              </a:rPr>
              <a:t>Our pricing tools reflect true deliverability, not just theoretical margin.</a:t>
            </a:r>
          </a:p>
          <a:p>
            <a:pPr algn="l" marL="171450" indent="-171450">
              <a:spcAft>
                <a:spcPts val="500"/>
              </a:spcAft>
              <a:buFont typeface="Arial"/>
              <a:buChar char="•"/>
            </a:pPr>
            <a:r>
              <a:rPr sz="1050" b="0" i="0">
                <a:solidFill>
                  <a:srgbClr val="FFFFFF"/>
                </a:solidFill>
              </a:rPr>
              <a:t>We guide clients into how we work instead of inheriting whatever mix they bring.</a:t>
            </a:r>
          </a:p>
          <a:p>
            <a:pPr algn="l">
              <a:spcBef>
                <a:spcPts val="500"/>
              </a:spcBef>
              <a:spcAft>
                <a:spcPts val="200"/>
              </a:spcAft>
            </a:pPr>
            <a:r>
              <a:rPr sz="1050" b="1" i="0">
                <a:solidFill>
                  <a:srgbClr val="FFFFFF"/>
                </a:solidFill>
              </a:rPr>
              <a:t>Beyond the MVP</a:t>
            </a:r>
          </a:p>
          <a:p>
            <a:pPr algn="l" marL="171450" indent="-171450">
              <a:spcAft>
                <a:spcPts val="500"/>
              </a:spcAft>
              <a:buFont typeface="Arial"/>
              <a:buChar char="•"/>
            </a:pPr>
            <a:r>
              <a:rPr sz="1050" b="0" i="0">
                <a:solidFill>
                  <a:srgbClr val="FFFFFF"/>
                </a:solidFill>
              </a:rPr>
              <a:t>Supported by AI: estimation, pricing, and staffing follow once the MVP is solid, and we move toward metered or token-based commercial pricing.</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70000" bIns="70000"/>
          <a:lstStyle/>
          <a:p>
            <a:pPr algn="l"/>
            <a:r>
              <a:rPr sz="900" b="1" i="0" cap="all" spc="100">
                <a:solidFill>
                  <a:srgbClr val="D6D6DF"/>
                </a:solidFill>
              </a:rPr>
              <a:t>KEY TAKEAWAY</a:t>
            </a:r>
          </a:p>
          <a:p>
            <a:pPr algn="l"/>
            <a:r>
              <a:rPr sz="1500" b="1" i="0">
                <a:solidFill>
                  <a:srgbClr val="FFFFFF"/>
                </a:solidFill>
              </a:rPr>
              <a:t>If we do nothing else, we must stop selling what we cannot properly deliver.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m_rail.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508600" y="868600"/>
            <a:ext cx="2640000" cy="2300000"/>
          </a:xfrm>
        </p:spPr>
        <p:txBody>
          <a:bodyPr/>
          <a:lstStyle/>
          <a:p>
            <a:r>
              <a:rPr sz="2400">
                <a:solidFill>
                  <a:srgbClr val="FFFFFF"/>
                </a:solidFill>
              </a:rPr>
              <a:t>Deal-to-Delivery Playbook</a:t>
            </a:r>
          </a:p>
        </p:txBody>
      </p:sp>
      <p:sp>
        <p:nvSpPr>
          <p:cNvPr id="4" name="Text Placeholder 3"/>
          <p:cNvSpPr>
            <a:spLocks noGrp="1"/>
          </p:cNvSpPr>
          <p:nvPr>
            <p:ph type="body" idx="12" sz="quarter"/>
          </p:nvPr>
        </p:nvSpPr>
        <p:spPr>
          <a:xfrm>
            <a:off x="508600" y="558600"/>
            <a:ext cx="2640000" cy="182880"/>
          </a:xfrm>
        </p:spPr>
        <p:txBody>
          <a:bodyPr/>
          <a:lstStyle/>
          <a:p>
            <a:r>
              <a:rPr>
                <a:solidFill>
                  <a:srgbClr val="0391F2"/>
                </a:solidFill>
              </a:rPr>
              <a:t>PRIORITY 01 · UPDATE</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FFFFFF"/>
                </a:solidFill>
              </a:rPr>
              <a:t>Missy Foristall, Chris McComas, Deana Derocha</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What has been accomplished</a:t>
            </a:r>
          </a:p>
          <a:p>
            <a:pPr algn="l" marL="171450" indent="-171450">
              <a:spcAft>
                <a:spcPts val="500"/>
              </a:spcAft>
              <a:buFont typeface="Arial"/>
              <a:buChar char="•"/>
            </a:pPr>
            <a:r>
              <a:rPr sz="1300" b="0" i="0">
                <a:solidFill>
                  <a:srgbClr val="000000"/>
                </a:solidFill>
              </a:rPr>
              <a:t>Problem statement and recommendation drafted (Sept 16).</a:t>
            </a:r>
          </a:p>
          <a:p>
            <a:pPr algn="l" marL="171450" indent="-171450">
              <a:spcAft>
                <a:spcPts val="500"/>
              </a:spcAft>
              <a:buFont typeface="Arial"/>
              <a:buChar char="•"/>
            </a:pPr>
            <a:r>
              <a:rPr sz="1300" b="0" i="0">
                <a:solidFill>
                  <a:srgbClr val="000000"/>
                </a:solidFill>
              </a:rPr>
              <a:t>Four model examples defined (Sept 16).</a:t>
            </a:r>
          </a:p>
          <a:p>
            <a:pPr algn="l" marL="171450" indent="-171450">
              <a:spcAft>
                <a:spcPts val="500"/>
              </a:spcAft>
              <a:buFont typeface="Arial"/>
              <a:buChar char="•"/>
            </a:pPr>
            <a:r>
              <a:rPr sz="1300" b="0" i="0">
                <a:solidFill>
                  <a:srgbClr val="000000"/>
                </a:solidFill>
              </a:rPr>
              <a:t>Draft models gathered (Oct 16).</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Next milestones</a:t>
            </a:r>
          </a:p>
          <a:p>
            <a:pPr algn="l" marL="171450" indent="-171450">
              <a:spcAft>
                <a:spcPts val="500"/>
              </a:spcAft>
              <a:buFont typeface="Arial"/>
              <a:buChar char="•"/>
            </a:pPr>
            <a:r>
              <a:rPr sz="1300" b="0" i="0">
                <a:solidFill>
                  <a:srgbClr val="000000"/>
                </a:solidFill>
              </a:rPr>
              <a:t>Base Model rationalization across groups: week of Oct 26.</a:t>
            </a:r>
          </a:p>
          <a:p>
            <a:pPr algn="l" marL="171450" indent="-171450">
              <a:spcAft>
                <a:spcPts val="500"/>
              </a:spcAft>
              <a:buFont typeface="Arial"/>
              <a:buChar char="•"/>
            </a:pPr>
            <a:r>
              <a:rPr sz="1300" b="0" i="0">
                <a:solidFill>
                  <a:srgbClr val="000000"/>
                </a:solidFill>
              </a:rPr>
              <a:t>Initial Models Well Defined: Oct 23, shifting to Nov 6.</a:t>
            </a:r>
          </a:p>
          <a:p>
            <a:pPr algn="l" marL="171450" indent="-171450">
              <a:spcAft>
                <a:spcPts val="500"/>
              </a:spcAft>
              <a:buFont typeface="Arial"/>
              <a:buChar char="•"/>
            </a:pPr>
            <a:r>
              <a:rPr sz="1300" b="0" i="0">
                <a:solidFill>
                  <a:srgbClr val="000000"/>
                </a:solidFill>
              </a:rPr>
              <a:t>1st Batch of Models &amp; Program "Stack" Guidance: Nov 13.</a:t>
            </a:r>
          </a:p>
          <a:p>
            <a:pPr algn="l" marL="171450" indent="-171450">
              <a:spcAft>
                <a:spcPts val="500"/>
              </a:spcAft>
              <a:buFont typeface="Arial"/>
              <a:buChar char="•"/>
            </a:pPr>
            <a:r>
              <a:rPr sz="1300" b="0" i="0">
                <a:solidFill>
                  <a:srgbClr val="000000"/>
                </a:solidFill>
              </a:rPr>
              <a:t>John and Chris are pulling together the problem statement, dependencies, size, and recommendation for the three MVP stories. We'll review what they bring back next time.</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D6D6DF"/>
                </a:solidFill>
              </a:rPr>
              <a:t>What is in our way / what we need from you</a:t>
            </a:r>
          </a:p>
          <a:p>
            <a:pPr algn="l" marL="171450" indent="-171450">
              <a:spcAft>
                <a:spcPts val="500"/>
              </a:spcAft>
              <a:buFont typeface="Arial"/>
              <a:buChar char="•"/>
            </a:pPr>
            <a:r>
              <a:rPr sz="1300" b="0" i="0">
                <a:solidFill>
                  <a:srgbClr val="FFFFFF"/>
                </a:solidFill>
              </a:rPr>
              <a:t>Alignment on base model set (Delivery/Ops, Legal and Finance) and on model definition.</a:t>
            </a:r>
          </a:p>
          <a:p>
            <a:pPr algn="l" marL="171450" indent="-171450">
              <a:spcAft>
                <a:spcPts val="500"/>
              </a:spcAft>
              <a:buFont typeface="Arial"/>
              <a:buChar char="•"/>
            </a:pPr>
            <a:r>
              <a:rPr sz="1300" b="0" i="0">
                <a:solidFill>
                  <a:srgbClr val="FFFFFF"/>
                </a:solidFill>
              </a:rPr>
              <a:t>SME feedback, and intake routing.</a:t>
            </a:r>
          </a:p>
          <a:p>
            <a:pPr algn="l" marL="171450" indent="-171450">
              <a:spcAft>
                <a:spcPts val="500"/>
              </a:spcAft>
              <a:buFont typeface="Arial"/>
              <a:buChar char="•"/>
            </a:pPr>
            <a:r>
              <a:rPr sz="1300" b="0" i="0">
                <a:solidFill>
                  <a:srgbClr val="FFFFFF"/>
                </a:solidFill>
              </a:rPr>
              <a:t>Top risks: missed model(s) from the assessment, poor rollout and communication, and failure to use the models.</a:t>
            </a:r>
          </a:p>
          <a:p>
            <a:pPr algn="l" marL="171450" indent="-171450">
              <a:spcAft>
                <a:spcPts val="500"/>
              </a:spcAft>
              <a:buFont typeface="Arial"/>
              <a:buChar char="•"/>
            </a:pPr>
            <a:r>
              <a:rPr sz="1300" b="0" i="0">
                <a:solidFill>
                  <a:srgbClr val="FFFFFF"/>
                </a:solidFill>
              </a:rPr>
              <a:t>Everyone needs to lean in, support development of, and use these models. Participate, provide insights, give feedback, and embrace this initiative.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m_hero.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01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FFFFFF"/>
                </a:solidFill>
              </a:rPr>
              <a:t>Missy Foristall, Chris McComas, Deana Derocha</a:t>
            </a:r>
          </a:p>
        </p:txBody>
      </p:sp>
      <p:sp>
        <p:nvSpPr>
          <p:cNvPr id="8" name="Rounded Rectangle 7"/>
          <p:cNvSpPr/>
          <p:nvPr/>
        </p:nvSpPr>
        <p:spPr>
          <a:xfrm>
            <a:off x="457200" y="1170000"/>
            <a:ext cx="5000000" cy="28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274320" rIns="274320" bIns="182880"/>
          <a:lstStyle/>
          <a:p>
            <a:pPr algn="l">
              <a:spcAft>
                <a:spcPts val="200"/>
              </a:spcAft>
            </a:pPr>
            <a:r>
              <a:rPr sz="850" b="1" i="0" cap="all" spc="100">
                <a:solidFill>
                  <a:srgbClr val="D6D6DF"/>
                </a:solidFill>
              </a:rPr>
              <a:t>Why now</a:t>
            </a:r>
          </a:p>
          <a:p>
            <a:pPr algn="l">
              <a:spcAft>
                <a:spcPts val="600"/>
              </a:spcAft>
            </a:pPr>
            <a:r>
              <a:rPr sz="2000" b="1" i="0">
                <a:solidFill>
                  <a:srgbClr val="FFFFFF"/>
                </a:solidFill>
              </a:rPr>
              <a:t>Work is being sold in shapes we cannot staff or deliver, and that's costing us today — not a future risk.</a:t>
            </a:r>
          </a:p>
        </p:txBody>
      </p:sp>
      <p:sp>
        <p:nvSpPr>
          <p:cNvPr id="9" name="Rounded Rectangle 8"/>
          <p:cNvSpPr/>
          <p:nvPr/>
        </p:nvSpPr>
        <p:spPr>
          <a:xfrm>
            <a:off x="5607200" y="1170000"/>
            <a:ext cx="6127600" cy="13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182880" rIns="228600" bIns="91440"/>
          <a:lstStyle/>
          <a:p>
            <a:pPr algn="l">
              <a:spcAft>
                <a:spcPts val="200"/>
              </a:spcAft>
            </a:pPr>
            <a:r>
              <a:rPr sz="850" b="1" i="0" cap="all" spc="100">
                <a:solidFill>
                  <a:srgbClr val="60607D"/>
                </a:solidFill>
              </a:rPr>
              <a:t>What's happening today</a:t>
            </a:r>
          </a:p>
          <a:p>
            <a:pPr algn="l">
              <a:spcAft>
                <a:spcPts val="500"/>
              </a:spcAft>
            </a:pPr>
            <a:r>
              <a:rPr sz="1250" b="0" i="0">
                <a:solidFill>
                  <a:srgbClr val="000000"/>
                </a:solidFill>
              </a:rPr>
              <a:t>There is no standardized, named set of delivery models that is declared at the point of sale, carried into contracting, enforced at staffing and used for delivery.</a:t>
            </a:r>
          </a:p>
        </p:txBody>
      </p:sp>
      <p:sp>
        <p:nvSpPr>
          <p:cNvPr id="10" name="Rounded Rectangle 9"/>
          <p:cNvSpPr/>
          <p:nvPr/>
        </p:nvSpPr>
        <p:spPr>
          <a:xfrm>
            <a:off x="5607200" y="2670000"/>
            <a:ext cx="6127600" cy="13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182880" rIns="228600" bIns="91440"/>
          <a:lstStyle/>
          <a:p>
            <a:pPr algn="l">
              <a:spcAft>
                <a:spcPts val="200"/>
              </a:spcAft>
            </a:pPr>
            <a:r>
              <a:rPr sz="850" b="1" i="0" cap="all" spc="100">
                <a:solidFill>
                  <a:srgbClr val="60607D"/>
                </a:solidFill>
              </a:rPr>
              <a:t>And as a result</a:t>
            </a:r>
          </a:p>
          <a:p>
            <a:pPr algn="l">
              <a:spcAft>
                <a:spcPts val="500"/>
              </a:spcAft>
            </a:pPr>
            <a:r>
              <a:rPr sz="1250" b="0" i="0">
                <a:solidFill>
                  <a:srgbClr val="000000"/>
                </a:solidFill>
              </a:rPr>
              <a:t>The delivery approach is decided implicitly by whoever is making decisions at that moment, and it is often not understood until the symptoms are visible to the client or a pivot needs investment.</a:t>
            </a:r>
          </a:p>
        </p:txBody>
      </p:sp>
      <p:sp>
        <p:nvSpPr>
          <p:cNvPr id="11" name="TextBox 10"/>
          <p:cNvSpPr txBox="1"/>
          <p:nvPr/>
        </p:nvSpPr>
        <p:spPr>
          <a:xfrm>
            <a:off x="457200" y="4270000"/>
            <a:ext cx="2743200" cy="182880"/>
          </a:xfrm>
          <a:prstGeom prst="rect">
            <a:avLst/>
          </a:prstGeom>
          <a:noFill/>
        </p:spPr>
        <p:txBody>
          <a:bodyPr wrap="square" lIns="0" rIns="0" tIns="0" bIns="0" anchor="t">
            <a:spAutoFit/>
          </a:bodyPr>
          <a:lstStyle/>
          <a:p>
            <a:pPr algn="l">
              <a:spcAft>
                <a:spcPts val="600"/>
              </a:spcAft>
            </a:pPr>
            <a:r>
              <a:rPr sz="1100" b="1" i="0" cap="all" spc="60">
                <a:solidFill>
                  <a:srgbClr val="000000"/>
                </a:solidFill>
              </a:rPr>
              <a:t>So we need</a:t>
            </a:r>
          </a:p>
        </p:txBody>
      </p:sp>
      <p:sp>
        <p:nvSpPr>
          <p:cNvPr id="12" name="Rounded Rectangle 11"/>
          <p:cNvSpPr/>
          <p:nvPr/>
        </p:nvSpPr>
        <p:spPr>
          <a:xfrm>
            <a:off x="457200" y="4544320"/>
            <a:ext cx="3659200" cy="11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128016" rIns="182880" bIns="73152"/>
          <a:lstStyle/>
          <a:p>
            <a:pPr algn="l">
              <a:spcAft>
                <a:spcPts val="200"/>
              </a:spcAft>
            </a:pPr>
            <a:r>
              <a:rPr sz="850" b="1" i="0" cap="all" spc="100">
                <a:solidFill>
                  <a:srgbClr val="60607D"/>
                </a:solidFill>
              </a:rPr>
              <a:t>1</a:t>
            </a:r>
          </a:p>
          <a:p>
            <a:pPr algn="l">
              <a:spcBef>
                <a:spcPts val="500"/>
              </a:spcBef>
              <a:spcAft>
                <a:spcPts val="200"/>
              </a:spcAft>
            </a:pPr>
            <a:r>
              <a:rPr sz="1300" b="1" i="0">
                <a:solidFill>
                  <a:srgbClr val="000000"/>
                </a:solidFill>
              </a:rPr>
              <a:t>We need a small set of authorized delivery models</a:t>
            </a:r>
          </a:p>
        </p:txBody>
      </p:sp>
      <p:sp>
        <p:nvSpPr>
          <p:cNvPr id="13" name="Rounded Rectangle 12"/>
          <p:cNvSpPr/>
          <p:nvPr/>
        </p:nvSpPr>
        <p:spPr>
          <a:xfrm>
            <a:off x="4266400" y="4544320"/>
            <a:ext cx="3659200" cy="11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128016" rIns="182880" bIns="73152"/>
          <a:lstStyle/>
          <a:p>
            <a:pPr algn="l">
              <a:spcAft>
                <a:spcPts val="200"/>
              </a:spcAft>
            </a:pPr>
            <a:r>
              <a:rPr sz="850" b="1" i="0" cap="all" spc="100">
                <a:solidFill>
                  <a:srgbClr val="60607D"/>
                </a:solidFill>
              </a:rPr>
              <a:t>2</a:t>
            </a:r>
          </a:p>
          <a:p>
            <a:pPr algn="l">
              <a:spcBef>
                <a:spcPts val="500"/>
              </a:spcBef>
              <a:spcAft>
                <a:spcPts val="200"/>
              </a:spcAft>
            </a:pPr>
            <a:r>
              <a:rPr sz="1300" b="1" i="0">
                <a:solidFill>
                  <a:srgbClr val="000000"/>
                </a:solidFill>
              </a:rPr>
              <a:t>That align approach, contract, and methodology standards</a:t>
            </a:r>
          </a:p>
        </p:txBody>
      </p:sp>
      <p:sp>
        <p:nvSpPr>
          <p:cNvPr id="14" name="Rounded Rectangle 13"/>
          <p:cNvSpPr/>
          <p:nvPr/>
        </p:nvSpPr>
        <p:spPr>
          <a:xfrm>
            <a:off x="8075600" y="4544320"/>
            <a:ext cx="3659200" cy="11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128016" rIns="182880" bIns="73152"/>
          <a:lstStyle/>
          <a:p>
            <a:pPr algn="l">
              <a:spcAft>
                <a:spcPts val="200"/>
              </a:spcAft>
            </a:pPr>
            <a:r>
              <a:rPr sz="850" b="1" i="0" cap="all" spc="100">
                <a:solidFill>
                  <a:srgbClr val="60607D"/>
                </a:solidFill>
              </a:rPr>
              <a:t>3</a:t>
            </a:r>
          </a:p>
          <a:p>
            <a:pPr algn="l">
              <a:spcBef>
                <a:spcPts val="500"/>
              </a:spcBef>
              <a:spcAft>
                <a:spcPts val="200"/>
              </a:spcAft>
            </a:pPr>
            <a:r>
              <a:rPr sz="1300" b="1" i="0">
                <a:solidFill>
                  <a:srgbClr val="000000"/>
                </a:solidFill>
              </a:rPr>
              <a:t>Allowing us to improve how we solution, estimate, and deliver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m_hero.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MVP, then what comes after</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01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FFFFFF"/>
                </a:solidFill>
              </a:rPr>
              <a:t>Missy Foristall, Chris McComas, Deana Derocha</a:t>
            </a:r>
          </a:p>
        </p:txBody>
      </p:sp>
      <p:sp>
        <p:nvSpPr>
          <p:cNvPr id="8" name="TextBox 7"/>
          <p:cNvSpPr txBox="1"/>
          <p:nvPr/>
        </p:nvSpPr>
        <p:spPr>
          <a:xfrm>
            <a:off x="457200" y="1150000"/>
            <a:ext cx="11277600" cy="640080"/>
          </a:xfrm>
          <a:prstGeom prst="rect">
            <a:avLst/>
          </a:prstGeom>
          <a:noFill/>
        </p:spPr>
        <p:txBody>
          <a:bodyPr wrap="square" lIns="0" rIns="0" tIns="0" bIns="0" anchor="t">
            <a:spAutoFit/>
          </a:bodyPr>
          <a:lstStyle/>
          <a:p>
            <a:pPr algn="l">
              <a:spcAft>
                <a:spcPts val="500"/>
              </a:spcAft>
            </a:pPr>
            <a:r>
              <a:rPr sz="1400" b="0" i="0">
                <a:solidFill>
                  <a:srgbClr val="000000"/>
                </a:solidFill>
              </a:rPr>
              <a:t>Every engagement and every track gets a named delivery model from a small, standard set, declared before review and staffing. No SOW is signed without a model name attached, and that name determines governance.</a:t>
            </a:r>
          </a:p>
        </p:txBody>
      </p:sp>
      <p:sp>
        <p:nvSpPr>
          <p:cNvPr id="9" name="TextBox 8"/>
          <p:cNvSpPr txBox="1"/>
          <p:nvPr/>
        </p:nvSpPr>
        <p:spPr>
          <a:xfrm>
            <a:off x="457200" y="1883232"/>
            <a:ext cx="7300000" cy="50292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MVP</a:t>
            </a:r>
          </a:p>
          <a:p>
            <a:pPr algn="l">
              <a:spcAft>
                <a:spcPts val="500"/>
              </a:spcAft>
            </a:pPr>
            <a:r>
              <a:rPr sz="1200" b="0" i="0">
                <a:solidFill>
                  <a:srgbClr val="000000"/>
                </a:solidFill>
              </a:rPr>
              <a:t>Three stories, not one, because all three must work together for this to work.</a:t>
            </a:r>
          </a:p>
        </p:txBody>
      </p:sp>
      <p:sp>
        <p:nvSpPr>
          <p:cNvPr id="10" name="Rounded Rectangle 9"/>
          <p:cNvSpPr/>
          <p:nvPr/>
        </p:nvSpPr>
        <p:spPr>
          <a:xfrm>
            <a:off x="457200" y="2450160"/>
            <a:ext cx="7300000" cy="830000"/>
          </a:xfrm>
          <a:prstGeom prst="roundRect">
            <a:avLst>
              <a:gd name="adj" fmla="val 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685800" tIns="91440" rIns="182880"/>
          <a:lstStyle/>
          <a:p>
            <a:pPr algn="l">
              <a:spcBef>
                <a:spcPts val="500"/>
              </a:spcBef>
              <a:spcAft>
                <a:spcPts val="200"/>
              </a:spcAft>
            </a:pPr>
            <a:r>
              <a:rPr sz="1200" b="1" i="0">
                <a:solidFill>
                  <a:srgbClr val="000000"/>
                </a:solidFill>
              </a:rPr>
              <a:t>Delivery Models</a:t>
            </a:r>
          </a:p>
          <a:p>
            <a:pPr algn="l">
              <a:spcAft>
                <a:spcPts val="500"/>
              </a:spcAft>
            </a:pPr>
            <a:r>
              <a:rPr sz="1200" b="0" i="0">
                <a:solidFill>
                  <a:srgbClr val="000000"/>
                </a:solidFill>
              </a:rPr>
              <a:t>Every deal categorized at qualification into one of 5-6 core models, so pricing and staffing follow a known shape.</a:t>
            </a:r>
          </a:p>
        </p:txBody>
      </p:sp>
      <p:sp>
        <p:nvSpPr>
          <p:cNvPr id="11" name="Oval 10"/>
          <p:cNvSpPr/>
          <p:nvPr/>
        </p:nvSpPr>
        <p:spPr>
          <a:xfrm>
            <a:off x="640080" y="2682280"/>
            <a:ext cx="365760" cy="365760"/>
          </a:xfrm>
          <a:prstGeom prst="ellipse">
            <a:avLst/>
          </a:prstGeom>
          <a:solidFill>
            <a:srgbClr val="000000"/>
          </a:solidFill>
          <a:ln>
            <a:noFill/>
          </a:ln>
        </p:spPr>
        <p:txBody>
          <a:bodyPr rtlCol="0" anchor="ctr" lIns="0" rIns="0" tIns="0" bIns="0"/>
          <a:lstStyle/>
          <a:p>
            <a:pPr algn="ctr"/>
            <a:r>
              <a:rPr sz="1200" b="1" i="0">
                <a:solidFill>
                  <a:srgbClr val="FFFFFF"/>
                </a:solidFill>
              </a:rPr>
              <a:t>1</a:t>
            </a:r>
          </a:p>
        </p:txBody>
      </p:sp>
      <p:sp>
        <p:nvSpPr>
          <p:cNvPr id="12" name="Rounded Rectangle 11"/>
          <p:cNvSpPr/>
          <p:nvPr/>
        </p:nvSpPr>
        <p:spPr>
          <a:xfrm>
            <a:off x="457200" y="3360160"/>
            <a:ext cx="7300000" cy="830000"/>
          </a:xfrm>
          <a:prstGeom prst="roundRect">
            <a:avLst>
              <a:gd name="adj" fmla="val 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685800" tIns="91440" rIns="182880"/>
          <a:lstStyle/>
          <a:p>
            <a:pPr algn="l">
              <a:spcBef>
                <a:spcPts val="500"/>
              </a:spcBef>
              <a:spcAft>
                <a:spcPts val="200"/>
              </a:spcAft>
            </a:pPr>
            <a:r>
              <a:rPr sz="1200" b="1" i="0">
                <a:solidFill>
                  <a:srgbClr val="000000"/>
                </a:solidFill>
              </a:rPr>
              <a:t>Contracts</a:t>
            </a:r>
          </a:p>
          <a:p>
            <a:pPr algn="l">
              <a:spcAft>
                <a:spcPts val="500"/>
              </a:spcAft>
            </a:pPr>
            <a:r>
              <a:rPr sz="1200" b="0" i="0">
                <a:solidFill>
                  <a:srgbClr val="000000"/>
                </a:solidFill>
              </a:rPr>
              <a:t>Terms, scope language, and billing matched to the chosen model — no more fixed price with no scope control.</a:t>
            </a:r>
          </a:p>
        </p:txBody>
      </p:sp>
      <p:sp>
        <p:nvSpPr>
          <p:cNvPr id="13" name="Oval 12"/>
          <p:cNvSpPr/>
          <p:nvPr/>
        </p:nvSpPr>
        <p:spPr>
          <a:xfrm>
            <a:off x="640080" y="3592280"/>
            <a:ext cx="365760" cy="365760"/>
          </a:xfrm>
          <a:prstGeom prst="ellipse">
            <a:avLst/>
          </a:prstGeom>
          <a:solidFill>
            <a:srgbClr val="000000"/>
          </a:solidFill>
          <a:ln>
            <a:noFill/>
          </a:ln>
        </p:spPr>
        <p:txBody>
          <a:bodyPr rtlCol="0" anchor="ctr" lIns="0" rIns="0" tIns="0" bIns="0"/>
          <a:lstStyle/>
          <a:p>
            <a:pPr algn="ctr"/>
            <a:r>
              <a:rPr sz="1200" b="1" i="0">
                <a:solidFill>
                  <a:srgbClr val="FFFFFF"/>
                </a:solidFill>
              </a:rPr>
              <a:t>2</a:t>
            </a:r>
          </a:p>
        </p:txBody>
      </p:sp>
      <p:sp>
        <p:nvSpPr>
          <p:cNvPr id="14" name="Rounded Rectangle 13"/>
          <p:cNvSpPr/>
          <p:nvPr/>
        </p:nvSpPr>
        <p:spPr>
          <a:xfrm>
            <a:off x="457200" y="4270160"/>
            <a:ext cx="7300000" cy="830000"/>
          </a:xfrm>
          <a:prstGeom prst="roundRect">
            <a:avLst>
              <a:gd name="adj" fmla="val 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685800" tIns="91440" rIns="182880"/>
          <a:lstStyle/>
          <a:p>
            <a:pPr algn="l">
              <a:spcBef>
                <a:spcPts val="500"/>
              </a:spcBef>
              <a:spcAft>
                <a:spcPts val="200"/>
              </a:spcAft>
            </a:pPr>
            <a:r>
              <a:rPr sz="1200" b="1" i="0">
                <a:solidFill>
                  <a:srgbClr val="000000"/>
                </a:solidFill>
              </a:rPr>
              <a:t>Methodology Standards</a:t>
            </a:r>
          </a:p>
          <a:p>
            <a:pPr algn="l">
              <a:spcAft>
                <a:spcPts val="500"/>
              </a:spcAft>
            </a:pPr>
            <a:r>
              <a:rPr sz="1200" b="0" i="0">
                <a:solidFill>
                  <a:srgbClr val="000000"/>
                </a:solidFill>
              </a:rPr>
              <a:t>Clear working practices, so we guide clients into how we work instead of inheriting whatever mix they bring.</a:t>
            </a:r>
          </a:p>
        </p:txBody>
      </p:sp>
      <p:sp>
        <p:nvSpPr>
          <p:cNvPr id="15" name="Oval 14"/>
          <p:cNvSpPr/>
          <p:nvPr/>
        </p:nvSpPr>
        <p:spPr>
          <a:xfrm>
            <a:off x="640080" y="4502280"/>
            <a:ext cx="365760" cy="365760"/>
          </a:xfrm>
          <a:prstGeom prst="ellipse">
            <a:avLst/>
          </a:prstGeom>
          <a:solidFill>
            <a:srgbClr val="000000"/>
          </a:solidFill>
          <a:ln>
            <a:noFill/>
          </a:ln>
        </p:spPr>
        <p:txBody>
          <a:bodyPr rtlCol="0" anchor="ctr" lIns="0" rIns="0" tIns="0" bIns="0"/>
          <a:lstStyle/>
          <a:p>
            <a:pPr algn="ctr"/>
            <a:r>
              <a:rPr sz="1200" b="1" i="0">
                <a:solidFill>
                  <a:srgbClr val="FFFFFF"/>
                </a:solidFill>
              </a:rPr>
              <a:t>3</a:t>
            </a:r>
          </a:p>
        </p:txBody>
      </p:sp>
      <p:sp>
        <p:nvSpPr>
          <p:cNvPr id="16" name="Right Arrow 15"/>
          <p:cNvSpPr/>
          <p:nvPr/>
        </p:nvSpPr>
        <p:spPr>
          <a:xfrm>
            <a:off x="7797200" y="3625160"/>
            <a:ext cx="300000" cy="300000"/>
          </a:xfrm>
          <a:prstGeom prst="rightArrow">
            <a:avLst/>
          </a:prstGeom>
          <a:solidFill>
            <a:srgbClr val="D6D6DF"/>
          </a:solidFill>
          <a:ln>
            <a:noFill/>
          </a:ln>
        </p:spPr>
        <p:txBody>
          <a:bodyPr rtlCol="0" anchor="ctr"/>
          <a:lstStyle/>
          <a:p>
            <a:pPr algn="ctr"/>
          </a:p>
        </p:txBody>
      </p:sp>
      <p:sp>
        <p:nvSpPr>
          <p:cNvPr id="17" name="Rounded Rectangle 16"/>
          <p:cNvSpPr/>
          <p:nvPr/>
        </p:nvSpPr>
        <p:spPr>
          <a:xfrm>
            <a:off x="8177200" y="1883232"/>
            <a:ext cx="3557600" cy="3216928"/>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56032" tIns="228600" rIns="228600" bIns="137160"/>
          <a:lstStyle/>
          <a:p>
            <a:pPr algn="l">
              <a:spcAft>
                <a:spcPts val="600"/>
              </a:spcAft>
            </a:pPr>
            <a:r>
              <a:rPr sz="1100" b="1" i="0" cap="all" spc="60">
                <a:solidFill>
                  <a:srgbClr val="D6D6DF"/>
                </a:solidFill>
              </a:rPr>
              <a:t>After the MVP</a:t>
            </a:r>
          </a:p>
          <a:p>
            <a:pPr algn="l">
              <a:spcAft>
                <a:spcPts val="600"/>
              </a:spcAft>
            </a:pPr>
            <a:r>
              <a:rPr sz="1600" b="1" i="0">
                <a:solidFill>
                  <a:srgbClr val="FFFFFF"/>
                </a:solidFill>
              </a:rPr>
              <a:t>Supported by AI: estimation, pricing, and staffing follow once the MVP is solid, and we move toward metered or token-based commercial pricing.</a:t>
            </a:r>
          </a:p>
        </p:txBody>
      </p:sp>
      <p:sp>
        <p:nvSpPr>
          <p:cNvPr id="18" name="TextBox 17"/>
          <p:cNvSpPr txBox="1"/>
          <p:nvPr/>
        </p:nvSpPr>
        <p:spPr>
          <a:xfrm>
            <a:off x="457200" y="5250160"/>
            <a:ext cx="2743200" cy="182880"/>
          </a:xfrm>
          <a:prstGeom prst="rect">
            <a:avLst/>
          </a:prstGeom>
          <a:noFill/>
        </p:spPr>
        <p:txBody>
          <a:bodyPr wrap="square" lIns="0" rIns="0" tIns="0" bIns="0" anchor="t">
            <a:spAutoFit/>
          </a:bodyPr>
          <a:lstStyle/>
          <a:p>
            <a:pPr algn="l">
              <a:spcAft>
                <a:spcPts val="600"/>
              </a:spcAft>
            </a:pPr>
            <a:r>
              <a:rPr sz="1100" b="1" i="0" cap="all" spc="60">
                <a:solidFill>
                  <a:srgbClr val="000000"/>
                </a:solidFill>
              </a:rPr>
              <a:t>Four starting models</a:t>
            </a:r>
          </a:p>
        </p:txBody>
      </p:sp>
      <p:sp>
        <p:nvSpPr>
          <p:cNvPr id="19" name="Rounded Rectangle 18"/>
          <p:cNvSpPr/>
          <p:nvPr/>
        </p:nvSpPr>
        <p:spPr>
          <a:xfrm>
            <a:off x="457200" y="5497048"/>
            <a:ext cx="2759400" cy="365760"/>
          </a:xfrm>
          <a:prstGeom prst="roundRect">
            <a:avLst>
              <a:gd name="adj" fmla="val 50000"/>
            </a:avLst>
          </a:prstGeom>
          <a:solidFill>
            <a:srgbClr val="FFFFFF"/>
          </a:solidFill>
          <a:ln w="12700">
            <a:solidFill>
              <a:srgbClr val="000000"/>
            </a:solidFill>
          </a:ln>
        </p:spPr>
        <p:txBody>
          <a:bodyPr rtlCol="0" anchor="ctr" lIns="0" rIns="0" tIns="0" bIns="0"/>
          <a:lstStyle/>
          <a:p>
            <a:pPr algn="ctr"/>
            <a:r>
              <a:rPr sz="1100" b="1" i="0">
                <a:solidFill>
                  <a:srgbClr val="000000"/>
                </a:solidFill>
              </a:rPr>
              <a:t>Fixed Constraint Delivery</a:t>
            </a:r>
          </a:p>
        </p:txBody>
      </p:sp>
      <p:sp>
        <p:nvSpPr>
          <p:cNvPr id="20" name="Rounded Rectangle 19"/>
          <p:cNvSpPr/>
          <p:nvPr/>
        </p:nvSpPr>
        <p:spPr>
          <a:xfrm>
            <a:off x="3296600" y="5497048"/>
            <a:ext cx="2759400" cy="365760"/>
          </a:xfrm>
          <a:prstGeom prst="roundRect">
            <a:avLst>
              <a:gd name="adj" fmla="val 50000"/>
            </a:avLst>
          </a:prstGeom>
          <a:solidFill>
            <a:srgbClr val="FFFFFF"/>
          </a:solidFill>
          <a:ln w="12700">
            <a:solidFill>
              <a:srgbClr val="000000"/>
            </a:solidFill>
          </a:ln>
        </p:spPr>
        <p:txBody>
          <a:bodyPr rtlCol="0" anchor="ctr" lIns="0" rIns="0" tIns="0" bIns="0"/>
          <a:lstStyle/>
          <a:p>
            <a:pPr algn="ctr"/>
            <a:r>
              <a:rPr sz="1100" b="1" i="0">
                <a:solidFill>
                  <a:srgbClr val="000000"/>
                </a:solidFill>
              </a:rPr>
              <a:t>Velocity Based Delivery</a:t>
            </a:r>
          </a:p>
        </p:txBody>
      </p:sp>
      <p:sp>
        <p:nvSpPr>
          <p:cNvPr id="21" name="Rounded Rectangle 20"/>
          <p:cNvSpPr/>
          <p:nvPr/>
        </p:nvSpPr>
        <p:spPr>
          <a:xfrm>
            <a:off x="6136000" y="5497048"/>
            <a:ext cx="2759400" cy="365760"/>
          </a:xfrm>
          <a:prstGeom prst="roundRect">
            <a:avLst>
              <a:gd name="adj" fmla="val 50000"/>
            </a:avLst>
          </a:prstGeom>
          <a:solidFill>
            <a:srgbClr val="FFFFFF"/>
          </a:solidFill>
          <a:ln w="12700">
            <a:solidFill>
              <a:srgbClr val="000000"/>
            </a:solidFill>
          </a:ln>
        </p:spPr>
        <p:txBody>
          <a:bodyPr rtlCol="0" anchor="ctr" lIns="0" rIns="0" tIns="0" bIns="0"/>
          <a:lstStyle/>
          <a:p>
            <a:pPr algn="ctr"/>
            <a:r>
              <a:rPr sz="1100" b="1" i="0">
                <a:solidFill>
                  <a:srgbClr val="000000"/>
                </a:solidFill>
              </a:rPr>
              <a:t>Outcomes Based Delivery</a:t>
            </a:r>
          </a:p>
        </p:txBody>
      </p:sp>
      <p:sp>
        <p:nvSpPr>
          <p:cNvPr id="22" name="Rounded Rectangle 21"/>
          <p:cNvSpPr/>
          <p:nvPr/>
        </p:nvSpPr>
        <p:spPr>
          <a:xfrm>
            <a:off x="8975400" y="5497048"/>
            <a:ext cx="2759400" cy="365760"/>
          </a:xfrm>
          <a:prstGeom prst="roundRect">
            <a:avLst>
              <a:gd name="adj" fmla="val 50000"/>
            </a:avLst>
          </a:prstGeom>
          <a:solidFill>
            <a:srgbClr val="FFFFFF"/>
          </a:solidFill>
          <a:ln w="12700">
            <a:solidFill>
              <a:srgbClr val="000000"/>
            </a:solidFill>
          </a:ln>
        </p:spPr>
        <p:txBody>
          <a:bodyPr rtlCol="0" anchor="ctr" lIns="0" rIns="0" tIns="0" bIns="0"/>
          <a:lstStyle/>
          <a:p>
            <a:pPr algn="ctr"/>
            <a:r>
              <a:rPr sz="1100" b="1" i="0">
                <a:solidFill>
                  <a:srgbClr val="000000"/>
                </a:solidFill>
              </a:rPr>
              <a:t>Retainer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m_hero.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we'll know it's working</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01 · CLICK-DOWN · WHAT THIS UNLOCKS</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FFFFFF"/>
                </a:solidFill>
              </a:rPr>
              <a:t>Missy Foristall, Chris McComas, Deana Derocha</a:t>
            </a:r>
          </a:p>
        </p:txBody>
      </p:sp>
      <p:sp>
        <p:nvSpPr>
          <p:cNvPr id="8" name="Rounded Rectangle 7"/>
          <p:cNvSpPr/>
          <p:nvPr/>
        </p:nvSpPr>
        <p:spPr>
          <a:xfrm>
            <a:off x="457200" y="1170000"/>
            <a:ext cx="5300000" cy="49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274320" rIns="274320" bIns="182880"/>
          <a:lstStyle/>
          <a:p>
            <a:pPr algn="l">
              <a:spcAft>
                <a:spcPts val="600"/>
              </a:spcAft>
            </a:pPr>
            <a:r>
              <a:rPr sz="1100" b="1" i="0" cap="all" spc="60">
                <a:solidFill>
                  <a:srgbClr val="D6D6DF"/>
                </a:solidFill>
              </a:rPr>
              <a:t>What we'll see when it's working</a:t>
            </a:r>
          </a:p>
          <a:p>
            <a:pPr algn="l">
              <a:spcAft>
                <a:spcPts val="600"/>
              </a:spcAft>
            </a:pPr>
            <a:r>
              <a:rPr sz="1700" b="1" i="0">
                <a:solidFill>
                  <a:srgbClr val="FFFFFF"/>
                </a:solidFill>
              </a:rPr>
              <a:t>We stop agreeing to unfeasible combinations, like fixed-price with no scope control.</a:t>
            </a:r>
          </a:p>
          <a:p>
            <a:pPr algn="l">
              <a:spcAft>
                <a:spcPts val="500"/>
              </a:spcAft>
            </a:pPr>
            <a:r>
              <a:rPr sz="1500" b="0" i="0">
                <a:solidFill>
                  <a:srgbClr val="FFFFFF"/>
                </a:solidFill>
              </a:rPr>
              <a:t/>
            </a:r>
          </a:p>
          <a:p>
            <a:pPr algn="l">
              <a:spcAft>
                <a:spcPts val="600"/>
              </a:spcAft>
            </a:pPr>
            <a:r>
              <a:rPr sz="1700" b="1" i="0">
                <a:solidFill>
                  <a:srgbClr val="FFFFFF"/>
                </a:solidFill>
              </a:rPr>
              <a:t>Our pricing tools reflect true deliverability, not just theoretical margin.</a:t>
            </a:r>
          </a:p>
          <a:p>
            <a:pPr algn="l">
              <a:spcAft>
                <a:spcPts val="500"/>
              </a:spcAft>
            </a:pPr>
            <a:r>
              <a:rPr sz="1500" b="0" i="0">
                <a:solidFill>
                  <a:srgbClr val="FFFFFF"/>
                </a:solidFill>
              </a:rPr>
              <a:t/>
            </a:r>
          </a:p>
          <a:p>
            <a:pPr algn="l">
              <a:spcAft>
                <a:spcPts val="600"/>
              </a:spcAft>
            </a:pPr>
            <a:r>
              <a:rPr sz="1700" b="1" i="0">
                <a:solidFill>
                  <a:srgbClr val="FFFFFF"/>
                </a:solidFill>
              </a:rPr>
              <a:t>We guide clients into how we work instead of inheriting whatever mix they bring.</a:t>
            </a:r>
          </a:p>
        </p:txBody>
      </p:sp>
      <p:sp>
        <p:nvSpPr>
          <p:cNvPr id="9" name="TextBox 8"/>
          <p:cNvSpPr txBox="1"/>
          <p:nvPr/>
        </p:nvSpPr>
        <p:spPr>
          <a:xfrm>
            <a:off x="5907200" y="1170000"/>
            <a:ext cx="5827600" cy="228600"/>
          </a:xfrm>
          <a:prstGeom prst="rect">
            <a:avLst/>
          </a:prstGeom>
          <a:noFill/>
        </p:spPr>
        <p:txBody>
          <a:bodyPr wrap="square" lIns="0" rIns="0" tIns="0" bIns="0" anchor="t">
            <a:spAutoFit/>
          </a:bodyPr>
          <a:lstStyle/>
          <a:p>
            <a:pPr algn="l">
              <a:spcAft>
                <a:spcPts val="600"/>
              </a:spcAft>
            </a:pPr>
            <a:r>
              <a:rPr sz="1100" b="1" i="0" cap="all" spc="60">
                <a:solidFill>
                  <a:srgbClr val="000000"/>
                </a:solidFill>
              </a:rPr>
              <a:t>Who's on it</a:t>
            </a:r>
          </a:p>
        </p:txBody>
      </p:sp>
      <p:sp>
        <p:nvSpPr>
          <p:cNvPr id="10" name="Rounded Rectangle 9"/>
          <p:cNvSpPr/>
          <p:nvPr/>
        </p:nvSpPr>
        <p:spPr>
          <a:xfrm>
            <a:off x="5907200" y="1462608"/>
            <a:ext cx="5827600" cy="10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164592" rIns="182880"/>
          <a:lstStyle/>
          <a:p>
            <a:pPr algn="l">
              <a:spcAft>
                <a:spcPts val="200"/>
              </a:spcAft>
            </a:pPr>
            <a:r>
              <a:rPr sz="850" b="1" i="0" cap="all" spc="100">
                <a:solidFill>
                  <a:srgbClr val="60607D"/>
                </a:solidFill>
              </a:rPr>
              <a:t>Owners</a:t>
            </a:r>
          </a:p>
        </p:txBody>
      </p:sp>
      <p:sp>
        <p:nvSpPr>
          <p:cNvPr id="11" name="Rounded Rectangle 10"/>
          <p:cNvSpPr/>
          <p:nvPr/>
        </p:nvSpPr>
        <p:spPr>
          <a:xfrm>
            <a:off x="6135800" y="1874088"/>
            <a:ext cx="1316736"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Missy Foristall</a:t>
            </a:r>
          </a:p>
        </p:txBody>
      </p:sp>
      <p:sp>
        <p:nvSpPr>
          <p:cNvPr id="12" name="Rounded Rectangle 11"/>
          <p:cNvSpPr/>
          <p:nvPr/>
        </p:nvSpPr>
        <p:spPr>
          <a:xfrm>
            <a:off x="7534832" y="1874088"/>
            <a:ext cx="117774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Chris McComas</a:t>
            </a:r>
          </a:p>
        </p:txBody>
      </p:sp>
      <p:sp>
        <p:nvSpPr>
          <p:cNvPr id="13" name="Rounded Rectangle 12"/>
          <p:cNvSpPr/>
          <p:nvPr/>
        </p:nvSpPr>
        <p:spPr>
          <a:xfrm>
            <a:off x="8794875" y="1874088"/>
            <a:ext cx="117774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Deana Derocha</a:t>
            </a:r>
          </a:p>
        </p:txBody>
      </p:sp>
      <p:sp>
        <p:nvSpPr>
          <p:cNvPr id="14" name="Rounded Rectangle 13"/>
          <p:cNvSpPr/>
          <p:nvPr/>
        </p:nvSpPr>
        <p:spPr>
          <a:xfrm>
            <a:off x="5907200" y="2662608"/>
            <a:ext cx="5827600" cy="10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164592" rIns="182880"/>
          <a:lstStyle/>
          <a:p>
            <a:pPr algn="l">
              <a:spcAft>
                <a:spcPts val="200"/>
              </a:spcAft>
            </a:pPr>
            <a:r>
              <a:rPr sz="850" b="1" i="0" cap="all" spc="100">
                <a:solidFill>
                  <a:srgbClr val="60607D"/>
                </a:solidFill>
              </a:rPr>
              <a:t>Working on it now</a:t>
            </a:r>
          </a:p>
        </p:txBody>
      </p:sp>
      <p:sp>
        <p:nvSpPr>
          <p:cNvPr id="15" name="Rounded Rectangle 14"/>
          <p:cNvSpPr/>
          <p:nvPr/>
        </p:nvSpPr>
        <p:spPr>
          <a:xfrm>
            <a:off x="6135800" y="3074088"/>
            <a:ext cx="55229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John</a:t>
            </a:r>
          </a:p>
        </p:txBody>
      </p:sp>
      <p:sp>
        <p:nvSpPr>
          <p:cNvPr id="16" name="Rounded Rectangle 15"/>
          <p:cNvSpPr/>
          <p:nvPr/>
        </p:nvSpPr>
        <p:spPr>
          <a:xfrm>
            <a:off x="6770393" y="3074088"/>
            <a:ext cx="621792"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Chris</a:t>
            </a:r>
          </a:p>
        </p:txBody>
      </p:sp>
      <p:sp>
        <p:nvSpPr>
          <p:cNvPr id="17" name="Rounded Rectangle 16"/>
          <p:cNvSpPr/>
          <p:nvPr/>
        </p:nvSpPr>
        <p:spPr>
          <a:xfrm>
            <a:off x="5907200" y="3862608"/>
            <a:ext cx="582760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164592" rIns="182880"/>
          <a:lstStyle/>
          <a:p>
            <a:pPr algn="l">
              <a:spcAft>
                <a:spcPts val="200"/>
              </a:spcAft>
            </a:pPr>
            <a:r>
              <a:rPr sz="850" b="1" i="0" cap="all" spc="100">
                <a:solidFill>
                  <a:srgbClr val="60607D"/>
                </a:solidFill>
              </a:rPr>
              <a:t>Partners</a:t>
            </a:r>
          </a:p>
        </p:txBody>
      </p:sp>
      <p:sp>
        <p:nvSpPr>
          <p:cNvPr id="18" name="Rounded Rectangle 17"/>
          <p:cNvSpPr/>
          <p:nvPr/>
        </p:nvSpPr>
        <p:spPr>
          <a:xfrm>
            <a:off x="6135800" y="4274088"/>
            <a:ext cx="760780"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BU COOs</a:t>
            </a:r>
          </a:p>
        </p:txBody>
      </p:sp>
      <p:sp>
        <p:nvSpPr>
          <p:cNvPr id="19" name="Rounded Rectangle 18"/>
          <p:cNvSpPr/>
          <p:nvPr/>
        </p:nvSpPr>
        <p:spPr>
          <a:xfrm>
            <a:off x="6978876" y="4274088"/>
            <a:ext cx="1247241"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Delivery Leads</a:t>
            </a:r>
          </a:p>
        </p:txBody>
      </p:sp>
      <p:sp>
        <p:nvSpPr>
          <p:cNvPr id="20" name="Rounded Rectangle 19"/>
          <p:cNvSpPr/>
          <p:nvPr/>
        </p:nvSpPr>
        <p:spPr>
          <a:xfrm>
            <a:off x="8308413" y="4274088"/>
            <a:ext cx="228965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Enterprise Project Management</a:t>
            </a:r>
          </a:p>
        </p:txBody>
      </p:sp>
      <p:sp>
        <p:nvSpPr>
          <p:cNvPr id="21" name="Rounded Rectangle 20"/>
          <p:cNvSpPr/>
          <p:nvPr/>
        </p:nvSpPr>
        <p:spPr>
          <a:xfrm>
            <a:off x="6135800" y="4667280"/>
            <a:ext cx="2011679"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Client &amp; Commercial teams</a:t>
            </a:r>
          </a:p>
        </p:txBody>
      </p:sp>
      <p:sp>
        <p:nvSpPr>
          <p:cNvPr id="22" name="Rounded Rectangle 21"/>
          <p:cNvSpPr/>
          <p:nvPr/>
        </p:nvSpPr>
        <p:spPr>
          <a:xfrm>
            <a:off x="8229775" y="4667280"/>
            <a:ext cx="760780"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Finance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Rounded Rectangle 4"/>
          <p:cNvSpPr/>
          <p:nvPr/>
        </p:nvSpPr>
        <p:spPr>
          <a:xfrm>
            <a:off x="640080" y="731520"/>
            <a:ext cx="6583680" cy="2509616"/>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1828800"/>
          </a:xfrm>
        </p:spPr>
        <p:txBody>
          <a:bodyPr anchor="t"/>
          <a:lstStyle/>
          <a:p>
            <a:r>
              <a:t>[Priority name]</a:t>
            </a:r>
          </a:p>
        </p:txBody>
      </p:sp>
      <p:sp>
        <p:nvSpPr>
          <p:cNvPr id="3" name="Text Placeholder 2"/>
          <p:cNvSpPr>
            <a:spLocks noGrp="1"/>
          </p:cNvSpPr>
          <p:nvPr>
            <p:ph type="body" idx="15" sz="quarter"/>
          </p:nvPr>
        </p:nvSpPr>
        <p:spPr>
          <a:xfrm>
            <a:off x="914400" y="932688"/>
            <a:ext cx="6400800" cy="292608"/>
          </a:xfrm>
        </p:spPr>
        <p:txBody>
          <a:bodyPr/>
          <a:lstStyle/>
          <a:p>
            <a:r>
              <a:t>PRIORITY [NN]</a:t>
            </a:r>
          </a:p>
        </p:txBody>
      </p:sp>
      <p:sp>
        <p:nvSpPr>
          <p:cNvPr id="4" name="TextBox 3"/>
          <p:cNvSpPr txBox="1"/>
          <p:nvPr/>
        </p:nvSpPr>
        <p:spPr>
          <a:xfrm>
            <a:off x="914400" y="2326736"/>
            <a:ext cx="5852160" cy="822960"/>
          </a:xfrm>
          <a:prstGeom prst="rect">
            <a:avLst/>
          </a:prstGeom>
          <a:noFill/>
        </p:spPr>
        <p:txBody>
          <a:bodyPr wrap="square" lIns="0" rIns="0" tIns="0" bIns="0" anchor="t">
            <a:spAutoFit/>
          </a:bodyPr>
          <a:lstStyle/>
          <a:p>
            <a:pPr algn="l">
              <a:spcAft>
                <a:spcPts val="500"/>
              </a:spcAft>
            </a:pPr>
            <a:r>
              <a:rPr sz="1800" b="0" i="0">
                <a:solidFill>
                  <a:srgbClr val="FFFFFF"/>
                </a:solidFill>
              </a:rPr>
              <a:t>[The one-liner from the priorities-at-a-glance slide.]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pic>
        <p:nvPicPr>
          <p:cNvPr id="5" name="Picture 4" descr="m_hero.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[Priority name]</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[NN]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FFFFFF"/>
                </a:solidFill>
              </a:rPr>
              <a:t>[Names]</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46304" rIns="182880" bIns="54864"/>
          <a:lstStyle/>
          <a:p>
            <a:pPr algn="l">
              <a:spcAft>
                <a:spcPts val="600"/>
              </a:spcAft>
            </a:pPr>
            <a:r>
              <a:rPr sz="1100" b="1" i="0" cap="all" spc="60">
                <a:solidFill>
                  <a:srgbClr val="D6D6DF"/>
                </a:solidFill>
              </a:rPr>
              <a:t>2026 Goal</a:t>
            </a:r>
          </a:p>
          <a:p>
            <a:pPr algn="l">
              <a:spcAft>
                <a:spcPts val="600"/>
              </a:spcAft>
            </a:pPr>
            <a:r>
              <a:rPr sz="1250" b="1" i="0">
                <a:solidFill>
                  <a:srgbClr val="FFFFFF"/>
                </a:solidFill>
              </a:rPr>
              <a:t>[One sentence: the goal, in plain words.]</a:t>
            </a:r>
          </a:p>
          <a:p>
            <a:pPr algn="l">
              <a:spcAft>
                <a:spcPts val="500"/>
              </a:spcAft>
            </a:pPr>
            <a:r>
              <a:rPr sz="1000" b="0" i="1">
                <a:solidFill>
                  <a:srgbClr val="D6D6DF"/>
                </a:solidFill>
              </a:rPr>
              <a:t>[In practice: what it looks like when we get there.]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46304" rIns="182880" bIns="54864"/>
          <a:lstStyle/>
          <a:p>
            <a:pPr algn="l">
              <a:spcAft>
                <a:spcPts val="600"/>
              </a:spcAft>
            </a:pPr>
            <a:r>
              <a:rPr sz="1100" b="1" i="0" cap="all" spc="60">
                <a:solidFill>
                  <a:srgbClr val="000000"/>
                </a:solidFill>
              </a:rPr>
              <a:t>The problem</a:t>
            </a:r>
          </a:p>
          <a:p>
            <a:pPr algn="l">
              <a:spcAft>
                <a:spcPts val="500"/>
              </a:spcAft>
            </a:pPr>
            <a:r>
              <a:rPr sz="1000" b="0" i="1">
                <a:solidFill>
                  <a:srgbClr val="60607D"/>
                </a:solidFill>
              </a:rPr>
              <a:t>[The problem, in one line.]</a:t>
            </a:r>
          </a:p>
          <a:p>
            <a:pPr algn="l">
              <a:spcAft>
                <a:spcPts val="500"/>
              </a:spcAft>
            </a:pPr>
            <a:r>
              <a:rPr sz="1000" b="0" i="1">
                <a:solidFill>
                  <a:srgbClr val="60607D"/>
                </a:solidFill>
              </a:rPr>
              <a:t>[Why it happens.]</a:t>
            </a:r>
          </a:p>
          <a:p>
            <a:pPr algn="l">
              <a:spcAft>
                <a:spcPts val="500"/>
              </a:spcAft>
            </a:pPr>
            <a:r>
              <a:rPr sz="1000" b="0" i="1">
                <a:solidFill>
                  <a:srgbClr val="60607D"/>
                </a:solidFill>
              </a:rPr>
              <a:t>[What it costs us today.]</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46304" rIns="182880" bIns="54864"/>
          <a:lstStyle/>
          <a:p>
            <a:pPr algn="l">
              <a:spcAft>
                <a:spcPts val="600"/>
              </a:spcAft>
            </a:pPr>
            <a:r>
              <a:rPr sz="1100" b="1" i="0" cap="all" spc="60">
                <a:solidFill>
                  <a:srgbClr val="000000"/>
                </a:solidFill>
              </a:rPr>
              <a:t>What we are changing</a:t>
            </a:r>
          </a:p>
          <a:p>
            <a:pPr algn="l">
              <a:spcAft>
                <a:spcPts val="500"/>
              </a:spcAft>
            </a:pPr>
            <a:r>
              <a:rPr sz="1000" b="0" i="1">
                <a:solidFill>
                  <a:srgbClr val="60607D"/>
                </a:solidFill>
              </a:rPr>
              <a:t>[What we are changing.]</a:t>
            </a:r>
          </a:p>
          <a:p>
            <a:pPr algn="l">
              <a:spcAft>
                <a:spcPts val="500"/>
              </a:spcAft>
            </a:pPr>
            <a:r>
              <a:rPr sz="1000" b="0" i="1">
                <a:solidFill>
                  <a:srgbClr val="60607D"/>
                </a:solidFill>
              </a:rPr>
              <a:t>[The rule or standard that makes it stick.]</a:t>
            </a:r>
          </a:p>
          <a:p>
            <a:pPr algn="l">
              <a:spcBef>
                <a:spcPts val="500"/>
              </a:spcBef>
              <a:spcAft>
                <a:spcPts val="200"/>
              </a:spcAft>
            </a:pPr>
            <a:r>
              <a:rPr sz="1050" b="1" i="0">
                <a:solidFill>
                  <a:srgbClr val="000000"/>
                </a:solidFill>
              </a:rPr>
              <a:t>MVP</a:t>
            </a:r>
          </a:p>
          <a:p>
            <a:pPr algn="l">
              <a:spcAft>
                <a:spcPts val="500"/>
              </a:spcAft>
            </a:pPr>
            <a:r>
              <a:rPr sz="1000" b="0" i="1">
                <a:solidFill>
                  <a:srgbClr val="60607D"/>
                </a:solidFill>
              </a:rPr>
              <a:t>[The few things that must work together.]</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46304" rIns="182880" bIns="54864"/>
          <a:lstStyle/>
          <a:p>
            <a:pPr algn="l">
              <a:spcAft>
                <a:spcPts val="600"/>
              </a:spcAft>
            </a:pPr>
            <a:r>
              <a:rPr sz="1100" b="1" i="0" cap="all" spc="60">
                <a:solidFill>
                  <a:srgbClr val="D6D6DF"/>
                </a:solidFill>
              </a:rPr>
              <a:t>What this unlocks</a:t>
            </a:r>
          </a:p>
          <a:p>
            <a:pPr algn="l">
              <a:spcAft>
                <a:spcPts val="500"/>
              </a:spcAft>
            </a:pPr>
            <a:r>
              <a:rPr sz="1000" b="0" i="1">
                <a:solidFill>
                  <a:srgbClr val="D6D6DF"/>
                </a:solidFill>
              </a:rPr>
              <a:t>[What becomes possible.]</a:t>
            </a:r>
          </a:p>
          <a:p>
            <a:pPr algn="l">
              <a:spcAft>
                <a:spcPts val="500"/>
              </a:spcAft>
            </a:pPr>
            <a:r>
              <a:rPr sz="1000" b="0" i="1">
                <a:solidFill>
                  <a:srgbClr val="D6D6DF"/>
                </a:solidFill>
              </a:rPr>
              <a:t>[What we stop doing.]</a:t>
            </a:r>
          </a:p>
          <a:p>
            <a:pPr algn="l">
              <a:spcBef>
                <a:spcPts val="500"/>
              </a:spcBef>
              <a:spcAft>
                <a:spcPts val="200"/>
              </a:spcAft>
            </a:pPr>
            <a:r>
              <a:rPr sz="1050" b="1" i="0">
                <a:solidFill>
                  <a:srgbClr val="FFFFFF"/>
                </a:solidFill>
              </a:rPr>
              <a:t>Beyond the MVP</a:t>
            </a:r>
          </a:p>
          <a:p>
            <a:pPr algn="l">
              <a:spcAft>
                <a:spcPts val="500"/>
              </a:spcAft>
            </a:pPr>
            <a:r>
              <a:rPr sz="1000" b="0" i="1">
                <a:solidFill>
                  <a:srgbClr val="D6D6DF"/>
                </a:solidFill>
              </a:rPr>
              <a:t>[What comes after.]</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70000" bIns="70000"/>
          <a:lstStyle/>
          <a:p>
            <a:pPr algn="l"/>
            <a:r>
              <a:rPr sz="900" b="1" i="0" cap="all" spc="100">
                <a:solidFill>
                  <a:srgbClr val="D6D6DF"/>
                </a:solidFill>
              </a:rPr>
              <a:t>KEY TAKEAWAY</a:t>
            </a:r>
          </a:p>
          <a:p>
            <a:pPr algn="l"/>
            <a:r>
              <a:rPr sz="1500" b="1" i="1">
                <a:solidFill>
                  <a:srgbClr val="FFFFFF"/>
                </a:solidFill>
              </a:rPr>
              <a:t>[One sentence: what matters most if we do nothing else.]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pic>
        <p:nvPicPr>
          <p:cNvPr id="5" name="Picture 4" descr="m_rail.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508600" y="868600"/>
            <a:ext cx="2640000" cy="2300000"/>
          </a:xfrm>
        </p:spPr>
        <p:txBody>
          <a:bodyPr/>
          <a:lstStyle/>
          <a:p>
            <a:r>
              <a:rPr sz="2400">
                <a:solidFill>
                  <a:srgbClr val="FFFFFF"/>
                </a:solidFill>
              </a:rPr>
              <a:t>[Priority name]</a:t>
            </a:r>
          </a:p>
        </p:txBody>
      </p:sp>
      <p:sp>
        <p:nvSpPr>
          <p:cNvPr id="4" name="Text Placeholder 3"/>
          <p:cNvSpPr>
            <a:spLocks noGrp="1"/>
          </p:cNvSpPr>
          <p:nvPr>
            <p:ph type="body" idx="12" sz="quarter"/>
          </p:nvPr>
        </p:nvSpPr>
        <p:spPr>
          <a:xfrm>
            <a:off x="508600" y="558600"/>
            <a:ext cx="2640000" cy="182880"/>
          </a:xfrm>
        </p:spPr>
        <p:txBody>
          <a:bodyPr/>
          <a:lstStyle/>
          <a:p>
            <a:r>
              <a:rPr>
                <a:solidFill>
                  <a:srgbClr val="0391F2"/>
                </a:solidFill>
              </a:rPr>
              <a:t>PRIORITY [NN] · UPDATE</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FFFFFF"/>
                </a:solidFill>
              </a:rPr>
              <a:t>[Names]</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What has been accomplished</a:t>
            </a:r>
          </a:p>
          <a:p>
            <a:pPr algn="l">
              <a:spcAft>
                <a:spcPts val="500"/>
              </a:spcAft>
            </a:pPr>
            <a:r>
              <a:rPr sz="1250" b="0" i="1">
                <a:solidFill>
                  <a:srgbClr val="60607D"/>
                </a:solidFill>
              </a:rPr>
              <a:t>[What has moved since last time. Use dates, not "recently".]</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Next milestones</a:t>
            </a:r>
          </a:p>
          <a:p>
            <a:pPr algn="l">
              <a:spcAft>
                <a:spcPts val="500"/>
              </a:spcAft>
            </a:pPr>
            <a:r>
              <a:rPr sz="1250" b="0" i="1">
                <a:solidFill>
                  <a:srgbClr val="60607D"/>
                </a:solidFill>
              </a:rPr>
              <a:t>[Next milestones, with real dates.]</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D6D6DF"/>
                </a:solidFill>
              </a:rPr>
              <a:t>What is in our way / what we need from you</a:t>
            </a:r>
          </a:p>
          <a:p>
            <a:pPr algn="l">
              <a:spcAft>
                <a:spcPts val="500"/>
              </a:spcAft>
            </a:pPr>
            <a:r>
              <a:rPr sz="1250" b="0" i="1">
                <a:solidFill>
                  <a:srgbClr val="D6D6DF"/>
                </a:solidFill>
              </a:rPr>
              <a:t>[What is in our way, including top risks and dependencies. And the specific ask: who, by when.]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pic>
        <p:nvPicPr>
          <p:cNvPr id="5" name="Picture 4" descr="m_hero.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[NN]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FFFFFF"/>
                </a:solidFill>
              </a:rPr>
              <a:t>[Names]</a:t>
            </a:r>
          </a:p>
        </p:txBody>
      </p:sp>
      <p:sp>
        <p:nvSpPr>
          <p:cNvPr id="8" name="Rounded Rectangle 7"/>
          <p:cNvSpPr/>
          <p:nvPr/>
        </p:nvSpPr>
        <p:spPr>
          <a:xfrm>
            <a:off x="457200" y="1170000"/>
            <a:ext cx="5000000" cy="28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274320" rIns="274320" bIns="182880"/>
          <a:lstStyle/>
          <a:p>
            <a:pPr algn="l">
              <a:spcAft>
                <a:spcPts val="200"/>
              </a:spcAft>
            </a:pPr>
            <a:r>
              <a:rPr sz="850" b="1" i="0" cap="all" spc="100">
                <a:solidFill>
                  <a:srgbClr val="D6D6DF"/>
                </a:solidFill>
              </a:rPr>
              <a:t>Why now</a:t>
            </a:r>
          </a:p>
          <a:p>
            <a:pPr algn="l">
              <a:spcAft>
                <a:spcPts val="600"/>
              </a:spcAft>
            </a:pPr>
            <a:r>
              <a:rPr sz="2000" b="1" i="0">
                <a:solidFill>
                  <a:srgbClr val="FFFFFF"/>
                </a:solidFill>
              </a:rPr>
              <a:t>[Why now, in one or two sentences. What does it cost us today?]</a:t>
            </a:r>
          </a:p>
        </p:txBody>
      </p:sp>
      <p:sp>
        <p:nvSpPr>
          <p:cNvPr id="9" name="Rounded Rectangle 8"/>
          <p:cNvSpPr/>
          <p:nvPr/>
        </p:nvSpPr>
        <p:spPr>
          <a:xfrm>
            <a:off x="5607200" y="1170000"/>
            <a:ext cx="6127600" cy="13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182880" rIns="228600" bIns="91440"/>
          <a:lstStyle/>
          <a:p>
            <a:pPr algn="l">
              <a:spcAft>
                <a:spcPts val="200"/>
              </a:spcAft>
            </a:pPr>
            <a:r>
              <a:rPr sz="850" b="1" i="0" cap="all" spc="100">
                <a:solidFill>
                  <a:srgbClr val="60607D"/>
                </a:solidFill>
              </a:rPr>
              <a:t>What's happening today</a:t>
            </a:r>
          </a:p>
          <a:p>
            <a:pPr algn="l">
              <a:spcAft>
                <a:spcPts val="500"/>
              </a:spcAft>
            </a:pPr>
            <a:r>
              <a:rPr sz="1200" b="0" i="1">
                <a:solidFill>
                  <a:srgbClr val="60607D"/>
                </a:solidFill>
              </a:rPr>
              <a:t>[What is happening today.]</a:t>
            </a:r>
          </a:p>
        </p:txBody>
      </p:sp>
      <p:sp>
        <p:nvSpPr>
          <p:cNvPr id="10" name="Rounded Rectangle 9"/>
          <p:cNvSpPr/>
          <p:nvPr/>
        </p:nvSpPr>
        <p:spPr>
          <a:xfrm>
            <a:off x="5607200" y="2670000"/>
            <a:ext cx="6127600" cy="13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182880" rIns="228600" bIns="91440"/>
          <a:lstStyle/>
          <a:p>
            <a:pPr algn="l">
              <a:spcAft>
                <a:spcPts val="200"/>
              </a:spcAft>
            </a:pPr>
            <a:r>
              <a:rPr sz="850" b="1" i="0" cap="all" spc="100">
                <a:solidFill>
                  <a:srgbClr val="60607D"/>
                </a:solidFill>
              </a:rPr>
              <a:t>And as a result</a:t>
            </a:r>
          </a:p>
          <a:p>
            <a:pPr algn="l">
              <a:spcAft>
                <a:spcPts val="500"/>
              </a:spcAft>
            </a:pPr>
            <a:r>
              <a:rPr sz="1200" b="0" i="1">
                <a:solidFill>
                  <a:srgbClr val="60607D"/>
                </a:solidFill>
              </a:rPr>
              <a:t>[And what that leads to.]</a:t>
            </a:r>
          </a:p>
        </p:txBody>
      </p:sp>
      <p:sp>
        <p:nvSpPr>
          <p:cNvPr id="11" name="TextBox 10"/>
          <p:cNvSpPr txBox="1"/>
          <p:nvPr/>
        </p:nvSpPr>
        <p:spPr>
          <a:xfrm>
            <a:off x="457200" y="4270000"/>
            <a:ext cx="2743200" cy="182880"/>
          </a:xfrm>
          <a:prstGeom prst="rect">
            <a:avLst/>
          </a:prstGeom>
          <a:noFill/>
        </p:spPr>
        <p:txBody>
          <a:bodyPr wrap="square" lIns="0" rIns="0" tIns="0" bIns="0" anchor="t">
            <a:spAutoFit/>
          </a:bodyPr>
          <a:lstStyle/>
          <a:p>
            <a:pPr algn="l">
              <a:spcAft>
                <a:spcPts val="600"/>
              </a:spcAft>
            </a:pPr>
            <a:r>
              <a:rPr sz="1100" b="1" i="0" cap="all" spc="60">
                <a:solidFill>
                  <a:srgbClr val="000000"/>
                </a:solidFill>
              </a:rPr>
              <a:t>So we need</a:t>
            </a:r>
          </a:p>
        </p:txBody>
      </p:sp>
      <p:sp>
        <p:nvSpPr>
          <p:cNvPr id="12" name="Rounded Rectangle 11"/>
          <p:cNvSpPr/>
          <p:nvPr/>
        </p:nvSpPr>
        <p:spPr>
          <a:xfrm>
            <a:off x="457200" y="4544320"/>
            <a:ext cx="3659200" cy="11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128016" rIns="182880" bIns="73152"/>
          <a:lstStyle/>
          <a:p>
            <a:pPr algn="l">
              <a:spcAft>
                <a:spcPts val="200"/>
              </a:spcAft>
            </a:pPr>
            <a:r>
              <a:rPr sz="850" b="1" i="0" cap="all" spc="100">
                <a:solidFill>
                  <a:srgbClr val="60607D"/>
                </a:solidFill>
              </a:rPr>
              <a:t>1</a:t>
            </a:r>
          </a:p>
          <a:p>
            <a:pPr algn="l">
              <a:spcAft>
                <a:spcPts val="500"/>
              </a:spcAft>
            </a:pPr>
            <a:r>
              <a:rPr sz="1250" b="0" i="1">
                <a:solidFill>
                  <a:srgbClr val="60607D"/>
                </a:solidFill>
              </a:rPr>
              <a:t>[What we need, first.]</a:t>
            </a:r>
          </a:p>
        </p:txBody>
      </p:sp>
      <p:sp>
        <p:nvSpPr>
          <p:cNvPr id="13" name="Rounded Rectangle 12"/>
          <p:cNvSpPr/>
          <p:nvPr/>
        </p:nvSpPr>
        <p:spPr>
          <a:xfrm>
            <a:off x="4266400" y="4544320"/>
            <a:ext cx="3659200" cy="11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128016" rIns="182880" bIns="73152"/>
          <a:lstStyle/>
          <a:p>
            <a:pPr algn="l">
              <a:spcAft>
                <a:spcPts val="200"/>
              </a:spcAft>
            </a:pPr>
            <a:r>
              <a:rPr sz="850" b="1" i="0" cap="all" spc="100">
                <a:solidFill>
                  <a:srgbClr val="60607D"/>
                </a:solidFill>
              </a:rPr>
              <a:t>2</a:t>
            </a:r>
          </a:p>
          <a:p>
            <a:pPr algn="l">
              <a:spcAft>
                <a:spcPts val="500"/>
              </a:spcAft>
            </a:pPr>
            <a:r>
              <a:rPr sz="1250" b="0" i="1">
                <a:solidFill>
                  <a:srgbClr val="60607D"/>
                </a:solidFill>
              </a:rPr>
              <a:t>[Then.]</a:t>
            </a:r>
          </a:p>
        </p:txBody>
      </p:sp>
      <p:sp>
        <p:nvSpPr>
          <p:cNvPr id="14" name="Rounded Rectangle 13"/>
          <p:cNvSpPr/>
          <p:nvPr/>
        </p:nvSpPr>
        <p:spPr>
          <a:xfrm>
            <a:off x="8075600" y="4544320"/>
            <a:ext cx="3659200" cy="11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128016" rIns="182880" bIns="73152"/>
          <a:lstStyle/>
          <a:p>
            <a:pPr algn="l">
              <a:spcAft>
                <a:spcPts val="200"/>
              </a:spcAft>
            </a:pPr>
            <a:r>
              <a:rPr sz="850" b="1" i="0" cap="all" spc="100">
                <a:solidFill>
                  <a:srgbClr val="60607D"/>
                </a:solidFill>
              </a:rPr>
              <a:t>3</a:t>
            </a:r>
          </a:p>
          <a:p>
            <a:pPr algn="l">
              <a:spcAft>
                <a:spcPts val="500"/>
              </a:spcAft>
            </a:pPr>
            <a:r>
              <a:rPr sz="1250" b="0" i="1">
                <a:solidFill>
                  <a:srgbClr val="60607D"/>
                </a:solidFill>
              </a:rPr>
              <a:t>[So that.]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pic>
        <p:nvPicPr>
          <p:cNvPr id="5" name="Picture 4" descr="m_hero.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MVP, then what comes after</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[NN]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FFFFFF"/>
                </a:solidFill>
              </a:rPr>
              <a:t>[Names]</a:t>
            </a:r>
          </a:p>
        </p:txBody>
      </p:sp>
      <p:sp>
        <p:nvSpPr>
          <p:cNvPr id="8" name="TextBox 7"/>
          <p:cNvSpPr txBox="1"/>
          <p:nvPr/>
        </p:nvSpPr>
        <p:spPr>
          <a:xfrm>
            <a:off x="457200" y="1150000"/>
            <a:ext cx="11277600" cy="640080"/>
          </a:xfrm>
          <a:prstGeom prst="rect">
            <a:avLst/>
          </a:prstGeom>
          <a:noFill/>
        </p:spPr>
        <p:txBody>
          <a:bodyPr wrap="square" lIns="0" rIns="0" tIns="0" bIns="0" anchor="t">
            <a:spAutoFit/>
          </a:bodyPr>
          <a:lstStyle/>
          <a:p>
            <a:pPr algn="l">
              <a:spcAft>
                <a:spcPts val="500"/>
              </a:spcAft>
            </a:pPr>
            <a:r>
              <a:rPr sz="1350" b="0" i="1">
                <a:solidFill>
                  <a:srgbClr val="60607D"/>
                </a:solidFill>
              </a:rPr>
              <a:t>[One or two sentences on what is changing.]</a:t>
            </a:r>
          </a:p>
        </p:txBody>
      </p:sp>
      <p:sp>
        <p:nvSpPr>
          <p:cNvPr id="9" name="TextBox 8"/>
          <p:cNvSpPr txBox="1"/>
          <p:nvPr/>
        </p:nvSpPr>
        <p:spPr>
          <a:xfrm>
            <a:off x="457200" y="1883232"/>
            <a:ext cx="7300000" cy="50292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MVP</a:t>
            </a:r>
          </a:p>
          <a:p>
            <a:pPr algn="l">
              <a:spcAft>
                <a:spcPts val="500"/>
              </a:spcAft>
            </a:pPr>
            <a:r>
              <a:rPr sz="1150" b="0" i="1">
                <a:solidFill>
                  <a:srgbClr val="60607D"/>
                </a:solidFill>
              </a:rPr>
              <a:t>[One line on how the MVP fits together.]</a:t>
            </a:r>
          </a:p>
        </p:txBody>
      </p:sp>
      <p:sp>
        <p:nvSpPr>
          <p:cNvPr id="10" name="Rounded Rectangle 9"/>
          <p:cNvSpPr/>
          <p:nvPr/>
        </p:nvSpPr>
        <p:spPr>
          <a:xfrm>
            <a:off x="457200" y="2450160"/>
            <a:ext cx="7300000" cy="830000"/>
          </a:xfrm>
          <a:prstGeom prst="roundRect">
            <a:avLst>
              <a:gd name="adj" fmla="val 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685800" tIns="91440" rIns="182880"/>
          <a:lstStyle/>
          <a:p>
            <a:pPr algn="l">
              <a:spcBef>
                <a:spcPts val="500"/>
              </a:spcBef>
              <a:spcAft>
                <a:spcPts val="200"/>
              </a:spcAft>
            </a:pPr>
            <a:r>
              <a:rPr sz="1200" b="1" i="0">
                <a:solidFill>
                  <a:srgbClr val="000000"/>
                </a:solidFill>
              </a:rPr>
              <a:t>[Item 1]</a:t>
            </a:r>
          </a:p>
          <a:p>
            <a:pPr algn="l">
              <a:spcAft>
                <a:spcPts val="500"/>
              </a:spcAft>
            </a:pPr>
            <a:r>
              <a:rPr sz="1150" b="0" i="1">
                <a:solidFill>
                  <a:srgbClr val="60607D"/>
                </a:solidFill>
              </a:rPr>
              <a:t>[In plain words.]</a:t>
            </a:r>
          </a:p>
        </p:txBody>
      </p:sp>
      <p:sp>
        <p:nvSpPr>
          <p:cNvPr id="11" name="Oval 10"/>
          <p:cNvSpPr/>
          <p:nvPr/>
        </p:nvSpPr>
        <p:spPr>
          <a:xfrm>
            <a:off x="640080" y="2682280"/>
            <a:ext cx="365760" cy="365760"/>
          </a:xfrm>
          <a:prstGeom prst="ellipse">
            <a:avLst/>
          </a:prstGeom>
          <a:solidFill>
            <a:srgbClr val="000000"/>
          </a:solidFill>
          <a:ln>
            <a:noFill/>
          </a:ln>
        </p:spPr>
        <p:txBody>
          <a:bodyPr rtlCol="0" anchor="ctr" lIns="0" rIns="0" tIns="0" bIns="0"/>
          <a:lstStyle/>
          <a:p>
            <a:pPr algn="ctr"/>
            <a:r>
              <a:rPr sz="1200" b="1" i="0">
                <a:solidFill>
                  <a:srgbClr val="FFFFFF"/>
                </a:solidFill>
              </a:rPr>
              <a:t>1</a:t>
            </a:r>
          </a:p>
        </p:txBody>
      </p:sp>
      <p:sp>
        <p:nvSpPr>
          <p:cNvPr id="12" name="Rounded Rectangle 11"/>
          <p:cNvSpPr/>
          <p:nvPr/>
        </p:nvSpPr>
        <p:spPr>
          <a:xfrm>
            <a:off x="457200" y="3360160"/>
            <a:ext cx="7300000" cy="830000"/>
          </a:xfrm>
          <a:prstGeom prst="roundRect">
            <a:avLst>
              <a:gd name="adj" fmla="val 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685800" tIns="91440" rIns="182880"/>
          <a:lstStyle/>
          <a:p>
            <a:pPr algn="l">
              <a:spcBef>
                <a:spcPts val="500"/>
              </a:spcBef>
              <a:spcAft>
                <a:spcPts val="200"/>
              </a:spcAft>
            </a:pPr>
            <a:r>
              <a:rPr sz="1200" b="1" i="0">
                <a:solidFill>
                  <a:srgbClr val="000000"/>
                </a:solidFill>
              </a:rPr>
              <a:t>[Item 2]</a:t>
            </a:r>
          </a:p>
          <a:p>
            <a:pPr algn="l">
              <a:spcAft>
                <a:spcPts val="500"/>
              </a:spcAft>
            </a:pPr>
            <a:r>
              <a:rPr sz="1150" b="0" i="1">
                <a:solidFill>
                  <a:srgbClr val="60607D"/>
                </a:solidFill>
              </a:rPr>
              <a:t>[In plain words.]</a:t>
            </a:r>
          </a:p>
        </p:txBody>
      </p:sp>
      <p:sp>
        <p:nvSpPr>
          <p:cNvPr id="13" name="Oval 12"/>
          <p:cNvSpPr/>
          <p:nvPr/>
        </p:nvSpPr>
        <p:spPr>
          <a:xfrm>
            <a:off x="640080" y="3592280"/>
            <a:ext cx="365760" cy="365760"/>
          </a:xfrm>
          <a:prstGeom prst="ellipse">
            <a:avLst/>
          </a:prstGeom>
          <a:solidFill>
            <a:srgbClr val="000000"/>
          </a:solidFill>
          <a:ln>
            <a:noFill/>
          </a:ln>
        </p:spPr>
        <p:txBody>
          <a:bodyPr rtlCol="0" anchor="ctr" lIns="0" rIns="0" tIns="0" bIns="0"/>
          <a:lstStyle/>
          <a:p>
            <a:pPr algn="ctr"/>
            <a:r>
              <a:rPr sz="1200" b="1" i="0">
                <a:solidFill>
                  <a:srgbClr val="FFFFFF"/>
                </a:solidFill>
              </a:rPr>
              <a:t>2</a:t>
            </a:r>
          </a:p>
        </p:txBody>
      </p:sp>
      <p:sp>
        <p:nvSpPr>
          <p:cNvPr id="14" name="Rounded Rectangle 13"/>
          <p:cNvSpPr/>
          <p:nvPr/>
        </p:nvSpPr>
        <p:spPr>
          <a:xfrm>
            <a:off x="457200" y="4270160"/>
            <a:ext cx="7300000" cy="830000"/>
          </a:xfrm>
          <a:prstGeom prst="roundRect">
            <a:avLst>
              <a:gd name="adj" fmla="val 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685800" tIns="91440" rIns="182880"/>
          <a:lstStyle/>
          <a:p>
            <a:pPr algn="l">
              <a:spcBef>
                <a:spcPts val="500"/>
              </a:spcBef>
              <a:spcAft>
                <a:spcPts val="200"/>
              </a:spcAft>
            </a:pPr>
            <a:r>
              <a:rPr sz="1200" b="1" i="0">
                <a:solidFill>
                  <a:srgbClr val="000000"/>
                </a:solidFill>
              </a:rPr>
              <a:t>[Item 3]</a:t>
            </a:r>
          </a:p>
          <a:p>
            <a:pPr algn="l">
              <a:spcAft>
                <a:spcPts val="500"/>
              </a:spcAft>
            </a:pPr>
            <a:r>
              <a:rPr sz="1150" b="0" i="1">
                <a:solidFill>
                  <a:srgbClr val="60607D"/>
                </a:solidFill>
              </a:rPr>
              <a:t>[In plain words.]</a:t>
            </a:r>
          </a:p>
        </p:txBody>
      </p:sp>
      <p:sp>
        <p:nvSpPr>
          <p:cNvPr id="15" name="Oval 14"/>
          <p:cNvSpPr/>
          <p:nvPr/>
        </p:nvSpPr>
        <p:spPr>
          <a:xfrm>
            <a:off x="640080" y="4502280"/>
            <a:ext cx="365760" cy="365760"/>
          </a:xfrm>
          <a:prstGeom prst="ellipse">
            <a:avLst/>
          </a:prstGeom>
          <a:solidFill>
            <a:srgbClr val="000000"/>
          </a:solidFill>
          <a:ln>
            <a:noFill/>
          </a:ln>
        </p:spPr>
        <p:txBody>
          <a:bodyPr rtlCol="0" anchor="ctr" lIns="0" rIns="0" tIns="0" bIns="0"/>
          <a:lstStyle/>
          <a:p>
            <a:pPr algn="ctr"/>
            <a:r>
              <a:rPr sz="1200" b="1" i="0">
                <a:solidFill>
                  <a:srgbClr val="FFFFFF"/>
                </a:solidFill>
              </a:rPr>
              <a:t>3</a:t>
            </a:r>
          </a:p>
        </p:txBody>
      </p:sp>
      <p:sp>
        <p:nvSpPr>
          <p:cNvPr id="16" name="Right Arrow 15"/>
          <p:cNvSpPr/>
          <p:nvPr/>
        </p:nvSpPr>
        <p:spPr>
          <a:xfrm>
            <a:off x="7797200" y="3625160"/>
            <a:ext cx="300000" cy="300000"/>
          </a:xfrm>
          <a:prstGeom prst="rightArrow">
            <a:avLst/>
          </a:prstGeom>
          <a:solidFill>
            <a:srgbClr val="D6D6DF"/>
          </a:solidFill>
          <a:ln>
            <a:noFill/>
          </a:ln>
        </p:spPr>
        <p:txBody>
          <a:bodyPr rtlCol="0" anchor="ctr"/>
          <a:lstStyle/>
          <a:p>
            <a:pPr algn="ctr"/>
          </a:p>
        </p:txBody>
      </p:sp>
      <p:sp>
        <p:nvSpPr>
          <p:cNvPr id="17" name="Rounded Rectangle 16"/>
          <p:cNvSpPr/>
          <p:nvPr/>
        </p:nvSpPr>
        <p:spPr>
          <a:xfrm>
            <a:off x="8177200" y="1883232"/>
            <a:ext cx="3557600" cy="3216928"/>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56032" tIns="228600" rIns="228600" bIns="137160"/>
          <a:lstStyle/>
          <a:p>
            <a:pPr algn="l">
              <a:spcAft>
                <a:spcPts val="600"/>
              </a:spcAft>
            </a:pPr>
            <a:r>
              <a:rPr sz="1100" b="1" i="0" cap="all" spc="60">
                <a:solidFill>
                  <a:srgbClr val="D6D6DF"/>
                </a:solidFill>
              </a:rPr>
              <a:t>After the MVP</a:t>
            </a:r>
          </a:p>
          <a:p>
            <a:pPr algn="l">
              <a:spcAft>
                <a:spcPts val="500"/>
              </a:spcAft>
            </a:pPr>
            <a:r>
              <a:rPr sz="1350" b="0" i="1">
                <a:solidFill>
                  <a:srgbClr val="D6D6DF"/>
                </a:solidFill>
              </a:rPr>
              <a:t>[What comes after the MVP. One or two sentences.]</a:t>
            </a:r>
          </a:p>
        </p:txBody>
      </p:sp>
      <p:sp>
        <p:nvSpPr>
          <p:cNvPr id="18" name="TextBox 17"/>
          <p:cNvSpPr txBox="1"/>
          <p:nvPr/>
        </p:nvSpPr>
        <p:spPr>
          <a:xfrm>
            <a:off x="457200" y="5250160"/>
            <a:ext cx="2743200" cy="182880"/>
          </a:xfrm>
          <a:prstGeom prst="rect">
            <a:avLst/>
          </a:prstGeom>
          <a:noFill/>
        </p:spPr>
        <p:txBody>
          <a:bodyPr wrap="square" lIns="0" rIns="0" tIns="0" bIns="0" anchor="t">
            <a:spAutoFit/>
          </a:bodyPr>
          <a:lstStyle/>
          <a:p>
            <a:pPr algn="l">
              <a:spcAft>
                <a:spcPts val="600"/>
              </a:spcAft>
            </a:pPr>
            <a:r>
              <a:rPr sz="1100" b="1" i="0" cap="all" spc="60">
                <a:solidFill>
                  <a:srgbClr val="000000"/>
                </a:solidFill>
              </a:rPr>
              <a:t>Four starting models</a:t>
            </a:r>
          </a:p>
        </p:txBody>
      </p:sp>
      <p:sp>
        <p:nvSpPr>
          <p:cNvPr id="19" name="Rounded Rectangle 18"/>
          <p:cNvSpPr/>
          <p:nvPr/>
        </p:nvSpPr>
        <p:spPr>
          <a:xfrm>
            <a:off x="457200" y="5497048"/>
            <a:ext cx="2759400" cy="365760"/>
          </a:xfrm>
          <a:prstGeom prst="roundRect">
            <a:avLst>
              <a:gd name="adj" fmla="val 50000"/>
            </a:avLst>
          </a:prstGeom>
          <a:solidFill>
            <a:srgbClr val="FFFFFF"/>
          </a:solidFill>
          <a:ln w="12700">
            <a:solidFill>
              <a:srgbClr val="000000"/>
            </a:solidFill>
          </a:ln>
        </p:spPr>
        <p:txBody>
          <a:bodyPr rtlCol="0" anchor="ctr" lIns="0" rIns="0" tIns="0" bIns="0"/>
          <a:lstStyle/>
          <a:p>
            <a:pPr algn="ctr"/>
            <a:r>
              <a:rPr sz="1100" b="0" i="1">
                <a:solidFill>
                  <a:srgbClr val="60607D"/>
                </a:solidFill>
              </a:rPr>
              <a:t>[Optional]</a:t>
            </a:r>
          </a:p>
        </p:txBody>
      </p:sp>
      <p:sp>
        <p:nvSpPr>
          <p:cNvPr id="20" name="Rounded Rectangle 19"/>
          <p:cNvSpPr/>
          <p:nvPr/>
        </p:nvSpPr>
        <p:spPr>
          <a:xfrm>
            <a:off x="3296600" y="5497048"/>
            <a:ext cx="2759400" cy="365760"/>
          </a:xfrm>
          <a:prstGeom prst="roundRect">
            <a:avLst>
              <a:gd name="adj" fmla="val 50000"/>
            </a:avLst>
          </a:prstGeom>
          <a:solidFill>
            <a:srgbClr val="FFFFFF"/>
          </a:solidFill>
          <a:ln w="12700">
            <a:solidFill>
              <a:srgbClr val="000000"/>
            </a:solidFill>
          </a:ln>
        </p:spPr>
        <p:txBody>
          <a:bodyPr rtlCol="0" anchor="ctr" lIns="0" rIns="0" tIns="0" bIns="0"/>
          <a:lstStyle/>
          <a:p>
            <a:pPr algn="ctr"/>
            <a:r>
              <a:rPr sz="1100" b="0" i="1">
                <a:solidFill>
                  <a:srgbClr val="60607D"/>
                </a:solidFill>
              </a:rPr>
              <a:t>[Optional]</a:t>
            </a:r>
          </a:p>
        </p:txBody>
      </p:sp>
      <p:sp>
        <p:nvSpPr>
          <p:cNvPr id="21" name="Rounded Rectangle 20"/>
          <p:cNvSpPr/>
          <p:nvPr/>
        </p:nvSpPr>
        <p:spPr>
          <a:xfrm>
            <a:off x="6136000" y="5497048"/>
            <a:ext cx="2759400" cy="365760"/>
          </a:xfrm>
          <a:prstGeom prst="roundRect">
            <a:avLst>
              <a:gd name="adj" fmla="val 50000"/>
            </a:avLst>
          </a:prstGeom>
          <a:solidFill>
            <a:srgbClr val="FFFFFF"/>
          </a:solidFill>
          <a:ln w="12700">
            <a:solidFill>
              <a:srgbClr val="000000"/>
            </a:solidFill>
          </a:ln>
        </p:spPr>
        <p:txBody>
          <a:bodyPr rtlCol="0" anchor="ctr" lIns="0" rIns="0" tIns="0" bIns="0"/>
          <a:lstStyle/>
          <a:p>
            <a:pPr algn="ctr"/>
            <a:r>
              <a:rPr sz="1100" b="0" i="1">
                <a:solidFill>
                  <a:srgbClr val="60607D"/>
                </a:solidFill>
              </a:rPr>
              <a:t>[Optional]</a:t>
            </a:r>
          </a:p>
        </p:txBody>
      </p:sp>
      <p:sp>
        <p:nvSpPr>
          <p:cNvPr id="22" name="Rounded Rectangle 21"/>
          <p:cNvSpPr/>
          <p:nvPr/>
        </p:nvSpPr>
        <p:spPr>
          <a:xfrm>
            <a:off x="8975400" y="5497048"/>
            <a:ext cx="2759400" cy="365760"/>
          </a:xfrm>
          <a:prstGeom prst="roundRect">
            <a:avLst>
              <a:gd name="adj" fmla="val 50000"/>
            </a:avLst>
          </a:prstGeom>
          <a:solidFill>
            <a:srgbClr val="FFFFFF"/>
          </a:solidFill>
          <a:ln w="12700">
            <a:solidFill>
              <a:srgbClr val="000000"/>
            </a:solidFill>
          </a:ln>
        </p:spPr>
        <p:txBody>
          <a:bodyPr rtlCol="0" anchor="ctr" lIns="0" rIns="0" tIns="0" bIns="0"/>
          <a:lstStyle/>
          <a:p>
            <a:pPr algn="ctr"/>
            <a:r>
              <a:rPr sz="1100" b="0" i="1">
                <a:solidFill>
                  <a:srgbClr val="60607D"/>
                </a:solidFill>
              </a:rPr>
              <a:t>[Optional]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pic>
        <p:nvPicPr>
          <p:cNvPr id="5" name="Picture 4" descr="m_hero.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we'll know it's working</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[NN] · CLICK-DOWN · WHAT THIS UNLOCKS</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FFFFFF"/>
                </a:solidFill>
              </a:rPr>
              <a:t>[Names]</a:t>
            </a:r>
          </a:p>
        </p:txBody>
      </p:sp>
      <p:sp>
        <p:nvSpPr>
          <p:cNvPr id="8" name="Rounded Rectangle 7"/>
          <p:cNvSpPr/>
          <p:nvPr/>
        </p:nvSpPr>
        <p:spPr>
          <a:xfrm>
            <a:off x="457200" y="1170000"/>
            <a:ext cx="5300000" cy="49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274320" rIns="274320" bIns="182880"/>
          <a:lstStyle/>
          <a:p>
            <a:pPr algn="l">
              <a:spcAft>
                <a:spcPts val="600"/>
              </a:spcAft>
            </a:pPr>
            <a:r>
              <a:rPr sz="1100" b="1" i="0" cap="all" spc="60">
                <a:solidFill>
                  <a:srgbClr val="D6D6DF"/>
                </a:solidFill>
              </a:rPr>
              <a:t>What we'll see when it's working</a:t>
            </a:r>
          </a:p>
          <a:p>
            <a:pPr algn="l">
              <a:spcAft>
                <a:spcPts val="500"/>
              </a:spcAft>
            </a:pPr>
            <a:r>
              <a:rPr sz="1450" b="0" i="1">
                <a:solidFill>
                  <a:srgbClr val="D6D6DF"/>
                </a:solidFill>
              </a:rPr>
              <a:t>[What we would see if this is working.]</a:t>
            </a:r>
          </a:p>
          <a:p>
            <a:pPr algn="l">
              <a:spcAft>
                <a:spcPts val="500"/>
              </a:spcAft>
            </a:pPr>
            <a:r>
              <a:rPr sz="1500" b="0" i="0">
                <a:solidFill>
                  <a:srgbClr val="FFFFFF"/>
                </a:solidFill>
              </a:rPr>
              <a:t/>
            </a:r>
          </a:p>
          <a:p>
            <a:pPr algn="l">
              <a:spcAft>
                <a:spcPts val="500"/>
              </a:spcAft>
            </a:pPr>
            <a:r>
              <a:rPr sz="1450" b="0" i="1">
                <a:solidFill>
                  <a:srgbClr val="D6D6DF"/>
                </a:solidFill>
              </a:rPr>
              <a:t>[And this.]</a:t>
            </a:r>
          </a:p>
          <a:p>
            <a:pPr algn="l">
              <a:spcAft>
                <a:spcPts val="500"/>
              </a:spcAft>
            </a:pPr>
            <a:r>
              <a:rPr sz="1500" b="0" i="0">
                <a:solidFill>
                  <a:srgbClr val="FFFFFF"/>
                </a:solidFill>
              </a:rPr>
              <a:t/>
            </a:r>
          </a:p>
          <a:p>
            <a:pPr algn="l">
              <a:spcAft>
                <a:spcPts val="500"/>
              </a:spcAft>
            </a:pPr>
            <a:r>
              <a:rPr sz="1450" b="0" i="1">
                <a:solidFill>
                  <a:srgbClr val="D6D6DF"/>
                </a:solidFill>
              </a:rPr>
              <a:t>[And this.]</a:t>
            </a:r>
          </a:p>
        </p:txBody>
      </p:sp>
      <p:sp>
        <p:nvSpPr>
          <p:cNvPr id="9" name="TextBox 8"/>
          <p:cNvSpPr txBox="1"/>
          <p:nvPr/>
        </p:nvSpPr>
        <p:spPr>
          <a:xfrm>
            <a:off x="5907200" y="1170000"/>
            <a:ext cx="5827600" cy="228600"/>
          </a:xfrm>
          <a:prstGeom prst="rect">
            <a:avLst/>
          </a:prstGeom>
          <a:noFill/>
        </p:spPr>
        <p:txBody>
          <a:bodyPr wrap="square" lIns="0" rIns="0" tIns="0" bIns="0" anchor="t">
            <a:spAutoFit/>
          </a:bodyPr>
          <a:lstStyle/>
          <a:p>
            <a:pPr algn="l">
              <a:spcAft>
                <a:spcPts val="600"/>
              </a:spcAft>
            </a:pPr>
            <a:r>
              <a:rPr sz="1100" b="1" i="0" cap="all" spc="60">
                <a:solidFill>
                  <a:srgbClr val="000000"/>
                </a:solidFill>
              </a:rPr>
              <a:t>Who's on it</a:t>
            </a:r>
          </a:p>
        </p:txBody>
      </p:sp>
      <p:sp>
        <p:nvSpPr>
          <p:cNvPr id="10" name="Rounded Rectangle 9"/>
          <p:cNvSpPr/>
          <p:nvPr/>
        </p:nvSpPr>
        <p:spPr>
          <a:xfrm>
            <a:off x="5907200" y="1462608"/>
            <a:ext cx="5827600" cy="10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164592" rIns="182880"/>
          <a:lstStyle/>
          <a:p>
            <a:pPr algn="l">
              <a:spcAft>
                <a:spcPts val="200"/>
              </a:spcAft>
            </a:pPr>
            <a:r>
              <a:rPr sz="850" b="1" i="0" cap="all" spc="100">
                <a:solidFill>
                  <a:srgbClr val="60607D"/>
                </a:solidFill>
              </a:rPr>
              <a:t>Owners</a:t>
            </a:r>
          </a:p>
        </p:txBody>
      </p:sp>
      <p:sp>
        <p:nvSpPr>
          <p:cNvPr id="11" name="Rounded Rectangle 10"/>
          <p:cNvSpPr/>
          <p:nvPr/>
        </p:nvSpPr>
        <p:spPr>
          <a:xfrm>
            <a:off x="6135800" y="1874088"/>
            <a:ext cx="760780"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0" i="1">
                <a:solidFill>
                  <a:srgbClr val="60607D"/>
                </a:solidFill>
              </a:rPr>
              <a:t>[Owner]</a:t>
            </a:r>
          </a:p>
        </p:txBody>
      </p:sp>
      <p:sp>
        <p:nvSpPr>
          <p:cNvPr id="12" name="Rounded Rectangle 11"/>
          <p:cNvSpPr/>
          <p:nvPr/>
        </p:nvSpPr>
        <p:spPr>
          <a:xfrm>
            <a:off x="6978876" y="1874088"/>
            <a:ext cx="760780"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0" i="1">
                <a:solidFill>
                  <a:srgbClr val="60607D"/>
                </a:solidFill>
              </a:rPr>
              <a:t>[Owner]</a:t>
            </a:r>
          </a:p>
        </p:txBody>
      </p:sp>
      <p:sp>
        <p:nvSpPr>
          <p:cNvPr id="13" name="Rounded Rectangle 12"/>
          <p:cNvSpPr/>
          <p:nvPr/>
        </p:nvSpPr>
        <p:spPr>
          <a:xfrm>
            <a:off x="5907200" y="2662608"/>
            <a:ext cx="5827600" cy="10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164592" rIns="182880"/>
          <a:lstStyle/>
          <a:p>
            <a:pPr algn="l">
              <a:spcAft>
                <a:spcPts val="200"/>
              </a:spcAft>
            </a:pPr>
            <a:r>
              <a:rPr sz="850" b="1" i="0" cap="all" spc="100">
                <a:solidFill>
                  <a:srgbClr val="60607D"/>
                </a:solidFill>
              </a:rPr>
              <a:t>Working on it now</a:t>
            </a:r>
          </a:p>
        </p:txBody>
      </p:sp>
      <p:sp>
        <p:nvSpPr>
          <p:cNvPr id="14" name="Rounded Rectangle 13"/>
          <p:cNvSpPr/>
          <p:nvPr/>
        </p:nvSpPr>
        <p:spPr>
          <a:xfrm>
            <a:off x="6135800" y="3074088"/>
            <a:ext cx="1872691"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0" i="1">
                <a:solidFill>
                  <a:srgbClr val="60607D"/>
                </a:solidFill>
              </a:rPr>
              <a:t>[Who is doing the work]</a:t>
            </a:r>
          </a:p>
        </p:txBody>
      </p:sp>
      <p:sp>
        <p:nvSpPr>
          <p:cNvPr id="15" name="Rounded Rectangle 14"/>
          <p:cNvSpPr/>
          <p:nvPr/>
        </p:nvSpPr>
        <p:spPr>
          <a:xfrm>
            <a:off x="5907200" y="3862608"/>
            <a:ext cx="582760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164592" rIns="182880"/>
          <a:lstStyle/>
          <a:p>
            <a:pPr algn="l">
              <a:spcAft>
                <a:spcPts val="200"/>
              </a:spcAft>
            </a:pPr>
            <a:r>
              <a:rPr sz="850" b="1" i="0" cap="all" spc="100">
                <a:solidFill>
                  <a:srgbClr val="60607D"/>
                </a:solidFill>
              </a:rPr>
              <a:t>Partners</a:t>
            </a:r>
          </a:p>
        </p:txBody>
      </p:sp>
      <p:sp>
        <p:nvSpPr>
          <p:cNvPr id="16" name="Rounded Rectangle 15"/>
          <p:cNvSpPr/>
          <p:nvPr/>
        </p:nvSpPr>
        <p:spPr>
          <a:xfrm>
            <a:off x="6135800" y="4274088"/>
            <a:ext cx="899769"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0" i="1">
                <a:solidFill>
                  <a:srgbClr val="60607D"/>
                </a:solidFill>
              </a:rPr>
              <a:t>[Partner]</a:t>
            </a:r>
          </a:p>
        </p:txBody>
      </p:sp>
      <p:sp>
        <p:nvSpPr>
          <p:cNvPr id="17" name="Rounded Rectangle 16"/>
          <p:cNvSpPr/>
          <p:nvPr/>
        </p:nvSpPr>
        <p:spPr>
          <a:xfrm>
            <a:off x="7117865" y="4274088"/>
            <a:ext cx="899769"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0" i="1">
                <a:solidFill>
                  <a:srgbClr val="60607D"/>
                </a:solidFill>
              </a:rPr>
              <a:t>[Partner]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itle 2"/>
          <p:cNvSpPr>
            <a:spLocks noGrp="1"/>
          </p:cNvSpPr>
          <p:nvPr>
            <p:ph type="title"/>
          </p:nvPr>
        </p:nvSpPr>
        <p:spPr>
          <a:xfrm>
            <a:off x="457200" y="520000"/>
            <a:ext cx="10000000" cy="560000"/>
          </a:xfrm>
        </p:spPr>
        <p:txBody>
          <a:bodyPr/>
          <a:lstStyle/>
          <a:p>
            <a:r>
              <a:rPr sz="2800"/>
              <a:t>One pattern for every priority</a:t>
            </a:r>
          </a:p>
        </p:txBody>
      </p:sp>
      <p:sp>
        <p:nvSpPr>
          <p:cNvPr id="4" name="Text Placeholder 3"/>
          <p:cNvSpPr>
            <a:spLocks noGrp="1"/>
          </p:cNvSpPr>
          <p:nvPr>
            <p:ph type="body" idx="12" sz="quarter"/>
          </p:nvPr>
        </p:nvSpPr>
        <p:spPr>
          <a:xfrm>
            <a:off x="457200" y="330000"/>
            <a:ext cx="8000000" cy="182880"/>
          </a:xfrm>
        </p:spPr>
        <p:txBody>
          <a:bodyPr/>
          <a:lstStyle/>
          <a:p>
            <a:r>
              <a:t>HOW THIS MASTER WORKS</a:t>
            </a:r>
          </a:p>
        </p:txBody>
      </p:sp>
      <p:sp>
        <p:nvSpPr>
          <p:cNvPr id="5" name="Rounded Rectangle 4"/>
          <p:cNvSpPr/>
          <p:nvPr/>
        </p:nvSpPr>
        <p:spPr>
          <a:xfrm>
            <a:off x="457200" y="1371600"/>
            <a:ext cx="2175520" cy="219456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164592" tIns="155448" rIns="128016" bIns="91440"/>
          <a:lstStyle/>
          <a:p>
            <a:pPr algn="l">
              <a:spcAft>
                <a:spcPts val="600"/>
              </a:spcAft>
            </a:pPr>
            <a:r>
              <a:rPr sz="1400" b="1" i="0">
                <a:solidFill>
                  <a:srgbClr val="FFFFFF"/>
                </a:solidFill>
              </a:rPr>
              <a:t>1</a:t>
            </a:r>
          </a:p>
          <a:p>
            <a:pPr algn="l">
              <a:spcBef>
                <a:spcPts val="500"/>
              </a:spcBef>
              <a:spcAft>
                <a:spcPts val="200"/>
              </a:spcAft>
            </a:pPr>
            <a:r>
              <a:rPr sz="1200" b="1" i="0">
                <a:solidFill>
                  <a:srgbClr val="FFFFFF"/>
                </a:solidFill>
              </a:rPr>
              <a:t>Exec summary</a:t>
            </a:r>
          </a:p>
          <a:p>
            <a:pPr algn="l">
              <a:spcAft>
                <a:spcPts val="500"/>
              </a:spcAft>
            </a:pPr>
            <a:r>
              <a:rPr sz="1200" b="0" i="0">
                <a:solidFill>
                  <a:srgbClr val="FFFFFF"/>
                </a:solidFill>
              </a:rPr>
              <a:t>The Play to Win context slide: goal, problem, what we are changing, what this unlocks. One takeaway.</a:t>
            </a:r>
          </a:p>
        </p:txBody>
      </p:sp>
      <p:sp>
        <p:nvSpPr>
          <p:cNvPr id="6" name="Rounded Rectangle 5"/>
          <p:cNvSpPr/>
          <p:nvPr/>
        </p:nvSpPr>
        <p:spPr>
          <a:xfrm>
            <a:off x="2732720" y="1371600"/>
            <a:ext cx="2175520" cy="219456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164592" tIns="155448" rIns="128016" bIns="91440"/>
          <a:lstStyle/>
          <a:p>
            <a:pPr algn="l">
              <a:spcAft>
                <a:spcPts val="600"/>
              </a:spcAft>
            </a:pPr>
            <a:r>
              <a:rPr sz="1400" b="1" i="0">
                <a:solidFill>
                  <a:srgbClr val="FFFFFF"/>
                </a:solidFill>
              </a:rPr>
              <a:t>2</a:t>
            </a:r>
          </a:p>
          <a:p>
            <a:pPr algn="l">
              <a:spcBef>
                <a:spcPts val="500"/>
              </a:spcBef>
              <a:spcAft>
                <a:spcPts val="200"/>
              </a:spcAft>
            </a:pPr>
            <a:r>
              <a:rPr sz="1200" b="1" i="0">
                <a:solidFill>
                  <a:srgbClr val="FFFFFF"/>
                </a:solidFill>
              </a:rPr>
              <a:t>Update</a:t>
            </a:r>
          </a:p>
          <a:p>
            <a:pPr algn="l">
              <a:spcAft>
                <a:spcPts val="500"/>
              </a:spcAft>
            </a:pPr>
            <a:r>
              <a:rPr sz="1200" b="0" i="0">
                <a:solidFill>
                  <a:srgbClr val="FFFFFF"/>
                </a:solidFill>
              </a:rPr>
              <a:t>The Play to Win update slide: what moved, what is next, what we need from you.</a:t>
            </a:r>
          </a:p>
        </p:txBody>
      </p:sp>
      <p:sp>
        <p:nvSpPr>
          <p:cNvPr id="7" name="Rounded Rectangle 6"/>
          <p:cNvSpPr/>
          <p:nvPr/>
        </p:nvSpPr>
        <p:spPr>
          <a:xfrm>
            <a:off x="5008240" y="1371600"/>
            <a:ext cx="2175520" cy="21945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155448" rIns="128016" bIns="91440"/>
          <a:lstStyle/>
          <a:p>
            <a:pPr algn="l">
              <a:spcAft>
                <a:spcPts val="600"/>
              </a:spcAft>
            </a:pPr>
            <a:r>
              <a:rPr sz="1400" b="1" i="0">
                <a:solidFill>
                  <a:srgbClr val="000000"/>
                </a:solidFill>
              </a:rPr>
              <a:t>3</a:t>
            </a:r>
          </a:p>
          <a:p>
            <a:pPr algn="l">
              <a:spcBef>
                <a:spcPts val="500"/>
              </a:spcBef>
              <a:spcAft>
                <a:spcPts val="200"/>
              </a:spcAft>
            </a:pPr>
            <a:r>
              <a:rPr sz="1200" b="1" i="0">
                <a:solidFill>
                  <a:srgbClr val="000000"/>
                </a:solidFill>
              </a:rPr>
              <a:t>Why now</a:t>
            </a:r>
          </a:p>
          <a:p>
            <a:pPr algn="l">
              <a:spcAft>
                <a:spcPts val="500"/>
              </a:spcAft>
            </a:pPr>
            <a:r>
              <a:rPr sz="1200" b="0" i="0">
                <a:solidFill>
                  <a:srgbClr val="000000"/>
                </a:solidFill>
              </a:rPr>
              <a:t>Click-down from the problem.</a:t>
            </a:r>
          </a:p>
        </p:txBody>
      </p:sp>
      <p:sp>
        <p:nvSpPr>
          <p:cNvPr id="8" name="Rounded Rectangle 7"/>
          <p:cNvSpPr/>
          <p:nvPr/>
        </p:nvSpPr>
        <p:spPr>
          <a:xfrm>
            <a:off x="7283760" y="1371600"/>
            <a:ext cx="2175520" cy="21945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155448" rIns="128016" bIns="91440"/>
          <a:lstStyle/>
          <a:p>
            <a:pPr algn="l">
              <a:spcAft>
                <a:spcPts val="600"/>
              </a:spcAft>
            </a:pPr>
            <a:r>
              <a:rPr sz="1400" b="1" i="0">
                <a:solidFill>
                  <a:srgbClr val="000000"/>
                </a:solidFill>
              </a:rPr>
              <a:t>4</a:t>
            </a:r>
          </a:p>
          <a:p>
            <a:pPr algn="l">
              <a:spcBef>
                <a:spcPts val="500"/>
              </a:spcBef>
              <a:spcAft>
                <a:spcPts val="200"/>
              </a:spcAft>
            </a:pPr>
            <a:r>
              <a:rPr sz="1200" b="1" i="0">
                <a:solidFill>
                  <a:srgbClr val="000000"/>
                </a:solidFill>
              </a:rPr>
              <a:t>MVP, then what comes after</a:t>
            </a:r>
          </a:p>
          <a:p>
            <a:pPr algn="l">
              <a:spcAft>
                <a:spcPts val="500"/>
              </a:spcAft>
            </a:pPr>
            <a:r>
              <a:rPr sz="1200" b="0" i="0">
                <a:solidFill>
                  <a:srgbClr val="000000"/>
                </a:solidFill>
              </a:rPr>
              <a:t>Click-down from what we are changing.</a:t>
            </a:r>
          </a:p>
        </p:txBody>
      </p:sp>
      <p:sp>
        <p:nvSpPr>
          <p:cNvPr id="9" name="Rounded Rectangle 8"/>
          <p:cNvSpPr/>
          <p:nvPr/>
        </p:nvSpPr>
        <p:spPr>
          <a:xfrm>
            <a:off x="9559280" y="1371600"/>
            <a:ext cx="2175520" cy="21945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64592" tIns="155448" rIns="128016" bIns="91440"/>
          <a:lstStyle/>
          <a:p>
            <a:pPr algn="l">
              <a:spcAft>
                <a:spcPts val="600"/>
              </a:spcAft>
            </a:pPr>
            <a:r>
              <a:rPr sz="1400" b="1" i="0">
                <a:solidFill>
                  <a:srgbClr val="000000"/>
                </a:solidFill>
              </a:rPr>
              <a:t>5</a:t>
            </a:r>
          </a:p>
          <a:p>
            <a:pPr algn="l">
              <a:spcBef>
                <a:spcPts val="500"/>
              </a:spcBef>
              <a:spcAft>
                <a:spcPts val="200"/>
              </a:spcAft>
            </a:pPr>
            <a:r>
              <a:rPr sz="1200" b="1" i="0">
                <a:solidFill>
                  <a:srgbClr val="000000"/>
                </a:solidFill>
              </a:rPr>
              <a:t>How we'll know, and who's on it</a:t>
            </a:r>
          </a:p>
          <a:p>
            <a:pPr algn="l">
              <a:spcAft>
                <a:spcPts val="500"/>
              </a:spcAft>
            </a:pPr>
            <a:r>
              <a:rPr sz="1200" b="0" i="0">
                <a:solidFill>
                  <a:srgbClr val="000000"/>
                </a:solidFill>
              </a:rPr>
              <a:t>Click-down from what this unlocks. Plain statements, not KPIs.</a:t>
            </a:r>
          </a:p>
        </p:txBody>
      </p:sp>
      <p:sp>
        <p:nvSpPr>
          <p:cNvPr id="10" name="Rounded Rectangle 9"/>
          <p:cNvSpPr/>
          <p:nvPr/>
        </p:nvSpPr>
        <p:spPr>
          <a:xfrm>
            <a:off x="457200" y="3794760"/>
            <a:ext cx="11277600" cy="214884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82880" tIns="155448" rIns="182880" bIns="73152"/>
          <a:lstStyle/>
          <a:p>
            <a:pPr algn="l">
              <a:spcAft>
                <a:spcPts val="600"/>
              </a:spcAft>
            </a:pPr>
            <a:r>
              <a:rPr sz="1100" b="1" i="0" cap="all" spc="60">
                <a:solidFill>
                  <a:srgbClr val="000000"/>
                </a:solidFill>
              </a:rPr>
              <a:t>Rules</a:t>
            </a:r>
          </a:p>
          <a:p>
            <a:pPr algn="l" marL="171450" indent="-171450">
              <a:spcAft>
                <a:spcPts val="500"/>
              </a:spcAft>
              <a:buFont typeface="Arial"/>
              <a:buChar char="•"/>
            </a:pPr>
            <a:r>
              <a:rPr sz="1200" b="0" i="0">
                <a:solidFill>
                  <a:srgbClr val="000000"/>
                </a:solidFill>
              </a:rPr>
              <a:t>The exec summary and update are the Play to Win slides. The three click-downs open up the exec summary headers, one each.</a:t>
            </a:r>
          </a:p>
          <a:p>
            <a:pPr algn="l" marL="171450" indent="-171450">
              <a:spcAft>
                <a:spcPts val="500"/>
              </a:spcAft>
              <a:buFont typeface="Arial"/>
              <a:buChar char="•"/>
            </a:pPr>
            <a:r>
              <a:rPr sz="1200" b="0" i="0">
                <a:solidFill>
                  <a:srgbClr val="000000"/>
                </a:solidFill>
              </a:rPr>
              <a:t>Four slides after the exec summary at most. Delete any you do not need.</a:t>
            </a:r>
          </a:p>
          <a:p>
            <a:pPr algn="l" marL="171450" indent="-171450">
              <a:spcAft>
                <a:spcPts val="500"/>
              </a:spcAft>
              <a:buFont typeface="Arial"/>
              <a:buChar char="•"/>
            </a:pPr>
            <a:r>
              <a:rPr sz="1200" b="0" i="0">
                <a:solidFill>
                  <a:srgbClr val="000000"/>
                </a:solidFill>
              </a:rPr>
              <a:t>Risks and dependencies go in the update, under what is in our way. Not in the click-downs.</a:t>
            </a:r>
          </a:p>
          <a:p>
            <a:pPr algn="l" marL="171450" indent="-171450">
              <a:spcAft>
                <a:spcPts val="500"/>
              </a:spcAft>
              <a:buFont typeface="Arial"/>
              <a:buChar char="•"/>
            </a:pPr>
            <a:r>
              <a:rPr sz="1200" b="0" i="0">
                <a:solidFill>
                  <a:srgbClr val="000000"/>
                </a:solidFill>
              </a:rPr>
              <a:t>One image per priority, used on every slide of it and in every deck it appears in.</a:t>
            </a:r>
          </a:p>
          <a:p>
            <a:pPr algn="l" marL="171450" indent="-171450">
              <a:spcAft>
                <a:spcPts val="500"/>
              </a:spcAft>
              <a:buFont typeface="Arial"/>
              <a:buChar char="•"/>
            </a:pPr>
            <a:r>
              <a:rPr sz="1200" b="0" i="0">
                <a:solidFill>
                  <a:srgbClr val="000000"/>
                </a:solidFill>
              </a:rPr>
              <a:t>Do not have the content yet? Keep the slide and leave the bracketed prompt. An honest gap beats a vague line.</a:t>
            </a:r>
          </a:p>
        </p:txBody>
      </p:sp>
    </p:spTree>
  </p:cSld>
  <p:clrMapOvr>
    <a:masterClrMapping/>
  </p:clrMapOvr>
</p:sld>
</file>

<file path=ppt/theme/theme1.xml><?xml version="1.0" encoding="utf-8"?>
<a:theme xmlns:a="http://schemas.openxmlformats.org/drawingml/2006/main" name="COLLABORATIVE WIREFRAME - 2025">
  <a:themeElements>
    <a:clrScheme name="Merkle_2025_v2">
      <a:dk1>
        <a:srgbClr val="FFFFFF"/>
      </a:dk1>
      <a:lt1>
        <a:srgbClr val="000000"/>
      </a:lt1>
      <a:dk2>
        <a:srgbClr val="D6D6DF"/>
      </a:dk2>
      <a:lt2>
        <a:srgbClr val="8888A1"/>
      </a:lt2>
      <a:accent1>
        <a:srgbClr val="040E4B"/>
      </a:accent1>
      <a:accent2>
        <a:srgbClr val="0391F2"/>
      </a:accent2>
      <a:accent3>
        <a:srgbClr val="031FA3"/>
      </a:accent3>
      <a:accent4>
        <a:srgbClr val="0328D1"/>
      </a:accent4>
      <a:accent5>
        <a:srgbClr val="60607D"/>
      </a:accent5>
      <a:accent6>
        <a:srgbClr val="DD3038"/>
      </a:accent6>
      <a:hlink>
        <a:srgbClr val="0228D0"/>
      </a:hlink>
      <a:folHlink>
        <a:srgbClr val="0291F1"/>
      </a:folHlink>
    </a:clrScheme>
    <a:fontScheme name="Proxima test">
      <a:majorFont>
        <a:latin typeface="Proxima Nova"/>
        <a:ea typeface=""/>
        <a:cs typeface=""/>
      </a:majorFont>
      <a:minorFont>
        <a:latin typeface="Proxima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spcAft>
            <a:spcPts val="600"/>
          </a:spcAft>
          <a:defRPr sz="1400" dirty="0" smtClean="0"/>
        </a:defPPr>
      </a:lstStyle>
    </a:txDef>
  </a:objectDefaults>
  <a:extraClrSchemeLst/>
  <a:custClrLst>
    <a:custClr name="Deep Blue">
      <a:srgbClr val="000033"/>
    </a:custClr>
    <a:custClr name="Merkle Blue">
      <a:srgbClr val="040E4B"/>
    </a:custClr>
    <a:custClr name="Gulf Blue">
      <a:srgbClr val="041677"/>
    </a:custClr>
    <a:custClr name="Klein">
      <a:srgbClr val="031FA4"/>
    </a:custClr>
    <a:custClr name="Cobalt">
      <a:srgbClr val="0328D1"/>
    </a:custClr>
    <a:custClr name="Sky Blue">
      <a:srgbClr val="0391F2"/>
    </a:custClr>
    <a:custClr name="White">
      <a:srgbClr val="FFFFFF"/>
    </a:custClr>
    <a:custClr name="White">
      <a:srgbClr val="FFFFFF"/>
    </a:custClr>
    <a:custClr name="White">
      <a:srgbClr val="FFFFFF"/>
    </a:custClr>
    <a:custClr name="White">
      <a:srgbClr val="FFFFFF"/>
    </a:custClr>
    <a:custClr name="Dark Gray Tint">
      <a:srgbClr val="8888A1"/>
    </a:custClr>
    <a:custClr name="Mid Gray">
      <a:srgbClr val="AEAEBC"/>
    </a:custClr>
    <a:custClr name="Mid Gray Tint">
      <a:srgbClr val="D6D6DF"/>
    </a:custClr>
    <a:custClr name="Light Gray">
      <a:srgbClr val="E5E5E9"/>
    </a:custClr>
    <a:custClr name="Light Gray Tint">
      <a:srgbClr val="F2F2F4"/>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Presentation14" id="{6AAA1F15-3B3D-DC40-84A7-038FCC97591D}" vid="{52855127-7402-5345-9C1A-ACD26C0731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TemplafySlideFormConfiguration><![CDATA[{"formFields":[],"formDataEntries":[]}]]></TemplafySlideFormConfiguration>
</file>

<file path=customXml/item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3.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5.xml><?xml version="1.0" encoding="utf-8"?>
<ct:contentTypeSchema xmlns:ct="http://schemas.microsoft.com/office/2006/metadata/contentType" xmlns:ma="http://schemas.microsoft.com/office/2006/metadata/properties/metaAttributes" ct:_="" ma:_="" ma:contentTypeName="Document" ma:contentTypeID="0x0101000E03A52DFF83D84488E93803DDBB9CF7" ma:contentTypeVersion="3" ma:contentTypeDescription="Create a new document." ma:contentTypeScope="" ma:versionID="7183402d5426fb7fa40a57754f8987a7">
  <xsd:schema xmlns:xsd="http://www.w3.org/2001/XMLSchema" xmlns:xs="http://www.w3.org/2001/XMLSchema" xmlns:p="http://schemas.microsoft.com/office/2006/metadata/properties" xmlns:ns2="ffd69ccd-669e-4a1a-b9ff-a607e277eb6b" targetNamespace="http://schemas.microsoft.com/office/2006/metadata/properties" ma:root="true" ma:fieldsID="fce94913ec708fae3ad90612dc7fd3f5" ns2:_="">
    <xsd:import namespace="ffd69ccd-669e-4a1a-b9ff-a607e277eb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69ccd-669e-4a1a-b9ff-a607e277e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7.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p:properties xmlns:p="http://schemas.microsoft.com/office/2006/metadata/properties" xmlns:xsi="http://www.w3.org/2001/XMLSchema-instance" xmlns:pc="http://schemas.microsoft.com/office/infopath/2007/PartnerControls">
  <documentManagement/>
</p:properties>
</file>

<file path=customXml/item11.xml><?xml version="1.0" encoding="utf-8"?>
<TemplafySlideFormConfiguration><![CDATA[{"formFields":[],"formDataEntries":[]}]]></TemplafySlideFormConfiguration>
</file>

<file path=customXml/item12.xml><?xml version="1.0" encoding="utf-8"?>
<TemplafySlideFormConfiguration><![CDATA[{"formFields":[],"formDataEntries":[]}]]></TemplafySlideFormConfiguration>
</file>

<file path=customXml/item13.xml><?xml version="1.0" encoding="utf-8"?>
<TemplafySlideFormConfiguration><![CDATA[{"formFields":[],"formDataEntries":[]}]]></TemplafySlideFormConfiguration>
</file>

<file path=customXml/item14.xml><?xml version="1.0" encoding="utf-8"?>
<?mso-contentType ?>
<FormTemplates xmlns="http://schemas.microsoft.com/sharepoint/v3/contenttype/forms">
  <Display>DocumentLibraryForm</Display>
  <Edit>DocumentLibraryForm</Edit>
  <New>DocumentLibraryForm</New>
</FormTemplates>
</file>

<file path=customXml/item15.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Props1.xml><?xml version="1.0" encoding="utf-8"?>
<ds:datastoreItem xmlns:ds="http://schemas.openxmlformats.org/officeDocument/2006/customXml" ds:itemID="{C978122E-4CF7-4DAF-A638-3228CFE4D0E4}">
  <ds:schemaRefs/>
</ds:datastoreItem>
</file>

<file path=customXml/itemProps2.xml><?xml version="1.0" encoding="utf-8"?>
<ds:datastoreItem xmlns:ds="http://schemas.openxmlformats.org/officeDocument/2006/customXml" ds:itemID="{4D8D6E3D-6D95-4645-9B5B-00A02728EFE6}">
  <ds:schemaRefs/>
</ds:datastoreItem>
</file>

<file path=customXml/itemProps3.xml><?xml version="1.0" encoding="utf-8"?>
<ds:datastoreItem xmlns:ds="http://schemas.openxmlformats.org/officeDocument/2006/customXml" ds:itemID="{7175AA37-2E84-4AD4-A69B-19A9990FFAFF}">
  <ds:schemaRefs/>
</ds:datastoreItem>
</file>

<file path=customXml/itemProps4.xml><?xml version="1.0" encoding="utf-8"?>
<ds:datastoreItem xmlns:ds="http://schemas.openxmlformats.org/officeDocument/2006/customXml" ds:itemID="{A48A09DB-9412-4CC5-853B-30DF5312F164}">
  <ds:schemaRefs/>
</ds:datastoreItem>
</file>

<file path=customXml/itemProps5.xml><?xml version="1.0" encoding="utf-8"?>
<ds:datastoreItem xmlns:ds="http://schemas.openxmlformats.org/officeDocument/2006/customXml" ds:itemID="{67BEF938-330B-4D83-BEC7-2D1BE76C92B0}">
  <ds:schemaRefs>
    <ds:schemaRef ds:uri="ffd69ccd-669e-4a1a-b9ff-a607e277eb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6.xml><?xml version="1.0" encoding="utf-8"?>
<ds:datastoreItem xmlns:ds="http://schemas.openxmlformats.org/officeDocument/2006/customXml" ds:itemID="{B82A8263-E571-43F3-9E91-8424F188A071}">
  <ds:schemaRefs/>
</ds:datastoreItem>
</file>

<file path=customXml/itemProps7.xml><?xml version="1.0" encoding="utf-8"?>
<ds:datastoreItem xmlns:ds="http://schemas.openxmlformats.org/officeDocument/2006/customXml" ds:itemID="{1C2D6E68-51DB-4BFD-88E4-E31D99A1A821}">
  <ds:schemaRefs/>
</ds:datastoreItem>
</file>

<file path=customXml/itemProps8.xml><?xml version="1.0" encoding="utf-8"?>
<ds:datastoreItem xmlns:ds="http://schemas.openxmlformats.org/officeDocument/2006/customXml" ds:itemID="{8ED5A302-E581-4954-9104-07BBB2BA16EA}">
  <ds:schemaRefs/>
</ds:datastoreItem>
</file>

<file path=customXml/itemProps9.xml><?xml version="1.0" encoding="utf-8"?>
<ds:datastoreItem xmlns:ds="http://schemas.openxmlformats.org/officeDocument/2006/customXml" ds:itemID="{D19811AB-F04C-4CB1-906B-120DD81CEC00}">
  <ds:schemaRefs/>
</ds:datastoreItem>
</file>

<file path=customXml/itemProps10.xml><?xml version="1.0" encoding="utf-8"?>
<ds:datastoreItem xmlns:ds="http://schemas.openxmlformats.org/officeDocument/2006/customXml" ds:itemID="{32C947A3-4CBF-434C-A709-03C12B0F1660}">
  <ds:schemaRefs>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schemas.microsoft.com/office/infopath/2007/PartnerControls"/>
    <ds:schemaRef ds:uri="ffd69ccd-669e-4a1a-b9ff-a607e277eb6b"/>
    <ds:schemaRef ds:uri="http://purl.org/dc/elements/1.1/"/>
    <ds:schemaRef ds:uri="http://purl.org/dc/terms/"/>
    <ds:schemaRef ds:uri="http://www.w3.org/XML/1998/namespace"/>
  </ds:schemaRefs>
</ds:datastoreItem>
</file>

<file path=customXml/itemProps11.xml><?xml version="1.0" encoding="utf-8"?>
<ds:datastoreItem xmlns:ds="http://schemas.openxmlformats.org/officeDocument/2006/customXml" ds:itemID="{E15543A8-80BA-4997-B7AD-F61A4B2E048D}">
  <ds:schemaRefs/>
</ds:datastoreItem>
</file>

<file path=customXml/itemProps12.xml><?xml version="1.0" encoding="utf-8"?>
<ds:datastoreItem xmlns:ds="http://schemas.openxmlformats.org/officeDocument/2006/customXml" ds:itemID="{641488FD-1F5F-4710-8EC0-17A522704CC6}">
  <ds:schemaRefs/>
</ds:datastoreItem>
</file>

<file path=customXml/itemProps13.xml><?xml version="1.0" encoding="utf-8"?>
<ds:datastoreItem xmlns:ds="http://schemas.openxmlformats.org/officeDocument/2006/customXml" ds:itemID="{3A934794-B7B9-40A5-BC3E-83474445FB2C}">
  <ds:schemaRefs/>
</ds:datastoreItem>
</file>

<file path=customXml/itemProps14.xml><?xml version="1.0" encoding="utf-8"?>
<ds:datastoreItem xmlns:ds="http://schemas.openxmlformats.org/officeDocument/2006/customXml" ds:itemID="{55D39E11-1D25-4CE1-BD32-66A872E6EE8D}">
  <ds:schemaRefs>
    <ds:schemaRef ds:uri="http://schemas.microsoft.com/sharepoint/v3/contenttype/forms"/>
  </ds:schemaRefs>
</ds:datastoreItem>
</file>

<file path=customXml/itemProps15.xml><?xml version="1.0" encoding="utf-8"?>
<ds:datastoreItem xmlns:ds="http://schemas.openxmlformats.org/officeDocument/2006/customXml" ds:itemID="{C45642DC-9A5F-4645-ADA4-4C9C3418D003}">
  <ds:schemaRefs/>
</ds:datastoreItem>
</file>

<file path=docMetadata/LabelInfo.xml><?xml version="1.0" encoding="utf-8"?>
<clbl:labelList xmlns:clbl="http://schemas.microsoft.com/office/2020/mipLabelMetadata">
  <clbl:label id="{6e8992ec-76d5-4ea5-8eae-b0c5e558749a}" enabled="0" method="" siteId="{6e8992ec-76d5-4ea5-8eae-b0c5e558749a}" removed="1"/>
</clbl:labelList>
</file>

<file path=docProps/app.xml><?xml version="1.0" encoding="utf-8"?>
<Properties xmlns="http://schemas.openxmlformats.org/officeDocument/2006/extended-properties" xmlns:vt="http://schemas.openxmlformats.org/officeDocument/2006/docPropsVTypes">
  <Template/>
  <TotalTime>1004</TotalTime>
  <Words>8202</Words>
  <Application>Microsoft Office PowerPoint</Application>
  <PresentationFormat>Widescreen</PresentationFormat>
  <Paragraphs>917</Paragraphs>
  <Slides>55</Slides>
  <Notes>21</Notes>
  <HiddenSlides>28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Aptos</vt:lpstr>
      <vt:lpstr>Proxima Nova</vt:lpstr>
      <vt:lpstr>Calibri Light</vt:lpstr>
      <vt:lpstr>COLLABORATIVE WIREFRAME - 2025</vt:lpstr>
      <vt:lpstr>Delivery Excellence</vt:lpstr>
      <vt:lpstr>Agenda</vt:lpstr>
      <vt:lpstr>What we’re already doing</vt:lpstr>
      <vt:lpstr>Where we’re focusing</vt:lpstr>
      <vt:lpstr>Deal-to-Delivery Playbook</vt:lpstr>
      <vt:lpstr>Deal-to-Delivery Problem Statement</vt:lpstr>
      <vt:lpstr>Deal-to-Delivery Recommendation</vt:lpstr>
      <vt:lpstr>Deal-to-Delivery Model Examples</vt:lpstr>
      <vt:lpstr>Timeline, Dependencies &amp; Stakeholders</vt:lpstr>
      <vt:lpstr>The Deal-to-Delivery Playbook</vt:lpstr>
      <vt:lpstr>Deal-to-Delivery Playbook</vt:lpstr>
      <vt:lpstr>Accountability Framework</vt:lpstr>
      <vt:lpstr>Accountability Framework</vt:lpstr>
      <vt:lpstr>Leadership Dashboards</vt:lpstr>
      <vt:lpstr>Leadership Dashboard</vt:lpstr>
      <vt:lpstr>Intake Updates</vt:lpstr>
      <vt:lpstr>Intake Updates</vt:lpstr>
      <vt:lpstr>Ops Transformation: Rebuild Scoping &amp; Staffing</vt:lpstr>
      <vt:lpstr>Ops Transformation: Rebuild Scoping &amp; Staffing</vt:lpstr>
      <vt:lpstr>Earlier Delivery &amp; Talent in Pursuits</vt:lpstr>
      <vt:lpstr>Earlier delivery and talent involvement in major pursuits</vt:lpstr>
      <vt:lpstr>Client &amp; Delivery Concerns</vt:lpstr>
      <vt:lpstr>Staffing</vt:lpstr>
      <vt:lpstr>Staffing</vt:lpstr>
      <vt:lpstr>Capacity Planning &amp; Romulus</vt:lpstr>
      <vt:lpstr>Capacity Planning &amp; Romulus</vt:lpstr>
      <vt:lpstr>What’s Next</vt:lpstr>
      <vt:lpstr>Romulus</vt:lpstr>
      <vt:lpstr>Mid-November</vt:lpstr>
      <vt:lpstr>Appendix</vt:lpstr>
      <vt:lpstr>The ask</vt:lpstr>
      <vt:lpstr>What leadership is asking for</vt:lpstr>
      <vt:lpstr>What it looks like on the ground</vt:lpstr>
      <vt:lpstr>How what we’re doing answers the ask</vt:lpstr>
      <vt:lpstr>How we define the work</vt:lpstr>
      <vt:lpstr>One shared way to define the work</vt:lpstr>
      <vt:lpstr>Who owns it</vt:lpstr>
      <vt:lpstr>Who owns each account</vt:lpstr>
      <vt:lpstr>How it gets staffed</vt:lpstr>
      <vt:lpstr>Staffing and talent</vt:lpstr>
      <vt:lpstr>How it gets delivered</vt:lpstr>
      <vt:lpstr>Modern ways of working</vt:lpstr>
      <vt:lpstr>Doing more than the contract</vt:lpstr>
      <vt:lpstr>How we watch it</vt:lpstr>
      <vt:lpstr>Seeing risk early</vt:lpstr>
      <vt:lpstr>A regular leadership meeting</vt:lpstr>
      <vt:lpstr>The 2027 revenue map</vt:lpstr>
      <vt:lpstr>Engagement vs. delivery layers</vt:lpstr>
      <vt:lpstr>The four delivery models</vt:lpstr>
      <vt:lpstr>How the layers stack (RL)</vt:lpstr>
      <vt:lpstr>The three account roles</vt:lpstr>
      <vt:lpstr>How we’ll know it’s working</vt:lpstr>
      <vt:lpstr>Client detail (1 of 2)</vt:lpstr>
      <vt:lpstr>Client detail (2 of 2)</vt:lpstr>
      <vt:lpstr>The RevTech stack behind this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Delivery Excellence</dc:title>
  <dc:creator>Kimberly Fisher</dc:creator>
  <cp:lastModifiedBy>Rachel Harris</cp:lastModifiedBy>
  <cp:revision>3</cp:revision>
  <dcterms:created xsi:type="dcterms:W3CDTF">2026-01-16T22:13:07Z</dcterms:created>
  <dcterms:modified xsi:type="dcterms:W3CDTF">2026-10-21T14:18:01Z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0x0101000E03A52DFF83D84488E93803DDBB9CF7</vt:lpwstr>
  </property>
  <property fmtid="{D5CDD505-2E9C-101B-9397-08002B2CF9AE}" pid="4" name="_dlc_DocIdItemGuid">
    <vt:lpwstr>195c4cb1-5c2c-4249-a77b-33076e76f845</vt:lpwstr>
  </property>
</Properties>
</file>