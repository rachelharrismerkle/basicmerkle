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4051" r:id="rId16"/>
  </p:sldMasterIdLst>
  <p:notesMasterIdLst>
    <p:notesMasterId r:id="rId25"/>
  </p:notesMasterIdLst>
  <p:handoutMasterIdLst>
    <p:handoutMasterId r:id="rId26"/>
  </p:handoutMasterIdLst>
  <p:sldIdLst>
    <p:sldId id="256" r:id="rId17"/>
    <p:sldId id="265" r:id="rId18"/>
    <p:sldId id="262" r:id="rId38"/>
    <p:sldId id="2147483647" r:id="rId19"/>
    <p:sldId id="257" r:id="rId20"/>
    <p:sldId id="263" r:id="rId39"/>
    <p:sldId id="258" r:id="rId21"/>
    <p:sldId id="259" r:id="rId22"/>
    <p:sldId id="264" r:id="rId40"/>
    <p:sldId id="260" r:id="rId23"/>
    <p:sldId id="261" r:id="rId24"/>
  </p:sldIdLst>
  <p:sldSz cx="12192000" cy="6858000"/>
  <p:notesSz cx="6858000" cy="9144000"/>
  <p:embeddedFontLst>
    <p:embeddedFont>
      <p:font typeface="Proxima Nova" panose="020B0604020202020204" charset="0"/>
      <p:regular r:id="rId27"/>
      <p:bold r:id="rId28"/>
      <p:italic r:id="rId29"/>
      <p:boldItalic r:id="rId30"/>
    </p:embeddedFont>
  </p:embeddedFontLst>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BCC460F-03F9-4149-9072-5AAB42086FA4}">
          <p14:sldIdLst>
            <p14:sldId id="256"/>
            <p14:sldId id="265"/>
          </p14:sldIdLst>
        </p14:section>
        <p14:section name="Deal to Delivery" id="{7478C7A6-E225-4B29-AF56-AF00598241E8}">
          <p14:sldIdLst>
            <p14:sldId id="2147483647"/>
            <p14:sldId id="257"/>
          </p14:sldIdLst>
        </p14:section>
        <p14:section name="Accountability Framework" id="{85FAACF2-C17B-496F-BC74-01D34320B823}">
          <p14:sldIdLst>
            <p14:sldId id="258"/>
            <p14:sldId id="259"/>
          </p14:sldIdLst>
        </p14:section>
        <p14:section name="Intake Updates" id="{E3DA7D8E-CA10-4E59-91F0-08D4610CE2E0}">
          <p14:sldIdLst>
            <p14:sldId id="260"/>
            <p14:sldId id="261"/>
          </p14:sldIdLst>
        </p14:section>
      </p14:sectionLst>
    </p:ex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4747621-DF21-E75D-272F-6101C8F4D26F}" name="Rachel Harris" initials="RH" userId="S::R.Harris@merkle.com::fd5e8be9-ea2d-44ac-89b2-fdcd1d7c9102" providerId="AD"/>
  <p188:author id="{C2FCB735-5E4C-A9FE-A872-A0258D11E5D4}" name="Holden Bale" initials="HB" userId="S::Holden.Bale@merkle.com::c531b602-7654-40f4-8096-c3b7319cdf73" providerId="AD"/>
  <p188:author id="{6FAE4E42-A874-6C13-C1EF-F4D00034504C}" name="Chris McComas" initials="" userId="S::Chris.Mccomas@merkle.com::16a72942-0ecc-4af7-bdde-ff5438467eb4" providerId="AD"/>
  <p188:author id="{FDF5CC56-2E9D-6701-2B66-B63BAD1226DC}" name="Nicole Burguess" initials="NB" userId="S::Nicole.Burguess@merkle.com::1cb68f33-9216-4f37-aa21-b4650492fee1" providerId="AD"/>
  <p188:author id="{B8CF925A-9758-CB93-1D56-91092841DBFD}" name="Katherine Jones-Siemsen" initials="" userId="S::katherine.jonessiemsen@merkle.com::2e03eed6-ab36-40d0-88d8-2eb79c21f938" providerId="AD"/>
  <p188:author id="{6F87CDA6-2197-6957-A82D-B99877A517CC}" name="Holden Bale" initials="HB" userId="S::holden.bale@merkle.com::c531b602-7654-40f4-8096-c3b7319cdf73" providerId="AD"/>
  <p188:author id="{C39E03AD-66D9-CA27-DD7C-2114E44178B7}" name="Jennifer Coldiron" initials="JC" userId="S::Jennifer.Coldiron@merkle.com::a9aace83-3ff4-45f8-bd1f-b56969b3e51b" providerId="AD"/>
  <p188:author id="{122260B3-363F-4BA9-1955-1753C83BDB0E}" name="Kimberly Fisher" initials="" userId="S::Kimberly.Fisher@merkle.com::864d6e37-e64e-4f7d-a773-1af01d32820d" providerId="AD"/>
  <p188:author id="{04C65DB6-AFE0-C4BD-2CBC-20D0C6BC346E}" name="Vidhyarthi S" initials="VS" userId="S::vidhyarthi.s@merkle.com::563c65e5-d65f-4677-8aa6-57dd42c4d1a2" providerId="AD"/>
  <p188:author id="{CDA5F6B7-096B-F1CD-A4EB-A35ED3727E48}" name="Mel Ketchandji" initials="MK" userId="S::mel.ketchandji@merklecxm.com::459acf37-907c-4efe-938f-7a04993a3eaa" providerId="AD"/>
  <p188:author id="{77F729CC-204E-C5D0-D138-1054A84541DB}" name="Lindsey Murray" initials="LM" userId="S::lindsey.murray@merkle.com::468cb5d1-f0a4-48b8-82ad-957063689cb0" providerId="AD"/>
  <p188:author id="{8756E1CE-2660-3E17-9BB9-D517D62C312E}" name="Jennifer Coldiron" initials="JC" userId="S::jennifer.coldiron@merklecxm.com::a9aace83-3ff4-45f8-bd1f-b56969b3e51b" providerId="AD"/>
  <p188:author id="{914E52CF-953F-DF0A-99AA-72DEFC5A8773}" name="Lindsey Murray" initials="LM" userId="S::Lindsey.Murray@merkle.com::468cb5d1-f0a4-48b8-82ad-957063689cb0" providerId="AD"/>
  <p188:author id="{39ADA3E5-C12F-1243-3E69-4F8CACF4E46B}" name="Mel Ketchandji" initials="MK" userId="S::mel.ketchandji@merkle.com::459acf37-907c-4efe-938f-7a04993a3eaa" providerId="AD"/>
  <p188:author id="{320550F2-799F-B69D-8074-CCDD2CCEA80D}" name="Charles van Caloen" initials="Cv" userId="S::Charles.Vancaloen@b2binternational.com::7c6a4315-c604-4c95-8801-aa30c01cc1f5" providerId="AD"/>
  <p188:author id="{B62FECFA-3509-759D-112F-870FECCF081A}" name="Kaylie Beckley" initials="" userId="S::Kaylie.Beckley@merkle.com::58827693-7ffd-4b5a-afc7-e5b001f0132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arit Reuble" initials="GR" lastIdx="8" clrIdx="0">
    <p:extLst>
      <p:ext uri="{19B8F6BF-5375-455C-9EA6-DF929625EA0E}">
        <p15:presenceInfo xmlns:p15="http://schemas.microsoft.com/office/powerpoint/2012/main" userId="S::greuble@merkleinc.com::1cd1ef0a-6f3d-44d2-b08b-13eb711dda2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8388"/>
    <a:srgbClr val="DD3039"/>
    <a:srgbClr val="0328D1"/>
    <a:srgbClr val="031FA3"/>
    <a:srgbClr val="0391F2"/>
    <a:srgbClr val="D5D5DF"/>
    <a:srgbClr val="030E49"/>
    <a:srgbClr val="0291F0"/>
    <a:srgbClr val="8888A1"/>
    <a:srgbClr val="00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AE531D-B492-44EB-8453-F64CDCF25BDF}" v="1" dt="2026-10-20T13:02:33.506"/>
    <p1510:client id="{E54C87B7-05CD-4AE2-8B3E-00FBDEE6507A}" v="5" dt="2026-10-20T22:02:08.6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105" d="100"/>
          <a:sy n="105" d="100"/>
        </p:scale>
        <p:origin x="642" y="96"/>
      </p:cViewPr>
      <p:guideLst>
        <p:guide orient="horz" pos="2160"/>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slideMaster" Target="slideMasters/slideMaster1.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commentAuthors" Target="commentAuthors.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microsoft.com/office/2015/10/relationships/revisionInfo" Target="revisionInfo.xml"/><Relationship Id="rId37" Type="http://schemas.microsoft.com/office/2018/10/relationships/authors" Target="authors.xml"/><Relationship Id="rId38" Type="http://schemas.openxmlformats.org/officeDocument/2006/relationships/slide" Target="slides/slide9.xml"/><Relationship Id="rId39" Type="http://schemas.openxmlformats.org/officeDocument/2006/relationships/slide" Target="slides/slide10.xml"/><Relationship Id="rId40"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B731AF-AEA3-CC40-BFAA-5CC9758FC0D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72820B76-C951-C08D-9CC0-1DF4B94DE3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AA7B20D-4B9A-0B23-7398-D557F3709F6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97AEEF-324F-474E-80D9-450D94E3AE5B}" type="slidenum">
              <a:rPr lang="en-US" smtClean="0"/>
              <a:t>‹#›</a:t>
            </a:fld>
            <a:endParaRPr lang="en-US"/>
          </a:p>
        </p:txBody>
      </p:sp>
    </p:spTree>
    <p:extLst>
      <p:ext uri="{BB962C8B-B14F-4D97-AF65-F5344CB8AC3E}">
        <p14:creationId xmlns:p14="http://schemas.microsoft.com/office/powerpoint/2010/main" val="676158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0584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85AD6AD-028C-42F2-9F9A-0CB45E44CB25}" type="slidenum">
              <a:rPr lang="da-DK" smtClean="0"/>
              <a:pPr/>
              <a:t>1</a:t>
            </a:fld>
            <a:endParaRPr lang="da-DK"/>
          </a:p>
        </p:txBody>
      </p:sp>
    </p:spTree>
    <p:extLst>
      <p:ext uri="{BB962C8B-B14F-4D97-AF65-F5344CB8AC3E}">
        <p14:creationId xmlns:p14="http://schemas.microsoft.com/office/powerpoint/2010/main" val="230580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16AF1-5741-AC37-80A9-DDE199E016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This is positioned as the top priority because the group explicitly selected B2B and AI/FDE as the topics for deeper discussion, and B2B was described as a growth area requiring renewed focus across both BUs.</a:t>
            </a:r>
          </a:p>
          <a:p/>
          <a:p>
            <a:r>
              <a:t>The existing B2B story is close, but it needs to encompass the broader capability set across DBT and DDM, rather than relying too heavily on ABM or a narrow transformation message.</a:t>
            </a:r>
          </a:p>
          <a:p>
            <a:r>
              <a:t>The client story should vary by buyer. The discussion referenced CMO, CIO, CRO, sales, and operations stakeholders, with different entry points across marketing, sales transformation, technology, media, content, and operations.</a:t>
            </a:r>
          </a:p>
          <a:p>
            <a:r>
              <a:t>The group distinguished between a B2B technology or transformation profile and a B2B marketing-services profile. It did not assume that one person could cover the entire spectrum.</a:t>
            </a:r>
          </a:p>
          <a:p>
            <a:r>
              <a:t>The biggest constraint is not only the narrative. It is the ability to cast, solution, sell, workshop, and ultimately deliver with the right people.</a:t>
            </a:r>
          </a:p>
          <a:p>
            <a:r>
              <a:t>A ring-fenced model was favored over treating B2B as a side-of-desk responsibility.</a:t>
            </a:r>
          </a:p>
          <a:p>
            <a:r>
              <a:t>Partner-specific versions are needed for Adobe and Salesforce.</a:t>
            </a:r>
          </a:p>
          <a:p>
            <a:r>
              <a:t>Target-account selection should use the existing sprint and intent data, and identify the actual budget-holder persona and route to that person.</a:t>
            </a:r>
          </a:p>
          <a:p>
            <a:r>
              <a:t>Internal communication needs to make clear that Merkle is “all in” on B2B and that teams will be expected to activate the story, not simply receive new collateral.</a:t>
            </a:r>
          </a:p>
          <a:p/>
          <a:p>
            <a:r>
              <a:t>Accountability</a:t>
            </a:r>
          </a:p>
          <a:p>
            <a:r>
              <a:t>David | DDM growth motion. Accountable for the DDM plan, leadership, pipeline ambition and resource requirements.</a:t>
            </a:r>
          </a:p>
          <a:p>
            <a:r>
              <a:t>Eric | DBT growth motion. Accountable for the DBT plan, market opportunity, activation requirements and resource implications.</a:t>
            </a:r>
          </a:p>
          <a:p>
            <a:r>
              <a:t>Holden | Integrated market narrative. Accountable for bringing the motions together into one coherent B2B proposition and go-to-market story.</a:t>
            </a:r>
          </a:p>
          <a:p/>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extLst>
      <p:ext uri="{BB962C8B-B14F-4D97-AF65-F5344CB8AC3E}">
        <p14:creationId xmlns:p14="http://schemas.microsoft.com/office/powerpoint/2010/main" val="3281341434"/>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svg"/><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6EAC907-F59B-B9B6-95C0-82330A9781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22" name="Text Placeholder 12">
            <a:extLst>
              <a:ext uri="{FF2B5EF4-FFF2-40B4-BE49-F238E27FC236}">
                <a16:creationId xmlns:a16="http://schemas.microsoft.com/office/drawing/2014/main" id="{1113FBD2-393A-2E4A-A8AB-45F368B8C6B4}"/>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grpSp>
        <p:nvGrpSpPr>
          <p:cNvPr id="9" name="Group 8">
            <a:extLst>
              <a:ext uri="{FF2B5EF4-FFF2-40B4-BE49-F238E27FC236}">
                <a16:creationId xmlns:a16="http://schemas.microsoft.com/office/drawing/2014/main" id="{3D55557A-4A15-1400-45F4-6C5658F1FFF5}"/>
              </a:ext>
            </a:extLst>
          </p:cNvPr>
          <p:cNvGrpSpPr/>
          <p:nvPr userDrawn="1"/>
        </p:nvGrpSpPr>
        <p:grpSpPr>
          <a:xfrm>
            <a:off x="896112" y="6351752"/>
            <a:ext cx="1405514" cy="174291"/>
            <a:chOff x="419100" y="6294132"/>
            <a:chExt cx="1400350" cy="173651"/>
          </a:xfrm>
        </p:grpSpPr>
        <p:pic>
          <p:nvPicPr>
            <p:cNvPr id="10" name="Graphic 9">
              <a:extLst>
                <a:ext uri="{FF2B5EF4-FFF2-40B4-BE49-F238E27FC236}">
                  <a16:creationId xmlns:a16="http://schemas.microsoft.com/office/drawing/2014/main" id="{F332794B-3426-A6FF-7904-E2CD96FA2D0A}"/>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1" name="Graphic 10">
              <a:extLst>
                <a:ext uri="{FF2B5EF4-FFF2-40B4-BE49-F238E27FC236}">
                  <a16:creationId xmlns:a16="http://schemas.microsoft.com/office/drawing/2014/main" id="{40CCC968-732A-C119-AB2B-8E4ECB9631BE}"/>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4274529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4B3C1D-068A-7379-ABBE-192981F59C35}"/>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7" name="Picture 6" descr="A close up of a blue and black diamond&#10;&#10;AI-generated content may be incorrect.">
            <a:extLst>
              <a:ext uri="{FF2B5EF4-FFF2-40B4-BE49-F238E27FC236}">
                <a16:creationId xmlns:a16="http://schemas.microsoft.com/office/drawing/2014/main" id="{506969F5-ADEC-B44E-47F5-1066D3C379C3}"/>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latin typeface="+mn-lt"/>
              </a:defRPr>
            </a:lvl1pPr>
          </a:lstStyle>
          <a:p>
            <a:pPr lvl="0"/>
            <a:r>
              <a:rPr lang="en-US"/>
              <a:t>MONTH 00, 2026</a:t>
            </a:r>
          </a:p>
        </p:txBody>
      </p:sp>
      <p:sp>
        <p:nvSpPr>
          <p:cNvPr id="3" name="Title 1">
            <a:extLst>
              <a:ext uri="{FF2B5EF4-FFF2-40B4-BE49-F238E27FC236}">
                <a16:creationId xmlns:a16="http://schemas.microsoft.com/office/drawing/2014/main" id="{14B74312-9F4F-6B46-8C12-AD998C1F3FD7}"/>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93CE22AD-41AE-BB99-8CE6-6E3E848661B1}"/>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3EBF09FC-180F-E29A-7A91-1C442C3EC016}"/>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D236A869-04E1-3878-AD99-89339143F0D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125594D8-D3CE-ECC4-A0B1-D8D532BF3801}"/>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94852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125187-8ABF-297F-4A0C-0C776D86858E}"/>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4" name="Picture 3" descr="A close up of a crystal&#10;&#10;Description automatically generated">
            <a:extLst>
              <a:ext uri="{FF2B5EF4-FFF2-40B4-BE49-F238E27FC236}">
                <a16:creationId xmlns:a16="http://schemas.microsoft.com/office/drawing/2014/main" id="{2410A003-B644-4A74-49AF-2FBF7573BAA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4"/>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A4009EE5-8318-57AF-CAFA-3F10883CC16B}"/>
              </a:ext>
            </a:extLst>
          </p:cNvPr>
          <p:cNvSpPr>
            <a:spLocks noGrp="1"/>
          </p:cNvSpPr>
          <p:nvPr>
            <p:ph type="title" hasCustomPrompt="1"/>
          </p:nvPr>
        </p:nvSpPr>
        <p:spPr>
          <a:xfrm>
            <a:off x="915725" y="557783"/>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AEAD708F-F6C6-EE02-0A4A-660B5732235F}"/>
              </a:ext>
            </a:extLst>
          </p:cNvPr>
          <p:cNvSpPr>
            <a:spLocks noGrp="1"/>
          </p:cNvSpPr>
          <p:nvPr>
            <p:ph type="body" sz="quarter" idx="10" hasCustomPrompt="1"/>
          </p:nvPr>
        </p:nvSpPr>
        <p:spPr>
          <a:xfrm>
            <a:off x="915725" y="3483864"/>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E28ECA3B-CFD3-A2E6-5A2D-0128B6634369}"/>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B80F0CB-B009-C3E2-543B-146A6093453F}"/>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DDD7CB60-82BC-BB4C-BC2B-41911FF1A57D}"/>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316114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9B2BC9-DE54-0166-1F24-4CBB8C07C86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background&#10;&#10;Description automatically generated">
            <a:extLst>
              <a:ext uri="{FF2B5EF4-FFF2-40B4-BE49-F238E27FC236}">
                <a16:creationId xmlns:a16="http://schemas.microsoft.com/office/drawing/2014/main" id="{6DCF780F-80F9-51BE-CE81-C818AF10AEF2}"/>
              </a:ext>
            </a:extLst>
          </p:cNvPr>
          <p:cNvPicPr>
            <a:picLocks noChangeAspect="1"/>
          </p:cNvPicPr>
          <p:nvPr userDrawn="1"/>
        </p:nvPicPr>
        <p:blipFill>
          <a:blip r:embed="rId2"/>
          <a:srcRect t="15344" b="9160"/>
          <a:stretch/>
        </p:blipFill>
        <p:spPr>
          <a:xfrm rot="10800000">
            <a:off x="0" y="1680518"/>
            <a:ext cx="12192000" cy="5177481"/>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5F3753E-AAD3-BFAA-F724-9A60053E238F}"/>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5E88FC64-C2BF-6FC5-A172-441256DE6C5B}"/>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C00A2EAE-7222-9761-9418-3316BA63F198}"/>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972A630-63EB-CB8B-B0D5-79C14C540D6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98938FEE-80EE-7939-D67A-27E928B8CAB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288256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Page - Full Bleed Imag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99A5A2F-20B5-F28C-3CE4-6A12E0409F51}"/>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76E0F0CC-0C1B-E198-1E0B-76050D1E1C39}"/>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3A9F6F69-5AFC-56BA-0C17-E81E467AA49C}"/>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
        <p:nvSpPr>
          <p:cNvPr id="2" name="Picture Placeholder 1">
            <a:extLst>
              <a:ext uri="{FF2B5EF4-FFF2-40B4-BE49-F238E27FC236}">
                <a16:creationId xmlns:a16="http://schemas.microsoft.com/office/drawing/2014/main" id="{ADA0AC2B-DA1A-6CF5-8E52-82921CC8C9AB}"/>
              </a:ext>
            </a:extLst>
          </p:cNvPr>
          <p:cNvSpPr>
            <a:spLocks noGrp="1"/>
          </p:cNvSpPr>
          <p:nvPr>
            <p:ph type="pic" sz="quarter" idx="12" hasCustomPrompt="1"/>
          </p:nvPr>
        </p:nvSpPr>
        <p:spPr>
          <a:xfrm>
            <a:off x="0" y="1"/>
            <a:ext cx="12191998" cy="6858003"/>
          </a:xfrm>
          <a:custGeom>
            <a:avLst/>
            <a:gdLst>
              <a:gd name="connsiteX0" fmla="*/ 897269 w 12191998"/>
              <a:gd name="connsiteY0" fmla="*/ 6431624 h 6858003"/>
              <a:gd name="connsiteX1" fmla="*/ 993331 w 12191998"/>
              <a:gd name="connsiteY1" fmla="*/ 6528588 h 6858003"/>
              <a:gd name="connsiteX2" fmla="*/ 993331 w 12191998"/>
              <a:gd name="connsiteY2" fmla="*/ 6431624 h 6858003"/>
              <a:gd name="connsiteX3" fmla="*/ 1516925 w 12191998"/>
              <a:gd name="connsiteY3" fmla="*/ 6389274 h 6858003"/>
              <a:gd name="connsiteX4" fmla="*/ 1596273 w 12191998"/>
              <a:gd name="connsiteY4" fmla="*/ 6389274 h 6858003"/>
              <a:gd name="connsiteX5" fmla="*/ 1612525 w 12191998"/>
              <a:gd name="connsiteY5" fmla="*/ 6393128 h 6858003"/>
              <a:gd name="connsiteX6" fmla="*/ 1617305 w 12191998"/>
              <a:gd name="connsiteY6" fmla="*/ 6404690 h 6858003"/>
              <a:gd name="connsiteX7" fmla="*/ 1612525 w 12191998"/>
              <a:gd name="connsiteY7" fmla="*/ 6417214 h 6858003"/>
              <a:gd name="connsiteX8" fmla="*/ 1596273 w 12191998"/>
              <a:gd name="connsiteY8" fmla="*/ 6421550 h 6858003"/>
              <a:gd name="connsiteX9" fmla="*/ 1516925 w 12191998"/>
              <a:gd name="connsiteY9" fmla="*/ 6421550 h 6858003"/>
              <a:gd name="connsiteX10" fmla="*/ 1715460 w 12191998"/>
              <a:gd name="connsiteY10" fmla="*/ 6353146 h 6858003"/>
              <a:gd name="connsiteX11" fmla="*/ 1715460 w 12191998"/>
              <a:gd name="connsiteY11" fmla="*/ 6528495 h 6858003"/>
              <a:gd name="connsiteX12" fmla="*/ 1752796 w 12191998"/>
              <a:gd name="connsiteY12" fmla="*/ 6528495 h 6858003"/>
              <a:gd name="connsiteX13" fmla="*/ 1752796 w 12191998"/>
              <a:gd name="connsiteY13" fmla="*/ 6463461 h 6858003"/>
              <a:gd name="connsiteX14" fmla="*/ 1779122 w 12191998"/>
              <a:gd name="connsiteY14" fmla="*/ 6440820 h 6858003"/>
              <a:gd name="connsiteX15" fmla="*/ 1843741 w 12191998"/>
              <a:gd name="connsiteY15" fmla="*/ 6528495 h 6858003"/>
              <a:gd name="connsiteX16" fmla="*/ 1887299 w 12191998"/>
              <a:gd name="connsiteY16" fmla="*/ 6528495 h 6858003"/>
              <a:gd name="connsiteX17" fmla="*/ 1805928 w 12191998"/>
              <a:gd name="connsiteY17" fmla="*/ 6417697 h 6858003"/>
              <a:gd name="connsiteX18" fmla="*/ 1881555 w 12191998"/>
              <a:gd name="connsiteY18" fmla="*/ 6353146 h 6858003"/>
              <a:gd name="connsiteX19" fmla="*/ 1829860 w 12191998"/>
              <a:gd name="connsiteY19" fmla="*/ 6353146 h 6858003"/>
              <a:gd name="connsiteX20" fmla="*/ 1752796 w 12191998"/>
              <a:gd name="connsiteY20" fmla="*/ 6418661 h 6858003"/>
              <a:gd name="connsiteX21" fmla="*/ 1752796 w 12191998"/>
              <a:gd name="connsiteY21" fmla="*/ 6353146 h 6858003"/>
              <a:gd name="connsiteX22" fmla="*/ 1480119 w 12191998"/>
              <a:gd name="connsiteY22" fmla="*/ 6353146 h 6858003"/>
              <a:gd name="connsiteX23" fmla="*/ 1480119 w 12191998"/>
              <a:gd name="connsiteY23" fmla="*/ 6528495 h 6858003"/>
              <a:gd name="connsiteX24" fmla="*/ 1516925 w 12191998"/>
              <a:gd name="connsiteY24" fmla="*/ 6528495 h 6858003"/>
              <a:gd name="connsiteX25" fmla="*/ 1516925 w 12191998"/>
              <a:gd name="connsiteY25" fmla="*/ 6456716 h 6858003"/>
              <a:gd name="connsiteX26" fmla="*/ 1577631 w 12191998"/>
              <a:gd name="connsiteY26" fmla="*/ 6456716 h 6858003"/>
              <a:gd name="connsiteX27" fmla="*/ 1623519 w 12191998"/>
              <a:gd name="connsiteY27" fmla="*/ 6528495 h 6858003"/>
              <a:gd name="connsiteX28" fmla="*/ 1665104 w 12191998"/>
              <a:gd name="connsiteY28" fmla="*/ 6528495 h 6858003"/>
              <a:gd name="connsiteX29" fmla="*/ 1619217 w 12191998"/>
              <a:gd name="connsiteY29" fmla="*/ 6454790 h 6858003"/>
              <a:gd name="connsiteX30" fmla="*/ 1645507 w 12191998"/>
              <a:gd name="connsiteY30" fmla="*/ 6435521 h 6858003"/>
              <a:gd name="connsiteX31" fmla="*/ 1655067 w 12191998"/>
              <a:gd name="connsiteY31" fmla="*/ 6404691 h 6858003"/>
              <a:gd name="connsiteX32" fmla="*/ 1637859 w 12191998"/>
              <a:gd name="connsiteY32" fmla="*/ 6365671 h 6858003"/>
              <a:gd name="connsiteX33" fmla="*/ 1596751 w 12191998"/>
              <a:gd name="connsiteY33" fmla="*/ 6353146 h 6858003"/>
              <a:gd name="connsiteX34" fmla="*/ 2127612 w 12191998"/>
              <a:gd name="connsiteY34" fmla="*/ 6352198 h 6858003"/>
              <a:gd name="connsiteX35" fmla="*/ 2127612 w 12191998"/>
              <a:gd name="connsiteY35" fmla="*/ 6528494 h 6858003"/>
              <a:gd name="connsiteX36" fmla="*/ 2297579 w 12191998"/>
              <a:gd name="connsiteY36" fmla="*/ 6528494 h 6858003"/>
              <a:gd name="connsiteX37" fmla="*/ 2297579 w 12191998"/>
              <a:gd name="connsiteY37" fmla="*/ 6493138 h 6858003"/>
              <a:gd name="connsiteX38" fmla="*/ 2164479 w 12191998"/>
              <a:gd name="connsiteY38" fmla="*/ 6493138 h 6858003"/>
              <a:gd name="connsiteX39" fmla="*/ 2164479 w 12191998"/>
              <a:gd name="connsiteY39" fmla="*/ 6452939 h 6858003"/>
              <a:gd name="connsiteX40" fmla="*/ 2246830 w 12191998"/>
              <a:gd name="connsiteY40" fmla="*/ 6452939 h 6858003"/>
              <a:gd name="connsiteX41" fmla="*/ 2246830 w 12191998"/>
              <a:gd name="connsiteY41" fmla="*/ 6417583 h 6858003"/>
              <a:gd name="connsiteX42" fmla="*/ 2164479 w 12191998"/>
              <a:gd name="connsiteY42" fmla="*/ 6417583 h 6858003"/>
              <a:gd name="connsiteX43" fmla="*/ 2164479 w 12191998"/>
              <a:gd name="connsiteY43" fmla="*/ 6388523 h 6858003"/>
              <a:gd name="connsiteX44" fmla="*/ 2290390 w 12191998"/>
              <a:gd name="connsiteY44" fmla="*/ 6388523 h 6858003"/>
              <a:gd name="connsiteX45" fmla="*/ 2290390 w 12191998"/>
              <a:gd name="connsiteY45" fmla="*/ 6352198 h 6858003"/>
              <a:gd name="connsiteX46" fmla="*/ 1930569 w 12191998"/>
              <a:gd name="connsiteY46" fmla="*/ 6352198 h 6858003"/>
              <a:gd name="connsiteX47" fmla="*/ 1930569 w 12191998"/>
              <a:gd name="connsiteY47" fmla="*/ 6528494 h 6858003"/>
              <a:gd name="connsiteX48" fmla="*/ 2087383 w 12191998"/>
              <a:gd name="connsiteY48" fmla="*/ 6528494 h 6858003"/>
              <a:gd name="connsiteX49" fmla="*/ 2087383 w 12191998"/>
              <a:gd name="connsiteY49" fmla="*/ 6493138 h 6858003"/>
              <a:gd name="connsiteX50" fmla="*/ 1967861 w 12191998"/>
              <a:gd name="connsiteY50" fmla="*/ 6493138 h 6858003"/>
              <a:gd name="connsiteX51" fmla="*/ 1967861 w 12191998"/>
              <a:gd name="connsiteY51" fmla="*/ 6352198 h 6858003"/>
              <a:gd name="connsiteX52" fmla="*/ 1265509 w 12191998"/>
              <a:gd name="connsiteY52" fmla="*/ 6352198 h 6858003"/>
              <a:gd name="connsiteX53" fmla="*/ 1265509 w 12191998"/>
              <a:gd name="connsiteY53" fmla="*/ 6528494 h 6858003"/>
              <a:gd name="connsiteX54" fmla="*/ 1435470 w 12191998"/>
              <a:gd name="connsiteY54" fmla="*/ 6528494 h 6858003"/>
              <a:gd name="connsiteX55" fmla="*/ 1435470 w 12191998"/>
              <a:gd name="connsiteY55" fmla="*/ 6493138 h 6858003"/>
              <a:gd name="connsiteX56" fmla="*/ 1302853 w 12191998"/>
              <a:gd name="connsiteY56" fmla="*/ 6493138 h 6858003"/>
              <a:gd name="connsiteX57" fmla="*/ 1302853 w 12191998"/>
              <a:gd name="connsiteY57" fmla="*/ 6452939 h 6858003"/>
              <a:gd name="connsiteX58" fmla="*/ 1385200 w 12191998"/>
              <a:gd name="connsiteY58" fmla="*/ 6452939 h 6858003"/>
              <a:gd name="connsiteX59" fmla="*/ 1385200 w 12191998"/>
              <a:gd name="connsiteY59" fmla="*/ 6417583 h 6858003"/>
              <a:gd name="connsiteX60" fmla="*/ 1302853 w 12191998"/>
              <a:gd name="connsiteY60" fmla="*/ 6417583 h 6858003"/>
              <a:gd name="connsiteX61" fmla="*/ 1302853 w 12191998"/>
              <a:gd name="connsiteY61" fmla="*/ 6388523 h 6858003"/>
              <a:gd name="connsiteX62" fmla="*/ 1428289 w 12191998"/>
              <a:gd name="connsiteY62" fmla="*/ 6388523 h 6858003"/>
              <a:gd name="connsiteX63" fmla="*/ 1428289 w 12191998"/>
              <a:gd name="connsiteY63" fmla="*/ 6352198 h 6858003"/>
              <a:gd name="connsiteX64" fmla="*/ 1030531 w 12191998"/>
              <a:gd name="connsiteY64" fmla="*/ 6352198 h 6858003"/>
              <a:gd name="connsiteX65" fmla="*/ 1030531 w 12191998"/>
              <a:gd name="connsiteY65" fmla="*/ 6529014 h 6858003"/>
              <a:gd name="connsiteX66" fmla="*/ 1067731 w 12191998"/>
              <a:gd name="connsiteY66" fmla="*/ 6529014 h 6858003"/>
              <a:gd name="connsiteX67" fmla="*/ 1067731 w 12191998"/>
              <a:gd name="connsiteY67" fmla="*/ 6423970 h 6858003"/>
              <a:gd name="connsiteX68" fmla="*/ 1123532 w 12191998"/>
              <a:gd name="connsiteY68" fmla="*/ 6480295 h 6858003"/>
              <a:gd name="connsiteX69" fmla="*/ 1179333 w 12191998"/>
              <a:gd name="connsiteY69" fmla="*/ 6423970 h 6858003"/>
              <a:gd name="connsiteX70" fmla="*/ 1179333 w 12191998"/>
              <a:gd name="connsiteY70" fmla="*/ 6529014 h 6858003"/>
              <a:gd name="connsiteX71" fmla="*/ 1216533 w 12191998"/>
              <a:gd name="connsiteY71" fmla="*/ 6529014 h 6858003"/>
              <a:gd name="connsiteX72" fmla="*/ 1216533 w 12191998"/>
              <a:gd name="connsiteY72" fmla="*/ 6352198 h 6858003"/>
              <a:gd name="connsiteX73" fmla="*/ 1196756 w 12191998"/>
              <a:gd name="connsiteY73" fmla="*/ 6352198 h 6858003"/>
              <a:gd name="connsiteX74" fmla="*/ 1124003 w 12191998"/>
              <a:gd name="connsiteY74" fmla="*/ 6426584 h 6858003"/>
              <a:gd name="connsiteX75" fmla="*/ 1050308 w 12191998"/>
              <a:gd name="connsiteY75" fmla="*/ 6352198 h 6858003"/>
              <a:gd name="connsiteX76" fmla="*/ 0 w 12191998"/>
              <a:gd name="connsiteY76" fmla="*/ 0 h 6858003"/>
              <a:gd name="connsiteX77" fmla="*/ 12191998 w 12191998"/>
              <a:gd name="connsiteY77" fmla="*/ 0 h 6858003"/>
              <a:gd name="connsiteX78" fmla="*/ 12191998 w 12191998"/>
              <a:gd name="connsiteY78" fmla="*/ 6858003 h 6858003"/>
              <a:gd name="connsiteX79" fmla="*/ 0 w 12191998"/>
              <a:gd name="connsiteY79" fmla="*/ 6858003 h 685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12191998" h="6858003">
                <a:moveTo>
                  <a:pt x="897269" y="6431624"/>
                </a:moveTo>
                <a:lnTo>
                  <a:pt x="993331" y="6528588"/>
                </a:lnTo>
                <a:lnTo>
                  <a:pt x="993331" y="6431624"/>
                </a:lnTo>
                <a:close/>
                <a:moveTo>
                  <a:pt x="1516925" y="6389274"/>
                </a:moveTo>
                <a:lnTo>
                  <a:pt x="1596273" y="6389274"/>
                </a:lnTo>
                <a:cubicBezTo>
                  <a:pt x="1603443" y="6389274"/>
                  <a:pt x="1609179" y="6390720"/>
                  <a:pt x="1612525" y="6393128"/>
                </a:cubicBezTo>
                <a:cubicBezTo>
                  <a:pt x="1615871" y="6396019"/>
                  <a:pt x="1617305" y="6399872"/>
                  <a:pt x="1617305" y="6404690"/>
                </a:cubicBezTo>
                <a:cubicBezTo>
                  <a:pt x="1617305" y="6409025"/>
                  <a:pt x="1615871" y="6412879"/>
                  <a:pt x="1612525" y="6417214"/>
                </a:cubicBezTo>
                <a:cubicBezTo>
                  <a:pt x="1609179" y="6420105"/>
                  <a:pt x="1603921" y="6421550"/>
                  <a:pt x="1596273" y="6421550"/>
                </a:cubicBezTo>
                <a:lnTo>
                  <a:pt x="1516925" y="6421550"/>
                </a:lnTo>
                <a:close/>
                <a:moveTo>
                  <a:pt x="1715460" y="6353146"/>
                </a:moveTo>
                <a:lnTo>
                  <a:pt x="1715460" y="6528495"/>
                </a:lnTo>
                <a:lnTo>
                  <a:pt x="1752796" y="6528495"/>
                </a:lnTo>
                <a:lnTo>
                  <a:pt x="1752796" y="6463461"/>
                </a:lnTo>
                <a:lnTo>
                  <a:pt x="1779122" y="6440820"/>
                </a:lnTo>
                <a:lnTo>
                  <a:pt x="1843741" y="6528495"/>
                </a:lnTo>
                <a:lnTo>
                  <a:pt x="1887299" y="6528495"/>
                </a:lnTo>
                <a:lnTo>
                  <a:pt x="1805928" y="6417697"/>
                </a:lnTo>
                <a:lnTo>
                  <a:pt x="1881555" y="6353146"/>
                </a:lnTo>
                <a:lnTo>
                  <a:pt x="1829860" y="6353146"/>
                </a:lnTo>
                <a:lnTo>
                  <a:pt x="1752796" y="6418661"/>
                </a:lnTo>
                <a:lnTo>
                  <a:pt x="1752796" y="6353146"/>
                </a:lnTo>
                <a:close/>
                <a:moveTo>
                  <a:pt x="1480119" y="6353146"/>
                </a:moveTo>
                <a:lnTo>
                  <a:pt x="1480119" y="6528495"/>
                </a:lnTo>
                <a:lnTo>
                  <a:pt x="1516925" y="6528495"/>
                </a:lnTo>
                <a:lnTo>
                  <a:pt x="1516925" y="6456716"/>
                </a:lnTo>
                <a:lnTo>
                  <a:pt x="1577631" y="6456716"/>
                </a:lnTo>
                <a:lnTo>
                  <a:pt x="1623519" y="6528495"/>
                </a:lnTo>
                <a:lnTo>
                  <a:pt x="1665104" y="6528495"/>
                </a:lnTo>
                <a:lnTo>
                  <a:pt x="1619217" y="6454790"/>
                </a:lnTo>
                <a:cubicBezTo>
                  <a:pt x="1630211" y="6450936"/>
                  <a:pt x="1638814" y="6444674"/>
                  <a:pt x="1645507" y="6435521"/>
                </a:cubicBezTo>
                <a:cubicBezTo>
                  <a:pt x="1651721" y="6426368"/>
                  <a:pt x="1655067" y="6416252"/>
                  <a:pt x="1655067" y="6404691"/>
                </a:cubicBezTo>
                <a:cubicBezTo>
                  <a:pt x="1655067" y="6387830"/>
                  <a:pt x="1649331" y="6374824"/>
                  <a:pt x="1637859" y="6365671"/>
                </a:cubicBezTo>
                <a:cubicBezTo>
                  <a:pt x="1627343" y="6357482"/>
                  <a:pt x="1613959" y="6353146"/>
                  <a:pt x="1596751" y="6353146"/>
                </a:cubicBezTo>
                <a:close/>
                <a:moveTo>
                  <a:pt x="2127612" y="6352198"/>
                </a:moveTo>
                <a:lnTo>
                  <a:pt x="2127612" y="6528494"/>
                </a:lnTo>
                <a:lnTo>
                  <a:pt x="2297579" y="6528494"/>
                </a:lnTo>
                <a:lnTo>
                  <a:pt x="2297579" y="6493138"/>
                </a:lnTo>
                <a:lnTo>
                  <a:pt x="2164479" y="6493138"/>
                </a:lnTo>
                <a:lnTo>
                  <a:pt x="2164479" y="6452939"/>
                </a:lnTo>
                <a:lnTo>
                  <a:pt x="2246830" y="6452939"/>
                </a:lnTo>
                <a:lnTo>
                  <a:pt x="2246830" y="6417583"/>
                </a:lnTo>
                <a:lnTo>
                  <a:pt x="2164479" y="6417583"/>
                </a:lnTo>
                <a:lnTo>
                  <a:pt x="2164479" y="6388523"/>
                </a:lnTo>
                <a:lnTo>
                  <a:pt x="2290390" y="6388523"/>
                </a:lnTo>
                <a:lnTo>
                  <a:pt x="2290390" y="6352198"/>
                </a:lnTo>
                <a:close/>
                <a:moveTo>
                  <a:pt x="1930569" y="6352198"/>
                </a:moveTo>
                <a:lnTo>
                  <a:pt x="1930569" y="6528494"/>
                </a:lnTo>
                <a:lnTo>
                  <a:pt x="2087383" y="6528494"/>
                </a:lnTo>
                <a:lnTo>
                  <a:pt x="2087383" y="6493138"/>
                </a:lnTo>
                <a:lnTo>
                  <a:pt x="1967861" y="6493138"/>
                </a:lnTo>
                <a:lnTo>
                  <a:pt x="1967861" y="6352198"/>
                </a:lnTo>
                <a:close/>
                <a:moveTo>
                  <a:pt x="1265509" y="6352198"/>
                </a:moveTo>
                <a:lnTo>
                  <a:pt x="1265509" y="6528494"/>
                </a:lnTo>
                <a:lnTo>
                  <a:pt x="1435470" y="6528494"/>
                </a:lnTo>
                <a:lnTo>
                  <a:pt x="1435470" y="6493138"/>
                </a:lnTo>
                <a:lnTo>
                  <a:pt x="1302853" y="6493138"/>
                </a:lnTo>
                <a:lnTo>
                  <a:pt x="1302853" y="6452939"/>
                </a:lnTo>
                <a:lnTo>
                  <a:pt x="1385200" y="6452939"/>
                </a:lnTo>
                <a:lnTo>
                  <a:pt x="1385200" y="6417583"/>
                </a:lnTo>
                <a:lnTo>
                  <a:pt x="1302853" y="6417583"/>
                </a:lnTo>
                <a:lnTo>
                  <a:pt x="1302853" y="6388523"/>
                </a:lnTo>
                <a:lnTo>
                  <a:pt x="1428289" y="6388523"/>
                </a:lnTo>
                <a:lnTo>
                  <a:pt x="1428289" y="6352198"/>
                </a:lnTo>
                <a:close/>
                <a:moveTo>
                  <a:pt x="1030531" y="6352198"/>
                </a:moveTo>
                <a:lnTo>
                  <a:pt x="1030531" y="6529014"/>
                </a:lnTo>
                <a:lnTo>
                  <a:pt x="1067731" y="6529014"/>
                </a:lnTo>
                <a:lnTo>
                  <a:pt x="1067731" y="6423970"/>
                </a:lnTo>
                <a:lnTo>
                  <a:pt x="1123532" y="6480295"/>
                </a:lnTo>
                <a:lnTo>
                  <a:pt x="1179333" y="6423970"/>
                </a:lnTo>
                <a:lnTo>
                  <a:pt x="1179333" y="6529014"/>
                </a:lnTo>
                <a:lnTo>
                  <a:pt x="1216533" y="6529014"/>
                </a:lnTo>
                <a:lnTo>
                  <a:pt x="1216533" y="6352198"/>
                </a:lnTo>
                <a:lnTo>
                  <a:pt x="1196756" y="6352198"/>
                </a:lnTo>
                <a:lnTo>
                  <a:pt x="1124003" y="6426584"/>
                </a:lnTo>
                <a:lnTo>
                  <a:pt x="1050308" y="6352198"/>
                </a:lnTo>
                <a:close/>
                <a:moveTo>
                  <a:pt x="0" y="0"/>
                </a:moveTo>
                <a:lnTo>
                  <a:pt x="12191998" y="0"/>
                </a:lnTo>
                <a:lnTo>
                  <a:pt x="12191998" y="6858003"/>
                </a:lnTo>
                <a:lnTo>
                  <a:pt x="0" y="6858003"/>
                </a:lnTo>
                <a:close/>
              </a:path>
            </a:pathLst>
          </a:custGeom>
          <a:solidFill>
            <a:schemeClr val="accent5"/>
          </a:solidFill>
        </p:spPr>
        <p:txBody>
          <a:bodyPr wrap="square">
            <a:noAutofit/>
          </a:bodyPr>
          <a:lstStyle>
            <a:lvl1pPr marL="66675" indent="0">
              <a:buNone/>
              <a:defRPr>
                <a:solidFill>
                  <a:schemeClr val="bg1"/>
                </a:solidFill>
              </a:defRPr>
            </a:lvl1pPr>
          </a:lstStyle>
          <a:p>
            <a:r>
              <a:rPr lang="en-US"/>
              <a:t>Full bleed image option – click on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8964F60-0CB7-9971-C168-FCFDE0732C0A}"/>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070EF911-B422-12D3-FAAC-6ACB96518D67}"/>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Tree>
    <p:extLst>
      <p:ext uri="{BB962C8B-B14F-4D97-AF65-F5344CB8AC3E}">
        <p14:creationId xmlns:p14="http://schemas.microsoft.com/office/powerpoint/2010/main" val="2968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Page +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40610D9-A343-A0A7-B0BD-71547EB1CADE}"/>
              </a:ext>
            </a:extLst>
          </p:cNvPr>
          <p:cNvSpPr/>
          <p:nvPr userDrawn="1"/>
        </p:nvSpPr>
        <p:spPr>
          <a:xfrm rot="10800000" flipV="1">
            <a:off x="2" y="0"/>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Freeform 7">
            <a:extLst>
              <a:ext uri="{FF2B5EF4-FFF2-40B4-BE49-F238E27FC236}">
                <a16:creationId xmlns:a16="http://schemas.microsoft.com/office/drawing/2014/main" id="{72D94023-5488-598F-9169-C6D19D7AA522}"/>
              </a:ext>
            </a:extLst>
          </p:cNvPr>
          <p:cNvSpPr/>
          <p:nvPr userDrawn="1"/>
        </p:nvSpPr>
        <p:spPr>
          <a:xfrm flipH="1">
            <a:off x="0" y="0"/>
            <a:ext cx="6933399" cy="6857999"/>
          </a:xfrm>
          <a:custGeom>
            <a:avLst/>
            <a:gdLst>
              <a:gd name="connsiteX0" fmla="*/ 6933399 w 6933399"/>
              <a:gd name="connsiteY0" fmla="*/ 0 h 6857999"/>
              <a:gd name="connsiteX1" fmla="*/ 0 w 6933399"/>
              <a:gd name="connsiteY1" fmla="*/ 0 h 6857999"/>
              <a:gd name="connsiteX2" fmla="*/ 1190078 w 6933399"/>
              <a:gd name="connsiteY2" fmla="*/ 6857999 h 6857999"/>
              <a:gd name="connsiteX3" fmla="*/ 6933399 w 6933399"/>
              <a:gd name="connsiteY3" fmla="*/ 6857999 h 6857999"/>
              <a:gd name="connsiteX4" fmla="*/ 6933399 w 6933399"/>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3399" h="6857999">
                <a:moveTo>
                  <a:pt x="6933399" y="0"/>
                </a:moveTo>
                <a:lnTo>
                  <a:pt x="0" y="0"/>
                </a:lnTo>
                <a:lnTo>
                  <a:pt x="1190078" y="6857999"/>
                </a:lnTo>
                <a:lnTo>
                  <a:pt x="6933399" y="6857999"/>
                </a:lnTo>
                <a:lnTo>
                  <a:pt x="6933399"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defPPr>
              <a:defRPr lang="en-D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solidFill>
                <a:srgbClr val="FFFFFF"/>
              </a:solidFill>
            </a:endParaRPr>
          </a:p>
        </p:txBody>
      </p:sp>
      <p:sp>
        <p:nvSpPr>
          <p:cNvPr id="14" name="Picture Placeholder 8">
            <a:extLst>
              <a:ext uri="{FF2B5EF4-FFF2-40B4-BE49-F238E27FC236}">
                <a16:creationId xmlns:a16="http://schemas.microsoft.com/office/drawing/2014/main" id="{537750C2-2CFC-FA5F-F089-5D7BE482E244}"/>
              </a:ext>
            </a:extLst>
          </p:cNvPr>
          <p:cNvSpPr>
            <a:spLocks noGrp="1"/>
          </p:cNvSpPr>
          <p:nvPr>
            <p:ph type="pic" sz="quarter" idx="12" hasCustomPrompt="1"/>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accent5"/>
          </a:solidFill>
        </p:spPr>
        <p:txBody>
          <a:bodyPr wrap="square">
            <a:noAutofit/>
          </a:bodyPr>
          <a:lstStyle>
            <a:lvl1pPr marL="66675" indent="0">
              <a:buNone/>
              <a:defRPr>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E9BA3374-EAA1-50C0-C7EA-49D0566FE53A}"/>
              </a:ext>
            </a:extLst>
          </p:cNvPr>
          <p:cNvSpPr>
            <a:spLocks noGrp="1"/>
          </p:cNvSpPr>
          <p:nvPr>
            <p:ph type="title" hasCustomPrompt="1"/>
          </p:nvPr>
        </p:nvSpPr>
        <p:spPr>
          <a:xfrm>
            <a:off x="915725" y="557784"/>
            <a:ext cx="5104931"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C8FBE8DB-5027-C4D6-0A1F-6C57A886A9F3}"/>
              </a:ext>
            </a:extLst>
          </p:cNvPr>
          <p:cNvSpPr>
            <a:spLocks noGrp="1"/>
          </p:cNvSpPr>
          <p:nvPr>
            <p:ph type="body" sz="quarter" idx="10" hasCustomPrompt="1"/>
          </p:nvPr>
        </p:nvSpPr>
        <p:spPr>
          <a:xfrm>
            <a:off x="915725" y="3483865"/>
            <a:ext cx="5104931"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5" name="Group 4">
            <a:extLst>
              <a:ext uri="{FF2B5EF4-FFF2-40B4-BE49-F238E27FC236}">
                <a16:creationId xmlns:a16="http://schemas.microsoft.com/office/drawing/2014/main" id="{02761D30-2E65-16C9-900D-52341B68847B}"/>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E638B0F6-7E27-F480-F961-848E33FC27C2}"/>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2338C327-541D-059F-4FA7-BC4C86213B44}"/>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315128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Page + Imag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6FAC30-37D0-2A31-92EC-DDB649D9182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3" name="Picture Placeholder 8">
            <a:extLst>
              <a:ext uri="{FF2B5EF4-FFF2-40B4-BE49-F238E27FC236}">
                <a16:creationId xmlns:a16="http://schemas.microsoft.com/office/drawing/2014/main" id="{3EDD5D33-1863-491B-BF03-502056AF2633}"/>
              </a:ext>
            </a:extLst>
          </p:cNvPr>
          <p:cNvSpPr>
            <a:spLocks noGrp="1"/>
          </p:cNvSpPr>
          <p:nvPr>
            <p:ph type="pic" sz="quarter" idx="12" hasCustomPrompt="1"/>
          </p:nvPr>
        </p:nvSpPr>
        <p:spPr>
          <a:xfrm>
            <a:off x="6678324" y="0"/>
            <a:ext cx="5513676" cy="6857999"/>
          </a:xfrm>
          <a:prstGeom prst="rect">
            <a:avLst/>
          </a:prstGeom>
          <a:solidFill>
            <a:schemeClr val="accent5"/>
          </a:solidFill>
        </p:spPr>
        <p:txBody>
          <a:bodyPr wrap="square">
            <a:noAutofit/>
          </a:bodyPr>
          <a:lstStyle>
            <a:lvl1pPr marL="0" indent="0">
              <a:buNone/>
              <a:defRPr b="0">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0EC419B7-C447-D270-BE9E-FCE60CA674DF}"/>
              </a:ext>
            </a:extLst>
          </p:cNvPr>
          <p:cNvSpPr>
            <a:spLocks noGrp="1"/>
          </p:cNvSpPr>
          <p:nvPr>
            <p:ph type="title" hasCustomPrompt="1"/>
          </p:nvPr>
        </p:nvSpPr>
        <p:spPr>
          <a:xfrm>
            <a:off x="915725" y="557784"/>
            <a:ext cx="5372059"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40773FED-138B-073C-AAB6-722D3F147581}"/>
              </a:ext>
            </a:extLst>
          </p:cNvPr>
          <p:cNvSpPr>
            <a:spLocks noGrp="1"/>
          </p:cNvSpPr>
          <p:nvPr>
            <p:ph type="body" sz="quarter" idx="10" hasCustomPrompt="1"/>
          </p:nvPr>
        </p:nvSpPr>
        <p:spPr>
          <a:xfrm>
            <a:off x="915725" y="3483865"/>
            <a:ext cx="5372059"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7" name="Group 6">
            <a:extLst>
              <a:ext uri="{FF2B5EF4-FFF2-40B4-BE49-F238E27FC236}">
                <a16:creationId xmlns:a16="http://schemas.microsoft.com/office/drawing/2014/main" id="{C68993E1-6EAB-7E41-AA6A-50B7D5F12432}"/>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37B02FEB-149E-9A9F-E99A-E16C24B5DEA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8027D52B-8CEC-ACD4-9B1C-2768494AA31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2692858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 Textur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8467A25-6525-DEF0-6E9C-88EB741150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12" name="Picture 11">
            <a:extLst>
              <a:ext uri="{FF2B5EF4-FFF2-40B4-BE49-F238E27FC236}">
                <a16:creationId xmlns:a16="http://schemas.microsoft.com/office/drawing/2014/main" id="{C6F3087F-EC64-F7D2-2A63-A07B6B42CC0A}"/>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1298"/>
          <a:stretch/>
        </p:blipFill>
        <p:spPr>
          <a:xfrm rot="5400000">
            <a:off x="4897244" y="-436756"/>
            <a:ext cx="6858000" cy="7731512"/>
          </a:xfrm>
          <a:prstGeom prst="rect">
            <a:avLst/>
          </a:prstGeom>
        </p:spPr>
      </p:pic>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grpSp>
        <p:nvGrpSpPr>
          <p:cNvPr id="5" name="Graphic 9">
            <a:extLst>
              <a:ext uri="{FF2B5EF4-FFF2-40B4-BE49-F238E27FC236}">
                <a16:creationId xmlns:a16="http://schemas.microsoft.com/office/drawing/2014/main" id="{B7483D9C-A8AF-28C7-C2E8-9E9C66A321E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0" name="Freeform 9">
              <a:extLst>
                <a:ext uri="{FF2B5EF4-FFF2-40B4-BE49-F238E27FC236}">
                  <a16:creationId xmlns:a16="http://schemas.microsoft.com/office/drawing/2014/main" id="{6FFDC0C2-9DB0-2E6F-9474-FD166AA82FB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1" name="Freeform 10">
              <a:extLst>
                <a:ext uri="{FF2B5EF4-FFF2-40B4-BE49-F238E27FC236}">
                  <a16:creationId xmlns:a16="http://schemas.microsoft.com/office/drawing/2014/main" id="{41505EF2-9C4E-DB81-F431-F03DC000421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634036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 Image 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5B1102-0EBD-E982-3358-18916BADB73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10" name="Picture Placeholder 6">
            <a:extLst>
              <a:ext uri="{FF2B5EF4-FFF2-40B4-BE49-F238E27FC236}">
                <a16:creationId xmlns:a16="http://schemas.microsoft.com/office/drawing/2014/main" id="{04512901-5206-5467-E6E2-1B836F7ACC29}"/>
              </a:ext>
            </a:extLst>
          </p:cNvPr>
          <p:cNvSpPr>
            <a:spLocks noGrp="1"/>
          </p:cNvSpPr>
          <p:nvPr>
            <p:ph type="pic" sz="quarter" idx="12" hasCustomPrompt="1"/>
          </p:nvPr>
        </p:nvSpPr>
        <p:spPr>
          <a:xfrm>
            <a:off x="5743322" y="0"/>
            <a:ext cx="6448678" cy="6857999"/>
          </a:xfrm>
          <a:prstGeom prst="rect">
            <a:avLst/>
          </a:prstGeom>
          <a:solidFill>
            <a:schemeClr val="accent5"/>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7229B836-2CF3-2B59-3C0F-7283E00BA955}"/>
              </a:ext>
            </a:extLst>
          </p:cNvPr>
          <p:cNvSpPr txBox="1"/>
          <p:nvPr userDrawn="1"/>
        </p:nvSpPr>
        <p:spPr>
          <a:xfrm>
            <a:off x="8122722" y="-498764"/>
            <a:ext cx="0" cy="0"/>
          </a:xfrm>
          <a:prstGeom prst="rect">
            <a:avLst/>
          </a:prstGeom>
          <a:noFill/>
        </p:spPr>
        <p:txBody>
          <a:bodyPr wrap="none" rtlCol="0">
            <a:noAutofit/>
          </a:bodyPr>
          <a:lstStyle/>
          <a:p>
            <a:pPr algn="l">
              <a:spcAft>
                <a:spcPts val="600"/>
              </a:spcAft>
            </a:pPr>
            <a:endParaRPr lang="en-US" sz="1400"/>
          </a:p>
        </p:txBody>
      </p:sp>
      <p:grpSp>
        <p:nvGrpSpPr>
          <p:cNvPr id="11" name="Graphic 9">
            <a:extLst>
              <a:ext uri="{FF2B5EF4-FFF2-40B4-BE49-F238E27FC236}">
                <a16:creationId xmlns:a16="http://schemas.microsoft.com/office/drawing/2014/main" id="{61D4772C-0237-9278-49C2-024DDD16DF4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2" name="Freeform 11">
              <a:extLst>
                <a:ext uri="{FF2B5EF4-FFF2-40B4-BE49-F238E27FC236}">
                  <a16:creationId xmlns:a16="http://schemas.microsoft.com/office/drawing/2014/main" id="{30BC871A-7FC5-1A88-E623-D1315B45B18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DDD58B76-62E5-50A7-DD88-DDF61335B612}"/>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155262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5A10F1C-046F-1CBE-F91B-EB48F6346AC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8" name="Picture Placeholder 8">
            <a:extLst>
              <a:ext uri="{FF2B5EF4-FFF2-40B4-BE49-F238E27FC236}">
                <a16:creationId xmlns:a16="http://schemas.microsoft.com/office/drawing/2014/main" id="{28B13C15-A48B-B4D1-051D-3DA53D30DFC2}"/>
              </a:ext>
            </a:extLst>
          </p:cNvPr>
          <p:cNvSpPr>
            <a:spLocks noGrp="1"/>
          </p:cNvSpPr>
          <p:nvPr>
            <p:ph type="pic" sz="quarter" idx="12"/>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bg2"/>
          </a:solidFill>
        </p:spPr>
        <p:txBody>
          <a:bodyPr wrap="square">
            <a:noAutofit/>
          </a:bodyPr>
          <a:lstStyle>
            <a:lvl1pPr>
              <a:defRPr>
                <a:latin typeface="+mn-lt"/>
              </a:defRPr>
            </a:lvl1pPr>
          </a:lstStyle>
          <a:p>
            <a:r>
              <a:rPr lang="en-US"/>
              <a:t>Click icon to add picture</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0862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Slide - 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8F5D0E0E-0A59-C262-2E84-D5250A85B9E6}"/>
              </a:ext>
            </a:extLst>
          </p:cNvPr>
          <p:cNvSpPr>
            <a:spLocks noGrp="1"/>
          </p:cNvSpPr>
          <p:nvPr>
            <p:ph type="pic" sz="quarter" idx="12" hasCustomPrompt="1"/>
          </p:nvPr>
        </p:nvSpPr>
        <p:spPr>
          <a:xfrm>
            <a:off x="8941462"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7" name="Picture Placeholder 2">
            <a:extLst>
              <a:ext uri="{FF2B5EF4-FFF2-40B4-BE49-F238E27FC236}">
                <a16:creationId xmlns:a16="http://schemas.microsoft.com/office/drawing/2014/main" id="{B6CAC3CE-CD4C-55F2-634E-4DFD4B911B05}"/>
              </a:ext>
            </a:extLst>
          </p:cNvPr>
          <p:cNvSpPr>
            <a:spLocks noGrp="1"/>
          </p:cNvSpPr>
          <p:nvPr>
            <p:ph type="pic" sz="quarter" idx="13" hasCustomPrompt="1"/>
          </p:nvPr>
        </p:nvSpPr>
        <p:spPr>
          <a:xfrm>
            <a:off x="6135756"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8" name="Picture Placeholder 3">
            <a:extLst>
              <a:ext uri="{FF2B5EF4-FFF2-40B4-BE49-F238E27FC236}">
                <a16:creationId xmlns:a16="http://schemas.microsoft.com/office/drawing/2014/main" id="{154F1B20-8829-99ED-6527-725F590FF71E}"/>
              </a:ext>
            </a:extLst>
          </p:cNvPr>
          <p:cNvSpPr>
            <a:spLocks noGrp="1"/>
          </p:cNvSpPr>
          <p:nvPr>
            <p:ph type="pic" sz="quarter" idx="14" hasCustomPrompt="1"/>
          </p:nvPr>
        </p:nvSpPr>
        <p:spPr>
          <a:xfrm>
            <a:off x="6135756"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9" name="Picture Placeholder 5">
            <a:extLst>
              <a:ext uri="{FF2B5EF4-FFF2-40B4-BE49-F238E27FC236}">
                <a16:creationId xmlns:a16="http://schemas.microsoft.com/office/drawing/2014/main" id="{E1C58B29-DBBD-6004-2842-DC8FF4B96C2F}"/>
              </a:ext>
            </a:extLst>
          </p:cNvPr>
          <p:cNvSpPr>
            <a:spLocks noGrp="1"/>
          </p:cNvSpPr>
          <p:nvPr>
            <p:ph type="pic" sz="quarter" idx="16" hasCustomPrompt="1"/>
          </p:nvPr>
        </p:nvSpPr>
        <p:spPr>
          <a:xfrm>
            <a:off x="8937655"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1" name="Picture Placeholder 7">
            <a:extLst>
              <a:ext uri="{FF2B5EF4-FFF2-40B4-BE49-F238E27FC236}">
                <a16:creationId xmlns:a16="http://schemas.microsoft.com/office/drawing/2014/main" id="{FA3F649A-0DCE-9785-3674-5452A110AEF0}"/>
              </a:ext>
            </a:extLst>
          </p:cNvPr>
          <p:cNvSpPr>
            <a:spLocks noGrp="1"/>
          </p:cNvSpPr>
          <p:nvPr>
            <p:ph type="pic" sz="quarter" idx="18" hasCustomPrompt="1"/>
          </p:nvPr>
        </p:nvSpPr>
        <p:spPr>
          <a:xfrm>
            <a:off x="8937655" y="3770026"/>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2" name="Picture Placeholder 8">
            <a:extLst>
              <a:ext uri="{FF2B5EF4-FFF2-40B4-BE49-F238E27FC236}">
                <a16:creationId xmlns:a16="http://schemas.microsoft.com/office/drawing/2014/main" id="{E5083365-E602-C03D-64C8-E1AF47E5DE59}"/>
              </a:ext>
            </a:extLst>
          </p:cNvPr>
          <p:cNvSpPr>
            <a:spLocks noGrp="1"/>
          </p:cNvSpPr>
          <p:nvPr>
            <p:ph type="pic" sz="quarter" idx="19" hasCustomPrompt="1"/>
          </p:nvPr>
        </p:nvSpPr>
        <p:spPr>
          <a:xfrm>
            <a:off x="6135756" y="373203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3" name="Picture Placeholder 9">
            <a:extLst>
              <a:ext uri="{FF2B5EF4-FFF2-40B4-BE49-F238E27FC236}">
                <a16:creationId xmlns:a16="http://schemas.microsoft.com/office/drawing/2014/main" id="{C545EFE3-FA36-364F-3506-16CBB259473E}"/>
              </a:ext>
            </a:extLst>
          </p:cNvPr>
          <p:cNvSpPr>
            <a:spLocks noGrp="1"/>
          </p:cNvSpPr>
          <p:nvPr>
            <p:ph type="pic" sz="quarter" idx="20" hasCustomPrompt="1"/>
          </p:nvPr>
        </p:nvSpPr>
        <p:spPr>
          <a:xfrm>
            <a:off x="6135756"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5" name="Picture Placeholder 11">
            <a:extLst>
              <a:ext uri="{FF2B5EF4-FFF2-40B4-BE49-F238E27FC236}">
                <a16:creationId xmlns:a16="http://schemas.microsoft.com/office/drawing/2014/main" id="{DD445EE6-B934-7390-6760-4BFC0A0AC254}"/>
              </a:ext>
            </a:extLst>
          </p:cNvPr>
          <p:cNvSpPr>
            <a:spLocks noGrp="1"/>
          </p:cNvSpPr>
          <p:nvPr>
            <p:ph type="pic" sz="quarter" idx="22" hasCustomPrompt="1"/>
          </p:nvPr>
        </p:nvSpPr>
        <p:spPr>
          <a:xfrm>
            <a:off x="8921447"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8" name="Text Placeholder 17">
            <a:extLst>
              <a:ext uri="{FF2B5EF4-FFF2-40B4-BE49-F238E27FC236}">
                <a16:creationId xmlns:a16="http://schemas.microsoft.com/office/drawing/2014/main" id="{5A82CAF8-782E-6B97-B6B0-0260DCE4F197}"/>
              </a:ext>
            </a:extLst>
          </p:cNvPr>
          <p:cNvSpPr>
            <a:spLocks noGrp="1"/>
          </p:cNvSpPr>
          <p:nvPr>
            <p:ph type="body" sz="quarter" idx="23" hasCustomPrompt="1"/>
          </p:nvPr>
        </p:nvSpPr>
        <p:spPr>
          <a:xfrm>
            <a:off x="6096000" y="731839"/>
            <a:ext cx="4049712" cy="840930"/>
          </a:xfrm>
        </p:spPr>
        <p:txBody>
          <a:bodyPr anchor="b"/>
          <a:lstStyle>
            <a:lvl1pPr marL="0" indent="0">
              <a:buNone/>
              <a:defRPr sz="1000" b="1" cap="all" spc="200" baseline="0">
                <a:solidFill>
                  <a:schemeClr val="accent5"/>
                </a:solidFill>
                <a:latin typeface="+mn-lt"/>
              </a:defRPr>
            </a:lvl1pPr>
            <a:lvl2pPr marL="457200" indent="0">
              <a:buNone/>
              <a:defRPr sz="800" b="1"/>
            </a:lvl2pPr>
            <a:lvl3pPr marL="914400" indent="0">
              <a:buNone/>
              <a:defRPr sz="800" b="1"/>
            </a:lvl3pPr>
            <a:lvl4pPr marL="1371600" indent="0">
              <a:buNone/>
              <a:defRPr sz="800" b="1"/>
            </a:lvl4pPr>
            <a:lvl5pPr marL="1828800" indent="0">
              <a:buNone/>
              <a:defRPr sz="800" b="1"/>
            </a:lvl5pPr>
          </a:lstStyle>
          <a:p>
            <a:pPr lvl="0"/>
            <a:r>
              <a:rPr lang="en-US"/>
              <a:t>MEET THE TEAM</a:t>
            </a:r>
          </a:p>
        </p:txBody>
      </p:sp>
    </p:spTree>
    <p:extLst>
      <p:ext uri="{BB962C8B-B14F-4D97-AF65-F5344CB8AC3E}">
        <p14:creationId xmlns:p14="http://schemas.microsoft.com/office/powerpoint/2010/main" val="770827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Slide - Image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476FD4A-8DEC-4288-31FC-E11FAEAEB87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B3093CCE-368A-239E-8D3F-6FCA13314FC3}"/>
              </a:ext>
            </a:extLst>
          </p:cNvPr>
          <p:cNvSpPr>
            <a:spLocks noGrp="1"/>
          </p:cNvSpPr>
          <p:nvPr>
            <p:ph type="pic" sz="quarter" idx="12" hasCustomPrompt="1"/>
          </p:nvPr>
        </p:nvSpPr>
        <p:spPr>
          <a:xfrm>
            <a:off x="5743322" y="1"/>
            <a:ext cx="6448678" cy="6857999"/>
          </a:xfrm>
          <a:prstGeom prst="rect">
            <a:avLst/>
          </a:prstGeom>
          <a:solidFill>
            <a:schemeClr val="bg2"/>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4" name="TextBox 3">
            <a:extLst>
              <a:ext uri="{FF2B5EF4-FFF2-40B4-BE49-F238E27FC236}">
                <a16:creationId xmlns:a16="http://schemas.microsoft.com/office/drawing/2014/main" id="{9A815C76-9273-44CE-603F-F4A10C34A65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768698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519A66-EB16-1A1C-E787-A898E82A40F2}"/>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FCFFBCBA-0559-328A-A56A-19158E195F3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31E1F5A4-4FDE-935B-A4FD-B4C29343FA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BCB53C9B-EBD3-5ABA-2E39-0B9E964BA2B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850896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 Texture,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02C4C0-6AF4-A751-D91A-FC5F17759A5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diamond&#10;&#10;AI-generated content may be incorrect.">
            <a:extLst>
              <a:ext uri="{FF2B5EF4-FFF2-40B4-BE49-F238E27FC236}">
                <a16:creationId xmlns:a16="http://schemas.microsoft.com/office/drawing/2014/main" id="{3A8CA6DA-F5A8-713D-4994-D03AAE9DB1DE}"/>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7" name="Title 1">
            <a:extLst>
              <a:ext uri="{FF2B5EF4-FFF2-40B4-BE49-F238E27FC236}">
                <a16:creationId xmlns:a16="http://schemas.microsoft.com/office/drawing/2014/main" id="{D20BAF10-7045-56DD-9CD8-14C315EB5B3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86E32514-7374-FBA6-E3BA-B1F5A00FDC8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9FC621CF-7D6E-189D-DB48-B3B57464B4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3ABC6638-711B-F07F-BEC7-E4FC3B5EF3C9}"/>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585036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 Texture, Dark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crystal&#10;&#10;Description automatically generated">
            <a:extLst>
              <a:ext uri="{FF2B5EF4-FFF2-40B4-BE49-F238E27FC236}">
                <a16:creationId xmlns:a16="http://schemas.microsoft.com/office/drawing/2014/main" id="{A1D1A869-B1B3-5954-7BA3-3805061FB80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35316"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116518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 Texture, Dark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0"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8" name="Picture 7" descr="A close up of a blue and black background&#10;&#10;Description automatically generated">
            <a:extLst>
              <a:ext uri="{FF2B5EF4-FFF2-40B4-BE49-F238E27FC236}">
                <a16:creationId xmlns:a16="http://schemas.microsoft.com/office/drawing/2014/main" id="{91A43463-E247-52FD-0BBD-07F9DA95E8F8}"/>
              </a:ext>
            </a:extLst>
          </p:cNvPr>
          <p:cNvPicPr>
            <a:picLocks noChangeAspect="1"/>
          </p:cNvPicPr>
          <p:nvPr userDrawn="1"/>
        </p:nvPicPr>
        <p:blipFill>
          <a:blip r:embed="rId2"/>
          <a:srcRect t="15344" b="9160"/>
          <a:stretch/>
        </p:blipFill>
        <p:spPr>
          <a:xfrm rot="10800000">
            <a:off x="0" y="1681812"/>
            <a:ext cx="12188952" cy="5176187"/>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099759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 Texture, L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41928FC-79A3-190F-8F05-6BA96E237EBF}"/>
              </a:ext>
            </a:extLst>
          </p:cNvPr>
          <p:cNvSpPr/>
          <p:nvPr userDrawn="1"/>
        </p:nvSpPr>
        <p:spPr>
          <a:xfrm rot="10800000" flipV="1">
            <a:off x="0"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9" name="Picture 8">
            <a:extLst>
              <a:ext uri="{FF2B5EF4-FFF2-40B4-BE49-F238E27FC236}">
                <a16:creationId xmlns:a16="http://schemas.microsoft.com/office/drawing/2014/main" id="{531776B3-790F-BFCC-B158-72F24BAAADBF}"/>
              </a:ext>
            </a:extLst>
          </p:cNvPr>
          <p:cNvPicPr>
            <a:picLocks noChangeAspect="1"/>
          </p:cNvPicPr>
          <p:nvPr userDrawn="1"/>
        </p:nvPicPr>
        <p:blipFill>
          <a:blip r:embed="rId2"/>
          <a:srcRect l="32657" t="10642" r="-3" b="13034"/>
          <a:stretch/>
        </p:blipFill>
        <p:spPr>
          <a:xfrm rot="5400000">
            <a:off x="6577010" y="1243014"/>
            <a:ext cx="6858001" cy="4371975"/>
          </a:xfrm>
          <a:prstGeom prst="rect">
            <a:avLst/>
          </a:prstGeom>
        </p:spPr>
      </p:pic>
      <p:grpSp>
        <p:nvGrpSpPr>
          <p:cNvPr id="10" name="Graphic 9">
            <a:extLst>
              <a:ext uri="{FF2B5EF4-FFF2-40B4-BE49-F238E27FC236}">
                <a16:creationId xmlns:a16="http://schemas.microsoft.com/office/drawing/2014/main" id="{62515DD1-8C1A-0C64-9E44-1E116A32E439}"/>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1" name="Freeform 10">
              <a:extLst>
                <a:ext uri="{FF2B5EF4-FFF2-40B4-BE49-F238E27FC236}">
                  <a16:creationId xmlns:a16="http://schemas.microsoft.com/office/drawing/2014/main" id="{23F89819-46B3-3107-41D5-6CAB71E77DFA}"/>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2" name="Freeform 11">
              <a:extLst>
                <a:ext uri="{FF2B5EF4-FFF2-40B4-BE49-F238E27FC236}">
                  <a16:creationId xmlns:a16="http://schemas.microsoft.com/office/drawing/2014/main" id="{4D660E8C-B871-6A95-F225-A5B539A04A70}"/>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4501915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Slide - Texture, Light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C4ADE0-0FB5-D047-00E9-C3F86508ACA3}"/>
              </a:ext>
            </a:extLst>
          </p:cNvPr>
          <p:cNvSpPr/>
          <p:nvPr userDrawn="1"/>
        </p:nvSpPr>
        <p:spPr>
          <a:xfrm rot="10800000" flipV="1">
            <a:off x="2"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a:extLst>
              <a:ext uri="{FF2B5EF4-FFF2-40B4-BE49-F238E27FC236}">
                <a16:creationId xmlns:a16="http://schemas.microsoft.com/office/drawing/2014/main" id="{A221CAF3-AB05-F456-E3E0-86189F496F39}"/>
              </a:ext>
            </a:extLst>
          </p:cNvPr>
          <p:cNvPicPr>
            <a:picLocks noChangeAspect="1"/>
          </p:cNvPicPr>
          <p:nvPr userDrawn="1"/>
        </p:nvPicPr>
        <p:blipFill>
          <a:blip r:embed="rId2"/>
          <a:srcRect l="58512" t="17473" r="-64" b="3447"/>
          <a:stretch/>
        </p:blipFill>
        <p:spPr>
          <a:xfrm rot="5400000" flipH="1">
            <a:off x="6947338" y="1613338"/>
            <a:ext cx="5065986" cy="5423338"/>
          </a:xfrm>
          <a:prstGeom prst="rect">
            <a:avLst/>
          </a:prstGeom>
        </p:spPr>
      </p:pic>
      <p:grpSp>
        <p:nvGrpSpPr>
          <p:cNvPr id="6" name="Graphic 9">
            <a:extLst>
              <a:ext uri="{FF2B5EF4-FFF2-40B4-BE49-F238E27FC236}">
                <a16:creationId xmlns:a16="http://schemas.microsoft.com/office/drawing/2014/main" id="{10C1272F-E48D-13A6-C867-593EC65548C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DFE6C87D-DA3E-6368-E300-E2A2D01BC13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CB7481C0-6D1E-EF36-C613-3E7785AEF37A}"/>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6CE20A1F-2047-7BC9-8B59-CED282DAA681}"/>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3704236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 Texture, Light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2D6E5A-3F26-3F8D-C878-96A904D35C87}"/>
              </a:ext>
            </a:extLst>
          </p:cNvPr>
          <p:cNvSpPr/>
          <p:nvPr userDrawn="1"/>
        </p:nvSpPr>
        <p:spPr>
          <a:xfrm rot="10800000" flipV="1">
            <a:off x="2" y="-3"/>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5" name="Picture 4">
            <a:extLst>
              <a:ext uri="{FF2B5EF4-FFF2-40B4-BE49-F238E27FC236}">
                <a16:creationId xmlns:a16="http://schemas.microsoft.com/office/drawing/2014/main" id="{660C216B-A8AC-384A-81FE-0ED05251E3C5}"/>
              </a:ext>
            </a:extLst>
          </p:cNvPr>
          <p:cNvPicPr>
            <a:picLocks noChangeAspect="1"/>
          </p:cNvPicPr>
          <p:nvPr userDrawn="1"/>
        </p:nvPicPr>
        <p:blipFill>
          <a:blip r:embed="rId2"/>
          <a:srcRect r="32407" b="4787"/>
          <a:stretch/>
        </p:blipFill>
        <p:spPr>
          <a:xfrm rot="5400000">
            <a:off x="6046075" y="712077"/>
            <a:ext cx="6858001" cy="5433849"/>
          </a:xfrm>
          <a:prstGeom prst="rect">
            <a:avLst/>
          </a:prstGeom>
        </p:spPr>
      </p:pic>
      <p:grpSp>
        <p:nvGrpSpPr>
          <p:cNvPr id="6" name="Graphic 9">
            <a:extLst>
              <a:ext uri="{FF2B5EF4-FFF2-40B4-BE49-F238E27FC236}">
                <a16:creationId xmlns:a16="http://schemas.microsoft.com/office/drawing/2014/main" id="{72E8A13F-22E9-99BA-FAFF-672D279ABDC0}"/>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290E42D1-AA36-19D3-3286-A45AF96EE9A7}"/>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A702E34B-F934-E630-C91C-37946469288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F5064E94-0FC8-C479-67A7-81481582BE63}"/>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10853651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Slide + EYEBROW,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F33162-B13D-704C-3524-E527FF5BEC09}"/>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5" name="TextBox 24">
            <a:extLst>
              <a:ext uri="{FF2B5EF4-FFF2-40B4-BE49-F238E27FC236}">
                <a16:creationId xmlns:a16="http://schemas.microsoft.com/office/drawing/2014/main" id="{7A83B8F5-18AE-B94A-82A0-B580840EFE63}"/>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45BF5F69-E10A-F6B1-3F95-D3C57AE277B8}"/>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bg1"/>
                </a:solidFill>
                <a:latin typeface="+mj-lt"/>
              </a:defRPr>
            </a:lvl1pPr>
          </a:lstStyle>
          <a:p>
            <a:pPr lvl="0">
              <a:lnSpc>
                <a:spcPct val="85000"/>
              </a:lnSpc>
            </a:pPr>
            <a:r>
              <a:rPr lang="en-US"/>
              <a:t>Divider copy goes here</a:t>
            </a:r>
          </a:p>
        </p:txBody>
      </p:sp>
      <p:sp>
        <p:nvSpPr>
          <p:cNvPr id="5" name="Text Placeholder 12">
            <a:extLst>
              <a:ext uri="{FF2B5EF4-FFF2-40B4-BE49-F238E27FC236}">
                <a16:creationId xmlns:a16="http://schemas.microsoft.com/office/drawing/2014/main" id="{03653832-9177-0922-2808-259E17057D89}"/>
              </a:ext>
            </a:extLst>
          </p:cNvPr>
          <p:cNvSpPr>
            <a:spLocks noGrp="1"/>
          </p:cNvSpPr>
          <p:nvPr>
            <p:ph type="body" sz="quarter" idx="15" hasCustomPrompt="1"/>
          </p:nvPr>
        </p:nvSpPr>
        <p:spPr>
          <a:xfrm>
            <a:off x="914400" y="937172"/>
            <a:ext cx="9709484" cy="290049"/>
          </a:xfrm>
        </p:spPr>
        <p:txBody>
          <a:bodyPr lIns="137160" rIns="91440" anchor="b">
            <a:noAutofit/>
          </a:bodyPr>
          <a:lstStyle>
            <a:lvl1pPr marL="0" indent="0">
              <a:buNone/>
              <a:defRPr sz="800" b="1" i="0" cap="all" spc="150" baseline="0">
                <a:solidFill>
                  <a:schemeClr val="bg2">
                    <a:lumMod val="90000"/>
                  </a:schemeClr>
                </a:solidFill>
                <a:latin typeface="+mj-lt"/>
              </a:defRPr>
            </a:lvl1pPr>
          </a:lstStyle>
          <a:p>
            <a:pPr lvl="0"/>
            <a:r>
              <a:rPr lang="en-US"/>
              <a:t>Two to three word eyebrow (optional)</a:t>
            </a:r>
          </a:p>
        </p:txBody>
      </p:sp>
      <p:grpSp>
        <p:nvGrpSpPr>
          <p:cNvPr id="4" name="Graphic 9">
            <a:extLst>
              <a:ext uri="{FF2B5EF4-FFF2-40B4-BE49-F238E27FC236}">
                <a16:creationId xmlns:a16="http://schemas.microsoft.com/office/drawing/2014/main" id="{17E7EE1E-226D-38AF-361F-E567ED24DDE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C94A7307-B4FD-2762-B048-B46752517B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4FB4FB2C-2043-7793-4C1D-1FCACAD624F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900468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Slide + EYEBROW, Light">
    <p:spTree>
      <p:nvGrpSpPr>
        <p:cNvPr id="1" name=""/>
        <p:cNvGrpSpPr/>
        <p:nvPr/>
      </p:nvGrpSpPr>
      <p:grpSpPr>
        <a:xfrm>
          <a:off x="0" y="0"/>
          <a:ext cx="0" cy="0"/>
          <a:chOff x="0" y="0"/>
          <a:chExt cx="0" cy="0"/>
        </a:xfrm>
      </p:grpSpPr>
      <p:sp>
        <p:nvSpPr>
          <p:cNvPr id="3" name="Text Placeholder 12">
            <a:extLst>
              <a:ext uri="{FF2B5EF4-FFF2-40B4-BE49-F238E27FC236}">
                <a16:creationId xmlns:a16="http://schemas.microsoft.com/office/drawing/2014/main" id="{C29B351B-52EF-CC43-0932-43B95E39A9F9}"/>
              </a:ext>
            </a:extLst>
          </p:cNvPr>
          <p:cNvSpPr>
            <a:spLocks noGrp="1"/>
          </p:cNvSpPr>
          <p:nvPr>
            <p:ph type="body" sz="quarter" idx="15" hasCustomPrompt="1"/>
          </p:nvPr>
        </p:nvSpPr>
        <p:spPr>
          <a:xfrm>
            <a:off x="914398" y="937172"/>
            <a:ext cx="9710927" cy="290049"/>
          </a:xfrm>
        </p:spPr>
        <p:txBody>
          <a:bodyPr lIns="137160" rIns="45720" anchor="b">
            <a:noAutofit/>
          </a:bodyPr>
          <a:lstStyle>
            <a:lvl1pPr marL="0" indent="0">
              <a:buNone/>
              <a:defRPr sz="800" b="1" i="0" cap="all" spc="150" baseline="0">
                <a:solidFill>
                  <a:schemeClr val="accent5"/>
                </a:solidFill>
                <a:latin typeface="+mj-lt"/>
              </a:defRPr>
            </a:lvl1pPr>
          </a:lstStyle>
          <a:p>
            <a:pPr lvl="0"/>
            <a:r>
              <a:rPr lang="en-US"/>
              <a:t>Two to three word eyebrow (optional)</a:t>
            </a:r>
          </a:p>
        </p:txBody>
      </p:sp>
      <p:sp>
        <p:nvSpPr>
          <p:cNvPr id="6" name="Title 1">
            <a:extLst>
              <a:ext uri="{FF2B5EF4-FFF2-40B4-BE49-F238E27FC236}">
                <a16:creationId xmlns:a16="http://schemas.microsoft.com/office/drawing/2014/main" id="{24D1596B-D4ED-3AE3-A9C3-CB2EDEB8D053}"/>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tx1"/>
                </a:solidFill>
              </a:defRPr>
            </a:lvl1pPr>
          </a:lstStyle>
          <a:p>
            <a:pPr lvl="0">
              <a:lnSpc>
                <a:spcPct val="85000"/>
              </a:lnSpc>
            </a:pPr>
            <a:r>
              <a:rPr lang="en-US"/>
              <a:t>Divider copy goes here</a:t>
            </a:r>
          </a:p>
        </p:txBody>
      </p:sp>
    </p:spTree>
    <p:extLst>
      <p:ext uri="{BB962C8B-B14F-4D97-AF65-F5344CB8AC3E}">
        <p14:creationId xmlns:p14="http://schemas.microsoft.com/office/powerpoint/2010/main" val="18688824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tatement Slide 1">
    <p:bg>
      <p:bgPr>
        <a:solidFill>
          <a:schemeClr val="tx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2" name="Graphic 9">
            <a:extLst>
              <a:ext uri="{FF2B5EF4-FFF2-40B4-BE49-F238E27FC236}">
                <a16:creationId xmlns:a16="http://schemas.microsoft.com/office/drawing/2014/main" id="{766D62DE-CF40-057B-C7A1-7C1F85B1FCCA}"/>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4" name="Freeform 3">
              <a:extLst>
                <a:ext uri="{FF2B5EF4-FFF2-40B4-BE49-F238E27FC236}">
                  <a16:creationId xmlns:a16="http://schemas.microsoft.com/office/drawing/2014/main" id="{4C29980B-38B0-E1FA-2321-A37FE238E4BE}"/>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5" name="Freeform 4">
              <a:extLst>
                <a:ext uri="{FF2B5EF4-FFF2-40B4-BE49-F238E27FC236}">
                  <a16:creationId xmlns:a16="http://schemas.microsoft.com/office/drawing/2014/main" id="{36B6559D-DFD7-D3F6-073A-B30CA655B0F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476059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tatement Slide - Dark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432818-24CB-12AD-36F8-601D317ED98F}"/>
              </a:ext>
            </a:extLst>
          </p:cNvPr>
          <p:cNvSpPr/>
          <p:nvPr userDrawn="1"/>
        </p:nvSpPr>
        <p:spPr>
          <a:xfrm rot="10800000" flipV="1">
            <a:off x="2" y="-3"/>
            <a:ext cx="12191998" cy="6858003"/>
          </a:xfrm>
          <a:prstGeom prst="rect">
            <a:avLst/>
          </a:prstGeom>
          <a:solidFill>
            <a:schemeClr val="accent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9" name="Picture Placeholder 8">
            <a:extLst>
              <a:ext uri="{FF2B5EF4-FFF2-40B4-BE49-F238E27FC236}">
                <a16:creationId xmlns:a16="http://schemas.microsoft.com/office/drawing/2014/main" id="{71E72675-4E9E-486A-C051-C92449EE7939}"/>
              </a:ext>
            </a:extLst>
          </p:cNvPr>
          <p:cNvSpPr>
            <a:spLocks noGrp="1"/>
          </p:cNvSpPr>
          <p:nvPr>
            <p:ph type="pic" sz="quarter" idx="10" hasCustomPrompt="1"/>
          </p:nvPr>
        </p:nvSpPr>
        <p:spPr>
          <a:xfrm>
            <a:off x="3" y="0"/>
            <a:ext cx="12191997" cy="6858002"/>
          </a:xfrm>
          <a:custGeom>
            <a:avLst/>
            <a:gdLst>
              <a:gd name="connsiteX0" fmla="*/ 417190 w 12191997"/>
              <a:gd name="connsiteY0" fmla="*/ 6550173 h 6858002"/>
              <a:gd name="connsiteX1" fmla="*/ 419098 w 12191997"/>
              <a:gd name="connsiteY1" fmla="*/ 6550173 h 6858002"/>
              <a:gd name="connsiteX2" fmla="*/ 419098 w 12191997"/>
              <a:gd name="connsiteY2" fmla="*/ 6552070 h 6858002"/>
              <a:gd name="connsiteX3" fmla="*/ 522773 w 12191997"/>
              <a:gd name="connsiteY3" fmla="*/ 6489534 h 6858002"/>
              <a:gd name="connsiteX4" fmla="*/ 522773 w 12191997"/>
              <a:gd name="connsiteY4" fmla="*/ 6626228 h 6858002"/>
              <a:gd name="connsiteX5" fmla="*/ 552231 w 12191997"/>
              <a:gd name="connsiteY5" fmla="*/ 6626228 h 6858002"/>
              <a:gd name="connsiteX6" fmla="*/ 552231 w 12191997"/>
              <a:gd name="connsiteY6" fmla="*/ 6544276 h 6858002"/>
              <a:gd name="connsiteX7" fmla="*/ 596420 w 12191997"/>
              <a:gd name="connsiteY7" fmla="*/ 6588218 h 6858002"/>
              <a:gd name="connsiteX8" fmla="*/ 640607 w 12191997"/>
              <a:gd name="connsiteY8" fmla="*/ 6544276 h 6858002"/>
              <a:gd name="connsiteX9" fmla="*/ 640607 w 12191997"/>
              <a:gd name="connsiteY9" fmla="*/ 6626228 h 6858002"/>
              <a:gd name="connsiteX10" fmla="*/ 668233 w 12191997"/>
              <a:gd name="connsiteY10" fmla="*/ 6626228 h 6858002"/>
              <a:gd name="connsiteX11" fmla="*/ 668233 w 12191997"/>
              <a:gd name="connsiteY11" fmla="*/ 6489534 h 6858002"/>
              <a:gd name="connsiteX12" fmla="*/ 653161 w 12191997"/>
              <a:gd name="connsiteY12" fmla="*/ 6489534 h 6858002"/>
              <a:gd name="connsiteX13" fmla="*/ 653160 w 12191997"/>
              <a:gd name="connsiteY13" fmla="*/ 6489534 h 6858002"/>
              <a:gd name="connsiteX14" fmla="*/ 596792 w 12191997"/>
              <a:gd name="connsiteY14" fmla="*/ 6546315 h 6858002"/>
              <a:gd name="connsiteX15" fmla="*/ 539693 w 12191997"/>
              <a:gd name="connsiteY15" fmla="*/ 6489534 h 6858002"/>
              <a:gd name="connsiteX16" fmla="*/ 419098 w 12191997"/>
              <a:gd name="connsiteY16" fmla="*/ 6489534 h 6858002"/>
              <a:gd name="connsiteX17" fmla="*/ 419098 w 12191997"/>
              <a:gd name="connsiteY17" fmla="*/ 6550172 h 6858002"/>
              <a:gd name="connsiteX18" fmla="*/ 417189 w 12191997"/>
              <a:gd name="connsiteY18" fmla="*/ 6550172 h 6858002"/>
              <a:gd name="connsiteX19" fmla="*/ 417190 w 12191997"/>
              <a:gd name="connsiteY19" fmla="*/ 6550173 h 6858002"/>
              <a:gd name="connsiteX20" fmla="*/ 419099 w 12191997"/>
              <a:gd name="connsiteY20" fmla="*/ 6552071 h 6858002"/>
              <a:gd name="connsiteX21" fmla="*/ 419098 w 12191997"/>
              <a:gd name="connsiteY21" fmla="*/ 6552071 h 6858002"/>
              <a:gd name="connsiteX22" fmla="*/ 419098 w 12191997"/>
              <a:gd name="connsiteY22" fmla="*/ 6626781 h 6858002"/>
              <a:gd name="connsiteX23" fmla="*/ 419099 w 12191997"/>
              <a:gd name="connsiteY23" fmla="*/ 662678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419099 w 12191997"/>
              <a:gd name="connsiteY28" fmla="*/ 6489534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489534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419099 w 12191997"/>
              <a:gd name="connsiteY30" fmla="*/ 6489534 h 6858002"/>
              <a:gd name="connsiteX31" fmla="*/ 0 w 12191997"/>
              <a:gd name="connsiteY31" fmla="*/ 0 h 6858002"/>
              <a:gd name="connsiteX32" fmla="*/ 12191997 w 12191997"/>
              <a:gd name="connsiteY32" fmla="*/ 0 h 6858002"/>
              <a:gd name="connsiteX33" fmla="*/ 12191997 w 12191997"/>
              <a:gd name="connsiteY33" fmla="*/ 6858002 h 6858002"/>
              <a:gd name="connsiteX34" fmla="*/ 0 w 12191997"/>
              <a:gd name="connsiteY34" fmla="*/ 6858002 h 6858002"/>
              <a:gd name="connsiteX35" fmla="*/ 0 w 12191997"/>
              <a:gd name="connsiteY35"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0 w 12191997"/>
              <a:gd name="connsiteY30" fmla="*/ 0 h 6858002"/>
              <a:gd name="connsiteX31" fmla="*/ 12191997 w 12191997"/>
              <a:gd name="connsiteY31" fmla="*/ 0 h 6858002"/>
              <a:gd name="connsiteX32" fmla="*/ 12191997 w 12191997"/>
              <a:gd name="connsiteY32" fmla="*/ 6858002 h 6858002"/>
              <a:gd name="connsiteX33" fmla="*/ 0 w 12191997"/>
              <a:gd name="connsiteY33" fmla="*/ 6858002 h 6858002"/>
              <a:gd name="connsiteX34" fmla="*/ 0 w 12191997"/>
              <a:gd name="connsiteY34"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552071 h 6858002"/>
              <a:gd name="connsiteX26" fmla="*/ 493259 w 12191997"/>
              <a:gd name="connsiteY26" fmla="*/ 6625821 h 6858002"/>
              <a:gd name="connsiteX27" fmla="*/ 493259 w 12191997"/>
              <a:gd name="connsiteY27" fmla="*/ 6550173 h 6858002"/>
              <a:gd name="connsiteX28" fmla="*/ 419099 w 12191997"/>
              <a:gd name="connsiteY28" fmla="*/ 6550173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33" fmla="*/ 0 w 12191997"/>
              <a:gd name="connsiteY33"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0 w 12191997"/>
              <a:gd name="connsiteY28" fmla="*/ 0 h 6858002"/>
              <a:gd name="connsiteX29" fmla="*/ 12191997 w 12191997"/>
              <a:gd name="connsiteY29" fmla="*/ 0 h 6858002"/>
              <a:gd name="connsiteX30" fmla="*/ 12191997 w 12191997"/>
              <a:gd name="connsiteY30" fmla="*/ 6858002 h 6858002"/>
              <a:gd name="connsiteX31" fmla="*/ 0 w 12191997"/>
              <a:gd name="connsiteY31" fmla="*/ 6858002 h 6858002"/>
              <a:gd name="connsiteX32" fmla="*/ 0 w 12191997"/>
              <a:gd name="connsiteY32" fmla="*/ 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91997" h="6858002">
                <a:moveTo>
                  <a:pt x="417190" y="6550173"/>
                </a:moveTo>
                <a:lnTo>
                  <a:pt x="419098" y="6550173"/>
                </a:lnTo>
                <a:lnTo>
                  <a:pt x="419098" y="6552070"/>
                </a:lnTo>
                <a:lnTo>
                  <a:pt x="417190" y="6550173"/>
                </a:lnTo>
                <a:close/>
                <a:moveTo>
                  <a:pt x="522773" y="6489534"/>
                </a:moveTo>
                <a:lnTo>
                  <a:pt x="522773" y="6626228"/>
                </a:lnTo>
                <a:lnTo>
                  <a:pt x="552231" y="6626228"/>
                </a:lnTo>
                <a:lnTo>
                  <a:pt x="552231" y="6544276"/>
                </a:lnTo>
                <a:lnTo>
                  <a:pt x="596420" y="6588218"/>
                </a:lnTo>
                <a:lnTo>
                  <a:pt x="640607" y="6544276"/>
                </a:lnTo>
                <a:lnTo>
                  <a:pt x="640607" y="6626228"/>
                </a:lnTo>
                <a:lnTo>
                  <a:pt x="668233" y="6626228"/>
                </a:lnTo>
                <a:lnTo>
                  <a:pt x="668233" y="6489534"/>
                </a:lnTo>
                <a:lnTo>
                  <a:pt x="653161" y="6489534"/>
                </a:lnTo>
                <a:lnTo>
                  <a:pt x="653160" y="6489534"/>
                </a:lnTo>
                <a:lnTo>
                  <a:pt x="596792" y="6546315"/>
                </a:lnTo>
                <a:lnTo>
                  <a:pt x="539693" y="6489534"/>
                </a:lnTo>
                <a:lnTo>
                  <a:pt x="522773" y="6489534"/>
                </a:lnTo>
                <a:close/>
                <a:moveTo>
                  <a:pt x="419099" y="6550173"/>
                </a:moveTo>
                <a:lnTo>
                  <a:pt x="419098" y="6550172"/>
                </a:lnTo>
                <a:lnTo>
                  <a:pt x="417189" y="6550172"/>
                </a:lnTo>
                <a:lnTo>
                  <a:pt x="417190" y="6550173"/>
                </a:lnTo>
                <a:lnTo>
                  <a:pt x="419099" y="6552071"/>
                </a:lnTo>
                <a:lnTo>
                  <a:pt x="419098" y="6552071"/>
                </a:lnTo>
                <a:lnTo>
                  <a:pt x="419099" y="6552071"/>
                </a:lnTo>
                <a:lnTo>
                  <a:pt x="493259" y="6625821"/>
                </a:lnTo>
                <a:lnTo>
                  <a:pt x="493259" y="6550173"/>
                </a:lnTo>
                <a:lnTo>
                  <a:pt x="419099" y="6550173"/>
                </a:lnTo>
                <a:close/>
                <a:moveTo>
                  <a:pt x="0" y="0"/>
                </a:moveTo>
                <a:lnTo>
                  <a:pt x="12191997" y="0"/>
                </a:lnTo>
                <a:lnTo>
                  <a:pt x="12191997" y="6858002"/>
                </a:lnTo>
                <a:lnTo>
                  <a:pt x="0" y="6858002"/>
                </a:lnTo>
                <a:lnTo>
                  <a:pt x="0" y="0"/>
                </a:lnTo>
                <a:close/>
              </a:path>
            </a:pathLst>
          </a:custGeom>
          <a:solidFill>
            <a:schemeClr val="accent5"/>
          </a:solidFill>
        </p:spPr>
        <p:txBody>
          <a:bodyPr wrap="square">
            <a:noAutofit/>
          </a:bodyPr>
          <a:lstStyle>
            <a:lvl1pPr marL="0" indent="0" algn="ctr">
              <a:buNone/>
              <a:defRPr sz="1200" b="0">
                <a:solidFill>
                  <a:schemeClr val="bg1"/>
                </a:solidFill>
                <a:latin typeface="+mj-lt"/>
              </a:defRPr>
            </a:lvl1pPr>
          </a:lstStyle>
          <a:p>
            <a:r>
              <a:rPr lang="en-US"/>
              <a:t>Full Bleed Image Option – click on image icon to insert</a:t>
            </a:r>
          </a:p>
        </p:txBody>
      </p:sp>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4" name="Graphic 9">
            <a:extLst>
              <a:ext uri="{FF2B5EF4-FFF2-40B4-BE49-F238E27FC236}">
                <a16:creationId xmlns:a16="http://schemas.microsoft.com/office/drawing/2014/main" id="{3A3D2473-9F36-446A-A8FA-6492495329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487E1F0-8E2B-D294-12AE-66769DB84F7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6BDBB09E-07B6-82BF-25AF-60D2713980F8}"/>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81423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tatement Slide - Light Imag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97BFE9-BEE7-F58E-6537-4215445B6864}"/>
              </a:ext>
            </a:extLst>
          </p:cNvPr>
          <p:cNvSpPr>
            <a:spLocks noGrp="1"/>
          </p:cNvSpPr>
          <p:nvPr>
            <p:ph type="title"/>
          </p:nvPr>
        </p:nvSpPr>
        <p:spPr>
          <a:xfrm>
            <a:off x="1241258" y="1993899"/>
            <a:ext cx="9709484" cy="2870201"/>
          </a:xfrm>
        </p:spPr>
        <p:txBody>
          <a:bodyPr vert="horz" lIns="91440" tIns="45720" rIns="91440" bIns="45720" rtlCol="0" anchor="ctr">
            <a:noAutofit/>
          </a:bodyPr>
          <a:lstStyle>
            <a:lvl1pPr algn="ctr">
              <a:defRPr lang="en-US" sz="4400" b="0" cap="none" spc="-50" baseline="0" dirty="0">
                <a:solidFill>
                  <a:schemeClr val="tx1"/>
                </a:solidFill>
                <a:latin typeface="+mj-lt"/>
              </a:defRPr>
            </a:lvl1pPr>
          </a:lstStyle>
          <a:p>
            <a:pPr lvl="0">
              <a:lnSpc>
                <a:spcPct val="85000"/>
              </a:lnSpc>
            </a:pPr>
            <a:r>
              <a:rPr lang="en-US"/>
              <a:t>Click to edit Master title style</a:t>
            </a:r>
          </a:p>
        </p:txBody>
      </p:sp>
    </p:spTree>
    <p:extLst>
      <p:ext uri="{BB962C8B-B14F-4D97-AF65-F5344CB8AC3E}">
        <p14:creationId xmlns:p14="http://schemas.microsoft.com/office/powerpoint/2010/main" val="27732174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mp; Body + EYEBROW">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spTree>
    <p:extLst>
      <p:ext uri="{BB962C8B-B14F-4D97-AF65-F5344CB8AC3E}">
        <p14:creationId xmlns:p14="http://schemas.microsoft.com/office/powerpoint/2010/main" val="15908160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mp; Body + EYEBROW +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91440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cxnSp>
        <p:nvCxnSpPr>
          <p:cNvPr id="6" name="Straight Connector 5">
            <a:extLst>
              <a:ext uri="{FF2B5EF4-FFF2-40B4-BE49-F238E27FC236}">
                <a16:creationId xmlns:a16="http://schemas.microsoft.com/office/drawing/2014/main" id="{A9A652DD-9EB4-EBCC-D99F-7C1BD35129EA}"/>
              </a:ext>
            </a:extLst>
          </p:cNvPr>
          <p:cNvCxnSpPr>
            <a:cxnSpLocks/>
          </p:cNvCxnSpPr>
          <p:nvPr userDrawn="1"/>
        </p:nvCxnSpPr>
        <p:spPr>
          <a:xfrm>
            <a:off x="533400" y="806092"/>
            <a:ext cx="111252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3" name="Content Placeholder 4">
            <a:extLst>
              <a:ext uri="{FF2B5EF4-FFF2-40B4-BE49-F238E27FC236}">
                <a16:creationId xmlns:a16="http://schemas.microsoft.com/office/drawing/2014/main" id="{72E01C5B-B994-ECBE-A728-43FA40CF55CE}"/>
              </a:ext>
            </a:extLst>
          </p:cNvPr>
          <p:cNvSpPr>
            <a:spLocks noGrp="1"/>
          </p:cNvSpPr>
          <p:nvPr>
            <p:ph sz="quarter" idx="11"/>
          </p:nvPr>
        </p:nvSpPr>
        <p:spPr>
          <a:xfrm>
            <a:off x="533400" y="1635354"/>
            <a:ext cx="11125200" cy="4381397"/>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4412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mp; Body">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219200"/>
            <a:ext cx="11125200" cy="4800599"/>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Tree>
    <p:extLst>
      <p:ext uri="{BB962C8B-B14F-4D97-AF65-F5344CB8AC3E}">
        <p14:creationId xmlns:p14="http://schemas.microsoft.com/office/powerpoint/2010/main" val="11818961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mp; Body 2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8"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6675120"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62997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mp; Body 3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9"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4322064"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F466B4D2-38C6-E3E9-D68E-B47FB0924CA0}"/>
              </a:ext>
            </a:extLst>
          </p:cNvPr>
          <p:cNvSpPr>
            <a:spLocks noGrp="1"/>
          </p:cNvSpPr>
          <p:nvPr>
            <p:ph sz="quarter" idx="13"/>
          </p:nvPr>
        </p:nvSpPr>
        <p:spPr>
          <a:xfrm>
            <a:off x="8110728"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08974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p>
            <a:r>
              <a:rPr lang="en-US"/>
              <a:t>Click to edit Master title style</a:t>
            </a:r>
          </a:p>
        </p:txBody>
      </p:sp>
    </p:spTree>
    <p:extLst>
      <p:ext uri="{BB962C8B-B14F-4D97-AF65-F5344CB8AC3E}">
        <p14:creationId xmlns:p14="http://schemas.microsoft.com/office/powerpoint/2010/main" val="1018922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898076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with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89D0F4-D14E-2391-C035-8D4F022380C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8" name="TextBox 7">
            <a:extLst>
              <a:ext uri="{FF2B5EF4-FFF2-40B4-BE49-F238E27FC236}">
                <a16:creationId xmlns:a16="http://schemas.microsoft.com/office/drawing/2014/main" id="{BF3C50C5-83D2-174A-8E01-353653718445}"/>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3" name="Graphic 9">
            <a:extLst>
              <a:ext uri="{FF2B5EF4-FFF2-40B4-BE49-F238E27FC236}">
                <a16:creationId xmlns:a16="http://schemas.microsoft.com/office/drawing/2014/main" id="{732AA259-A6AF-EC29-5532-7F89B2999E1C}"/>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6E9AE4E-794D-87F2-4C05-6D750127774B}"/>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1FFB977A-09D9-1892-6CC0-012B3144D78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4970244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mp; Body with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646CBC-6FE2-3596-CA9A-848AF961AE20}"/>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10" name="TextBox 9">
            <a:extLst>
              <a:ext uri="{FF2B5EF4-FFF2-40B4-BE49-F238E27FC236}">
                <a16:creationId xmlns:a16="http://schemas.microsoft.com/office/drawing/2014/main" id="{1B97C4DD-D778-3B47-91CB-0DBEC93C9B2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Content Placeholder 4">
            <a:extLst>
              <a:ext uri="{FF2B5EF4-FFF2-40B4-BE49-F238E27FC236}">
                <a16:creationId xmlns:a16="http://schemas.microsoft.com/office/drawing/2014/main" id="{5B3261BB-9F2B-9340-9D35-C7D084FF499C}"/>
              </a:ext>
            </a:extLst>
          </p:cNvPr>
          <p:cNvSpPr>
            <a:spLocks noGrp="1"/>
          </p:cNvSpPr>
          <p:nvPr>
            <p:ph sz="quarter" idx="11"/>
          </p:nvPr>
        </p:nvSpPr>
        <p:spPr>
          <a:xfrm>
            <a:off x="533400" y="1219200"/>
            <a:ext cx="11125200" cy="4800599"/>
          </a:xfrm>
        </p:spPr>
        <p:txBody>
          <a:bodyPr/>
          <a:lstStyle>
            <a:lvl1pPr>
              <a:defRPr>
                <a:solidFill>
                  <a:schemeClr val="bg1"/>
                </a:solidFill>
              </a:defRPr>
            </a:lvl1pPr>
            <a:lvl2pPr marL="274320" indent="-182880">
              <a:buFont typeface="Arial" panose="020B0604020202020204" pitchFamily="34" charset="0"/>
              <a:buChar char="•"/>
              <a:defRPr>
                <a:solidFill>
                  <a:schemeClr val="bg1"/>
                </a:solidFill>
              </a:defRPr>
            </a:lvl2pPr>
            <a:lvl3pPr marL="640080" indent="-182880">
              <a:buFont typeface="Arial" panose="020B0604020202020204" pitchFamily="34" charset="0"/>
              <a:buChar char="•"/>
              <a:defRPr>
                <a:solidFill>
                  <a:schemeClr val="bg1"/>
                </a:solidFill>
              </a:defRPr>
            </a:lvl3pPr>
            <a:lvl4pPr marL="1005840" indent="-182880">
              <a:buFont typeface="Arial" panose="020B0604020202020204" pitchFamily="34" charset="0"/>
              <a:buChar char="•"/>
              <a:defRPr>
                <a:solidFill>
                  <a:schemeClr val="bg1"/>
                </a:solidFill>
              </a:defRPr>
            </a:lvl4pPr>
            <a:lvl5pPr marL="1371600" indent="-182880">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aphic 9">
            <a:extLst>
              <a:ext uri="{FF2B5EF4-FFF2-40B4-BE49-F238E27FC236}">
                <a16:creationId xmlns:a16="http://schemas.microsoft.com/office/drawing/2014/main" id="{F8B5E816-7D75-0001-CE5A-06EF94F015C5}"/>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4B571E3A-ACB2-CF3F-D682-5A60220C80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A6BD859A-D9BF-AD32-D97B-51D39374A711}"/>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3495519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mp; Body + EYEBROW with Backgroun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B87FB-A401-9C88-F7DA-B4DB9C08974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solidFill>
                  <a:schemeClr val="bg1"/>
                </a:solidFill>
              </a:defRPr>
            </a:lvl1pPr>
            <a:lvl2pPr marL="274320" indent="-182880">
              <a:lnSpc>
                <a:spcPct val="100000"/>
              </a:lnSpc>
              <a:spcBef>
                <a:spcPts val="0"/>
              </a:spcBef>
              <a:spcAft>
                <a:spcPts val="600"/>
              </a:spcAft>
              <a:buFont typeface="Arial" panose="020B0604020202020204" pitchFamily="34" charset="0"/>
              <a:buChar char="•"/>
              <a:defRPr>
                <a:solidFill>
                  <a:schemeClr val="bg1"/>
                </a:solidFill>
              </a:defRPr>
            </a:lvl2pPr>
            <a:lvl3pPr marL="640080" indent="-182880">
              <a:lnSpc>
                <a:spcPct val="100000"/>
              </a:lnSpc>
              <a:spcBef>
                <a:spcPts val="0"/>
              </a:spcBef>
              <a:spcAft>
                <a:spcPts val="600"/>
              </a:spcAft>
              <a:buFont typeface="Arial" panose="020B0604020202020204" pitchFamily="34" charset="0"/>
              <a:buChar char="•"/>
              <a:defRPr>
                <a:solidFill>
                  <a:schemeClr val="bg1"/>
                </a:solidFill>
              </a:defRPr>
            </a:lvl3pPr>
            <a:lvl4pPr marL="1005840" indent="-182880">
              <a:lnSpc>
                <a:spcPct val="100000"/>
              </a:lnSpc>
              <a:spcBef>
                <a:spcPts val="0"/>
              </a:spcBef>
              <a:spcAft>
                <a:spcPts val="600"/>
              </a:spcAft>
              <a:buFont typeface="Arial" panose="020B0604020202020204" pitchFamily="34" charset="0"/>
              <a:buChar char="•"/>
              <a:defRPr>
                <a:solidFill>
                  <a:schemeClr val="bg1"/>
                </a:solidFill>
              </a:defRPr>
            </a:lvl4pPr>
            <a:lvl5pPr marL="1371600" indent="-182880">
              <a:lnSpc>
                <a:spcPct val="100000"/>
              </a:lnSpc>
              <a:spcBef>
                <a:spcPts val="0"/>
              </a:spcBef>
              <a:spcAft>
                <a:spcPts val="600"/>
              </a:spcAft>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bg2">
                    <a:lumMod val="90000"/>
                  </a:schemeClr>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grpSp>
        <p:nvGrpSpPr>
          <p:cNvPr id="7" name="Graphic 9">
            <a:extLst>
              <a:ext uri="{FF2B5EF4-FFF2-40B4-BE49-F238E27FC236}">
                <a16:creationId xmlns:a16="http://schemas.microsoft.com/office/drawing/2014/main" id="{D9FCE122-784E-9DC6-F7E8-FA43165BFF3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8" name="Freeform 7">
              <a:extLst>
                <a:ext uri="{FF2B5EF4-FFF2-40B4-BE49-F238E27FC236}">
                  <a16:creationId xmlns:a16="http://schemas.microsoft.com/office/drawing/2014/main" id="{22731A90-798F-263D-EA32-25545EDF5D0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8">
              <a:extLst>
                <a:ext uri="{FF2B5EF4-FFF2-40B4-BE49-F238E27FC236}">
                  <a16:creationId xmlns:a16="http://schemas.microsoft.com/office/drawing/2014/main" id="{2B36744D-81AD-D6CF-EAF0-E1488DD39B7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6" name="TextBox 5">
            <a:extLst>
              <a:ext uri="{FF2B5EF4-FFF2-40B4-BE49-F238E27FC236}">
                <a16:creationId xmlns:a16="http://schemas.microsoft.com/office/drawing/2014/main" id="{F1DD96A2-159F-BFEA-27CA-32D611C64F0A}"/>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430617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D13399-5BEF-EEED-B940-0B118B8114F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TextBox 7">
            <a:extLst>
              <a:ext uri="{FF2B5EF4-FFF2-40B4-BE49-F238E27FC236}">
                <a16:creationId xmlns:a16="http://schemas.microsoft.com/office/drawing/2014/main" id="{EE1B876D-140A-A646-9E95-8CA988F4773F}"/>
              </a:ext>
            </a:extLst>
          </p:cNvPr>
          <p:cNvSpPr txBox="1"/>
          <p:nvPr/>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grpSp>
        <p:nvGrpSpPr>
          <p:cNvPr id="11" name="Graphic 9">
            <a:extLst>
              <a:ext uri="{FF2B5EF4-FFF2-40B4-BE49-F238E27FC236}">
                <a16:creationId xmlns:a16="http://schemas.microsoft.com/office/drawing/2014/main" id="{3266A6D4-7FA8-1F50-AF70-17632A9A1500}"/>
              </a:ext>
            </a:extLst>
          </p:cNvPr>
          <p:cNvGrpSpPr>
            <a:grpSpLocks noChangeAspect="1"/>
          </p:cNvGrpSpPr>
          <p:nvPr userDrawn="1"/>
        </p:nvGrpSpPr>
        <p:grpSpPr>
          <a:xfrm>
            <a:off x="5473098" y="3188907"/>
            <a:ext cx="878544" cy="482508"/>
            <a:chOff x="11484948" y="313034"/>
            <a:chExt cx="401233" cy="220363"/>
          </a:xfrm>
          <a:solidFill>
            <a:schemeClr val="accent5"/>
          </a:solidFill>
        </p:grpSpPr>
        <p:sp>
          <p:nvSpPr>
            <p:cNvPr id="12" name="Freeform 11">
              <a:extLst>
                <a:ext uri="{FF2B5EF4-FFF2-40B4-BE49-F238E27FC236}">
                  <a16:creationId xmlns:a16="http://schemas.microsoft.com/office/drawing/2014/main" id="{D38B71AF-F8A4-A1E9-B960-47978F397A7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8D225686-E5A8-A339-D3BA-08D00055A0AB}"/>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4734205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04921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B730ED-7B9D-40FC-B1E0-F1125DD90F87}"/>
              </a:ext>
            </a:extLst>
          </p:cNvPr>
          <p:cNvSpPr>
            <a:spLocks noGrp="1"/>
          </p:cNvSpPr>
          <p:nvPr>
            <p:ph type="title"/>
          </p:nvPr>
        </p:nvSpPr>
        <p:spPr>
          <a:xfrm>
            <a:off x="533400" y="457200"/>
            <a:ext cx="11125200" cy="609600"/>
          </a:xfrm>
          <a:prstGeom prst="rect">
            <a:avLst/>
          </a:prstGeom>
        </p:spPr>
        <p:txBody>
          <a:bodyPr vert="horz" lIns="91440" tIns="45720" rIns="91440" bIns="45720" rtlCol="0" anchor="t">
            <a:noAutofit/>
          </a:bodyPr>
          <a:lstStyle/>
          <a:p>
            <a:r>
              <a:rPr lang="en-US"/>
              <a:t>Click to edit Master title style</a:t>
            </a:r>
            <a:endParaRPr lang="da-DK"/>
          </a:p>
        </p:txBody>
      </p:sp>
      <p:sp>
        <p:nvSpPr>
          <p:cNvPr id="3" name="Text Placeholder 2">
            <a:extLst>
              <a:ext uri="{FF2B5EF4-FFF2-40B4-BE49-F238E27FC236}">
                <a16:creationId xmlns:a16="http://schemas.microsoft.com/office/drawing/2014/main" id="{F1B16267-223E-41DF-97C0-3C5C64CF28FE}"/>
              </a:ext>
            </a:extLst>
          </p:cNvPr>
          <p:cNvSpPr>
            <a:spLocks noGrp="1"/>
          </p:cNvSpPr>
          <p:nvPr>
            <p:ph type="body" idx="1"/>
          </p:nvPr>
        </p:nvSpPr>
        <p:spPr>
          <a:xfrm>
            <a:off x="533400" y="1219200"/>
            <a:ext cx="11125200" cy="480059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0F89AE7F-24B1-A64B-B288-B6C5E8A9B846}"/>
              </a:ext>
            </a:extLst>
          </p:cNvPr>
          <p:cNvSpPr txBox="1"/>
          <p:nvPr/>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TextBox 8">
            <a:extLst>
              <a:ext uri="{FF2B5EF4-FFF2-40B4-BE49-F238E27FC236}">
                <a16:creationId xmlns:a16="http://schemas.microsoft.com/office/drawing/2014/main" id="{A90C8A3C-DD41-F348-BAAE-28579DC164C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14" name="Graphic 9">
            <a:extLst>
              <a:ext uri="{FF2B5EF4-FFF2-40B4-BE49-F238E27FC236}">
                <a16:creationId xmlns:a16="http://schemas.microsoft.com/office/drawing/2014/main" id="{91938403-5DD2-285C-67C1-6B3077C17C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5" name="Freeform 14">
              <a:extLst>
                <a:ext uri="{FF2B5EF4-FFF2-40B4-BE49-F238E27FC236}">
                  <a16:creationId xmlns:a16="http://schemas.microsoft.com/office/drawing/2014/main" id="{2C8368F7-FE0C-4A9D-A6AC-23CC716F632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6" name="Freeform 15">
              <a:extLst>
                <a:ext uri="{FF2B5EF4-FFF2-40B4-BE49-F238E27FC236}">
                  <a16:creationId xmlns:a16="http://schemas.microsoft.com/office/drawing/2014/main" id="{B327AF6F-810F-21C4-8946-5FD13473973C}"/>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038093919"/>
      </p:ext>
    </p:extLst>
  </p:cSld>
  <p:clrMap bg1="dk1" tx1="lt1" bg2="dk2" tx2="lt2" accent1="accent1" accent2="accent2" accent3="accent3" accent4="accent4" accent5="accent5" accent6="accent6" hlink="hlink" folHlink="folHlink"/>
  <p:sldLayoutIdLst>
    <p:sldLayoutId id="2147484052" r:id="rId1"/>
    <p:sldLayoutId id="2147484053" r:id="rId2"/>
    <p:sldLayoutId id="2147484088" r:id="rId3"/>
    <p:sldLayoutId id="2147484087" r:id="rId4"/>
    <p:sldLayoutId id="2147484054" r:id="rId5"/>
    <p:sldLayoutId id="2147484057" r:id="rId6"/>
    <p:sldLayoutId id="2147484101" r:id="rId7"/>
    <p:sldLayoutId id="2147484059" r:id="rId8"/>
    <p:sldLayoutId id="2147484100" r:id="rId9"/>
    <p:sldLayoutId id="2147484089" r:id="rId10"/>
    <p:sldLayoutId id="2147484098" r:id="rId11"/>
    <p:sldLayoutId id="2147484090" r:id="rId12"/>
    <p:sldLayoutId id="2147484105" r:id="rId13"/>
    <p:sldLayoutId id="2147484104" r:id="rId14"/>
    <p:sldLayoutId id="2147484061" r:id="rId15"/>
    <p:sldLayoutId id="2147484119" r:id="rId16"/>
    <p:sldLayoutId id="2147484120" r:id="rId17"/>
    <p:sldLayoutId id="2147484093" r:id="rId18"/>
    <p:sldLayoutId id="2147484094" r:id="rId19"/>
    <p:sldLayoutId id="2147484075" r:id="rId20"/>
    <p:sldLayoutId id="2147484096" r:id="rId21"/>
    <p:sldLayoutId id="2147484117" r:id="rId22"/>
    <p:sldLayoutId id="2147484076" r:id="rId23"/>
    <p:sldLayoutId id="2147484077" r:id="rId24"/>
    <p:sldLayoutId id="2147484064" r:id="rId25"/>
    <p:sldLayoutId id="2147484116" r:id="rId26"/>
    <p:sldLayoutId id="2147484063" r:id="rId27"/>
    <p:sldLayoutId id="2147484066" r:id="rId28"/>
    <p:sldLayoutId id="2147484065" r:id="rId29"/>
    <p:sldLayoutId id="2147484067" r:id="rId30"/>
    <p:sldLayoutId id="2147484068" r:id="rId31"/>
    <p:sldLayoutId id="2147484074" r:id="rId32"/>
    <p:sldLayoutId id="2147484073" r:id="rId33"/>
    <p:sldLayoutId id="2147484118" r:id="rId34"/>
    <p:sldLayoutId id="2147484086" r:id="rId35"/>
    <p:sldLayoutId id="2147484121" r:id="rId36"/>
  </p:sldLayoutIdLst>
  <p:txStyles>
    <p:titleStyle>
      <a:lvl1pPr algn="l" defTabSz="914400" rtl="0" eaLnBrk="1" latinLnBrk="0" hangingPunct="1">
        <a:lnSpc>
          <a:spcPct val="90000"/>
        </a:lnSpc>
        <a:spcBef>
          <a:spcPct val="0"/>
        </a:spcBef>
        <a:buNone/>
        <a:defRPr sz="24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tabLst/>
        <a:defRPr sz="1400" kern="1200">
          <a:solidFill>
            <a:schemeClr val="tx1"/>
          </a:solidFill>
          <a:latin typeface="+mn-lt"/>
          <a:ea typeface="+mn-ea"/>
          <a:cs typeface="+mn-cs"/>
        </a:defRPr>
      </a:lvl1pPr>
      <a:lvl2pPr marL="27432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64008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137160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orient="horz" pos="3936">
          <p15:clr>
            <a:srgbClr val="F26B43"/>
          </p15:clr>
        </p15:guide>
        <p15:guide id="22" orient="horz" pos="4176">
          <p15:clr>
            <a:srgbClr val="F26B43"/>
          </p15:clr>
        </p15:guide>
        <p15:guide id="27" orient="horz" pos="336">
          <p15:clr>
            <a:srgbClr val="5ACBF0"/>
          </p15:clr>
        </p15:guide>
        <p15:guide id="28" orient="horz" pos="3792">
          <p15:clr>
            <a:srgbClr val="5ACBF0"/>
          </p15:clr>
        </p15:guide>
        <p15:guide id="29" pos="336">
          <p15:clr>
            <a:srgbClr val="5ACBF0"/>
          </p15:clr>
        </p15:guide>
        <p15:guide id="30" pos="7344">
          <p15:clr>
            <a:srgbClr val="5ACBF0"/>
          </p15:clr>
        </p15:guide>
        <p15:guide id="31" orient="horz" pos="768">
          <p15:clr>
            <a:srgbClr val="5ACBF0"/>
          </p15:clr>
        </p15:guide>
        <p15:guide id="32" orient="horz" pos="720">
          <p15:clr>
            <a:srgbClr val="5ACBF0"/>
          </p15:clr>
        </p15:guide>
        <p15:guide id="33" orient="horz" pos="2160">
          <p15:clr>
            <a:srgbClr val="FDE53C"/>
          </p15:clr>
        </p15:guide>
        <p15:guide id="34" pos="3840">
          <p15:clr>
            <a:srgbClr val="FDE53C"/>
          </p15:clr>
        </p15:guide>
        <p15:guide id="35" pos="1366">
          <p15:clr>
            <a:srgbClr val="A4A3A4"/>
          </p15:clr>
        </p15:guide>
        <p15:guide id="36" pos="1533">
          <p15:clr>
            <a:srgbClr val="A4A3A4"/>
          </p15:clr>
        </p15:guide>
        <p15:guide id="37" pos="2561">
          <p15:clr>
            <a:srgbClr val="A4A3A4"/>
          </p15:clr>
        </p15:guide>
        <p15:guide id="38" pos="2729">
          <p15:clr>
            <a:srgbClr val="A4A3A4"/>
          </p15:clr>
        </p15:guide>
        <p15:guide id="39" pos="3756">
          <p15:clr>
            <a:srgbClr val="A4A3A4"/>
          </p15:clr>
        </p15:guide>
        <p15:guide id="40" pos="3927">
          <p15:clr>
            <a:srgbClr val="A4A3A4"/>
          </p15:clr>
        </p15:guide>
        <p15:guide id="41" pos="4957">
          <p15:clr>
            <a:srgbClr val="A4A3A4"/>
          </p15:clr>
        </p15:guide>
        <p15:guide id="42" pos="5122">
          <p15:clr>
            <a:srgbClr val="A4A3A4"/>
          </p15:clr>
        </p15:guide>
        <p15:guide id="43" pos="6153">
          <p15:clr>
            <a:srgbClr val="A4A3A4"/>
          </p15:clr>
        </p15:guide>
        <p15:guide id="44" pos="6320">
          <p15:clr>
            <a:srgbClr val="A4A3A4"/>
          </p15:clr>
        </p15:guide>
        <p15:guide id="45" pos="240">
          <p15:clr>
            <a:srgbClr val="FDE53C"/>
          </p15:clr>
        </p15:guide>
        <p15:guide id="46" pos="340">
          <p15:clr>
            <a:srgbClr val="FDE53C"/>
          </p15:clr>
        </p15:guide>
        <p15:guide id="47" pos="7464">
          <p15:clr>
            <a:srgbClr val="FDE53C"/>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10.emf"/><Relationship Id="rId4"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xml"/><Relationship Id="rId3"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0.jpg"/><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2575F5AE-50A4-642F-30CA-363A6687089C}"/>
              </a:ext>
            </a:extLst>
          </p:cNvPr>
          <p:cNvPicPr>
            <a:picLocks noGrp="1" noChangeAspect="1"/>
          </p:cNvPicPr>
          <p:nvPr>
            <p:ph type="pic" sz="quarter" idx="12"/>
          </p:nvPr>
        </p:nvPicPr>
        <p:blipFill>
          <a:blip r:embed="rId4"/>
          <a:srcRect/>
          <a:stretch>
            <a:fillRect/>
          </a:stretch>
        </p:blipFill>
        <p:spPr>
          <a:xfrm>
            <a:off x="0" y="0"/>
            <a:ext cx="12192000" cy="6858000"/>
          </a:xfrm>
          <a:prstGeom prst="rect">
            <a:avLst/>
          </a:prstGeom>
        </p:spPr>
      </p:pic>
      <p:sp>
        <p:nvSpPr>
          <p:cNvPr id="7" name="Lightning Bolt 6">
            <a:extLst>
              <a:ext uri="{FF2B5EF4-FFF2-40B4-BE49-F238E27FC236}">
                <a16:creationId xmlns:a16="http://schemas.microsoft.com/office/drawing/2014/main" id="{2B3AA0BB-7073-DBA8-99E2-504CFDEB554F}"/>
              </a:ext>
            </a:extLst>
          </p:cNvPr>
          <p:cNvSpPr/>
          <p:nvPr/>
        </p:nvSpPr>
        <p:spPr>
          <a:xfrm rot="4007820" flipV="1">
            <a:off x="-326507" y="-1375747"/>
            <a:ext cx="11124741" cy="10367844"/>
          </a:xfrm>
          <a:prstGeom prst="lightningBol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4" name="Title 3">
            <a:extLst>
              <a:ext uri="{FF2B5EF4-FFF2-40B4-BE49-F238E27FC236}">
                <a16:creationId xmlns:a16="http://schemas.microsoft.com/office/drawing/2014/main" id="{24D19E25-A591-A628-4504-66324ECA7A7B}"/>
              </a:ext>
            </a:extLst>
          </p:cNvPr>
          <p:cNvSpPr>
            <a:spLocks noGrp="1"/>
          </p:cNvSpPr>
          <p:nvPr>
            <p:ph type="title"/>
          </p:nvPr>
        </p:nvSpPr>
        <p:spPr>
          <a:xfrm>
            <a:off x="915725" y="1101123"/>
            <a:ext cx="6688233" cy="2871216"/>
          </a:xfrm>
        </p:spPr>
        <p:txBody>
          <a:bodyPr/>
          <a:lstStyle/>
          <a:p>
            <a:r>
              <a:rPr lang="en-US"/>
              <a:t>Play to Win</a:t>
            </a:r>
          </a:p>
        </p:txBody>
      </p:sp>
      <p:sp>
        <p:nvSpPr>
          <p:cNvPr id="3" name="Text Placeholder 2">
            <a:extLst>
              <a:ext uri="{FF2B5EF4-FFF2-40B4-BE49-F238E27FC236}">
                <a16:creationId xmlns:a16="http://schemas.microsoft.com/office/drawing/2014/main" id="{EE0B26FB-A9F5-CE5A-F524-FB7DD5207F15}"/>
              </a:ext>
            </a:extLst>
          </p:cNvPr>
          <p:cNvSpPr>
            <a:spLocks noGrp="1"/>
          </p:cNvSpPr>
          <p:nvPr>
            <p:ph type="body" sz="quarter" idx="11"/>
          </p:nvPr>
        </p:nvSpPr>
        <p:spPr>
          <a:xfrm rot="1003330">
            <a:off x="8964199" y="5905320"/>
            <a:ext cx="2032924" cy="301752"/>
          </a:xfrm>
        </p:spPr>
        <p:txBody>
          <a:bodyPr/>
          <a:lstStyle/>
          <a:p>
            <a:r>
              <a:rPr lang="en-US"/>
              <a:t>August 27-28, 2026</a:t>
            </a:r>
          </a:p>
        </p:txBody>
      </p:sp>
      <p:sp>
        <p:nvSpPr>
          <p:cNvPr id="8" name="Text Placeholder 7">
            <a:extLst>
              <a:ext uri="{FF2B5EF4-FFF2-40B4-BE49-F238E27FC236}">
                <a16:creationId xmlns:a16="http://schemas.microsoft.com/office/drawing/2014/main" id="{270BE782-AA17-0C4C-8E25-36317E11A331}"/>
              </a:ext>
            </a:extLst>
          </p:cNvPr>
          <p:cNvSpPr>
            <a:spLocks noGrp="1"/>
          </p:cNvSpPr>
          <p:nvPr>
            <p:ph type="body" sz="quarter" idx="10"/>
          </p:nvPr>
        </p:nvSpPr>
        <p:spPr>
          <a:xfrm>
            <a:off x="915724" y="3972339"/>
            <a:ext cx="5559552" cy="420624"/>
          </a:xfrm>
        </p:spPr>
        <p:txBody>
          <a:bodyPr vert="horz" lIns="137160" tIns="45720" rIns="91440" bIns="45720" rtlCol="0" anchor="t">
            <a:noAutofit/>
          </a:bodyPr>
          <a:lstStyle/>
          <a:p>
            <a:r>
              <a:rPr lang="en-US"/>
              <a:t>Building the Next First: Priorities</a:t>
            </a:r>
          </a:p>
        </p:txBody>
      </p:sp>
    </p:spTree>
    <p:extLst>
      <p:ext uri="{BB962C8B-B14F-4D97-AF65-F5344CB8AC3E}">
        <p14:creationId xmlns:p14="http://schemas.microsoft.com/office/powerpoint/2010/main" val="435525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221A4-CA55-E39A-75A8-DB24914BC04C}"/>
            </a:ext>
          </a:extLst>
        </p:cNvPr>
        <p:cNvGrpSpPr/>
        <p:nvPr/>
      </p:nvGrpSpPr>
      <p:grpSpPr>
        <a:xfrm>
          <a:off x="0" y="0"/>
          <a:ext cx="0" cy="0"/>
          <a:chOff x="0" y="0"/>
          <a:chExt cx="0" cy="0"/>
        </a:xfrm>
      </p:grpSpPr>
      <p:pic>
        <p:nvPicPr>
          <p:cNvPr id="39" name="Picture 38" descr="hero_overview.jpg"/>
          <p:cNvPicPr>
            <a:picLocks noChangeAspect="1"/>
          </p:cNvPicPr>
          <p:nvPr/>
        </p:nvPicPr>
        <p:blipFill>
          <a:blip r:embed="rId3"/>
          <a:stretch>
            <a:fillRect/>
          </a:stretch>
        </p:blipFill>
        <p:spPr>
          <a:xfrm>
            <a:off x="0" y="0"/>
            <a:ext cx="12192000" cy="2738901"/>
          </a:xfrm>
          <a:prstGeom prst="rect">
            <a:avLst/>
          </a:prstGeom>
        </p:spPr>
      </p:pic>
      <p:sp>
        <p:nvSpPr>
          <p:cNvPr id="40" name="Rectangle 39"/>
          <p:cNvSpPr/>
          <p:nvPr/>
        </p:nvSpPr>
        <p:spPr>
          <a:xfrm>
            <a:off x="0" y="0"/>
            <a:ext cx="12192000" cy="2738901"/>
          </a:xfrm>
          <a:prstGeom prst="rect">
            <a:avLst/>
          </a:prstGeom>
          <a:gradFill rotWithShape="1">
            <a:gsLst>
              <a:gs pos="0">
                <a:srgbClr val="000000">
                  <a:alpha val="72000"/>
                </a:srgbClr>
              </a:gs>
              <a:gs pos="55000">
                <a:srgbClr val="000000">
                  <a:alpha val="34000"/>
                </a:srgbClr>
              </a:gs>
              <a:gs pos="100000">
                <a:srgbClr val="000000">
                  <a:alpha val="0"/>
                </a:srgbClr>
              </a:gs>
            </a:gsLst>
            <a:lin ang="0" scaled="0"/>
          </a:gradFill>
          <a:ln>
            <a:noFill/>
          </a:ln>
        </p:spPr>
        <p:txBody>
          <a:bodyPr rtlCol="0" anchor="ctr"/>
          <a:lstStyle/>
          <a:p>
            <a:pPr algn="ctr"/>
          </a:p>
        </p:txBody>
      </p:sp>
      <p:sp>
        <p:nvSpPr>
          <p:cNvPr id="15" name="Rounded Rectangle 14">
            <a:extLst>
              <a:ext uri="{FF2B5EF4-FFF2-40B4-BE49-F238E27FC236}">
                <a16:creationId xmlns:a16="http://schemas.microsoft.com/office/drawing/2014/main" id="{5DC04062-A040-A8B9-1B59-32C48CD3DA28}"/>
              </a:ext>
            </a:extLst>
          </p:cNvPr>
          <p:cNvSpPr>
            <a:spLocks noGrp="1" noRot="1" noMove="1" noResize="1" noEditPoints="1" noAdjustHandles="1" noChangeArrowheads="1" noChangeShapeType="1"/>
          </p:cNvSpPr>
          <p:nvPr/>
        </p:nvSpPr>
        <p:spPr>
          <a:xfrm>
            <a:off x="342952" y="1130299"/>
            <a:ext cx="2788976" cy="5526873"/>
          </a:xfrm>
          <a:prstGeom prst="roundRect">
            <a:avLst>
              <a:gd name="adj" fmla="val 2162"/>
            </a:avLst>
          </a:prstGeom>
          <a:solidFill>
            <a:srgbClr val="D6D6DF"/>
          </a:solidFill>
          <a:ln>
            <a:noFill/>
          </a:ln>
        </p:spPr>
        <p:txBody>
          <a:bodyPr wrap="square" lIns="91440" tIns="45720" rIns="91440" bIns="45720" rtlCol="0" anchor="t">
            <a:noAutofit/>
          </a:bodyPr>
          <a:lstStyle/>
          <a:p>
            <a:pPr algn="ctr"/>
            <a:r>
              <a:rPr lang="en-US" sz="1100" b="1"/>
              <a:t>REVISIT THE GOAL</a:t>
            </a:r>
          </a:p>
          <a:p>
            <a:pPr algn="ctr"/>
            <a:r>
              <a:rPr lang="en-US" sz="900"/>
              <a:t>:01 MINUTE</a:t>
            </a:r>
          </a:p>
        </p:txBody>
      </p:sp>
      <p:sp>
        <p:nvSpPr>
          <p:cNvPr id="9" name="Rounded Rectangle 8">
            <a:extLst>
              <a:ext uri="{FF2B5EF4-FFF2-40B4-BE49-F238E27FC236}">
                <a16:creationId xmlns:a16="http://schemas.microsoft.com/office/drawing/2014/main" id="{69737583-8004-99A7-1AF6-756DCE716B7B}"/>
              </a:ext>
            </a:extLst>
          </p:cNvPr>
          <p:cNvSpPr>
            <a:spLocks noGrp="1" noRot="1" noMove="1" noResize="1" noEditPoints="1" noAdjustHandles="1" noChangeArrowheads="1" noChangeShapeType="1"/>
          </p:cNvSpPr>
          <p:nvPr/>
        </p:nvSpPr>
        <p:spPr>
          <a:xfrm>
            <a:off x="3300967" y="1130300"/>
            <a:ext cx="5491328" cy="5526873"/>
          </a:xfrm>
          <a:prstGeom prst="roundRect">
            <a:avLst>
              <a:gd name="adj" fmla="val 2162"/>
            </a:avLst>
          </a:prstGeom>
          <a:solidFill>
            <a:srgbClr val="D6D6DF"/>
          </a:solidFill>
          <a:ln>
            <a:noFill/>
          </a:ln>
        </p:spPr>
        <p:txBody>
          <a:bodyPr wrap="square" lIns="91440" tIns="45720" rIns="91440" bIns="45720" rtlCol="0" anchor="t">
            <a:noAutofit/>
          </a:bodyPr>
          <a:lstStyle/>
          <a:p>
            <a:pPr algn="ctr"/>
            <a:r>
              <a:rPr lang="en-US" sz="1100" b="1"/>
              <a:t>ASSESS WHERE WE ARE</a:t>
            </a:r>
          </a:p>
          <a:p>
            <a:pPr algn="ctr"/>
            <a:r>
              <a:rPr lang="en-US" sz="900"/>
              <a:t>:02 MINUTES</a:t>
            </a:r>
          </a:p>
        </p:txBody>
      </p:sp>
      <p:sp>
        <p:nvSpPr>
          <p:cNvPr id="4" name="Rounded Rectangle 3">
            <a:extLst>
              <a:ext uri="{FF2B5EF4-FFF2-40B4-BE49-F238E27FC236}">
                <a16:creationId xmlns:a16="http://schemas.microsoft.com/office/drawing/2014/main" id="{87868C7F-317D-3FB7-1F42-6F4D25FD8587}"/>
              </a:ext>
            </a:extLst>
          </p:cNvPr>
          <p:cNvSpPr>
            <a:spLocks noGrp="1" noRot="1" noMove="1" noResize="1" noEditPoints="1" noAdjustHandles="1" noChangeArrowheads="1" noChangeShapeType="1"/>
          </p:cNvSpPr>
          <p:nvPr/>
        </p:nvSpPr>
        <p:spPr>
          <a:xfrm>
            <a:off x="8955993" y="1130301"/>
            <a:ext cx="2912132" cy="5526873"/>
          </a:xfrm>
          <a:prstGeom prst="roundRect">
            <a:avLst>
              <a:gd name="adj" fmla="val 3244"/>
            </a:avLst>
          </a:prstGeom>
          <a:solidFill>
            <a:srgbClr val="D6D6DF"/>
          </a:solidFill>
          <a:ln>
            <a:noFill/>
          </a:ln>
        </p:spPr>
        <p:txBody>
          <a:bodyPr wrap="square" lIns="91440" tIns="45720" rIns="91440" bIns="45720" rtlCol="0" anchor="t">
            <a:noAutofit/>
          </a:bodyPr>
          <a:lstStyle/>
          <a:p>
            <a:pPr algn="ctr"/>
            <a:r>
              <a:rPr lang="en-US" sz="1100" b="1"/>
              <a:t>INTERVENTION REQUIRED</a:t>
            </a:r>
          </a:p>
          <a:p>
            <a:pPr algn="ctr"/>
            <a:r>
              <a:rPr lang="en-US" sz="900"/>
              <a:t>:07 MINUTES</a:t>
            </a:r>
          </a:p>
        </p:txBody>
      </p:sp>
      <p:sp>
        <p:nvSpPr>
          <p:cNvPr id="38" name="Rounded Rectangle 37">
            <a:extLst>
              <a:ext uri="{FF2B5EF4-FFF2-40B4-BE49-F238E27FC236}">
                <a16:creationId xmlns:a16="http://schemas.microsoft.com/office/drawing/2014/main" id="{7319C26C-3115-1EC9-8C4D-B992B54DCE0D}"/>
              </a:ext>
            </a:extLst>
          </p:cNvPr>
          <p:cNvSpPr/>
          <p:nvPr/>
        </p:nvSpPr>
        <p:spPr>
          <a:xfrm>
            <a:off x="555272" y="1660650"/>
            <a:ext cx="2364336" cy="3243509"/>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rtlCol="0" anchor="ctr">
            <a:noAutofit/>
          </a:bodyPr>
          <a:lstStyle/>
          <a:p>
            <a:pPr algn="ctr"/>
            <a:endParaRPr lang="en-US">
              <a:solidFill>
                <a:srgbClr val="000000">
                  <a:lumMod val="50000"/>
                </a:srgbClr>
              </a:solidFill>
              <a:cs typeface="+mn-cs"/>
            </a:endParaRPr>
          </a:p>
        </p:txBody>
      </p:sp>
      <p:sp>
        <p:nvSpPr>
          <p:cNvPr id="30" name="Title 1">
            <a:extLst>
              <a:ext uri="{FF2B5EF4-FFF2-40B4-BE49-F238E27FC236}">
                <a16:creationId xmlns:a16="http://schemas.microsoft.com/office/drawing/2014/main" id="{3AEFBB45-C2BA-2506-ED28-4E294E75A913}"/>
              </a:ext>
            </a:extLst>
          </p:cNvPr>
          <p:cNvSpPr txBox="1">
            <a:spLocks/>
          </p:cNvSpPr>
          <p:nvPr/>
        </p:nvSpPr>
        <p:spPr>
          <a:xfrm>
            <a:off x="609600" y="457201"/>
            <a:ext cx="10972800" cy="673100"/>
          </a:xfrm>
          <a:prstGeom prst="rect">
            <a:avLst/>
          </a:prstGeom>
        </p:spPr>
        <p:txBody>
          <a:bodyPr anchor="t">
            <a:noAutofit/>
          </a:bodyPr>
          <a:lstStyle>
            <a:lvl1pPr algn="l" defTabSz="457200" rtl="0" eaLnBrk="1" latinLnBrk="0" hangingPunct="1">
              <a:spcBef>
                <a:spcPts val="600"/>
              </a:spcBef>
              <a:spcAft>
                <a:spcPts val="1200"/>
              </a:spcAft>
              <a:buNone/>
              <a:defRPr lang="en-US" sz="2800" b="1" kern="1200" baseline="0" dirty="0">
                <a:solidFill>
                  <a:schemeClr val="tx1"/>
                </a:solidFill>
                <a:latin typeface="+mj-lt"/>
                <a:ea typeface="+mj-ea"/>
                <a:cs typeface="+mn-cs"/>
              </a:defRPr>
            </a:lvl1pPr>
          </a:lstStyle>
          <a:p>
            <a:pPr marL="0" marR="0" lvl="0" indent="0" algn="l" defTabSz="457200" rtl="0" eaLnBrk="1" fontAlgn="auto" latinLnBrk="0" hangingPunct="1">
              <a:lnSpc>
                <a:spcPct val="100000"/>
              </a:lnSpc>
              <a:spcBef>
                <a:spcPts val="600"/>
              </a:spcBef>
              <a:spcAft>
                <a:spcPts val="1200"/>
              </a:spcAft>
              <a:buClrTx/>
              <a:buSzTx/>
              <a:buFontTx/>
              <a:buNone/>
              <a:tabLst/>
              <a:defRPr/>
            </a:pPr>
            <a:endParaRPr kumimoji="0" lang="en-US" sz="2800" b="0" u="none" strike="noStrike" kern="1200" cap="none" spc="0" normalizeH="0" baseline="0" noProof="0">
              <a:ln>
                <a:noFill/>
              </a:ln>
              <a:solidFill>
                <a:srgbClr val="000000"/>
              </a:solidFill>
              <a:effectLst/>
              <a:uLnTx/>
              <a:uFillTx/>
              <a:latin typeface="+mn-lt"/>
              <a:cs typeface="+mn-cs"/>
            </a:endParaRPr>
          </a:p>
        </p:txBody>
      </p:sp>
      <p:sp>
        <p:nvSpPr>
          <p:cNvPr id="34" name="TextBox 33">
            <a:extLst>
              <a:ext uri="{FF2B5EF4-FFF2-40B4-BE49-F238E27FC236}">
                <a16:creationId xmlns:a16="http://schemas.microsoft.com/office/drawing/2014/main" id="{0B51667E-1605-C38A-D026-751E57EC065F}"/>
              </a:ext>
            </a:extLst>
          </p:cNvPr>
          <p:cNvSpPr txBox="1"/>
          <p:nvPr/>
        </p:nvSpPr>
        <p:spPr>
          <a:xfrm>
            <a:off x="739695" y="1811283"/>
            <a:ext cx="1995489" cy="2942241"/>
          </a:xfrm>
          <a:prstGeom prst="rect">
            <a:avLst/>
          </a:prstGeom>
          <a:noFill/>
        </p:spPr>
        <p:txBody>
          <a:bodyPr wrap="square" lIns="91440" tIns="45720" rIns="91440" bIns="45720" rtlCol="0" anchor="t">
            <a:noAutofit/>
          </a:bodyPr>
          <a:lstStyle/>
          <a:p>
            <a:pPr>
              <a:lnSpc>
                <a:spcPct val="110000"/>
              </a:lnSpc>
              <a:spcAft>
                <a:spcPts val="600"/>
              </a:spcAft>
              <a:defRPr/>
            </a:pPr>
            <a:r>
              <a:rPr kumimoji="0" lang="en-US" sz="1400" b="1" i="0" u="none" strike="noStrike" kern="0" cap="none" spc="0" normalizeH="0" baseline="0" noProof="0">
                <a:ln>
                  <a:noFill/>
                </a:ln>
                <a:solidFill>
                  <a:schemeClr val="accent1">
                    <a:lumMod val="75000"/>
                    <a:lumOff val="25000"/>
                  </a:schemeClr>
                </a:solidFill>
                <a:effectLst/>
                <a:uLnTx/>
                <a:uFillTx/>
              </a:rPr>
              <a:t>2026 GOAL</a:t>
            </a:r>
          </a:p>
          <a:p>
            <a:pPr>
              <a:lnSpc>
                <a:spcPct val="110000"/>
              </a:lnSpc>
              <a:spcAft>
                <a:spcPts val="600"/>
              </a:spcAft>
              <a:defRPr/>
            </a:pPr>
            <a:r>
              <a:rPr kumimoji="0" lang="en-US" sz="1000" b="1" i="0" u="none" strike="noStrike" kern="0" cap="none" spc="0" normalizeH="0" baseline="0" noProof="0">
                <a:ln>
                  <a:noFill/>
                </a:ln>
                <a:solidFill>
                  <a:srgbClr val="000000"/>
                </a:solidFill>
                <a:effectLst/>
                <a:uLnTx/>
                <a:uFillTx/>
              </a:rPr>
              <a:t>Build clear, differentiated B2B growth motions within DDM and DBT while establishing an overarching B2B market narrative that accelerates revenue growth </a:t>
            </a:r>
            <a:r>
              <a:rPr lang="en-US" sz="1000" b="1" kern="0">
                <a:solidFill>
                  <a:srgbClr val="000000"/>
                </a:solidFill>
              </a:rPr>
              <a:t>and </a:t>
            </a:r>
            <a:r>
              <a:rPr kumimoji="0" lang="en-US" sz="1000" b="1" i="0" u="none" strike="noStrike" kern="0" cap="none" spc="0" normalizeH="0" baseline="0" noProof="0">
                <a:ln>
                  <a:noFill/>
                </a:ln>
                <a:solidFill>
                  <a:srgbClr val="000000"/>
                </a:solidFill>
                <a:effectLst/>
                <a:uLnTx/>
                <a:uFillTx/>
              </a:rPr>
              <a:t>executive engagement.</a:t>
            </a:r>
          </a:p>
          <a:p>
            <a:pPr>
              <a:lnSpc>
                <a:spcPct val="110000"/>
              </a:lnSpc>
              <a:spcAft>
                <a:spcPts val="600"/>
              </a:spcAft>
              <a:defRPr/>
            </a:pPr>
            <a:r>
              <a:rPr kumimoji="0" lang="en-US" sz="1000" i="0" u="none" strike="noStrike" kern="0" cap="none" spc="0" normalizeH="0" baseline="0" noProof="0">
                <a:ln>
                  <a:noFill/>
                </a:ln>
                <a:solidFill>
                  <a:srgbClr val="000000"/>
                </a:solidFill>
                <a:effectLst/>
                <a:uLnTx/>
                <a:uFillTx/>
              </a:rPr>
              <a:t>Success means each BU has a clear GTM motion that is generating measurable pipeline and exec-level conversations, supported by a unified Merkle B2B story.</a:t>
            </a:r>
          </a:p>
        </p:txBody>
      </p:sp>
      <p:sp>
        <p:nvSpPr>
          <p:cNvPr id="21" name="Title 20">
            <a:extLst>
              <a:ext uri="{FF2B5EF4-FFF2-40B4-BE49-F238E27FC236}">
                <a16:creationId xmlns:a16="http://schemas.microsoft.com/office/drawing/2014/main" id="{30B11319-DDED-63D0-4AA1-A31D9DB0E09D}"/>
              </a:ext>
            </a:extLst>
          </p:cNvPr>
          <p:cNvSpPr>
            <a:spLocks noGrp="1"/>
          </p:cNvSpPr>
          <p:nvPr>
            <p:ph type="title"/>
          </p:nvPr>
        </p:nvSpPr>
        <p:spPr>
          <a:xfrm>
            <a:off x="342952" y="493773"/>
            <a:ext cx="11128248" cy="612648"/>
          </a:xfrm>
        </p:spPr>
        <p:txBody>
          <a:bodyPr>
            <a:noAutofit/>
          </a:bodyPr>
          <a:lstStyle/>
          <a:p>
            <a:r>
              <a:rPr lang="en-US">
                <a:solidFill>
                  <a:schemeClr val="bg1"/>
                </a:solidFill>
              </a:rPr>
              <a:t>B2B Growth Platform</a:t>
            </a:r>
            <a:endParaRPr lang="en-US" b="0">
              <a:solidFill>
                <a:schemeClr val="bg1"/>
              </a:solidFill>
            </a:endParaRPr>
          </a:p>
        </p:txBody>
      </p:sp>
      <p:sp>
        <p:nvSpPr>
          <p:cNvPr id="8" name="Text Placeholder 7">
            <a:extLst>
              <a:ext uri="{FF2B5EF4-FFF2-40B4-BE49-F238E27FC236}">
                <a16:creationId xmlns:a16="http://schemas.microsoft.com/office/drawing/2014/main" id="{F31545F3-4ABB-6DF3-DB80-7C033BC45FB6}"/>
              </a:ext>
            </a:extLst>
          </p:cNvPr>
          <p:cNvSpPr>
            <a:spLocks noGrp="1"/>
          </p:cNvSpPr>
          <p:nvPr>
            <p:ph type="body" sz="quarter" idx="12"/>
          </p:nvPr>
        </p:nvSpPr>
        <p:spPr>
          <a:xfrm>
            <a:off x="342952" y="265173"/>
            <a:ext cx="8000000" cy="182880"/>
          </a:xfrm>
        </p:spPr>
        <p:txBody>
          <a:bodyPr>
            <a:noAutofit/>
          </a:bodyPr>
          <a:lstStyle/>
          <a:p>
            <a:r>
              <a:rPr lang="en-US">
                <a:solidFill>
                  <a:srgbClr val="0391F2"/>
                </a:solidFill>
              </a:rPr>
              <a:t>ENTERPRISE GROWTH PRIORITY</a:t>
            </a:r>
          </a:p>
        </p:txBody>
      </p:sp>
      <p:sp>
        <p:nvSpPr>
          <p:cNvPr id="5" name="Rounded Rectangle 4">
            <a:extLst>
              <a:ext uri="{FF2B5EF4-FFF2-40B4-BE49-F238E27FC236}">
                <a16:creationId xmlns:a16="http://schemas.microsoft.com/office/drawing/2014/main" id="{041EAF3B-290E-C628-3F44-F16D508FC7F7}"/>
              </a:ext>
            </a:extLst>
          </p:cNvPr>
          <p:cNvSpPr/>
          <p:nvPr/>
        </p:nvSpPr>
        <p:spPr>
          <a:xfrm>
            <a:off x="9144108" y="1660650"/>
            <a:ext cx="2560320" cy="156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rtlCol="0" anchor="t">
            <a:noAutofit/>
          </a:bodyPr>
          <a:lstStyle/>
          <a:p>
            <a:pPr>
              <a:spcAft>
                <a:spcPts val="600"/>
              </a:spcAft>
            </a:pPr>
            <a:r>
              <a:rPr lang="en-US" sz="1200" b="1">
                <a:cs typeface="+mn-cs"/>
              </a:rPr>
              <a:t>Decisions Needed</a:t>
            </a:r>
          </a:p>
          <a:p>
            <a:pPr marL="228600" indent="-228600">
              <a:spcAft>
                <a:spcPts val="600"/>
              </a:spcAft>
              <a:buFont typeface="+mj-lt"/>
              <a:buAutoNum type="arabicPeriod"/>
            </a:pPr>
            <a:r>
              <a:rPr lang="en-US" sz="1000"/>
              <a:t>Confirm whether the proposed leadership and immediate operating direction are sufficient to continue advancing the B2B work while the broader plan is completed.</a:t>
            </a:r>
          </a:p>
        </p:txBody>
      </p:sp>
      <p:sp>
        <p:nvSpPr>
          <p:cNvPr id="6" name="Rounded Rectangle 5">
            <a:extLst>
              <a:ext uri="{FF2B5EF4-FFF2-40B4-BE49-F238E27FC236}">
                <a16:creationId xmlns:a16="http://schemas.microsoft.com/office/drawing/2014/main" id="{40AF2834-9A59-D134-D848-D7CEDD7B356D}"/>
              </a:ext>
            </a:extLst>
          </p:cNvPr>
          <p:cNvSpPr/>
          <p:nvPr/>
        </p:nvSpPr>
        <p:spPr>
          <a:xfrm>
            <a:off x="9144108" y="3300650"/>
            <a:ext cx="2560320" cy="156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rtlCol="0" anchor="t">
            <a:noAutofit/>
          </a:bodyPr>
          <a:lstStyle/>
          <a:p>
            <a:pPr>
              <a:spcAft>
                <a:spcPts val="600"/>
              </a:spcAft>
            </a:pPr>
            <a:r>
              <a:rPr lang="en-US" sz="1200" b="1">
                <a:cs typeface="+mn-cs"/>
              </a:rPr>
              <a:t>Help Wanted</a:t>
            </a:r>
          </a:p>
          <a:p>
            <a:pPr marL="228600" indent="-228600">
              <a:spcAft>
                <a:spcPts val="600"/>
              </a:spcAft>
              <a:buFont typeface="+mj-lt"/>
              <a:buAutoNum type="arabicPeriod"/>
            </a:pPr>
            <a:r>
              <a:rPr lang="en-US" sz="1000"/>
              <a:t>Pressure-test whether the DDM and DBT motions add up to a credible enterprise B2B proposition. Surface implications for clients, go-to-market, marketing, alliances, delivery, talent and finance before the direction is finalized.</a:t>
            </a:r>
          </a:p>
        </p:txBody>
      </p:sp>
      <p:sp>
        <p:nvSpPr>
          <p:cNvPr id="7" name="Rounded Rectangle 6">
            <a:extLst>
              <a:ext uri="{FF2B5EF4-FFF2-40B4-BE49-F238E27FC236}">
                <a16:creationId xmlns:a16="http://schemas.microsoft.com/office/drawing/2014/main" id="{07DAFD71-705A-7192-8057-EEA73D2CC950}"/>
              </a:ext>
            </a:extLst>
          </p:cNvPr>
          <p:cNvSpPr/>
          <p:nvPr/>
        </p:nvSpPr>
        <p:spPr>
          <a:xfrm>
            <a:off x="9144108" y="4940650"/>
            <a:ext cx="2560320" cy="156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rtlCol="0" anchor="t">
            <a:noAutofit/>
          </a:bodyPr>
          <a:lstStyle/>
          <a:p>
            <a:pPr>
              <a:spcAft>
                <a:spcPts val="600"/>
              </a:spcAft>
            </a:pPr>
            <a:r>
              <a:rPr lang="en-US" sz="1200" b="1">
                <a:cs typeface="+mn-cs"/>
              </a:rPr>
              <a:t>Investment or Capacity</a:t>
            </a:r>
          </a:p>
          <a:p>
            <a:pPr marL="228600" indent="-228600">
              <a:spcAft>
                <a:spcPts val="600"/>
              </a:spcAft>
              <a:buFont typeface="+mj-lt"/>
              <a:buAutoNum type="arabicPeriod"/>
            </a:pPr>
            <a:r>
              <a:rPr lang="en-US" sz="1000"/>
              <a:t>Clarify which initial headcount and capability requests can move forward now, and which must be considered through the broader 2027 budget process.</a:t>
            </a:r>
          </a:p>
        </p:txBody>
      </p:sp>
      <p:sp>
        <p:nvSpPr>
          <p:cNvPr id="10" name="Rounded Rectangle 9">
            <a:extLst>
              <a:ext uri="{FF2B5EF4-FFF2-40B4-BE49-F238E27FC236}">
                <a16:creationId xmlns:a16="http://schemas.microsoft.com/office/drawing/2014/main" id="{D9620434-4E9F-BD6F-4707-C5B64DC0A825}"/>
              </a:ext>
            </a:extLst>
          </p:cNvPr>
          <p:cNvSpPr/>
          <p:nvPr/>
        </p:nvSpPr>
        <p:spPr>
          <a:xfrm>
            <a:off x="3479040" y="1660650"/>
            <a:ext cx="5149653" cy="886967"/>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91440" tIns="45720" rIns="91440" bIns="45720" rtlCol="0" anchor="t">
            <a:noAutofit/>
          </a:bodyPr>
          <a:lstStyle/>
          <a:p>
            <a:pPr>
              <a:spcAft>
                <a:spcPts val="600"/>
              </a:spcAft>
            </a:pPr>
            <a:r>
              <a:rPr lang="en-US" sz="1000" b="1"/>
              <a:t>FROM THE LAST REVIEW</a:t>
            </a:r>
          </a:p>
          <a:p>
            <a:pPr>
              <a:spcAft>
                <a:spcPts val="600"/>
              </a:spcAft>
            </a:pPr>
            <a:r>
              <a:rPr lang="en-US" sz="1000"/>
              <a:t>David and Eric were to review their rosters (with Ed helping assess options), to identify a fully dedicated B2B leader. David and Eric were to finish the B2B </a:t>
            </a:r>
            <a:r>
              <a:rPr lang="en-US" sz="1000" err="1"/>
              <a:t>agentification</a:t>
            </a:r>
            <a:r>
              <a:rPr lang="en-US" sz="1000"/>
              <a:t> assessment and review it jointly so both BUs are supported.</a:t>
            </a:r>
          </a:p>
        </p:txBody>
      </p:sp>
      <p:sp>
        <p:nvSpPr>
          <p:cNvPr id="13" name="Rounded Rectangle 12">
            <a:extLst>
              <a:ext uri="{FF2B5EF4-FFF2-40B4-BE49-F238E27FC236}">
                <a16:creationId xmlns:a16="http://schemas.microsoft.com/office/drawing/2014/main" id="{EF759F4F-F8E8-DA80-2052-D321B9671623}"/>
              </a:ext>
            </a:extLst>
          </p:cNvPr>
          <p:cNvSpPr>
            <a:spLocks noGrp="1" noRot="1" noMove="1" noResize="1" noEditPoints="1" noAdjustHandles="1" noChangeArrowheads="1" noChangeShapeType="1"/>
          </p:cNvSpPr>
          <p:nvPr/>
        </p:nvSpPr>
        <p:spPr>
          <a:xfrm>
            <a:off x="8500000" y="470000"/>
            <a:ext cx="3368125" cy="480000"/>
          </a:xfrm>
          <a:prstGeom prst="roundRect">
            <a:avLst>
              <a:gd name="adj" fmla="val 28000"/>
            </a:avLst>
          </a:prstGeom>
          <a:solidFill>
            <a:srgbClr val="FFFFFF">
              <a:alpha val="14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David (DDM), Eric (DBT), Holden (Unified Narrative)</a:t>
            </a:r>
          </a:p>
        </p:txBody>
      </p:sp>
      <p:sp>
        <p:nvSpPr>
          <p:cNvPr id="14" name="Rounded Rectangle 13">
            <a:extLst>
              <a:ext uri="{FF2B5EF4-FFF2-40B4-BE49-F238E27FC236}">
                <a16:creationId xmlns:a16="http://schemas.microsoft.com/office/drawing/2014/main" id="{1B9E7406-7C57-1E0C-9E20-8F3C1B394087}"/>
              </a:ext>
            </a:extLst>
          </p:cNvPr>
          <p:cNvSpPr/>
          <p:nvPr/>
        </p:nvSpPr>
        <p:spPr>
          <a:xfrm>
            <a:off x="3459228" y="2700418"/>
            <a:ext cx="5149653" cy="2664971"/>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91440" tIns="45720" rIns="91440" bIns="45720" rtlCol="0" anchor="t">
            <a:noAutofit/>
          </a:bodyPr>
          <a:lstStyle/>
          <a:p>
            <a:r>
              <a:rPr lang="en-US" sz="1000" b="1"/>
              <a:t>STATUS BRIEFING</a:t>
            </a:r>
          </a:p>
          <a:p>
            <a:endParaRPr lang="en-US" sz="1000" b="1"/>
          </a:p>
          <a:p>
            <a:pPr marL="171450" indent="-171450">
              <a:buFont typeface="Arial" panose="020B0604020202020204" pitchFamily="34" charset="0"/>
              <a:buChar char="•"/>
            </a:pPr>
            <a:r>
              <a:rPr lang="en-US" sz="1000" b="1"/>
              <a:t>What has materially moved since the last review? </a:t>
            </a:r>
            <a:r>
              <a:rPr lang="en-US" sz="1000"/>
              <a:t>Matt Powell has been identified to help drive and represent the work. Initial interlocks are beginning, immediate pipeline is being pursued and initial resource needs are emerging.</a:t>
            </a:r>
          </a:p>
          <a:p>
            <a:pPr marL="171450" indent="-171450">
              <a:buFont typeface="Arial" panose="020B0604020202020204" pitchFamily="34" charset="0"/>
              <a:buChar char="•"/>
            </a:pPr>
            <a:endParaRPr lang="en-US" sz="1000"/>
          </a:p>
          <a:p>
            <a:pPr marL="171450" indent="-171450">
              <a:buFont typeface="Arial" panose="020B0604020202020204" pitchFamily="34" charset="0"/>
              <a:buChar char="•"/>
            </a:pPr>
            <a:r>
              <a:rPr lang="en-US" sz="1000" b="1"/>
              <a:t>What are the gaps? </a:t>
            </a:r>
            <a:r>
              <a:rPr lang="en-US" sz="1000"/>
              <a:t>The broader Merkle B2B market position and complete investment case are still in development. The individual motions need to be translated into one credible view of the market opportunity, required investment and path to activation. The first sentence reflects the meeting discussion; the second is recommended executive framing.</a:t>
            </a:r>
          </a:p>
          <a:p>
            <a:pPr marL="171450" indent="-171450">
              <a:buFont typeface="Arial" panose="020B0604020202020204" pitchFamily="34" charset="0"/>
              <a:buChar char="•"/>
            </a:pPr>
            <a:endParaRPr lang="en-US" sz="1000"/>
          </a:p>
          <a:p>
            <a:pPr marL="171450" indent="-171450">
              <a:buFont typeface="Arial" panose="020B0604020202020204" pitchFamily="34" charset="0"/>
              <a:buChar char="•"/>
            </a:pPr>
            <a:r>
              <a:rPr lang="en-US" sz="1000" b="1"/>
              <a:t>What is your confidence in tracking to the 2026 goal? </a:t>
            </a:r>
            <a:r>
              <a:rPr lang="en-US" sz="1000"/>
              <a:t>At risk until the individual plans and unified narrative are sufficiently connected to support a clear investment and activation position.</a:t>
            </a:r>
          </a:p>
        </p:txBody>
      </p:sp>
      <p:sp>
        <p:nvSpPr>
          <p:cNvPr id="16" name="Rounded Rectangle 15">
            <a:extLst>
              <a:ext uri="{FF2B5EF4-FFF2-40B4-BE49-F238E27FC236}">
                <a16:creationId xmlns:a16="http://schemas.microsoft.com/office/drawing/2014/main" id="{9753E817-93BB-5FD0-FE1B-609A39F8873F}"/>
              </a:ext>
            </a:extLst>
          </p:cNvPr>
          <p:cNvSpPr/>
          <p:nvPr/>
        </p:nvSpPr>
        <p:spPr>
          <a:xfrm>
            <a:off x="555272" y="5020183"/>
            <a:ext cx="2364336" cy="149034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rtlCol="0" anchor="ctr">
            <a:noAutofit/>
          </a:bodyPr>
          <a:lstStyle/>
          <a:p>
            <a:pPr algn="ctr"/>
            <a:endParaRPr lang="en-US">
              <a:solidFill>
                <a:srgbClr val="000000">
                  <a:lumMod val="50000"/>
                </a:srgbClr>
              </a:solidFill>
              <a:cs typeface="+mn-cs"/>
            </a:endParaRPr>
          </a:p>
        </p:txBody>
      </p:sp>
      <p:sp>
        <p:nvSpPr>
          <p:cNvPr id="17" name="TextBox 16">
            <a:extLst>
              <a:ext uri="{FF2B5EF4-FFF2-40B4-BE49-F238E27FC236}">
                <a16:creationId xmlns:a16="http://schemas.microsoft.com/office/drawing/2014/main" id="{A1B5E0B9-F13E-CA2E-C327-419213667982}"/>
              </a:ext>
            </a:extLst>
          </p:cNvPr>
          <p:cNvSpPr txBox="1"/>
          <p:nvPr/>
        </p:nvSpPr>
        <p:spPr>
          <a:xfrm>
            <a:off x="739695" y="5170816"/>
            <a:ext cx="1995489" cy="1229983"/>
          </a:xfrm>
          <a:prstGeom prst="rect">
            <a:avLst/>
          </a:prstGeom>
          <a:noFill/>
        </p:spPr>
        <p:txBody>
          <a:bodyPr wrap="square" lIns="91440" tIns="45720" rIns="91440" bIns="45720" rtlCol="0" anchor="t">
            <a:noAutofit/>
          </a:bodyPr>
          <a:lstStyle/>
          <a:p>
            <a:pPr>
              <a:lnSpc>
                <a:spcPct val="110000"/>
              </a:lnSpc>
              <a:spcAft>
                <a:spcPts val="600"/>
              </a:spcAft>
              <a:defRPr/>
            </a:pPr>
            <a:r>
              <a:rPr kumimoji="0" lang="en-US" sz="1400" b="1" i="0" u="none" strike="noStrike" kern="0" cap="none" spc="0" normalizeH="0" baseline="0" noProof="0">
                <a:ln>
                  <a:noFill/>
                </a:ln>
                <a:solidFill>
                  <a:schemeClr val="accent1">
                    <a:lumMod val="75000"/>
                    <a:lumOff val="25000"/>
                  </a:schemeClr>
                </a:solidFill>
                <a:effectLst/>
                <a:uLnTx/>
                <a:uFillTx/>
              </a:rPr>
              <a:t>NEXT UP IN 2027</a:t>
            </a:r>
          </a:p>
          <a:p>
            <a:pPr>
              <a:lnSpc>
                <a:spcPct val="110000"/>
              </a:lnSpc>
              <a:spcAft>
                <a:spcPts val="600"/>
              </a:spcAft>
              <a:defRPr/>
            </a:pPr>
            <a:r>
              <a:rPr kumimoji="0" lang="en-US" sz="900" i="0" u="none" strike="noStrike" kern="0" cap="none" spc="0" normalizeH="0" baseline="0" noProof="0">
                <a:ln>
                  <a:noFill/>
                </a:ln>
                <a:solidFill>
                  <a:srgbClr val="000000"/>
                </a:solidFill>
                <a:effectLst/>
                <a:uLnTx/>
                <a:uFillTx/>
              </a:rPr>
              <a:t>Build on the B2B foundation to scale market activation, generate measurable pipeline, and expand the opportunity across clients, partners, and the broader business.</a:t>
            </a:r>
          </a:p>
        </p:txBody>
      </p:sp>
      <p:sp>
        <p:nvSpPr>
          <p:cNvPr id="18" name="Rounded Rectangle 17">
            <a:extLst>
              <a:ext uri="{FF2B5EF4-FFF2-40B4-BE49-F238E27FC236}">
                <a16:creationId xmlns:a16="http://schemas.microsoft.com/office/drawing/2014/main" id="{D8DA7062-449A-53CB-3E83-5E69D3717C4B}"/>
              </a:ext>
            </a:extLst>
          </p:cNvPr>
          <p:cNvSpPr/>
          <p:nvPr/>
        </p:nvSpPr>
        <p:spPr>
          <a:xfrm>
            <a:off x="3479040" y="5512036"/>
            <a:ext cx="5149653" cy="998491"/>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91440" tIns="45720" rIns="91440" bIns="45720" rtlCol="0" anchor="t">
            <a:noAutofit/>
          </a:bodyPr>
          <a:lstStyle/>
          <a:p>
            <a:pPr>
              <a:spcAft>
                <a:spcPts val="600"/>
              </a:spcAft>
            </a:pPr>
            <a:r>
              <a:rPr lang="en-US" sz="1000" b="1"/>
              <a:t>NEXT MILESTONE</a:t>
            </a:r>
          </a:p>
          <a:p>
            <a:pPr>
              <a:spcAft>
                <a:spcPts val="600"/>
              </a:spcAft>
            </a:pPr>
            <a:r>
              <a:rPr lang="en-US" sz="1000"/>
              <a:t>By the next session, we will have aligned the DDM and DBT growth motions, clarified the leadership and resource requirements, and brought them together into an integrated B2B narrative ready for leadership review.</a:t>
            </a:r>
          </a:p>
        </p:txBody>
      </p:sp>
      <p:sp>
        <p:nvSpPr>
          <p:cNvPr id="19" name="Rounded Rectangle 18">
            <a:extLst>
              <a:ext uri="{FF2B5EF4-FFF2-40B4-BE49-F238E27FC236}">
                <a16:creationId xmlns:a16="http://schemas.microsoft.com/office/drawing/2014/main" id="{08B527C3-4CE5-F094-2E33-EA69C64DC059}"/>
              </a:ext>
            </a:extLst>
          </p:cNvPr>
          <p:cNvSpPr/>
          <p:nvPr/>
        </p:nvSpPr>
        <p:spPr>
          <a:xfrm>
            <a:off x="10718000" y="120000"/>
            <a:ext cx="1150000" cy="290000"/>
          </a:xfrm>
          <a:prstGeom prst="roundRect">
            <a:avLst>
              <a:gd name="adj" fmla="val 50000"/>
            </a:avLst>
          </a:prstGeom>
          <a:solidFill>
            <a:srgbClr val="DD3038"/>
          </a:solidFill>
          <a:ln>
            <a:noFill/>
          </a:ln>
        </p:spPr>
        <p:txBody>
          <a:bodyPr rtlCol="0" anchor="ctr" lIns="0" tIns="0" rIns="0" bIns="0">
            <a:noAutofit/>
          </a:bodyPr>
          <a:lstStyle/>
          <a:p>
            <a:pPr algn="ctr"/>
            <a:r>
              <a:rPr lang="en-US" sz="900" b="1">
                <a:solidFill>
                  <a:srgbClr val="FFFFFF"/>
                </a:solidFill>
              </a:rPr>
              <a:t>EXAMPLE</a:t>
            </a:r>
          </a:p>
        </p:txBody>
      </p:sp>
    </p:spTree>
    <p:extLst>
      <p:ext uri="{BB962C8B-B14F-4D97-AF65-F5344CB8AC3E}">
        <p14:creationId xmlns:p14="http://schemas.microsoft.com/office/powerpoint/2010/main" val="2452425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0000"/>
                </a:srgbClr>
              </a:gs>
              <a:gs pos="50000">
                <a:srgbClr val="000000">
                  <a:alpha val="70000"/>
                </a:srgbClr>
              </a:gs>
              <a:gs pos="100000">
                <a:srgbClr val="000000">
                  <a:alpha val="52000"/>
                </a:srgbClr>
              </a:gs>
            </a:gsLst>
            <a:lin ang="0" scaled="0"/>
          </a:gra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457200" y="170000"/>
            <a:ext cx="800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457200" y="300000"/>
            <a:ext cx="8000000" cy="560000"/>
          </a:xfrm>
        </p:spPr>
        <p:txBody>
          <a:bodyPr>
            <a:noAutofit/>
          </a:bodyPr>
          <a:lstStyle/>
          <a:p>
            <a:r>
              <a:rPr lang="en-US" sz="2800">
                <a:solidFill>
                  <a:schemeClr val="bg1"/>
                </a:solidFill>
              </a:rPr>
              <a:t>Deal to Delivery Playbook: Context</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FFFFFF">
              <a:alpha val="14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2" name="Takeaway">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70000" rIns="300000" bIns="70000" rtlCol="0" anchor="ctr">
            <a:noAutofit/>
          </a:bodyPr>
          <a:lstStyle/>
          <a:p>
            <a:pPr>
              <a:spcAft>
                <a:spcPts val="600"/>
              </a:spcAft>
            </a:pPr>
            <a:r>
              <a:rPr lang="en-US" sz="900" b="1">
                <a:solidFill>
                  <a:srgbClr val="D6D6DF"/>
                </a:solidFill>
              </a:rPr>
              <a:t>KEY TAKEAWAY</a:t>
            </a:r>
          </a:p>
          <a:p>
            <a:pPr marL="0" indent="0">
              <a:buNone/>
            </a:pPr>
            <a:r>
              <a:rPr lang="en-US" sz="1500" b="1">
                <a:solidFill>
                  <a:srgbClr val="FFFFFF"/>
                </a:solidFill>
              </a:rPr>
              <a:t>If we do nothing else, we must stop selling what we cannot properly deliver.</a:t>
            </a:r>
          </a:p>
        </p:txBody>
      </p:sp>
      <p:sp>
        <p:nvSpPr>
          <p:cNvPr id="503" name="Card 2026 GOAL">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2026 GOAL</a:t>
            </a:r>
          </a:p>
          <a:p>
            <a:pPr marL="0" indent="0">
              <a:spcAft>
                <a:spcPts val="300"/>
              </a:spcAft>
              <a:buNone/>
            </a:pPr>
            <a:r>
              <a:rPr lang="en-US" sz="1400" b="1">
                <a:solidFill>
                  <a:srgbClr val="FFFFFF"/>
                </a:solidFill>
              </a:rPr>
              <a:t>Align how we scope, execute, and set client expectations, so what we sell is what we deliver.</a:t>
            </a:r>
          </a:p>
          <a:p>
            <a:pPr marL="171450" indent="-171450">
              <a:spcBef>
                <a:spcPts val="600"/>
              </a:spcBef>
              <a:spcAft>
                <a:spcPts val="300"/>
              </a:spcAft>
              <a:buFont typeface="Arial" panose="020B0604020202020204" pitchFamily="34" charset="0"/>
              <a:buChar char="•"/>
            </a:pPr>
            <a:r>
              <a:rPr lang="en-US" sz="1000">
                <a:solidFill>
                  <a:srgbClr val="FFFFFF"/>
                </a:solidFill>
              </a:rPr>
              <a:t>In practice: each deal is sold on a named delivery model, with contract, scope and billing matched to it, and delivery follows that same shape from qualification through staffing.</a:t>
            </a:r>
          </a:p>
        </p:txBody>
      </p:sp>
      <p:sp>
        <p:nvSpPr>
          <p:cNvPr id="504" name="Card THE PROBLEM">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THE PROBLEM</a:t>
            </a:r>
          </a:p>
          <a:p>
            <a:pPr marL="171450" indent="-171450">
              <a:spcAft>
                <a:spcPts val="300"/>
              </a:spcAft>
              <a:buFont typeface="Arial" panose="020B0604020202020204" pitchFamily="34" charset="0"/>
              <a:buChar char="•"/>
            </a:pPr>
            <a:r>
              <a:rPr lang="en-US" sz="1000"/>
              <a:t>Work is sold in shapes we cannot staff or deliver.</a:t>
            </a:r>
          </a:p>
          <a:p>
            <a:pPr marL="171450" indent="-171450">
              <a:spcAft>
                <a:spcPts val="300"/>
              </a:spcAft>
              <a:buFont typeface="Arial" panose="020B0604020202020204" pitchFamily="34" charset="0"/>
              <a:buChar char="•"/>
            </a:pPr>
            <a:r>
              <a:rPr lang="en-US" sz="1000"/>
              <a:t>There is no standardized, named set of delivery models that is declared at the point of sale, carried into contracting, enforced at staffing and used for delivery.</a:t>
            </a:r>
          </a:p>
          <a:p>
            <a:pPr marL="171450" indent="-171450">
              <a:spcAft>
                <a:spcPts val="300"/>
              </a:spcAft>
              <a:buFont typeface="Arial" panose="020B0604020202020204" pitchFamily="34" charset="0"/>
              <a:buChar char="•"/>
            </a:pPr>
            <a:r>
              <a:rPr lang="en-US" sz="1000"/>
              <a:t>The delivery approach is decided implicitly by whoever is making decisions at that moment, and it is often not understood until the symptoms are visible to the client or a pivot needs investment.</a:t>
            </a:r>
          </a:p>
        </p:txBody>
      </p:sp>
      <p:sp>
        <p:nvSpPr>
          <p:cNvPr id="505" name="Card WHAT WE ARE CHANGING">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WHAT WE ARE CHANGING</a:t>
            </a:r>
          </a:p>
          <a:p>
            <a:pPr marL="171450" indent="-171450">
              <a:spcAft>
                <a:spcPts val="300"/>
              </a:spcAft>
              <a:buFont typeface="Arial" panose="020B0604020202020204" pitchFamily="34" charset="0"/>
              <a:buChar char="•"/>
            </a:pPr>
            <a:r>
              <a:rPr lang="en-US" sz="1000"/>
              <a:t>Every engagement and every track gets a named delivery model from a small, standard set, declared before review and staffing.</a:t>
            </a:r>
          </a:p>
          <a:p>
            <a:pPr marL="171450" indent="-171450">
              <a:spcAft>
                <a:spcPts val="300"/>
              </a:spcAft>
              <a:buFont typeface="Arial" panose="020B0604020202020204" pitchFamily="34" charset="0"/>
              <a:buChar char="•"/>
            </a:pPr>
            <a:r>
              <a:rPr lang="en-US" sz="1000"/>
              <a:t>No SOW is signed without a model name attached, and that name determines governance.</a:t>
            </a:r>
          </a:p>
          <a:p>
            <a:pPr marL="171450" indent="-171450">
              <a:spcBef>
                <a:spcPts val="500"/>
              </a:spcBef>
              <a:spcAft>
                <a:spcPts val="300"/>
              </a:spcAft>
              <a:buFont typeface="Arial" panose="020B0604020202020204" pitchFamily="34" charset="0"/>
              <a:buChar char="•"/>
            </a:pPr>
            <a:r>
              <a:rPr lang="en-US" sz="1100" b="1">
                <a:solidFill>
                  <a:srgbClr val="000000"/>
                </a:solidFill>
              </a:rPr>
              <a:t>Four starting models</a:t>
            </a:r>
          </a:p>
          <a:p>
            <a:pPr marL="171450" indent="-171450">
              <a:spcAft>
                <a:spcPts val="300"/>
              </a:spcAft>
              <a:buFont typeface="Arial" panose="020B0604020202020204" pitchFamily="34" charset="0"/>
              <a:buChar char="•"/>
            </a:pPr>
            <a:r>
              <a:rPr lang="en-US" sz="1000"/>
              <a:t>Fixed Constraint Delivery, Velocity Based Delivery, Outcomes Based Delivery, Retainer</a:t>
            </a:r>
          </a:p>
          <a:p>
            <a:pPr marL="171450" indent="-171450">
              <a:spcBef>
                <a:spcPts val="500"/>
              </a:spcBef>
              <a:spcAft>
                <a:spcPts val="300"/>
              </a:spcAft>
              <a:buFont typeface="Arial" panose="020B0604020202020204" pitchFamily="34" charset="0"/>
              <a:buChar char="•"/>
            </a:pPr>
            <a:r>
              <a:rPr lang="en-US" sz="1100" b="1">
                <a:solidFill>
                  <a:srgbClr val="000000"/>
                </a:solidFill>
              </a:rPr>
              <a:t>MVP: three stories, all three must work together</a:t>
            </a:r>
          </a:p>
          <a:p>
            <a:pPr marL="171450" indent="-171450">
              <a:spcAft>
                <a:spcPts val="300"/>
              </a:spcAft>
              <a:buFont typeface="Arial" panose="020B0604020202020204" pitchFamily="34" charset="0"/>
              <a:buChar char="•"/>
            </a:pPr>
            <a:r>
              <a:rPr lang="en-US" sz="1000"/>
              <a:t>Delivery Models, Contracts, Methodology Standards</a:t>
            </a:r>
          </a:p>
        </p:txBody>
      </p:sp>
      <p:sp>
        <p:nvSpPr>
          <p:cNvPr id="506" name="Card WHAT THIS UNLOCK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WHAT THIS UNLOCKS</a:t>
            </a:r>
          </a:p>
          <a:p>
            <a:pPr marL="171450" indent="-171450">
              <a:spcAft>
                <a:spcPts val="300"/>
              </a:spcAft>
              <a:buFont typeface="Arial" panose="020B0604020202020204" pitchFamily="34" charset="0"/>
              <a:buChar char="•"/>
            </a:pPr>
            <a:r>
              <a:rPr lang="en-US" sz="1000">
                <a:solidFill>
                  <a:srgbClr val="FFFFFF"/>
                </a:solidFill>
              </a:rPr>
              <a:t>We stop agreeing to unfeasible combinations, like fixed-price with no scope control.</a:t>
            </a:r>
          </a:p>
          <a:p>
            <a:pPr marL="171450" indent="-171450">
              <a:spcAft>
                <a:spcPts val="300"/>
              </a:spcAft>
              <a:buFont typeface="Arial" panose="020B0604020202020204" pitchFamily="34" charset="0"/>
              <a:buChar char="•"/>
            </a:pPr>
            <a:r>
              <a:rPr lang="en-US" sz="1000">
                <a:solidFill>
                  <a:srgbClr val="FFFFFF"/>
                </a:solidFill>
              </a:rPr>
              <a:t>Our pricing tools reflect true deliverability, not just theoretical margin.</a:t>
            </a:r>
          </a:p>
          <a:p>
            <a:pPr marL="171450" indent="-171450">
              <a:spcAft>
                <a:spcPts val="300"/>
              </a:spcAft>
              <a:buFont typeface="Arial" panose="020B0604020202020204" pitchFamily="34" charset="0"/>
              <a:buChar char="•"/>
            </a:pPr>
            <a:r>
              <a:rPr lang="en-US" sz="1000">
                <a:solidFill>
                  <a:srgbClr val="FFFFFF"/>
                </a:solidFill>
              </a:rPr>
              <a:t>We guide clients into how we work instead of inheriting whatever mix they bring.</a:t>
            </a:r>
          </a:p>
          <a:p>
            <a:pPr marL="171450" indent="-171450">
              <a:spcBef>
                <a:spcPts val="500"/>
              </a:spcBef>
              <a:spcAft>
                <a:spcPts val="300"/>
              </a:spcAft>
              <a:buFont typeface="Arial" panose="020B0604020202020204" pitchFamily="34" charset="0"/>
              <a:buChar char="•"/>
            </a:pPr>
            <a:r>
              <a:rPr lang="en-US" sz="1100" b="1">
                <a:solidFill>
                  <a:srgbClr val="D6D6DF"/>
                </a:solidFill>
              </a:rPr>
              <a:t>Beyond the MVP</a:t>
            </a:r>
          </a:p>
          <a:p>
            <a:pPr marL="171450" indent="-171450">
              <a:spcAft>
                <a:spcPts val="300"/>
              </a:spcAft>
              <a:buFont typeface="Arial" panose="020B0604020202020204" pitchFamily="34" charset="0"/>
              <a:buChar char="•"/>
            </a:pPr>
            <a:r>
              <a:rPr lang="en-US" sz="1000">
                <a:solidFill>
                  <a:srgbClr val="FFFFFF"/>
                </a:solidFill>
              </a:rPr>
              <a:t>Supported by AI: estimation, pricing, and staffing follow once the MVP is solid, and we move toward metered or token-based commercial pricing.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11" name="Picture 510" descr="rail_p1.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512" name="Rounded Rectangle 511"/>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508600" y="558600"/>
            <a:ext cx="264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508600" y="868600"/>
            <a:ext cx="2640000" cy="2300000"/>
          </a:xfrm>
        </p:spPr>
        <p:txBody>
          <a:bodyPr>
            <a:noAutofit/>
          </a:bodyPr>
          <a:lstStyle/>
          <a:p>
            <a:r>
              <a:rPr lang="en-US" sz="2400">
                <a:solidFill>
                  <a:schemeClr val="bg1"/>
                </a:solidFill>
              </a:rPr>
              <a:t>Deal to Delivery Playbook: Update</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508600" y="5340000"/>
            <a:ext cx="2640000" cy="780000"/>
          </a:xfrm>
          <a:prstGeom prst="roundRect">
            <a:avLst>
              <a:gd name="adj" fmla="val 28000"/>
            </a:avLst>
          </a:prstGeom>
          <a:solidFill>
            <a:srgbClr val="FFFFFF">
              <a:alpha val="14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8" name="Card WHAT HAS BEEN ACCOMPLISHED">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WHAT HAS BEEN ACCOMPLISHED</a:t>
            </a:r>
          </a:p>
          <a:p>
            <a:pPr marL="171450" indent="-171450">
              <a:spcAft>
                <a:spcPts val="600"/>
              </a:spcAft>
              <a:buFont typeface="Arial" panose="020B0604020202020204" pitchFamily="34" charset="0"/>
              <a:buChar char="•"/>
            </a:pPr>
            <a:r>
              <a:rPr lang="en-US" sz="1300"/>
              <a:t>Problem statement and recommendation drafted (Sept 16).</a:t>
            </a:r>
          </a:p>
          <a:p>
            <a:pPr marL="171450" indent="-171450">
              <a:spcAft>
                <a:spcPts val="600"/>
              </a:spcAft>
              <a:buFont typeface="Arial" panose="020B0604020202020204" pitchFamily="34" charset="0"/>
              <a:buChar char="•"/>
            </a:pPr>
            <a:r>
              <a:rPr lang="en-US" sz="1300"/>
              <a:t>Four model examples defined (Sept 16).</a:t>
            </a:r>
          </a:p>
          <a:p>
            <a:pPr marL="171450" indent="-171450">
              <a:spcAft>
                <a:spcPts val="600"/>
              </a:spcAft>
              <a:buFont typeface="Arial" panose="020B0604020202020204" pitchFamily="34" charset="0"/>
              <a:buChar char="•"/>
            </a:pPr>
            <a:r>
              <a:rPr lang="en-US" sz="1300"/>
              <a:t>Draft models gathered (Oct 16).</a:t>
            </a:r>
          </a:p>
        </p:txBody>
      </p:sp>
      <p:sp>
        <p:nvSpPr>
          <p:cNvPr id="509" name="Card NEXT MILESTONE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NEXT MILESTONES</a:t>
            </a:r>
          </a:p>
          <a:p>
            <a:pPr marL="171450" indent="-171450">
              <a:spcAft>
                <a:spcPts val="600"/>
              </a:spcAft>
              <a:buFont typeface="Arial" panose="020B0604020202020204" pitchFamily="34" charset="0"/>
              <a:buChar char="•"/>
            </a:pPr>
            <a:r>
              <a:rPr lang="en-US" sz="1300"/>
              <a:t>Base Model rationalization across groups: week of Oct 26.</a:t>
            </a:r>
          </a:p>
          <a:p>
            <a:pPr marL="171450" indent="-171450">
              <a:spcAft>
                <a:spcPts val="600"/>
              </a:spcAft>
              <a:buFont typeface="Arial" panose="020B0604020202020204" pitchFamily="34" charset="0"/>
              <a:buChar char="•"/>
            </a:pPr>
            <a:r>
              <a:rPr lang="en-US" sz="1300"/>
              <a:t>Initial Models Well Defined: Oct 23, shifting to Nov 6.</a:t>
            </a:r>
          </a:p>
          <a:p>
            <a:pPr marL="171450" indent="-171450">
              <a:spcAft>
                <a:spcPts val="600"/>
              </a:spcAft>
              <a:buFont typeface="Arial" panose="020B0604020202020204" pitchFamily="34" charset="0"/>
              <a:buChar char="•"/>
            </a:pPr>
            <a:r>
              <a:rPr lang="en-US" sz="1300"/>
              <a:t>1st Batch of Models &amp; Program "Stack" Guidance: Nov 13.</a:t>
            </a:r>
          </a:p>
          <a:p>
            <a:pPr marL="171450" indent="-171450">
              <a:spcAft>
                <a:spcPts val="600"/>
              </a:spcAft>
              <a:buFont typeface="Arial" panose="020B0604020202020204" pitchFamily="34" charset="0"/>
              <a:buChar char="•"/>
            </a:pPr>
            <a:r>
              <a:rPr lang="en-US" sz="1300"/>
              <a:t>John and Chris are pulling together the problem statement, dependencies, size, and recommendation for the three MVP stories. We'll review what they bring back next time.</a:t>
            </a:r>
          </a:p>
        </p:txBody>
      </p:sp>
      <p:sp>
        <p:nvSpPr>
          <p:cNvPr id="510" name="Card WHAT IS IN OUR WAY / WHAT WE NEED FROM YOU">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D6D6DF"/>
                </a:solidFill>
              </a:rPr>
              <a:t>WHAT IS IN OUR WAY / WHAT WE NEED FROM YOU</a:t>
            </a:r>
          </a:p>
          <a:p>
            <a:pPr marL="171450" indent="-171450">
              <a:spcAft>
                <a:spcPts val="600"/>
              </a:spcAft>
              <a:buFont typeface="Arial" panose="020B0604020202020204" pitchFamily="34" charset="0"/>
              <a:buChar char="•"/>
            </a:pPr>
            <a:r>
              <a:rPr lang="en-US" sz="1300" dirty="0">
                <a:solidFill>
                  <a:srgbClr val="FFFFFF"/>
                </a:solidFill>
              </a:rPr>
              <a:t>Alignment on base model set (Delivery/Ops, Legal and Finance) and on model definition.</a:t>
            </a:r>
          </a:p>
          <a:p>
            <a:pPr marL="171450" indent="-171450">
              <a:spcAft>
                <a:spcPts val="600"/>
              </a:spcAft>
              <a:buFont typeface="Arial" panose="020B0604020202020204" pitchFamily="34" charset="0"/>
              <a:buChar char="•"/>
            </a:pPr>
            <a:r>
              <a:rPr lang="en-US" sz="1300" dirty="0">
                <a:solidFill>
                  <a:srgbClr val="FFFFFF"/>
                </a:solidFill>
              </a:rPr>
              <a:t>SME feedback, and intake routing.</a:t>
            </a:r>
          </a:p>
          <a:p>
            <a:pPr marL="171450" indent="-171450">
              <a:spcAft>
                <a:spcPts val="600"/>
              </a:spcAft>
              <a:buFont typeface="Arial" panose="020B0604020202020204" pitchFamily="34" charset="0"/>
              <a:buChar char="•"/>
            </a:pPr>
            <a:r>
              <a:rPr lang="en-US" sz="1300" dirty="0">
                <a:solidFill>
                  <a:srgbClr val="FFFFFF"/>
                </a:solidFill>
              </a:rPr>
              <a:t>Top risks: missed model(s) from the assessment, poor rollout and communication, and failure to use the models.</a:t>
            </a:r>
          </a:p>
          <a:p>
            <a:pPr marL="171450" indent="-171450">
              <a:spcAft>
                <a:spcPts val="600"/>
              </a:spcAft>
              <a:buFont typeface="Arial" panose="020B0604020202020204" pitchFamily="34" charset="0"/>
              <a:buChar char="•"/>
            </a:pPr>
            <a:r>
              <a:rPr lang="en-US" sz="1300" dirty="0">
                <a:solidFill>
                  <a:srgbClr val="FFFFFF"/>
                </a:solidFill>
              </a:rPr>
              <a:t>Everyone needs to lean in, support development of, and use these models. Participate, provide insights, give feedback, and embrace this initiative.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17" name="Picture 516" descr="hero_p2.jpg"/>
          <p:cNvPicPr>
            <a:picLocks noChangeAspect="1"/>
          </p:cNvPicPr>
          <p:nvPr/>
        </p:nvPicPr>
        <p:blipFill>
          <a:blip r:embed="rId2"/>
          <a:stretch>
            <a:fillRect/>
          </a:stretch>
        </p:blipFill>
        <p:spPr>
          <a:xfrm>
            <a:off x="0" y="0"/>
            <a:ext cx="12192000" cy="1000000"/>
          </a:xfrm>
          <a:prstGeom prst="rect">
            <a:avLst/>
          </a:prstGeom>
        </p:spPr>
      </p:pic>
      <p:sp>
        <p:nvSpPr>
          <p:cNvPr id="518" name="Rectangle 517"/>
          <p:cNvSpPr/>
          <p:nvPr/>
        </p:nvSpPr>
        <p:spPr>
          <a:xfrm>
            <a:off x="0" y="0"/>
            <a:ext cx="12192000" cy="1000000"/>
          </a:xfrm>
          <a:prstGeom prst="rect">
            <a:avLst/>
          </a:prstGeom>
          <a:gradFill rotWithShape="1">
            <a:gsLst>
              <a:gs pos="0">
                <a:srgbClr val="000000">
                  <a:alpha val="78000"/>
                </a:srgbClr>
              </a:gs>
              <a:gs pos="50000">
                <a:srgbClr val="000000">
                  <a:alpha val="42000"/>
                </a:srgbClr>
              </a:gs>
              <a:gs pos="100000">
                <a:srgbClr val="000000">
                  <a:alpha val="8000"/>
                </a:srgbClr>
              </a:gs>
            </a:gsLst>
            <a:lin ang="0" scaled="0"/>
          </a:gra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457200" y="170000"/>
            <a:ext cx="800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457200" y="300000"/>
            <a:ext cx="8000000" cy="560000"/>
          </a:xfrm>
        </p:spPr>
        <p:txBody>
          <a:bodyPr>
            <a:noAutofit/>
          </a:bodyPr>
          <a:lstStyle/>
          <a:p>
            <a:r>
              <a:rPr lang="en-US" sz="2800">
                <a:solidFill>
                  <a:schemeClr val="bg1"/>
                </a:solidFill>
              </a:rPr>
              <a:t>Accountability Framework: Context</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FFFFFF">
              <a:alpha val="14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John Ewen</a:t>
            </a:r>
          </a:p>
        </p:txBody>
      </p:sp>
      <p:sp>
        <p:nvSpPr>
          <p:cNvPr id="512" name="Takeaway">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70000" rIns="300000" bIns="70000" rtlCol="0" anchor="ctr">
            <a:noAutofit/>
          </a:bodyPr>
          <a:lstStyle/>
          <a:p>
            <a:pPr>
              <a:spcAft>
                <a:spcPts val="600"/>
              </a:spcAft>
            </a:pPr>
            <a:r>
              <a:rPr lang="en-US" sz="900" b="1">
                <a:solidFill>
                  <a:srgbClr val="D6D6DF"/>
                </a:solidFill>
              </a:rPr>
              <a:t>KEY TAKEAWAY</a:t>
            </a:r>
          </a:p>
          <a:p>
            <a:pPr marL="0" indent="0">
              <a:buNone/>
            </a:pPr>
            <a:r>
              <a:rPr lang="en-US" sz="1500" b="1">
                <a:solidFill>
                  <a:srgbClr val="FFFFFF"/>
                </a:solidFill>
              </a:rPr>
              <a:t>Far too many key projects lack a shared understanding of who is accountable for the work that we do.</a:t>
            </a:r>
          </a:p>
        </p:txBody>
      </p:sp>
      <p:sp>
        <p:nvSpPr>
          <p:cNvPr id="513" name="Card 2026 GOAL">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2026 GOAL</a:t>
            </a:r>
          </a:p>
          <a:p>
            <a:pPr marL="0" indent="0">
              <a:spcAft>
                <a:spcPts val="300"/>
              </a:spcAft>
              <a:buNone/>
            </a:pPr>
            <a:r>
              <a:rPr lang="en-US" sz="1400" b="1">
                <a:solidFill>
                  <a:srgbClr val="FFFFFF"/>
                </a:solidFill>
              </a:rPr>
              <a:t>Codify and transform delivery leadership and accountability for every project, with clear delivery roles, executive sponsorship, and regular reviews that highlight high-risk projects.</a:t>
            </a:r>
          </a:p>
          <a:p>
            <a:pPr marL="171450" indent="-171450">
              <a:spcBef>
                <a:spcPts val="600"/>
              </a:spcBef>
              <a:spcAft>
                <a:spcPts val="300"/>
              </a:spcAft>
              <a:buFont typeface="Arial" panose="020B0604020202020204" pitchFamily="34" charset="0"/>
              <a:buChar char="•"/>
            </a:pPr>
            <a:r>
              <a:rPr lang="en-US" sz="1000">
                <a:solidFill>
                  <a:srgbClr val="FFFFFF"/>
                </a:solidFill>
              </a:rPr>
              <a:t>In practice: every key project has named delivery roles and an executive sponsor, multitrack projects have agreed accountability, and quarterly reviews surface high-risk projects early.</a:t>
            </a:r>
          </a:p>
        </p:txBody>
      </p:sp>
      <p:sp>
        <p:nvSpPr>
          <p:cNvPr id="514" name="Card THE PROBLEM">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THE PROBLEM</a:t>
            </a:r>
          </a:p>
          <a:p>
            <a:pPr marL="171450" indent="-171450">
              <a:spcAft>
                <a:spcPts val="300"/>
              </a:spcAft>
              <a:buFont typeface="Arial" panose="020B0604020202020204" pitchFamily="34" charset="0"/>
              <a:buChar char="•"/>
            </a:pPr>
            <a:r>
              <a:rPr lang="en-US" sz="1000"/>
              <a:t>We are refining how we manage multitrack projects so project teams have precise leadership support, rather than running as one giant portfolio.</a:t>
            </a:r>
          </a:p>
          <a:p>
            <a:pPr marL="171450" indent="-171450">
              <a:spcAft>
                <a:spcPts val="300"/>
              </a:spcAft>
              <a:buFont typeface="Arial" panose="020B0604020202020204" pitchFamily="34" charset="0"/>
              <a:buChar char="•"/>
            </a:pPr>
            <a:r>
              <a:rPr lang="en-US" sz="1000"/>
              <a:t>For multitrack and multi-Delivery Center projects, alignment needs to be agreed to and enforced.</a:t>
            </a:r>
          </a:p>
          <a:p>
            <a:pPr marL="171450" indent="-171450">
              <a:spcAft>
                <a:spcPts val="300"/>
              </a:spcAft>
              <a:buFont typeface="Arial" panose="020B0604020202020204" pitchFamily="34" charset="0"/>
              <a:buChar char="•"/>
            </a:pPr>
            <a:r>
              <a:rPr lang="en-US" sz="1000"/>
              <a:t>This will inform everything from staffing to methodology to the role of escalation management and resolution.</a:t>
            </a:r>
          </a:p>
        </p:txBody>
      </p:sp>
      <p:sp>
        <p:nvSpPr>
          <p:cNvPr id="515" name="Card WHAT WE ARE CHANGING">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WHAT WE ARE CHANGING</a:t>
            </a:r>
          </a:p>
          <a:p>
            <a:pPr marL="171450" indent="-171450">
              <a:spcAft>
                <a:spcPts val="300"/>
              </a:spcAft>
              <a:buFont typeface="Arial" panose="020B0604020202020204" pitchFamily="34" charset="0"/>
              <a:buChar char="•"/>
            </a:pPr>
            <a:r>
              <a:rPr lang="en-US" sz="1000"/>
              <a:t>We will define accountability for every project.</a:t>
            </a:r>
          </a:p>
          <a:p>
            <a:pPr marL="171450" indent="-171450">
              <a:spcAft>
                <a:spcPts val="300"/>
              </a:spcAft>
              <a:buFont typeface="Arial" panose="020B0604020202020204" pitchFamily="34" charset="0"/>
              <a:buChar char="•"/>
            </a:pPr>
            <a:r>
              <a:rPr lang="en-US" sz="1000"/>
              <a:t>We will establish the essential delivery roles needed and clarify existing roles to avoid overlap and gaps.</a:t>
            </a:r>
          </a:p>
          <a:p>
            <a:pPr marL="171450" indent="-171450">
              <a:spcAft>
                <a:spcPts val="300"/>
              </a:spcAft>
              <a:buFont typeface="Arial" panose="020B0604020202020204" pitchFamily="34" charset="0"/>
              <a:buChar char="•"/>
            </a:pPr>
            <a:r>
              <a:rPr lang="en-US" sz="1000"/>
              <a:t>We are launching a workstream to define standard delivery roles and establish clear, supportive project-level structures across all major accounts.</a:t>
            </a:r>
          </a:p>
          <a:p>
            <a:pPr marL="171450" indent="-171450">
              <a:spcAft>
                <a:spcPts val="300"/>
              </a:spcAft>
              <a:buFont typeface="Arial" panose="020B0604020202020204" pitchFamily="34" charset="0"/>
              <a:buChar char="•"/>
            </a:pPr>
            <a:r>
              <a:rPr lang="en-US" sz="1000"/>
              <a:t>Starting in Q4, we will establish a cadence of quarterly reviews. High risk projects will be highlighted in ongoing Delivery Excellence meetings.</a:t>
            </a:r>
          </a:p>
        </p:txBody>
      </p:sp>
      <p:sp>
        <p:nvSpPr>
          <p:cNvPr id="516" name="Card WHAT THIS UNLOCK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WHAT THIS UNLOCKS</a:t>
            </a:r>
          </a:p>
          <a:p>
            <a:pPr marL="171450" indent="-171450">
              <a:spcAft>
                <a:spcPts val="300"/>
              </a:spcAft>
              <a:buFont typeface="Arial" panose="020B0604020202020204" pitchFamily="34" charset="0"/>
              <a:buChar char="•"/>
            </a:pPr>
            <a:r>
              <a:rPr lang="en-US" sz="1000">
                <a:solidFill>
                  <a:srgbClr val="FFFFFF"/>
                </a:solidFill>
              </a:rPr>
              <a:t>Delivery doesn't happen in a vacuum. Successes and escalations are tightly coupled with our Client Engagement model (Client Partners, Account Management) and Executive Sponsors.</a:t>
            </a:r>
          </a:p>
          <a:p>
            <a:pPr marL="171450" indent="-171450">
              <a:spcBef>
                <a:spcPts val="500"/>
              </a:spcBef>
              <a:spcAft>
                <a:spcPts val="300"/>
              </a:spcAft>
              <a:buFont typeface="Arial" panose="020B0604020202020204" pitchFamily="34" charset="0"/>
              <a:buChar char="•"/>
            </a:pPr>
            <a:r>
              <a:rPr lang="en-US" sz="1100" b="1">
                <a:solidFill>
                  <a:srgbClr val="D6D6DF"/>
                </a:solidFill>
              </a:rPr>
              <a:t>Beyond the MVP</a:t>
            </a:r>
          </a:p>
          <a:p>
            <a:pPr marL="171450" indent="-171450">
              <a:spcAft>
                <a:spcPts val="300"/>
              </a:spcAft>
              <a:buFont typeface="Arial" panose="020B0604020202020204" pitchFamily="34" charset="0"/>
              <a:buChar char="•"/>
            </a:pPr>
            <a:r>
              <a:rPr lang="en-US" sz="1000">
                <a:solidFill>
                  <a:srgbClr val="FFFFFF"/>
                </a:solidFill>
              </a:rPr>
              <a:t>Expand quarterly reviews across the broader portfolio after the top 5 major clients per BU, and scale what works into methodology.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21" name="Picture 520" descr="rail_p2.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522" name="Rounded Rectangle 521"/>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508600" y="558600"/>
            <a:ext cx="264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508600" y="868600"/>
            <a:ext cx="2640000" cy="2300000"/>
          </a:xfrm>
        </p:spPr>
        <p:txBody>
          <a:bodyPr>
            <a:noAutofit/>
          </a:bodyPr>
          <a:lstStyle/>
          <a:p>
            <a:r>
              <a:rPr lang="en-US" sz="2400">
                <a:solidFill>
                  <a:schemeClr val="bg1"/>
                </a:solidFill>
              </a:rPr>
              <a:t>Accountability Framework: Update</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508600" y="5340000"/>
            <a:ext cx="2640000" cy="780000"/>
          </a:xfrm>
          <a:prstGeom prst="roundRect">
            <a:avLst>
              <a:gd name="adj" fmla="val 28000"/>
            </a:avLst>
          </a:prstGeom>
          <a:solidFill>
            <a:srgbClr val="FFFFFF">
              <a:alpha val="14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John Ewen</a:t>
            </a:r>
          </a:p>
        </p:txBody>
      </p:sp>
      <p:sp>
        <p:nvSpPr>
          <p:cNvPr id="518" name="Card WHAT HAS BEEN ACCOMPLISHED">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WHAT HAS BEEN ACCOMPLISHED</a:t>
            </a:r>
          </a:p>
          <a:p>
            <a:pPr marL="171450" indent="-171450">
              <a:spcAft>
                <a:spcPts val="600"/>
              </a:spcAft>
              <a:buFont typeface="Arial" panose="020B0604020202020204" pitchFamily="34" charset="0"/>
              <a:buChar char="•"/>
            </a:pPr>
            <a:r>
              <a:rPr lang="en-US" sz="1300"/>
              <a:t>Workstream launching to define standard delivery roles and project-level structures across major accounts.</a:t>
            </a:r>
          </a:p>
          <a:p>
            <a:pPr marL="171450" indent="-171450">
              <a:spcAft>
                <a:spcPts val="600"/>
              </a:spcAft>
              <a:buFont typeface="Arial" panose="020B0604020202020204" pitchFamily="34" charset="0"/>
              <a:buChar char="•"/>
            </a:pPr>
            <a:r>
              <a:rPr lang="en-US" sz="1300"/>
              <a:t>BU COOs and Enterprise Project Management are co-leading this initiative.</a:t>
            </a:r>
          </a:p>
        </p:txBody>
      </p:sp>
      <p:sp>
        <p:nvSpPr>
          <p:cNvPr id="519" name="Card NEXT MILESTONE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000000"/>
                </a:solidFill>
              </a:rPr>
              <a:t>NEXT MILESTONES</a:t>
            </a:r>
          </a:p>
          <a:p>
            <a:pPr marL="171450" indent="-171450">
              <a:spcAft>
                <a:spcPts val="600"/>
              </a:spcAft>
              <a:buFont typeface="Arial" panose="020B0604020202020204" pitchFamily="34" charset="0"/>
              <a:buChar char="•"/>
            </a:pPr>
            <a:r>
              <a:rPr lang="en-US" sz="1300" dirty="0"/>
              <a:t>Lock in the key accounts in each BU (top 5 major clients per BU): </a:t>
            </a:r>
            <a:r>
              <a:rPr lang="en-US" sz="1300" dirty="0">
                <a:solidFill>
                  <a:srgbClr val="000000"/>
                </a:solidFill>
                <a:highlight>
                  <a:srgbClr val="FFFF00"/>
                </a:highlight>
              </a:rPr>
              <a:t>[enter date].</a:t>
            </a:r>
          </a:p>
          <a:p>
            <a:pPr marL="171450" indent="-171450">
              <a:spcAft>
                <a:spcPts val="600"/>
              </a:spcAft>
              <a:buFont typeface="Arial" panose="020B0604020202020204" pitchFamily="34" charset="0"/>
              <a:buChar char="•"/>
            </a:pPr>
            <a:r>
              <a:rPr lang="en-US" sz="1300" dirty="0"/>
              <a:t>Define the required core roles for the Q4 launch: </a:t>
            </a:r>
            <a:r>
              <a:rPr lang="en-US" sz="1300" dirty="0">
                <a:solidFill>
                  <a:srgbClr val="000000"/>
                </a:solidFill>
                <a:highlight>
                  <a:srgbClr val="FFFF00"/>
                </a:highlight>
              </a:rPr>
              <a:t>[enter date].</a:t>
            </a:r>
          </a:p>
          <a:p>
            <a:pPr marL="171450" indent="-171450">
              <a:spcAft>
                <a:spcPts val="600"/>
              </a:spcAft>
              <a:buFont typeface="Arial" panose="020B0604020202020204" pitchFamily="34" charset="0"/>
              <a:buChar char="•"/>
            </a:pPr>
            <a:r>
              <a:rPr lang="en-US" sz="1300" dirty="0"/>
              <a:t>Start the quarterly reviews of the accountability structure for multitrack programs: Q4.</a:t>
            </a:r>
          </a:p>
        </p:txBody>
      </p:sp>
      <p:sp>
        <p:nvSpPr>
          <p:cNvPr id="520" name="Card WHAT IS IN OUR WAY / WHAT WE NEED FROM YOU">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D6D6DF"/>
                </a:solidFill>
              </a:rPr>
              <a:t>WHAT IS IN OUR WAY / WHAT WE NEED FROM YOU</a:t>
            </a:r>
          </a:p>
          <a:p>
            <a:pPr marL="171450" indent="-171450">
              <a:spcAft>
                <a:spcPts val="600"/>
              </a:spcAft>
              <a:buFont typeface="Arial" panose="020B0604020202020204" pitchFamily="34" charset="0"/>
              <a:buChar char="•"/>
            </a:pPr>
            <a:r>
              <a:rPr lang="en-US" sz="1300" dirty="0">
                <a:solidFill>
                  <a:srgbClr val="FFFFFF"/>
                </a:solidFill>
              </a:rPr>
              <a:t>Key accounts in each BU are not yet locked in, and core roles for the Q4 launch are not yet defined.</a:t>
            </a:r>
          </a:p>
          <a:p>
            <a:pPr marL="171450" indent="-171450">
              <a:spcAft>
                <a:spcPts val="600"/>
              </a:spcAft>
              <a:buFont typeface="Arial" panose="020B0604020202020204" pitchFamily="34" charset="0"/>
              <a:buChar char="•"/>
            </a:pPr>
            <a:r>
              <a:rPr lang="en-US" sz="1300" dirty="0">
                <a:solidFill>
                  <a:srgbClr val="FFFFFF"/>
                </a:solidFill>
              </a:rPr>
              <a:t>Change management will be key. These are modifications to our ways of working and new standards that we will need to teach, support, and enforce.</a:t>
            </a:r>
          </a:p>
          <a:p>
            <a:pPr marL="171450" indent="-171450">
              <a:spcAft>
                <a:spcPts val="600"/>
              </a:spcAft>
              <a:buFont typeface="Arial" panose="020B0604020202020204" pitchFamily="34" charset="0"/>
              <a:buChar char="•"/>
            </a:pPr>
            <a:r>
              <a:rPr lang="en-US" sz="1300" dirty="0">
                <a:solidFill>
                  <a:srgbClr val="FFFFFF"/>
                </a:solidFill>
              </a:rPr>
              <a:t>Training and continuous improvement will help the organization embrace new structures and ensure we learn from what works.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27" name="Picture 526" descr="hero_p3.jpg"/>
          <p:cNvPicPr>
            <a:picLocks noChangeAspect="1"/>
          </p:cNvPicPr>
          <p:nvPr/>
        </p:nvPicPr>
        <p:blipFill>
          <a:blip r:embed="rId2"/>
          <a:stretch>
            <a:fillRect/>
          </a:stretch>
        </p:blipFill>
        <p:spPr>
          <a:xfrm>
            <a:off x="0" y="0"/>
            <a:ext cx="12192000" cy="1000000"/>
          </a:xfrm>
          <a:prstGeom prst="rect">
            <a:avLst/>
          </a:prstGeom>
        </p:spPr>
      </p:pic>
      <p:sp>
        <p:nvSpPr>
          <p:cNvPr id="528" name="Rectangle 527"/>
          <p:cNvSpPr/>
          <p:nvPr/>
        </p:nvSpPr>
        <p:spPr>
          <a:xfrm>
            <a:off x="0" y="0"/>
            <a:ext cx="12192000" cy="1000000"/>
          </a:xfrm>
          <a:prstGeom prst="rect">
            <a:avLst/>
          </a:prstGeom>
          <a:gradFill rotWithShape="1">
            <a:gsLst>
              <a:gs pos="0">
                <a:srgbClr val="000000">
                  <a:alpha val="80000"/>
                </a:srgbClr>
              </a:gs>
              <a:gs pos="50000">
                <a:srgbClr val="000000">
                  <a:alpha val="48000"/>
                </a:srgbClr>
              </a:gs>
              <a:gs pos="100000">
                <a:srgbClr val="000000">
                  <a:alpha val="22000"/>
                </a:srgbClr>
              </a:gs>
            </a:gsLst>
            <a:lin ang="0" scaled="0"/>
          </a:gra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457200" y="170000"/>
            <a:ext cx="800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457200" y="300000"/>
            <a:ext cx="8000000" cy="560000"/>
          </a:xfrm>
        </p:spPr>
        <p:txBody>
          <a:bodyPr>
            <a:noAutofit/>
          </a:bodyPr>
          <a:lstStyle/>
          <a:p>
            <a:r>
              <a:rPr lang="en-US" sz="2800">
                <a:solidFill>
                  <a:schemeClr val="bg1"/>
                </a:solidFill>
              </a:rPr>
              <a:t>Intake Updates: Context</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FFFFFF">
              <a:alpha val="14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McComas, Deana, John E.</a:t>
            </a:r>
          </a:p>
        </p:txBody>
      </p:sp>
      <p:sp>
        <p:nvSpPr>
          <p:cNvPr id="522" name="Takeaway">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70000" rIns="300000" bIns="70000" rtlCol="0" anchor="ctr">
            <a:noAutofit/>
          </a:bodyPr>
          <a:lstStyle/>
          <a:p>
            <a:pPr>
              <a:spcAft>
                <a:spcPts val="600"/>
              </a:spcAft>
            </a:pPr>
            <a:r>
              <a:rPr lang="en-US" sz="900" b="1">
                <a:solidFill>
                  <a:srgbClr val="D6D6DF"/>
                </a:solidFill>
              </a:rPr>
              <a:t>KEY TAKEAWAY</a:t>
            </a:r>
          </a:p>
          <a:p>
            <a:pPr marL="0" indent="0">
              <a:buNone/>
            </a:pPr>
            <a:r>
              <a:rPr lang="en-US" sz="1500" b="1">
                <a:solidFill>
                  <a:srgbClr val="FFFFFF"/>
                </a:solidFill>
              </a:rPr>
              <a:t>Upstream of Delivery Models: how a request even reaches the right people before it becomes a deal.</a:t>
            </a:r>
          </a:p>
        </p:txBody>
      </p:sp>
      <p:sp>
        <p:nvSpPr>
          <p:cNvPr id="523" name="Card 2026 GOAL">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dirty="0">
                <a:solidFill>
                  <a:srgbClr val="D6D6DF"/>
                </a:solidFill>
              </a:rPr>
              <a:t>2026 GOAL</a:t>
            </a:r>
          </a:p>
          <a:p>
            <a:pPr marL="0" indent="0">
              <a:spcAft>
                <a:spcPts val="300"/>
              </a:spcAft>
              <a:buNone/>
            </a:pPr>
            <a:r>
              <a:rPr lang="en-US" sz="1000" i="1" dirty="0">
                <a:solidFill>
                  <a:srgbClr val="000000"/>
                </a:solidFill>
                <a:highlight>
                  <a:srgbClr val="FFFF00"/>
                </a:highlight>
              </a:rPr>
              <a:t>[Enter 2026 goal, and what it means in practice]</a:t>
            </a:r>
          </a:p>
        </p:txBody>
      </p:sp>
      <p:sp>
        <p:nvSpPr>
          <p:cNvPr id="524" name="Card THE PROBLEM">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THE PROBLEM</a:t>
            </a:r>
          </a:p>
          <a:p>
            <a:pPr marL="171450" indent="-171450">
              <a:spcAft>
                <a:spcPts val="300"/>
              </a:spcAft>
              <a:buFont typeface="Arial" panose="020B0604020202020204" pitchFamily="34" charset="0"/>
              <a:buChar char="•"/>
            </a:pPr>
            <a:r>
              <a:rPr lang="en-US" sz="1000"/>
              <a:t>Adoption has been slow: people still go to known individuals for help, cutting into BU visibility and our ability to help.</a:t>
            </a:r>
          </a:p>
          <a:p>
            <a:pPr marL="171450" indent="-171450">
              <a:spcAft>
                <a:spcPts val="300"/>
              </a:spcAft>
              <a:buFont typeface="Arial" panose="020B0604020202020204" pitchFamily="34" charset="0"/>
              <a:buChar char="•"/>
            </a:pPr>
            <a:r>
              <a:rPr lang="en-US" sz="1000"/>
              <a:t>C&amp;C has been informed of the alias and process.</a:t>
            </a:r>
          </a:p>
        </p:txBody>
      </p:sp>
      <p:sp>
        <p:nvSpPr>
          <p:cNvPr id="525" name="Card WHAT WE ARE CHANGING">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WHAT WE ARE CHANGING</a:t>
            </a:r>
          </a:p>
          <a:p>
            <a:pPr marL="171450" indent="-171450">
              <a:spcAft>
                <a:spcPts val="300"/>
              </a:spcAft>
              <a:buFont typeface="Arial" panose="020B0604020202020204" pitchFamily="34" charset="0"/>
              <a:buChar char="•"/>
            </a:pPr>
            <a:r>
              <a:rPr lang="en-US" sz="1000"/>
              <a:t>DDM_Opportunity and DBT_Opportunity are live, so requests reach the right BU SMEs without needing to know a matrix of names.</a:t>
            </a:r>
          </a:p>
          <a:p>
            <a:pPr marL="171450" indent="-171450">
              <a:spcAft>
                <a:spcPts val="300"/>
              </a:spcAft>
              <a:buFont typeface="Arial" panose="020B0604020202020204" pitchFamily="34" charset="0"/>
              <a:buChar char="•"/>
            </a:pPr>
            <a:r>
              <a:rPr lang="en-US" sz="1000"/>
              <a:t>Requests are reviewed and assigned to a lead within the BU. The lead gathers more info, pulls in solutioning support, and makes sure the request is handled: creds, calls, PT entry.</a:t>
            </a:r>
          </a:p>
          <a:p>
            <a:pPr marL="171450" indent="-171450">
              <a:spcAft>
                <a:spcPts val="300"/>
              </a:spcAft>
              <a:buFont typeface="Arial" panose="020B0604020202020204" pitchFamily="34" charset="0"/>
              <a:buChar char="•"/>
            </a:pPr>
            <a:r>
              <a:rPr lang="en-US" sz="1000"/>
              <a:t>SME Case Request in SF (10/16 target): covers deals under $500K, small ad-hoc projects, multi-person sprints, exec meetings, and case studies.</a:t>
            </a:r>
          </a:p>
          <a:p>
            <a:pPr marL="171450" indent="-171450">
              <a:spcAft>
                <a:spcPts val="300"/>
              </a:spcAft>
              <a:buFont typeface="Arial" panose="020B0604020202020204" pitchFamily="34" charset="0"/>
              <a:buChar char="•"/>
            </a:pPr>
            <a:r>
              <a:rPr lang="en-US" sz="1000"/>
              <a:t>RACI updates (11/1 estimated): clarify roles for everyone in intake.</a:t>
            </a:r>
          </a:p>
        </p:txBody>
      </p:sp>
      <p:sp>
        <p:nvSpPr>
          <p:cNvPr id="526" name="Card WHAT THIS UNLOCK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dirty="0">
                <a:solidFill>
                  <a:srgbClr val="D6D6DF"/>
                </a:solidFill>
              </a:rPr>
              <a:t>WHAT THIS UNLOCKS</a:t>
            </a:r>
          </a:p>
          <a:p>
            <a:pPr marL="171450" indent="-171450">
              <a:spcAft>
                <a:spcPts val="300"/>
              </a:spcAft>
              <a:buFont typeface="Arial" panose="020B0604020202020204" pitchFamily="34" charset="0"/>
              <a:buChar char="•"/>
            </a:pPr>
            <a:r>
              <a:rPr lang="en-US" sz="1000" dirty="0">
                <a:solidFill>
                  <a:srgbClr val="FFFFFF"/>
                </a:solidFill>
              </a:rPr>
              <a:t>Requests get emailed to the right alias and land in a list for easy review and follow-up.</a:t>
            </a:r>
          </a:p>
          <a:p>
            <a:pPr marL="171450" indent="-171450">
              <a:spcAft>
                <a:spcPts val="300"/>
              </a:spcAft>
              <a:buFont typeface="Arial" panose="020B0604020202020204" pitchFamily="34" charset="0"/>
              <a:buChar char="•"/>
            </a:pPr>
            <a:r>
              <a:rPr lang="en-US" sz="1000" dirty="0">
                <a:solidFill>
                  <a:srgbClr val="FFFFFF"/>
                </a:solidFill>
              </a:rPr>
              <a:t>SME expertise comes in earlier, before the deal is shaped, which can lift our win rate on the deal volume we already capture.</a:t>
            </a:r>
          </a:p>
          <a:p>
            <a:pPr marL="171450" indent="-171450">
              <a:spcBef>
                <a:spcPts val="500"/>
              </a:spcBef>
              <a:spcAft>
                <a:spcPts val="300"/>
              </a:spcAft>
              <a:buFont typeface="Arial" panose="020B0604020202020204" pitchFamily="34" charset="0"/>
              <a:buChar char="•"/>
            </a:pPr>
            <a:r>
              <a:rPr lang="en-US" sz="1100" b="1" dirty="0">
                <a:solidFill>
                  <a:srgbClr val="D6D6DF"/>
                </a:solidFill>
              </a:rPr>
              <a:t>Beyond the MVP</a:t>
            </a:r>
          </a:p>
          <a:p>
            <a:pPr marL="0" indent="0">
              <a:spcAft>
                <a:spcPts val="300"/>
              </a:spcAft>
              <a:buNone/>
            </a:pPr>
            <a:r>
              <a:rPr lang="en-US" sz="1000" i="1" dirty="0">
                <a:solidFill>
                  <a:srgbClr val="000000"/>
                </a:solidFill>
                <a:highlight>
                  <a:srgbClr val="FFFF00"/>
                </a:highlight>
              </a:rPr>
              <a:t>[Enter what this makes possible next]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31" name="Picture 530" descr="rail_p3.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532" name="Rounded Rectangle 531"/>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508600" y="558600"/>
            <a:ext cx="264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508600" y="868600"/>
            <a:ext cx="2640000" cy="2300000"/>
          </a:xfrm>
        </p:spPr>
        <p:txBody>
          <a:bodyPr>
            <a:noAutofit/>
          </a:bodyPr>
          <a:lstStyle/>
          <a:p>
            <a:r>
              <a:rPr lang="en-US" sz="2400">
                <a:solidFill>
                  <a:schemeClr val="bg1"/>
                </a:solidFill>
              </a:rPr>
              <a:t>Intake Updates: Update</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508600" y="5340000"/>
            <a:ext cx="2640000" cy="780000"/>
          </a:xfrm>
          <a:prstGeom prst="roundRect">
            <a:avLst>
              <a:gd name="adj" fmla="val 28000"/>
            </a:avLst>
          </a:prstGeom>
          <a:solidFill>
            <a:srgbClr val="FFFFFF">
              <a:alpha val="14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McComas, Deana, John E.</a:t>
            </a:r>
          </a:p>
        </p:txBody>
      </p:sp>
      <p:sp>
        <p:nvSpPr>
          <p:cNvPr id="528" name="Card WHAT HAS BEEN ACCOMPLISHED">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WHAT HAS BEEN ACCOMPLISHED</a:t>
            </a:r>
          </a:p>
          <a:p>
            <a:pPr marL="171450" indent="-171450">
              <a:spcAft>
                <a:spcPts val="600"/>
              </a:spcAft>
              <a:buFont typeface="Arial" panose="020B0604020202020204" pitchFamily="34" charset="0"/>
              <a:buChar char="•"/>
            </a:pPr>
            <a:r>
              <a:rPr lang="en-US" sz="1300"/>
              <a:t>Alias creation complete: DDM_Opportunity and DBT_Opportunity are live.</a:t>
            </a:r>
          </a:p>
          <a:p>
            <a:pPr marL="171450" indent="-171450">
              <a:spcAft>
                <a:spcPts val="600"/>
              </a:spcAft>
              <a:buFont typeface="Arial" panose="020B0604020202020204" pitchFamily="34" charset="0"/>
              <a:buChar char="•"/>
            </a:pPr>
            <a:r>
              <a:rPr lang="en-US" sz="1300"/>
              <a:t>C&amp;C has been informed of the alias and process.</a:t>
            </a:r>
          </a:p>
        </p:txBody>
      </p:sp>
      <p:sp>
        <p:nvSpPr>
          <p:cNvPr id="529" name="Card NEXT MILESTONE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NEXT MILESTONES</a:t>
            </a:r>
          </a:p>
          <a:p>
            <a:pPr marL="171450" indent="-171450">
              <a:spcAft>
                <a:spcPts val="600"/>
              </a:spcAft>
              <a:buFont typeface="Arial" panose="020B0604020202020204" pitchFamily="34" charset="0"/>
              <a:buChar char="•"/>
            </a:pPr>
            <a:r>
              <a:rPr lang="en-US" sz="1300"/>
              <a:t>SME Case Request in SF: 10/16 target launch date.</a:t>
            </a:r>
          </a:p>
          <a:p>
            <a:pPr marL="171450" indent="-171450">
              <a:spcAft>
                <a:spcPts val="600"/>
              </a:spcAft>
              <a:buFont typeface="Arial" panose="020B0604020202020204" pitchFamily="34" charset="0"/>
              <a:buChar char="•"/>
            </a:pPr>
            <a:r>
              <a:rPr lang="en-US" sz="1300"/>
              <a:t>RACI updates: 11/1 estimated rollout.</a:t>
            </a:r>
          </a:p>
        </p:txBody>
      </p:sp>
      <p:sp>
        <p:nvSpPr>
          <p:cNvPr id="530" name="Card WHAT IS IN OUR WAY / WHAT WE NEED FROM YOU">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D6D6DF"/>
                </a:solidFill>
              </a:rPr>
              <a:t>WHAT IS IN OUR WAY / WHAT WE NEED FROM YOU</a:t>
            </a:r>
          </a:p>
          <a:p>
            <a:pPr marL="171450" indent="-171450">
              <a:spcAft>
                <a:spcPts val="600"/>
              </a:spcAft>
              <a:buFont typeface="Arial" panose="020B0604020202020204" pitchFamily="34" charset="0"/>
              <a:buChar char="•"/>
            </a:pPr>
            <a:r>
              <a:rPr lang="en-US" sz="1300" dirty="0">
                <a:solidFill>
                  <a:srgbClr val="FFFFFF"/>
                </a:solidFill>
              </a:rPr>
              <a:t>Adoption has been slow: people still go to known individuals for help, cutting into BU visibility and ability to help.</a:t>
            </a:r>
          </a:p>
          <a:p>
            <a:pPr marL="171450" indent="-171450">
              <a:spcAft>
                <a:spcPts val="600"/>
              </a:spcAft>
              <a:buFont typeface="Arial" panose="020B0604020202020204" pitchFamily="34" charset="0"/>
              <a:buChar char="•"/>
            </a:pPr>
            <a:r>
              <a:rPr lang="en-US" sz="1300" dirty="0">
                <a:solidFill>
                  <a:srgbClr val="FFFFFF"/>
                </a:solidFill>
              </a:rPr>
              <a:t>Leadership ask: C&amp;C leadership support in redirecting request.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div_p1.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5" name="Rectangle 4"/>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2" name="Title 1"/>
          <p:cNvSpPr>
            <a:spLocks noGrp="1"/>
          </p:cNvSpPr>
          <p:nvPr>
            <p:ph type="title"/>
          </p:nvPr>
        </p:nvSpPr>
        <p:spPr>
          <a:xfrm>
            <a:off x="914400" y="1900000"/>
            <a:ext cx="6300000" cy="3000000"/>
          </a:xfrm>
        </p:spPr>
        <p:txBody>
          <a:bodyPr anchor="b"/>
          <a:lstStyle/>
          <a:p>
            <a:r>
              <a:t>Deal to Delivery Playbook</a:t>
            </a:r>
          </a:p>
        </p:txBody>
      </p:sp>
      <p:sp>
        <p:nvSpPr>
          <p:cNvPr id="6" name="TextBox 5"/>
          <p:cNvSpPr txBox="1"/>
          <p:nvPr/>
        </p:nvSpPr>
        <p:spPr>
          <a:xfrm>
            <a:off x="914400" y="548640"/>
            <a:ext cx="6000000" cy="260000"/>
          </a:xfrm>
          <a:prstGeom prst="rect">
            <a:avLst/>
          </a:prstGeom>
          <a:noFill/>
        </p:spPr>
        <p:txBody>
          <a:bodyPr wrap="square" lIns="0" rIns="0">
            <a:spAutoFit/>
          </a:bodyPr>
          <a:lstStyle/>
          <a:p>
            <a:pPr algn="l"/>
            <a:r>
              <a:rPr sz="1000" b="1" spc="200">
                <a:solidFill>
                  <a:srgbClr val="0391F2"/>
                </a:solidFill>
              </a:rPr>
              <a:t>CRITICAL ENABLERS</a:t>
            </a:r>
          </a:p>
        </p:txBody>
      </p:sp>
      <p:sp>
        <p:nvSpPr>
          <p:cNvPr id="7" name="TextBox 6"/>
          <p:cNvSpPr txBox="1"/>
          <p:nvPr/>
        </p:nvSpPr>
        <p:spPr>
          <a:xfrm>
            <a:off x="914400" y="5030000"/>
            <a:ext cx="6000000" cy="700000"/>
          </a:xfrm>
          <a:prstGeom prst="rect">
            <a:avLst/>
          </a:prstGeom>
          <a:noFill/>
        </p:spPr>
        <p:txBody>
          <a:bodyPr wrap="square" lIns="0" rIns="0">
            <a:spAutoFit/>
          </a:bodyPr>
          <a:lstStyle/>
          <a:p>
            <a:pPr algn="l"/>
            <a:r>
              <a:rPr sz="1000" b="1">
                <a:solidFill>
                  <a:srgbClr val="0391F2"/>
                </a:solidFill>
              </a:rPr>
              <a:t>Owner(s)</a:t>
            </a:r>
          </a:p>
          <a:p>
            <a:pPr algn="l"/>
            <a:r>
              <a:rPr sz="1400">
                <a:solidFill>
                  <a:srgbClr val="FFFFFF"/>
                </a:solidFill>
              </a:rPr>
              <a:t>Missy Foristall, Chris McComas, Deana Derocha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14400" y="1900000"/>
            <a:ext cx="6300000" cy="3000000"/>
          </a:xfrm>
        </p:spPr>
        <p:txBody>
          <a:bodyPr anchor="b"/>
          <a:lstStyle/>
          <a:p>
            <a:r>
              <a:t>Accountability Framework</a:t>
            </a:r>
          </a:p>
        </p:txBody>
      </p:sp>
      <p:sp>
        <p:nvSpPr>
          <p:cNvPr id="3" name="TextBox 2"/>
          <p:cNvSpPr txBox="1"/>
          <p:nvPr/>
        </p:nvSpPr>
        <p:spPr>
          <a:xfrm>
            <a:off x="914400" y="548640"/>
            <a:ext cx="6000000" cy="260000"/>
          </a:xfrm>
          <a:prstGeom prst="rect">
            <a:avLst/>
          </a:prstGeom>
          <a:noFill/>
        </p:spPr>
        <p:txBody>
          <a:bodyPr wrap="square" lIns="0" rIns="0">
            <a:spAutoFit/>
          </a:bodyPr>
          <a:lstStyle/>
          <a:p>
            <a:pPr algn="l"/>
            <a:r>
              <a:rPr sz="1000" b="1" spc="200">
                <a:solidFill>
                  <a:srgbClr val="0391F2"/>
                </a:solidFill>
              </a:rPr>
              <a:t>CRITICAL ENABLERS</a:t>
            </a:r>
          </a:p>
        </p:txBody>
      </p:sp>
      <p:sp>
        <p:nvSpPr>
          <p:cNvPr id="4" name="TextBox 3"/>
          <p:cNvSpPr txBox="1"/>
          <p:nvPr/>
        </p:nvSpPr>
        <p:spPr>
          <a:xfrm>
            <a:off x="914400" y="5030000"/>
            <a:ext cx="6000000" cy="700000"/>
          </a:xfrm>
          <a:prstGeom prst="rect">
            <a:avLst/>
          </a:prstGeom>
          <a:noFill/>
        </p:spPr>
        <p:txBody>
          <a:bodyPr wrap="square" lIns="0" rIns="0">
            <a:spAutoFit/>
          </a:bodyPr>
          <a:lstStyle/>
          <a:p>
            <a:pPr algn="l"/>
            <a:r>
              <a:rPr sz="1000" b="1">
                <a:solidFill>
                  <a:srgbClr val="0391F2"/>
                </a:solidFill>
              </a:rPr>
              <a:t>Owner(s)</a:t>
            </a:r>
          </a:p>
          <a:p>
            <a:pPr algn="l"/>
            <a:r>
              <a:rPr sz="1400">
                <a:solidFill>
                  <a:srgbClr val="FFFFFF"/>
                </a:solidFill>
              </a:rPr>
              <a:t>Missy Foristall, John Ewen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div_p3.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5" name="Rectangle 4"/>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2" name="Title 1"/>
          <p:cNvSpPr>
            <a:spLocks noGrp="1"/>
          </p:cNvSpPr>
          <p:nvPr>
            <p:ph type="title"/>
          </p:nvPr>
        </p:nvSpPr>
        <p:spPr>
          <a:xfrm>
            <a:off x="914400" y="1900000"/>
            <a:ext cx="6300000" cy="3000000"/>
          </a:xfrm>
        </p:spPr>
        <p:txBody>
          <a:bodyPr anchor="b"/>
          <a:lstStyle/>
          <a:p>
            <a:r>
              <a:t>Intake Updates</a:t>
            </a:r>
          </a:p>
        </p:txBody>
      </p:sp>
      <p:sp>
        <p:nvSpPr>
          <p:cNvPr id="6" name="TextBox 5"/>
          <p:cNvSpPr txBox="1"/>
          <p:nvPr/>
        </p:nvSpPr>
        <p:spPr>
          <a:xfrm>
            <a:off x="914400" y="548640"/>
            <a:ext cx="6000000" cy="260000"/>
          </a:xfrm>
          <a:prstGeom prst="rect">
            <a:avLst/>
          </a:prstGeom>
          <a:noFill/>
        </p:spPr>
        <p:txBody>
          <a:bodyPr wrap="square" lIns="0" rIns="0">
            <a:spAutoFit/>
          </a:bodyPr>
          <a:lstStyle/>
          <a:p>
            <a:pPr algn="l"/>
            <a:r>
              <a:rPr sz="1000" b="1" spc="200">
                <a:solidFill>
                  <a:srgbClr val="0391F2"/>
                </a:solidFill>
              </a:rPr>
              <a:t>CRITICAL ENABLERS</a:t>
            </a:r>
          </a:p>
        </p:txBody>
      </p:sp>
      <p:sp>
        <p:nvSpPr>
          <p:cNvPr id="7" name="TextBox 6"/>
          <p:cNvSpPr txBox="1"/>
          <p:nvPr/>
        </p:nvSpPr>
        <p:spPr>
          <a:xfrm>
            <a:off x="914400" y="5030000"/>
            <a:ext cx="6000000" cy="700000"/>
          </a:xfrm>
          <a:prstGeom prst="rect">
            <a:avLst/>
          </a:prstGeom>
          <a:noFill/>
        </p:spPr>
        <p:txBody>
          <a:bodyPr wrap="square" lIns="0" rIns="0">
            <a:spAutoFit/>
          </a:bodyPr>
          <a:lstStyle/>
          <a:p>
            <a:pPr algn="l"/>
            <a:r>
              <a:rPr sz="1000" b="1">
                <a:solidFill>
                  <a:srgbClr val="0391F2"/>
                </a:solidFill>
              </a:rPr>
              <a:t>Owner(s)</a:t>
            </a:r>
          </a:p>
          <a:p>
            <a:pPr algn="l"/>
            <a:r>
              <a:rPr sz="1400">
                <a:solidFill>
                  <a:srgbClr val="FFFFFF"/>
                </a:solidFill>
              </a:rPr>
              <a:t>Missy Foristall, McComas, Deana, John E.</a:t>
            </a:r>
          </a:p>
        </p:txBody>
      </p:sp>
    </p:spTree>
  </p:cSld>
  <p:clrMapOvr>
    <a:masterClrMapping/>
  </p:clrMapOvr>
</p:sld>
</file>

<file path=ppt/theme/theme1.xml><?xml version="1.0" encoding="utf-8"?>
<a:theme xmlns:a="http://schemas.openxmlformats.org/drawingml/2006/main" name="COLLABORATIVE WIREFRAME - 2025">
  <a:themeElements>
    <a:clrScheme name="Merkle_2025_v2">
      <a:dk1>
        <a:srgbClr val="FFFFFF"/>
      </a:dk1>
      <a:lt1>
        <a:srgbClr val="000000"/>
      </a:lt1>
      <a:dk2>
        <a:srgbClr val="D6D6DF"/>
      </a:dk2>
      <a:lt2>
        <a:srgbClr val="8888A1"/>
      </a:lt2>
      <a:accent1>
        <a:srgbClr val="040E4B"/>
      </a:accent1>
      <a:accent2>
        <a:srgbClr val="0391F2"/>
      </a:accent2>
      <a:accent3>
        <a:srgbClr val="031FA3"/>
      </a:accent3>
      <a:accent4>
        <a:srgbClr val="0328D1"/>
      </a:accent4>
      <a:accent5>
        <a:srgbClr val="60607D"/>
      </a:accent5>
      <a:accent6>
        <a:srgbClr val="DD3038"/>
      </a:accent6>
      <a:hlink>
        <a:srgbClr val="0228D0"/>
      </a:hlink>
      <a:folHlink>
        <a:srgbClr val="0291F1"/>
      </a:folHlink>
    </a:clrScheme>
    <a:fontScheme name="Proxima test">
      <a:majorFont>
        <a:latin typeface="Proxima Nova"/>
        <a:ea typeface=""/>
        <a:cs typeface=""/>
      </a:majorFont>
      <a:minorFont>
        <a:latin typeface="Proxima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20000"/>
            <a:lumOff val="80000"/>
          </a:schemeClr>
        </a:solidFill>
        <a:ln>
          <a:noFill/>
        </a:ln>
      </a:spPr>
      <a:bodyPr rtlCol="0" anchor="ctr">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Autofit/>
      </a:bodyPr>
      <a:lstStyle>
        <a:defPPr algn="l">
          <a:spcAft>
            <a:spcPts val="600"/>
          </a:spcAft>
          <a:defRPr sz="1400" dirty="0" smtClean="0"/>
        </a:defPPr>
      </a:lstStyle>
    </a:txDef>
  </a:objectDefaults>
  <a:extraClrSchemeLst/>
  <a:custClrLst>
    <a:custClr name="Deep Blue">
      <a:srgbClr val="000033"/>
    </a:custClr>
    <a:custClr name="Merkle Blue">
      <a:srgbClr val="040E4B"/>
    </a:custClr>
    <a:custClr name="Gulf Blue">
      <a:srgbClr val="041677"/>
    </a:custClr>
    <a:custClr name="Klein">
      <a:srgbClr val="031FA4"/>
    </a:custClr>
    <a:custClr name="Cobalt">
      <a:srgbClr val="0328D1"/>
    </a:custClr>
    <a:custClr name="Sky Blue">
      <a:srgbClr val="0391F2"/>
    </a:custClr>
    <a:custClr name="White">
      <a:srgbClr val="FFFFFF"/>
    </a:custClr>
    <a:custClr name="White">
      <a:srgbClr val="FFFFFF"/>
    </a:custClr>
    <a:custClr name="White">
      <a:srgbClr val="FFFFFF"/>
    </a:custClr>
    <a:custClr name="White">
      <a:srgbClr val="FFFFFF"/>
    </a:custClr>
    <a:custClr name="Dark Gray Tint">
      <a:srgbClr val="8888A1"/>
    </a:custClr>
    <a:custClr name="Mid Gray">
      <a:srgbClr val="AEAEBC"/>
    </a:custClr>
    <a:custClr name="Mid Gray Tint">
      <a:srgbClr val="D6D6DF"/>
    </a:custClr>
    <a:custClr name="Light Gray">
      <a:srgbClr val="E5E5E9"/>
    </a:custClr>
    <a:custClr name="Light Gray Tint">
      <a:srgbClr val="F2F2F4"/>
    </a:custClr>
    <a:custClr name="White">
      <a:srgbClr val="FFFFFF"/>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Merkle_PPT_Template" id="{809271C0-2DF5-1D43-9E86-284BC87CAAF5}" vid="{7B0BB988-4564-F949-B1EE-E7D59515E6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3.xml><?xml version="1.0" encoding="utf-8"?>
<TemplafySlideFormConfiguration><![CDATA[{"formFields":[],"formDataEntries":[]}]]></TemplafySlideFormConfiguration>
</file>

<file path=customXml/item4.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5.xml><?xml version="1.0" encoding="utf-8"?>
<TemplafySlideFormConfiguration><![CDATA[{"formFields":[],"formDataEntries":[]}]]></TemplafySlideFormConfiguration>
</file>

<file path=customXml/item6.xml><?xml version="1.0" encoding="utf-8"?>
<?mso-contentType ?>
<FormTemplates xmlns="http://schemas.microsoft.com/sharepoint/v3/contenttype/forms">
  <Display>DocumentLibraryForm</Display>
  <Edit>DocumentLibraryForm</Edit>
  <New>DocumentLibraryForm</New>
</FormTemplates>
</file>

<file path=customXml/item7.xml><?xml version="1.0" encoding="utf-8"?>
<ct:contentTypeSchema xmlns:ct="http://schemas.microsoft.com/office/2006/metadata/contentType" xmlns:ma="http://schemas.microsoft.com/office/2006/metadata/properties/metaAttributes" ct:_="" ma:_="" ma:contentTypeName="Document" ma:contentTypeID="0x0101000E03A52DFF83D84488E93803DDBB9CF7" ma:contentTypeVersion="3" ma:contentTypeDescription="Create a new document." ma:contentTypeScope="" ma:versionID="7183402d5426fb7fa40a57754f8987a7">
  <xsd:schema xmlns:xsd="http://www.w3.org/2001/XMLSchema" xmlns:xs="http://www.w3.org/2001/XMLSchema" xmlns:p="http://schemas.microsoft.com/office/2006/metadata/properties" xmlns:ns2="ffd69ccd-669e-4a1a-b9ff-a607e277eb6b" targetNamespace="http://schemas.microsoft.com/office/2006/metadata/properties" ma:root="true" ma:fieldsID="fce94913ec708fae3ad90612dc7fd3f5" ns2:_="">
    <xsd:import namespace="ffd69ccd-669e-4a1a-b9ff-a607e277eb6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d69ccd-669e-4a1a-b9ff-a607e277e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8.xml><?xml version="1.0" encoding="utf-8"?>
<TemplafySlideFormConfiguration><![CDATA[{"formFields":[],"formDataEntries":[]}]]></TemplafySlideFormConfiguration>
</file>

<file path=customXml/item9.xml><?xml version="1.0" encoding="utf-8"?>
<TemplafySlideFormConfiguration><![CDATA[{"formFields":[],"formDataEntries":[]}]]></TemplafySlideFormConfiguration>
</file>

<file path=customXml/item10.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1.xml><?xml version="1.0" encoding="utf-8"?>
<TemplafySlideFormConfiguration><![CDATA[{"formFields":[],"formDataEntries":[]}]]></TemplafySlideFormConfiguration>
</file>

<file path=customXml/item12.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3.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4.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5.xml><?xml version="1.0" encoding="utf-8"?>
<TemplafySlideFormConfiguration><![CDATA[{"formFields":[],"formDataEntries":[]}]]></TemplafySlideFormConfiguration>
</file>

<file path=customXml/itemProps1.xml><?xml version="1.0" encoding="utf-8"?>
<ds:datastoreItem xmlns:ds="http://schemas.openxmlformats.org/officeDocument/2006/customXml" ds:itemID="{32C947A3-4CBF-434C-A709-03C12B0F1660}">
  <ds:schemaRefs>
    <ds:schemaRef ds:uri="http://www.w3.org/XML/1998/namespace"/>
    <ds:schemaRef ds:uri="http://schemas.microsoft.com/office/infopath/2007/PartnerControls"/>
    <ds:schemaRef ds:uri="http://schemas.microsoft.com/office/2006/documentManagement/types"/>
    <ds:schemaRef ds:uri="http://schemas.openxmlformats.org/package/2006/metadata/core-properties"/>
    <ds:schemaRef ds:uri="http://purl.org/dc/terms/"/>
    <ds:schemaRef ds:uri="http://purl.org/dc/elements/1.1/"/>
    <ds:schemaRef ds:uri="ffd69ccd-669e-4a1a-b9ff-a607e277eb6b"/>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1C2D6E68-51DB-4BFD-88E4-E31D99A1A821}">
  <ds:schemaRefs/>
</ds:datastoreItem>
</file>

<file path=customXml/itemProps3.xml><?xml version="1.0" encoding="utf-8"?>
<ds:datastoreItem xmlns:ds="http://schemas.openxmlformats.org/officeDocument/2006/customXml" ds:itemID="{3A934794-B7B9-40A5-BC3E-83474445FB2C}">
  <ds:schemaRefs/>
</ds:datastoreItem>
</file>

<file path=customXml/itemProps4.xml><?xml version="1.0" encoding="utf-8"?>
<ds:datastoreItem xmlns:ds="http://schemas.openxmlformats.org/officeDocument/2006/customXml" ds:itemID="{A48A09DB-9412-4CC5-853B-30DF5312F164}">
  <ds:schemaRefs/>
</ds:datastoreItem>
</file>

<file path=customXml/itemProps5.xml><?xml version="1.0" encoding="utf-8"?>
<ds:datastoreItem xmlns:ds="http://schemas.openxmlformats.org/officeDocument/2006/customXml" ds:itemID="{8ED5A302-E581-4954-9104-07BBB2BA16EA}">
  <ds:schemaRefs/>
</ds:datastoreItem>
</file>

<file path=customXml/itemProps6.xml><?xml version="1.0" encoding="utf-8"?>
<ds:datastoreItem xmlns:ds="http://schemas.openxmlformats.org/officeDocument/2006/customXml" ds:itemID="{55D39E11-1D25-4CE1-BD32-66A872E6EE8D}">
  <ds:schemaRefs>
    <ds:schemaRef ds:uri="http://schemas.microsoft.com/sharepoint/v3/contenttype/forms"/>
  </ds:schemaRefs>
</ds:datastoreItem>
</file>

<file path=customXml/itemProps7.xml><?xml version="1.0" encoding="utf-8"?>
<ds:datastoreItem xmlns:ds="http://schemas.openxmlformats.org/officeDocument/2006/customXml" ds:itemID="{2583E5A3-4B69-4BD6-9BC5-33CDB10B0E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d69ccd-669e-4a1a-b9ff-a607e277eb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8.xml><?xml version="1.0" encoding="utf-8"?>
<ds:datastoreItem xmlns:ds="http://schemas.openxmlformats.org/officeDocument/2006/customXml" ds:itemID="{C978122E-4CF7-4DAF-A638-3228CFE4D0E4}">
  <ds:schemaRefs/>
</ds:datastoreItem>
</file>

<file path=customXml/itemProps9.xml><?xml version="1.0" encoding="utf-8"?>
<ds:datastoreItem xmlns:ds="http://schemas.openxmlformats.org/officeDocument/2006/customXml" ds:itemID="{641488FD-1F5F-4710-8EC0-17A522704CC6}">
  <ds:schemaRefs/>
</ds:datastoreItem>
</file>

<file path=customXml/itemProps10.xml><?xml version="1.0" encoding="utf-8"?>
<ds:datastoreItem xmlns:ds="http://schemas.openxmlformats.org/officeDocument/2006/customXml" ds:itemID="{B82A8263-E571-43F3-9E91-8424F188A071}">
  <ds:schemaRefs/>
</ds:datastoreItem>
</file>

<file path=customXml/itemProps11.xml><?xml version="1.0" encoding="utf-8"?>
<ds:datastoreItem xmlns:ds="http://schemas.openxmlformats.org/officeDocument/2006/customXml" ds:itemID="{D19811AB-F04C-4CB1-906B-120DD81CEC00}">
  <ds:schemaRefs/>
</ds:datastoreItem>
</file>

<file path=customXml/itemProps12.xml><?xml version="1.0" encoding="utf-8"?>
<ds:datastoreItem xmlns:ds="http://schemas.openxmlformats.org/officeDocument/2006/customXml" ds:itemID="{C45642DC-9A5F-4645-ADA4-4C9C3418D003}">
  <ds:schemaRefs/>
</ds:datastoreItem>
</file>

<file path=customXml/itemProps13.xml><?xml version="1.0" encoding="utf-8"?>
<ds:datastoreItem xmlns:ds="http://schemas.openxmlformats.org/officeDocument/2006/customXml" ds:itemID="{4D8D6E3D-6D95-4645-9B5B-00A02728EFE6}">
  <ds:schemaRefs/>
</ds:datastoreItem>
</file>

<file path=customXml/itemProps14.xml><?xml version="1.0" encoding="utf-8"?>
<ds:datastoreItem xmlns:ds="http://schemas.openxmlformats.org/officeDocument/2006/customXml" ds:itemID="{7175AA37-2E84-4AD4-A69B-19A9990FFAFF}">
  <ds:schemaRefs/>
</ds:datastoreItem>
</file>

<file path=customXml/itemProps15.xml><?xml version="1.0" encoding="utf-8"?>
<ds:datastoreItem xmlns:ds="http://schemas.openxmlformats.org/officeDocument/2006/customXml" ds:itemID="{E15543A8-80BA-4997-B7AD-F61A4B2E048D}">
  <ds:schemaRefs/>
</ds:datastoreItem>
</file>

<file path=docMetadata/LabelInfo.xml><?xml version="1.0" encoding="utf-8"?>
<clbl:labelList xmlns:clbl="http://schemas.microsoft.com/office/2020/mipLabelMetadata">
  <clbl:label id="{6e8992ec-76d5-4ea5-8eae-b0c5e558749a}" enabled="0" method="" siteId="{6e8992ec-76d5-4ea5-8eae-b0c5e558749a}" removed="1"/>
</clbl:labelList>
</file>

<file path=docProps/app.xml><?xml version="1.0" encoding="utf-8"?>
<Properties xmlns="http://schemas.openxmlformats.org/officeDocument/2006/extended-properties" xmlns:vt="http://schemas.openxmlformats.org/officeDocument/2006/docPropsVTypes">
  <Template>COLLABORATIVE WIREFRAME - 2025</Template>
  <TotalTime>1006</TotalTime>
  <Words>2141</Words>
  <Application>Microsoft Office PowerPoint</Application>
  <PresentationFormat>Widescreen</PresentationFormat>
  <Paragraphs>168</Paragraphs>
  <Slides>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Aptos</vt:lpstr>
      <vt:lpstr>Proxima Nova</vt:lpstr>
      <vt:lpstr>COLLABORATIVE WIREFRAME - 2025</vt:lpstr>
      <vt:lpstr>Play to Win</vt:lpstr>
      <vt:lpstr>B2B Growth Platform</vt:lpstr>
      <vt:lpstr>Deal to Delivery Playbook: Context</vt:lpstr>
      <vt:lpstr>Deal to Delivery Playbook: Update</vt:lpstr>
      <vt:lpstr>Accountability Framework: Context</vt:lpstr>
      <vt:lpstr>Accountability Framework: Update</vt:lpstr>
      <vt:lpstr>Intake Updates: Context</vt:lpstr>
      <vt:lpstr>Intake Updates: Update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Samantha O'Neil</dc:creator>
  <cp:lastModifiedBy>Rachel Harris</cp:lastModifiedBy>
  <cp:revision>4</cp:revision>
  <dcterms:created xsi:type="dcterms:W3CDTF">2026-08-19T11:07:14Z</dcterms:created>
  <dcterms:modified xsi:type="dcterms:W3CDTF">2026-10-21T14:19:20Z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0x0101000E03A52DFF83D84488E93803DDBB9CF7</vt:lpwstr>
  </property>
  <property fmtid="{D5CDD505-2E9C-101B-9397-08002B2CF9AE}" pid="4" name="_dlc_DocIdItemGuid">
    <vt:lpwstr>1588c89b-885d-4666-9250-8363a7f08b01</vt:lpwstr>
  </property>
</Properties>
</file>