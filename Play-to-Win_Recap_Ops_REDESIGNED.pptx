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256" r:id="rId17"/>
    <p:sldId id="265" r:id="rId18"/>
    <p:sldId id="262" r:id="rId38"/>
    <p:sldId id="2147483647" r:id="rId19"/>
    <p:sldId id="257" r:id="rId20"/>
    <p:sldId id="263" r:id="rId39"/>
    <p:sldId id="258" r:id="rId21"/>
    <p:sldId id="259" r:id="rId22"/>
    <p:sldId id="264" r:id="rId40"/>
    <p:sldId id="260" r:id="rId23"/>
    <p:sldId id="261" r:id="rId2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9.xml"/><Relationship Id="rId39" Type="http://schemas.openxmlformats.org/officeDocument/2006/relationships/slide" Target="slides/slide10.xml"/><Relationship Id="rId40"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85AD6AD-028C-42F2-9F9A-0CB45E44CB25}" type="slidenum">
              <a:rPr lang="da-DK" smtClean="0"/>
              <a:pPr/>
              <a:t>1</a:t>
            </a:fld>
            <a:endParaRPr lang="da-DK"/>
          </a:p>
        </p:txBody>
      </p:sp>
    </p:spTree>
    <p:extLst>
      <p:ext uri="{BB962C8B-B14F-4D97-AF65-F5344CB8AC3E}">
        <p14:creationId xmlns:p14="http://schemas.microsoft.com/office/powerpoint/2010/main" val="2305802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16AF1-5741-AC37-80A9-DDE199E01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This is positioned as the top priority because the group explicitly selected B2B and AI/FDE as the topics for deeper discussion, and B2B was described as a growth area requiring renewed focus across both BUs.</a:t>
            </a:r>
          </a:p>
          <a:p/>
          <a:p>
            <a:r>
              <a:t>The existing B2B story is close, but it needs to encompass the broader capability set across DBT and DDM, rather than relying too heavily on ABM or a narrow transformation message.</a:t>
            </a:r>
          </a:p>
          <a:p>
            <a:r>
              <a:t>The client story should vary by buyer. The discussion referenced CMO, CIO, CRO, sales, and operations stakeholders, with different entry points across marketing, sales transformation, technology, media, content, and operations.</a:t>
            </a:r>
          </a:p>
          <a:p>
            <a:r>
              <a:t>The group distinguished between a B2B technology or transformation profile and a B2B marketing-services profile. It did not assume that one person could cover the entire spectrum.</a:t>
            </a:r>
          </a:p>
          <a:p>
            <a:r>
              <a:t>The biggest constraint is not only the narrative. It is the ability to cast, solution, sell, workshop, and ultimately deliver with the right people.</a:t>
            </a:r>
          </a:p>
          <a:p>
            <a:r>
              <a:t>A ring-fenced model was favored over treating B2B as a side-of-desk responsibility.</a:t>
            </a:r>
          </a:p>
          <a:p>
            <a:r>
              <a:t>Partner-specific versions are needed for Adobe and Salesforce.</a:t>
            </a:r>
          </a:p>
          <a:p>
            <a:r>
              <a:t>Target-account selection should use the existing sprint and intent data, and identify the actual budget-holder persona and route to that person.</a:t>
            </a:r>
          </a:p>
          <a:p>
            <a:r>
              <a:t>Internal communication needs to make clear that Merkle is “all in” on B2B and that teams will be expected to activate the story, not simply receive new collateral.</a:t>
            </a:r>
          </a:p>
          <a:p/>
          <a:p>
            <a:r>
              <a:t>Accountability</a:t>
            </a:r>
          </a:p>
          <a:p>
            <a:r>
              <a:t>David | DDM growth motion. Accountable for the DDM plan, leadership, pipeline ambition and resource requirements.</a:t>
            </a:r>
          </a:p>
          <a:p>
            <a:r>
              <a:t>Eric | DBT growth motion. Accountable for the DBT plan, market opportunity, activation requirements and resource implications.</a:t>
            </a:r>
          </a:p>
          <a:p>
            <a:r>
              <a:t>Holden | Integrated market narrative. Accountable for bringing the motions together into one coherent B2B proposition and go-to-market story.</a:t>
            </a:r>
          </a:p>
          <a:p/>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extLst>
      <p:ext uri="{BB962C8B-B14F-4D97-AF65-F5344CB8AC3E}">
        <p14:creationId xmlns:p14="http://schemas.microsoft.com/office/powerpoint/2010/main" val="328134143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0.emf"/><Relationship Id="rId4"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1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575F5AE-50A4-642F-30CA-363A6687089C}"/>
              </a:ext>
            </a:extLst>
          </p:cNvPr>
          <p:cNvPicPr>
            <a:picLocks noGrp="1" noChangeAspect="1"/>
          </p:cNvPicPr>
          <p:nvPr>
            <p:ph type="pic" sz="quarter" idx="12"/>
          </p:nvPr>
        </p:nvPicPr>
        <p:blipFill>
          <a:blip r:embed="rId4"/>
          <a:srcRect/>
          <a:stretch>
            <a:fillRect/>
          </a:stretch>
        </p:blipFill>
        <p:spPr>
          <a:xfrm>
            <a:off x="0" y="0"/>
            <a:ext cx="12192000" cy="6858000"/>
          </a:xfrm>
          <a:prstGeom prst="rect">
            <a:avLst/>
          </a:prstGeom>
        </p:spPr>
      </p:pic>
      <p:sp>
        <p:nvSpPr>
          <p:cNvPr id="7" name="Lightning Bolt 6">
            <a:extLst>
              <a:ext uri="{FF2B5EF4-FFF2-40B4-BE49-F238E27FC236}">
                <a16:creationId xmlns:a16="http://schemas.microsoft.com/office/drawing/2014/main" id="{2B3AA0BB-7073-DBA8-99E2-504CFDEB554F}"/>
              </a:ext>
            </a:extLst>
          </p:cNvPr>
          <p:cNvSpPr/>
          <p:nvPr/>
        </p:nvSpPr>
        <p:spPr>
          <a:xfrm rot="4007820" flipV="1">
            <a:off x="-326507" y="-1375747"/>
            <a:ext cx="11124741" cy="10367844"/>
          </a:xfrm>
          <a:prstGeom prst="lightningBol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p>
        </p:txBody>
      </p:sp>
      <p:sp>
        <p:nvSpPr>
          <p:cNvPr id="4" name="Title 3">
            <a:extLst>
              <a:ext uri="{FF2B5EF4-FFF2-40B4-BE49-F238E27FC236}">
                <a16:creationId xmlns:a16="http://schemas.microsoft.com/office/drawing/2014/main" id="{24D19E25-A591-A628-4504-66324ECA7A7B}"/>
              </a:ext>
            </a:extLst>
          </p:cNvPr>
          <p:cNvSpPr>
            <a:spLocks noGrp="1"/>
          </p:cNvSpPr>
          <p:nvPr>
            <p:ph type="title"/>
          </p:nvPr>
        </p:nvSpPr>
        <p:spPr>
          <a:xfrm>
            <a:off x="915725" y="1101123"/>
            <a:ext cx="6688233" cy="2871216"/>
          </a:xfrm>
        </p:spPr>
        <p:txBody>
          <a:bodyPr/>
          <a:lstStyle/>
          <a:p>
            <a:r>
              <a:rPr lang="en-US"/>
              <a:t>Play to Win</a:t>
            </a:r>
          </a:p>
        </p:txBody>
      </p:sp>
      <p:sp>
        <p:nvSpPr>
          <p:cNvPr id="3" name="Text Placeholder 2">
            <a:extLst>
              <a:ext uri="{FF2B5EF4-FFF2-40B4-BE49-F238E27FC236}">
                <a16:creationId xmlns:a16="http://schemas.microsoft.com/office/drawing/2014/main" id="{EE0B26FB-A9F5-CE5A-F524-FB7DD5207F15}"/>
              </a:ext>
            </a:extLst>
          </p:cNvPr>
          <p:cNvSpPr>
            <a:spLocks noGrp="1"/>
          </p:cNvSpPr>
          <p:nvPr>
            <p:ph type="body" sz="quarter" idx="11"/>
          </p:nvPr>
        </p:nvSpPr>
        <p:spPr>
          <a:xfrm rot="1003330">
            <a:off x="8964199" y="5905320"/>
            <a:ext cx="2032924" cy="301752"/>
          </a:xfrm>
        </p:spPr>
        <p:txBody>
          <a:bodyPr/>
          <a:lstStyle/>
          <a:p>
            <a:r>
              <a:rPr lang="en-US"/>
              <a:t>August 27-28, 2026</a:t>
            </a:r>
          </a:p>
        </p:txBody>
      </p:sp>
      <p:sp>
        <p:nvSpPr>
          <p:cNvPr id="8" name="Text Placeholder 7">
            <a:extLst>
              <a:ext uri="{FF2B5EF4-FFF2-40B4-BE49-F238E27FC236}">
                <a16:creationId xmlns:a16="http://schemas.microsoft.com/office/drawing/2014/main" id="{270BE782-AA17-0C4C-8E25-36317E11A331}"/>
              </a:ext>
            </a:extLst>
          </p:cNvPr>
          <p:cNvSpPr>
            <a:spLocks noGrp="1"/>
          </p:cNvSpPr>
          <p:nvPr>
            <p:ph type="body" sz="quarter" idx="10"/>
          </p:nvPr>
        </p:nvSpPr>
        <p:spPr>
          <a:xfrm>
            <a:off x="915724" y="3972339"/>
            <a:ext cx="5559552" cy="420624"/>
          </a:xfrm>
        </p:spPr>
        <p:txBody>
          <a:bodyPr vert="horz" lIns="137160" tIns="45720" rIns="91440" bIns="45720" rtlCol="0" anchor="t">
            <a:noAutofit/>
          </a:bodyPr>
          <a:lstStyle/>
          <a:p>
            <a:r>
              <a:rPr lang="en-US"/>
              <a:t>Building the Next First: Priorities</a:t>
            </a:r>
          </a:p>
        </p:txBody>
      </p:sp>
    </p:spTree>
    <p:extLst>
      <p:ext uri="{BB962C8B-B14F-4D97-AF65-F5344CB8AC3E}">
        <p14:creationId xmlns:p14="http://schemas.microsoft.com/office/powerpoint/2010/main" val="435525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221A4-CA55-E39A-75A8-DB24914BC04C}"/>
            </a:ext>
          </a:extLst>
        </p:cNvPr>
        <p:cNvGrpSpPr/>
        <p:nvPr/>
      </p:nvGrpSpPr>
      <p:grpSpPr>
        <a:xfrm>
          <a:off x="0" y="0"/>
          <a:ext cx="0" cy="0"/>
          <a:chOff x="0" y="0"/>
          <a:chExt cx="0" cy="0"/>
        </a:xfrm>
      </p:grpSpPr>
      <p:pic>
        <p:nvPicPr>
          <p:cNvPr id="39" name="Picture 38" descr="hero_overview.jpg"/>
          <p:cNvPicPr>
            <a:picLocks noChangeAspect="1"/>
          </p:cNvPicPr>
          <p:nvPr/>
        </p:nvPicPr>
        <p:blipFill>
          <a:blip r:embed="rId3"/>
          <a:stretch>
            <a:fillRect/>
          </a:stretch>
        </p:blipFill>
        <p:spPr>
          <a:xfrm>
            <a:off x="0" y="0"/>
            <a:ext cx="12192000" cy="2738901"/>
          </a:xfrm>
          <a:prstGeom prst="rect">
            <a:avLst/>
          </a:prstGeom>
        </p:spPr>
      </p:pic>
      <p:sp>
        <p:nvSpPr>
          <p:cNvPr id="40" name="Rectangle 39"/>
          <p:cNvSpPr/>
          <p:nvPr/>
        </p:nvSpPr>
        <p:spPr>
          <a:xfrm>
            <a:off x="0" y="0"/>
            <a:ext cx="12192000" cy="2738901"/>
          </a:xfrm>
          <a:prstGeom prst="rect">
            <a:avLst/>
          </a:prstGeom>
          <a:gradFill rotWithShape="1">
            <a:gsLst>
              <a:gs pos="0">
                <a:srgbClr val="000000">
                  <a:alpha val="72000"/>
                </a:srgbClr>
              </a:gs>
              <a:gs pos="55000">
                <a:srgbClr val="000000">
                  <a:alpha val="34000"/>
                </a:srgbClr>
              </a:gs>
              <a:gs pos="100000">
                <a:srgbClr val="000000">
                  <a:alpha val="0"/>
                </a:srgbClr>
              </a:gs>
            </a:gsLst>
            <a:lin ang="0" scaled="0"/>
          </a:gradFill>
          <a:ln>
            <a:noFill/>
          </a:ln>
        </p:spPr>
        <p:txBody>
          <a:bodyPr rtlCol="0" anchor="ctr"/>
          <a:lstStyle/>
          <a:p>
            <a:pPr algn="ctr"/>
          </a:p>
        </p:txBody>
      </p:sp>
      <p:sp>
        <p:nvSpPr>
          <p:cNvPr id="15" name="Rounded Rectangle 14">
            <a:extLst>
              <a:ext uri="{FF2B5EF4-FFF2-40B4-BE49-F238E27FC236}">
                <a16:creationId xmlns:a16="http://schemas.microsoft.com/office/drawing/2014/main" id="{5DC04062-A040-A8B9-1B59-32C48CD3DA28}"/>
              </a:ext>
            </a:extLst>
          </p:cNvPr>
          <p:cNvSpPr>
            <a:spLocks noGrp="1" noRot="1" noMove="1" noResize="1" noEditPoints="1" noAdjustHandles="1" noChangeArrowheads="1" noChangeShapeType="1"/>
          </p:cNvSpPr>
          <p:nvPr/>
        </p:nvSpPr>
        <p:spPr>
          <a:xfrm>
            <a:off x="342952" y="1130299"/>
            <a:ext cx="2788976"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REVISIT THE GOAL</a:t>
            </a:r>
          </a:p>
          <a:p>
            <a:pPr algn="ctr"/>
            <a:r>
              <a:rPr lang="en-US" sz="900"/>
              <a:t>:01 MINUTE</a:t>
            </a:r>
          </a:p>
        </p:txBody>
      </p:sp>
      <p:sp>
        <p:nvSpPr>
          <p:cNvPr id="9" name="Rounded Rectangle 8">
            <a:extLst>
              <a:ext uri="{FF2B5EF4-FFF2-40B4-BE49-F238E27FC236}">
                <a16:creationId xmlns:a16="http://schemas.microsoft.com/office/drawing/2014/main" id="{69737583-8004-99A7-1AF6-756DCE716B7B}"/>
              </a:ext>
            </a:extLst>
          </p:cNvPr>
          <p:cNvSpPr>
            <a:spLocks noGrp="1" noRot="1" noMove="1" noResize="1" noEditPoints="1" noAdjustHandles="1" noChangeArrowheads="1" noChangeShapeType="1"/>
          </p:cNvSpPr>
          <p:nvPr/>
        </p:nvSpPr>
        <p:spPr>
          <a:xfrm>
            <a:off x="3300967" y="1130300"/>
            <a:ext cx="5491328"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ASSESS WHERE WE ARE</a:t>
            </a:r>
          </a:p>
          <a:p>
            <a:pPr algn="ctr"/>
            <a:r>
              <a:rPr lang="en-US" sz="900"/>
              <a:t>:02 MINUTES</a:t>
            </a:r>
          </a:p>
        </p:txBody>
      </p:sp>
      <p:sp>
        <p:nvSpPr>
          <p:cNvPr id="4" name="Rounded Rectangle 3">
            <a:extLst>
              <a:ext uri="{FF2B5EF4-FFF2-40B4-BE49-F238E27FC236}">
                <a16:creationId xmlns:a16="http://schemas.microsoft.com/office/drawing/2014/main" id="{87868C7F-317D-3FB7-1F42-6F4D25FD8587}"/>
              </a:ext>
            </a:extLst>
          </p:cNvPr>
          <p:cNvSpPr>
            <a:spLocks noGrp="1" noRot="1" noMove="1" noResize="1" noEditPoints="1" noAdjustHandles="1" noChangeArrowheads="1" noChangeShapeType="1"/>
          </p:cNvSpPr>
          <p:nvPr/>
        </p:nvSpPr>
        <p:spPr>
          <a:xfrm>
            <a:off x="8955993" y="1130301"/>
            <a:ext cx="2912132" cy="5526873"/>
          </a:xfrm>
          <a:prstGeom prst="roundRect">
            <a:avLst>
              <a:gd name="adj" fmla="val 3244"/>
            </a:avLst>
          </a:prstGeom>
          <a:solidFill>
            <a:srgbClr val="D6D6DF"/>
          </a:solidFill>
          <a:ln>
            <a:noFill/>
          </a:ln>
        </p:spPr>
        <p:txBody>
          <a:bodyPr wrap="square" lIns="91440" tIns="45720" rIns="91440" bIns="45720" rtlCol="0" anchor="t">
            <a:noAutofit/>
          </a:bodyPr>
          <a:lstStyle/>
          <a:p>
            <a:pPr algn="ctr"/>
            <a:r>
              <a:rPr lang="en-US" sz="1100" b="1"/>
              <a:t>INTERVENTION REQUIRED</a:t>
            </a:r>
          </a:p>
          <a:p>
            <a:pPr algn="ctr"/>
            <a:r>
              <a:rPr lang="en-US" sz="900"/>
              <a:t>:07 MINUTES</a:t>
            </a:r>
          </a:p>
        </p:txBody>
      </p:sp>
      <p:sp>
        <p:nvSpPr>
          <p:cNvPr id="38" name="Rounded Rectangle 37">
            <a:extLst>
              <a:ext uri="{FF2B5EF4-FFF2-40B4-BE49-F238E27FC236}">
                <a16:creationId xmlns:a16="http://schemas.microsoft.com/office/drawing/2014/main" id="{7319C26C-3115-1EC9-8C4D-B992B54DCE0D}"/>
              </a:ext>
            </a:extLst>
          </p:cNvPr>
          <p:cNvSpPr/>
          <p:nvPr/>
        </p:nvSpPr>
        <p:spPr>
          <a:xfrm>
            <a:off x="555272" y="1660650"/>
            <a:ext cx="2364336" cy="3243509"/>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ctr">
            <a:noAutofit/>
          </a:bodyPr>
          <a:lstStyle/>
          <a:p>
            <a:pPr algn="ctr"/>
            <a:endParaRPr lang="en-US">
              <a:solidFill>
                <a:srgbClr val="000000">
                  <a:lumMod val="50000"/>
                </a:srgbClr>
              </a:solidFill>
              <a:cs typeface="+mn-cs"/>
            </a:endParaRPr>
          </a:p>
        </p:txBody>
      </p:sp>
      <p:sp>
        <p:nvSpPr>
          <p:cNvPr id="30" name="Title 1">
            <a:extLst>
              <a:ext uri="{FF2B5EF4-FFF2-40B4-BE49-F238E27FC236}">
                <a16:creationId xmlns:a16="http://schemas.microsoft.com/office/drawing/2014/main" id="{3AEFBB45-C2BA-2506-ED28-4E294E75A913}"/>
              </a:ext>
            </a:extLst>
          </p:cNvPr>
          <p:cNvSpPr txBox="1">
            <a:spLocks/>
          </p:cNvSpPr>
          <p:nvPr/>
        </p:nvSpPr>
        <p:spPr>
          <a:xfrm>
            <a:off x="609600" y="457201"/>
            <a:ext cx="10972800" cy="673100"/>
          </a:xfrm>
          <a:prstGeom prst="rect">
            <a:avLst/>
          </a:prstGeom>
        </p:spPr>
        <p:txBody>
          <a:bodyPr anchor="t">
            <a:noAutofit/>
          </a:bodyPr>
          <a:lstStyle>
            <a:lvl1pPr algn="l" defTabSz="457200" rtl="0" eaLnBrk="1" latinLnBrk="0" hangingPunct="1">
              <a:spcBef>
                <a:spcPts val="600"/>
              </a:spcBef>
              <a:spcAft>
                <a:spcPts val="1200"/>
              </a:spcAft>
              <a:buNone/>
              <a:defRPr lang="en-US" sz="2800" b="1" kern="1200" baseline="0" dirty="0">
                <a:solidFill>
                  <a:schemeClr val="tx1"/>
                </a:solidFill>
                <a:latin typeface="+mj-lt"/>
                <a:ea typeface="+mj-ea"/>
                <a:cs typeface="+mn-cs"/>
              </a:defRPr>
            </a:lvl1pPr>
          </a:lstStyle>
          <a:p>
            <a:pPr marL="0" marR="0" lvl="0" indent="0" algn="l" defTabSz="457200" rtl="0" eaLnBrk="1" fontAlgn="auto" latinLnBrk="0" hangingPunct="1">
              <a:lnSpc>
                <a:spcPct val="100000"/>
              </a:lnSpc>
              <a:spcBef>
                <a:spcPts val="600"/>
              </a:spcBef>
              <a:spcAft>
                <a:spcPts val="1200"/>
              </a:spcAft>
              <a:buClrTx/>
              <a:buSzTx/>
              <a:buFontTx/>
              <a:buNone/>
              <a:tabLst/>
              <a:defRPr/>
            </a:pPr>
            <a:endParaRPr kumimoji="0" lang="en-US" sz="2800" b="0" u="none" strike="noStrike" kern="1200" cap="none" spc="0" normalizeH="0" baseline="0" noProof="0">
              <a:ln>
                <a:noFill/>
              </a:ln>
              <a:solidFill>
                <a:srgbClr val="000000"/>
              </a:solidFill>
              <a:effectLst/>
              <a:uLnTx/>
              <a:uFillTx/>
              <a:latin typeface="+mn-lt"/>
              <a:cs typeface="+mn-cs"/>
            </a:endParaRPr>
          </a:p>
        </p:txBody>
      </p:sp>
      <p:sp>
        <p:nvSpPr>
          <p:cNvPr id="34" name="TextBox 33">
            <a:extLst>
              <a:ext uri="{FF2B5EF4-FFF2-40B4-BE49-F238E27FC236}">
                <a16:creationId xmlns:a16="http://schemas.microsoft.com/office/drawing/2014/main" id="{0B51667E-1605-C38A-D026-751E57EC065F}"/>
              </a:ext>
            </a:extLst>
          </p:cNvPr>
          <p:cNvSpPr txBox="1"/>
          <p:nvPr/>
        </p:nvSpPr>
        <p:spPr>
          <a:xfrm>
            <a:off x="739695" y="1811283"/>
            <a:ext cx="1995489" cy="2942241"/>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2026 GOAL</a:t>
            </a:r>
          </a:p>
          <a:p>
            <a:pPr>
              <a:lnSpc>
                <a:spcPct val="110000"/>
              </a:lnSpc>
              <a:spcAft>
                <a:spcPts val="600"/>
              </a:spcAft>
              <a:defRPr/>
            </a:pPr>
            <a:r>
              <a:rPr kumimoji="0" lang="en-US" sz="1000" b="1" i="0" u="none" strike="noStrike" kern="0" cap="none" spc="0" normalizeH="0" baseline="0" noProof="0">
                <a:ln>
                  <a:noFill/>
                </a:ln>
                <a:solidFill>
                  <a:srgbClr val="000000"/>
                </a:solidFill>
                <a:effectLst/>
                <a:uLnTx/>
                <a:uFillTx/>
              </a:rPr>
              <a:t>Build clear, differentiated B2B growth motions within DDM and DBT while establishing an overarching B2B market narrative that accelerates revenue growth </a:t>
            </a:r>
            <a:r>
              <a:rPr lang="en-US" sz="1000" b="1" kern="0">
                <a:solidFill>
                  <a:srgbClr val="000000"/>
                </a:solidFill>
              </a:rPr>
              <a:t>and </a:t>
            </a:r>
            <a:r>
              <a:rPr kumimoji="0" lang="en-US" sz="1000" b="1" i="0" u="none" strike="noStrike" kern="0" cap="none" spc="0" normalizeH="0" baseline="0" noProof="0">
                <a:ln>
                  <a:noFill/>
                </a:ln>
                <a:solidFill>
                  <a:srgbClr val="000000"/>
                </a:solidFill>
                <a:effectLst/>
                <a:uLnTx/>
                <a:uFillTx/>
              </a:rPr>
              <a:t>executive engagement.</a:t>
            </a:r>
          </a:p>
          <a:p>
            <a:pPr>
              <a:lnSpc>
                <a:spcPct val="110000"/>
              </a:lnSpc>
              <a:spcAft>
                <a:spcPts val="600"/>
              </a:spcAft>
              <a:defRPr/>
            </a:pPr>
            <a:r>
              <a:rPr kumimoji="0" lang="en-US" sz="1000" i="0" u="none" strike="noStrike" kern="0" cap="none" spc="0" normalizeH="0" baseline="0" noProof="0">
                <a:ln>
                  <a:noFill/>
                </a:ln>
                <a:solidFill>
                  <a:srgbClr val="000000"/>
                </a:solidFill>
                <a:effectLst/>
                <a:uLnTx/>
                <a:uFillTx/>
              </a:rPr>
              <a:t>Success means each BU has a clear GTM motion that is generating measurable pipeline and exec-level conversations, supported by a unified Merkle B2B story.</a:t>
            </a:r>
          </a:p>
        </p:txBody>
      </p:sp>
      <p:sp>
        <p:nvSpPr>
          <p:cNvPr id="21" name="Title 20">
            <a:extLst>
              <a:ext uri="{FF2B5EF4-FFF2-40B4-BE49-F238E27FC236}">
                <a16:creationId xmlns:a16="http://schemas.microsoft.com/office/drawing/2014/main" id="{30B11319-DDED-63D0-4AA1-A31D9DB0E09D}"/>
              </a:ext>
            </a:extLst>
          </p:cNvPr>
          <p:cNvSpPr>
            <a:spLocks noGrp="1"/>
          </p:cNvSpPr>
          <p:nvPr>
            <p:ph type="title"/>
          </p:nvPr>
        </p:nvSpPr>
        <p:spPr>
          <a:xfrm>
            <a:off x="342952" y="493773"/>
            <a:ext cx="11128248" cy="612648"/>
          </a:xfrm>
        </p:spPr>
        <p:txBody>
          <a:bodyPr>
            <a:noAutofit/>
          </a:bodyPr>
          <a:lstStyle/>
          <a:p>
            <a:r>
              <a:rPr lang="en-US">
                <a:solidFill>
                  <a:schemeClr val="bg1"/>
                </a:solidFill>
              </a:rPr>
              <a:t>B2B Growth Platform</a:t>
            </a:r>
            <a:endParaRPr lang="en-US" b="0">
              <a:solidFill>
                <a:schemeClr val="bg1"/>
              </a:solidFill>
            </a:endParaRPr>
          </a:p>
        </p:txBody>
      </p:sp>
      <p:sp>
        <p:nvSpPr>
          <p:cNvPr id="8" name="Text Placeholder 7">
            <a:extLst>
              <a:ext uri="{FF2B5EF4-FFF2-40B4-BE49-F238E27FC236}">
                <a16:creationId xmlns:a16="http://schemas.microsoft.com/office/drawing/2014/main" id="{F31545F3-4ABB-6DF3-DB80-7C033BC45FB6}"/>
              </a:ext>
            </a:extLst>
          </p:cNvPr>
          <p:cNvSpPr>
            <a:spLocks noGrp="1"/>
          </p:cNvSpPr>
          <p:nvPr>
            <p:ph type="body" sz="quarter" idx="12"/>
          </p:nvPr>
        </p:nvSpPr>
        <p:spPr>
          <a:xfrm>
            <a:off x="342952" y="265173"/>
            <a:ext cx="8000000" cy="182880"/>
          </a:xfrm>
        </p:spPr>
        <p:txBody>
          <a:bodyPr>
            <a:noAutofit/>
          </a:bodyPr>
          <a:lstStyle/>
          <a:p>
            <a:r>
              <a:rPr lang="en-US">
                <a:solidFill>
                  <a:srgbClr val="0391F2"/>
                </a:solidFill>
              </a:rPr>
              <a:t>ENTERPRISE GROWTH PRIORITY</a:t>
            </a:r>
          </a:p>
        </p:txBody>
      </p:sp>
      <p:sp>
        <p:nvSpPr>
          <p:cNvPr id="5" name="Rounded Rectangle 4">
            <a:extLst>
              <a:ext uri="{FF2B5EF4-FFF2-40B4-BE49-F238E27FC236}">
                <a16:creationId xmlns:a16="http://schemas.microsoft.com/office/drawing/2014/main" id="{041EAF3B-290E-C628-3F44-F16D508FC7F7}"/>
              </a:ext>
            </a:extLst>
          </p:cNvPr>
          <p:cNvSpPr/>
          <p:nvPr/>
        </p:nvSpPr>
        <p:spPr>
          <a:xfrm>
            <a:off x="9144108" y="166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t">
            <a:noAutofit/>
          </a:bodyPr>
          <a:lstStyle/>
          <a:p>
            <a:pPr>
              <a:spcAft>
                <a:spcPts val="600"/>
              </a:spcAft>
            </a:pPr>
            <a:r>
              <a:rPr lang="en-US" sz="1200" b="1">
                <a:cs typeface="+mn-cs"/>
              </a:rPr>
              <a:t>Decisions Needed</a:t>
            </a:r>
          </a:p>
          <a:p>
            <a:pPr marL="228600" indent="-228600">
              <a:spcAft>
                <a:spcPts val="600"/>
              </a:spcAft>
              <a:buFont typeface="+mj-lt"/>
              <a:buAutoNum type="arabicPeriod"/>
            </a:pPr>
            <a:r>
              <a:rPr lang="en-US" sz="1000"/>
              <a:t>Confirm whether the proposed leadership and immediate operating direction are sufficient to continue advancing the B2B work while the broader plan is completed.</a:t>
            </a:r>
          </a:p>
        </p:txBody>
      </p:sp>
      <p:sp>
        <p:nvSpPr>
          <p:cNvPr id="6" name="Rounded Rectangle 5">
            <a:extLst>
              <a:ext uri="{FF2B5EF4-FFF2-40B4-BE49-F238E27FC236}">
                <a16:creationId xmlns:a16="http://schemas.microsoft.com/office/drawing/2014/main" id="{40AF2834-9A59-D134-D848-D7CEDD7B356D}"/>
              </a:ext>
            </a:extLst>
          </p:cNvPr>
          <p:cNvSpPr/>
          <p:nvPr/>
        </p:nvSpPr>
        <p:spPr>
          <a:xfrm>
            <a:off x="9144108" y="330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t">
            <a:noAutofit/>
          </a:bodyPr>
          <a:lstStyle/>
          <a:p>
            <a:pPr>
              <a:spcAft>
                <a:spcPts val="600"/>
              </a:spcAft>
            </a:pPr>
            <a:r>
              <a:rPr lang="en-US" sz="1200" b="1">
                <a:cs typeface="+mn-cs"/>
              </a:rPr>
              <a:t>Help Wanted</a:t>
            </a:r>
          </a:p>
          <a:p>
            <a:pPr marL="228600" indent="-228600">
              <a:spcAft>
                <a:spcPts val="600"/>
              </a:spcAft>
              <a:buFont typeface="+mj-lt"/>
              <a:buAutoNum type="arabicPeriod"/>
            </a:pPr>
            <a:r>
              <a:rPr lang="en-US" sz="1000"/>
              <a:t>Pressure-test whether the DDM and DBT motions add up to a credible enterprise B2B proposition. Surface implications for clients, go-to-market, marketing, alliances, delivery, talent and finance before the direction is finalized.</a:t>
            </a:r>
          </a:p>
        </p:txBody>
      </p:sp>
      <p:sp>
        <p:nvSpPr>
          <p:cNvPr id="7" name="Rounded Rectangle 6">
            <a:extLst>
              <a:ext uri="{FF2B5EF4-FFF2-40B4-BE49-F238E27FC236}">
                <a16:creationId xmlns:a16="http://schemas.microsoft.com/office/drawing/2014/main" id="{07DAFD71-705A-7192-8057-EEA73D2CC950}"/>
              </a:ext>
            </a:extLst>
          </p:cNvPr>
          <p:cNvSpPr/>
          <p:nvPr/>
        </p:nvSpPr>
        <p:spPr>
          <a:xfrm>
            <a:off x="9144108" y="494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t">
            <a:noAutofit/>
          </a:bodyPr>
          <a:lstStyle/>
          <a:p>
            <a:pPr>
              <a:spcAft>
                <a:spcPts val="600"/>
              </a:spcAft>
            </a:pPr>
            <a:r>
              <a:rPr lang="en-US" sz="1200" b="1">
                <a:cs typeface="+mn-cs"/>
              </a:rPr>
              <a:t>Investment or Capacity</a:t>
            </a:r>
          </a:p>
          <a:p>
            <a:pPr marL="228600" indent="-228600">
              <a:spcAft>
                <a:spcPts val="600"/>
              </a:spcAft>
              <a:buFont typeface="+mj-lt"/>
              <a:buAutoNum type="arabicPeriod"/>
            </a:pPr>
            <a:r>
              <a:rPr lang="en-US" sz="1000"/>
              <a:t>Clarify which initial headcount and capability requests can move forward now, and which must be considered through the broader 2027 budget process.</a:t>
            </a:r>
          </a:p>
        </p:txBody>
      </p:sp>
      <p:sp>
        <p:nvSpPr>
          <p:cNvPr id="10" name="Rounded Rectangle 9">
            <a:extLst>
              <a:ext uri="{FF2B5EF4-FFF2-40B4-BE49-F238E27FC236}">
                <a16:creationId xmlns:a16="http://schemas.microsoft.com/office/drawing/2014/main" id="{D9620434-4E9F-BD6F-4707-C5B64DC0A825}"/>
              </a:ext>
            </a:extLst>
          </p:cNvPr>
          <p:cNvSpPr/>
          <p:nvPr/>
        </p:nvSpPr>
        <p:spPr>
          <a:xfrm>
            <a:off x="3479040" y="1660650"/>
            <a:ext cx="5149653" cy="886967"/>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91440" tIns="45720" rIns="91440" bIns="45720" rtlCol="0" anchor="t">
            <a:noAutofit/>
          </a:bodyPr>
          <a:lstStyle/>
          <a:p>
            <a:pPr>
              <a:spcAft>
                <a:spcPts val="600"/>
              </a:spcAft>
            </a:pPr>
            <a:r>
              <a:rPr lang="en-US" sz="1000" b="1"/>
              <a:t>FROM THE LAST REVIEW</a:t>
            </a:r>
          </a:p>
          <a:p>
            <a:pPr>
              <a:spcAft>
                <a:spcPts val="600"/>
              </a:spcAft>
            </a:pPr>
            <a:r>
              <a:rPr lang="en-US" sz="1000"/>
              <a:t>David and Eric were to review their rosters (with Ed helping assess options), to identify a fully dedicated B2B leader. David and Eric were to finish the B2B </a:t>
            </a:r>
            <a:r>
              <a:rPr lang="en-US" sz="1000" err="1"/>
              <a:t>agentification</a:t>
            </a:r>
            <a:r>
              <a:rPr lang="en-US" sz="1000"/>
              <a:t> assessment and review it jointly so both BUs are supported.</a:t>
            </a:r>
          </a:p>
        </p:txBody>
      </p:sp>
      <p:sp>
        <p:nvSpPr>
          <p:cNvPr id="13" name="Rounded Rectangle 12">
            <a:extLst>
              <a:ext uri="{FF2B5EF4-FFF2-40B4-BE49-F238E27FC236}">
                <a16:creationId xmlns:a16="http://schemas.microsoft.com/office/drawing/2014/main" id="{EF759F4F-F8E8-DA80-2052-D321B9671623}"/>
              </a:ext>
            </a:extLst>
          </p:cNvPr>
          <p:cNvSpPr>
            <a:spLocks noGrp="1" noRot="1" noMove="1" noResize="1" noEditPoints="1" noAdjustHandles="1" noChangeArrowheads="1" noChangeShapeType="1"/>
          </p:cNvSpPr>
          <p:nvPr/>
        </p:nvSpPr>
        <p:spPr>
          <a:xfrm>
            <a:off x="8500000" y="470000"/>
            <a:ext cx="3368125" cy="4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David (DDM), Eric (DBT), Holden (Unified Narrative)</a:t>
            </a:r>
          </a:p>
        </p:txBody>
      </p:sp>
      <p:sp>
        <p:nvSpPr>
          <p:cNvPr id="14" name="Rounded Rectangle 13">
            <a:extLst>
              <a:ext uri="{FF2B5EF4-FFF2-40B4-BE49-F238E27FC236}">
                <a16:creationId xmlns:a16="http://schemas.microsoft.com/office/drawing/2014/main" id="{1B9E7406-7C57-1E0C-9E20-8F3C1B394087}"/>
              </a:ext>
            </a:extLst>
          </p:cNvPr>
          <p:cNvSpPr/>
          <p:nvPr/>
        </p:nvSpPr>
        <p:spPr>
          <a:xfrm>
            <a:off x="3459228" y="2700418"/>
            <a:ext cx="5149653" cy="2664971"/>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91440" tIns="45720" rIns="91440" bIns="45720" rtlCol="0" anchor="t">
            <a:noAutofit/>
          </a:bodyPr>
          <a:lstStyle/>
          <a:p>
            <a:r>
              <a:rPr lang="en-US" sz="1000" b="1"/>
              <a:t>STATUS BRIEFING</a:t>
            </a:r>
          </a:p>
          <a:p>
            <a:endParaRPr lang="en-US" sz="1000" b="1"/>
          </a:p>
          <a:p>
            <a:pPr marL="171450" indent="-171450">
              <a:buFont typeface="Arial" panose="020B0604020202020204" pitchFamily="34" charset="0"/>
              <a:buChar char="•"/>
            </a:pPr>
            <a:r>
              <a:rPr lang="en-US" sz="1000" b="1"/>
              <a:t>What has materially moved since the last review? </a:t>
            </a:r>
            <a:r>
              <a:rPr lang="en-US" sz="1000"/>
              <a:t>Matt Powell has been identified to help drive and represent the work. Initial interlocks are beginning, immediate pipeline is being pursued and initial resource needs are emerging.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are the gaps? </a:t>
            </a:r>
            <a:r>
              <a:rPr lang="en-US" sz="1000"/>
              <a:t>The broader Merkle B2B market position and complete investment case are still in development. The individual motions need to be translated into one credible view of the market opportunity, required investment and path to activation. The first sentence reflects the meeting discussion; the second is recommended executive framing.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is your confidence in tracking to the 2026 goal? </a:t>
            </a:r>
            <a:r>
              <a:rPr lang="en-US" sz="1000"/>
              <a:t>At risk until the individual plans and unified narrative are sufficiently connected to support a clear investment and activation position.</a:t>
            </a:r>
          </a:p>
        </p:txBody>
      </p:sp>
      <p:sp>
        <p:nvSpPr>
          <p:cNvPr id="16" name="Rounded Rectangle 15">
            <a:extLst>
              <a:ext uri="{FF2B5EF4-FFF2-40B4-BE49-F238E27FC236}">
                <a16:creationId xmlns:a16="http://schemas.microsoft.com/office/drawing/2014/main" id="{9753E817-93BB-5FD0-FE1B-609A39F8873F}"/>
              </a:ext>
            </a:extLst>
          </p:cNvPr>
          <p:cNvSpPr/>
          <p:nvPr/>
        </p:nvSpPr>
        <p:spPr>
          <a:xfrm>
            <a:off x="555272" y="5020183"/>
            <a:ext cx="2364336" cy="1490345"/>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ctr">
            <a:noAutofit/>
          </a:bodyPr>
          <a:lstStyle/>
          <a:p>
            <a:pPr algn="ctr"/>
            <a:endParaRPr lang="en-US">
              <a:solidFill>
                <a:srgbClr val="000000">
                  <a:lumMod val="50000"/>
                </a:srgbClr>
              </a:solidFill>
              <a:cs typeface="+mn-cs"/>
            </a:endParaRPr>
          </a:p>
        </p:txBody>
      </p:sp>
      <p:sp>
        <p:nvSpPr>
          <p:cNvPr id="17" name="TextBox 16">
            <a:extLst>
              <a:ext uri="{FF2B5EF4-FFF2-40B4-BE49-F238E27FC236}">
                <a16:creationId xmlns:a16="http://schemas.microsoft.com/office/drawing/2014/main" id="{A1B5E0B9-F13E-CA2E-C327-419213667982}"/>
              </a:ext>
            </a:extLst>
          </p:cNvPr>
          <p:cNvSpPr txBox="1"/>
          <p:nvPr/>
        </p:nvSpPr>
        <p:spPr>
          <a:xfrm>
            <a:off x="739695" y="5170816"/>
            <a:ext cx="1995489" cy="1229983"/>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NEXT UP IN 2027</a:t>
            </a:r>
          </a:p>
          <a:p>
            <a:pPr>
              <a:lnSpc>
                <a:spcPct val="110000"/>
              </a:lnSpc>
              <a:spcAft>
                <a:spcPts val="600"/>
              </a:spcAft>
              <a:defRPr/>
            </a:pPr>
            <a:r>
              <a:rPr kumimoji="0" lang="en-US" sz="900" i="0" u="none" strike="noStrike" kern="0" cap="none" spc="0" normalizeH="0" baseline="0" noProof="0">
                <a:ln>
                  <a:noFill/>
                </a:ln>
                <a:solidFill>
                  <a:srgbClr val="000000"/>
                </a:solidFill>
                <a:effectLst/>
                <a:uLnTx/>
                <a:uFillTx/>
              </a:rPr>
              <a:t>Build on the B2B foundation to scale market activation, generate measurable pipeline, and expand the opportunity across clients, partners, and the broader business.</a:t>
            </a:r>
          </a:p>
        </p:txBody>
      </p:sp>
      <p:sp>
        <p:nvSpPr>
          <p:cNvPr id="18" name="Rounded Rectangle 17">
            <a:extLst>
              <a:ext uri="{FF2B5EF4-FFF2-40B4-BE49-F238E27FC236}">
                <a16:creationId xmlns:a16="http://schemas.microsoft.com/office/drawing/2014/main" id="{D8DA7062-449A-53CB-3E83-5E69D3717C4B}"/>
              </a:ext>
            </a:extLst>
          </p:cNvPr>
          <p:cNvSpPr/>
          <p:nvPr/>
        </p:nvSpPr>
        <p:spPr>
          <a:xfrm>
            <a:off x="3479040" y="5512036"/>
            <a:ext cx="5149653" cy="998491"/>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91440" tIns="45720" rIns="91440" bIns="45720" rtlCol="0" anchor="t">
            <a:noAutofit/>
          </a:bodyPr>
          <a:lstStyle/>
          <a:p>
            <a:pPr>
              <a:spcAft>
                <a:spcPts val="600"/>
              </a:spcAft>
            </a:pPr>
            <a:r>
              <a:rPr lang="en-US" sz="1000" b="1"/>
              <a:t>NEXT MILESTONE</a:t>
            </a:r>
          </a:p>
          <a:p>
            <a:pPr>
              <a:spcAft>
                <a:spcPts val="600"/>
              </a:spcAft>
            </a:pPr>
            <a:r>
              <a:rPr lang="en-US" sz="1000"/>
              <a:t>By the next session, we will have aligned the DDM and DBT growth motions, clarified the leadership and resource requirements, and brought them together into an integrated B2B narrative ready for leadership review.</a:t>
            </a:r>
          </a:p>
        </p:txBody>
      </p:sp>
      <p:sp>
        <p:nvSpPr>
          <p:cNvPr id="19" name="Rounded Rectangle 18">
            <a:extLst>
              <a:ext uri="{FF2B5EF4-FFF2-40B4-BE49-F238E27FC236}">
                <a16:creationId xmlns:a16="http://schemas.microsoft.com/office/drawing/2014/main" id="{08B527C3-4CE5-F094-2E33-EA69C64DC059}"/>
              </a:ext>
            </a:extLst>
          </p:cNvPr>
          <p:cNvSpPr/>
          <p:nvPr/>
        </p:nvSpPr>
        <p:spPr>
          <a:xfrm>
            <a:off x="10718000" y="120000"/>
            <a:ext cx="1150000" cy="290000"/>
          </a:xfrm>
          <a:prstGeom prst="roundRect">
            <a:avLst>
              <a:gd name="adj" fmla="val 50000"/>
            </a:avLst>
          </a:prstGeom>
          <a:solidFill>
            <a:srgbClr val="DD3038"/>
          </a:solidFill>
          <a:ln>
            <a:noFill/>
          </a:ln>
        </p:spPr>
        <p:txBody>
          <a:bodyPr rtlCol="0" anchor="ctr" lIns="0" tIns="0" rIns="0" bIns="0">
            <a:noAutofit/>
          </a:bodyPr>
          <a:lstStyle/>
          <a:p>
            <a:pPr algn="ctr"/>
            <a:r>
              <a:rPr lang="en-US" sz="900" b="1">
                <a:solidFill>
                  <a:srgbClr val="FFFFFF"/>
                </a:solidFill>
              </a:rPr>
              <a:t>EXAMPLE</a:t>
            </a:r>
          </a:p>
        </p:txBody>
      </p:sp>
    </p:spTree>
    <p:extLst>
      <p:ext uri="{BB962C8B-B14F-4D97-AF65-F5344CB8AC3E}">
        <p14:creationId xmlns:p14="http://schemas.microsoft.com/office/powerpoint/2010/main" val="2452425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750000"/>
          </a:xfrm>
          <a:prstGeom prst="rect">
            <a:avLst/>
          </a:prstGeom>
        </p:spPr>
      </p:pic>
      <p:sp>
        <p:nvSpPr>
          <p:cNvPr id="508" name="Rectangle 507"/>
          <p:cNvSpPr/>
          <p:nvPr/>
        </p:nvSpPr>
        <p:spPr>
          <a:xfrm>
            <a:off x="0" y="0"/>
            <a:ext cx="12192000" cy="1750000"/>
          </a:xfrm>
          <a:prstGeom prst="rect">
            <a:avLst/>
          </a:prstGeom>
          <a:gradFill rotWithShape="1">
            <a:gsLst>
              <a:gs pos="0">
                <a:srgbClr val="000000">
                  <a:alpha val="90000"/>
                </a:srgbClr>
              </a:gs>
              <a:gs pos="50000">
                <a:srgbClr val="000000">
                  <a:alpha val="70000"/>
                </a:srgbClr>
              </a:gs>
              <a:gs pos="100000">
                <a:srgbClr val="000000">
                  <a:alpha val="5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750000"/>
          </a:xfrm>
          <a:prstGeom prst="rect">
            <a:avLst/>
          </a:prstGeom>
        </p:spPr>
      </p:pic>
      <p:sp>
        <p:nvSpPr>
          <p:cNvPr id="518" name="Rectangle 517"/>
          <p:cNvSpPr/>
          <p:nvPr/>
        </p:nvSpPr>
        <p:spPr>
          <a:xfrm>
            <a:off x="0" y="0"/>
            <a:ext cx="12192000" cy="1750000"/>
          </a:xfrm>
          <a:prstGeom prst="rect">
            <a:avLst/>
          </a:prstGeom>
          <a:gradFill rotWithShape="1">
            <a:gsLst>
              <a:gs pos="0">
                <a:srgbClr val="000000">
                  <a:alpha val="78000"/>
                </a:srgbClr>
              </a:gs>
              <a:gs pos="50000">
                <a:srgbClr val="000000">
                  <a:alpha val="42000"/>
                </a:srgbClr>
              </a:gs>
              <a:gs pos="100000">
                <a:srgbClr val="000000">
                  <a:alpha val="8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750000"/>
          </a:xfrm>
          <a:prstGeom prst="rect">
            <a:avLst/>
          </a:prstGeom>
        </p:spPr>
      </p:pic>
      <p:sp>
        <p:nvSpPr>
          <p:cNvPr id="528" name="Rectangle 527"/>
          <p:cNvSpPr/>
          <p:nvPr/>
        </p:nvSpPr>
        <p:spPr>
          <a:xfrm>
            <a:off x="0" y="0"/>
            <a:ext cx="12192000" cy="1750000"/>
          </a:xfrm>
          <a:prstGeom prst="rect">
            <a:avLst/>
          </a:prstGeom>
          <a:gradFill rotWithShape="1">
            <a:gsLst>
              <a:gs pos="0">
                <a:srgbClr val="000000">
                  <a:alpha val="80000"/>
                </a:srgbClr>
              </a:gs>
              <a:gs pos="50000">
                <a:srgbClr val="000000">
                  <a:alpha val="48000"/>
                </a:srgbClr>
              </a:gs>
              <a:gs pos="100000">
                <a:srgbClr val="000000">
                  <a:alpha val="2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90000" rIns="190000" bIns="9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5" name="TextBox 4"/>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6" name="TextBox 5"/>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5" name="TextBox 4"/>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6" name="TextBox 5"/>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