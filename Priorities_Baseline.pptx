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4051" r:id="rId16"/>
  </p:sldMasterIdLst>
  <p:notesMasterIdLst>
    <p:notesMasterId r:id="rId25"/>
  </p:notesMasterIdLst>
  <p:handoutMasterIdLst>
    <p:handoutMasterId r:id="rId26"/>
  </p:handoutMasterIdLst>
  <p:sldIdLst>
    <p:sldId id="256" r:id="rId18"/>
    <p:sldId id="262" r:id="rId38"/>
    <p:sldId id="2147483647" r:id="rId19"/>
    <p:sldId id="265" r:id="rId17"/>
    <p:sldId id="266" r:id="rId41"/>
    <p:sldId id="267" r:id="rId42"/>
    <p:sldId id="268" r:id="rId43"/>
    <p:sldId id="269" r:id="rId44"/>
    <p:sldId id="270" r:id="rId45"/>
    <p:sldId id="257" r:id="rId20"/>
    <p:sldId id="263" r:id="rId39"/>
    <p:sldId id="258" r:id="rId21"/>
    <p:sldId id="271" r:id="rId46"/>
    <p:sldId id="259" r:id="rId22"/>
    <p:sldId id="272" r:id="rId47"/>
    <p:sldId id="273" r:id="rId48"/>
    <p:sldId id="274" r:id="rId49"/>
    <p:sldId id="275" r:id="rId50"/>
    <p:sldId id="276" r:id="rId51"/>
    <p:sldId id="277" r:id="rId52"/>
    <p:sldId id="278" r:id="rId53"/>
    <p:sldId id="279" r:id="rId54"/>
    <p:sldId id="280" r:id="rId55"/>
    <p:sldId id="264" r:id="rId40"/>
    <p:sldId id="260" r:id="rId23"/>
    <p:sldId id="281" r:id="rId56"/>
    <p:sldId id="261" r:id="rId24"/>
    <p:sldId id="282" r:id="rId57"/>
    <p:sldId id="283" r:id="rId58"/>
    <p:sldId id="284" r:id="rId59"/>
    <p:sldId id="285" r:id="rId60"/>
  </p:sldIdLst>
  <p:sldSz cx="12192000" cy="6858000"/>
  <p:notesSz cx="6858000" cy="9144000"/>
  <p:embeddedFontLst>
    <p:embeddedFont>
      <p:font typeface="Proxima Nova" panose="020B0604020202020204" charset="0"/>
      <p:regular r:id="rId27"/>
      <p:bold r:id="rId28"/>
      <p:italic r:id="rId29"/>
      <p:boldItalic r:id="rId30"/>
    </p:embeddedFont>
  </p:embeddedFont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BCC460F-03F9-4149-9072-5AAB42086FA4}">
          <p14:sldIdLst>
            <p14:sldId id="256"/>
            <p14:sldId id="265"/>
          </p14:sldIdLst>
        </p14:section>
        <p14:section name="Deal to Delivery" id="{7478C7A6-E225-4B29-AF56-AF00598241E8}">
          <p14:sldIdLst>
            <p14:sldId id="2147483647"/>
            <p14:sldId id="257"/>
          </p14:sldIdLst>
        </p14:section>
        <p14:section name="Accountability Framework" id="{85FAACF2-C17B-496F-BC74-01D34320B823}">
          <p14:sldIdLst>
            <p14:sldId id="258"/>
            <p14:sldId id="259"/>
          </p14:sldIdLst>
        </p14:section>
        <p14:section name="Intake Updates" id="{E3DA7D8E-CA10-4E59-91F0-08D4610CE2E0}">
          <p14:sldIdLst>
            <p14:sldId id="260"/>
            <p14:sldId id="261"/>
          </p14:sldIdLst>
        </p14:section>
      </p14:sectionLst>
    </p:ex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747621-DF21-E75D-272F-6101C8F4D26F}" name="Rachel Harris" initials="RH" userId="S::R.Harris@merkle.com::fd5e8be9-ea2d-44ac-89b2-fdcd1d7c9102" providerId="AD"/>
  <p188:author id="{C2FCB735-5E4C-A9FE-A872-A0258D11E5D4}" name="Holden Bale" initials="HB" userId="S::Holden.Bale@merkle.com::c531b602-7654-40f4-8096-c3b7319cdf73" providerId="AD"/>
  <p188:author id="{6FAE4E42-A874-6C13-C1EF-F4D00034504C}" name="Chris McComas" initials="" userId="S::Chris.Mccomas@merkle.com::16a72942-0ecc-4af7-bdde-ff5438467eb4" providerId="AD"/>
  <p188:author id="{FDF5CC56-2E9D-6701-2B66-B63BAD1226DC}" name="Nicole Burguess" initials="NB" userId="S::Nicole.Burguess@merkle.com::1cb68f33-9216-4f37-aa21-b4650492fee1" providerId="AD"/>
  <p188:author id="{B8CF925A-9758-CB93-1D56-91092841DBFD}" name="Katherine Jones-Siemsen" initials="" userId="S::katherine.jonessiemsen@merkle.com::2e03eed6-ab36-40d0-88d8-2eb79c21f938" providerId="AD"/>
  <p188:author id="{6F87CDA6-2197-6957-A82D-B99877A517CC}" name="Holden Bale" initials="HB" userId="S::holden.bale@merkle.com::c531b602-7654-40f4-8096-c3b7319cdf73" providerId="AD"/>
  <p188:author id="{C39E03AD-66D9-CA27-DD7C-2114E44178B7}" name="Jennifer Coldiron" initials="JC" userId="S::Jennifer.Coldiron@merkle.com::a9aace83-3ff4-45f8-bd1f-b56969b3e51b" providerId="AD"/>
  <p188:author id="{122260B3-363F-4BA9-1955-1753C83BDB0E}" name="Kimberly Fisher" initials="" userId="S::Kimberly.Fisher@merkle.com::864d6e37-e64e-4f7d-a773-1af01d32820d" providerId="AD"/>
  <p188:author id="{04C65DB6-AFE0-C4BD-2CBC-20D0C6BC346E}" name="Vidhyarthi S" initials="VS" userId="S::vidhyarthi.s@merkle.com::563c65e5-d65f-4677-8aa6-57dd42c4d1a2" providerId="AD"/>
  <p188:author id="{CDA5F6B7-096B-F1CD-A4EB-A35ED3727E48}" name="Mel Ketchandji" initials="MK" userId="S::mel.ketchandji@merklecxm.com::459acf37-907c-4efe-938f-7a04993a3eaa" providerId="AD"/>
  <p188:author id="{77F729CC-204E-C5D0-D138-1054A84541DB}" name="Lindsey Murray" initials="LM" userId="S::lindsey.murray@merkle.com::468cb5d1-f0a4-48b8-82ad-957063689cb0" providerId="AD"/>
  <p188:author id="{8756E1CE-2660-3E17-9BB9-D517D62C312E}" name="Jennifer Coldiron" initials="JC" userId="S::jennifer.coldiron@merklecxm.com::a9aace83-3ff4-45f8-bd1f-b56969b3e51b" providerId="AD"/>
  <p188:author id="{914E52CF-953F-DF0A-99AA-72DEFC5A8773}" name="Lindsey Murray" initials="LM" userId="S::Lindsey.Murray@merkle.com::468cb5d1-f0a4-48b8-82ad-957063689cb0" providerId="AD"/>
  <p188:author id="{39ADA3E5-C12F-1243-3E69-4F8CACF4E46B}" name="Mel Ketchandji" initials="MK" userId="S::mel.ketchandji@merkle.com::459acf37-907c-4efe-938f-7a04993a3eaa" providerId="AD"/>
  <p188:author id="{320550F2-799F-B69D-8074-CCDD2CCEA80D}" name="Charles van Caloen" initials="Cv" userId="S::Charles.Vancaloen@b2binternational.com::7c6a4315-c604-4c95-8801-aa30c01cc1f5" providerId="AD"/>
  <p188:author id="{B62FECFA-3509-759D-112F-870FECCF081A}" name="Kaylie Beckley" initials="" userId="S::Kaylie.Beckley@merkle.com::58827693-7ffd-4b5a-afc7-e5b001f0132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arit Reuble" initials="GR" lastIdx="8" clrIdx="0">
    <p:extLst>
      <p:ext uri="{19B8F6BF-5375-455C-9EA6-DF929625EA0E}">
        <p15:presenceInfo xmlns:p15="http://schemas.microsoft.com/office/powerpoint/2012/main" userId="S::greuble@merkleinc.com::1cd1ef0a-6f3d-44d2-b08b-13eb711dda2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388"/>
    <a:srgbClr val="DD3039"/>
    <a:srgbClr val="0328D1"/>
    <a:srgbClr val="031FA3"/>
    <a:srgbClr val="0391F2"/>
    <a:srgbClr val="D5D5DF"/>
    <a:srgbClr val="030E49"/>
    <a:srgbClr val="0291F0"/>
    <a:srgbClr val="8888A1"/>
    <a:srgbClr val="00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AE531D-B492-44EB-8453-F64CDCF25BDF}" v="1" dt="2026-10-20T13:02:33.506"/>
    <p1510:client id="{E54C87B7-05CD-4AE2-8B3E-00FBDEE6507A}" v="5" dt="2026-10-20T22:02:08.6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105" d="100"/>
          <a:sy n="105" d="100"/>
        </p:scale>
        <p:origin x="642" y="96"/>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slideMaster" Target="slideMasters/slideMaster1.xml"/><Relationship Id="rId17" Type="http://schemas.openxmlformats.org/officeDocument/2006/relationships/slide" Target="slides/slide11.xml"/><Relationship Id="rId18" Type="http://schemas.openxmlformats.org/officeDocument/2006/relationships/slide" Target="slides/slide10.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commentAuthors" Target="commentAuthors.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5/10/relationships/revisionInfo" Target="revisionInfo.xml"/><Relationship Id="rId37" Type="http://schemas.microsoft.com/office/2018/10/relationships/authors" Target="authors.xml"/><Relationship Id="rId38" Type="http://schemas.openxmlformats.org/officeDocument/2006/relationships/slide" Target="slides/slide1.xml"/><Relationship Id="rId39" Type="http://schemas.openxmlformats.org/officeDocument/2006/relationships/slide" Target="slides/slide4.xml"/><Relationship Id="rId40" Type="http://schemas.openxmlformats.org/officeDocument/2006/relationships/slide" Target="slides/slide7.xml"/><Relationship Id="rId41" Type="http://schemas.openxmlformats.org/officeDocument/2006/relationships/slide" Target="slides/slide12.xml"/><Relationship Id="rId42" Type="http://schemas.openxmlformats.org/officeDocument/2006/relationships/slide" Target="slides/slide13.xml"/><Relationship Id="rId43" Type="http://schemas.openxmlformats.org/officeDocument/2006/relationships/slide" Target="slides/slide14.xml"/><Relationship Id="rId44" Type="http://schemas.openxmlformats.org/officeDocument/2006/relationships/slide" Target="slides/slide15.xml"/><Relationship Id="rId45" Type="http://schemas.openxmlformats.org/officeDocument/2006/relationships/slide" Target="slides/slide16.xml"/><Relationship Id="rId46" Type="http://schemas.openxmlformats.org/officeDocument/2006/relationships/slide" Target="slides/slide17.xml"/><Relationship Id="rId47" Type="http://schemas.openxmlformats.org/officeDocument/2006/relationships/slide" Target="slides/slide18.xml"/><Relationship Id="rId48" Type="http://schemas.openxmlformats.org/officeDocument/2006/relationships/slide" Target="slides/slide19.xml"/><Relationship Id="rId49" Type="http://schemas.openxmlformats.org/officeDocument/2006/relationships/slide" Target="slides/slide20.xml"/><Relationship Id="rId50" Type="http://schemas.openxmlformats.org/officeDocument/2006/relationships/slide" Target="slides/slide21.xml"/><Relationship Id="rId51" Type="http://schemas.openxmlformats.org/officeDocument/2006/relationships/slide" Target="slides/slide22.xml"/><Relationship Id="rId52" Type="http://schemas.openxmlformats.org/officeDocument/2006/relationships/slide" Target="slides/slide23.xml"/><Relationship Id="rId53" Type="http://schemas.openxmlformats.org/officeDocument/2006/relationships/slide" Target="slides/slide24.xml"/><Relationship Id="rId54" Type="http://schemas.openxmlformats.org/officeDocument/2006/relationships/slide" Target="slides/slide25.xml"/><Relationship Id="rId55" Type="http://schemas.openxmlformats.org/officeDocument/2006/relationships/slide" Target="slides/slide26.xml"/><Relationship Id="rId56" Type="http://schemas.openxmlformats.org/officeDocument/2006/relationships/slide" Target="slides/slide27.xml"/><Relationship Id="rId57" Type="http://schemas.openxmlformats.org/officeDocument/2006/relationships/slide" Target="slides/slide28.xml"/><Relationship Id="rId58" Type="http://schemas.openxmlformats.org/officeDocument/2006/relationships/slide" Target="slides/slide29.xml"/><Relationship Id="rId59" Type="http://schemas.openxmlformats.org/officeDocument/2006/relationships/slide" Target="slides/slide30.xml"/><Relationship Id="rId60"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B731AF-AEA3-CC40-BFAA-5CC9758FC0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72820B76-C951-C08D-9CC0-1DF4B94DE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AA7B20D-4B9A-0B23-7398-D557F3709F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97AEEF-324F-474E-80D9-450D94E3AE5B}" type="slidenum">
              <a:rPr lang="en-US" smtClean="0"/>
              <a:t>‹#›</a:t>
            </a:fld>
            <a:endParaRPr lang="en-US"/>
          </a:p>
        </p:txBody>
      </p:sp>
    </p:spTree>
    <p:extLst>
      <p:ext uri="{BB962C8B-B14F-4D97-AF65-F5344CB8AC3E}">
        <p14:creationId xmlns:p14="http://schemas.microsoft.com/office/powerpoint/2010/main" val="676158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584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7BBA5-D956-F4B4-0381-04F1E812A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FF591-4CE3-01CB-8BE5-353A8D86E584}"/>
              </a:ext>
            </a:extLst>
          </p:cNvPr>
          <p:cNvSpPr>
            <a:spLocks noGrp="1"/>
          </p:cNvSpPr>
          <p:nvPr>
            <p:ph type="body" idx="1"/>
          </p:nvPr>
        </p:nvSpPr>
        <p:spPr/>
        <p:txBody>
          <a:bodyPr/>
          <a:lstStyle/>
          <a:p>
            <a:r>
              <a:t>⚠️ DESIGNER REVIEW: Custom layout — verify fit and spacing.</a:t>
            </a:r>
          </a:p>
        </p:txBody>
      </p:sp>
      <p:sp>
        <p:nvSpPr>
          <p:cNvPr id="4" name="Slide Number Placeholder 3">
            <a:extLst>
              <a:ext uri="{FF2B5EF4-FFF2-40B4-BE49-F238E27FC236}">
                <a16:creationId xmlns:a16="http://schemas.microsoft.com/office/drawing/2014/main" id="{8362C86D-1C51-9D76-B42A-C8A8407F6451}"/>
              </a:ext>
            </a:extLst>
          </p:cNvPr>
          <p:cNvSpPr>
            <a:spLocks noGrp="1"/>
          </p:cNvSpPr>
          <p:nvPr>
            <p:ph type="sldNum" sz="quarter" idx="5"/>
          </p:nvPr>
        </p:nvSpPr>
        <p:spPr/>
        <p:txBody>
          <a:bodyPr/>
          <a:lstStyle/>
          <a:p>
            <a:fld id="{03EE849C-6102-D246-BF12-24C9BCB378FE}"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sv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EAC907-F59B-B9B6-95C0-82330A9781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22" name="Text Placeholder 12">
            <a:extLst>
              <a:ext uri="{FF2B5EF4-FFF2-40B4-BE49-F238E27FC236}">
                <a16:creationId xmlns:a16="http://schemas.microsoft.com/office/drawing/2014/main" id="{1113FBD2-393A-2E4A-A8AB-45F368B8C6B4}"/>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grpSp>
        <p:nvGrpSpPr>
          <p:cNvPr id="9" name="Group 8">
            <a:extLst>
              <a:ext uri="{FF2B5EF4-FFF2-40B4-BE49-F238E27FC236}">
                <a16:creationId xmlns:a16="http://schemas.microsoft.com/office/drawing/2014/main" id="{3D55557A-4A15-1400-45F4-6C5658F1FFF5}"/>
              </a:ext>
            </a:extLst>
          </p:cNvPr>
          <p:cNvGrpSpPr/>
          <p:nvPr userDrawn="1"/>
        </p:nvGrpSpPr>
        <p:grpSpPr>
          <a:xfrm>
            <a:off x="896112" y="6351752"/>
            <a:ext cx="1405514" cy="174291"/>
            <a:chOff x="419100" y="6294132"/>
            <a:chExt cx="1400350" cy="173651"/>
          </a:xfrm>
        </p:grpSpPr>
        <p:pic>
          <p:nvPicPr>
            <p:cNvPr id="10" name="Graphic 9">
              <a:extLst>
                <a:ext uri="{FF2B5EF4-FFF2-40B4-BE49-F238E27FC236}">
                  <a16:creationId xmlns:a16="http://schemas.microsoft.com/office/drawing/2014/main" id="{F332794B-3426-A6FF-7904-E2CD96FA2D0A}"/>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1" name="Graphic 10">
              <a:extLst>
                <a:ext uri="{FF2B5EF4-FFF2-40B4-BE49-F238E27FC236}">
                  <a16:creationId xmlns:a16="http://schemas.microsoft.com/office/drawing/2014/main" id="{40CCC968-732A-C119-AB2B-8E4ECB9631BE}"/>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4274529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4B3C1D-068A-7379-ABBE-192981F59C35}"/>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7" name="Picture 6" descr="A close up of a blue and black diamond&#10;&#10;AI-generated content may be incorrect.">
            <a:extLst>
              <a:ext uri="{FF2B5EF4-FFF2-40B4-BE49-F238E27FC236}">
                <a16:creationId xmlns:a16="http://schemas.microsoft.com/office/drawing/2014/main" id="{506969F5-ADEC-B44E-47F5-1066D3C379C3}"/>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latin typeface="+mn-lt"/>
              </a:defRPr>
            </a:lvl1pPr>
          </a:lstStyle>
          <a:p>
            <a:pPr lvl="0"/>
            <a:r>
              <a:rPr lang="en-US"/>
              <a:t>MONTH 00, 2026</a:t>
            </a:r>
          </a:p>
        </p:txBody>
      </p:sp>
      <p:sp>
        <p:nvSpPr>
          <p:cNvPr id="3" name="Title 1">
            <a:extLst>
              <a:ext uri="{FF2B5EF4-FFF2-40B4-BE49-F238E27FC236}">
                <a16:creationId xmlns:a16="http://schemas.microsoft.com/office/drawing/2014/main" id="{14B74312-9F4F-6B46-8C12-AD998C1F3FD7}"/>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93CE22AD-41AE-BB99-8CE6-6E3E848661B1}"/>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3EBF09FC-180F-E29A-7A91-1C442C3EC016}"/>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D236A869-04E1-3878-AD99-89339143F0D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125594D8-D3CE-ECC4-A0B1-D8D532BF3801}"/>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94852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125187-8ABF-297F-4A0C-0C776D86858E}"/>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4" name="Picture 3" descr="A close up of a crystal&#10;&#10;Description automatically generated">
            <a:extLst>
              <a:ext uri="{FF2B5EF4-FFF2-40B4-BE49-F238E27FC236}">
                <a16:creationId xmlns:a16="http://schemas.microsoft.com/office/drawing/2014/main" id="{2410A003-B644-4A74-49AF-2FBF7573BAA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4"/>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A4009EE5-8318-57AF-CAFA-3F10883CC16B}"/>
              </a:ext>
            </a:extLst>
          </p:cNvPr>
          <p:cNvSpPr>
            <a:spLocks noGrp="1"/>
          </p:cNvSpPr>
          <p:nvPr>
            <p:ph type="title" hasCustomPrompt="1"/>
          </p:nvPr>
        </p:nvSpPr>
        <p:spPr>
          <a:xfrm>
            <a:off x="915725" y="557783"/>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AEAD708F-F6C6-EE02-0A4A-660B5732235F}"/>
              </a:ext>
            </a:extLst>
          </p:cNvPr>
          <p:cNvSpPr>
            <a:spLocks noGrp="1"/>
          </p:cNvSpPr>
          <p:nvPr>
            <p:ph type="body" sz="quarter" idx="10" hasCustomPrompt="1"/>
          </p:nvPr>
        </p:nvSpPr>
        <p:spPr>
          <a:xfrm>
            <a:off x="915725" y="3483864"/>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E28ECA3B-CFD3-A2E6-5A2D-0128B6634369}"/>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B80F0CB-B009-C3E2-543B-146A6093453F}"/>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DDD7CB60-82BC-BB4C-BC2B-41911FF1A57D}"/>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31611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9B2BC9-DE54-0166-1F24-4CBB8C07C86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background&#10;&#10;Description automatically generated">
            <a:extLst>
              <a:ext uri="{FF2B5EF4-FFF2-40B4-BE49-F238E27FC236}">
                <a16:creationId xmlns:a16="http://schemas.microsoft.com/office/drawing/2014/main" id="{6DCF780F-80F9-51BE-CE81-C818AF10AEF2}"/>
              </a:ext>
            </a:extLst>
          </p:cNvPr>
          <p:cNvPicPr>
            <a:picLocks noChangeAspect="1"/>
          </p:cNvPicPr>
          <p:nvPr userDrawn="1"/>
        </p:nvPicPr>
        <p:blipFill>
          <a:blip r:embed="rId2"/>
          <a:srcRect t="15344" b="9160"/>
          <a:stretch/>
        </p:blipFill>
        <p:spPr>
          <a:xfrm rot="10800000">
            <a:off x="0" y="1680518"/>
            <a:ext cx="12192000" cy="5177481"/>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5F3753E-AAD3-BFAA-F724-9A60053E238F}"/>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5E88FC64-C2BF-6FC5-A172-441256DE6C5B}"/>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C00A2EAE-7222-9761-9418-3316BA63F198}"/>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972A630-63EB-CB8B-B0D5-79C14C540D6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98938FEE-80EE-7939-D67A-27E928B8CAB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28825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Page - Full Bleed Imag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99A5A2F-20B5-F28C-3CE4-6A12E0409F51}"/>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76E0F0CC-0C1B-E198-1E0B-76050D1E1C39}"/>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3A9F6F69-5AFC-56BA-0C17-E81E467AA49C}"/>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
        <p:nvSpPr>
          <p:cNvPr id="2" name="Picture Placeholder 1">
            <a:extLst>
              <a:ext uri="{FF2B5EF4-FFF2-40B4-BE49-F238E27FC236}">
                <a16:creationId xmlns:a16="http://schemas.microsoft.com/office/drawing/2014/main" id="{ADA0AC2B-DA1A-6CF5-8E52-82921CC8C9AB}"/>
              </a:ext>
            </a:extLst>
          </p:cNvPr>
          <p:cNvSpPr>
            <a:spLocks noGrp="1"/>
          </p:cNvSpPr>
          <p:nvPr>
            <p:ph type="pic" sz="quarter" idx="12" hasCustomPrompt="1"/>
          </p:nvPr>
        </p:nvSpPr>
        <p:spPr>
          <a:xfrm>
            <a:off x="0" y="1"/>
            <a:ext cx="12191998" cy="6858003"/>
          </a:xfrm>
          <a:custGeom>
            <a:avLst/>
            <a:gdLst>
              <a:gd name="connsiteX0" fmla="*/ 897269 w 12191998"/>
              <a:gd name="connsiteY0" fmla="*/ 6431624 h 6858003"/>
              <a:gd name="connsiteX1" fmla="*/ 993331 w 12191998"/>
              <a:gd name="connsiteY1" fmla="*/ 6528588 h 6858003"/>
              <a:gd name="connsiteX2" fmla="*/ 993331 w 12191998"/>
              <a:gd name="connsiteY2" fmla="*/ 6431624 h 6858003"/>
              <a:gd name="connsiteX3" fmla="*/ 1516925 w 12191998"/>
              <a:gd name="connsiteY3" fmla="*/ 6389274 h 6858003"/>
              <a:gd name="connsiteX4" fmla="*/ 1596273 w 12191998"/>
              <a:gd name="connsiteY4" fmla="*/ 6389274 h 6858003"/>
              <a:gd name="connsiteX5" fmla="*/ 1612525 w 12191998"/>
              <a:gd name="connsiteY5" fmla="*/ 6393128 h 6858003"/>
              <a:gd name="connsiteX6" fmla="*/ 1617305 w 12191998"/>
              <a:gd name="connsiteY6" fmla="*/ 6404690 h 6858003"/>
              <a:gd name="connsiteX7" fmla="*/ 1612525 w 12191998"/>
              <a:gd name="connsiteY7" fmla="*/ 6417214 h 6858003"/>
              <a:gd name="connsiteX8" fmla="*/ 1596273 w 12191998"/>
              <a:gd name="connsiteY8" fmla="*/ 6421550 h 6858003"/>
              <a:gd name="connsiteX9" fmla="*/ 1516925 w 12191998"/>
              <a:gd name="connsiteY9" fmla="*/ 6421550 h 6858003"/>
              <a:gd name="connsiteX10" fmla="*/ 1715460 w 12191998"/>
              <a:gd name="connsiteY10" fmla="*/ 6353146 h 6858003"/>
              <a:gd name="connsiteX11" fmla="*/ 1715460 w 12191998"/>
              <a:gd name="connsiteY11" fmla="*/ 6528495 h 6858003"/>
              <a:gd name="connsiteX12" fmla="*/ 1752796 w 12191998"/>
              <a:gd name="connsiteY12" fmla="*/ 6528495 h 6858003"/>
              <a:gd name="connsiteX13" fmla="*/ 1752796 w 12191998"/>
              <a:gd name="connsiteY13" fmla="*/ 6463461 h 6858003"/>
              <a:gd name="connsiteX14" fmla="*/ 1779122 w 12191998"/>
              <a:gd name="connsiteY14" fmla="*/ 6440820 h 6858003"/>
              <a:gd name="connsiteX15" fmla="*/ 1843741 w 12191998"/>
              <a:gd name="connsiteY15" fmla="*/ 6528495 h 6858003"/>
              <a:gd name="connsiteX16" fmla="*/ 1887299 w 12191998"/>
              <a:gd name="connsiteY16" fmla="*/ 6528495 h 6858003"/>
              <a:gd name="connsiteX17" fmla="*/ 1805928 w 12191998"/>
              <a:gd name="connsiteY17" fmla="*/ 6417697 h 6858003"/>
              <a:gd name="connsiteX18" fmla="*/ 1881555 w 12191998"/>
              <a:gd name="connsiteY18" fmla="*/ 6353146 h 6858003"/>
              <a:gd name="connsiteX19" fmla="*/ 1829860 w 12191998"/>
              <a:gd name="connsiteY19" fmla="*/ 6353146 h 6858003"/>
              <a:gd name="connsiteX20" fmla="*/ 1752796 w 12191998"/>
              <a:gd name="connsiteY20" fmla="*/ 6418661 h 6858003"/>
              <a:gd name="connsiteX21" fmla="*/ 1752796 w 12191998"/>
              <a:gd name="connsiteY21" fmla="*/ 6353146 h 6858003"/>
              <a:gd name="connsiteX22" fmla="*/ 1480119 w 12191998"/>
              <a:gd name="connsiteY22" fmla="*/ 6353146 h 6858003"/>
              <a:gd name="connsiteX23" fmla="*/ 1480119 w 12191998"/>
              <a:gd name="connsiteY23" fmla="*/ 6528495 h 6858003"/>
              <a:gd name="connsiteX24" fmla="*/ 1516925 w 12191998"/>
              <a:gd name="connsiteY24" fmla="*/ 6528495 h 6858003"/>
              <a:gd name="connsiteX25" fmla="*/ 1516925 w 12191998"/>
              <a:gd name="connsiteY25" fmla="*/ 6456716 h 6858003"/>
              <a:gd name="connsiteX26" fmla="*/ 1577631 w 12191998"/>
              <a:gd name="connsiteY26" fmla="*/ 6456716 h 6858003"/>
              <a:gd name="connsiteX27" fmla="*/ 1623519 w 12191998"/>
              <a:gd name="connsiteY27" fmla="*/ 6528495 h 6858003"/>
              <a:gd name="connsiteX28" fmla="*/ 1665104 w 12191998"/>
              <a:gd name="connsiteY28" fmla="*/ 6528495 h 6858003"/>
              <a:gd name="connsiteX29" fmla="*/ 1619217 w 12191998"/>
              <a:gd name="connsiteY29" fmla="*/ 6454790 h 6858003"/>
              <a:gd name="connsiteX30" fmla="*/ 1645507 w 12191998"/>
              <a:gd name="connsiteY30" fmla="*/ 6435521 h 6858003"/>
              <a:gd name="connsiteX31" fmla="*/ 1655067 w 12191998"/>
              <a:gd name="connsiteY31" fmla="*/ 6404691 h 6858003"/>
              <a:gd name="connsiteX32" fmla="*/ 1637859 w 12191998"/>
              <a:gd name="connsiteY32" fmla="*/ 6365671 h 6858003"/>
              <a:gd name="connsiteX33" fmla="*/ 1596751 w 12191998"/>
              <a:gd name="connsiteY33" fmla="*/ 6353146 h 6858003"/>
              <a:gd name="connsiteX34" fmla="*/ 2127612 w 12191998"/>
              <a:gd name="connsiteY34" fmla="*/ 6352198 h 6858003"/>
              <a:gd name="connsiteX35" fmla="*/ 2127612 w 12191998"/>
              <a:gd name="connsiteY35" fmla="*/ 6528494 h 6858003"/>
              <a:gd name="connsiteX36" fmla="*/ 2297579 w 12191998"/>
              <a:gd name="connsiteY36" fmla="*/ 6528494 h 6858003"/>
              <a:gd name="connsiteX37" fmla="*/ 2297579 w 12191998"/>
              <a:gd name="connsiteY37" fmla="*/ 6493138 h 6858003"/>
              <a:gd name="connsiteX38" fmla="*/ 2164479 w 12191998"/>
              <a:gd name="connsiteY38" fmla="*/ 6493138 h 6858003"/>
              <a:gd name="connsiteX39" fmla="*/ 2164479 w 12191998"/>
              <a:gd name="connsiteY39" fmla="*/ 6452939 h 6858003"/>
              <a:gd name="connsiteX40" fmla="*/ 2246830 w 12191998"/>
              <a:gd name="connsiteY40" fmla="*/ 6452939 h 6858003"/>
              <a:gd name="connsiteX41" fmla="*/ 2246830 w 12191998"/>
              <a:gd name="connsiteY41" fmla="*/ 6417583 h 6858003"/>
              <a:gd name="connsiteX42" fmla="*/ 2164479 w 12191998"/>
              <a:gd name="connsiteY42" fmla="*/ 6417583 h 6858003"/>
              <a:gd name="connsiteX43" fmla="*/ 2164479 w 12191998"/>
              <a:gd name="connsiteY43" fmla="*/ 6388523 h 6858003"/>
              <a:gd name="connsiteX44" fmla="*/ 2290390 w 12191998"/>
              <a:gd name="connsiteY44" fmla="*/ 6388523 h 6858003"/>
              <a:gd name="connsiteX45" fmla="*/ 2290390 w 12191998"/>
              <a:gd name="connsiteY45" fmla="*/ 6352198 h 6858003"/>
              <a:gd name="connsiteX46" fmla="*/ 1930569 w 12191998"/>
              <a:gd name="connsiteY46" fmla="*/ 6352198 h 6858003"/>
              <a:gd name="connsiteX47" fmla="*/ 1930569 w 12191998"/>
              <a:gd name="connsiteY47" fmla="*/ 6528494 h 6858003"/>
              <a:gd name="connsiteX48" fmla="*/ 2087383 w 12191998"/>
              <a:gd name="connsiteY48" fmla="*/ 6528494 h 6858003"/>
              <a:gd name="connsiteX49" fmla="*/ 2087383 w 12191998"/>
              <a:gd name="connsiteY49" fmla="*/ 6493138 h 6858003"/>
              <a:gd name="connsiteX50" fmla="*/ 1967861 w 12191998"/>
              <a:gd name="connsiteY50" fmla="*/ 6493138 h 6858003"/>
              <a:gd name="connsiteX51" fmla="*/ 1967861 w 12191998"/>
              <a:gd name="connsiteY51" fmla="*/ 6352198 h 6858003"/>
              <a:gd name="connsiteX52" fmla="*/ 1265509 w 12191998"/>
              <a:gd name="connsiteY52" fmla="*/ 6352198 h 6858003"/>
              <a:gd name="connsiteX53" fmla="*/ 1265509 w 12191998"/>
              <a:gd name="connsiteY53" fmla="*/ 6528494 h 6858003"/>
              <a:gd name="connsiteX54" fmla="*/ 1435470 w 12191998"/>
              <a:gd name="connsiteY54" fmla="*/ 6528494 h 6858003"/>
              <a:gd name="connsiteX55" fmla="*/ 1435470 w 12191998"/>
              <a:gd name="connsiteY55" fmla="*/ 6493138 h 6858003"/>
              <a:gd name="connsiteX56" fmla="*/ 1302853 w 12191998"/>
              <a:gd name="connsiteY56" fmla="*/ 6493138 h 6858003"/>
              <a:gd name="connsiteX57" fmla="*/ 1302853 w 12191998"/>
              <a:gd name="connsiteY57" fmla="*/ 6452939 h 6858003"/>
              <a:gd name="connsiteX58" fmla="*/ 1385200 w 12191998"/>
              <a:gd name="connsiteY58" fmla="*/ 6452939 h 6858003"/>
              <a:gd name="connsiteX59" fmla="*/ 1385200 w 12191998"/>
              <a:gd name="connsiteY59" fmla="*/ 6417583 h 6858003"/>
              <a:gd name="connsiteX60" fmla="*/ 1302853 w 12191998"/>
              <a:gd name="connsiteY60" fmla="*/ 6417583 h 6858003"/>
              <a:gd name="connsiteX61" fmla="*/ 1302853 w 12191998"/>
              <a:gd name="connsiteY61" fmla="*/ 6388523 h 6858003"/>
              <a:gd name="connsiteX62" fmla="*/ 1428289 w 12191998"/>
              <a:gd name="connsiteY62" fmla="*/ 6388523 h 6858003"/>
              <a:gd name="connsiteX63" fmla="*/ 1428289 w 12191998"/>
              <a:gd name="connsiteY63" fmla="*/ 6352198 h 6858003"/>
              <a:gd name="connsiteX64" fmla="*/ 1030531 w 12191998"/>
              <a:gd name="connsiteY64" fmla="*/ 6352198 h 6858003"/>
              <a:gd name="connsiteX65" fmla="*/ 1030531 w 12191998"/>
              <a:gd name="connsiteY65" fmla="*/ 6529014 h 6858003"/>
              <a:gd name="connsiteX66" fmla="*/ 1067731 w 12191998"/>
              <a:gd name="connsiteY66" fmla="*/ 6529014 h 6858003"/>
              <a:gd name="connsiteX67" fmla="*/ 1067731 w 12191998"/>
              <a:gd name="connsiteY67" fmla="*/ 6423970 h 6858003"/>
              <a:gd name="connsiteX68" fmla="*/ 1123532 w 12191998"/>
              <a:gd name="connsiteY68" fmla="*/ 6480295 h 6858003"/>
              <a:gd name="connsiteX69" fmla="*/ 1179333 w 12191998"/>
              <a:gd name="connsiteY69" fmla="*/ 6423970 h 6858003"/>
              <a:gd name="connsiteX70" fmla="*/ 1179333 w 12191998"/>
              <a:gd name="connsiteY70" fmla="*/ 6529014 h 6858003"/>
              <a:gd name="connsiteX71" fmla="*/ 1216533 w 12191998"/>
              <a:gd name="connsiteY71" fmla="*/ 6529014 h 6858003"/>
              <a:gd name="connsiteX72" fmla="*/ 1216533 w 12191998"/>
              <a:gd name="connsiteY72" fmla="*/ 6352198 h 6858003"/>
              <a:gd name="connsiteX73" fmla="*/ 1196756 w 12191998"/>
              <a:gd name="connsiteY73" fmla="*/ 6352198 h 6858003"/>
              <a:gd name="connsiteX74" fmla="*/ 1124003 w 12191998"/>
              <a:gd name="connsiteY74" fmla="*/ 6426584 h 6858003"/>
              <a:gd name="connsiteX75" fmla="*/ 1050308 w 12191998"/>
              <a:gd name="connsiteY75" fmla="*/ 6352198 h 6858003"/>
              <a:gd name="connsiteX76" fmla="*/ 0 w 12191998"/>
              <a:gd name="connsiteY76" fmla="*/ 0 h 6858003"/>
              <a:gd name="connsiteX77" fmla="*/ 12191998 w 12191998"/>
              <a:gd name="connsiteY77" fmla="*/ 0 h 6858003"/>
              <a:gd name="connsiteX78" fmla="*/ 12191998 w 12191998"/>
              <a:gd name="connsiteY78" fmla="*/ 6858003 h 6858003"/>
              <a:gd name="connsiteX79" fmla="*/ 0 w 12191998"/>
              <a:gd name="connsiteY79" fmla="*/ 6858003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2191998" h="6858003">
                <a:moveTo>
                  <a:pt x="897269" y="6431624"/>
                </a:moveTo>
                <a:lnTo>
                  <a:pt x="993331" y="6528588"/>
                </a:lnTo>
                <a:lnTo>
                  <a:pt x="993331" y="6431624"/>
                </a:lnTo>
                <a:close/>
                <a:moveTo>
                  <a:pt x="1516925" y="6389274"/>
                </a:moveTo>
                <a:lnTo>
                  <a:pt x="1596273" y="6389274"/>
                </a:lnTo>
                <a:cubicBezTo>
                  <a:pt x="1603443" y="6389274"/>
                  <a:pt x="1609179" y="6390720"/>
                  <a:pt x="1612525" y="6393128"/>
                </a:cubicBezTo>
                <a:cubicBezTo>
                  <a:pt x="1615871" y="6396019"/>
                  <a:pt x="1617305" y="6399872"/>
                  <a:pt x="1617305" y="6404690"/>
                </a:cubicBezTo>
                <a:cubicBezTo>
                  <a:pt x="1617305" y="6409025"/>
                  <a:pt x="1615871" y="6412879"/>
                  <a:pt x="1612525" y="6417214"/>
                </a:cubicBezTo>
                <a:cubicBezTo>
                  <a:pt x="1609179" y="6420105"/>
                  <a:pt x="1603921" y="6421550"/>
                  <a:pt x="1596273" y="6421550"/>
                </a:cubicBezTo>
                <a:lnTo>
                  <a:pt x="1516925" y="6421550"/>
                </a:lnTo>
                <a:close/>
                <a:moveTo>
                  <a:pt x="1715460" y="6353146"/>
                </a:moveTo>
                <a:lnTo>
                  <a:pt x="1715460" y="6528495"/>
                </a:lnTo>
                <a:lnTo>
                  <a:pt x="1752796" y="6528495"/>
                </a:lnTo>
                <a:lnTo>
                  <a:pt x="1752796" y="6463461"/>
                </a:lnTo>
                <a:lnTo>
                  <a:pt x="1779122" y="6440820"/>
                </a:lnTo>
                <a:lnTo>
                  <a:pt x="1843741" y="6528495"/>
                </a:lnTo>
                <a:lnTo>
                  <a:pt x="1887299" y="6528495"/>
                </a:lnTo>
                <a:lnTo>
                  <a:pt x="1805928" y="6417697"/>
                </a:lnTo>
                <a:lnTo>
                  <a:pt x="1881555" y="6353146"/>
                </a:lnTo>
                <a:lnTo>
                  <a:pt x="1829860" y="6353146"/>
                </a:lnTo>
                <a:lnTo>
                  <a:pt x="1752796" y="6418661"/>
                </a:lnTo>
                <a:lnTo>
                  <a:pt x="1752796" y="6353146"/>
                </a:lnTo>
                <a:close/>
                <a:moveTo>
                  <a:pt x="1480119" y="6353146"/>
                </a:moveTo>
                <a:lnTo>
                  <a:pt x="1480119" y="6528495"/>
                </a:lnTo>
                <a:lnTo>
                  <a:pt x="1516925" y="6528495"/>
                </a:lnTo>
                <a:lnTo>
                  <a:pt x="1516925" y="6456716"/>
                </a:lnTo>
                <a:lnTo>
                  <a:pt x="1577631" y="6456716"/>
                </a:lnTo>
                <a:lnTo>
                  <a:pt x="1623519" y="6528495"/>
                </a:lnTo>
                <a:lnTo>
                  <a:pt x="1665104" y="6528495"/>
                </a:lnTo>
                <a:lnTo>
                  <a:pt x="1619217" y="6454790"/>
                </a:lnTo>
                <a:cubicBezTo>
                  <a:pt x="1630211" y="6450936"/>
                  <a:pt x="1638814" y="6444674"/>
                  <a:pt x="1645507" y="6435521"/>
                </a:cubicBezTo>
                <a:cubicBezTo>
                  <a:pt x="1651721" y="6426368"/>
                  <a:pt x="1655067" y="6416252"/>
                  <a:pt x="1655067" y="6404691"/>
                </a:cubicBezTo>
                <a:cubicBezTo>
                  <a:pt x="1655067" y="6387830"/>
                  <a:pt x="1649331" y="6374824"/>
                  <a:pt x="1637859" y="6365671"/>
                </a:cubicBezTo>
                <a:cubicBezTo>
                  <a:pt x="1627343" y="6357482"/>
                  <a:pt x="1613959" y="6353146"/>
                  <a:pt x="1596751" y="6353146"/>
                </a:cubicBezTo>
                <a:close/>
                <a:moveTo>
                  <a:pt x="2127612" y="6352198"/>
                </a:moveTo>
                <a:lnTo>
                  <a:pt x="2127612" y="6528494"/>
                </a:lnTo>
                <a:lnTo>
                  <a:pt x="2297579" y="6528494"/>
                </a:lnTo>
                <a:lnTo>
                  <a:pt x="2297579" y="6493138"/>
                </a:lnTo>
                <a:lnTo>
                  <a:pt x="2164479" y="6493138"/>
                </a:lnTo>
                <a:lnTo>
                  <a:pt x="2164479" y="6452939"/>
                </a:lnTo>
                <a:lnTo>
                  <a:pt x="2246830" y="6452939"/>
                </a:lnTo>
                <a:lnTo>
                  <a:pt x="2246830" y="6417583"/>
                </a:lnTo>
                <a:lnTo>
                  <a:pt x="2164479" y="6417583"/>
                </a:lnTo>
                <a:lnTo>
                  <a:pt x="2164479" y="6388523"/>
                </a:lnTo>
                <a:lnTo>
                  <a:pt x="2290390" y="6388523"/>
                </a:lnTo>
                <a:lnTo>
                  <a:pt x="2290390" y="6352198"/>
                </a:lnTo>
                <a:close/>
                <a:moveTo>
                  <a:pt x="1930569" y="6352198"/>
                </a:moveTo>
                <a:lnTo>
                  <a:pt x="1930569" y="6528494"/>
                </a:lnTo>
                <a:lnTo>
                  <a:pt x="2087383" y="6528494"/>
                </a:lnTo>
                <a:lnTo>
                  <a:pt x="2087383" y="6493138"/>
                </a:lnTo>
                <a:lnTo>
                  <a:pt x="1967861" y="6493138"/>
                </a:lnTo>
                <a:lnTo>
                  <a:pt x="1967861" y="6352198"/>
                </a:lnTo>
                <a:close/>
                <a:moveTo>
                  <a:pt x="1265509" y="6352198"/>
                </a:moveTo>
                <a:lnTo>
                  <a:pt x="1265509" y="6528494"/>
                </a:lnTo>
                <a:lnTo>
                  <a:pt x="1435470" y="6528494"/>
                </a:lnTo>
                <a:lnTo>
                  <a:pt x="1435470" y="6493138"/>
                </a:lnTo>
                <a:lnTo>
                  <a:pt x="1302853" y="6493138"/>
                </a:lnTo>
                <a:lnTo>
                  <a:pt x="1302853" y="6452939"/>
                </a:lnTo>
                <a:lnTo>
                  <a:pt x="1385200" y="6452939"/>
                </a:lnTo>
                <a:lnTo>
                  <a:pt x="1385200" y="6417583"/>
                </a:lnTo>
                <a:lnTo>
                  <a:pt x="1302853" y="6417583"/>
                </a:lnTo>
                <a:lnTo>
                  <a:pt x="1302853" y="6388523"/>
                </a:lnTo>
                <a:lnTo>
                  <a:pt x="1428289" y="6388523"/>
                </a:lnTo>
                <a:lnTo>
                  <a:pt x="1428289" y="6352198"/>
                </a:lnTo>
                <a:close/>
                <a:moveTo>
                  <a:pt x="1030531" y="6352198"/>
                </a:moveTo>
                <a:lnTo>
                  <a:pt x="1030531" y="6529014"/>
                </a:lnTo>
                <a:lnTo>
                  <a:pt x="1067731" y="6529014"/>
                </a:lnTo>
                <a:lnTo>
                  <a:pt x="1067731" y="6423970"/>
                </a:lnTo>
                <a:lnTo>
                  <a:pt x="1123532" y="6480295"/>
                </a:lnTo>
                <a:lnTo>
                  <a:pt x="1179333" y="6423970"/>
                </a:lnTo>
                <a:lnTo>
                  <a:pt x="1179333" y="6529014"/>
                </a:lnTo>
                <a:lnTo>
                  <a:pt x="1216533" y="6529014"/>
                </a:lnTo>
                <a:lnTo>
                  <a:pt x="1216533" y="6352198"/>
                </a:lnTo>
                <a:lnTo>
                  <a:pt x="1196756" y="6352198"/>
                </a:lnTo>
                <a:lnTo>
                  <a:pt x="1124003" y="6426584"/>
                </a:lnTo>
                <a:lnTo>
                  <a:pt x="1050308" y="6352198"/>
                </a:lnTo>
                <a:close/>
                <a:moveTo>
                  <a:pt x="0" y="0"/>
                </a:moveTo>
                <a:lnTo>
                  <a:pt x="12191998" y="0"/>
                </a:lnTo>
                <a:lnTo>
                  <a:pt x="12191998" y="6858003"/>
                </a:lnTo>
                <a:lnTo>
                  <a:pt x="0" y="6858003"/>
                </a:lnTo>
                <a:close/>
              </a:path>
            </a:pathLst>
          </a:custGeom>
          <a:solidFill>
            <a:schemeClr val="accent5"/>
          </a:solidFill>
        </p:spPr>
        <p:txBody>
          <a:bodyPr wrap="square">
            <a:noAutofit/>
          </a:bodyPr>
          <a:lstStyle>
            <a:lvl1pPr marL="66675" indent="0">
              <a:buNone/>
              <a:defRPr>
                <a:solidFill>
                  <a:schemeClr val="bg1"/>
                </a:solidFill>
              </a:defRPr>
            </a:lvl1pPr>
          </a:lstStyle>
          <a:p>
            <a:r>
              <a:rPr lang="en-US"/>
              <a:t>Full bleed image option – click on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8964F60-0CB7-9971-C168-FCFDE0732C0A}"/>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070EF911-B422-12D3-FAAC-6ACB96518D67}"/>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Tree>
    <p:extLst>
      <p:ext uri="{BB962C8B-B14F-4D97-AF65-F5344CB8AC3E}">
        <p14:creationId xmlns:p14="http://schemas.microsoft.com/office/powerpoint/2010/main" val="2968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age +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0610D9-A343-A0A7-B0BD-71547EB1CADE}"/>
              </a:ext>
            </a:extLst>
          </p:cNvPr>
          <p:cNvSpPr/>
          <p:nvPr userDrawn="1"/>
        </p:nvSpPr>
        <p:spPr>
          <a:xfrm rot="10800000" flipV="1">
            <a:off x="2" y="0"/>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Freeform 7">
            <a:extLst>
              <a:ext uri="{FF2B5EF4-FFF2-40B4-BE49-F238E27FC236}">
                <a16:creationId xmlns:a16="http://schemas.microsoft.com/office/drawing/2014/main" id="{72D94023-5488-598F-9169-C6D19D7AA522}"/>
              </a:ext>
            </a:extLst>
          </p:cNvPr>
          <p:cNvSpPr/>
          <p:nvPr userDrawn="1"/>
        </p:nvSpPr>
        <p:spPr>
          <a:xfrm flipH="1">
            <a:off x="0" y="0"/>
            <a:ext cx="6933399" cy="6857999"/>
          </a:xfrm>
          <a:custGeom>
            <a:avLst/>
            <a:gdLst>
              <a:gd name="connsiteX0" fmla="*/ 6933399 w 6933399"/>
              <a:gd name="connsiteY0" fmla="*/ 0 h 6857999"/>
              <a:gd name="connsiteX1" fmla="*/ 0 w 6933399"/>
              <a:gd name="connsiteY1" fmla="*/ 0 h 6857999"/>
              <a:gd name="connsiteX2" fmla="*/ 1190078 w 6933399"/>
              <a:gd name="connsiteY2" fmla="*/ 6857999 h 6857999"/>
              <a:gd name="connsiteX3" fmla="*/ 6933399 w 6933399"/>
              <a:gd name="connsiteY3" fmla="*/ 6857999 h 6857999"/>
              <a:gd name="connsiteX4" fmla="*/ 6933399 w 6933399"/>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3399" h="6857999">
                <a:moveTo>
                  <a:pt x="6933399" y="0"/>
                </a:moveTo>
                <a:lnTo>
                  <a:pt x="0" y="0"/>
                </a:lnTo>
                <a:lnTo>
                  <a:pt x="1190078" y="6857999"/>
                </a:lnTo>
                <a:lnTo>
                  <a:pt x="6933399" y="6857999"/>
                </a:lnTo>
                <a:lnTo>
                  <a:pt x="6933399"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rgbClr val="FFFFFF"/>
              </a:solidFill>
            </a:endParaRPr>
          </a:p>
        </p:txBody>
      </p:sp>
      <p:sp>
        <p:nvSpPr>
          <p:cNvPr id="14" name="Picture Placeholder 8">
            <a:extLst>
              <a:ext uri="{FF2B5EF4-FFF2-40B4-BE49-F238E27FC236}">
                <a16:creationId xmlns:a16="http://schemas.microsoft.com/office/drawing/2014/main" id="{537750C2-2CFC-FA5F-F089-5D7BE482E244}"/>
              </a:ext>
            </a:extLst>
          </p:cNvPr>
          <p:cNvSpPr>
            <a:spLocks noGrp="1"/>
          </p:cNvSpPr>
          <p:nvPr>
            <p:ph type="pic" sz="quarter" idx="12" hasCustomPrompt="1"/>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accent5"/>
          </a:solidFill>
        </p:spPr>
        <p:txBody>
          <a:bodyPr wrap="square">
            <a:noAutofit/>
          </a:bodyPr>
          <a:lstStyle>
            <a:lvl1pPr marL="66675" indent="0">
              <a:buNone/>
              <a:defRPr>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E9BA3374-EAA1-50C0-C7EA-49D0566FE53A}"/>
              </a:ext>
            </a:extLst>
          </p:cNvPr>
          <p:cNvSpPr>
            <a:spLocks noGrp="1"/>
          </p:cNvSpPr>
          <p:nvPr>
            <p:ph type="title" hasCustomPrompt="1"/>
          </p:nvPr>
        </p:nvSpPr>
        <p:spPr>
          <a:xfrm>
            <a:off x="915725" y="557784"/>
            <a:ext cx="5104931"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C8FBE8DB-5027-C4D6-0A1F-6C57A886A9F3}"/>
              </a:ext>
            </a:extLst>
          </p:cNvPr>
          <p:cNvSpPr>
            <a:spLocks noGrp="1"/>
          </p:cNvSpPr>
          <p:nvPr>
            <p:ph type="body" sz="quarter" idx="10" hasCustomPrompt="1"/>
          </p:nvPr>
        </p:nvSpPr>
        <p:spPr>
          <a:xfrm>
            <a:off x="915725" y="3483865"/>
            <a:ext cx="5104931"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5" name="Group 4">
            <a:extLst>
              <a:ext uri="{FF2B5EF4-FFF2-40B4-BE49-F238E27FC236}">
                <a16:creationId xmlns:a16="http://schemas.microsoft.com/office/drawing/2014/main" id="{02761D30-2E65-16C9-900D-52341B68847B}"/>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E638B0F6-7E27-F480-F961-848E33FC27C2}"/>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2338C327-541D-059F-4FA7-BC4C86213B44}"/>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315128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 + Imag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6FAC30-37D0-2A31-92EC-DDB649D9182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3" name="Picture Placeholder 8">
            <a:extLst>
              <a:ext uri="{FF2B5EF4-FFF2-40B4-BE49-F238E27FC236}">
                <a16:creationId xmlns:a16="http://schemas.microsoft.com/office/drawing/2014/main" id="{3EDD5D33-1863-491B-BF03-502056AF2633}"/>
              </a:ext>
            </a:extLst>
          </p:cNvPr>
          <p:cNvSpPr>
            <a:spLocks noGrp="1"/>
          </p:cNvSpPr>
          <p:nvPr>
            <p:ph type="pic" sz="quarter" idx="12" hasCustomPrompt="1"/>
          </p:nvPr>
        </p:nvSpPr>
        <p:spPr>
          <a:xfrm>
            <a:off x="6678324" y="0"/>
            <a:ext cx="5513676" cy="6857999"/>
          </a:xfrm>
          <a:prstGeom prst="rect">
            <a:avLst/>
          </a:prstGeom>
          <a:solidFill>
            <a:schemeClr val="accent5"/>
          </a:solidFill>
        </p:spPr>
        <p:txBody>
          <a:bodyPr wrap="square">
            <a:noAutofit/>
          </a:bodyPr>
          <a:lstStyle>
            <a:lvl1pPr marL="0" indent="0">
              <a:buNone/>
              <a:defRPr b="0">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0EC419B7-C447-D270-BE9E-FCE60CA674DF}"/>
              </a:ext>
            </a:extLst>
          </p:cNvPr>
          <p:cNvSpPr>
            <a:spLocks noGrp="1"/>
          </p:cNvSpPr>
          <p:nvPr>
            <p:ph type="title" hasCustomPrompt="1"/>
          </p:nvPr>
        </p:nvSpPr>
        <p:spPr>
          <a:xfrm>
            <a:off x="915725" y="557784"/>
            <a:ext cx="5372059"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40773FED-138B-073C-AAB6-722D3F147581}"/>
              </a:ext>
            </a:extLst>
          </p:cNvPr>
          <p:cNvSpPr>
            <a:spLocks noGrp="1"/>
          </p:cNvSpPr>
          <p:nvPr>
            <p:ph type="body" sz="quarter" idx="10" hasCustomPrompt="1"/>
          </p:nvPr>
        </p:nvSpPr>
        <p:spPr>
          <a:xfrm>
            <a:off x="915725" y="3483865"/>
            <a:ext cx="5372059"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7" name="Group 6">
            <a:extLst>
              <a:ext uri="{FF2B5EF4-FFF2-40B4-BE49-F238E27FC236}">
                <a16:creationId xmlns:a16="http://schemas.microsoft.com/office/drawing/2014/main" id="{C68993E1-6EAB-7E41-AA6A-50B7D5F12432}"/>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37B02FEB-149E-9A9F-E99A-E16C24B5DEA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8027D52B-8CEC-ACD4-9B1C-2768494AA31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2692858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 Textur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8467A25-6525-DEF0-6E9C-88EB741150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12" name="Picture 11">
            <a:extLst>
              <a:ext uri="{FF2B5EF4-FFF2-40B4-BE49-F238E27FC236}">
                <a16:creationId xmlns:a16="http://schemas.microsoft.com/office/drawing/2014/main" id="{C6F3087F-EC64-F7D2-2A63-A07B6B42CC0A}"/>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1298"/>
          <a:stretch/>
        </p:blipFill>
        <p:spPr>
          <a:xfrm rot="5400000">
            <a:off x="4897244" y="-436756"/>
            <a:ext cx="6858000" cy="7731512"/>
          </a:xfrm>
          <a:prstGeom prst="rect">
            <a:avLst/>
          </a:prstGeom>
        </p:spPr>
      </p:pic>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grpSp>
        <p:nvGrpSpPr>
          <p:cNvPr id="5" name="Graphic 9">
            <a:extLst>
              <a:ext uri="{FF2B5EF4-FFF2-40B4-BE49-F238E27FC236}">
                <a16:creationId xmlns:a16="http://schemas.microsoft.com/office/drawing/2014/main" id="{B7483D9C-A8AF-28C7-C2E8-9E9C66A321E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0" name="Freeform 9">
              <a:extLst>
                <a:ext uri="{FF2B5EF4-FFF2-40B4-BE49-F238E27FC236}">
                  <a16:creationId xmlns:a16="http://schemas.microsoft.com/office/drawing/2014/main" id="{6FFDC0C2-9DB0-2E6F-9474-FD166AA82FB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1" name="Freeform 10">
              <a:extLst>
                <a:ext uri="{FF2B5EF4-FFF2-40B4-BE49-F238E27FC236}">
                  <a16:creationId xmlns:a16="http://schemas.microsoft.com/office/drawing/2014/main" id="{41505EF2-9C4E-DB81-F431-F03DC000421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634036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Image 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5B1102-0EBD-E982-3358-18916BADB73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10" name="Picture Placeholder 6">
            <a:extLst>
              <a:ext uri="{FF2B5EF4-FFF2-40B4-BE49-F238E27FC236}">
                <a16:creationId xmlns:a16="http://schemas.microsoft.com/office/drawing/2014/main" id="{04512901-5206-5467-E6E2-1B836F7ACC29}"/>
              </a:ext>
            </a:extLst>
          </p:cNvPr>
          <p:cNvSpPr>
            <a:spLocks noGrp="1"/>
          </p:cNvSpPr>
          <p:nvPr>
            <p:ph type="pic" sz="quarter" idx="12" hasCustomPrompt="1"/>
          </p:nvPr>
        </p:nvSpPr>
        <p:spPr>
          <a:xfrm>
            <a:off x="5743322" y="0"/>
            <a:ext cx="6448678" cy="6857999"/>
          </a:xfrm>
          <a:prstGeom prst="rect">
            <a:avLst/>
          </a:prstGeom>
          <a:solidFill>
            <a:schemeClr val="accent5"/>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7229B836-2CF3-2B59-3C0F-7283E00BA955}"/>
              </a:ext>
            </a:extLst>
          </p:cNvPr>
          <p:cNvSpPr txBox="1"/>
          <p:nvPr userDrawn="1"/>
        </p:nvSpPr>
        <p:spPr>
          <a:xfrm>
            <a:off x="8122722" y="-498764"/>
            <a:ext cx="0" cy="0"/>
          </a:xfrm>
          <a:prstGeom prst="rect">
            <a:avLst/>
          </a:prstGeom>
          <a:noFill/>
        </p:spPr>
        <p:txBody>
          <a:bodyPr wrap="none" rtlCol="0">
            <a:noAutofit/>
          </a:bodyPr>
          <a:lstStyle/>
          <a:p>
            <a:pPr algn="l">
              <a:spcAft>
                <a:spcPts val="600"/>
              </a:spcAft>
            </a:pPr>
            <a:endParaRPr lang="en-US" sz="1400"/>
          </a:p>
        </p:txBody>
      </p:sp>
      <p:grpSp>
        <p:nvGrpSpPr>
          <p:cNvPr id="11" name="Graphic 9">
            <a:extLst>
              <a:ext uri="{FF2B5EF4-FFF2-40B4-BE49-F238E27FC236}">
                <a16:creationId xmlns:a16="http://schemas.microsoft.com/office/drawing/2014/main" id="{61D4772C-0237-9278-49C2-024DDD16DF4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2" name="Freeform 11">
              <a:extLst>
                <a:ext uri="{FF2B5EF4-FFF2-40B4-BE49-F238E27FC236}">
                  <a16:creationId xmlns:a16="http://schemas.microsoft.com/office/drawing/2014/main" id="{30BC871A-7FC5-1A88-E623-D1315B45B18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DDD58B76-62E5-50A7-DD88-DDF61335B612}"/>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155262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5A10F1C-046F-1CBE-F91B-EB48F6346AC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Picture Placeholder 8">
            <a:extLst>
              <a:ext uri="{FF2B5EF4-FFF2-40B4-BE49-F238E27FC236}">
                <a16:creationId xmlns:a16="http://schemas.microsoft.com/office/drawing/2014/main" id="{28B13C15-A48B-B4D1-051D-3DA53D30DFC2}"/>
              </a:ext>
            </a:extLst>
          </p:cNvPr>
          <p:cNvSpPr>
            <a:spLocks noGrp="1"/>
          </p:cNvSpPr>
          <p:nvPr>
            <p:ph type="pic" sz="quarter" idx="12"/>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bg2"/>
          </a:solidFill>
        </p:spPr>
        <p:txBody>
          <a:bodyPr wrap="square">
            <a:noAutofit/>
          </a:bodyPr>
          <a:lstStyle>
            <a:lvl1pPr>
              <a:defRPr>
                <a:latin typeface="+mn-lt"/>
              </a:defRPr>
            </a:lvl1pPr>
          </a:lstStyle>
          <a:p>
            <a:r>
              <a:rPr lang="en-US"/>
              <a:t>Click icon to add picture</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086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8F5D0E0E-0A59-C262-2E84-D5250A85B9E6}"/>
              </a:ext>
            </a:extLst>
          </p:cNvPr>
          <p:cNvSpPr>
            <a:spLocks noGrp="1"/>
          </p:cNvSpPr>
          <p:nvPr>
            <p:ph type="pic" sz="quarter" idx="12" hasCustomPrompt="1"/>
          </p:nvPr>
        </p:nvSpPr>
        <p:spPr>
          <a:xfrm>
            <a:off x="8941462"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7" name="Picture Placeholder 2">
            <a:extLst>
              <a:ext uri="{FF2B5EF4-FFF2-40B4-BE49-F238E27FC236}">
                <a16:creationId xmlns:a16="http://schemas.microsoft.com/office/drawing/2014/main" id="{B6CAC3CE-CD4C-55F2-634E-4DFD4B911B05}"/>
              </a:ext>
            </a:extLst>
          </p:cNvPr>
          <p:cNvSpPr>
            <a:spLocks noGrp="1"/>
          </p:cNvSpPr>
          <p:nvPr>
            <p:ph type="pic" sz="quarter" idx="13" hasCustomPrompt="1"/>
          </p:nvPr>
        </p:nvSpPr>
        <p:spPr>
          <a:xfrm>
            <a:off x="6135756"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8" name="Picture Placeholder 3">
            <a:extLst>
              <a:ext uri="{FF2B5EF4-FFF2-40B4-BE49-F238E27FC236}">
                <a16:creationId xmlns:a16="http://schemas.microsoft.com/office/drawing/2014/main" id="{154F1B20-8829-99ED-6527-725F590FF71E}"/>
              </a:ext>
            </a:extLst>
          </p:cNvPr>
          <p:cNvSpPr>
            <a:spLocks noGrp="1"/>
          </p:cNvSpPr>
          <p:nvPr>
            <p:ph type="pic" sz="quarter" idx="14" hasCustomPrompt="1"/>
          </p:nvPr>
        </p:nvSpPr>
        <p:spPr>
          <a:xfrm>
            <a:off x="6135756"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9" name="Picture Placeholder 5">
            <a:extLst>
              <a:ext uri="{FF2B5EF4-FFF2-40B4-BE49-F238E27FC236}">
                <a16:creationId xmlns:a16="http://schemas.microsoft.com/office/drawing/2014/main" id="{E1C58B29-DBBD-6004-2842-DC8FF4B96C2F}"/>
              </a:ext>
            </a:extLst>
          </p:cNvPr>
          <p:cNvSpPr>
            <a:spLocks noGrp="1"/>
          </p:cNvSpPr>
          <p:nvPr>
            <p:ph type="pic" sz="quarter" idx="16" hasCustomPrompt="1"/>
          </p:nvPr>
        </p:nvSpPr>
        <p:spPr>
          <a:xfrm>
            <a:off x="8937655"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1" name="Picture Placeholder 7">
            <a:extLst>
              <a:ext uri="{FF2B5EF4-FFF2-40B4-BE49-F238E27FC236}">
                <a16:creationId xmlns:a16="http://schemas.microsoft.com/office/drawing/2014/main" id="{FA3F649A-0DCE-9785-3674-5452A110AEF0}"/>
              </a:ext>
            </a:extLst>
          </p:cNvPr>
          <p:cNvSpPr>
            <a:spLocks noGrp="1"/>
          </p:cNvSpPr>
          <p:nvPr>
            <p:ph type="pic" sz="quarter" idx="18" hasCustomPrompt="1"/>
          </p:nvPr>
        </p:nvSpPr>
        <p:spPr>
          <a:xfrm>
            <a:off x="8937655" y="3770026"/>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2" name="Picture Placeholder 8">
            <a:extLst>
              <a:ext uri="{FF2B5EF4-FFF2-40B4-BE49-F238E27FC236}">
                <a16:creationId xmlns:a16="http://schemas.microsoft.com/office/drawing/2014/main" id="{E5083365-E602-C03D-64C8-E1AF47E5DE59}"/>
              </a:ext>
            </a:extLst>
          </p:cNvPr>
          <p:cNvSpPr>
            <a:spLocks noGrp="1"/>
          </p:cNvSpPr>
          <p:nvPr>
            <p:ph type="pic" sz="quarter" idx="19" hasCustomPrompt="1"/>
          </p:nvPr>
        </p:nvSpPr>
        <p:spPr>
          <a:xfrm>
            <a:off x="6135756" y="373203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3" name="Picture Placeholder 9">
            <a:extLst>
              <a:ext uri="{FF2B5EF4-FFF2-40B4-BE49-F238E27FC236}">
                <a16:creationId xmlns:a16="http://schemas.microsoft.com/office/drawing/2014/main" id="{C545EFE3-FA36-364F-3506-16CBB259473E}"/>
              </a:ext>
            </a:extLst>
          </p:cNvPr>
          <p:cNvSpPr>
            <a:spLocks noGrp="1"/>
          </p:cNvSpPr>
          <p:nvPr>
            <p:ph type="pic" sz="quarter" idx="20" hasCustomPrompt="1"/>
          </p:nvPr>
        </p:nvSpPr>
        <p:spPr>
          <a:xfrm>
            <a:off x="6135756"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5" name="Picture Placeholder 11">
            <a:extLst>
              <a:ext uri="{FF2B5EF4-FFF2-40B4-BE49-F238E27FC236}">
                <a16:creationId xmlns:a16="http://schemas.microsoft.com/office/drawing/2014/main" id="{DD445EE6-B934-7390-6760-4BFC0A0AC254}"/>
              </a:ext>
            </a:extLst>
          </p:cNvPr>
          <p:cNvSpPr>
            <a:spLocks noGrp="1"/>
          </p:cNvSpPr>
          <p:nvPr>
            <p:ph type="pic" sz="quarter" idx="22" hasCustomPrompt="1"/>
          </p:nvPr>
        </p:nvSpPr>
        <p:spPr>
          <a:xfrm>
            <a:off x="8921447"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8" name="Text Placeholder 17">
            <a:extLst>
              <a:ext uri="{FF2B5EF4-FFF2-40B4-BE49-F238E27FC236}">
                <a16:creationId xmlns:a16="http://schemas.microsoft.com/office/drawing/2014/main" id="{5A82CAF8-782E-6B97-B6B0-0260DCE4F197}"/>
              </a:ext>
            </a:extLst>
          </p:cNvPr>
          <p:cNvSpPr>
            <a:spLocks noGrp="1"/>
          </p:cNvSpPr>
          <p:nvPr>
            <p:ph type="body" sz="quarter" idx="23" hasCustomPrompt="1"/>
          </p:nvPr>
        </p:nvSpPr>
        <p:spPr>
          <a:xfrm>
            <a:off x="6096000" y="731839"/>
            <a:ext cx="4049712" cy="840930"/>
          </a:xfrm>
        </p:spPr>
        <p:txBody>
          <a:bodyPr anchor="b"/>
          <a:lstStyle>
            <a:lvl1pPr marL="0" indent="0">
              <a:buNone/>
              <a:defRPr sz="1000" b="1" cap="all" spc="200" baseline="0">
                <a:solidFill>
                  <a:schemeClr val="accent5"/>
                </a:solidFill>
                <a:latin typeface="+mn-lt"/>
              </a:defRPr>
            </a:lvl1pPr>
            <a:lvl2pPr marL="457200" indent="0">
              <a:buNone/>
              <a:defRPr sz="800" b="1"/>
            </a:lvl2pPr>
            <a:lvl3pPr marL="914400" indent="0">
              <a:buNone/>
              <a:defRPr sz="800" b="1"/>
            </a:lvl3pPr>
            <a:lvl4pPr marL="1371600" indent="0">
              <a:buNone/>
              <a:defRPr sz="800" b="1"/>
            </a:lvl4pPr>
            <a:lvl5pPr marL="1828800" indent="0">
              <a:buNone/>
              <a:defRPr sz="800" b="1"/>
            </a:lvl5pPr>
          </a:lstStyle>
          <a:p>
            <a:pPr lvl="0"/>
            <a:r>
              <a:rPr lang="en-US"/>
              <a:t>MEET THE TEAM</a:t>
            </a:r>
          </a:p>
        </p:txBody>
      </p:sp>
    </p:spTree>
    <p:extLst>
      <p:ext uri="{BB962C8B-B14F-4D97-AF65-F5344CB8AC3E}">
        <p14:creationId xmlns:p14="http://schemas.microsoft.com/office/powerpoint/2010/main" val="770827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Slide - Image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76FD4A-8DEC-4288-31FC-E11FAEAEB87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B3093CCE-368A-239E-8D3F-6FCA13314FC3}"/>
              </a:ext>
            </a:extLst>
          </p:cNvPr>
          <p:cNvSpPr>
            <a:spLocks noGrp="1"/>
          </p:cNvSpPr>
          <p:nvPr>
            <p:ph type="pic" sz="quarter" idx="12" hasCustomPrompt="1"/>
          </p:nvPr>
        </p:nvSpPr>
        <p:spPr>
          <a:xfrm>
            <a:off x="5743322" y="1"/>
            <a:ext cx="6448678" cy="6857999"/>
          </a:xfrm>
          <a:prstGeom prst="rect">
            <a:avLst/>
          </a:prstGeom>
          <a:solidFill>
            <a:schemeClr val="bg2"/>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4" name="TextBox 3">
            <a:extLst>
              <a:ext uri="{FF2B5EF4-FFF2-40B4-BE49-F238E27FC236}">
                <a16:creationId xmlns:a16="http://schemas.microsoft.com/office/drawing/2014/main" id="{9A815C76-9273-44CE-603F-F4A10C34A65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768698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519A66-EB16-1A1C-E787-A898E82A40F2}"/>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FCFFBCBA-0559-328A-A56A-19158E195F3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31E1F5A4-4FDE-935B-A4FD-B4C29343FA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BCB53C9B-EBD3-5ABA-2E39-0B9E964BA2B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850896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 Texture,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02C4C0-6AF4-A751-D91A-FC5F17759A5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diamond&#10;&#10;AI-generated content may be incorrect.">
            <a:extLst>
              <a:ext uri="{FF2B5EF4-FFF2-40B4-BE49-F238E27FC236}">
                <a16:creationId xmlns:a16="http://schemas.microsoft.com/office/drawing/2014/main" id="{3A8CA6DA-F5A8-713D-4994-D03AAE9DB1DE}"/>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7" name="Title 1">
            <a:extLst>
              <a:ext uri="{FF2B5EF4-FFF2-40B4-BE49-F238E27FC236}">
                <a16:creationId xmlns:a16="http://schemas.microsoft.com/office/drawing/2014/main" id="{D20BAF10-7045-56DD-9CD8-14C315EB5B3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86E32514-7374-FBA6-E3BA-B1F5A00FDC8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9FC621CF-7D6E-189D-DB48-B3B57464B4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3ABC6638-711B-F07F-BEC7-E4FC3B5EF3C9}"/>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58503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 Texture, Dark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crystal&#10;&#10;Description automatically generated">
            <a:extLst>
              <a:ext uri="{FF2B5EF4-FFF2-40B4-BE49-F238E27FC236}">
                <a16:creationId xmlns:a16="http://schemas.microsoft.com/office/drawing/2014/main" id="{A1D1A869-B1B3-5954-7BA3-3805061FB80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35316"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11651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 Texture, Dark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0"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8" name="Picture 7" descr="A close up of a blue and black background&#10;&#10;Description automatically generated">
            <a:extLst>
              <a:ext uri="{FF2B5EF4-FFF2-40B4-BE49-F238E27FC236}">
                <a16:creationId xmlns:a16="http://schemas.microsoft.com/office/drawing/2014/main" id="{91A43463-E247-52FD-0BBD-07F9DA95E8F8}"/>
              </a:ext>
            </a:extLst>
          </p:cNvPr>
          <p:cNvPicPr>
            <a:picLocks noChangeAspect="1"/>
          </p:cNvPicPr>
          <p:nvPr userDrawn="1"/>
        </p:nvPicPr>
        <p:blipFill>
          <a:blip r:embed="rId2"/>
          <a:srcRect t="15344" b="9160"/>
          <a:stretch/>
        </p:blipFill>
        <p:spPr>
          <a:xfrm rot="10800000">
            <a:off x="0" y="1681812"/>
            <a:ext cx="12188952" cy="5176187"/>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099759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 Texture, 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41928FC-79A3-190F-8F05-6BA96E237EBF}"/>
              </a:ext>
            </a:extLst>
          </p:cNvPr>
          <p:cNvSpPr/>
          <p:nvPr userDrawn="1"/>
        </p:nvSpPr>
        <p:spPr>
          <a:xfrm rot="10800000" flipV="1">
            <a:off x="0"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9" name="Picture 8">
            <a:extLst>
              <a:ext uri="{FF2B5EF4-FFF2-40B4-BE49-F238E27FC236}">
                <a16:creationId xmlns:a16="http://schemas.microsoft.com/office/drawing/2014/main" id="{531776B3-790F-BFCC-B158-72F24BAAADBF}"/>
              </a:ext>
            </a:extLst>
          </p:cNvPr>
          <p:cNvPicPr>
            <a:picLocks noChangeAspect="1"/>
          </p:cNvPicPr>
          <p:nvPr userDrawn="1"/>
        </p:nvPicPr>
        <p:blipFill>
          <a:blip r:embed="rId2"/>
          <a:srcRect l="32657" t="10642" r="-3" b="13034"/>
          <a:stretch/>
        </p:blipFill>
        <p:spPr>
          <a:xfrm rot="5400000">
            <a:off x="6577010" y="1243014"/>
            <a:ext cx="6858001" cy="4371975"/>
          </a:xfrm>
          <a:prstGeom prst="rect">
            <a:avLst/>
          </a:prstGeom>
        </p:spPr>
      </p:pic>
      <p:grpSp>
        <p:nvGrpSpPr>
          <p:cNvPr id="10" name="Graphic 9">
            <a:extLst>
              <a:ext uri="{FF2B5EF4-FFF2-40B4-BE49-F238E27FC236}">
                <a16:creationId xmlns:a16="http://schemas.microsoft.com/office/drawing/2014/main" id="{62515DD1-8C1A-0C64-9E44-1E116A32E439}"/>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1" name="Freeform 10">
              <a:extLst>
                <a:ext uri="{FF2B5EF4-FFF2-40B4-BE49-F238E27FC236}">
                  <a16:creationId xmlns:a16="http://schemas.microsoft.com/office/drawing/2014/main" id="{23F89819-46B3-3107-41D5-6CAB71E77DFA}"/>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2" name="Freeform 11">
              <a:extLst>
                <a:ext uri="{FF2B5EF4-FFF2-40B4-BE49-F238E27FC236}">
                  <a16:creationId xmlns:a16="http://schemas.microsoft.com/office/drawing/2014/main" id="{4D660E8C-B871-6A95-F225-A5B539A04A70}"/>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450191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Slide - Texture, Ligh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C4ADE0-0FB5-D047-00E9-C3F86508ACA3}"/>
              </a:ext>
            </a:extLst>
          </p:cNvPr>
          <p:cNvSpPr/>
          <p:nvPr userDrawn="1"/>
        </p:nvSpPr>
        <p:spPr>
          <a:xfrm rot="10800000" flipV="1">
            <a:off x="2"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a:extLst>
              <a:ext uri="{FF2B5EF4-FFF2-40B4-BE49-F238E27FC236}">
                <a16:creationId xmlns:a16="http://schemas.microsoft.com/office/drawing/2014/main" id="{A221CAF3-AB05-F456-E3E0-86189F496F39}"/>
              </a:ext>
            </a:extLst>
          </p:cNvPr>
          <p:cNvPicPr>
            <a:picLocks noChangeAspect="1"/>
          </p:cNvPicPr>
          <p:nvPr userDrawn="1"/>
        </p:nvPicPr>
        <p:blipFill>
          <a:blip r:embed="rId2"/>
          <a:srcRect l="58512" t="17473" r="-64" b="3447"/>
          <a:stretch/>
        </p:blipFill>
        <p:spPr>
          <a:xfrm rot="5400000" flipH="1">
            <a:off x="6947338" y="1613338"/>
            <a:ext cx="5065986" cy="5423338"/>
          </a:xfrm>
          <a:prstGeom prst="rect">
            <a:avLst/>
          </a:prstGeom>
        </p:spPr>
      </p:pic>
      <p:grpSp>
        <p:nvGrpSpPr>
          <p:cNvPr id="6" name="Graphic 9">
            <a:extLst>
              <a:ext uri="{FF2B5EF4-FFF2-40B4-BE49-F238E27FC236}">
                <a16:creationId xmlns:a16="http://schemas.microsoft.com/office/drawing/2014/main" id="{10C1272F-E48D-13A6-C867-593EC65548C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DFE6C87D-DA3E-6368-E300-E2A2D01BC13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CB7481C0-6D1E-EF36-C613-3E7785AEF37A}"/>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6CE20A1F-2047-7BC9-8B59-CED282DAA681}"/>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3704236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 Texture, Light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2D6E5A-3F26-3F8D-C878-96A904D35C87}"/>
              </a:ext>
            </a:extLst>
          </p:cNvPr>
          <p:cNvSpPr/>
          <p:nvPr userDrawn="1"/>
        </p:nvSpPr>
        <p:spPr>
          <a:xfrm rot="10800000" flipV="1">
            <a:off x="2" y="-3"/>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5" name="Picture 4">
            <a:extLst>
              <a:ext uri="{FF2B5EF4-FFF2-40B4-BE49-F238E27FC236}">
                <a16:creationId xmlns:a16="http://schemas.microsoft.com/office/drawing/2014/main" id="{660C216B-A8AC-384A-81FE-0ED05251E3C5}"/>
              </a:ext>
            </a:extLst>
          </p:cNvPr>
          <p:cNvPicPr>
            <a:picLocks noChangeAspect="1"/>
          </p:cNvPicPr>
          <p:nvPr userDrawn="1"/>
        </p:nvPicPr>
        <p:blipFill>
          <a:blip r:embed="rId2"/>
          <a:srcRect r="32407" b="4787"/>
          <a:stretch/>
        </p:blipFill>
        <p:spPr>
          <a:xfrm rot="5400000">
            <a:off x="6046075" y="712077"/>
            <a:ext cx="6858001" cy="5433849"/>
          </a:xfrm>
          <a:prstGeom prst="rect">
            <a:avLst/>
          </a:prstGeom>
        </p:spPr>
      </p:pic>
      <p:grpSp>
        <p:nvGrpSpPr>
          <p:cNvPr id="6" name="Graphic 9">
            <a:extLst>
              <a:ext uri="{FF2B5EF4-FFF2-40B4-BE49-F238E27FC236}">
                <a16:creationId xmlns:a16="http://schemas.microsoft.com/office/drawing/2014/main" id="{72E8A13F-22E9-99BA-FAFF-672D279ABDC0}"/>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290E42D1-AA36-19D3-3286-A45AF96EE9A7}"/>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A702E34B-F934-E630-C91C-37946469288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F5064E94-0FC8-C479-67A7-81481582BE63}"/>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10853651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 EYEBROW,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F33162-B13D-704C-3524-E527FF5BEC09}"/>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5" name="TextBox 24">
            <a:extLst>
              <a:ext uri="{FF2B5EF4-FFF2-40B4-BE49-F238E27FC236}">
                <a16:creationId xmlns:a16="http://schemas.microsoft.com/office/drawing/2014/main" id="{7A83B8F5-18AE-B94A-82A0-B580840EFE63}"/>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45BF5F69-E10A-F6B1-3F95-D3C57AE277B8}"/>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bg1"/>
                </a:solidFill>
                <a:latin typeface="+mj-lt"/>
              </a:defRPr>
            </a:lvl1pPr>
          </a:lstStyle>
          <a:p>
            <a:pPr lvl="0">
              <a:lnSpc>
                <a:spcPct val="85000"/>
              </a:lnSpc>
            </a:pPr>
            <a:r>
              <a:rPr lang="en-US"/>
              <a:t>Divider copy goes here</a:t>
            </a:r>
          </a:p>
        </p:txBody>
      </p:sp>
      <p:sp>
        <p:nvSpPr>
          <p:cNvPr id="5" name="Text Placeholder 12">
            <a:extLst>
              <a:ext uri="{FF2B5EF4-FFF2-40B4-BE49-F238E27FC236}">
                <a16:creationId xmlns:a16="http://schemas.microsoft.com/office/drawing/2014/main" id="{03653832-9177-0922-2808-259E17057D89}"/>
              </a:ext>
            </a:extLst>
          </p:cNvPr>
          <p:cNvSpPr>
            <a:spLocks noGrp="1"/>
          </p:cNvSpPr>
          <p:nvPr>
            <p:ph type="body" sz="quarter" idx="15" hasCustomPrompt="1"/>
          </p:nvPr>
        </p:nvSpPr>
        <p:spPr>
          <a:xfrm>
            <a:off x="914400" y="937172"/>
            <a:ext cx="9709484" cy="290049"/>
          </a:xfrm>
        </p:spPr>
        <p:txBody>
          <a:bodyPr lIns="137160" rIns="91440" anchor="b">
            <a:noAutofit/>
          </a:bodyPr>
          <a:lstStyle>
            <a:lvl1pPr marL="0" indent="0">
              <a:buNone/>
              <a:defRPr sz="800" b="1" i="0" cap="all" spc="150" baseline="0">
                <a:solidFill>
                  <a:schemeClr val="bg2">
                    <a:lumMod val="90000"/>
                  </a:schemeClr>
                </a:solidFill>
                <a:latin typeface="+mj-lt"/>
              </a:defRPr>
            </a:lvl1pPr>
          </a:lstStyle>
          <a:p>
            <a:pPr lvl="0"/>
            <a:r>
              <a:rPr lang="en-US"/>
              <a:t>Two to three word eyebrow (optional)</a:t>
            </a:r>
          </a:p>
        </p:txBody>
      </p:sp>
      <p:grpSp>
        <p:nvGrpSpPr>
          <p:cNvPr id="4" name="Graphic 9">
            <a:extLst>
              <a:ext uri="{FF2B5EF4-FFF2-40B4-BE49-F238E27FC236}">
                <a16:creationId xmlns:a16="http://schemas.microsoft.com/office/drawing/2014/main" id="{17E7EE1E-226D-38AF-361F-E567ED24DDE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C94A7307-B4FD-2762-B048-B46752517B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4FB4FB2C-2043-7793-4C1D-1FCACAD624F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900468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EYEBROW, Light">
    <p:spTree>
      <p:nvGrpSpPr>
        <p:cNvPr id="1" name=""/>
        <p:cNvGrpSpPr/>
        <p:nvPr/>
      </p:nvGrpSpPr>
      <p:grpSpPr>
        <a:xfrm>
          <a:off x="0" y="0"/>
          <a:ext cx="0" cy="0"/>
          <a:chOff x="0" y="0"/>
          <a:chExt cx="0" cy="0"/>
        </a:xfrm>
      </p:grpSpPr>
      <p:sp>
        <p:nvSpPr>
          <p:cNvPr id="3" name="Text Placeholder 12">
            <a:extLst>
              <a:ext uri="{FF2B5EF4-FFF2-40B4-BE49-F238E27FC236}">
                <a16:creationId xmlns:a16="http://schemas.microsoft.com/office/drawing/2014/main" id="{C29B351B-52EF-CC43-0932-43B95E39A9F9}"/>
              </a:ext>
            </a:extLst>
          </p:cNvPr>
          <p:cNvSpPr>
            <a:spLocks noGrp="1"/>
          </p:cNvSpPr>
          <p:nvPr>
            <p:ph type="body" sz="quarter" idx="15" hasCustomPrompt="1"/>
          </p:nvPr>
        </p:nvSpPr>
        <p:spPr>
          <a:xfrm>
            <a:off x="914398" y="937172"/>
            <a:ext cx="9710927" cy="290049"/>
          </a:xfrm>
        </p:spPr>
        <p:txBody>
          <a:bodyPr lIns="137160" rIns="45720" anchor="b">
            <a:noAutofit/>
          </a:bodyPr>
          <a:lstStyle>
            <a:lvl1pPr marL="0" indent="0">
              <a:buNone/>
              <a:defRPr sz="800" b="1" i="0" cap="all" spc="150" baseline="0">
                <a:solidFill>
                  <a:schemeClr val="accent5"/>
                </a:solidFill>
                <a:latin typeface="+mj-lt"/>
              </a:defRPr>
            </a:lvl1pPr>
          </a:lstStyle>
          <a:p>
            <a:pPr lvl="0"/>
            <a:r>
              <a:rPr lang="en-US"/>
              <a:t>Two to three word eyebrow (optional)</a:t>
            </a:r>
          </a:p>
        </p:txBody>
      </p:sp>
      <p:sp>
        <p:nvSpPr>
          <p:cNvPr id="6" name="Title 1">
            <a:extLst>
              <a:ext uri="{FF2B5EF4-FFF2-40B4-BE49-F238E27FC236}">
                <a16:creationId xmlns:a16="http://schemas.microsoft.com/office/drawing/2014/main" id="{24D1596B-D4ED-3AE3-A9C3-CB2EDEB8D053}"/>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tx1"/>
                </a:solidFill>
              </a:defRPr>
            </a:lvl1pPr>
          </a:lstStyle>
          <a:p>
            <a:pPr lvl="0">
              <a:lnSpc>
                <a:spcPct val="85000"/>
              </a:lnSpc>
            </a:pPr>
            <a:r>
              <a:rPr lang="en-US"/>
              <a:t>Divider copy goes here</a:t>
            </a:r>
          </a:p>
        </p:txBody>
      </p:sp>
    </p:spTree>
    <p:extLst>
      <p:ext uri="{BB962C8B-B14F-4D97-AF65-F5344CB8AC3E}">
        <p14:creationId xmlns:p14="http://schemas.microsoft.com/office/powerpoint/2010/main" val="18688824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atement Slide 1">
    <p:bg>
      <p:bgPr>
        <a:solidFill>
          <a:schemeClr val="tx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2" name="Graphic 9">
            <a:extLst>
              <a:ext uri="{FF2B5EF4-FFF2-40B4-BE49-F238E27FC236}">
                <a16:creationId xmlns:a16="http://schemas.microsoft.com/office/drawing/2014/main" id="{766D62DE-CF40-057B-C7A1-7C1F85B1FCCA}"/>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4" name="Freeform 3">
              <a:extLst>
                <a:ext uri="{FF2B5EF4-FFF2-40B4-BE49-F238E27FC236}">
                  <a16:creationId xmlns:a16="http://schemas.microsoft.com/office/drawing/2014/main" id="{4C29980B-38B0-E1FA-2321-A37FE238E4BE}"/>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5" name="Freeform 4">
              <a:extLst>
                <a:ext uri="{FF2B5EF4-FFF2-40B4-BE49-F238E27FC236}">
                  <a16:creationId xmlns:a16="http://schemas.microsoft.com/office/drawing/2014/main" id="{36B6559D-DFD7-D3F6-073A-B30CA655B0F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476059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tatement Slide - Dark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432818-24CB-12AD-36F8-601D317ED98F}"/>
              </a:ext>
            </a:extLst>
          </p:cNvPr>
          <p:cNvSpPr/>
          <p:nvPr userDrawn="1"/>
        </p:nvSpPr>
        <p:spPr>
          <a:xfrm rot="10800000" flipV="1">
            <a:off x="2" y="-3"/>
            <a:ext cx="12191998" cy="6858003"/>
          </a:xfrm>
          <a:prstGeom prst="rect">
            <a:avLst/>
          </a:prstGeom>
          <a:solidFill>
            <a:schemeClr val="accent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9" name="Picture Placeholder 8">
            <a:extLst>
              <a:ext uri="{FF2B5EF4-FFF2-40B4-BE49-F238E27FC236}">
                <a16:creationId xmlns:a16="http://schemas.microsoft.com/office/drawing/2014/main" id="{71E72675-4E9E-486A-C051-C92449EE7939}"/>
              </a:ext>
            </a:extLst>
          </p:cNvPr>
          <p:cNvSpPr>
            <a:spLocks noGrp="1"/>
          </p:cNvSpPr>
          <p:nvPr>
            <p:ph type="pic" sz="quarter" idx="10" hasCustomPrompt="1"/>
          </p:nvPr>
        </p:nvSpPr>
        <p:spPr>
          <a:xfrm>
            <a:off x="3" y="0"/>
            <a:ext cx="12191997" cy="6858002"/>
          </a:xfrm>
          <a:custGeom>
            <a:avLst/>
            <a:gdLst>
              <a:gd name="connsiteX0" fmla="*/ 417190 w 12191997"/>
              <a:gd name="connsiteY0" fmla="*/ 6550173 h 6858002"/>
              <a:gd name="connsiteX1" fmla="*/ 419098 w 12191997"/>
              <a:gd name="connsiteY1" fmla="*/ 6550173 h 6858002"/>
              <a:gd name="connsiteX2" fmla="*/ 419098 w 12191997"/>
              <a:gd name="connsiteY2" fmla="*/ 6552070 h 6858002"/>
              <a:gd name="connsiteX3" fmla="*/ 522773 w 12191997"/>
              <a:gd name="connsiteY3" fmla="*/ 6489534 h 6858002"/>
              <a:gd name="connsiteX4" fmla="*/ 522773 w 12191997"/>
              <a:gd name="connsiteY4" fmla="*/ 6626228 h 6858002"/>
              <a:gd name="connsiteX5" fmla="*/ 552231 w 12191997"/>
              <a:gd name="connsiteY5" fmla="*/ 6626228 h 6858002"/>
              <a:gd name="connsiteX6" fmla="*/ 552231 w 12191997"/>
              <a:gd name="connsiteY6" fmla="*/ 6544276 h 6858002"/>
              <a:gd name="connsiteX7" fmla="*/ 596420 w 12191997"/>
              <a:gd name="connsiteY7" fmla="*/ 6588218 h 6858002"/>
              <a:gd name="connsiteX8" fmla="*/ 640607 w 12191997"/>
              <a:gd name="connsiteY8" fmla="*/ 6544276 h 6858002"/>
              <a:gd name="connsiteX9" fmla="*/ 640607 w 12191997"/>
              <a:gd name="connsiteY9" fmla="*/ 6626228 h 6858002"/>
              <a:gd name="connsiteX10" fmla="*/ 668233 w 12191997"/>
              <a:gd name="connsiteY10" fmla="*/ 6626228 h 6858002"/>
              <a:gd name="connsiteX11" fmla="*/ 668233 w 12191997"/>
              <a:gd name="connsiteY11" fmla="*/ 6489534 h 6858002"/>
              <a:gd name="connsiteX12" fmla="*/ 653161 w 12191997"/>
              <a:gd name="connsiteY12" fmla="*/ 6489534 h 6858002"/>
              <a:gd name="connsiteX13" fmla="*/ 653160 w 12191997"/>
              <a:gd name="connsiteY13" fmla="*/ 6489534 h 6858002"/>
              <a:gd name="connsiteX14" fmla="*/ 596792 w 12191997"/>
              <a:gd name="connsiteY14" fmla="*/ 6546315 h 6858002"/>
              <a:gd name="connsiteX15" fmla="*/ 539693 w 12191997"/>
              <a:gd name="connsiteY15" fmla="*/ 6489534 h 6858002"/>
              <a:gd name="connsiteX16" fmla="*/ 419098 w 12191997"/>
              <a:gd name="connsiteY16" fmla="*/ 6489534 h 6858002"/>
              <a:gd name="connsiteX17" fmla="*/ 419098 w 12191997"/>
              <a:gd name="connsiteY17" fmla="*/ 6550172 h 6858002"/>
              <a:gd name="connsiteX18" fmla="*/ 417189 w 12191997"/>
              <a:gd name="connsiteY18" fmla="*/ 6550172 h 6858002"/>
              <a:gd name="connsiteX19" fmla="*/ 417190 w 12191997"/>
              <a:gd name="connsiteY19" fmla="*/ 6550173 h 6858002"/>
              <a:gd name="connsiteX20" fmla="*/ 419099 w 12191997"/>
              <a:gd name="connsiteY20" fmla="*/ 6552071 h 6858002"/>
              <a:gd name="connsiteX21" fmla="*/ 419098 w 12191997"/>
              <a:gd name="connsiteY21" fmla="*/ 6552071 h 6858002"/>
              <a:gd name="connsiteX22" fmla="*/ 419098 w 12191997"/>
              <a:gd name="connsiteY22" fmla="*/ 6626781 h 6858002"/>
              <a:gd name="connsiteX23" fmla="*/ 419099 w 12191997"/>
              <a:gd name="connsiteY23" fmla="*/ 662678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419099 w 12191997"/>
              <a:gd name="connsiteY28" fmla="*/ 6489534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489534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419099 w 12191997"/>
              <a:gd name="connsiteY30" fmla="*/ 6489534 h 6858002"/>
              <a:gd name="connsiteX31" fmla="*/ 0 w 12191997"/>
              <a:gd name="connsiteY31" fmla="*/ 0 h 6858002"/>
              <a:gd name="connsiteX32" fmla="*/ 12191997 w 12191997"/>
              <a:gd name="connsiteY32" fmla="*/ 0 h 6858002"/>
              <a:gd name="connsiteX33" fmla="*/ 12191997 w 12191997"/>
              <a:gd name="connsiteY33" fmla="*/ 6858002 h 6858002"/>
              <a:gd name="connsiteX34" fmla="*/ 0 w 12191997"/>
              <a:gd name="connsiteY34" fmla="*/ 6858002 h 6858002"/>
              <a:gd name="connsiteX35" fmla="*/ 0 w 12191997"/>
              <a:gd name="connsiteY35"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0 w 12191997"/>
              <a:gd name="connsiteY30" fmla="*/ 0 h 6858002"/>
              <a:gd name="connsiteX31" fmla="*/ 12191997 w 12191997"/>
              <a:gd name="connsiteY31" fmla="*/ 0 h 6858002"/>
              <a:gd name="connsiteX32" fmla="*/ 12191997 w 12191997"/>
              <a:gd name="connsiteY32" fmla="*/ 6858002 h 6858002"/>
              <a:gd name="connsiteX33" fmla="*/ 0 w 12191997"/>
              <a:gd name="connsiteY33" fmla="*/ 6858002 h 6858002"/>
              <a:gd name="connsiteX34" fmla="*/ 0 w 12191997"/>
              <a:gd name="connsiteY34"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552071 h 6858002"/>
              <a:gd name="connsiteX26" fmla="*/ 493259 w 12191997"/>
              <a:gd name="connsiteY26" fmla="*/ 6625821 h 6858002"/>
              <a:gd name="connsiteX27" fmla="*/ 493259 w 12191997"/>
              <a:gd name="connsiteY27" fmla="*/ 6550173 h 6858002"/>
              <a:gd name="connsiteX28" fmla="*/ 419099 w 12191997"/>
              <a:gd name="connsiteY28" fmla="*/ 6550173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33" fmla="*/ 0 w 12191997"/>
              <a:gd name="connsiteY33"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0 w 12191997"/>
              <a:gd name="connsiteY28" fmla="*/ 0 h 6858002"/>
              <a:gd name="connsiteX29" fmla="*/ 12191997 w 12191997"/>
              <a:gd name="connsiteY29" fmla="*/ 0 h 6858002"/>
              <a:gd name="connsiteX30" fmla="*/ 12191997 w 12191997"/>
              <a:gd name="connsiteY30" fmla="*/ 6858002 h 6858002"/>
              <a:gd name="connsiteX31" fmla="*/ 0 w 12191997"/>
              <a:gd name="connsiteY31" fmla="*/ 6858002 h 6858002"/>
              <a:gd name="connsiteX32" fmla="*/ 0 w 12191997"/>
              <a:gd name="connsiteY32"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1997" h="6858002">
                <a:moveTo>
                  <a:pt x="417190" y="6550173"/>
                </a:moveTo>
                <a:lnTo>
                  <a:pt x="419098" y="6550173"/>
                </a:lnTo>
                <a:lnTo>
                  <a:pt x="419098" y="6552070"/>
                </a:lnTo>
                <a:lnTo>
                  <a:pt x="417190" y="6550173"/>
                </a:lnTo>
                <a:close/>
                <a:moveTo>
                  <a:pt x="522773" y="6489534"/>
                </a:moveTo>
                <a:lnTo>
                  <a:pt x="522773" y="6626228"/>
                </a:lnTo>
                <a:lnTo>
                  <a:pt x="552231" y="6626228"/>
                </a:lnTo>
                <a:lnTo>
                  <a:pt x="552231" y="6544276"/>
                </a:lnTo>
                <a:lnTo>
                  <a:pt x="596420" y="6588218"/>
                </a:lnTo>
                <a:lnTo>
                  <a:pt x="640607" y="6544276"/>
                </a:lnTo>
                <a:lnTo>
                  <a:pt x="640607" y="6626228"/>
                </a:lnTo>
                <a:lnTo>
                  <a:pt x="668233" y="6626228"/>
                </a:lnTo>
                <a:lnTo>
                  <a:pt x="668233" y="6489534"/>
                </a:lnTo>
                <a:lnTo>
                  <a:pt x="653161" y="6489534"/>
                </a:lnTo>
                <a:lnTo>
                  <a:pt x="653160" y="6489534"/>
                </a:lnTo>
                <a:lnTo>
                  <a:pt x="596792" y="6546315"/>
                </a:lnTo>
                <a:lnTo>
                  <a:pt x="539693" y="6489534"/>
                </a:lnTo>
                <a:lnTo>
                  <a:pt x="522773" y="6489534"/>
                </a:lnTo>
                <a:close/>
                <a:moveTo>
                  <a:pt x="419099" y="6550173"/>
                </a:moveTo>
                <a:lnTo>
                  <a:pt x="419098" y="6550172"/>
                </a:lnTo>
                <a:lnTo>
                  <a:pt x="417189" y="6550172"/>
                </a:lnTo>
                <a:lnTo>
                  <a:pt x="417190" y="6550173"/>
                </a:lnTo>
                <a:lnTo>
                  <a:pt x="419099" y="6552071"/>
                </a:lnTo>
                <a:lnTo>
                  <a:pt x="419098" y="6552071"/>
                </a:lnTo>
                <a:lnTo>
                  <a:pt x="419099" y="6552071"/>
                </a:lnTo>
                <a:lnTo>
                  <a:pt x="493259" y="6625821"/>
                </a:lnTo>
                <a:lnTo>
                  <a:pt x="493259" y="6550173"/>
                </a:lnTo>
                <a:lnTo>
                  <a:pt x="419099" y="6550173"/>
                </a:lnTo>
                <a:close/>
                <a:moveTo>
                  <a:pt x="0" y="0"/>
                </a:moveTo>
                <a:lnTo>
                  <a:pt x="12191997" y="0"/>
                </a:lnTo>
                <a:lnTo>
                  <a:pt x="12191997" y="6858002"/>
                </a:lnTo>
                <a:lnTo>
                  <a:pt x="0" y="6858002"/>
                </a:lnTo>
                <a:lnTo>
                  <a:pt x="0" y="0"/>
                </a:lnTo>
                <a:close/>
              </a:path>
            </a:pathLst>
          </a:custGeom>
          <a:solidFill>
            <a:schemeClr val="accent5"/>
          </a:solidFill>
        </p:spPr>
        <p:txBody>
          <a:bodyPr wrap="square">
            <a:noAutofit/>
          </a:bodyPr>
          <a:lstStyle>
            <a:lvl1pPr marL="0" indent="0" algn="ctr">
              <a:buNone/>
              <a:defRPr sz="1200" b="0">
                <a:solidFill>
                  <a:schemeClr val="bg1"/>
                </a:solidFill>
                <a:latin typeface="+mj-lt"/>
              </a:defRPr>
            </a:lvl1pPr>
          </a:lstStyle>
          <a:p>
            <a:r>
              <a:rPr lang="en-US"/>
              <a:t>Full Bleed Image Option – click on image icon to insert</a:t>
            </a:r>
          </a:p>
        </p:txBody>
      </p:sp>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4" name="Graphic 9">
            <a:extLst>
              <a:ext uri="{FF2B5EF4-FFF2-40B4-BE49-F238E27FC236}">
                <a16:creationId xmlns:a16="http://schemas.microsoft.com/office/drawing/2014/main" id="{3A3D2473-9F36-446A-A8FA-6492495329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487E1F0-8E2B-D294-12AE-66769DB84F7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6BDBB09E-07B6-82BF-25AF-60D2713980F8}"/>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81423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atement Slide - Light Imag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97BFE9-BEE7-F58E-6537-4215445B6864}"/>
              </a:ext>
            </a:extLst>
          </p:cNvPr>
          <p:cNvSpPr>
            <a:spLocks noGrp="1"/>
          </p:cNvSpPr>
          <p:nvPr>
            <p:ph type="title"/>
          </p:nvPr>
        </p:nvSpPr>
        <p:spPr>
          <a:xfrm>
            <a:off x="1241258" y="1993899"/>
            <a:ext cx="9709484" cy="2870201"/>
          </a:xfrm>
        </p:spPr>
        <p:txBody>
          <a:bodyPr vert="horz" lIns="91440" tIns="45720" rIns="91440" bIns="45720" rtlCol="0" anchor="ctr">
            <a:noAutofit/>
          </a:bodyPr>
          <a:lstStyle>
            <a:lvl1pPr algn="ctr">
              <a:defRPr lang="en-US" sz="4400" b="0" cap="none" spc="-50" baseline="0" dirty="0">
                <a:solidFill>
                  <a:schemeClr val="tx1"/>
                </a:solidFill>
                <a:latin typeface="+mj-lt"/>
              </a:defRPr>
            </a:lvl1pPr>
          </a:lstStyle>
          <a:p>
            <a:pPr lvl="0">
              <a:lnSpc>
                <a:spcPct val="85000"/>
              </a:lnSpc>
            </a:pPr>
            <a:r>
              <a:rPr lang="en-US"/>
              <a:t>Click to edit Master title style</a:t>
            </a:r>
          </a:p>
        </p:txBody>
      </p:sp>
    </p:spTree>
    <p:extLst>
      <p:ext uri="{BB962C8B-B14F-4D97-AF65-F5344CB8AC3E}">
        <p14:creationId xmlns:p14="http://schemas.microsoft.com/office/powerpoint/2010/main" val="2773217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mp; Body + EYEBROW">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spTree>
    <p:extLst>
      <p:ext uri="{BB962C8B-B14F-4D97-AF65-F5344CB8AC3E}">
        <p14:creationId xmlns:p14="http://schemas.microsoft.com/office/powerpoint/2010/main" val="1590816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mp; Body + EYEBROW +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91440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cxnSp>
        <p:nvCxnSpPr>
          <p:cNvPr id="6" name="Straight Connector 5">
            <a:extLst>
              <a:ext uri="{FF2B5EF4-FFF2-40B4-BE49-F238E27FC236}">
                <a16:creationId xmlns:a16="http://schemas.microsoft.com/office/drawing/2014/main" id="{A9A652DD-9EB4-EBCC-D99F-7C1BD35129EA}"/>
              </a:ext>
            </a:extLst>
          </p:cNvPr>
          <p:cNvCxnSpPr>
            <a:cxnSpLocks/>
          </p:cNvCxnSpPr>
          <p:nvPr userDrawn="1"/>
        </p:nvCxnSpPr>
        <p:spPr>
          <a:xfrm>
            <a:off x="533400" y="806092"/>
            <a:ext cx="111252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 name="Content Placeholder 4">
            <a:extLst>
              <a:ext uri="{FF2B5EF4-FFF2-40B4-BE49-F238E27FC236}">
                <a16:creationId xmlns:a16="http://schemas.microsoft.com/office/drawing/2014/main" id="{72E01C5B-B994-ECBE-A728-43FA40CF55CE}"/>
              </a:ext>
            </a:extLst>
          </p:cNvPr>
          <p:cNvSpPr>
            <a:spLocks noGrp="1"/>
          </p:cNvSpPr>
          <p:nvPr>
            <p:ph sz="quarter" idx="11"/>
          </p:nvPr>
        </p:nvSpPr>
        <p:spPr>
          <a:xfrm>
            <a:off x="533400" y="1635354"/>
            <a:ext cx="11125200" cy="4381397"/>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4412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Body">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219200"/>
            <a:ext cx="11125200" cy="4800599"/>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Tree>
    <p:extLst>
      <p:ext uri="{BB962C8B-B14F-4D97-AF65-F5344CB8AC3E}">
        <p14:creationId xmlns:p14="http://schemas.microsoft.com/office/powerpoint/2010/main" val="11818961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Body 2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8"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6675120"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62997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Body 3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9"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4322064"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F466B4D2-38C6-E3E9-D68E-B47FB0924CA0}"/>
              </a:ext>
            </a:extLst>
          </p:cNvPr>
          <p:cNvSpPr>
            <a:spLocks noGrp="1"/>
          </p:cNvSpPr>
          <p:nvPr>
            <p:ph sz="quarter" idx="13"/>
          </p:nvPr>
        </p:nvSpPr>
        <p:spPr>
          <a:xfrm>
            <a:off x="8110728"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8974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p>
            <a:r>
              <a:rPr lang="en-US"/>
              <a:t>Click to edit Master title style</a:t>
            </a:r>
          </a:p>
        </p:txBody>
      </p:sp>
    </p:spTree>
    <p:extLst>
      <p:ext uri="{BB962C8B-B14F-4D97-AF65-F5344CB8AC3E}">
        <p14:creationId xmlns:p14="http://schemas.microsoft.com/office/powerpoint/2010/main" val="1018922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8076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89D0F4-D14E-2391-C035-8D4F022380C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8" name="TextBox 7">
            <a:extLst>
              <a:ext uri="{FF2B5EF4-FFF2-40B4-BE49-F238E27FC236}">
                <a16:creationId xmlns:a16="http://schemas.microsoft.com/office/drawing/2014/main" id="{BF3C50C5-83D2-174A-8E01-353653718445}"/>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3" name="Graphic 9">
            <a:extLst>
              <a:ext uri="{FF2B5EF4-FFF2-40B4-BE49-F238E27FC236}">
                <a16:creationId xmlns:a16="http://schemas.microsoft.com/office/drawing/2014/main" id="{732AA259-A6AF-EC29-5532-7F89B2999E1C}"/>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6E9AE4E-794D-87F2-4C05-6D750127774B}"/>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1FFB977A-09D9-1892-6CC0-012B3144D78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4970244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mp; Bod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646CBC-6FE2-3596-CA9A-848AF961AE20}"/>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10" name="TextBox 9">
            <a:extLst>
              <a:ext uri="{FF2B5EF4-FFF2-40B4-BE49-F238E27FC236}">
                <a16:creationId xmlns:a16="http://schemas.microsoft.com/office/drawing/2014/main" id="{1B97C4DD-D778-3B47-91CB-0DBEC93C9B2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Content Placeholder 4">
            <a:extLst>
              <a:ext uri="{FF2B5EF4-FFF2-40B4-BE49-F238E27FC236}">
                <a16:creationId xmlns:a16="http://schemas.microsoft.com/office/drawing/2014/main" id="{5B3261BB-9F2B-9340-9D35-C7D084FF499C}"/>
              </a:ext>
            </a:extLst>
          </p:cNvPr>
          <p:cNvSpPr>
            <a:spLocks noGrp="1"/>
          </p:cNvSpPr>
          <p:nvPr>
            <p:ph sz="quarter" idx="11"/>
          </p:nvPr>
        </p:nvSpPr>
        <p:spPr>
          <a:xfrm>
            <a:off x="533400" y="1219200"/>
            <a:ext cx="11125200" cy="4800599"/>
          </a:xfrm>
        </p:spPr>
        <p:txBody>
          <a:bodyPr/>
          <a:lstStyle>
            <a:lvl1pPr>
              <a:defRPr>
                <a:solidFill>
                  <a:schemeClr val="bg1"/>
                </a:solidFill>
              </a:defRPr>
            </a:lvl1pPr>
            <a:lvl2pPr marL="274320" indent="-182880">
              <a:buFont typeface="Arial" panose="020B0604020202020204" pitchFamily="34" charset="0"/>
              <a:buChar char="•"/>
              <a:defRPr>
                <a:solidFill>
                  <a:schemeClr val="bg1"/>
                </a:solidFill>
              </a:defRPr>
            </a:lvl2pPr>
            <a:lvl3pPr marL="640080" indent="-182880">
              <a:buFont typeface="Arial" panose="020B0604020202020204" pitchFamily="34" charset="0"/>
              <a:buChar char="•"/>
              <a:defRPr>
                <a:solidFill>
                  <a:schemeClr val="bg1"/>
                </a:solidFill>
              </a:defRPr>
            </a:lvl3pPr>
            <a:lvl4pPr marL="1005840" indent="-182880">
              <a:buFont typeface="Arial" panose="020B0604020202020204" pitchFamily="34" charset="0"/>
              <a:buChar char="•"/>
              <a:defRPr>
                <a:solidFill>
                  <a:schemeClr val="bg1"/>
                </a:solidFill>
              </a:defRPr>
            </a:lvl4pPr>
            <a:lvl5pPr marL="1371600" indent="-182880">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aphic 9">
            <a:extLst>
              <a:ext uri="{FF2B5EF4-FFF2-40B4-BE49-F238E27FC236}">
                <a16:creationId xmlns:a16="http://schemas.microsoft.com/office/drawing/2014/main" id="{F8B5E816-7D75-0001-CE5A-06EF94F015C5}"/>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4B571E3A-ACB2-CF3F-D682-5A60220C80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A6BD859A-D9BF-AD32-D97B-51D39374A711}"/>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3495519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Body + EYEBROW with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B87FB-A401-9C88-F7DA-B4DB9C08974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solidFill>
                  <a:schemeClr val="bg1"/>
                </a:solidFill>
              </a:defRPr>
            </a:lvl1pPr>
            <a:lvl2pPr marL="274320" indent="-182880">
              <a:lnSpc>
                <a:spcPct val="100000"/>
              </a:lnSpc>
              <a:spcBef>
                <a:spcPts val="0"/>
              </a:spcBef>
              <a:spcAft>
                <a:spcPts val="600"/>
              </a:spcAft>
              <a:buFont typeface="Arial" panose="020B0604020202020204" pitchFamily="34" charset="0"/>
              <a:buChar char="•"/>
              <a:defRPr>
                <a:solidFill>
                  <a:schemeClr val="bg1"/>
                </a:solidFill>
              </a:defRPr>
            </a:lvl2pPr>
            <a:lvl3pPr marL="640080" indent="-182880">
              <a:lnSpc>
                <a:spcPct val="100000"/>
              </a:lnSpc>
              <a:spcBef>
                <a:spcPts val="0"/>
              </a:spcBef>
              <a:spcAft>
                <a:spcPts val="600"/>
              </a:spcAft>
              <a:buFont typeface="Arial" panose="020B0604020202020204" pitchFamily="34" charset="0"/>
              <a:buChar char="•"/>
              <a:defRPr>
                <a:solidFill>
                  <a:schemeClr val="bg1"/>
                </a:solidFill>
              </a:defRPr>
            </a:lvl3pPr>
            <a:lvl4pPr marL="1005840" indent="-182880">
              <a:lnSpc>
                <a:spcPct val="100000"/>
              </a:lnSpc>
              <a:spcBef>
                <a:spcPts val="0"/>
              </a:spcBef>
              <a:spcAft>
                <a:spcPts val="600"/>
              </a:spcAft>
              <a:buFont typeface="Arial" panose="020B0604020202020204" pitchFamily="34" charset="0"/>
              <a:buChar char="•"/>
              <a:defRPr>
                <a:solidFill>
                  <a:schemeClr val="bg1"/>
                </a:solidFill>
              </a:defRPr>
            </a:lvl4pPr>
            <a:lvl5pPr marL="1371600" indent="-182880">
              <a:lnSpc>
                <a:spcPct val="100000"/>
              </a:lnSpc>
              <a:spcBef>
                <a:spcPts val="0"/>
              </a:spcBef>
              <a:spcAft>
                <a:spcPts val="600"/>
              </a:spcAft>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bg2">
                    <a:lumMod val="90000"/>
                  </a:schemeClr>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grpSp>
        <p:nvGrpSpPr>
          <p:cNvPr id="7" name="Graphic 9">
            <a:extLst>
              <a:ext uri="{FF2B5EF4-FFF2-40B4-BE49-F238E27FC236}">
                <a16:creationId xmlns:a16="http://schemas.microsoft.com/office/drawing/2014/main" id="{D9FCE122-784E-9DC6-F7E8-FA43165BFF3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8" name="Freeform 7">
              <a:extLst>
                <a:ext uri="{FF2B5EF4-FFF2-40B4-BE49-F238E27FC236}">
                  <a16:creationId xmlns:a16="http://schemas.microsoft.com/office/drawing/2014/main" id="{22731A90-798F-263D-EA32-25545EDF5D0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8">
              <a:extLst>
                <a:ext uri="{FF2B5EF4-FFF2-40B4-BE49-F238E27FC236}">
                  <a16:creationId xmlns:a16="http://schemas.microsoft.com/office/drawing/2014/main" id="{2B36744D-81AD-D6CF-EAF0-E1488DD39B7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6" name="TextBox 5">
            <a:extLst>
              <a:ext uri="{FF2B5EF4-FFF2-40B4-BE49-F238E27FC236}">
                <a16:creationId xmlns:a16="http://schemas.microsoft.com/office/drawing/2014/main" id="{F1DD96A2-159F-BFEA-27CA-32D611C64F0A}"/>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430617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D13399-5BEF-EEED-B940-0B118B8114F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TextBox 7">
            <a:extLst>
              <a:ext uri="{FF2B5EF4-FFF2-40B4-BE49-F238E27FC236}">
                <a16:creationId xmlns:a16="http://schemas.microsoft.com/office/drawing/2014/main" id="{EE1B876D-140A-A646-9E95-8CA988F4773F}"/>
              </a:ext>
            </a:extLst>
          </p:cNvPr>
          <p:cNvSpPr txBox="1"/>
          <p:nvPr/>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grpSp>
        <p:nvGrpSpPr>
          <p:cNvPr id="11" name="Graphic 9">
            <a:extLst>
              <a:ext uri="{FF2B5EF4-FFF2-40B4-BE49-F238E27FC236}">
                <a16:creationId xmlns:a16="http://schemas.microsoft.com/office/drawing/2014/main" id="{3266A6D4-7FA8-1F50-AF70-17632A9A1500}"/>
              </a:ext>
            </a:extLst>
          </p:cNvPr>
          <p:cNvGrpSpPr>
            <a:grpSpLocks noChangeAspect="1"/>
          </p:cNvGrpSpPr>
          <p:nvPr userDrawn="1"/>
        </p:nvGrpSpPr>
        <p:grpSpPr>
          <a:xfrm>
            <a:off x="5473098" y="3188907"/>
            <a:ext cx="878544" cy="482508"/>
            <a:chOff x="11484948" y="313034"/>
            <a:chExt cx="401233" cy="220363"/>
          </a:xfrm>
          <a:solidFill>
            <a:schemeClr val="accent5"/>
          </a:solidFill>
        </p:grpSpPr>
        <p:sp>
          <p:nvSpPr>
            <p:cNvPr id="12" name="Freeform 11">
              <a:extLst>
                <a:ext uri="{FF2B5EF4-FFF2-40B4-BE49-F238E27FC236}">
                  <a16:creationId xmlns:a16="http://schemas.microsoft.com/office/drawing/2014/main" id="{D38B71AF-F8A4-A1E9-B960-47978F397A7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8D225686-E5A8-A339-D3BA-08D00055A0AB}"/>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4734205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04921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B730ED-7B9D-40FC-B1E0-F1125DD90F87}"/>
              </a:ext>
            </a:extLst>
          </p:cNvPr>
          <p:cNvSpPr>
            <a:spLocks noGrp="1"/>
          </p:cNvSpPr>
          <p:nvPr>
            <p:ph type="title"/>
          </p:nvPr>
        </p:nvSpPr>
        <p:spPr>
          <a:xfrm>
            <a:off x="533400" y="457200"/>
            <a:ext cx="11125200" cy="609600"/>
          </a:xfrm>
          <a:prstGeom prst="rect">
            <a:avLst/>
          </a:prstGeom>
        </p:spPr>
        <p:txBody>
          <a:bodyPr vert="horz" lIns="91440" tIns="45720" rIns="91440" bIns="45720" rtlCol="0" anchor="t">
            <a:no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F1B16267-223E-41DF-97C0-3C5C64CF28FE}"/>
              </a:ext>
            </a:extLst>
          </p:cNvPr>
          <p:cNvSpPr>
            <a:spLocks noGrp="1"/>
          </p:cNvSpPr>
          <p:nvPr>
            <p:ph type="body" idx="1"/>
          </p:nvPr>
        </p:nvSpPr>
        <p:spPr>
          <a:xfrm>
            <a:off x="533400" y="1219200"/>
            <a:ext cx="11125200" cy="480059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F89AE7F-24B1-A64B-B288-B6C5E8A9B846}"/>
              </a:ext>
            </a:extLst>
          </p:cNvPr>
          <p:cNvSpPr txBox="1"/>
          <p:nvPr/>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TextBox 8">
            <a:extLst>
              <a:ext uri="{FF2B5EF4-FFF2-40B4-BE49-F238E27FC236}">
                <a16:creationId xmlns:a16="http://schemas.microsoft.com/office/drawing/2014/main" id="{A90C8A3C-DD41-F348-BAAE-28579DC164C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14" name="Graphic 9">
            <a:extLst>
              <a:ext uri="{FF2B5EF4-FFF2-40B4-BE49-F238E27FC236}">
                <a16:creationId xmlns:a16="http://schemas.microsoft.com/office/drawing/2014/main" id="{91938403-5DD2-285C-67C1-6B3077C17C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5" name="Freeform 14">
              <a:extLst>
                <a:ext uri="{FF2B5EF4-FFF2-40B4-BE49-F238E27FC236}">
                  <a16:creationId xmlns:a16="http://schemas.microsoft.com/office/drawing/2014/main" id="{2C8368F7-FE0C-4A9D-A6AC-23CC716F632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6" name="Freeform 15">
              <a:extLst>
                <a:ext uri="{FF2B5EF4-FFF2-40B4-BE49-F238E27FC236}">
                  <a16:creationId xmlns:a16="http://schemas.microsoft.com/office/drawing/2014/main" id="{B327AF6F-810F-21C4-8946-5FD13473973C}"/>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038093919"/>
      </p:ext>
    </p:extLst>
  </p:cSld>
  <p:clrMap bg1="dk1" tx1="lt1" bg2="dk2" tx2="lt2" accent1="accent1" accent2="accent2" accent3="accent3" accent4="accent4" accent5="accent5" accent6="accent6" hlink="hlink" folHlink="folHlink"/>
  <p:sldLayoutIdLst>
    <p:sldLayoutId id="2147484052" r:id="rId1"/>
    <p:sldLayoutId id="2147484053" r:id="rId2"/>
    <p:sldLayoutId id="2147484088" r:id="rId3"/>
    <p:sldLayoutId id="2147484087" r:id="rId4"/>
    <p:sldLayoutId id="2147484054" r:id="rId5"/>
    <p:sldLayoutId id="2147484057" r:id="rId6"/>
    <p:sldLayoutId id="2147484101" r:id="rId7"/>
    <p:sldLayoutId id="2147484059" r:id="rId8"/>
    <p:sldLayoutId id="2147484100" r:id="rId9"/>
    <p:sldLayoutId id="2147484089" r:id="rId10"/>
    <p:sldLayoutId id="2147484098" r:id="rId11"/>
    <p:sldLayoutId id="2147484090" r:id="rId12"/>
    <p:sldLayoutId id="2147484105" r:id="rId13"/>
    <p:sldLayoutId id="2147484104" r:id="rId14"/>
    <p:sldLayoutId id="2147484061" r:id="rId15"/>
    <p:sldLayoutId id="2147484119" r:id="rId16"/>
    <p:sldLayoutId id="2147484120" r:id="rId17"/>
    <p:sldLayoutId id="2147484093" r:id="rId18"/>
    <p:sldLayoutId id="2147484094" r:id="rId19"/>
    <p:sldLayoutId id="2147484075" r:id="rId20"/>
    <p:sldLayoutId id="2147484096" r:id="rId21"/>
    <p:sldLayoutId id="2147484117" r:id="rId22"/>
    <p:sldLayoutId id="2147484076" r:id="rId23"/>
    <p:sldLayoutId id="2147484077" r:id="rId24"/>
    <p:sldLayoutId id="2147484064" r:id="rId25"/>
    <p:sldLayoutId id="2147484116" r:id="rId26"/>
    <p:sldLayoutId id="2147484063" r:id="rId27"/>
    <p:sldLayoutId id="2147484066" r:id="rId28"/>
    <p:sldLayoutId id="2147484065" r:id="rId29"/>
    <p:sldLayoutId id="2147484067" r:id="rId30"/>
    <p:sldLayoutId id="2147484068" r:id="rId31"/>
    <p:sldLayoutId id="2147484074" r:id="rId32"/>
    <p:sldLayoutId id="2147484073" r:id="rId33"/>
    <p:sldLayoutId id="2147484118" r:id="rId34"/>
    <p:sldLayoutId id="2147484086" r:id="rId35"/>
    <p:sldLayoutId id="2147484121" r:id="rId36"/>
  </p:sldLayoutIdLst>
  <p:txStyles>
    <p:titleStyle>
      <a:lvl1pPr algn="l" defTabSz="914400" rtl="0" eaLnBrk="1" latinLnBrk="0" hangingPunct="1">
        <a:lnSpc>
          <a:spcPct val="90000"/>
        </a:lnSpc>
        <a:spcBef>
          <a:spcPct val="0"/>
        </a:spcBef>
        <a:buNone/>
        <a:defRPr sz="24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tabLst/>
        <a:defRPr sz="1400" kern="1200">
          <a:solidFill>
            <a:schemeClr val="tx1"/>
          </a:solidFill>
          <a:latin typeface="+mn-lt"/>
          <a:ea typeface="+mn-ea"/>
          <a:cs typeface="+mn-cs"/>
        </a:defRPr>
      </a:lvl1pPr>
      <a:lvl2pPr marL="27432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64008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137160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orient="horz" pos="3936">
          <p15:clr>
            <a:srgbClr val="F26B43"/>
          </p15:clr>
        </p15:guide>
        <p15:guide id="22" orient="horz" pos="4176">
          <p15:clr>
            <a:srgbClr val="F26B43"/>
          </p15:clr>
        </p15:guide>
        <p15:guide id="27" orient="horz" pos="336">
          <p15:clr>
            <a:srgbClr val="5ACBF0"/>
          </p15:clr>
        </p15:guide>
        <p15:guide id="28" orient="horz" pos="3792">
          <p15:clr>
            <a:srgbClr val="5ACBF0"/>
          </p15:clr>
        </p15:guide>
        <p15:guide id="29" pos="336">
          <p15:clr>
            <a:srgbClr val="5ACBF0"/>
          </p15:clr>
        </p15:guide>
        <p15:guide id="30" pos="7344">
          <p15:clr>
            <a:srgbClr val="5ACBF0"/>
          </p15:clr>
        </p15:guide>
        <p15:guide id="31" orient="horz" pos="768">
          <p15:clr>
            <a:srgbClr val="5ACBF0"/>
          </p15:clr>
        </p15:guide>
        <p15:guide id="32" orient="horz" pos="720">
          <p15:clr>
            <a:srgbClr val="5ACBF0"/>
          </p15:clr>
        </p15:guide>
        <p15:guide id="33" orient="horz" pos="2160">
          <p15:clr>
            <a:srgbClr val="FDE53C"/>
          </p15:clr>
        </p15:guide>
        <p15:guide id="34" pos="3840">
          <p15:clr>
            <a:srgbClr val="FDE53C"/>
          </p15:clr>
        </p15:guide>
        <p15:guide id="35" pos="1366">
          <p15:clr>
            <a:srgbClr val="A4A3A4"/>
          </p15:clr>
        </p15:guide>
        <p15:guide id="36" pos="1533">
          <p15:clr>
            <a:srgbClr val="A4A3A4"/>
          </p15:clr>
        </p15:guide>
        <p15:guide id="37" pos="2561">
          <p15:clr>
            <a:srgbClr val="A4A3A4"/>
          </p15:clr>
        </p15:guide>
        <p15:guide id="38" pos="2729">
          <p15:clr>
            <a:srgbClr val="A4A3A4"/>
          </p15:clr>
        </p15:guide>
        <p15:guide id="39" pos="3756">
          <p15:clr>
            <a:srgbClr val="A4A3A4"/>
          </p15:clr>
        </p15:guide>
        <p15:guide id="40" pos="3927">
          <p15:clr>
            <a:srgbClr val="A4A3A4"/>
          </p15:clr>
        </p15:guide>
        <p15:guide id="41" pos="4957">
          <p15:clr>
            <a:srgbClr val="A4A3A4"/>
          </p15:clr>
        </p15:guide>
        <p15:guide id="42" pos="5122">
          <p15:clr>
            <a:srgbClr val="A4A3A4"/>
          </p15:clr>
        </p15:guide>
        <p15:guide id="43" pos="6153">
          <p15:clr>
            <a:srgbClr val="A4A3A4"/>
          </p15:clr>
        </p15:guide>
        <p15:guide id="44" pos="6320">
          <p15:clr>
            <a:srgbClr val="A4A3A4"/>
          </p15:clr>
        </p15:guide>
        <p15:guide id="45" pos="240">
          <p15:clr>
            <a:srgbClr val="FDE53C"/>
          </p15:clr>
        </p15:guide>
        <p15:guide id="46" pos="340">
          <p15:clr>
            <a:srgbClr val="FDE53C"/>
          </p15:clr>
        </p15:guide>
        <p15:guide id="47" pos="7464">
          <p15:clr>
            <a:srgbClr val="FDE53C"/>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9.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4.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0.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8.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div_p1.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5" name="Rectangle 4"/>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2710000"/>
            <a:ext cx="7300000" cy="3260000"/>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900000"/>
            <a:ext cx="6300000" cy="3000000"/>
          </a:xfrm>
        </p:spPr>
        <p:txBody>
          <a:bodyPr anchor="b"/>
          <a:lstStyle/>
          <a:p>
            <a:r>
              <a:t>Deal to Delivery Playbook</a:t>
            </a:r>
          </a:p>
        </p:txBody>
      </p:sp>
      <p:sp>
        <p:nvSpPr>
          <p:cNvPr id="6" name="TextBox 5"/>
          <p:cNvSpPr txBox="1"/>
          <p:nvPr/>
        </p:nvSpPr>
        <p:spPr>
          <a:xfrm>
            <a:off x="914400" y="294000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7" name="TextBox 6"/>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a:solidFill>
                  <a:srgbClr val="FFFFFF"/>
                </a:solidFill>
              </a:rPr>
              <a:t>Missy Foristall, Chris McComas, Deana Derocha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a:solidFill>
                  <a:schemeClr val="bg1"/>
                </a:solidFill>
              </a:rPr>
              <a:t>Deal to Delivery Playbook: Context</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If we do nothing else, we must stop selling what we cannot properly deliver.</a:t>
            </a:r>
          </a:p>
        </p:txBody>
      </p:sp>
      <p:sp>
        <p:nvSpPr>
          <p:cNvPr id="50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2026 GOAL</a:t>
            </a:r>
          </a:p>
          <a:p>
            <a:pPr marL="0" indent="0">
              <a:spcAft>
                <a:spcPts val="300"/>
              </a:spcAft>
              <a:buNone/>
            </a:pPr>
            <a:r>
              <a:rPr lang="en-US" sz="1400" b="1">
                <a:solidFill>
                  <a:srgbClr val="FFFFFF"/>
                </a:solidFill>
              </a:rPr>
              <a:t>Align how we scope, execute, and set client expectations, so what we sell is what we deliver.</a:t>
            </a:r>
          </a:p>
          <a:p>
            <a:pPr marL="171450" indent="-171450">
              <a:spcBef>
                <a:spcPts val="600"/>
              </a:spcBef>
              <a:spcAft>
                <a:spcPts val="300"/>
              </a:spcAft>
              <a:buFont typeface="Arial" panose="020B0604020202020204" pitchFamily="34" charset="0"/>
              <a:buChar char="•"/>
            </a:pPr>
            <a:r>
              <a:rPr lang="en-US" sz="1000">
                <a:solidFill>
                  <a:srgbClr val="FFFFFF"/>
                </a:solidFill>
              </a:rPr>
              <a:t>In practice: each deal is sold on a named delivery model, with contract, scope and billing matched to it, and delivery follows that same shape from qualification through staffing.</a:t>
            </a:r>
          </a:p>
        </p:txBody>
      </p:sp>
      <p:sp>
        <p:nvSpPr>
          <p:cNvPr id="50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THE PROBLEM</a:t>
            </a:r>
          </a:p>
          <a:p>
            <a:pPr marL="171450" indent="-171450">
              <a:spcAft>
                <a:spcPts val="300"/>
              </a:spcAft>
              <a:buFont typeface="Arial" panose="020B0604020202020204" pitchFamily="34" charset="0"/>
              <a:buChar char="•"/>
            </a:pPr>
            <a:r>
              <a:rPr lang="en-US" sz="1000"/>
              <a:t>Work is sold in shapes we cannot staff or deliver.</a:t>
            </a:r>
          </a:p>
          <a:p>
            <a:pPr marL="171450" indent="-171450">
              <a:spcAft>
                <a:spcPts val="300"/>
              </a:spcAft>
              <a:buFont typeface="Arial" panose="020B0604020202020204" pitchFamily="34" charset="0"/>
              <a:buChar char="•"/>
            </a:pPr>
            <a:r>
              <a:rPr lang="en-US" sz="1000"/>
              <a:t>There is no standardized, named set of delivery models that is declared at the point of sale, carried into contracting, enforced at staffing and used for delivery.</a:t>
            </a:r>
          </a:p>
          <a:p>
            <a:pPr marL="171450" indent="-171450">
              <a:spcAft>
                <a:spcPts val="300"/>
              </a:spcAft>
              <a:buFont typeface="Arial" panose="020B0604020202020204" pitchFamily="34" charset="0"/>
              <a:buChar char="•"/>
            </a:pPr>
            <a:r>
              <a:rPr lang="en-US" sz="1000"/>
              <a:t>The delivery approach is decided implicitly by whoever is making decisions at that moment, and it is often not understood until the symptoms are visible to the client or a pivot needs investment.</a:t>
            </a:r>
          </a:p>
        </p:txBody>
      </p:sp>
      <p:sp>
        <p:nvSpPr>
          <p:cNvPr id="50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WHAT WE ARE CHANGING</a:t>
            </a:r>
          </a:p>
          <a:p>
            <a:pPr marL="171450" indent="-171450">
              <a:spcAft>
                <a:spcPts val="300"/>
              </a:spcAft>
              <a:buFont typeface="Arial" panose="020B0604020202020204" pitchFamily="34" charset="0"/>
              <a:buChar char="•"/>
            </a:pPr>
            <a:r>
              <a:rPr lang="en-US" sz="1000"/>
              <a:t>Every engagement and every track gets a named delivery model from a small, standard set, declared before review and staffing.</a:t>
            </a:r>
          </a:p>
          <a:p>
            <a:pPr marL="171450" indent="-171450">
              <a:spcAft>
                <a:spcPts val="300"/>
              </a:spcAft>
              <a:buFont typeface="Arial" panose="020B0604020202020204" pitchFamily="34" charset="0"/>
              <a:buChar char="•"/>
            </a:pPr>
            <a:r>
              <a:rPr lang="en-US" sz="1000"/>
              <a:t>No SOW is signed without a model name attached, and that name determines governance.</a:t>
            </a:r>
          </a:p>
          <a:p>
            <a:pPr marL="171450" indent="-171450">
              <a:spcBef>
                <a:spcPts val="500"/>
              </a:spcBef>
              <a:spcAft>
                <a:spcPts val="300"/>
              </a:spcAft>
              <a:buFont typeface="Arial" panose="020B0604020202020204" pitchFamily="34" charset="0"/>
              <a:buChar char="•"/>
            </a:pPr>
            <a:r>
              <a:rPr lang="en-US" sz="1100" b="1">
                <a:solidFill>
                  <a:srgbClr val="000000"/>
                </a:solidFill>
              </a:rPr>
              <a:t>Four starting models</a:t>
            </a:r>
          </a:p>
          <a:p>
            <a:pPr marL="171450" indent="-171450">
              <a:spcAft>
                <a:spcPts val="300"/>
              </a:spcAft>
              <a:buFont typeface="Arial" panose="020B0604020202020204" pitchFamily="34" charset="0"/>
              <a:buChar char="•"/>
            </a:pPr>
            <a:r>
              <a:rPr lang="en-US" sz="1000"/>
              <a:t>Fixed Constraint Delivery, Velocity Based Delivery, Outcomes Based Delivery, Retainer</a:t>
            </a:r>
          </a:p>
          <a:p>
            <a:pPr marL="171450" indent="-171450">
              <a:spcBef>
                <a:spcPts val="500"/>
              </a:spcBef>
              <a:spcAft>
                <a:spcPts val="300"/>
              </a:spcAft>
              <a:buFont typeface="Arial" panose="020B0604020202020204" pitchFamily="34" charset="0"/>
              <a:buChar char="•"/>
            </a:pPr>
            <a:r>
              <a:rPr lang="en-US" sz="1100" b="1">
                <a:solidFill>
                  <a:srgbClr val="000000"/>
                </a:solidFill>
              </a:rPr>
              <a:t>MVP: three stories, all three must work together</a:t>
            </a:r>
          </a:p>
          <a:p>
            <a:pPr marL="171450" indent="-171450">
              <a:spcAft>
                <a:spcPts val="300"/>
              </a:spcAft>
              <a:buFont typeface="Arial" panose="020B0604020202020204" pitchFamily="34" charset="0"/>
              <a:buChar char="•"/>
            </a:pPr>
            <a:r>
              <a:rPr lang="en-US" sz="1000"/>
              <a:t>Delivery Models, Contracts, Methodology Standards</a:t>
            </a:r>
          </a:p>
        </p:txBody>
      </p:sp>
      <p:sp>
        <p:nvSpPr>
          <p:cNvPr id="50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WHAT THIS UNLOCKS</a:t>
            </a:r>
          </a:p>
          <a:p>
            <a:pPr marL="171450" indent="-171450">
              <a:spcAft>
                <a:spcPts val="300"/>
              </a:spcAft>
              <a:buFont typeface="Arial" panose="020B0604020202020204" pitchFamily="34" charset="0"/>
              <a:buChar char="•"/>
            </a:pPr>
            <a:r>
              <a:rPr lang="en-US" sz="1000">
                <a:solidFill>
                  <a:srgbClr val="FFFFFF"/>
                </a:solidFill>
              </a:rPr>
              <a:t>We stop agreeing to unfeasible combinations, like fixed-price with no scope control.</a:t>
            </a:r>
          </a:p>
          <a:p>
            <a:pPr marL="171450" indent="-171450">
              <a:spcAft>
                <a:spcPts val="300"/>
              </a:spcAft>
              <a:buFont typeface="Arial" panose="020B0604020202020204" pitchFamily="34" charset="0"/>
              <a:buChar char="•"/>
            </a:pPr>
            <a:r>
              <a:rPr lang="en-US" sz="1000">
                <a:solidFill>
                  <a:srgbClr val="FFFFFF"/>
                </a:solidFill>
              </a:rPr>
              <a:t>Our pricing tools reflect true deliverability, not just theoretical margin.</a:t>
            </a:r>
          </a:p>
          <a:p>
            <a:pPr marL="171450" indent="-171450">
              <a:spcAft>
                <a:spcPts val="300"/>
              </a:spcAft>
              <a:buFont typeface="Arial" panose="020B0604020202020204" pitchFamily="34" charset="0"/>
              <a:buChar char="•"/>
            </a:pPr>
            <a:r>
              <a:rPr lang="en-US" sz="1000">
                <a:solidFill>
                  <a:srgbClr val="FFFFFF"/>
                </a:solidFill>
              </a:rPr>
              <a:t>We guide clients into how we work instead of inheriting whatever mix they bring.</a:t>
            </a:r>
          </a:p>
          <a:p>
            <a:pPr marL="171450" indent="-171450">
              <a:spcBef>
                <a:spcPts val="500"/>
              </a:spcBef>
              <a:spcAft>
                <a:spcPts val="300"/>
              </a:spcAft>
              <a:buFont typeface="Arial" panose="020B0604020202020204" pitchFamily="34" charset="0"/>
              <a:buChar char="•"/>
            </a:pPr>
            <a:r>
              <a:rPr lang="en-US" sz="1100" b="1">
                <a:solidFill>
                  <a:srgbClr val="D6D6DF"/>
                </a:solidFill>
              </a:rPr>
              <a:t>Beyond the MVP</a:t>
            </a:r>
          </a:p>
          <a:p>
            <a:pPr marL="171450" indent="-171450">
              <a:spcAft>
                <a:spcPts val="300"/>
              </a:spcAft>
              <a:buFont typeface="Arial" panose="020B0604020202020204" pitchFamily="34" charset="0"/>
              <a:buChar char="•"/>
            </a:pPr>
            <a:r>
              <a:rPr lang="en-US" sz="1000">
                <a:solidFill>
                  <a:srgbClr val="FFFFFF"/>
                </a:solidFill>
              </a:rPr>
              <a:t>Supported by AI: estimation, pricing, and staffing follow once the MVP is solid, and we move toward metered or token-based commercial pricing.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1" name="Picture 510" descr="rail_p1.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12" name="Rounded Rectangle 51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513" name="Rounded Rectangle 512"/>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a:solidFill>
                  <a:schemeClr val="bg1"/>
                </a:solidFill>
              </a:rPr>
              <a:t>Deal to Delivery Playbook: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WHAT HAS BEEN ACCOMPLISHED</a:t>
            </a:r>
          </a:p>
          <a:p>
            <a:pPr marL="171450" indent="-171450">
              <a:spcAft>
                <a:spcPts val="600"/>
              </a:spcAft>
              <a:buFont typeface="Arial" panose="020B0604020202020204" pitchFamily="34" charset="0"/>
              <a:buChar char="•"/>
            </a:pPr>
            <a:r>
              <a:rPr lang="en-US" sz="1300"/>
              <a:t>Problem statement and recommendation drafted (Sept 16).</a:t>
            </a:r>
          </a:p>
          <a:p>
            <a:pPr marL="171450" indent="-171450">
              <a:spcAft>
                <a:spcPts val="600"/>
              </a:spcAft>
              <a:buFont typeface="Arial" panose="020B0604020202020204" pitchFamily="34" charset="0"/>
              <a:buChar char="•"/>
            </a:pPr>
            <a:r>
              <a:rPr lang="en-US" sz="1300"/>
              <a:t>Four model examples defined (Sept 16).</a:t>
            </a:r>
          </a:p>
          <a:p>
            <a:pPr marL="171450" indent="-171450">
              <a:spcAft>
                <a:spcPts val="600"/>
              </a:spcAft>
              <a:buFont typeface="Arial" panose="020B0604020202020204" pitchFamily="34" charset="0"/>
              <a:buChar char="•"/>
            </a:pPr>
            <a:r>
              <a:rPr lang="en-US" sz="1300"/>
              <a:t>Draft models gathered (Oct 16).</a:t>
            </a:r>
          </a:p>
        </p:txBody>
      </p:sp>
      <p:sp>
        <p:nvSpPr>
          <p:cNvPr id="50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NEXT MILESTONES</a:t>
            </a:r>
          </a:p>
          <a:p>
            <a:pPr marL="171450" indent="-171450">
              <a:spcAft>
                <a:spcPts val="600"/>
              </a:spcAft>
              <a:buFont typeface="Arial" panose="020B0604020202020204" pitchFamily="34" charset="0"/>
              <a:buChar char="•"/>
            </a:pPr>
            <a:r>
              <a:rPr lang="en-US" sz="1300"/>
              <a:t>Base Model rationalization across groups: week of Oct 26.</a:t>
            </a:r>
          </a:p>
          <a:p>
            <a:pPr marL="171450" indent="-171450">
              <a:spcAft>
                <a:spcPts val="600"/>
              </a:spcAft>
              <a:buFont typeface="Arial" panose="020B0604020202020204" pitchFamily="34" charset="0"/>
              <a:buChar char="•"/>
            </a:pPr>
            <a:r>
              <a:rPr lang="en-US" sz="1300"/>
              <a:t>Initial Models Well Defined: Oct 23, shifting to Nov 6.</a:t>
            </a:r>
          </a:p>
          <a:p>
            <a:pPr marL="171450" indent="-171450">
              <a:spcAft>
                <a:spcPts val="600"/>
              </a:spcAft>
              <a:buFont typeface="Arial" panose="020B0604020202020204" pitchFamily="34" charset="0"/>
              <a:buChar char="•"/>
            </a:pPr>
            <a:r>
              <a:rPr lang="en-US" sz="1300"/>
              <a:t>1st Batch of Models &amp; Program "Stack" Guidance: Nov 13.</a:t>
            </a:r>
          </a:p>
          <a:p>
            <a:pPr marL="171450" indent="-171450">
              <a:spcAft>
                <a:spcPts val="600"/>
              </a:spcAft>
              <a:buFont typeface="Arial" panose="020B0604020202020204" pitchFamily="34" charset="0"/>
              <a:buChar char="•"/>
            </a:pPr>
            <a:r>
              <a:rPr lang="en-US" sz="1300"/>
              <a:t>John and Chris are pulling together the problem statement, dependencies, size, and recommendation for the three MVP stories. We'll review what they bring back next time.</a:t>
            </a:r>
          </a:p>
        </p:txBody>
      </p:sp>
      <p:sp>
        <p:nvSpPr>
          <p:cNvPr id="51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Alignment on base model set (Delivery/Ops, Legal and Finance) and on model definition.</a:t>
            </a:r>
          </a:p>
          <a:p>
            <a:pPr marL="171450" indent="-171450">
              <a:spcAft>
                <a:spcPts val="600"/>
              </a:spcAft>
              <a:buFont typeface="Arial" panose="020B0604020202020204" pitchFamily="34" charset="0"/>
              <a:buChar char="•"/>
            </a:pPr>
            <a:r>
              <a:rPr lang="en-US" sz="1300" dirty="0">
                <a:solidFill>
                  <a:srgbClr val="FFFFFF"/>
                </a:solidFill>
              </a:rPr>
              <a:t>SME feedback, and intake routing.</a:t>
            </a:r>
          </a:p>
          <a:p>
            <a:pPr marL="171450" indent="-171450">
              <a:spcAft>
                <a:spcPts val="600"/>
              </a:spcAft>
              <a:buFont typeface="Arial" panose="020B0604020202020204" pitchFamily="34" charset="0"/>
              <a:buChar char="•"/>
            </a:pPr>
            <a:r>
              <a:rPr lang="en-US" sz="1300" dirty="0">
                <a:solidFill>
                  <a:srgbClr val="FFFFFF"/>
                </a:solidFill>
              </a:rPr>
              <a:t>Top risks: missed model(s) from the assessment, poor rollout and communication, and failure to use the models.</a:t>
            </a:r>
          </a:p>
          <a:p>
            <a:pPr marL="171450" indent="-171450">
              <a:spcAft>
                <a:spcPts val="600"/>
              </a:spcAft>
              <a:buFont typeface="Arial" panose="020B0604020202020204" pitchFamily="34" charset="0"/>
              <a:buChar char="•"/>
            </a:pPr>
            <a:r>
              <a:rPr lang="en-US" sz="1300" dirty="0">
                <a:solidFill>
                  <a:srgbClr val="FFFFFF"/>
                </a:solidFill>
              </a:rPr>
              <a:t>Everyone needs to lean in, support development of, and use these models. Participate, provide insights, give feedback, and embrace this initiative.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ounded Rectangle 4"/>
          <p:cNvSpPr/>
          <p:nvPr/>
        </p:nvSpPr>
        <p:spPr>
          <a:xfrm>
            <a:off x="640080" y="2710000"/>
            <a:ext cx="7300000" cy="3260000"/>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900000"/>
            <a:ext cx="6300000" cy="3000000"/>
          </a:xfrm>
        </p:spPr>
        <p:txBody>
          <a:bodyPr anchor="b"/>
          <a:lstStyle/>
          <a:p>
            <a:r>
              <a:t>Accountability Framework</a:t>
            </a:r>
          </a:p>
        </p:txBody>
      </p:sp>
      <p:sp>
        <p:nvSpPr>
          <p:cNvPr id="3" name="TextBox 2"/>
          <p:cNvSpPr txBox="1"/>
          <p:nvPr/>
        </p:nvSpPr>
        <p:spPr>
          <a:xfrm>
            <a:off x="914400" y="294000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4" name="TextBox 3"/>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a:solidFill>
                  <a:srgbClr val="FFFFFF"/>
                </a:solidFill>
              </a:rPr>
              <a:t>Missy Foristall, John Ewen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7" name="Picture 516" descr="hero_p2.jpg"/>
          <p:cNvPicPr>
            <a:picLocks noChangeAspect="1"/>
          </p:cNvPicPr>
          <p:nvPr/>
        </p:nvPicPr>
        <p:blipFill>
          <a:blip r:embed="rId2"/>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a:solidFill>
                  <a:schemeClr val="bg1"/>
                </a:solidFill>
              </a:rPr>
              <a:t>Accountability Framework: Context</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John Ewen</a:t>
            </a:r>
          </a:p>
        </p:txBody>
      </p:sp>
      <p:sp>
        <p:nvSpPr>
          <p:cNvPr id="51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Far too many key projects lack a shared understanding of who is accountable for the work that we do.</a:t>
            </a:r>
          </a:p>
        </p:txBody>
      </p:sp>
      <p:sp>
        <p:nvSpPr>
          <p:cNvPr id="51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2026 GOAL</a:t>
            </a:r>
          </a:p>
          <a:p>
            <a:pPr marL="0" indent="0">
              <a:spcAft>
                <a:spcPts val="300"/>
              </a:spcAft>
              <a:buNone/>
            </a:pPr>
            <a:r>
              <a:rPr lang="en-US" sz="1400" b="1">
                <a:solidFill>
                  <a:srgbClr val="FFFFFF"/>
                </a:solidFill>
              </a:rPr>
              <a:t>Codify and transform delivery leadership and accountability for every project, with clear delivery roles, executive sponsorship, and regular reviews that highlight high-risk projects.</a:t>
            </a:r>
          </a:p>
          <a:p>
            <a:pPr marL="171450" indent="-171450">
              <a:spcBef>
                <a:spcPts val="600"/>
              </a:spcBef>
              <a:spcAft>
                <a:spcPts val="300"/>
              </a:spcAft>
              <a:buFont typeface="Arial" panose="020B0604020202020204" pitchFamily="34" charset="0"/>
              <a:buChar char="•"/>
            </a:pPr>
            <a:r>
              <a:rPr lang="en-US" sz="1000">
                <a:solidFill>
                  <a:srgbClr val="FFFFFF"/>
                </a:solidFill>
              </a:rPr>
              <a:t>In practice: every key project has named delivery roles and an executive sponsor, multitrack projects have agreed accountability, and quarterly reviews surface high-risk projects early.</a:t>
            </a:r>
          </a:p>
        </p:txBody>
      </p:sp>
      <p:sp>
        <p:nvSpPr>
          <p:cNvPr id="51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THE PROBLEM</a:t>
            </a:r>
          </a:p>
          <a:p>
            <a:pPr marL="171450" indent="-171450">
              <a:spcAft>
                <a:spcPts val="300"/>
              </a:spcAft>
              <a:buFont typeface="Arial" panose="020B0604020202020204" pitchFamily="34" charset="0"/>
              <a:buChar char="•"/>
            </a:pPr>
            <a:r>
              <a:rPr lang="en-US" sz="1000"/>
              <a:t>We are refining how we manage multitrack projects so project teams have precise leadership support, rather than running as one giant portfolio.</a:t>
            </a:r>
          </a:p>
          <a:p>
            <a:pPr marL="171450" indent="-171450">
              <a:spcAft>
                <a:spcPts val="300"/>
              </a:spcAft>
              <a:buFont typeface="Arial" panose="020B0604020202020204" pitchFamily="34" charset="0"/>
              <a:buChar char="•"/>
            </a:pPr>
            <a:r>
              <a:rPr lang="en-US" sz="1000"/>
              <a:t>For multitrack and multi-Delivery Center projects, alignment needs to be agreed to and enforced.</a:t>
            </a:r>
          </a:p>
          <a:p>
            <a:pPr marL="171450" indent="-171450">
              <a:spcAft>
                <a:spcPts val="300"/>
              </a:spcAft>
              <a:buFont typeface="Arial" panose="020B0604020202020204" pitchFamily="34" charset="0"/>
              <a:buChar char="•"/>
            </a:pPr>
            <a:r>
              <a:rPr lang="en-US" sz="1000"/>
              <a:t>This will inform everything from staffing to methodology to the role of escalation management and resolution.</a:t>
            </a:r>
          </a:p>
        </p:txBody>
      </p:sp>
      <p:sp>
        <p:nvSpPr>
          <p:cNvPr id="51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WHAT WE ARE CHANGING</a:t>
            </a:r>
          </a:p>
          <a:p>
            <a:pPr marL="171450" indent="-171450">
              <a:spcAft>
                <a:spcPts val="300"/>
              </a:spcAft>
              <a:buFont typeface="Arial" panose="020B0604020202020204" pitchFamily="34" charset="0"/>
              <a:buChar char="•"/>
            </a:pPr>
            <a:r>
              <a:rPr lang="en-US" sz="1000"/>
              <a:t>We will define accountability for every project.</a:t>
            </a:r>
          </a:p>
          <a:p>
            <a:pPr marL="171450" indent="-171450">
              <a:spcAft>
                <a:spcPts val="300"/>
              </a:spcAft>
              <a:buFont typeface="Arial" panose="020B0604020202020204" pitchFamily="34" charset="0"/>
              <a:buChar char="•"/>
            </a:pPr>
            <a:r>
              <a:rPr lang="en-US" sz="1000"/>
              <a:t>We will establish the essential delivery roles needed and clarify existing roles to avoid overlap and gaps.</a:t>
            </a:r>
          </a:p>
          <a:p>
            <a:pPr marL="171450" indent="-171450">
              <a:spcAft>
                <a:spcPts val="300"/>
              </a:spcAft>
              <a:buFont typeface="Arial" panose="020B0604020202020204" pitchFamily="34" charset="0"/>
              <a:buChar char="•"/>
            </a:pPr>
            <a:r>
              <a:rPr lang="en-US" sz="1000"/>
              <a:t>We are launching a workstream to define standard delivery roles and establish clear, supportive project-level structures across all major accounts.</a:t>
            </a:r>
          </a:p>
          <a:p>
            <a:pPr marL="171450" indent="-171450">
              <a:spcAft>
                <a:spcPts val="300"/>
              </a:spcAft>
              <a:buFont typeface="Arial" panose="020B0604020202020204" pitchFamily="34" charset="0"/>
              <a:buChar char="•"/>
            </a:pPr>
            <a:r>
              <a:rPr lang="en-US" sz="1000"/>
              <a:t>Starting in Q4, we will establish a cadence of quarterly reviews. High risk projects will be highlighted in ongoing Delivery Excellence meetings.</a:t>
            </a:r>
          </a:p>
        </p:txBody>
      </p:sp>
      <p:sp>
        <p:nvSpPr>
          <p:cNvPr id="51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WHAT THIS UNLOCKS</a:t>
            </a:r>
          </a:p>
          <a:p>
            <a:pPr marL="171450" indent="-171450">
              <a:spcAft>
                <a:spcPts val="300"/>
              </a:spcAft>
              <a:buFont typeface="Arial" panose="020B0604020202020204" pitchFamily="34" charset="0"/>
              <a:buChar char="•"/>
            </a:pPr>
            <a:r>
              <a:rPr lang="en-US" sz="1000">
                <a:solidFill>
                  <a:srgbClr val="FFFFFF"/>
                </a:solidFill>
              </a:rPr>
              <a:t>Delivery doesn't happen in a vacuum. Successes and escalations are tightly coupled with our Client Engagement model (Client Partners, Account Management) and Executive Sponsors.</a:t>
            </a:r>
          </a:p>
          <a:p>
            <a:pPr marL="171450" indent="-171450">
              <a:spcBef>
                <a:spcPts val="500"/>
              </a:spcBef>
              <a:spcAft>
                <a:spcPts val="300"/>
              </a:spcAft>
              <a:buFont typeface="Arial" panose="020B0604020202020204" pitchFamily="34" charset="0"/>
              <a:buChar char="•"/>
            </a:pPr>
            <a:r>
              <a:rPr lang="en-US" sz="1100" b="1">
                <a:solidFill>
                  <a:srgbClr val="D6D6DF"/>
                </a:solidFill>
              </a:rPr>
              <a:t>Beyond the MVP</a:t>
            </a:r>
          </a:p>
          <a:p>
            <a:pPr marL="171450" indent="-171450">
              <a:spcAft>
                <a:spcPts val="300"/>
              </a:spcAft>
              <a:buFont typeface="Arial" panose="020B0604020202020204" pitchFamily="34" charset="0"/>
              <a:buChar char="•"/>
            </a:pPr>
            <a:r>
              <a:rPr lang="en-US" sz="1000">
                <a:solidFill>
                  <a:srgbClr val="FFFFFF"/>
                </a:solidFill>
              </a:rPr>
              <a:t>Expand quarterly reviews across the broader portfolio after the top 5 major clients per BU, and scale what works into methodology.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1" name="Picture 520" descr="rail_p2.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22" name="Rounded Rectangle 52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523" name="Rounded Rectangle 522"/>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a:solidFill>
                  <a:schemeClr val="bg1"/>
                </a:solidFill>
              </a:rPr>
              <a:t>Accountability Framework: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John Ewen</a:t>
            </a:r>
          </a:p>
        </p:txBody>
      </p:sp>
      <p:sp>
        <p:nvSpPr>
          <p:cNvPr id="51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WHAT HAS BEEN ACCOMPLISHED</a:t>
            </a:r>
          </a:p>
          <a:p>
            <a:pPr marL="171450" indent="-171450">
              <a:spcAft>
                <a:spcPts val="600"/>
              </a:spcAft>
              <a:buFont typeface="Arial" panose="020B0604020202020204" pitchFamily="34" charset="0"/>
              <a:buChar char="•"/>
            </a:pPr>
            <a:r>
              <a:rPr lang="en-US" sz="1300"/>
              <a:t>Workstream launching to define standard delivery roles and project-level structures across major accounts.</a:t>
            </a:r>
          </a:p>
          <a:p>
            <a:pPr marL="171450" indent="-171450">
              <a:spcAft>
                <a:spcPts val="600"/>
              </a:spcAft>
              <a:buFont typeface="Arial" panose="020B0604020202020204" pitchFamily="34" charset="0"/>
              <a:buChar char="•"/>
            </a:pPr>
            <a:r>
              <a:rPr lang="en-US" sz="1300"/>
              <a:t>BU COOs and Enterprise Project Management are co-leading this initiative.</a:t>
            </a:r>
          </a:p>
        </p:txBody>
      </p:sp>
      <p:sp>
        <p:nvSpPr>
          <p:cNvPr id="51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000000"/>
                </a:solidFill>
              </a:rPr>
              <a:t>NEXT MILESTONES</a:t>
            </a:r>
          </a:p>
          <a:p>
            <a:pPr marL="171450" indent="-171450">
              <a:spcAft>
                <a:spcPts val="600"/>
              </a:spcAft>
              <a:buFont typeface="Arial" panose="020B0604020202020204" pitchFamily="34" charset="0"/>
              <a:buChar char="•"/>
            </a:pPr>
            <a:r>
              <a:rPr lang="en-US" sz="1300" dirty="0"/>
              <a:t>Lock in the key accounts in each BU (top 5 major clients per BU): </a:t>
            </a:r>
            <a:r>
              <a:rPr lang="en-US" sz="1300" dirty="0">
                <a:solidFill>
                  <a:srgbClr val="000000"/>
                </a:solidFill>
                <a:highlight>
                  <a:srgbClr val="FFFF00"/>
                </a:highlight>
              </a:rPr>
              <a:t>[enter date].</a:t>
            </a:r>
          </a:p>
          <a:p>
            <a:pPr marL="171450" indent="-171450">
              <a:spcAft>
                <a:spcPts val="600"/>
              </a:spcAft>
              <a:buFont typeface="Arial" panose="020B0604020202020204" pitchFamily="34" charset="0"/>
              <a:buChar char="•"/>
            </a:pPr>
            <a:r>
              <a:rPr lang="en-US" sz="1300" dirty="0"/>
              <a:t>Define the required core roles for the Q4 launch: </a:t>
            </a:r>
            <a:r>
              <a:rPr lang="en-US" sz="1300" dirty="0">
                <a:solidFill>
                  <a:srgbClr val="000000"/>
                </a:solidFill>
                <a:highlight>
                  <a:srgbClr val="FFFF00"/>
                </a:highlight>
              </a:rPr>
              <a:t>[enter date].</a:t>
            </a:r>
          </a:p>
          <a:p>
            <a:pPr marL="171450" indent="-171450">
              <a:spcAft>
                <a:spcPts val="600"/>
              </a:spcAft>
              <a:buFont typeface="Arial" panose="020B0604020202020204" pitchFamily="34" charset="0"/>
              <a:buChar char="•"/>
            </a:pPr>
            <a:r>
              <a:rPr lang="en-US" sz="1300" dirty="0"/>
              <a:t>Start the quarterly reviews of the accountability structure for multitrack programs: Q4.</a:t>
            </a:r>
          </a:p>
        </p:txBody>
      </p:sp>
      <p:sp>
        <p:nvSpPr>
          <p:cNvPr id="52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Key accounts in each BU are not yet locked in, and core roles for the Q4 launch are not yet defined.</a:t>
            </a:r>
          </a:p>
          <a:p>
            <a:pPr marL="171450" indent="-171450">
              <a:spcAft>
                <a:spcPts val="600"/>
              </a:spcAft>
              <a:buFont typeface="Arial" panose="020B0604020202020204" pitchFamily="34" charset="0"/>
              <a:buChar char="•"/>
            </a:pPr>
            <a:r>
              <a:rPr lang="en-US" sz="1300" dirty="0">
                <a:solidFill>
                  <a:srgbClr val="FFFFFF"/>
                </a:solidFill>
              </a:rPr>
              <a:t>Change management will be key. These are modifications to our ways of working and new standards that we will need to teach, support, and enforce.</a:t>
            </a:r>
          </a:p>
          <a:p>
            <a:pPr marL="171450" indent="-171450">
              <a:spcAft>
                <a:spcPts val="600"/>
              </a:spcAft>
              <a:buFont typeface="Arial" panose="020B0604020202020204" pitchFamily="34" charset="0"/>
              <a:buChar char="•"/>
            </a:pPr>
            <a:r>
              <a:rPr lang="en-US" sz="1300" dirty="0">
                <a:solidFill>
                  <a:srgbClr val="FFFFFF"/>
                </a:solidFill>
              </a:rPr>
              <a:t>Training and continuous improvement will help the organization embrace new structures and ensure we learn from what 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div_p3.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5" name="Rectangle 4"/>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3510000"/>
            <a:ext cx="7300000" cy="2460000"/>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900000"/>
            <a:ext cx="6300000" cy="3000000"/>
          </a:xfrm>
        </p:spPr>
        <p:txBody>
          <a:bodyPr anchor="b"/>
          <a:lstStyle/>
          <a:p>
            <a:r>
              <a:t>Intake Updates</a:t>
            </a:r>
          </a:p>
        </p:txBody>
      </p:sp>
      <p:sp>
        <p:nvSpPr>
          <p:cNvPr id="6" name="TextBox 5"/>
          <p:cNvSpPr txBox="1"/>
          <p:nvPr/>
        </p:nvSpPr>
        <p:spPr>
          <a:xfrm>
            <a:off x="914400" y="374000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7" name="TextBox 6"/>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a:solidFill>
                  <a:srgbClr val="FFFFFF"/>
                </a:solidFill>
              </a:rPr>
              <a:t>Missy Foristall, McComas, Deana, John 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a:solidFill>
                  <a:schemeClr val="bg1"/>
                </a:solidFill>
              </a:rPr>
              <a:t>Intake Updates: Context</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McComas, Deana, John E.</a:t>
            </a:r>
          </a:p>
        </p:txBody>
      </p:sp>
      <p:sp>
        <p:nvSpPr>
          <p:cNvPr id="52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Upstream of Delivery Models: how a request even reaches the right people before it becomes a deal.</a:t>
            </a:r>
          </a:p>
        </p:txBody>
      </p:sp>
      <p:sp>
        <p:nvSpPr>
          <p:cNvPr id="52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D6D6DF"/>
                </a:solidFill>
              </a:rPr>
              <a:t>2026 GOAL</a:t>
            </a:r>
          </a:p>
          <a:p>
            <a:pPr marL="0" indent="0">
              <a:spcAft>
                <a:spcPts val="300"/>
              </a:spcAft>
              <a:buNone/>
            </a:pPr>
            <a:r>
              <a:rPr lang="en-US" sz="1000" i="1" dirty="0">
                <a:solidFill>
                  <a:srgbClr val="000000"/>
                </a:solidFill>
                <a:highlight>
                  <a:srgbClr val="FFFF00"/>
                </a:highlight>
              </a:rPr>
              <a:t>[Enter 2026 goal, and what it means in practice]</a:t>
            </a:r>
          </a:p>
        </p:txBody>
      </p:sp>
      <p:sp>
        <p:nvSpPr>
          <p:cNvPr id="52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THE PROBLEM</a:t>
            </a:r>
          </a:p>
          <a:p>
            <a:pPr marL="171450" indent="-171450">
              <a:spcAft>
                <a:spcPts val="300"/>
              </a:spcAft>
              <a:buFont typeface="Arial" panose="020B0604020202020204" pitchFamily="34" charset="0"/>
              <a:buChar char="•"/>
            </a:pPr>
            <a:r>
              <a:rPr lang="en-US" sz="1000"/>
              <a:t>Adoption has been slow: people still go to known individuals for help, cutting into BU visibility and our ability to help.</a:t>
            </a:r>
          </a:p>
          <a:p>
            <a:pPr marL="171450" indent="-171450">
              <a:spcAft>
                <a:spcPts val="300"/>
              </a:spcAft>
              <a:buFont typeface="Arial" panose="020B0604020202020204" pitchFamily="34" charset="0"/>
              <a:buChar char="•"/>
            </a:pPr>
            <a:r>
              <a:rPr lang="en-US" sz="1000"/>
              <a:t>C&amp;C has been informed of the alias and process.</a:t>
            </a:r>
          </a:p>
        </p:txBody>
      </p:sp>
      <p:sp>
        <p:nvSpPr>
          <p:cNvPr id="52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WHAT WE ARE CHANGING</a:t>
            </a:r>
          </a:p>
          <a:p>
            <a:pPr marL="171450" indent="-171450">
              <a:spcAft>
                <a:spcPts val="300"/>
              </a:spcAft>
              <a:buFont typeface="Arial" panose="020B0604020202020204" pitchFamily="34" charset="0"/>
              <a:buChar char="•"/>
            </a:pPr>
            <a:r>
              <a:rPr lang="en-US" sz="1000"/>
              <a:t>DDM_Opportunity and DBT_Opportunity are live, so requests reach the right BU SMEs without needing to know a matrix of names.</a:t>
            </a:r>
          </a:p>
          <a:p>
            <a:pPr marL="171450" indent="-171450">
              <a:spcAft>
                <a:spcPts val="300"/>
              </a:spcAft>
              <a:buFont typeface="Arial" panose="020B0604020202020204" pitchFamily="34" charset="0"/>
              <a:buChar char="•"/>
            </a:pPr>
            <a:r>
              <a:rPr lang="en-US" sz="1000"/>
              <a:t>Requests are reviewed and assigned to a lead within the BU. The lead gathers more info, pulls in solutioning support, and makes sure the request is handled: creds, calls, PT entry.</a:t>
            </a:r>
          </a:p>
          <a:p>
            <a:pPr marL="171450" indent="-171450">
              <a:spcAft>
                <a:spcPts val="300"/>
              </a:spcAft>
              <a:buFont typeface="Arial" panose="020B0604020202020204" pitchFamily="34" charset="0"/>
              <a:buChar char="•"/>
            </a:pPr>
            <a:r>
              <a:rPr lang="en-US" sz="1000"/>
              <a:t>SME Case Request in SF (10/16 target): covers deals under $500K, small ad-hoc projects, multi-person sprints, exec meetings, and case studies.</a:t>
            </a:r>
          </a:p>
          <a:p>
            <a:pPr marL="171450" indent="-171450">
              <a:spcAft>
                <a:spcPts val="300"/>
              </a:spcAft>
              <a:buFont typeface="Arial" panose="020B0604020202020204" pitchFamily="34" charset="0"/>
              <a:buChar char="•"/>
            </a:pPr>
            <a:r>
              <a:rPr lang="en-US" sz="1000"/>
              <a:t>RACI updates (11/1 estimated): clarify roles for everyone in intake.</a:t>
            </a:r>
          </a:p>
        </p:txBody>
      </p:sp>
      <p:sp>
        <p:nvSpPr>
          <p:cNvPr id="52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D6D6DF"/>
                </a:solidFill>
              </a:rPr>
              <a:t>WHAT THIS UNLOCKS</a:t>
            </a:r>
          </a:p>
          <a:p>
            <a:pPr marL="171450" indent="-171450">
              <a:spcAft>
                <a:spcPts val="300"/>
              </a:spcAft>
              <a:buFont typeface="Arial" panose="020B0604020202020204" pitchFamily="34" charset="0"/>
              <a:buChar char="•"/>
            </a:pPr>
            <a:r>
              <a:rPr lang="en-US" sz="1000" dirty="0">
                <a:solidFill>
                  <a:srgbClr val="FFFFFF"/>
                </a:solidFill>
              </a:rPr>
              <a:t>Requests get emailed to the right alias and land in a list for easy review and follow-up.</a:t>
            </a:r>
          </a:p>
          <a:p>
            <a:pPr marL="171450" indent="-171450">
              <a:spcAft>
                <a:spcPts val="300"/>
              </a:spcAft>
              <a:buFont typeface="Arial" panose="020B0604020202020204" pitchFamily="34" charset="0"/>
              <a:buChar char="•"/>
            </a:pPr>
            <a:r>
              <a:rPr lang="en-US" sz="1000" dirty="0">
                <a:solidFill>
                  <a:srgbClr val="FFFFFF"/>
                </a:solidFill>
              </a:rPr>
              <a:t>SME expertise comes in earlier, before the deal is shaped, which can lift our win rate on the deal volume we already capture.</a:t>
            </a:r>
          </a:p>
          <a:p>
            <a:pPr marL="171450" indent="-171450">
              <a:spcBef>
                <a:spcPts val="500"/>
              </a:spcBef>
              <a:spcAft>
                <a:spcPts val="300"/>
              </a:spcAft>
              <a:buFont typeface="Arial" panose="020B0604020202020204" pitchFamily="34" charset="0"/>
              <a:buChar char="•"/>
            </a:pPr>
            <a:r>
              <a:rPr lang="en-US" sz="1100" b="1" dirty="0">
                <a:solidFill>
                  <a:srgbClr val="D6D6DF"/>
                </a:solidFill>
              </a:rPr>
              <a:t>Beyond the MVP</a:t>
            </a:r>
          </a:p>
          <a:p>
            <a:pPr marL="0" indent="0">
              <a:spcAft>
                <a:spcPts val="300"/>
              </a:spcAft>
              <a:buNone/>
            </a:pPr>
            <a:r>
              <a:rPr lang="en-US" sz="1000" i="1" dirty="0">
                <a:solidFill>
                  <a:srgbClr val="000000"/>
                </a:solidFill>
                <a:highlight>
                  <a:srgbClr val="FFFF00"/>
                </a:highlight>
              </a:rPr>
              <a:t>[Enter what this makes possible next]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31" name="Picture 530" descr="rail_p3.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32" name="Rounded Rectangle 53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533" name="Rounded Rectangle 532"/>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a:solidFill>
                  <a:srgbClr val="0391F2"/>
                </a:solidFill>
              </a:rPr>
              <a:t>CRITICAL ENABLERS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a:solidFill>
                  <a:schemeClr val="bg1"/>
                </a:solidFill>
              </a:rPr>
              <a:t>Intake Updates: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McComas, Deana, John E.</a:t>
            </a:r>
          </a:p>
        </p:txBody>
      </p:sp>
      <p:sp>
        <p:nvSpPr>
          <p:cNvPr id="52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WHAT HAS BEEN ACCOMPLISHED</a:t>
            </a:r>
          </a:p>
          <a:p>
            <a:pPr marL="171450" indent="-171450">
              <a:spcAft>
                <a:spcPts val="600"/>
              </a:spcAft>
              <a:buFont typeface="Arial" panose="020B0604020202020204" pitchFamily="34" charset="0"/>
              <a:buChar char="•"/>
            </a:pPr>
            <a:r>
              <a:rPr lang="en-US" sz="1300"/>
              <a:t>Alias creation complete: DDM_Opportunity and DBT_Opportunity are live.</a:t>
            </a:r>
          </a:p>
          <a:p>
            <a:pPr marL="171450" indent="-171450">
              <a:spcAft>
                <a:spcPts val="600"/>
              </a:spcAft>
              <a:buFont typeface="Arial" panose="020B0604020202020204" pitchFamily="34" charset="0"/>
              <a:buChar char="•"/>
            </a:pPr>
            <a:r>
              <a:rPr lang="en-US" sz="1300"/>
              <a:t>C&amp;C has been informed of the alias and process.</a:t>
            </a:r>
          </a:p>
        </p:txBody>
      </p:sp>
      <p:sp>
        <p:nvSpPr>
          <p:cNvPr id="52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NEXT MILESTONES</a:t>
            </a:r>
          </a:p>
          <a:p>
            <a:pPr marL="171450" indent="-171450">
              <a:spcAft>
                <a:spcPts val="600"/>
              </a:spcAft>
              <a:buFont typeface="Arial" panose="020B0604020202020204" pitchFamily="34" charset="0"/>
              <a:buChar char="•"/>
            </a:pPr>
            <a:r>
              <a:rPr lang="en-US" sz="1300"/>
              <a:t>SME Case Request in SF: 10/16 target launch date.</a:t>
            </a:r>
          </a:p>
          <a:p>
            <a:pPr marL="171450" indent="-171450">
              <a:spcAft>
                <a:spcPts val="600"/>
              </a:spcAft>
              <a:buFont typeface="Arial" panose="020B0604020202020204" pitchFamily="34" charset="0"/>
              <a:buChar char="•"/>
            </a:pPr>
            <a:r>
              <a:rPr lang="en-US" sz="1300"/>
              <a:t>RACI updates: 11/1 estimated rollout.</a:t>
            </a:r>
          </a:p>
        </p:txBody>
      </p:sp>
      <p:sp>
        <p:nvSpPr>
          <p:cNvPr id="53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Adoption has been slow: people still go to known individuals for help, cutting into BU visibility and ability to help.</a:t>
            </a:r>
          </a:p>
          <a:p>
            <a:pPr marL="171450" indent="-171450">
              <a:spcAft>
                <a:spcPts val="600"/>
              </a:spcAft>
              <a:buFont typeface="Arial" panose="020B0604020202020204" pitchFamily="34" charset="0"/>
              <a:buChar char="•"/>
            </a:pPr>
            <a:r>
              <a:rPr lang="en-US" sz="1300" dirty="0">
                <a:solidFill>
                  <a:srgbClr val="FFFFFF"/>
                </a:solidFill>
              </a:rPr>
              <a:t>Leadership ask: C&amp;C leadership support in redirecting request.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b_hero_overview.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Where We're Focusing</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OPS PRIORITIES</a:t>
            </a:r>
          </a:p>
        </p:txBody>
      </p:sp>
      <p:sp>
        <p:nvSpPr>
          <p:cNvPr id="7" name="TextBox 6"/>
          <p:cNvSpPr txBox="1"/>
          <p:nvPr/>
        </p:nvSpPr>
        <p:spPr>
          <a:xfrm>
            <a:off x="457200" y="1188720"/>
            <a:ext cx="11277600" cy="457200"/>
          </a:xfrm>
          <a:prstGeom prst="rect">
            <a:avLst/>
          </a:prstGeom>
          <a:noFill/>
        </p:spPr>
        <p:txBody>
          <a:bodyPr wrap="square" lIns="0" rIns="0" tIns="0" bIns="0">
            <a:spAutoFit/>
          </a:bodyPr>
          <a:lstStyle/>
          <a:p>
            <a:pPr algn="l">
              <a:spcAft>
                <a:spcPts val="500"/>
              </a:spcAft>
            </a:pPr>
            <a:r>
              <a:rPr sz="1150" b="0" i="0">
                <a:solidFill>
                  <a:srgbClr val="000000"/>
                </a:solidFill>
              </a:rPr>
              <a:t>Top priorities, agreed as a team. Together, this is how we answer Play to Win's Delivery Excellence and Operational Review asks. We're tackling one epic at a time, starting with the Deal-to-Delivery Playbook, and moving to the next once it has real momentum.</a:t>
            </a:r>
          </a:p>
        </p:txBody>
      </p:sp>
      <p:sp>
        <p:nvSpPr>
          <p:cNvPr id="8" name="TextBox 7"/>
          <p:cNvSpPr txBox="1"/>
          <p:nvPr/>
        </p:nvSpPr>
        <p:spPr>
          <a:xfrm>
            <a:off x="457200" y="1737360"/>
            <a:ext cx="5486400" cy="182880"/>
          </a:xfrm>
          <a:prstGeom prst="rect">
            <a:avLst/>
          </a:prstGeom>
          <a:noFill/>
        </p:spPr>
        <p:txBody>
          <a:bodyPr wrap="square" lIns="0" rIns="0" tIns="0" bIns="0">
            <a:spAutoFit/>
          </a:bodyPr>
          <a:lstStyle/>
          <a:p>
            <a:pPr algn="l">
              <a:spcAft>
                <a:spcPts val="600"/>
              </a:spcAft>
            </a:pPr>
            <a:r>
              <a:rPr sz="1100" b="1" i="0" cap="all" spc="60">
                <a:solidFill>
                  <a:srgbClr val="000000"/>
                </a:solidFill>
              </a:rPr>
              <a:t>TOP 4 PRIORITIES</a:t>
            </a:r>
          </a:p>
        </p:txBody>
      </p:sp>
      <p:sp>
        <p:nvSpPr>
          <p:cNvPr id="9" name="Rounded Rectangle 8"/>
          <p:cNvSpPr/>
          <p:nvPr/>
        </p:nvSpPr>
        <p:spPr>
          <a:xfrm>
            <a:off x="457200" y="1975104"/>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10" name="TextBox 9"/>
          <p:cNvSpPr txBox="1"/>
          <p:nvPr/>
        </p:nvSpPr>
        <p:spPr>
          <a:xfrm>
            <a:off x="685800" y="2039112"/>
            <a:ext cx="2743200" cy="457200"/>
          </a:xfrm>
          <a:prstGeom prst="rect">
            <a:avLst/>
          </a:prstGeom>
          <a:noFill/>
        </p:spPr>
        <p:txBody>
          <a:bodyPr wrap="square" lIns="0" rIns="0" tIns="0" bIns="0">
            <a:spAutoFit/>
          </a:bodyPr>
          <a:lstStyle/>
          <a:p>
            <a:pPr algn="l">
              <a:spcBef>
                <a:spcPts val="400"/>
              </a:spcBef>
              <a:spcAft>
                <a:spcPts val="500"/>
              </a:spcAft>
            </a:pPr>
            <a:r>
              <a:rPr sz="1100" b="1" i="0">
                <a:solidFill>
                  <a:srgbClr val="000000"/>
                </a:solidFill>
              </a:rPr>
              <a:t>Deal-to-Delivery Playbook</a:t>
            </a:r>
          </a:p>
        </p:txBody>
      </p:sp>
      <p:sp>
        <p:nvSpPr>
          <p:cNvPr id="11" name="TextBox 10"/>
          <p:cNvSpPr txBox="1"/>
          <p:nvPr/>
        </p:nvSpPr>
        <p:spPr>
          <a:xfrm>
            <a:off x="3566160" y="2029968"/>
            <a:ext cx="5852160" cy="457200"/>
          </a:xfrm>
          <a:prstGeom prst="rect">
            <a:avLst/>
          </a:prstGeom>
          <a:noFill/>
        </p:spPr>
        <p:txBody>
          <a:bodyPr wrap="square" lIns="0" rIns="0" tIns="0" bIns="0">
            <a:spAutoFit/>
          </a:bodyPr>
          <a:lstStyle/>
          <a:p>
            <a:pPr algn="l">
              <a:spcAft>
                <a:spcPts val="500"/>
              </a:spcAft>
            </a:pPr>
            <a:r>
              <a:rPr sz="900" b="0" i="0">
                <a:solidFill>
                  <a:srgbClr val="000000"/>
                </a:solidFill>
              </a:rPr>
              <a:t>Work is sold in shapes we cannot staff or deliver.</a:t>
            </a:r>
          </a:p>
        </p:txBody>
      </p:sp>
      <p:sp>
        <p:nvSpPr>
          <p:cNvPr id="12" name="Rounded Rectangle 11"/>
          <p:cNvSpPr/>
          <p:nvPr/>
        </p:nvSpPr>
        <p:spPr>
          <a:xfrm>
            <a:off x="10363200" y="2066544"/>
            <a:ext cx="1188720" cy="274320"/>
          </a:xfrm>
          <a:prstGeom prst="roundRect">
            <a:avLst>
              <a:gd name="adj" fmla="val 50000"/>
            </a:avLst>
          </a:prstGeom>
          <a:solidFill>
            <a:srgbClr val="000000"/>
          </a:solidFill>
          <a:ln>
            <a:noFill/>
          </a:ln>
        </p:spPr>
        <p:txBody>
          <a:bodyPr rtlCol="0" anchor="ctr" lIns="0" rIns="0" tIns="0" bIns="0"/>
          <a:lstStyle/>
          <a:p>
            <a:pPr algn="ctr"/>
            <a:r>
              <a:rPr sz="800" b="1" i="0" cap="all" spc="60">
                <a:solidFill>
                  <a:srgbClr val="FFFFFF"/>
                </a:solidFill>
              </a:rPr>
              <a:t>Focus now</a:t>
            </a:r>
          </a:p>
        </p:txBody>
      </p:sp>
      <p:sp>
        <p:nvSpPr>
          <p:cNvPr id="13" name="Rounded Rectangle 12"/>
          <p:cNvSpPr/>
          <p:nvPr/>
        </p:nvSpPr>
        <p:spPr>
          <a:xfrm>
            <a:off x="457200" y="2468880"/>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14" name="TextBox 13"/>
          <p:cNvSpPr txBox="1"/>
          <p:nvPr/>
        </p:nvSpPr>
        <p:spPr>
          <a:xfrm>
            <a:off x="685800" y="2532888"/>
            <a:ext cx="2743200" cy="457200"/>
          </a:xfrm>
          <a:prstGeom prst="rect">
            <a:avLst/>
          </a:prstGeom>
          <a:noFill/>
        </p:spPr>
        <p:txBody>
          <a:bodyPr wrap="square" lIns="0" rIns="0" tIns="0" bIns="0">
            <a:spAutoFit/>
          </a:bodyPr>
          <a:lstStyle/>
          <a:p>
            <a:pPr algn="l">
              <a:spcBef>
                <a:spcPts val="400"/>
              </a:spcBef>
              <a:spcAft>
                <a:spcPts val="500"/>
              </a:spcAft>
            </a:pPr>
            <a:r>
              <a:rPr sz="1100" b="1" i="0">
                <a:solidFill>
                  <a:srgbClr val="000000"/>
                </a:solidFill>
              </a:rPr>
              <a:t>Accountability Framework</a:t>
            </a:r>
          </a:p>
        </p:txBody>
      </p:sp>
      <p:sp>
        <p:nvSpPr>
          <p:cNvPr id="15" name="TextBox 14"/>
          <p:cNvSpPr txBox="1"/>
          <p:nvPr/>
        </p:nvSpPr>
        <p:spPr>
          <a:xfrm>
            <a:off x="3566160" y="2523744"/>
            <a:ext cx="5852160" cy="457200"/>
          </a:xfrm>
          <a:prstGeom prst="rect">
            <a:avLst/>
          </a:prstGeom>
          <a:noFill/>
        </p:spPr>
        <p:txBody>
          <a:bodyPr wrap="square" lIns="0" rIns="0" tIns="0" bIns="0">
            <a:spAutoFit/>
          </a:bodyPr>
          <a:lstStyle/>
          <a:p>
            <a:pPr algn="l">
              <a:spcAft>
                <a:spcPts val="500"/>
              </a:spcAft>
            </a:pPr>
            <a:r>
              <a:rPr sz="900" b="0" i="0">
                <a:solidFill>
                  <a:srgbClr val="000000"/>
                </a:solidFill>
              </a:rPr>
              <a:t>Define accountability for every project, with clear delivery roles, executive sponsorship, and regular reviews that highlight high risk projects.</a:t>
            </a:r>
          </a:p>
        </p:txBody>
      </p:sp>
      <p:sp>
        <p:nvSpPr>
          <p:cNvPr id="16" name="Rounded Rectangle 15"/>
          <p:cNvSpPr/>
          <p:nvPr/>
        </p:nvSpPr>
        <p:spPr>
          <a:xfrm>
            <a:off x="10363200" y="2560320"/>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Next</a:t>
            </a:r>
          </a:p>
        </p:txBody>
      </p:sp>
      <p:sp>
        <p:nvSpPr>
          <p:cNvPr id="17" name="Rounded Rectangle 16"/>
          <p:cNvSpPr/>
          <p:nvPr/>
        </p:nvSpPr>
        <p:spPr>
          <a:xfrm>
            <a:off x="457200" y="2962656"/>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18" name="TextBox 17"/>
          <p:cNvSpPr txBox="1"/>
          <p:nvPr/>
        </p:nvSpPr>
        <p:spPr>
          <a:xfrm>
            <a:off x="685800" y="3026664"/>
            <a:ext cx="2743200" cy="457200"/>
          </a:xfrm>
          <a:prstGeom prst="rect">
            <a:avLst/>
          </a:prstGeom>
          <a:noFill/>
        </p:spPr>
        <p:txBody>
          <a:bodyPr wrap="square" lIns="0" rIns="0" tIns="0" bIns="0">
            <a:spAutoFit/>
          </a:bodyPr>
          <a:lstStyle/>
          <a:p>
            <a:pPr algn="l">
              <a:spcBef>
                <a:spcPts val="400"/>
              </a:spcBef>
              <a:spcAft>
                <a:spcPts val="500"/>
              </a:spcAft>
            </a:pPr>
            <a:r>
              <a:rPr sz="1100" b="1" i="0">
                <a:solidFill>
                  <a:srgbClr val="000000"/>
                </a:solidFill>
              </a:rPr>
              <a:t>Leadership Dashboards</a:t>
            </a:r>
          </a:p>
        </p:txBody>
      </p:sp>
      <p:sp>
        <p:nvSpPr>
          <p:cNvPr id="19" name="TextBox 18"/>
          <p:cNvSpPr txBox="1"/>
          <p:nvPr/>
        </p:nvSpPr>
        <p:spPr>
          <a:xfrm>
            <a:off x="3566160" y="3017520"/>
            <a:ext cx="5852160" cy="457200"/>
          </a:xfrm>
          <a:prstGeom prst="rect">
            <a:avLst/>
          </a:prstGeom>
          <a:noFill/>
        </p:spPr>
        <p:txBody>
          <a:bodyPr wrap="square" lIns="0" rIns="0" tIns="0" bIns="0">
            <a:spAutoFit/>
          </a:bodyPr>
          <a:lstStyle/>
          <a:p>
            <a:pPr algn="l">
              <a:spcAft>
                <a:spcPts val="500"/>
              </a:spcAft>
            </a:pPr>
            <a:r>
              <a:rPr sz="900" b="0" i="0">
                <a:solidFill>
                  <a:srgbClr val="000000"/>
                </a:solidFill>
              </a:rPr>
              <a:t>One leadership dashboard — shoring, chargeability, margin, capacity, forecast, rate cards, burn, and revenue recognition.</a:t>
            </a:r>
          </a:p>
        </p:txBody>
      </p:sp>
      <p:sp>
        <p:nvSpPr>
          <p:cNvPr id="20" name="Rounded Rectangle 19"/>
          <p:cNvSpPr/>
          <p:nvPr/>
        </p:nvSpPr>
        <p:spPr>
          <a:xfrm>
            <a:off x="10363200" y="3054096"/>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Next</a:t>
            </a:r>
          </a:p>
        </p:txBody>
      </p:sp>
      <p:sp>
        <p:nvSpPr>
          <p:cNvPr id="21" name="Rounded Rectangle 20"/>
          <p:cNvSpPr/>
          <p:nvPr/>
        </p:nvSpPr>
        <p:spPr>
          <a:xfrm>
            <a:off x="457200" y="3456432"/>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22" name="TextBox 21"/>
          <p:cNvSpPr txBox="1"/>
          <p:nvPr/>
        </p:nvSpPr>
        <p:spPr>
          <a:xfrm>
            <a:off x="685800" y="3520440"/>
            <a:ext cx="2743200" cy="457200"/>
          </a:xfrm>
          <a:prstGeom prst="rect">
            <a:avLst/>
          </a:prstGeom>
          <a:noFill/>
        </p:spPr>
        <p:txBody>
          <a:bodyPr wrap="square" lIns="0" rIns="0" tIns="0" bIns="0">
            <a:spAutoFit/>
          </a:bodyPr>
          <a:lstStyle/>
          <a:p>
            <a:pPr algn="l">
              <a:spcBef>
                <a:spcPts val="400"/>
              </a:spcBef>
              <a:spcAft>
                <a:spcPts val="500"/>
              </a:spcAft>
            </a:pPr>
            <a:r>
              <a:rPr sz="1100" b="1" i="0">
                <a:solidFill>
                  <a:srgbClr val="000000"/>
                </a:solidFill>
              </a:rPr>
              <a:t>Capacity Planning &amp; Romulus</a:t>
            </a:r>
          </a:p>
        </p:txBody>
      </p:sp>
      <p:sp>
        <p:nvSpPr>
          <p:cNvPr id="23" name="TextBox 22"/>
          <p:cNvSpPr txBox="1"/>
          <p:nvPr/>
        </p:nvSpPr>
        <p:spPr>
          <a:xfrm>
            <a:off x="3566160" y="3511296"/>
            <a:ext cx="5852160" cy="457200"/>
          </a:xfrm>
          <a:prstGeom prst="rect">
            <a:avLst/>
          </a:prstGeom>
          <a:noFill/>
        </p:spPr>
        <p:txBody>
          <a:bodyPr wrap="square" lIns="0" rIns="0" tIns="0" bIns="0">
            <a:spAutoFit/>
          </a:bodyPr>
          <a:lstStyle/>
          <a:p>
            <a:pPr algn="l">
              <a:spcAft>
                <a:spcPts val="500"/>
              </a:spcAft>
            </a:pPr>
            <a:r>
              <a:rPr sz="900" b="0" i="0">
                <a:solidFill>
                  <a:srgbClr val="000000"/>
                </a:solidFill>
              </a:rPr>
              <a:t>Closing the skills and bench visibility gap so we can staff ahead of demand.</a:t>
            </a:r>
          </a:p>
        </p:txBody>
      </p:sp>
      <p:sp>
        <p:nvSpPr>
          <p:cNvPr id="24" name="Rounded Rectangle 23"/>
          <p:cNvSpPr/>
          <p:nvPr/>
        </p:nvSpPr>
        <p:spPr>
          <a:xfrm>
            <a:off x="10363200" y="3547872"/>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Next</a:t>
            </a:r>
          </a:p>
        </p:txBody>
      </p:sp>
      <p:sp>
        <p:nvSpPr>
          <p:cNvPr id="25" name="TextBox 24"/>
          <p:cNvSpPr txBox="1"/>
          <p:nvPr/>
        </p:nvSpPr>
        <p:spPr>
          <a:xfrm>
            <a:off x="457200" y="4023360"/>
            <a:ext cx="5486400" cy="182880"/>
          </a:xfrm>
          <a:prstGeom prst="rect">
            <a:avLst/>
          </a:prstGeom>
          <a:noFill/>
        </p:spPr>
        <p:txBody>
          <a:bodyPr wrap="square" lIns="0" rIns="0" tIns="0" bIns="0">
            <a:spAutoFit/>
          </a:bodyPr>
          <a:lstStyle/>
          <a:p>
            <a:pPr algn="l">
              <a:spcAft>
                <a:spcPts val="600"/>
              </a:spcAft>
            </a:pPr>
            <a:r>
              <a:rPr sz="1100" b="1" i="0" cap="all" spc="60">
                <a:solidFill>
                  <a:srgbClr val="000000"/>
                </a:solidFill>
              </a:rPr>
              <a:t>ALSO SHORT-TERM · OTHER INITIATIVES</a:t>
            </a:r>
          </a:p>
        </p:txBody>
      </p:sp>
      <p:sp>
        <p:nvSpPr>
          <p:cNvPr id="26" name="Rounded Rectangle 25"/>
          <p:cNvSpPr/>
          <p:nvPr/>
        </p:nvSpPr>
        <p:spPr>
          <a:xfrm>
            <a:off x="457200" y="4261104"/>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27" name="TextBox 26"/>
          <p:cNvSpPr txBox="1"/>
          <p:nvPr/>
        </p:nvSpPr>
        <p:spPr>
          <a:xfrm>
            <a:off x="685800" y="4325112"/>
            <a:ext cx="2743200" cy="457200"/>
          </a:xfrm>
          <a:prstGeom prst="rect">
            <a:avLst/>
          </a:prstGeom>
          <a:noFill/>
        </p:spPr>
        <p:txBody>
          <a:bodyPr wrap="square" lIns="0" rIns="0" tIns="0" bIns="0">
            <a:spAutoFit/>
          </a:bodyPr>
          <a:lstStyle/>
          <a:p>
            <a:pPr algn="l">
              <a:spcBef>
                <a:spcPts val="400"/>
              </a:spcBef>
              <a:spcAft>
                <a:spcPts val="500"/>
              </a:spcAft>
            </a:pPr>
            <a:r>
              <a:rPr sz="1100" b="1" i="0">
                <a:solidFill>
                  <a:srgbClr val="000000"/>
                </a:solidFill>
              </a:rPr>
              <a:t>DGS Leadership Transition</a:t>
            </a:r>
          </a:p>
        </p:txBody>
      </p:sp>
      <p:sp>
        <p:nvSpPr>
          <p:cNvPr id="28" name="TextBox 27"/>
          <p:cNvSpPr txBox="1"/>
          <p:nvPr/>
        </p:nvSpPr>
        <p:spPr>
          <a:xfrm>
            <a:off x="3566160" y="4315968"/>
            <a:ext cx="5852160" cy="457200"/>
          </a:xfrm>
          <a:prstGeom prst="rect">
            <a:avLst/>
          </a:prstGeom>
          <a:noFill/>
        </p:spPr>
        <p:txBody>
          <a:bodyPr wrap="square" lIns="0" rIns="0" tIns="0" bIns="0">
            <a:spAutoFit/>
          </a:bodyPr>
          <a:lstStyle/>
          <a:p>
            <a:pPr algn="l">
              <a:spcAft>
                <a:spcPts val="500"/>
              </a:spcAft>
            </a:pPr>
            <a:r>
              <a:rPr sz="900" b="0" i="0">
                <a:solidFill>
                  <a:srgbClr val="000000"/>
                </a:solidFill>
              </a:rPr>
              <a:t>Naazneen departs 12/31 — two-phase effort to map dependencies, resolve Extentia's operating model, and set leadership coverage.</a:t>
            </a:r>
          </a:p>
        </p:txBody>
      </p:sp>
      <p:sp>
        <p:nvSpPr>
          <p:cNvPr id="29" name="Rounded Rectangle 28"/>
          <p:cNvSpPr/>
          <p:nvPr/>
        </p:nvSpPr>
        <p:spPr>
          <a:xfrm>
            <a:off x="10363200" y="4352544"/>
            <a:ext cx="1188720" cy="274320"/>
          </a:xfrm>
          <a:prstGeom prst="roundRect">
            <a:avLst>
              <a:gd name="adj" fmla="val 50000"/>
            </a:avLst>
          </a:prstGeom>
          <a:solidFill>
            <a:srgbClr val="000000"/>
          </a:solidFill>
          <a:ln>
            <a:noFill/>
          </a:ln>
        </p:spPr>
        <p:txBody>
          <a:bodyPr rtlCol="0" anchor="ctr" lIns="0" rIns="0" tIns="0" bIns="0"/>
          <a:lstStyle/>
          <a:p>
            <a:pPr algn="ctr"/>
            <a:r>
              <a:rPr sz="800" b="1" i="0" cap="all" spc="60">
                <a:solidFill>
                  <a:srgbClr val="FFFFFF"/>
                </a:solidFill>
              </a:rPr>
              <a:t>Focus now</a:t>
            </a:r>
          </a:p>
        </p:txBody>
      </p:sp>
      <p:sp>
        <p:nvSpPr>
          <p:cNvPr id="30" name="Rounded Rectangle 29"/>
          <p:cNvSpPr/>
          <p:nvPr/>
        </p:nvSpPr>
        <p:spPr>
          <a:xfrm>
            <a:off x="457200" y="4754880"/>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31" name="TextBox 30"/>
          <p:cNvSpPr txBox="1"/>
          <p:nvPr/>
        </p:nvSpPr>
        <p:spPr>
          <a:xfrm>
            <a:off x="685800" y="4818888"/>
            <a:ext cx="2743200" cy="457200"/>
          </a:xfrm>
          <a:prstGeom prst="rect">
            <a:avLst/>
          </a:prstGeom>
          <a:noFill/>
        </p:spPr>
        <p:txBody>
          <a:bodyPr wrap="square" lIns="0" rIns="0" tIns="0" bIns="0">
            <a:spAutoFit/>
          </a:bodyPr>
          <a:lstStyle/>
          <a:p>
            <a:pPr algn="l">
              <a:spcBef>
                <a:spcPts val="400"/>
              </a:spcBef>
              <a:spcAft>
                <a:spcPts val="500"/>
              </a:spcAft>
            </a:pPr>
            <a:r>
              <a:rPr sz="1100" b="1" i="0">
                <a:solidFill>
                  <a:srgbClr val="000000"/>
                </a:solidFill>
              </a:rPr>
              <a:t>Intake Updates</a:t>
            </a:r>
          </a:p>
        </p:txBody>
      </p:sp>
      <p:sp>
        <p:nvSpPr>
          <p:cNvPr id="32" name="TextBox 31"/>
          <p:cNvSpPr txBox="1"/>
          <p:nvPr/>
        </p:nvSpPr>
        <p:spPr>
          <a:xfrm>
            <a:off x="3566160" y="4809744"/>
            <a:ext cx="5852160" cy="457200"/>
          </a:xfrm>
          <a:prstGeom prst="rect">
            <a:avLst/>
          </a:prstGeom>
          <a:noFill/>
        </p:spPr>
        <p:txBody>
          <a:bodyPr wrap="square" lIns="0" rIns="0" tIns="0" bIns="0">
            <a:spAutoFit/>
          </a:bodyPr>
          <a:lstStyle/>
          <a:p>
            <a:pPr algn="l">
              <a:spcAft>
                <a:spcPts val="500"/>
              </a:spcAft>
            </a:pPr>
            <a:r>
              <a:rPr sz="900" b="0" i="0">
                <a:solidFill>
                  <a:srgbClr val="000000"/>
                </a:solidFill>
              </a:rPr>
              <a:t>Upstream of Delivery Models — alias routing is live; SME case request tool and RACI updates underway to close adoption gaps.</a:t>
            </a:r>
          </a:p>
        </p:txBody>
      </p:sp>
      <p:sp>
        <p:nvSpPr>
          <p:cNvPr id="33" name="Rounded Rectangle 32"/>
          <p:cNvSpPr/>
          <p:nvPr/>
        </p:nvSpPr>
        <p:spPr>
          <a:xfrm>
            <a:off x="10363200" y="4846320"/>
            <a:ext cx="1188720" cy="274320"/>
          </a:xfrm>
          <a:prstGeom prst="roundRect">
            <a:avLst>
              <a:gd name="adj" fmla="val 50000"/>
            </a:avLst>
          </a:prstGeom>
          <a:solidFill>
            <a:srgbClr val="000000"/>
          </a:solidFill>
          <a:ln>
            <a:noFill/>
          </a:ln>
        </p:spPr>
        <p:txBody>
          <a:bodyPr rtlCol="0" anchor="ctr" lIns="0" rIns="0" tIns="0" bIns="0"/>
          <a:lstStyle/>
          <a:p>
            <a:pPr algn="ctr"/>
            <a:r>
              <a:rPr sz="800" b="1" i="0" cap="all" spc="60">
                <a:solidFill>
                  <a:srgbClr val="FFFFFF"/>
                </a:solidFill>
              </a:rPr>
              <a:t>In Motion</a:t>
            </a:r>
          </a:p>
        </p:txBody>
      </p:sp>
      <p:sp>
        <p:nvSpPr>
          <p:cNvPr id="34" name="Rounded Rectangle 33"/>
          <p:cNvSpPr/>
          <p:nvPr/>
        </p:nvSpPr>
        <p:spPr>
          <a:xfrm>
            <a:off x="457200" y="5248656"/>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35" name="TextBox 34"/>
          <p:cNvSpPr txBox="1"/>
          <p:nvPr/>
        </p:nvSpPr>
        <p:spPr>
          <a:xfrm>
            <a:off x="685800" y="5312664"/>
            <a:ext cx="2743200" cy="457200"/>
          </a:xfrm>
          <a:prstGeom prst="rect">
            <a:avLst/>
          </a:prstGeom>
          <a:noFill/>
        </p:spPr>
        <p:txBody>
          <a:bodyPr wrap="square" lIns="0" rIns="0" tIns="0" bIns="0">
            <a:spAutoFit/>
          </a:bodyPr>
          <a:lstStyle/>
          <a:p>
            <a:pPr algn="l">
              <a:spcBef>
                <a:spcPts val="400"/>
              </a:spcBef>
              <a:spcAft>
                <a:spcPts val="500"/>
              </a:spcAft>
            </a:pPr>
            <a:r>
              <a:rPr sz="1100" b="1" i="0">
                <a:solidFill>
                  <a:srgbClr val="000000"/>
                </a:solidFill>
              </a:rPr>
              <a:t>Ops Transformation: Rebuild Scoping &amp; Staffing</a:t>
            </a:r>
          </a:p>
        </p:txBody>
      </p:sp>
      <p:sp>
        <p:nvSpPr>
          <p:cNvPr id="36" name="TextBox 35"/>
          <p:cNvSpPr txBox="1"/>
          <p:nvPr/>
        </p:nvSpPr>
        <p:spPr>
          <a:xfrm>
            <a:off x="3566160" y="5303520"/>
            <a:ext cx="5852160" cy="457200"/>
          </a:xfrm>
          <a:prstGeom prst="rect">
            <a:avLst/>
          </a:prstGeom>
          <a:noFill/>
        </p:spPr>
        <p:txBody>
          <a:bodyPr wrap="square" lIns="0" rIns="0" tIns="0" bIns="0">
            <a:spAutoFit/>
          </a:bodyPr>
          <a:lstStyle/>
          <a:p>
            <a:pPr algn="l">
              <a:spcAft>
                <a:spcPts val="500"/>
              </a:spcAft>
            </a:pPr>
            <a:r>
              <a:rPr sz="900" b="0" i="0">
                <a:solidFill>
                  <a:srgbClr val="000000"/>
                </a:solidFill>
              </a:rPr>
              <a:t>Deliverables go in, and a timeline and staffing plan come out, with AI doing real work and learning from what we deliver.</a:t>
            </a:r>
          </a:p>
        </p:txBody>
      </p:sp>
      <p:sp>
        <p:nvSpPr>
          <p:cNvPr id="37" name="Rounded Rectangle 36"/>
          <p:cNvSpPr/>
          <p:nvPr/>
        </p:nvSpPr>
        <p:spPr>
          <a:xfrm>
            <a:off x="10363200" y="5340096"/>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Taking shape</a:t>
            </a:r>
          </a:p>
        </p:txBody>
      </p:sp>
      <p:sp>
        <p:nvSpPr>
          <p:cNvPr id="38" name="Rounded Rectangle 37"/>
          <p:cNvSpPr/>
          <p:nvPr/>
        </p:nvSpPr>
        <p:spPr>
          <a:xfrm>
            <a:off x="457200" y="5742432"/>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p>
        </p:txBody>
      </p:sp>
      <p:sp>
        <p:nvSpPr>
          <p:cNvPr id="39" name="TextBox 38"/>
          <p:cNvSpPr txBox="1"/>
          <p:nvPr/>
        </p:nvSpPr>
        <p:spPr>
          <a:xfrm>
            <a:off x="685800" y="5806440"/>
            <a:ext cx="2743200" cy="457200"/>
          </a:xfrm>
          <a:prstGeom prst="rect">
            <a:avLst/>
          </a:prstGeom>
          <a:noFill/>
        </p:spPr>
        <p:txBody>
          <a:bodyPr wrap="square" lIns="0" rIns="0" tIns="0" bIns="0">
            <a:spAutoFit/>
          </a:bodyPr>
          <a:lstStyle/>
          <a:p>
            <a:pPr algn="l">
              <a:spcBef>
                <a:spcPts val="400"/>
              </a:spcBef>
              <a:spcAft>
                <a:spcPts val="500"/>
              </a:spcAft>
            </a:pPr>
            <a:r>
              <a:rPr sz="1100" b="1" i="0">
                <a:solidFill>
                  <a:srgbClr val="000000"/>
                </a:solidFill>
              </a:rPr>
              <a:t>Earlier Delivery &amp; Talent in Pursuits</a:t>
            </a:r>
          </a:p>
        </p:txBody>
      </p:sp>
      <p:sp>
        <p:nvSpPr>
          <p:cNvPr id="40" name="TextBox 39"/>
          <p:cNvSpPr txBox="1"/>
          <p:nvPr/>
        </p:nvSpPr>
        <p:spPr>
          <a:xfrm>
            <a:off x="3566160" y="5797296"/>
            <a:ext cx="5852160" cy="457200"/>
          </a:xfrm>
          <a:prstGeom prst="rect">
            <a:avLst/>
          </a:prstGeom>
          <a:noFill/>
        </p:spPr>
        <p:txBody>
          <a:bodyPr wrap="square" lIns="0" rIns="0" tIns="0" bIns="0">
            <a:spAutoFit/>
          </a:bodyPr>
          <a:lstStyle/>
          <a:p>
            <a:pPr algn="l">
              <a:spcAft>
                <a:spcPts val="500"/>
              </a:spcAft>
            </a:pPr>
            <a:r>
              <a:rPr sz="900" b="0" i="0">
                <a:solidFill>
                  <a:srgbClr val="000000"/>
                </a:solidFill>
              </a:rPr>
              <a:t>Bring SME expertise into upfront deal evaluation to lift our win rate on the deals we already capture.</a:t>
            </a:r>
          </a:p>
        </p:txBody>
      </p:sp>
      <p:sp>
        <p:nvSpPr>
          <p:cNvPr id="41" name="Rounded Rectangle 40"/>
          <p:cNvSpPr/>
          <p:nvPr/>
        </p:nvSpPr>
        <p:spPr>
          <a:xfrm>
            <a:off x="10363200" y="5833872"/>
            <a:ext cx="1188720" cy="274320"/>
          </a:xfrm>
          <a:prstGeom prst="roundRect">
            <a:avLst>
              <a:gd name="adj" fmla="val 50000"/>
            </a:avLst>
          </a:prstGeom>
          <a:solidFill>
            <a:srgbClr val="FFFFFF"/>
          </a:solidFill>
          <a:ln w="12700">
            <a:solidFill>
              <a:srgbClr val="000000"/>
            </a:solidFill>
          </a:ln>
        </p:spPr>
        <p:txBody>
          <a:bodyPr rtlCol="0" anchor="ctr" lIns="0" rIns="0" tIns="0" bIns="0"/>
          <a:lstStyle/>
          <a:p>
            <a:pPr algn="ctr"/>
            <a:r>
              <a:rPr sz="800" b="1" i="0" cap="all" spc="60">
                <a:solidFill>
                  <a:srgbClr val="000000"/>
                </a:solidFill>
              </a:rPr>
              <a:t>Quick win</a:t>
            </a:r>
          </a:p>
        </p:txBody>
      </p:sp>
      <p:sp>
        <p:nvSpPr>
          <p:cNvPr id="42" name="TextBox 41"/>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16 (first six); Delivery Excellence kickoff slide 4 (Ops Transformation, Earlier Delivery)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Deal-to-Delivery Playbook</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PRIORITY ONE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TextBox 508"/>
          <p:cNvSpPr txBox="1"/>
          <p:nvPr/>
        </p:nvSpPr>
        <p:spPr>
          <a:xfrm>
            <a:off x="457200" y="1170000"/>
            <a:ext cx="11277600" cy="1049020"/>
          </a:xfrm>
          <a:prstGeom prst="rect">
            <a:avLst/>
          </a:prstGeom>
          <a:noFill/>
        </p:spPr>
        <p:txBody>
          <a:bodyPr wrap="square" lIns="0" rIns="0" tIns="0" bIns="0">
            <a:spAutoFit/>
          </a:bodyPr>
          <a:lstStyle/>
          <a:p>
            <a:pPr algn="l">
              <a:spcAft>
                <a:spcPts val="500"/>
              </a:spcAft>
            </a:pPr>
            <a:r>
              <a:rPr sz="1250" b="1" i="0">
                <a:solidFill>
                  <a:srgbClr val="000000"/>
                </a:solidFill>
              </a:rPr>
              <a:t>Why this one, first:</a:t>
            </a:r>
            <a:r>
              <a:rPr sz="1250" b="0" i="0">
                <a:solidFill>
                  <a:srgbClr val="000000"/>
                </a:solidFill>
              </a:rPr>
              <a:t> of the four, this is the most urgent to solve. Work is being sold in shapes we cannot staff or deliver, and that's costing us today — not a future risk. It's also our clearest answer to Play to Win's Delivery Excellence ask.</a:t>
            </a:r>
          </a:p>
          <a:p>
            <a:pPr algn="l">
              <a:spcBef>
                <a:spcPts val="400"/>
              </a:spcBef>
              <a:spcAft>
                <a:spcPts val="500"/>
              </a:spcAft>
            </a:pPr>
            <a:r>
              <a:rPr sz="1250" b="1" i="0">
                <a:solidFill>
                  <a:srgbClr val="000000"/>
                </a:solidFill>
              </a:rPr>
              <a:t>MVP</a:t>
            </a:r>
          </a:p>
          <a:p>
            <a:pPr algn="l">
              <a:spcAft>
                <a:spcPts val="500"/>
              </a:spcAft>
            </a:pPr>
            <a:r>
              <a:rPr sz="1250" b="0" i="0">
                <a:solidFill>
                  <a:srgbClr val="000000"/>
                </a:solidFill>
              </a:rPr>
              <a:t>Three stories, not one, because all three must work together for this to work.</a:t>
            </a:r>
          </a:p>
        </p:txBody>
      </p:sp>
      <p:sp>
        <p:nvSpPr>
          <p:cNvPr id="510" name="Rounded Rectangle 509"/>
          <p:cNvSpPr/>
          <p:nvPr/>
        </p:nvSpPr>
        <p:spPr>
          <a:xfrm>
            <a:off x="457200" y="5590000"/>
            <a:ext cx="11277600" cy="81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1400" b="1" i="0">
                <a:solidFill>
                  <a:srgbClr val="FFFFFF"/>
                </a:solidFill>
              </a:rPr>
              <a:t>The Key Takeaway: If we do nothing else, we must stop selling what we cannot properly deliver. This playbook is how we finally align how we scope, how we execute, and what the client expects from day one.</a:t>
            </a:r>
          </a:p>
        </p:txBody>
      </p:sp>
      <p:sp>
        <p:nvSpPr>
          <p:cNvPr id="511" name="Rounded Rectangle 510"/>
          <p:cNvSpPr/>
          <p:nvPr/>
        </p:nvSpPr>
        <p:spPr>
          <a:xfrm>
            <a:off x="457200" y="4940000"/>
            <a:ext cx="11277600" cy="56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1400" b="1" i="0">
                <a:solidFill>
                  <a:srgbClr val="FFFFFF"/>
                </a:solidFill>
              </a:rPr>
              <a:t>Supported by AI: Estimation, Pricing, and Staffing follow once the MVP is solid.</a:t>
            </a:r>
          </a:p>
        </p:txBody>
      </p:sp>
      <p:sp>
        <p:nvSpPr>
          <p:cNvPr id="512" name="Rounded Rectangle 511"/>
          <p:cNvSpPr/>
          <p:nvPr/>
        </p:nvSpPr>
        <p:spPr>
          <a:xfrm>
            <a:off x="457200" y="2329020"/>
            <a:ext cx="3659200" cy="25209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STORY 1 · Delivery Models</a:t>
            </a:r>
          </a:p>
          <a:p>
            <a:pPr algn="l">
              <a:spcAft>
                <a:spcPts val="500"/>
              </a:spcAft>
            </a:pPr>
            <a:r>
              <a:rPr sz="1300" b="0" i="0">
                <a:solidFill>
                  <a:srgbClr val="000000"/>
                </a:solidFill>
              </a:rPr>
              <a:t>Every deal categorized at qualification into one of 5-6 core models, so pricing and staffing follow a known shape.</a:t>
            </a:r>
          </a:p>
        </p:txBody>
      </p:sp>
      <p:sp>
        <p:nvSpPr>
          <p:cNvPr id="513" name="Rounded Rectangle 512"/>
          <p:cNvSpPr/>
          <p:nvPr/>
        </p:nvSpPr>
        <p:spPr>
          <a:xfrm>
            <a:off x="4266400" y="2329020"/>
            <a:ext cx="3659200" cy="25209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STORY 2 · Contracts</a:t>
            </a:r>
          </a:p>
          <a:p>
            <a:pPr algn="l">
              <a:spcAft>
                <a:spcPts val="500"/>
              </a:spcAft>
            </a:pPr>
            <a:r>
              <a:rPr sz="1300" b="0" i="0">
                <a:solidFill>
                  <a:srgbClr val="000000"/>
                </a:solidFill>
              </a:rPr>
              <a:t>Terms, scope language, and billing matched to the chosen model — no more fixed price with no scope control.</a:t>
            </a:r>
          </a:p>
        </p:txBody>
      </p:sp>
      <p:sp>
        <p:nvSpPr>
          <p:cNvPr id="514" name="Rounded Rectangle 513"/>
          <p:cNvSpPr/>
          <p:nvPr/>
        </p:nvSpPr>
        <p:spPr>
          <a:xfrm>
            <a:off x="8075600" y="2329020"/>
            <a:ext cx="3659200" cy="25209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STORY 3 · Methodology Standards</a:t>
            </a:r>
          </a:p>
          <a:p>
            <a:pPr algn="l">
              <a:spcAft>
                <a:spcPts val="500"/>
              </a:spcAft>
            </a:pPr>
            <a:r>
              <a:rPr sz="1300" b="0" i="0">
                <a:solidFill>
                  <a:srgbClr val="000000"/>
                </a:solidFill>
              </a:rPr>
              <a:t>Clear working practices, so we guide clients into how we work instead of inheriting whatever mix they bring.</a:t>
            </a:r>
          </a:p>
        </p:txBody>
      </p:sp>
      <p:sp>
        <p:nvSpPr>
          <p:cNvPr id="515" name="TextBox 514"/>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23 (hidden) · Delivery Excellence slide 11 (hidden)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The Deal-to-Delivery Playbook</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 WIP</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TextBox 508"/>
          <p:cNvSpPr txBox="1"/>
          <p:nvPr/>
        </p:nvSpPr>
        <p:spPr>
          <a:xfrm>
            <a:off x="457200" y="1170000"/>
            <a:ext cx="11277600" cy="779145"/>
          </a:xfrm>
          <a:prstGeom prst="rect">
            <a:avLst/>
          </a:prstGeom>
          <a:noFill/>
        </p:spPr>
        <p:txBody>
          <a:bodyPr wrap="square" lIns="0" rIns="0" tIns="0" bIns="0">
            <a:spAutoFit/>
          </a:bodyPr>
          <a:lstStyle/>
          <a:p>
            <a:pPr algn="l">
              <a:spcAft>
                <a:spcPts val="500"/>
              </a:spcAft>
            </a:pPr>
            <a:r>
              <a:rPr sz="1250" b="0" i="0">
                <a:solidFill>
                  <a:srgbClr val="000000"/>
                </a:solidFill>
              </a:rPr>
              <a:t>As our organization evolves, we have an opportunity to better </a:t>
            </a:r>
            <a:r>
              <a:rPr sz="1250" b="1" i="0">
                <a:solidFill>
                  <a:srgbClr val="000000"/>
                </a:solidFill>
              </a:rPr>
              <a:t>align how we structure deals upstream with how we execute them downstream</a:t>
            </a:r>
            <a:r>
              <a:rPr sz="1250" b="0" i="0">
                <a:solidFill>
                  <a:srgbClr val="000000"/>
                </a:solidFill>
              </a:rPr>
              <a:t>, ensuring we seamlessly sell for delivery success.</a:t>
            </a:r>
          </a:p>
          <a:p>
            <a:pPr algn="l">
              <a:spcAft>
                <a:spcPts val="500"/>
              </a:spcAft>
            </a:pPr>
            <a:r>
              <a:rPr sz="1250" b="0" i="0">
                <a:solidFill>
                  <a:srgbClr val="000000"/>
                </a:solidFill>
              </a:rPr>
              <a:t>We are actively shaping a unified playbook to standardize our estimation processes and delivery models.</a:t>
            </a:r>
          </a:p>
        </p:txBody>
      </p:sp>
      <p:sp>
        <p:nvSpPr>
          <p:cNvPr id="510" name="Rounded Rectangle 509"/>
          <p:cNvSpPr/>
          <p:nvPr/>
        </p:nvSpPr>
        <p:spPr>
          <a:xfrm>
            <a:off x="457200" y="5590000"/>
            <a:ext cx="11277600" cy="81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1400" b="1" i="0">
                <a:solidFill>
                  <a:srgbClr val="FFFFFF"/>
                </a:solidFill>
              </a:rPr>
              <a:t>The Key Takeaway: If we do nothing else, we must stop selling what we cannot properly deliver. This playbook is how we finally align how we scope, how we execute, and what the client expects from day one.</a:t>
            </a:r>
          </a:p>
        </p:txBody>
      </p:sp>
      <p:sp>
        <p:nvSpPr>
          <p:cNvPr id="511" name="Rounded Rectangle 510"/>
          <p:cNvSpPr/>
          <p:nvPr/>
        </p:nvSpPr>
        <p:spPr>
          <a:xfrm>
            <a:off x="457200" y="2059145"/>
            <a:ext cx="3659200" cy="209929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Authorized Delivery Models</a:t>
            </a:r>
          </a:p>
          <a:p>
            <a:pPr algn="l">
              <a:spcAft>
                <a:spcPts val="500"/>
              </a:spcAft>
            </a:pPr>
            <a:r>
              <a:rPr sz="900" b="0" i="0">
                <a:solidFill>
                  <a:srgbClr val="000000"/>
                </a:solidFill>
              </a:rPr>
              <a:t>Every deal will be categorized into one of 5-6 core models.</a:t>
            </a:r>
          </a:p>
          <a:p>
            <a:pPr algn="l">
              <a:spcAft>
                <a:spcPts val="500"/>
              </a:spcAft>
            </a:pPr>
            <a:r>
              <a:rPr sz="900" b="0" i="0">
                <a:solidFill>
                  <a:srgbClr val="000000"/>
                </a:solidFill>
              </a:rPr>
              <a:t>Examples:</a:t>
            </a:r>
          </a:p>
          <a:p>
            <a:pPr algn="l">
              <a:spcAft>
                <a:spcPts val="500"/>
              </a:spcAft>
            </a:pPr>
            <a:r>
              <a:rPr sz="900" b="0" i="0">
                <a:solidFill>
                  <a:srgbClr val="000000"/>
                </a:solidFill>
              </a:rPr>
              <a:t>Fixed (Scope, Budget, Timeframe) - Phase Gate Delivery</a:t>
            </a:r>
          </a:p>
          <a:p>
            <a:pPr algn="l">
              <a:spcAft>
                <a:spcPts val="500"/>
              </a:spcAft>
            </a:pPr>
            <a:r>
              <a:rPr sz="900" b="0" i="0">
                <a:solidFill>
                  <a:srgbClr val="000000"/>
                </a:solidFill>
              </a:rPr>
              <a:t>Velocity-based/Staff Aug</a:t>
            </a:r>
          </a:p>
          <a:p>
            <a:pPr algn="l">
              <a:spcAft>
                <a:spcPts val="500"/>
              </a:spcAft>
            </a:pPr>
            <a:r>
              <a:rPr sz="900" b="0" i="0">
                <a:solidFill>
                  <a:srgbClr val="000000"/>
                </a:solidFill>
              </a:rPr>
              <a:t>Product Oriented Delivery</a:t>
            </a:r>
          </a:p>
          <a:p>
            <a:pPr algn="l">
              <a:spcAft>
                <a:spcPts val="500"/>
              </a:spcAft>
            </a:pPr>
            <a:r>
              <a:rPr sz="900" b="0" i="0">
                <a:solidFill>
                  <a:srgbClr val="000000"/>
                </a:solidFill>
              </a:rPr>
              <a:t>Retainer/Managed Service/BPO</a:t>
            </a:r>
          </a:p>
          <a:p>
            <a:pPr algn="l">
              <a:spcAft>
                <a:spcPts val="500"/>
              </a:spcAft>
            </a:pPr>
            <a:r>
              <a:rPr sz="900" b="0" i="0">
                <a:solidFill>
                  <a:srgbClr val="000000"/>
                </a:solidFill>
              </a:rPr>
              <a:t>Outcome / Value Based</a:t>
            </a:r>
          </a:p>
        </p:txBody>
      </p:sp>
      <p:sp>
        <p:nvSpPr>
          <p:cNvPr id="512" name="Rounded Rectangle 511"/>
          <p:cNvSpPr/>
          <p:nvPr/>
        </p:nvSpPr>
        <p:spPr>
          <a:xfrm>
            <a:off x="4266400" y="2059145"/>
            <a:ext cx="3659200" cy="209929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Aligning Contracts to Work</a:t>
            </a:r>
          </a:p>
          <a:p>
            <a:pPr algn="l">
              <a:spcAft>
                <a:spcPts val="500"/>
              </a:spcAft>
            </a:pPr>
            <a:r>
              <a:rPr sz="1300" b="0" i="0">
                <a:solidFill>
                  <a:srgbClr val="000000"/>
                </a:solidFill>
              </a:rPr>
              <a:t>This ensures we establish authorized contract structures that match terms, scope language, and billing mechanics to the specific model, so we stop agreeing to unfeasible combinations like fixed-price with no scope control.</a:t>
            </a:r>
          </a:p>
        </p:txBody>
      </p:sp>
      <p:sp>
        <p:nvSpPr>
          <p:cNvPr id="513" name="Rounded Rectangle 512"/>
          <p:cNvSpPr/>
          <p:nvPr/>
        </p:nvSpPr>
        <p:spPr>
          <a:xfrm>
            <a:off x="8075600" y="2059145"/>
            <a:ext cx="3659200" cy="209929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Methodology Standards</a:t>
            </a:r>
          </a:p>
          <a:p>
            <a:pPr algn="l">
              <a:spcAft>
                <a:spcPts val="500"/>
              </a:spcAft>
            </a:pPr>
            <a:r>
              <a:rPr sz="1300" b="0" i="0">
                <a:solidFill>
                  <a:srgbClr val="000000"/>
                </a:solidFill>
              </a:rPr>
              <a:t>We will establish clear underlying working practices (e.g., </a:t>
            </a:r>
            <a:r>
              <a:rPr sz="1300" b="0" i="0">
                <a:solidFill>
                  <a:srgbClr val="000000"/>
                </a:solidFill>
              </a:rPr>
              <a:t>SAFe</a:t>
            </a:r>
            <a:r>
              <a:rPr sz="1300" b="0" i="0">
                <a:solidFill>
                  <a:srgbClr val="000000"/>
                </a:solidFill>
              </a:rPr>
              <a:t> Agile, Test-Driven Development) so we proactively guide clients toward successful engagements, rather than inheriting </a:t>
            </a:r>
            <a:r>
              <a:rPr sz="1300" b="0" i="0">
                <a:solidFill>
                  <a:srgbClr val="000000"/>
                </a:solidFill>
              </a:rPr>
              <a:t>confusion </a:t>
            </a:r>
            <a:r>
              <a:rPr sz="1300" b="0" i="0">
                <a:solidFill>
                  <a:srgbClr val="000000"/>
                </a:solidFill>
              </a:rPr>
              <a:t>from clients or from team preferences</a:t>
            </a:r>
          </a:p>
        </p:txBody>
      </p:sp>
      <p:sp>
        <p:nvSpPr>
          <p:cNvPr id="514" name="Rounded Rectangle 513"/>
          <p:cNvSpPr/>
          <p:nvPr/>
        </p:nvSpPr>
        <p:spPr>
          <a:xfrm>
            <a:off x="457200" y="4308441"/>
            <a:ext cx="3659200" cy="1191558"/>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Layering in AI</a:t>
            </a:r>
          </a:p>
          <a:p>
            <a:pPr algn="l">
              <a:spcAft>
                <a:spcPts val="500"/>
              </a:spcAft>
            </a:pPr>
            <a:r>
              <a:rPr sz="900" b="0" i="0">
                <a:solidFill>
                  <a:srgbClr val="000000"/>
                </a:solidFill>
              </a:rPr>
              <a:t>We will purposefully weave AI capabilities into these methodologies from the start. This allows us to accurately scope future baseline roles and begin transitioning toward metered or token-based commercial pricing.</a:t>
            </a:r>
          </a:p>
        </p:txBody>
      </p:sp>
      <p:sp>
        <p:nvSpPr>
          <p:cNvPr id="515" name="Rounded Rectangle 514"/>
          <p:cNvSpPr/>
          <p:nvPr/>
        </p:nvSpPr>
        <p:spPr>
          <a:xfrm>
            <a:off x="4266400" y="4308441"/>
            <a:ext cx="3659200" cy="1191558"/>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Unified Estimation</a:t>
            </a:r>
          </a:p>
          <a:p>
            <a:pPr algn="l">
              <a:spcAft>
                <a:spcPts val="500"/>
              </a:spcAft>
            </a:pPr>
            <a:r>
              <a:rPr sz="1000" b="0" i="0">
                <a:solidFill>
                  <a:srgbClr val="000000"/>
                </a:solidFill>
              </a:rPr>
              <a:t>This playbook ends siloed estimation by bringing the right people in before the deal closes, ensuring our pricing tools reflect true deliverability, not just theoretical margin.</a:t>
            </a:r>
          </a:p>
        </p:txBody>
      </p:sp>
      <p:sp>
        <p:nvSpPr>
          <p:cNvPr id="516" name="Rounded Rectangle 515"/>
          <p:cNvSpPr/>
          <p:nvPr/>
        </p:nvSpPr>
        <p:spPr>
          <a:xfrm>
            <a:off x="8075600" y="4308441"/>
            <a:ext cx="3659200" cy="1191558"/>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Next Up</a:t>
            </a:r>
          </a:p>
          <a:p>
            <a:pPr algn="l">
              <a:spcAft>
                <a:spcPts val="500"/>
              </a:spcAft>
            </a:pPr>
            <a:r>
              <a:rPr sz="1000" b="0" i="0">
                <a:solidFill>
                  <a:srgbClr val="000000"/>
                </a:solidFill>
              </a:rPr>
              <a:t>BU COOs and Delivery Leads will partner directly with Enterprise Project Management, Client &amp; Commercial teams, and Finance to </a:t>
            </a:r>
            <a:r>
              <a:rPr sz="1000" b="1" i="0">
                <a:solidFill>
                  <a:srgbClr val="000000"/>
                </a:solidFill>
              </a:rPr>
              <a:t>build this playbook together,</a:t>
            </a:r>
            <a:r>
              <a:rPr sz="1000" b="0" i="0">
                <a:solidFill>
                  <a:srgbClr val="000000"/>
                </a:solidFill>
              </a:rPr>
              <a:t> ensuring full organizational alignment.</a:t>
            </a:r>
          </a:p>
        </p:txBody>
      </p:sp>
      <p:sp>
        <p:nvSpPr>
          <p:cNvPr id="517" name="TextBox 516"/>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22 (hidden) · Delivery Excellence slide 10 (hidden)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Deal-to-Delivery Problem Statement</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CONTINUED · SEPT 16TH</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Rounded Rectangle 508"/>
          <p:cNvSpPr/>
          <p:nvPr/>
        </p:nvSpPr>
        <p:spPr>
          <a:xfrm>
            <a:off x="457200" y="1170000"/>
            <a:ext cx="5563800" cy="5229999"/>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The problem statement</a:t>
            </a:r>
          </a:p>
          <a:p>
            <a:pPr algn="l">
              <a:spcAft>
                <a:spcPts val="500"/>
              </a:spcAft>
            </a:pPr>
            <a:r>
              <a:rPr sz="1300" b="0" i="0">
                <a:solidFill>
                  <a:srgbClr val="000000"/>
                </a:solidFill>
              </a:rPr>
              <a:t>There is no standardized, named set of delivery models, from which an individual or set of models is required to be declared at the point of sale, carried into contracting, enforced at staffing and used for delivery.</a:t>
            </a:r>
          </a:p>
          <a:p>
            <a:pPr algn="l">
              <a:spcAft>
                <a:spcPts val="500"/>
              </a:spcAft>
            </a:pPr>
            <a:r>
              <a:rPr sz="1300" b="0" i="0">
                <a:solidFill>
                  <a:srgbClr val="000000"/>
                </a:solidFill>
              </a:rPr>
              <a:t>As a result, the delivery approach for any given engagement, or track within an engagement, is decided implicitly and independently by whoever happens to be making decisions at that moment (executives, Sales, CPs, Delivery leads, etc.), rather than through one shared educated decision.</a:t>
            </a:r>
          </a:p>
          <a:p>
            <a:pPr algn="l">
              <a:spcAft>
                <a:spcPts val="500"/>
              </a:spcAft>
            </a:pPr>
            <a:r>
              <a:rPr sz="1300" b="0" i="0">
                <a:solidFill>
                  <a:srgbClr val="000000"/>
                </a:solidFill>
              </a:rPr>
              <a:t>When these implicit decisions disagree with the type of engagement or client expectation, often it is not fully understood until the symptoms are already visible to the client, or we are at a point that a pivot will require investment.</a:t>
            </a:r>
          </a:p>
        </p:txBody>
      </p:sp>
      <p:sp>
        <p:nvSpPr>
          <p:cNvPr id="510" name="Rounded Rectangle 509"/>
          <p:cNvSpPr/>
          <p:nvPr/>
        </p:nvSpPr>
        <p:spPr>
          <a:xfrm>
            <a:off x="6171000" y="1170000"/>
            <a:ext cx="5563800" cy="5229999"/>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The Takeaway</a:t>
            </a:r>
          </a:p>
          <a:p>
            <a:pPr algn="l">
              <a:spcAft>
                <a:spcPts val="500"/>
              </a:spcAft>
            </a:pPr>
            <a:r>
              <a:rPr sz="1300" b="0" i="0">
                <a:solidFill>
                  <a:srgbClr val="FFFFFF"/>
                </a:solidFill>
              </a:rPr>
              <a:t>We need a small set of authorized delivery models</a:t>
            </a:r>
          </a:p>
          <a:p>
            <a:pPr algn="l">
              <a:spcAft>
                <a:spcPts val="500"/>
              </a:spcAft>
            </a:pPr>
            <a:r>
              <a:rPr sz="1300" b="0" i="0">
                <a:solidFill>
                  <a:srgbClr val="FFFFFF"/>
                </a:solidFill>
              </a:rPr>
              <a:t>That align approach, contract, and methodology standards</a:t>
            </a:r>
          </a:p>
          <a:p>
            <a:pPr algn="l">
              <a:spcAft>
                <a:spcPts val="500"/>
              </a:spcAft>
            </a:pPr>
            <a:r>
              <a:rPr sz="1300" b="0" i="0">
                <a:solidFill>
                  <a:srgbClr val="FFFFFF"/>
                </a:solidFill>
              </a:rPr>
              <a:t>Allowing us to improve how we solution, estimate, and deliver</a:t>
            </a:r>
          </a:p>
        </p:txBody>
      </p:sp>
      <p:sp>
        <p:nvSpPr>
          <p:cNvPr id="511" name="TextBox 510"/>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18 · Delivery Excellence slide 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Deal-to-Delivery Recommendation</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CONTINUED · SEPT 16TH</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TextBox 508"/>
          <p:cNvSpPr txBox="1"/>
          <p:nvPr/>
        </p:nvSpPr>
        <p:spPr>
          <a:xfrm>
            <a:off x="457200" y="1170000"/>
            <a:ext cx="11277600" cy="702945"/>
          </a:xfrm>
          <a:prstGeom prst="rect">
            <a:avLst/>
          </a:prstGeom>
          <a:noFill/>
        </p:spPr>
        <p:txBody>
          <a:bodyPr wrap="square" lIns="0" rIns="0" tIns="0" bIns="0">
            <a:spAutoFit/>
          </a:bodyPr>
          <a:lstStyle/>
          <a:p>
            <a:pPr algn="l">
              <a:spcAft>
                <a:spcPts val="500"/>
              </a:spcAft>
            </a:pPr>
            <a:r>
              <a:rPr sz="1250" b="0" i="0">
                <a:solidFill>
                  <a:srgbClr val="000000"/>
                </a:solidFill>
              </a:rPr>
              <a:t>Every engagement, and every track within a multi-track program, must have an explicitly named delivery model (chosen from a small, standard set) declared before review, staffing, etc. and checked at fixed intervals afterward. The model determines governance, staffing, and authority; it is not inferred after the fact by whoever is doing the work.</a:t>
            </a:r>
          </a:p>
        </p:txBody>
      </p:sp>
      <p:sp>
        <p:nvSpPr>
          <p:cNvPr id="510" name="Rounded Rectangle 509"/>
          <p:cNvSpPr/>
          <p:nvPr/>
        </p:nvSpPr>
        <p:spPr>
          <a:xfrm>
            <a:off x="457200" y="1982945"/>
            <a:ext cx="2706900" cy="441705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01</a:t>
            </a:r>
          </a:p>
          <a:p>
            <a:pPr algn="l">
              <a:spcBef>
                <a:spcPts val="400"/>
              </a:spcBef>
              <a:spcAft>
                <a:spcPts val="500"/>
              </a:spcAft>
            </a:pPr>
            <a:r>
              <a:rPr sz="1300" b="1" i="0">
                <a:solidFill>
                  <a:srgbClr val="000000"/>
                </a:solidFill>
              </a:rPr>
              <a:t>Standardize a small set of named models mapped to commercial structure</a:t>
            </a:r>
          </a:p>
          <a:p>
            <a:pPr algn="l">
              <a:spcAft>
                <a:spcPts val="500"/>
              </a:spcAft>
            </a:pPr>
            <a:r>
              <a:rPr sz="1300" b="0" i="0">
                <a:solidFill>
                  <a:srgbClr val="000000"/>
                </a:solidFill>
              </a:rPr>
              <a:t>No SOW is signed without a model name attached to it, and that name determines governance</a:t>
            </a:r>
          </a:p>
          <a:p>
            <a:pPr algn="l">
              <a:spcAft>
                <a:spcPts val="500"/>
              </a:spcAft>
            </a:pPr>
            <a:r>
              <a:rPr sz="1300" b="0" i="0">
                <a:solidFill>
                  <a:srgbClr val="000000"/>
                </a:solidFill>
              </a:rPr>
              <a:t>(e.g., gates </a:t>
            </a:r>
            <a:r>
              <a:rPr sz="1300" b="0" i="0">
                <a:solidFill>
                  <a:srgbClr val="000000"/>
                </a:solidFill>
              </a:rPr>
              <a:t>vs. PI cadence vs. OKR-anchored backlog)</a:t>
            </a:r>
          </a:p>
        </p:txBody>
      </p:sp>
      <p:sp>
        <p:nvSpPr>
          <p:cNvPr id="511" name="Rounded Rectangle 510"/>
          <p:cNvSpPr/>
          <p:nvPr/>
        </p:nvSpPr>
        <p:spPr>
          <a:xfrm>
            <a:off x="3314100" y="1982945"/>
            <a:ext cx="2706900" cy="441705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02</a:t>
            </a:r>
          </a:p>
          <a:p>
            <a:pPr algn="l">
              <a:spcBef>
                <a:spcPts val="400"/>
              </a:spcBef>
              <a:spcAft>
                <a:spcPts val="500"/>
              </a:spcAft>
            </a:pPr>
            <a:r>
              <a:rPr sz="1300" b="1" i="0">
                <a:solidFill>
                  <a:srgbClr val="000000"/>
                </a:solidFill>
              </a:rPr>
              <a:t>Treat multi-track programs as portfolios of clearly defined tracks mapped to a model, not one label stretched over the whole account.</a:t>
            </a:r>
          </a:p>
          <a:p>
            <a:pPr algn="l">
              <a:spcAft>
                <a:spcPts val="500"/>
              </a:spcAft>
            </a:pPr>
            <a:r>
              <a:rPr sz="1300" b="0" i="0">
                <a:solidFill>
                  <a:srgbClr val="000000"/>
                </a:solidFill>
              </a:rPr>
              <a:t>Program A:</a:t>
            </a:r>
          </a:p>
          <a:p>
            <a:pPr algn="l">
              <a:spcAft>
                <a:spcPts val="500"/>
              </a:spcAft>
            </a:pPr>
            <a:r>
              <a:rPr sz="1300" b="0" i="0">
                <a:solidFill>
                  <a:srgbClr val="000000"/>
                </a:solidFill>
              </a:rPr>
              <a:t>Track A: Model 1 (</a:t>
            </a:r>
            <a:r>
              <a:rPr sz="1300" b="0" i="0">
                <a:solidFill>
                  <a:srgbClr val="000000"/>
                </a:solidFill>
              </a:rPr>
              <a:t>backcasted</a:t>
            </a:r>
            <a:r>
              <a:rPr sz="1300" b="0" i="0">
                <a:solidFill>
                  <a:srgbClr val="000000"/>
                </a:solidFill>
              </a:rPr>
              <a:t> platform build) </a:t>
            </a:r>
            <a:r>
              <a:rPr sz="1300" b="0" i="0">
                <a:solidFill>
                  <a:srgbClr val="000000"/>
                </a:solidFill>
              </a:rPr>
              <a:t>+</a:t>
            </a:r>
            <a:r>
              <a:rPr sz="1300" b="0" i="0">
                <a:solidFill>
                  <a:srgbClr val="000000"/>
                </a:solidFill>
              </a:rPr>
              <a:t>Track B: Model 3 (outcomes based page performance improvement )</a:t>
            </a:r>
            <a:r>
              <a:rPr sz="1300" b="0" i="0">
                <a:solidFill>
                  <a:srgbClr val="000000"/>
                </a:solidFill>
              </a:rPr>
              <a:t>+</a:t>
            </a:r>
          </a:p>
          <a:p>
            <a:pPr algn="l">
              <a:spcAft>
                <a:spcPts val="500"/>
              </a:spcAft>
            </a:pPr>
            <a:r>
              <a:rPr sz="1300" b="0" i="0">
                <a:solidFill>
                  <a:srgbClr val="000000"/>
                </a:solidFill>
              </a:rPr>
              <a:t>Track C: Model 2 (retainer - ops)</a:t>
            </a:r>
          </a:p>
        </p:txBody>
      </p:sp>
      <p:sp>
        <p:nvSpPr>
          <p:cNvPr id="512" name="Rounded Rectangle 511"/>
          <p:cNvSpPr/>
          <p:nvPr/>
        </p:nvSpPr>
        <p:spPr>
          <a:xfrm>
            <a:off x="6171000" y="1982945"/>
            <a:ext cx="2706900" cy="441705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03</a:t>
            </a:r>
          </a:p>
          <a:p>
            <a:pPr algn="l">
              <a:spcBef>
                <a:spcPts val="400"/>
              </a:spcBef>
              <a:spcAft>
                <a:spcPts val="500"/>
              </a:spcAft>
            </a:pPr>
            <a:r>
              <a:rPr sz="1300" b="1" i="0">
                <a:solidFill>
                  <a:srgbClr val="000000"/>
                </a:solidFill>
              </a:rPr>
              <a:t>Require a kickoff certification.</a:t>
            </a:r>
            <a:r>
              <a:rPr sz="1300" b="0" i="0">
                <a:solidFill>
                  <a:srgbClr val="000000"/>
                </a:solidFill>
              </a:rPr>
              <a:t/>
            </a:r>
          </a:p>
          <a:p>
            <a:pPr algn="l">
              <a:spcAft>
                <a:spcPts val="500"/>
              </a:spcAft>
            </a:pPr>
            <a:r>
              <a:rPr sz="1300" b="0" i="0">
                <a:solidFill>
                  <a:srgbClr val="000000"/>
                </a:solidFill>
              </a:rPr>
              <a:t>A named accountable role (Program or Account Lead and Delivery Lead) signs off, at kickoff and at defined checkpoints, that the working model, the staffing, and the contract still agree with each other. </a:t>
            </a:r>
            <a:r>
              <a:rPr sz="1300" b="0" i="0">
                <a:solidFill>
                  <a:srgbClr val="000000"/>
                </a:solidFill>
              </a:rPr>
              <a:t>Shift from "escalate when it's already broken" into "check before it can break."</a:t>
            </a:r>
          </a:p>
        </p:txBody>
      </p:sp>
      <p:sp>
        <p:nvSpPr>
          <p:cNvPr id="513" name="Rounded Rectangle 512"/>
          <p:cNvSpPr/>
          <p:nvPr/>
        </p:nvSpPr>
        <p:spPr>
          <a:xfrm>
            <a:off x="9027900" y="1982945"/>
            <a:ext cx="2706900" cy="441705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04</a:t>
            </a:r>
          </a:p>
          <a:p>
            <a:pPr algn="l">
              <a:spcBef>
                <a:spcPts val="400"/>
              </a:spcBef>
              <a:spcAft>
                <a:spcPts val="500"/>
              </a:spcAft>
            </a:pPr>
            <a:r>
              <a:rPr sz="1300" b="1" i="0">
                <a:solidFill>
                  <a:srgbClr val="000000"/>
                </a:solidFill>
              </a:rPr>
              <a:t>Build leading indicators per model.</a:t>
            </a:r>
            <a:r>
              <a:rPr sz="1300" b="0" i="0">
                <a:solidFill>
                  <a:srgbClr val="000000"/>
                </a:solidFill>
              </a:rPr>
              <a:t/>
            </a:r>
          </a:p>
          <a:p>
            <a:pPr algn="l">
              <a:spcAft>
                <a:spcPts val="500"/>
              </a:spcAft>
            </a:pPr>
            <a:r>
              <a:rPr sz="1300" b="0" i="0">
                <a:solidFill>
                  <a:srgbClr val="000000"/>
                </a:solidFill>
              </a:rPr>
              <a:t>Make drift visible in week 2 to 4 of a track instead of at the next executive review.</a:t>
            </a:r>
          </a:p>
          <a:p>
            <a:pPr algn="l">
              <a:spcAft>
                <a:spcPts val="500"/>
              </a:spcAft>
            </a:pPr>
            <a:r>
              <a:rPr sz="1300" b="0" i="0">
                <a:solidFill>
                  <a:srgbClr val="000000"/>
                </a:solidFill>
              </a:rPr>
              <a:t>Each model gets 3 to 4 checkable signals </a:t>
            </a:r>
            <a:r>
              <a:rPr sz="1300" b="0" i="0">
                <a:solidFill>
                  <a:srgbClr val="000000"/>
                </a:solidFill>
              </a:rPr>
              <a:t>(e.g., for Model 1: is there a </a:t>
            </a:r>
            <a:r>
              <a:rPr sz="1300" b="0" i="0">
                <a:solidFill>
                  <a:srgbClr val="000000"/>
                </a:solidFill>
              </a:rPr>
              <a:t>backcasted</a:t>
            </a:r>
            <a:r>
              <a:rPr sz="1300" b="0" i="0">
                <a:solidFill>
                  <a:srgbClr val="000000"/>
                </a:solidFill>
              </a:rPr>
              <a:t> plan and is the client tracking to gates; for Model 2: is velocity being reported against contracted throughput)</a:t>
            </a:r>
          </a:p>
        </p:txBody>
      </p:sp>
      <p:sp>
        <p:nvSpPr>
          <p:cNvPr id="514" name="TextBox 513"/>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19 · Delivery Excellence slide 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Deal-to-Delivery Model Examples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CONTINUED · SEPT 16TH</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Rounded Rectangle 508"/>
          <p:cNvSpPr/>
          <p:nvPr/>
        </p:nvSpPr>
        <p:spPr>
          <a:xfrm>
            <a:off x="457200" y="1170000"/>
            <a:ext cx="2706900" cy="52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MODEL 1</a:t>
            </a:r>
          </a:p>
          <a:p>
            <a:pPr algn="l">
              <a:spcBef>
                <a:spcPts val="400"/>
              </a:spcBef>
              <a:spcAft>
                <a:spcPts val="500"/>
              </a:spcAft>
            </a:pPr>
            <a:r>
              <a:rPr sz="1200" b="1" i="0">
                <a:solidFill>
                  <a:srgbClr val="000000"/>
                </a:solidFill>
              </a:rPr>
              <a:t>Fixed Constraint Delivery</a:t>
            </a:r>
          </a:p>
          <a:p>
            <a:pPr algn="l">
              <a:spcAft>
                <a:spcPts val="500"/>
              </a:spcAft>
            </a:pPr>
            <a:r>
              <a:rPr sz="1200" b="0" i="0">
                <a:solidFill>
                  <a:srgbClr val="000000"/>
                </a:solidFill>
              </a:rPr>
              <a:t>A fixed constraint (budget, deadline, or scope) is set, and delivery is planned backward to it.</a:t>
            </a:r>
          </a:p>
          <a:p>
            <a:pPr algn="l">
              <a:spcBef>
                <a:spcPts val="400"/>
              </a:spcBef>
              <a:spcAft>
                <a:spcPts val="500"/>
              </a:spcAft>
            </a:pPr>
            <a:r>
              <a:rPr sz="1200" b="1" i="0">
                <a:solidFill>
                  <a:srgbClr val="000000"/>
                </a:solidFill>
              </a:rPr>
              <a:t>Key characteristics</a:t>
            </a:r>
          </a:p>
          <a:p>
            <a:pPr algn="l" marL="171450" indent="-171450">
              <a:spcAft>
                <a:spcPts val="500"/>
              </a:spcAft>
              <a:buFont typeface="Arial"/>
              <a:buChar char="•"/>
            </a:pPr>
            <a:r>
              <a:rPr sz="1200" b="0" i="0">
                <a:solidFill>
                  <a:srgbClr val="000000"/>
                </a:solidFill>
              </a:rPr>
              <a:t>Backcasted plan is mandatory before build starts — no backcast, no green light</a:t>
            </a:r>
          </a:p>
          <a:p>
            <a:pPr algn="l" marL="171450" indent="-171450">
              <a:spcAft>
                <a:spcPts val="500"/>
              </a:spcAft>
              <a:buFont typeface="Arial"/>
              <a:buChar char="•"/>
            </a:pPr>
            <a:r>
              <a:rPr sz="1200" b="0" i="0">
                <a:solidFill>
                  <a:srgbClr val="000000"/>
                </a:solidFill>
              </a:rPr>
              <a:t>Scope is fixed and baselined at Gate 1; change flows through CR (constraint-impacting) or Scope Bank (parity swaps)</a:t>
            </a:r>
          </a:p>
          <a:p>
            <a:pPr algn="l" marL="171450" indent="-171450">
              <a:spcAft>
                <a:spcPts val="500"/>
              </a:spcAft>
              <a:buFont typeface="Arial"/>
              <a:buChar char="•"/>
            </a:pPr>
            <a:r>
              <a:rPr sz="1200" b="0" i="0">
                <a:solidFill>
                  <a:srgbClr val="000000"/>
                </a:solidFill>
              </a:rPr>
              <a:t>Phase-gated structure with formal sign-offs</a:t>
            </a:r>
          </a:p>
          <a:p>
            <a:pPr algn="l" marL="171450" indent="-171450">
              <a:spcAft>
                <a:spcPts val="500"/>
              </a:spcAft>
              <a:buFont typeface="Arial"/>
              <a:buChar char="•"/>
            </a:pPr>
            <a:r>
              <a:rPr sz="1200" b="0" i="0">
                <a:solidFill>
                  <a:srgbClr val="000000"/>
                </a:solidFill>
              </a:rPr>
              <a:t>Squad Lead = Scrum Master</a:t>
            </a:r>
          </a:p>
          <a:p>
            <a:pPr algn="l" marL="171450" indent="-171450">
              <a:spcAft>
                <a:spcPts val="500"/>
              </a:spcAft>
              <a:buFont typeface="Arial"/>
              <a:buChar char="•"/>
            </a:pPr>
            <a:r>
              <a:rPr sz="1200" b="0" i="0">
                <a:solidFill>
                  <a:srgbClr val="000000"/>
                </a:solidFill>
              </a:rPr>
              <a:t>Success is binary at the end: did it ship, on time, in budget, to spec</a:t>
            </a:r>
          </a:p>
        </p:txBody>
      </p:sp>
      <p:sp>
        <p:nvSpPr>
          <p:cNvPr id="510" name="Rounded Rectangle 509"/>
          <p:cNvSpPr/>
          <p:nvPr/>
        </p:nvSpPr>
        <p:spPr>
          <a:xfrm>
            <a:off x="3314100" y="1170000"/>
            <a:ext cx="2706900" cy="52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MODEL 2</a:t>
            </a:r>
          </a:p>
          <a:p>
            <a:pPr algn="l">
              <a:spcBef>
                <a:spcPts val="400"/>
              </a:spcBef>
              <a:spcAft>
                <a:spcPts val="500"/>
              </a:spcAft>
            </a:pPr>
            <a:r>
              <a:rPr sz="1200" b="1" i="0">
                <a:solidFill>
                  <a:srgbClr val="000000"/>
                </a:solidFill>
              </a:rPr>
              <a:t>Velocity Based Delivery</a:t>
            </a:r>
          </a:p>
          <a:p>
            <a:pPr algn="l">
              <a:spcAft>
                <a:spcPts val="500"/>
              </a:spcAft>
            </a:pPr>
            <a:r>
              <a:rPr sz="1200" b="0" i="0">
                <a:solidFill>
                  <a:srgbClr val="000000"/>
                </a:solidFill>
              </a:rPr>
              <a:t>A contracted team delivers at a predictable, measurable pace; value is demonstrated through throughput and periodic releases, not a fixed feature list.</a:t>
            </a:r>
          </a:p>
          <a:p>
            <a:pPr algn="l">
              <a:spcBef>
                <a:spcPts val="400"/>
              </a:spcBef>
              <a:spcAft>
                <a:spcPts val="500"/>
              </a:spcAft>
            </a:pPr>
            <a:r>
              <a:rPr sz="1200" b="1" i="0">
                <a:solidFill>
                  <a:srgbClr val="000000"/>
                </a:solidFill>
              </a:rPr>
              <a:t>Key characteristics</a:t>
            </a:r>
          </a:p>
          <a:p>
            <a:pPr algn="l" marL="171450" indent="-171450">
              <a:spcAft>
                <a:spcPts val="500"/>
              </a:spcAft>
              <a:buFont typeface="Arial"/>
              <a:buChar char="•"/>
            </a:pPr>
            <a:r>
              <a:rPr sz="1200" b="0" i="0">
                <a:solidFill>
                  <a:srgbClr val="000000"/>
                </a:solidFill>
              </a:rPr>
              <a:t>No fixed scope commitment — backlog is client-prioritized, reordered freely</a:t>
            </a:r>
          </a:p>
          <a:p>
            <a:pPr algn="l" marL="171450" indent="-171450">
              <a:spcAft>
                <a:spcPts val="500"/>
              </a:spcAft>
              <a:buFont typeface="Arial"/>
              <a:buChar char="•"/>
            </a:pPr>
            <a:r>
              <a:rPr sz="1200" b="0" i="0">
                <a:solidFill>
                  <a:srgbClr val="000000"/>
                </a:solidFill>
              </a:rPr>
              <a:t>Velocity baseline is established and defended</a:t>
            </a:r>
          </a:p>
          <a:p>
            <a:pPr algn="l" marL="171450" indent="-171450">
              <a:spcAft>
                <a:spcPts val="500"/>
              </a:spcAft>
              <a:buFont typeface="Arial"/>
              <a:buChar char="•"/>
            </a:pPr>
            <a:r>
              <a:rPr sz="1200" b="0" i="0">
                <a:solidFill>
                  <a:srgbClr val="000000"/>
                </a:solidFill>
              </a:rPr>
              <a:t>PI Planning cadence (8–10 weeks) anchors medium-term commitments</a:t>
            </a:r>
          </a:p>
          <a:p>
            <a:pPr algn="l" marL="171450" indent="-171450">
              <a:spcAft>
                <a:spcPts val="500"/>
              </a:spcAft>
              <a:buFont typeface="Arial"/>
              <a:buChar char="•"/>
            </a:pPr>
            <a:r>
              <a:rPr sz="1200" b="0" i="0">
                <a:solidFill>
                  <a:srgbClr val="000000"/>
                </a:solidFill>
              </a:rPr>
              <a:t>Squad Lead = Scrum Master</a:t>
            </a:r>
          </a:p>
          <a:p>
            <a:pPr algn="l" marL="171450" indent="-171450">
              <a:spcAft>
                <a:spcPts val="500"/>
              </a:spcAft>
              <a:buFont typeface="Arial"/>
              <a:buChar char="•"/>
            </a:pPr>
            <a:r>
              <a:rPr sz="1200" b="0" i="0">
                <a:solidFill>
                  <a:srgbClr val="000000"/>
                </a:solidFill>
              </a:rPr>
              <a:t>Contract states team capacity/pace is what's being bought — NOT a feature list</a:t>
            </a:r>
          </a:p>
        </p:txBody>
      </p:sp>
      <p:sp>
        <p:nvSpPr>
          <p:cNvPr id="511" name="Rounded Rectangle 510"/>
          <p:cNvSpPr/>
          <p:nvPr/>
        </p:nvSpPr>
        <p:spPr>
          <a:xfrm>
            <a:off x="6171000" y="1170000"/>
            <a:ext cx="2706900" cy="52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MODEL 3</a:t>
            </a:r>
          </a:p>
          <a:p>
            <a:pPr algn="l">
              <a:spcBef>
                <a:spcPts val="400"/>
              </a:spcBef>
              <a:spcAft>
                <a:spcPts val="500"/>
              </a:spcAft>
            </a:pPr>
            <a:r>
              <a:rPr sz="1200" b="1" i="0">
                <a:solidFill>
                  <a:srgbClr val="000000"/>
                </a:solidFill>
              </a:rPr>
              <a:t>Outcomes Based Delivery</a:t>
            </a:r>
          </a:p>
          <a:p>
            <a:pPr algn="l">
              <a:spcAft>
                <a:spcPts val="500"/>
              </a:spcAft>
            </a:pPr>
            <a:r>
              <a:rPr sz="1200" b="0" i="0">
                <a:solidFill>
                  <a:srgbClr val="000000"/>
                </a:solidFill>
              </a:rPr>
              <a:t>A strategic product partnership; the backlog exists to move measurable business outcomes, not just to ship features.</a:t>
            </a:r>
          </a:p>
          <a:p>
            <a:pPr algn="l">
              <a:spcBef>
                <a:spcPts val="400"/>
              </a:spcBef>
              <a:spcAft>
                <a:spcPts val="500"/>
              </a:spcAft>
            </a:pPr>
            <a:r>
              <a:rPr sz="1200" b="1" i="0">
                <a:solidFill>
                  <a:srgbClr val="000000"/>
                </a:solidFill>
              </a:rPr>
              <a:t>Key characteristics</a:t>
            </a:r>
          </a:p>
          <a:p>
            <a:pPr algn="l" marL="171450" indent="-171450">
              <a:spcAft>
                <a:spcPts val="500"/>
              </a:spcAft>
              <a:buFont typeface="Arial"/>
              <a:buChar char="•"/>
            </a:pPr>
            <a:r>
              <a:rPr sz="1200" b="0" i="0">
                <a:solidFill>
                  <a:srgbClr val="000000"/>
                </a:solidFill>
              </a:rPr>
              <a:t>POD Led = Product Owner, with real authority — decision rights and roadmap access should be contractually explicit</a:t>
            </a:r>
          </a:p>
          <a:p>
            <a:pPr algn="l" marL="171450" indent="-171450">
              <a:spcAft>
                <a:spcPts val="500"/>
              </a:spcAft>
              <a:buFont typeface="Arial"/>
              <a:buChar char="•"/>
            </a:pPr>
            <a:r>
              <a:rPr sz="1200" b="0" i="0">
                <a:solidFill>
                  <a:srgbClr val="000000"/>
                </a:solidFill>
              </a:rPr>
              <a:t>Every backlog item is anchored to an OKR before it enters a sprint</a:t>
            </a:r>
          </a:p>
          <a:p>
            <a:pPr algn="l" marL="171450" indent="-171450">
              <a:spcAft>
                <a:spcPts val="500"/>
              </a:spcAft>
              <a:buFont typeface="Arial"/>
              <a:buChar char="•"/>
            </a:pPr>
            <a:r>
              <a:rPr sz="1200" b="0" i="0">
                <a:solidFill>
                  <a:srgbClr val="000000"/>
                </a:solidFill>
              </a:rPr>
              <a:t>Client Product Owner co-owns the roadmap (not just consulted)</a:t>
            </a:r>
          </a:p>
          <a:p>
            <a:pPr algn="l" marL="171450" indent="-171450">
              <a:spcAft>
                <a:spcPts val="500"/>
              </a:spcAft>
              <a:buFont typeface="Arial"/>
              <a:buChar char="•"/>
            </a:pPr>
            <a:r>
              <a:rPr sz="1200" b="0" i="0">
                <a:solidFill>
                  <a:srgbClr val="000000"/>
                </a:solidFill>
              </a:rPr>
              <a:t>Continuous discovery is a funded, scheduled activity</a:t>
            </a:r>
          </a:p>
          <a:p>
            <a:pPr algn="l" marL="171450" indent="-171450">
              <a:spcAft>
                <a:spcPts val="500"/>
              </a:spcAft>
              <a:buFont typeface="Arial"/>
              <a:buChar char="•"/>
            </a:pPr>
            <a:r>
              <a:rPr sz="1200" b="0" i="0">
                <a:solidFill>
                  <a:srgbClr val="000000"/>
                </a:solidFill>
              </a:rPr>
              <a:t>Quarterly roadmap/OKR review with Exec Sponsor</a:t>
            </a:r>
          </a:p>
        </p:txBody>
      </p:sp>
      <p:sp>
        <p:nvSpPr>
          <p:cNvPr id="512" name="Rounded Rectangle 511"/>
          <p:cNvSpPr/>
          <p:nvPr/>
        </p:nvSpPr>
        <p:spPr>
          <a:xfrm>
            <a:off x="9027900" y="1170000"/>
            <a:ext cx="2706900" cy="52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MODEL 4</a:t>
            </a:r>
          </a:p>
          <a:p>
            <a:pPr algn="l">
              <a:spcBef>
                <a:spcPts val="400"/>
              </a:spcBef>
              <a:spcAft>
                <a:spcPts val="500"/>
              </a:spcAft>
            </a:pPr>
            <a:r>
              <a:rPr sz="1050" b="1" i="0">
                <a:solidFill>
                  <a:srgbClr val="000000"/>
                </a:solidFill>
              </a:rPr>
              <a:t>Retainer</a:t>
            </a:r>
            <a:r>
              <a:rPr sz="1050" b="1" i="0">
                <a:solidFill>
                  <a:srgbClr val="000000"/>
                </a:solidFill>
              </a:rPr>
              <a:t>(Site Support Example)</a:t>
            </a:r>
          </a:p>
          <a:p>
            <a:pPr algn="l">
              <a:spcAft>
                <a:spcPts val="500"/>
              </a:spcAft>
            </a:pPr>
            <a:r>
              <a:rPr sz="1050" b="0" i="0">
                <a:solidFill>
                  <a:srgbClr val="000000"/>
                </a:solidFill>
              </a:rPr>
              <a:t>Live Ops/Support retainer running and sustaining what's already been built. This is not new development, this is protecting existing value and responding to it.</a:t>
            </a:r>
          </a:p>
          <a:p>
            <a:pPr algn="l">
              <a:spcBef>
                <a:spcPts val="400"/>
              </a:spcBef>
              <a:spcAft>
                <a:spcPts val="500"/>
              </a:spcAft>
            </a:pPr>
            <a:r>
              <a:rPr sz="1050" b="1" i="0">
                <a:solidFill>
                  <a:srgbClr val="000000"/>
                </a:solidFill>
              </a:rPr>
              <a:t>Key characteristics</a:t>
            </a:r>
          </a:p>
          <a:p>
            <a:pPr algn="l" marL="171450" indent="-171450">
              <a:spcAft>
                <a:spcPts val="500"/>
              </a:spcAft>
              <a:buFont typeface="Arial"/>
              <a:buChar char="•"/>
            </a:pPr>
            <a:r>
              <a:rPr sz="1050" b="0" i="0">
                <a:solidFill>
                  <a:srgbClr val="000000"/>
                </a:solidFill>
              </a:rPr>
              <a:t>Scope is reactive + scheduled maintenance</a:t>
            </a:r>
          </a:p>
          <a:p>
            <a:pPr algn="l" marL="171450" indent="-171450">
              <a:spcAft>
                <a:spcPts val="500"/>
              </a:spcAft>
              <a:buFont typeface="Arial"/>
              <a:buChar char="•"/>
            </a:pPr>
            <a:r>
              <a:rPr sz="1050" b="0" i="0">
                <a:solidFill>
                  <a:srgbClr val="000000"/>
                </a:solidFill>
              </a:rPr>
              <a:t>Governed by SLAs (response/resolution time by severity)</a:t>
            </a:r>
          </a:p>
          <a:p>
            <a:pPr algn="l" marL="171450" indent="-171450">
              <a:spcAft>
                <a:spcPts val="500"/>
              </a:spcAft>
              <a:buFont typeface="Arial"/>
              <a:buChar char="•"/>
            </a:pPr>
            <a:r>
              <a:rPr sz="1050" b="0" i="0">
                <a:solidFill>
                  <a:srgbClr val="000000"/>
                </a:solidFill>
              </a:rPr>
              <a:t>Staffing is typically lighter-weight and more specialized (support engineers, on-call rotation)</a:t>
            </a:r>
          </a:p>
          <a:p>
            <a:pPr algn="l" marL="171450" indent="-171450">
              <a:spcAft>
                <a:spcPts val="500"/>
              </a:spcAft>
              <a:buFont typeface="Arial"/>
              <a:buChar char="•"/>
            </a:pPr>
            <a:r>
              <a:rPr sz="1050" b="0" i="0">
                <a:solidFill>
                  <a:srgbClr val="000000"/>
                </a:solidFill>
              </a:rPr>
              <a:t>Escalation tiers are explicit (L1/L2/L3)</a:t>
            </a:r>
          </a:p>
          <a:p>
            <a:pPr algn="l" marL="171450" indent="-171450">
              <a:spcAft>
                <a:spcPts val="500"/>
              </a:spcAft>
              <a:buFont typeface="Arial"/>
              <a:buChar char="•"/>
            </a:pPr>
            <a:r>
              <a:rPr sz="1050" b="0" i="0">
                <a:solidFill>
                  <a:srgbClr val="000000"/>
                </a:solidFill>
              </a:rPr>
              <a:t>Requires a clear boundary between support and enhancement (CR)</a:t>
            </a:r>
          </a:p>
          <a:p>
            <a:pPr algn="l" marL="171450" indent="-171450">
              <a:spcAft>
                <a:spcPts val="500"/>
              </a:spcAft>
              <a:buFont typeface="Arial"/>
              <a:buChar char="•"/>
            </a:pPr>
            <a:r>
              <a:rPr sz="1050" b="0" i="0">
                <a:solidFill>
                  <a:srgbClr val="000000"/>
                </a:solidFill>
              </a:rPr>
              <a:t>Often runs alongside another model (e.g., Model 3 team drives new value while Model 4 team keeps the lights on)</a:t>
            </a:r>
          </a:p>
        </p:txBody>
      </p:sp>
      <p:sp>
        <p:nvSpPr>
          <p:cNvPr id="513" name="TextBox 512"/>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20 · Delivery Excellence slide 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Timeline, Dependencies &amp; Stakeholders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DEAL-TO-DELIVERY PLAYBOOK: CONTINUED</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Chris McComas, Deana Derocha</a:t>
            </a:r>
          </a:p>
        </p:txBody>
      </p:sp>
      <p:sp>
        <p:nvSpPr>
          <p:cNvPr id="509" name="TextBox 508"/>
          <p:cNvSpPr txBox="1"/>
          <p:nvPr/>
        </p:nvSpPr>
        <p:spPr>
          <a:xfrm>
            <a:off x="457200" y="1170000"/>
            <a:ext cx="11277600" cy="315595"/>
          </a:xfrm>
          <a:prstGeom prst="rect">
            <a:avLst/>
          </a:prstGeom>
          <a:noFill/>
        </p:spPr>
        <p:txBody>
          <a:bodyPr wrap="square" lIns="0" rIns="0" tIns="0" bIns="0">
            <a:spAutoFit/>
          </a:bodyPr>
          <a:lstStyle/>
          <a:p>
            <a:pPr algn="l">
              <a:spcAft>
                <a:spcPts val="500"/>
              </a:spcAft>
            </a:pPr>
            <a:r>
              <a:rPr sz="1250" b="0" i="0">
                <a:solidFill>
                  <a:srgbClr val="000000"/>
                </a:solidFill>
              </a:rPr>
              <a:t>Defining and refining the models that will ground and stabilize how we approach deals and delivery</a:t>
            </a:r>
          </a:p>
        </p:txBody>
      </p:sp>
      <p:sp>
        <p:nvSpPr>
          <p:cNvPr id="510" name="Rounded Rectangle 509"/>
          <p:cNvSpPr/>
          <p:nvPr/>
        </p:nvSpPr>
        <p:spPr>
          <a:xfrm>
            <a:off x="457200" y="1595595"/>
            <a:ext cx="3659200" cy="3303594"/>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Timeline &amp; Major Milestones</a:t>
            </a:r>
          </a:p>
          <a:p>
            <a:pPr algn="l" marL="171450" indent="-171450">
              <a:spcAft>
                <a:spcPts val="500"/>
              </a:spcAft>
              <a:buFont typeface="Arial"/>
              <a:buChar char="•"/>
            </a:pPr>
            <a:r>
              <a:rPr sz="1100" b="0" i="0">
                <a:solidFill>
                  <a:srgbClr val="000000"/>
                </a:solidFill>
              </a:rPr>
              <a:t>Draft Models </a:t>
            </a:r>
            <a:r>
              <a:rPr sz="1100" b="0" i="0">
                <a:solidFill>
                  <a:srgbClr val="000000"/>
                </a:solidFill>
              </a:rPr>
              <a:t>Gathered — Oct 16</a:t>
            </a:r>
            <a:r>
              <a:rPr sz="1100" b="0" i="0">
                <a:solidFill>
                  <a:srgbClr val="000000"/>
                </a:solidFill>
              </a:rPr>
              <a:t>th</a:t>
            </a:r>
          </a:p>
          <a:p>
            <a:pPr algn="l" marL="171450" indent="-171450">
              <a:spcAft>
                <a:spcPts val="500"/>
              </a:spcAft>
              <a:buFont typeface="Arial"/>
              <a:buChar char="•"/>
            </a:pPr>
            <a:r>
              <a:rPr sz="1100" b="0" i="0">
                <a:solidFill>
                  <a:srgbClr val="000000"/>
                </a:solidFill>
              </a:rPr>
              <a:t>Base Model rationalization across groups – Week of Oct. 26</a:t>
            </a:r>
            <a:r>
              <a:rPr sz="1100" b="0" i="0">
                <a:solidFill>
                  <a:srgbClr val="000000"/>
                </a:solidFill>
              </a:rPr>
              <a:t>th</a:t>
            </a:r>
            <a:r>
              <a:rPr sz="1100" b="0" i="0">
                <a:solidFill>
                  <a:srgbClr val="000000"/>
                </a:solidFill>
              </a:rPr>
              <a:t/>
            </a:r>
          </a:p>
          <a:p>
            <a:pPr algn="l" marL="171450" indent="-171450">
              <a:spcAft>
                <a:spcPts val="500"/>
              </a:spcAft>
              <a:buFont typeface="Arial"/>
              <a:buChar char="•"/>
            </a:pPr>
            <a:r>
              <a:rPr sz="1100" b="0" i="0">
                <a:solidFill>
                  <a:srgbClr val="000000"/>
                </a:solidFill>
              </a:rPr>
              <a:t>Initial Models Well Defined — Oct 23</a:t>
            </a:r>
            <a:r>
              <a:rPr sz="1100" b="0" i="0">
                <a:solidFill>
                  <a:srgbClr val="000000"/>
                </a:solidFill>
              </a:rPr>
              <a:t>rd</a:t>
            </a:r>
            <a:r>
              <a:rPr sz="1100" b="0" i="0">
                <a:solidFill>
                  <a:srgbClr val="000000"/>
                </a:solidFill>
              </a:rPr>
              <a:t> Shifting to Nov 6th</a:t>
            </a:r>
          </a:p>
          <a:p>
            <a:pPr algn="l" marL="171450" indent="-171450">
              <a:spcAft>
                <a:spcPts val="500"/>
              </a:spcAft>
              <a:buFont typeface="Arial"/>
              <a:buChar char="•"/>
            </a:pPr>
            <a:r>
              <a:rPr sz="1100" b="0" i="0">
                <a:solidFill>
                  <a:srgbClr val="000000"/>
                </a:solidFill>
              </a:rPr>
              <a:t>Will include iterative reviews with department leads and defined SMEs</a:t>
            </a:r>
          </a:p>
          <a:p>
            <a:pPr algn="l" marL="171450" indent="-171450">
              <a:spcAft>
                <a:spcPts val="500"/>
              </a:spcAft>
              <a:buFont typeface="Arial"/>
              <a:buChar char="•"/>
            </a:pPr>
            <a:r>
              <a:rPr sz="1100" b="0" i="0">
                <a:solidFill>
                  <a:srgbClr val="000000"/>
                </a:solidFill>
              </a:rPr>
              <a:t>1st Batch of Models &amp; Program "Stack" Guidance — Nov </a:t>
            </a:r>
            <a:r>
              <a:rPr sz="1100" b="0" i="0">
                <a:solidFill>
                  <a:srgbClr val="000000"/>
                </a:solidFill>
              </a:rPr>
              <a:t>13</a:t>
            </a:r>
            <a:r>
              <a:rPr sz="1100" b="0" i="0">
                <a:solidFill>
                  <a:srgbClr val="000000"/>
                </a:solidFill>
              </a:rPr>
              <a:t>th</a:t>
            </a:r>
            <a:r>
              <a:rPr sz="1100" b="0" i="0">
                <a:solidFill>
                  <a:srgbClr val="000000"/>
                </a:solidFill>
              </a:rPr>
              <a:t/>
            </a:r>
          </a:p>
          <a:p>
            <a:pPr algn="l" marL="171450" indent="-171450">
              <a:spcAft>
                <a:spcPts val="500"/>
              </a:spcAft>
              <a:buFont typeface="Arial"/>
              <a:buChar char="•"/>
            </a:pPr>
            <a:r>
              <a:rPr sz="1100" b="0" i="0">
                <a:solidFill>
                  <a:srgbClr val="000000"/>
                </a:solidFill>
              </a:rPr>
              <a:t>This will be delivered in an agile manner getting quick guidance out in Q4 and iteratively fleshed out and evolved with feedback loops to drive improvements</a:t>
            </a:r>
          </a:p>
        </p:txBody>
      </p:sp>
      <p:sp>
        <p:nvSpPr>
          <p:cNvPr id="511" name="Rounded Rectangle 510"/>
          <p:cNvSpPr/>
          <p:nvPr/>
        </p:nvSpPr>
        <p:spPr>
          <a:xfrm>
            <a:off x="4266400" y="1595595"/>
            <a:ext cx="3659200" cy="3303594"/>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Dependencies</a:t>
            </a:r>
          </a:p>
          <a:p>
            <a:pPr algn="l" marL="171450" indent="-171450">
              <a:spcAft>
                <a:spcPts val="500"/>
              </a:spcAft>
              <a:buFont typeface="Arial"/>
              <a:buChar char="•"/>
            </a:pPr>
            <a:r>
              <a:rPr sz="1300" b="0" i="0">
                <a:solidFill>
                  <a:srgbClr val="000000"/>
                </a:solidFill>
              </a:rPr>
              <a:t>Intake routing</a:t>
            </a:r>
          </a:p>
          <a:p>
            <a:pPr algn="l" marL="171450" indent="-171450">
              <a:spcAft>
                <a:spcPts val="500"/>
              </a:spcAft>
              <a:buFont typeface="Arial"/>
              <a:buChar char="•"/>
            </a:pPr>
            <a:r>
              <a:rPr sz="1300" b="0" i="0">
                <a:solidFill>
                  <a:srgbClr val="000000"/>
                </a:solidFill>
              </a:rPr>
              <a:t>SME feedback</a:t>
            </a:r>
          </a:p>
          <a:p>
            <a:pPr algn="l" marL="171450" indent="-171450">
              <a:spcAft>
                <a:spcPts val="500"/>
              </a:spcAft>
              <a:buFont typeface="Arial"/>
              <a:buChar char="•"/>
            </a:pPr>
            <a:r>
              <a:rPr sz="1300" b="0" i="0">
                <a:solidFill>
                  <a:srgbClr val="000000"/>
                </a:solidFill>
              </a:rPr>
              <a:t>Alignment on base model set (Delivery/Ops, Legal and Finance)</a:t>
            </a:r>
          </a:p>
        </p:txBody>
      </p:sp>
      <p:sp>
        <p:nvSpPr>
          <p:cNvPr id="512" name="Rounded Rectangle 511"/>
          <p:cNvSpPr/>
          <p:nvPr/>
        </p:nvSpPr>
        <p:spPr>
          <a:xfrm>
            <a:off x="8075600" y="1595595"/>
            <a:ext cx="3659200" cy="3303594"/>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Top Risks &amp; Failure Points</a:t>
            </a:r>
          </a:p>
          <a:p>
            <a:pPr algn="l" marL="171450" indent="-171450">
              <a:spcAft>
                <a:spcPts val="500"/>
              </a:spcAft>
              <a:buFont typeface="Arial"/>
              <a:buChar char="•"/>
            </a:pPr>
            <a:r>
              <a:rPr sz="1300" b="0" i="0">
                <a:solidFill>
                  <a:srgbClr val="000000"/>
                </a:solidFill>
              </a:rPr>
              <a:t>Missed model(s) from assessment</a:t>
            </a:r>
          </a:p>
          <a:p>
            <a:pPr algn="l" marL="171450" indent="-171450">
              <a:spcAft>
                <a:spcPts val="500"/>
              </a:spcAft>
              <a:buFont typeface="Arial"/>
              <a:buChar char="•"/>
            </a:pPr>
            <a:r>
              <a:rPr sz="1300" b="0" i="0">
                <a:solidFill>
                  <a:srgbClr val="000000"/>
                </a:solidFill>
              </a:rPr>
              <a:t>Alignment on Model definition</a:t>
            </a:r>
          </a:p>
          <a:p>
            <a:pPr algn="l" marL="171450" indent="-171450">
              <a:spcAft>
                <a:spcPts val="500"/>
              </a:spcAft>
              <a:buFont typeface="Arial"/>
              <a:buChar char="•"/>
            </a:pPr>
            <a:r>
              <a:rPr sz="1300" b="0" i="0">
                <a:solidFill>
                  <a:srgbClr val="000000"/>
                </a:solidFill>
              </a:rPr>
              <a:t>Poor rollout &amp; communication</a:t>
            </a:r>
          </a:p>
          <a:p>
            <a:pPr algn="l" marL="171450" indent="-171450">
              <a:spcAft>
                <a:spcPts val="500"/>
              </a:spcAft>
              <a:buFont typeface="Arial"/>
              <a:buChar char="•"/>
            </a:pPr>
            <a:r>
              <a:rPr sz="1300" b="0" i="0">
                <a:solidFill>
                  <a:srgbClr val="000000"/>
                </a:solidFill>
              </a:rPr>
              <a:t>Failure to use models for grounding approaches, contracts, teams.</a:t>
            </a:r>
          </a:p>
        </p:txBody>
      </p:sp>
      <p:sp>
        <p:nvSpPr>
          <p:cNvPr id="513" name="Rounded Rectangle 512"/>
          <p:cNvSpPr/>
          <p:nvPr/>
        </p:nvSpPr>
        <p:spPr>
          <a:xfrm>
            <a:off x="457200" y="5049189"/>
            <a:ext cx="5563800" cy="135081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THE ASK</a:t>
            </a:r>
          </a:p>
          <a:p>
            <a:pPr algn="l">
              <a:spcAft>
                <a:spcPts val="500"/>
              </a:spcAft>
            </a:pPr>
            <a:r>
              <a:rPr sz="1250" b="0" i="0">
                <a:solidFill>
                  <a:srgbClr val="FFFFFF"/>
                </a:solidFill>
              </a:rPr>
              <a:t>This will drive the foundation of how we develop programs and agreements for our clients. </a:t>
            </a:r>
            <a:r>
              <a:rPr sz="1250" b="1" i="0">
                <a:solidFill>
                  <a:srgbClr val="FFFFFF"/>
                </a:solidFill>
              </a:rPr>
              <a:t>Everyone</a:t>
            </a:r>
            <a:r>
              <a:rPr sz="1250" b="0" i="0">
                <a:solidFill>
                  <a:srgbClr val="FFFFFF"/>
                </a:solidFill>
              </a:rPr>
              <a:t> needs to lean in, support development of, and use these models. Participate, provide insights, give feedback and embrace this initiative.</a:t>
            </a:r>
          </a:p>
        </p:txBody>
      </p:sp>
      <p:sp>
        <p:nvSpPr>
          <p:cNvPr id="514" name="Rounded Rectangle 513"/>
          <p:cNvSpPr/>
          <p:nvPr/>
        </p:nvSpPr>
        <p:spPr>
          <a:xfrm>
            <a:off x="6171000" y="5049189"/>
            <a:ext cx="5563800" cy="135081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Stakeholders Involved</a:t>
            </a:r>
          </a:p>
          <a:p>
            <a:pPr algn="l">
              <a:spcAft>
                <a:spcPts val="500"/>
              </a:spcAft>
            </a:pPr>
            <a:r>
              <a:rPr sz="1300" b="0" i="0">
                <a:solidFill>
                  <a:srgbClr val="000000"/>
                </a:solidFill>
              </a:rPr>
              <a:t>BU COOs and Delivery Leads partner directly with Enterprise Project Management, Client &amp; Commercial teams, and Finance to build this playbook together.</a:t>
            </a:r>
          </a:p>
        </p:txBody>
      </p:sp>
      <p:sp>
        <p:nvSpPr>
          <p:cNvPr id="515" name="TextBox 514"/>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21 · Delivery Excellence slide 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17" name="Picture 516" descr="hero_p2.jpg"/>
          <p:cNvPicPr>
            <a:picLocks noChangeAspect="1"/>
          </p:cNvPicPr>
          <p:nvPr/>
        </p:nvPicPr>
        <p:blipFill>
          <a:blip r:embed="rId2"/>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Accountability Framework</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ACCOUNTABILITY FRAMEWORK · WIP</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John Ewen</a:t>
            </a:r>
          </a:p>
        </p:txBody>
      </p:sp>
      <p:sp>
        <p:nvSpPr>
          <p:cNvPr id="519" name="TextBox 518"/>
          <p:cNvSpPr txBox="1"/>
          <p:nvPr/>
        </p:nvSpPr>
        <p:spPr>
          <a:xfrm>
            <a:off x="457200" y="1170000"/>
            <a:ext cx="11277600" cy="972820"/>
          </a:xfrm>
          <a:prstGeom prst="rect">
            <a:avLst/>
          </a:prstGeom>
          <a:noFill/>
        </p:spPr>
        <p:txBody>
          <a:bodyPr wrap="square" lIns="0" rIns="0" tIns="0" bIns="0">
            <a:spAutoFit/>
          </a:bodyPr>
          <a:lstStyle/>
          <a:p>
            <a:pPr algn="l">
              <a:spcAft>
                <a:spcPts val="500"/>
              </a:spcAft>
            </a:pPr>
            <a:r>
              <a:rPr sz="1250" b="0" i="0">
                <a:solidFill>
                  <a:srgbClr val="000000"/>
                </a:solidFill>
              </a:rPr>
              <a:t>To best support our integrated business units, we are refining </a:t>
            </a:r>
            <a:r>
              <a:rPr sz="1250" b="0" i="0">
                <a:solidFill>
                  <a:srgbClr val="000000"/>
                </a:solidFill>
              </a:rPr>
              <a:t>how we manage accounts with multiple projects or multitrack projects to ensure project teams have precise leadership support, rather than running as one </a:t>
            </a:r>
            <a:r>
              <a:rPr sz="1250" b="0" i="0">
                <a:solidFill>
                  <a:srgbClr val="000000"/>
                </a:solidFill>
              </a:rPr>
              <a:t>giant portfolio.</a:t>
            </a:r>
          </a:p>
          <a:p>
            <a:pPr algn="l">
              <a:spcAft>
                <a:spcPts val="500"/>
              </a:spcAft>
            </a:pPr>
            <a:r>
              <a:rPr sz="1250" b="0" i="0">
                <a:solidFill>
                  <a:srgbClr val="000000"/>
                </a:solidFill>
              </a:rPr>
              <a:t>We are launching a workstream to define standard delivery roles and establish clear, supportive project-level structures across all major accounts.</a:t>
            </a:r>
          </a:p>
        </p:txBody>
      </p:sp>
      <p:sp>
        <p:nvSpPr>
          <p:cNvPr id="520" name="Rounded Rectangle 519"/>
          <p:cNvSpPr/>
          <p:nvPr/>
        </p:nvSpPr>
        <p:spPr>
          <a:xfrm>
            <a:off x="457200" y="5340000"/>
            <a:ext cx="11277600" cy="106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1400" b="1" i="0">
                <a:solidFill>
                  <a:srgbClr val="FFFFFF"/>
                </a:solidFill>
              </a:rPr>
              <a:t>The Key Takeaway: Far too many key projects lack a shared understanding of who is accountable for the work that we do. This initiative is designed to codify and transform delivery leadership and accountability for every project at Merkle.</a:t>
            </a:r>
          </a:p>
        </p:txBody>
      </p:sp>
      <p:sp>
        <p:nvSpPr>
          <p:cNvPr id="521" name="Rounded Rectangle 520"/>
          <p:cNvSpPr/>
          <p:nvPr/>
        </p:nvSpPr>
        <p:spPr>
          <a:xfrm>
            <a:off x="457200" y="2252820"/>
            <a:ext cx="3659200" cy="1486737"/>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Accountability Clarified</a:t>
            </a:r>
          </a:p>
          <a:p>
            <a:pPr algn="l">
              <a:spcAft>
                <a:spcPts val="500"/>
              </a:spcAft>
            </a:pPr>
            <a:r>
              <a:rPr sz="900" b="0" i="0">
                <a:solidFill>
                  <a:srgbClr val="000000"/>
                </a:solidFill>
              </a:rPr>
              <a:t>We will define accountability for every project. For projects serviced by a single Delivery Center, this will be linear and familiar. For multitrack/multi-Delivery Center projects, alignment needs to be agreed to and enforced. This will inform everything from staffing to methodology to the role of escalation management and resolution.</a:t>
            </a:r>
          </a:p>
        </p:txBody>
      </p:sp>
      <p:sp>
        <p:nvSpPr>
          <p:cNvPr id="522" name="Rounded Rectangle 521"/>
          <p:cNvSpPr/>
          <p:nvPr/>
        </p:nvSpPr>
        <p:spPr>
          <a:xfrm>
            <a:off x="4266400" y="2252820"/>
            <a:ext cx="3659200" cy="1486737"/>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Defining Essential Roles</a:t>
            </a:r>
          </a:p>
          <a:p>
            <a:pPr algn="l">
              <a:spcAft>
                <a:spcPts val="500"/>
              </a:spcAft>
            </a:pPr>
            <a:r>
              <a:rPr sz="1150" b="0" i="0">
                <a:solidFill>
                  <a:srgbClr val="000000"/>
                </a:solidFill>
              </a:rPr>
              <a:t>As new accountability models are defined, new roles may be necessary. We will establish the </a:t>
            </a:r>
            <a:r>
              <a:rPr sz="1150" b="1" i="0">
                <a:solidFill>
                  <a:srgbClr val="000000"/>
                </a:solidFill>
              </a:rPr>
              <a:t>essential delivery roles needed to support this model</a:t>
            </a:r>
            <a:r>
              <a:rPr sz="1150" b="0" i="0">
                <a:solidFill>
                  <a:srgbClr val="000000"/>
                </a:solidFill>
              </a:rPr>
              <a:t> and clarify existing roles to avoid overlap and gaps.</a:t>
            </a:r>
          </a:p>
        </p:txBody>
      </p:sp>
      <p:sp>
        <p:nvSpPr>
          <p:cNvPr id="523" name="Rounded Rectangle 522"/>
          <p:cNvSpPr/>
          <p:nvPr/>
        </p:nvSpPr>
        <p:spPr>
          <a:xfrm>
            <a:off x="8075600" y="2252820"/>
            <a:ext cx="3659200" cy="1486737"/>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Growth, Client Service and Executive Sponsorship</a:t>
            </a:r>
          </a:p>
          <a:p>
            <a:pPr algn="l">
              <a:spcAft>
                <a:spcPts val="500"/>
              </a:spcAft>
            </a:pPr>
            <a:r>
              <a:rPr sz="900" b="0" i="0">
                <a:solidFill>
                  <a:srgbClr val="000000"/>
                </a:solidFill>
              </a:rPr>
              <a:t>Delivery doesn’t happen in a vacuum. Successes and escalations will need to be tightly coupled with our Client Engagement model (Client Partners, Account Management) and Executive Sponsors. These partnerships will be evaluated for clarity, completeness and effectiveness with our modified delivery engine.</a:t>
            </a:r>
          </a:p>
        </p:txBody>
      </p:sp>
      <p:sp>
        <p:nvSpPr>
          <p:cNvPr id="524" name="Rounded Rectangle 523"/>
          <p:cNvSpPr/>
          <p:nvPr/>
        </p:nvSpPr>
        <p:spPr>
          <a:xfrm>
            <a:off x="457200" y="3889557"/>
            <a:ext cx="3659200" cy="1360442"/>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Change Management will be Key</a:t>
            </a:r>
          </a:p>
          <a:p>
            <a:pPr algn="l">
              <a:spcAft>
                <a:spcPts val="500"/>
              </a:spcAft>
            </a:pPr>
            <a:r>
              <a:rPr sz="900" b="0" i="0">
                <a:solidFill>
                  <a:srgbClr val="000000"/>
                </a:solidFill>
              </a:rPr>
              <a:t>These changes will represent modifications to our ways of working and new standards which we will need to taught, supported and enforced. Training and continuous improvement will be key to helping the organization embrace new structures and ensure we lear</a:t>
            </a:r>
            <a:r>
              <a:rPr sz="900" b="0" i="0">
                <a:solidFill>
                  <a:srgbClr val="000000"/>
                </a:solidFill>
              </a:rPr>
              <a:t>n from what works</a:t>
            </a:r>
            <a:r>
              <a:rPr sz="900" b="0" i="0">
                <a:solidFill>
                  <a:srgbClr val="000000"/>
                </a:solidFill>
              </a:rPr>
              <a:t>.</a:t>
            </a:r>
          </a:p>
        </p:txBody>
      </p:sp>
      <p:sp>
        <p:nvSpPr>
          <p:cNvPr id="525" name="Rounded Rectangle 524"/>
          <p:cNvSpPr/>
          <p:nvPr/>
        </p:nvSpPr>
        <p:spPr>
          <a:xfrm>
            <a:off x="4266400" y="3889557"/>
            <a:ext cx="3659200" cy="1360442"/>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Phased Rollout of Regular Reviews</a:t>
            </a:r>
          </a:p>
          <a:p>
            <a:pPr algn="l">
              <a:spcAft>
                <a:spcPts val="500"/>
              </a:spcAft>
            </a:pPr>
            <a:r>
              <a:rPr sz="900" b="0" i="0">
                <a:solidFill>
                  <a:srgbClr val="000000"/>
                </a:solidFill>
              </a:rPr>
              <a:t>Starting in Q4, we will establish a cadence of quarterly reviews to report on the accountability structure for multitrack programs. Each model will be assessed in terms of risk and opportunities for improvement. Additionally, high risk projects will be highlighted in ongoing Delivery Excellence meetings.</a:t>
            </a:r>
          </a:p>
        </p:txBody>
      </p:sp>
      <p:sp>
        <p:nvSpPr>
          <p:cNvPr id="526" name="Rounded Rectangle 525"/>
          <p:cNvSpPr/>
          <p:nvPr/>
        </p:nvSpPr>
        <p:spPr>
          <a:xfrm>
            <a:off x="8075600" y="3889557"/>
            <a:ext cx="3659200" cy="1360442"/>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Next Steps</a:t>
            </a:r>
          </a:p>
          <a:p>
            <a:pPr algn="l">
              <a:spcAft>
                <a:spcPts val="500"/>
              </a:spcAft>
            </a:pPr>
            <a:r>
              <a:rPr sz="1100" b="0" i="0">
                <a:solidFill>
                  <a:srgbClr val="000000"/>
                </a:solidFill>
              </a:rPr>
              <a:t>BU COOs and Enterprise Project Management will co-lead this initiative, partnering to lock in the </a:t>
            </a:r>
            <a:r>
              <a:rPr sz="1100" b="0" i="0">
                <a:solidFill>
                  <a:srgbClr val="000000"/>
                </a:solidFill>
              </a:rPr>
              <a:t>key</a:t>
            </a:r>
            <a:r>
              <a:rPr sz="1100" b="0" i="0">
                <a:solidFill>
                  <a:srgbClr val="000000"/>
                </a:solidFill>
              </a:rPr>
              <a:t> accounts in each BU and define the required core roles for the Q4 launch.</a:t>
            </a:r>
          </a:p>
        </p:txBody>
      </p:sp>
      <p:sp>
        <p:nvSpPr>
          <p:cNvPr id="527" name="TextBox 526"/>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25 · Delivery Excellence slide 13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b_div_dash.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731520"/>
            <a:ext cx="6583680" cy="3612705"/>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316736"/>
            <a:ext cx="6400800" cy="2194560"/>
          </a:xfrm>
        </p:spPr>
        <p:txBody>
          <a:bodyPr anchor="t"/>
          <a:lstStyle/>
          <a:p>
            <a:r>
              <a:rPr sz="5400"/>
              <a:t>Leadership Dashboards</a:t>
            </a:r>
          </a:p>
        </p:txBody>
      </p:sp>
      <p:sp>
        <p:nvSpPr>
          <p:cNvPr id="3" name="Text Placeholder 2"/>
          <p:cNvSpPr>
            <a:spLocks noGrp="1"/>
          </p:cNvSpPr>
          <p:nvPr>
            <p:ph type="body" idx="15" sz="quarter"/>
          </p:nvPr>
        </p:nvSpPr>
        <p:spPr>
          <a:xfrm>
            <a:off x="914400" y="932688"/>
            <a:ext cx="6400800" cy="292608"/>
          </a:xfrm>
        </p:spPr>
        <p:txBody>
          <a:bodyPr/>
          <a:lstStyle/>
          <a:p>
            <a:r>
              <a:t>PRIORITY</a:t>
            </a:r>
          </a:p>
        </p:txBody>
      </p:sp>
      <p:sp>
        <p:nvSpPr>
          <p:cNvPr id="7" name="TextBox 6"/>
          <p:cNvSpPr txBox="1"/>
          <p:nvPr/>
        </p:nvSpPr>
        <p:spPr>
          <a:xfrm>
            <a:off x="914400" y="3212655"/>
            <a:ext cx="5852160" cy="1097280"/>
          </a:xfrm>
          <a:prstGeom prst="rect">
            <a:avLst/>
          </a:prstGeom>
          <a:noFill/>
        </p:spPr>
        <p:txBody>
          <a:bodyPr wrap="square" lIns="0" rIns="0" tIns="0" bIns="0">
            <a:spAutoFit/>
          </a:bodyPr>
          <a:lstStyle/>
          <a:p>
            <a:pPr algn="l">
              <a:spcAft>
                <a:spcPts val="500"/>
              </a:spcAft>
            </a:pPr>
            <a:r>
              <a:rPr sz="1800" b="0" i="0">
                <a:solidFill>
                  <a:srgbClr val="FFFFFF"/>
                </a:solidFill>
              </a:rPr>
              <a:t>One leadership dashboard — shoring, chargeability, margin, capacity, forecast, rate cards, burn, and revenue recognition.</a:t>
            </a:r>
          </a:p>
        </p:txBody>
      </p:sp>
      <p:sp>
        <p:nvSpPr>
          <p:cNvPr id="9" name="TextBox 8"/>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26 (Delivery Excellence slide 14 words it differently)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b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Leadership Dashboard</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LEADERSHIP DASHBOARDS</a:t>
            </a:r>
          </a:p>
        </p:txBody>
      </p:sp>
      <p:sp>
        <p:nvSpPr>
          <p:cNvPr id="7" name="TextBox 6"/>
          <p:cNvSpPr txBox="1"/>
          <p:nvPr/>
        </p:nvSpPr>
        <p:spPr>
          <a:xfrm>
            <a:off x="457200" y="1170000"/>
            <a:ext cx="11277600" cy="315595"/>
          </a:xfrm>
          <a:prstGeom prst="rect">
            <a:avLst/>
          </a:prstGeom>
          <a:noFill/>
        </p:spPr>
        <p:txBody>
          <a:bodyPr wrap="square" lIns="0" rIns="0" tIns="0" bIns="0">
            <a:spAutoFit/>
          </a:bodyPr>
          <a:lstStyle/>
          <a:p>
            <a:pPr algn="l">
              <a:spcAft>
                <a:spcPts val="500"/>
              </a:spcAft>
            </a:pPr>
            <a:r>
              <a:rPr sz="1250" b="1" i="0">
                <a:solidFill>
                  <a:srgbClr val="000000"/>
                </a:solidFill>
              </a:rPr>
              <a:t>One Set of Numbers: </a:t>
            </a:r>
            <a:r>
              <a:rPr sz="1250" b="0" i="0">
                <a:solidFill>
                  <a:srgbClr val="000000"/>
                </a:solidFill>
              </a:rPr>
              <a:t>One place to see the metrics that today live in too many reports — with AI doing the reconciliation, not a person.</a:t>
            </a:r>
          </a:p>
        </p:txBody>
      </p:sp>
      <p:sp>
        <p:nvSpPr>
          <p:cNvPr id="8" name="Rounded Rectangle 7"/>
          <p:cNvSpPr/>
          <p:nvPr/>
        </p:nvSpPr>
        <p:spPr>
          <a:xfrm>
            <a:off x="457200" y="1595595"/>
            <a:ext cx="3659200" cy="217332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THE PROBLEM</a:t>
            </a:r>
          </a:p>
          <a:p>
            <a:pPr algn="l">
              <a:spcAft>
                <a:spcPts val="500"/>
              </a:spcAft>
            </a:pPr>
            <a:r>
              <a:rPr sz="1250" b="0" i="0">
                <a:solidFill>
                  <a:srgbClr val="000000"/>
                </a:solidFill>
              </a:rPr>
              <a:t>We lack a singular place for leaders to go to see the health of their business.</a:t>
            </a:r>
          </a:p>
          <a:p>
            <a:pPr algn="l">
              <a:spcAft>
                <a:spcPts val="500"/>
              </a:spcAft>
            </a:pPr>
            <a:r>
              <a:rPr sz="1250" b="0" i="0">
                <a:solidFill>
                  <a:srgbClr val="000000"/>
                </a:solidFill>
              </a:rPr>
              <a:t>Resource and financial data sit in separate systems, with no rate cards applied, no burn tracking, and no cross-BU revenue visibility (see Ugam/HelloWorld).</a:t>
            </a:r>
          </a:p>
        </p:txBody>
      </p:sp>
      <p:sp>
        <p:nvSpPr>
          <p:cNvPr id="9" name="Rounded Rectangle 8"/>
          <p:cNvSpPr/>
          <p:nvPr/>
        </p:nvSpPr>
        <p:spPr>
          <a:xfrm>
            <a:off x="4266400" y="1595595"/>
            <a:ext cx="3659200" cy="217332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 WE NEED TO SOLVE</a:t>
            </a:r>
          </a:p>
          <a:p>
            <a:pPr algn="l">
              <a:spcAft>
                <a:spcPts val="500"/>
              </a:spcAft>
            </a:pPr>
            <a:r>
              <a:rPr sz="1300" b="0" i="0">
                <a:solidFill>
                  <a:srgbClr val="000000"/>
                </a:solidFill>
              </a:rPr>
              <a:t>One leadership dashboard, not just a data-reconciliation project.</a:t>
            </a:r>
          </a:p>
          <a:p>
            <a:pPr algn="l">
              <a:spcAft>
                <a:spcPts val="500"/>
              </a:spcAft>
            </a:pPr>
            <a:r>
              <a:rPr sz="1300" b="0" i="0">
                <a:solidFill>
                  <a:srgbClr val="000000"/>
                </a:solidFill>
              </a:rPr>
              <a:t>It needs to show revenue, margin, and capacity forecasts, manage rate cards and actuals-for-burn, and tie revenue recognition to operational reporting, all in a single page view.</a:t>
            </a:r>
          </a:p>
        </p:txBody>
      </p:sp>
      <p:sp>
        <p:nvSpPr>
          <p:cNvPr id="10" name="Rounded Rectangle 9"/>
          <p:cNvSpPr/>
          <p:nvPr/>
        </p:nvSpPr>
        <p:spPr>
          <a:xfrm>
            <a:off x="8075600" y="1595595"/>
            <a:ext cx="3659200" cy="217332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WHY?</a:t>
            </a:r>
          </a:p>
          <a:p>
            <a:pPr algn="l">
              <a:spcAft>
                <a:spcPts val="500"/>
              </a:spcAft>
            </a:pPr>
            <a:r>
              <a:rPr sz="1300" b="0" i="0">
                <a:solidFill>
                  <a:srgbClr val="000000"/>
                </a:solidFill>
              </a:rPr>
              <a:t>We’re running the business off lagging metrics or incomplete ones.  </a:t>
            </a:r>
            <a:r>
              <a:rPr sz="1300" b="0" i="0">
                <a:solidFill>
                  <a:srgbClr val="000000"/>
                </a:solidFill>
              </a:rPr>
              <a:t>Example: </a:t>
            </a:r>
            <a:r>
              <a:rPr sz="1300" b="0" i="0">
                <a:solidFill>
                  <a:srgbClr val="000000"/>
                </a:solidFill>
              </a:rPr>
              <a:t>We can see client or project margin but not practice margin. And costs live in a Finance spreadsheet that we see once a month.</a:t>
            </a:r>
          </a:p>
        </p:txBody>
      </p:sp>
      <p:sp>
        <p:nvSpPr>
          <p:cNvPr id="11" name="Rounded Rectangle 10"/>
          <p:cNvSpPr/>
          <p:nvPr/>
        </p:nvSpPr>
        <p:spPr>
          <a:xfrm>
            <a:off x="457200" y="3918918"/>
            <a:ext cx="5563800" cy="2481081"/>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PRELIMINARY THOUGHTS</a:t>
            </a:r>
          </a:p>
          <a:p>
            <a:pPr algn="l" marL="171450" indent="-171450">
              <a:spcAft>
                <a:spcPts val="500"/>
              </a:spcAft>
              <a:buFont typeface="Arial"/>
              <a:buChar char="•"/>
            </a:pPr>
            <a:r>
              <a:rPr sz="1300" b="0" i="0">
                <a:solidFill>
                  <a:srgbClr val="000000"/>
                </a:solidFill>
              </a:rPr>
              <a:t>Dashboard of key metrics by BU (margin, revenue actuals compared to budget), top clients, average client margin, </a:t>
            </a:r>
            <a:r>
              <a:rPr sz="1300" b="0" i="0">
                <a:solidFill>
                  <a:srgbClr val="000000"/>
                </a:solidFill>
              </a:rPr>
              <a:t>etc</a:t>
            </a:r>
            <a:r>
              <a:rPr sz="1300" b="0" i="0">
                <a:solidFill>
                  <a:srgbClr val="000000"/>
                </a:solidFill>
              </a:rPr>
              <a:t>, that can be broken down by practice, L3, etc.</a:t>
            </a:r>
          </a:p>
          <a:p>
            <a:pPr algn="l" marL="171450" indent="-171450">
              <a:spcAft>
                <a:spcPts val="500"/>
              </a:spcAft>
              <a:buFont typeface="Arial"/>
              <a:buChar char="•"/>
            </a:pPr>
            <a:r>
              <a:rPr sz="1300" b="0" i="0">
                <a:solidFill>
                  <a:srgbClr val="000000"/>
                </a:solidFill>
              </a:rPr>
              <a:t>Will link out to existing reports for more details – no need to recreate the wheel for all metrics.</a:t>
            </a:r>
          </a:p>
          <a:p>
            <a:pPr algn="l" marL="171450" indent="-171450">
              <a:spcAft>
                <a:spcPts val="500"/>
              </a:spcAft>
              <a:buFont typeface="Arial"/>
              <a:buChar char="•"/>
            </a:pPr>
            <a:r>
              <a:rPr sz="1300" b="0" i="0">
                <a:solidFill>
                  <a:srgbClr val="000000"/>
                </a:solidFill>
              </a:rPr>
              <a:t>May need to be locked down to only key leaders based on what is included.</a:t>
            </a:r>
          </a:p>
        </p:txBody>
      </p:sp>
      <p:sp>
        <p:nvSpPr>
          <p:cNvPr id="12" name="Rounded Rectangle 11"/>
          <p:cNvSpPr/>
          <p:nvPr/>
        </p:nvSpPr>
        <p:spPr>
          <a:xfrm>
            <a:off x="6171000" y="3918918"/>
            <a:ext cx="5563800" cy="2481081"/>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NEXT STEPS</a:t>
            </a:r>
          </a:p>
          <a:p>
            <a:pPr algn="l" marL="171450" indent="-171450">
              <a:spcAft>
                <a:spcPts val="500"/>
              </a:spcAft>
              <a:buFont typeface="Arial"/>
              <a:buChar char="•"/>
            </a:pPr>
            <a:r>
              <a:rPr sz="1300" b="0" i="0">
                <a:solidFill>
                  <a:srgbClr val="000000"/>
                </a:solidFill>
              </a:rPr>
              <a:t>Determine critical metrics for main dashboard</a:t>
            </a:r>
          </a:p>
          <a:p>
            <a:pPr algn="l" marL="171450" indent="-171450">
              <a:spcAft>
                <a:spcPts val="500"/>
              </a:spcAft>
              <a:buFont typeface="Arial"/>
              <a:buChar char="•"/>
            </a:pPr>
            <a:r>
              <a:rPr sz="1300" b="0" i="0">
                <a:solidFill>
                  <a:srgbClr val="000000"/>
                </a:solidFill>
              </a:rPr>
              <a:t>Determine what’s available now </a:t>
            </a:r>
            <a:r>
              <a:rPr sz="1300" b="0" i="0">
                <a:solidFill>
                  <a:srgbClr val="000000"/>
                </a:solidFill>
              </a:rPr>
              <a:t>and how to access</a:t>
            </a:r>
            <a:r>
              <a:rPr sz="1300" b="0" i="0">
                <a:solidFill>
                  <a:srgbClr val="000000"/>
                </a:solidFill>
              </a:rPr>
              <a:t> the rest</a:t>
            </a:r>
          </a:p>
          <a:p>
            <a:pPr algn="l" marL="171450" indent="-171450">
              <a:spcAft>
                <a:spcPts val="500"/>
              </a:spcAft>
              <a:buFont typeface="Arial"/>
              <a:buChar char="•"/>
            </a:pPr>
            <a:r>
              <a:rPr sz="1300" b="0" i="0">
                <a:solidFill>
                  <a:srgbClr val="000000"/>
                </a:solidFill>
              </a:rPr>
              <a:t>Create a demo view for initial phase</a:t>
            </a:r>
          </a:p>
        </p:txBody>
      </p:sp>
      <p:sp>
        <p:nvSpPr>
          <p:cNvPr id="13" name="TextBox 12"/>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27 · Delivery Excellence slide 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b_div_cap.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731520"/>
            <a:ext cx="6583680" cy="2900236"/>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316736"/>
            <a:ext cx="6400800" cy="2194560"/>
          </a:xfrm>
        </p:spPr>
        <p:txBody>
          <a:bodyPr anchor="t"/>
          <a:lstStyle/>
          <a:p>
            <a:r>
              <a:rPr sz="4000"/>
              <a:t>Capacity Planning &amp; Romulus</a:t>
            </a:r>
          </a:p>
        </p:txBody>
      </p:sp>
      <p:sp>
        <p:nvSpPr>
          <p:cNvPr id="3" name="Text Placeholder 2"/>
          <p:cNvSpPr>
            <a:spLocks noGrp="1"/>
          </p:cNvSpPr>
          <p:nvPr>
            <p:ph type="body" idx="15" sz="quarter"/>
          </p:nvPr>
        </p:nvSpPr>
        <p:spPr>
          <a:xfrm>
            <a:off x="914400" y="932688"/>
            <a:ext cx="6400800" cy="292608"/>
          </a:xfrm>
        </p:spPr>
        <p:txBody>
          <a:bodyPr/>
          <a:lstStyle/>
          <a:p>
            <a:r>
              <a:t>PRIORITY</a:t>
            </a:r>
          </a:p>
        </p:txBody>
      </p:sp>
      <p:sp>
        <p:nvSpPr>
          <p:cNvPr id="7" name="TextBox 6"/>
          <p:cNvSpPr txBox="1"/>
          <p:nvPr/>
        </p:nvSpPr>
        <p:spPr>
          <a:xfrm>
            <a:off x="914400" y="2785936"/>
            <a:ext cx="5852160" cy="1097280"/>
          </a:xfrm>
          <a:prstGeom prst="rect">
            <a:avLst/>
          </a:prstGeom>
          <a:noFill/>
        </p:spPr>
        <p:txBody>
          <a:bodyPr wrap="square" lIns="0" rIns="0" tIns="0" bIns="0">
            <a:spAutoFit/>
          </a:bodyPr>
          <a:lstStyle/>
          <a:p>
            <a:pPr algn="l">
              <a:spcAft>
                <a:spcPts val="500"/>
              </a:spcAft>
            </a:pPr>
            <a:r>
              <a:rPr sz="1800" b="0" i="0">
                <a:solidFill>
                  <a:srgbClr val="FFFFFF"/>
                </a:solidFill>
              </a:rPr>
              <a:t>Closing the skills and bench visibility gap so we can staff ahead of demand.</a:t>
            </a:r>
          </a:p>
        </p:txBody>
      </p:sp>
      <p:sp>
        <p:nvSpPr>
          <p:cNvPr id="9" name="TextBox 8"/>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28 · Delivery Excellence slide 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b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Capacity Planning &amp; Romulus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CAPACITY PLANNING &amp; ROMULUS · WIP</a:t>
            </a:r>
          </a:p>
        </p:txBody>
      </p:sp>
      <p:sp>
        <p:nvSpPr>
          <p:cNvPr id="7" name="Rounded Rectangle 6"/>
          <p:cNvSpPr/>
          <p:nvPr/>
        </p:nvSpPr>
        <p:spPr>
          <a:xfrm>
            <a:off x="457200" y="5090000"/>
            <a:ext cx="11277600" cy="131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1400" b="1" i="0">
                <a:solidFill>
                  <a:srgbClr val="FFFFFF"/>
                </a:solidFill>
              </a:rPr>
              <a:t>The Key Takeaway: Next, we need further definition and to identify the dependencies that could block us. The three pillars are where our stories will come from, and we will shape them together with our other priorities (Leadership Dashboards, the Accountability Framework, the Deal-to-Delivery Playbook). Still coming, with more in the coming weeks.</a:t>
            </a:r>
          </a:p>
        </p:txBody>
      </p:sp>
      <p:sp>
        <p:nvSpPr>
          <p:cNvPr id="8" name="Rounded Rectangle 7"/>
          <p:cNvSpPr/>
          <p:nvPr/>
        </p:nvSpPr>
        <p:spPr>
          <a:xfrm>
            <a:off x="457200" y="1170000"/>
            <a:ext cx="5563800" cy="169164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500"/>
              </a:spcAft>
            </a:pPr>
            <a:r>
              <a:rPr sz="900" b="1" i="0">
                <a:solidFill>
                  <a:srgbClr val="000000"/>
                </a:solidFill>
              </a:rPr>
              <a:t>This year</a:t>
            </a:r>
          </a:p>
          <a:p>
            <a:pPr algn="l">
              <a:spcAft>
                <a:spcPts val="500"/>
              </a:spcAft>
            </a:pPr>
            <a:r>
              <a:rPr sz="900" b="0" i="0">
                <a:solidFill>
                  <a:srgbClr val="000000"/>
                </a:solidFill>
              </a:rPr>
              <a:t>We started with resource management, then stood up capacity planning.</a:t>
            </a:r>
          </a:p>
          <a:p>
            <a:pPr algn="l">
              <a:spcBef>
                <a:spcPts val="400"/>
              </a:spcBef>
              <a:spcAft>
                <a:spcPts val="500"/>
              </a:spcAft>
            </a:pPr>
            <a:r>
              <a:rPr sz="900" b="1" i="0">
                <a:solidFill>
                  <a:srgbClr val="000000"/>
                </a:solidFill>
              </a:rPr>
              <a:t>Next year</a:t>
            </a:r>
          </a:p>
          <a:p>
            <a:pPr algn="l">
              <a:spcAft>
                <a:spcPts val="500"/>
              </a:spcAft>
            </a:pPr>
            <a:r>
              <a:rPr sz="900" b="0" i="0">
                <a:solidFill>
                  <a:srgbClr val="000000"/>
                </a:solidFill>
              </a:rPr>
              <a:t>Capacity planning becomes how we run things and our priority focus for enhancement, with resource management as its child.</a:t>
            </a:r>
          </a:p>
          <a:p>
            <a:pPr algn="l">
              <a:spcBef>
                <a:spcPts val="400"/>
              </a:spcBef>
              <a:spcAft>
                <a:spcPts val="500"/>
              </a:spcAft>
            </a:pPr>
            <a:r>
              <a:rPr sz="900" b="1" i="0">
                <a:solidFill>
                  <a:srgbClr val="000000"/>
                </a:solidFill>
              </a:rPr>
              <a:t>Coming weeks</a:t>
            </a:r>
          </a:p>
          <a:p>
            <a:pPr algn="l">
              <a:spcAft>
                <a:spcPts val="500"/>
              </a:spcAft>
            </a:pPr>
            <a:r>
              <a:rPr sz="900" b="0" i="0">
                <a:solidFill>
                  <a:srgbClr val="000000"/>
                </a:solidFill>
              </a:rPr>
              <a:t>Like our other ops top priorities, we will build this out as an epic with stories underneath, so we can focus and prioritize.</a:t>
            </a:r>
          </a:p>
        </p:txBody>
      </p:sp>
      <p:sp>
        <p:nvSpPr>
          <p:cNvPr id="9" name="Rounded Rectangle 8"/>
          <p:cNvSpPr/>
          <p:nvPr/>
        </p:nvSpPr>
        <p:spPr>
          <a:xfrm>
            <a:off x="6171000" y="1170000"/>
            <a:ext cx="5563800" cy="169164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500"/>
              </a:spcAft>
            </a:pPr>
            <a:r>
              <a:rPr sz="1300" b="1" i="0">
                <a:solidFill>
                  <a:srgbClr val="FFFFFF"/>
                </a:solidFill>
              </a:rPr>
              <a:t>THE GOAL    </a:t>
            </a:r>
            <a:r>
              <a:rPr sz="1300" b="1" i="0">
                <a:solidFill>
                  <a:srgbClr val="FFFFFF"/>
                </a:solidFill>
              </a:rPr>
              <a:t>Move from insight to action: close the skills and bench visibility gap so we can staff ahead of demand.</a:t>
            </a:r>
          </a:p>
        </p:txBody>
      </p:sp>
      <p:sp>
        <p:nvSpPr>
          <p:cNvPr id="10" name="Rounded Rectangle 9"/>
          <p:cNvSpPr/>
          <p:nvPr/>
        </p:nvSpPr>
        <p:spPr>
          <a:xfrm>
            <a:off x="457200" y="3011640"/>
            <a:ext cx="3659200" cy="210312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Pillar 1: Know who we have</a:t>
            </a:r>
          </a:p>
          <a:p>
            <a:pPr algn="l">
              <a:spcAft>
                <a:spcPts val="500"/>
              </a:spcAft>
            </a:pPr>
            <a:r>
              <a:rPr sz="950" b="1" i="0">
                <a:solidFill>
                  <a:srgbClr val="000000"/>
                </a:solidFill>
              </a:rPr>
              <a:t>We need</a:t>
            </a:r>
            <a:r>
              <a:rPr sz="950" b="0" i="0">
                <a:solidFill>
                  <a:srgbClr val="000000"/>
                </a:solidFill>
              </a:rPr>
              <a:t> skills captured in one place we can search, </a:t>
            </a:r>
            <a:r>
              <a:rPr sz="950" b="1" i="0">
                <a:solidFill>
                  <a:srgbClr val="000000"/>
                </a:solidFill>
              </a:rPr>
              <a:t>so we can</a:t>
            </a:r>
            <a:r>
              <a:rPr sz="950" b="0" i="0">
                <a:solidFill>
                  <a:srgbClr val="000000"/>
                </a:solidFill>
              </a:rPr>
              <a:t> find the right person for a role across practices. </a:t>
            </a:r>
            <a:r>
              <a:rPr sz="950" b="1" i="0">
                <a:solidFill>
                  <a:srgbClr val="000000"/>
                </a:solidFill>
              </a:rPr>
              <a:t>The outcome:</a:t>
            </a:r>
            <a:r>
              <a:rPr sz="950" b="0" i="0">
                <a:solidFill>
                  <a:srgbClr val="000000"/>
                </a:solidFill>
              </a:rPr>
              <a:t> one trusted view of skills instead of separate sources.</a:t>
            </a:r>
          </a:p>
          <a:p>
            <a:pPr algn="l">
              <a:spcBef>
                <a:spcPts val="400"/>
              </a:spcBef>
              <a:spcAft>
                <a:spcPts val="500"/>
              </a:spcAft>
            </a:pPr>
            <a:r>
              <a:rPr sz="950" b="1" i="0">
                <a:solidFill>
                  <a:srgbClr val="000000"/>
                </a:solidFill>
              </a:rPr>
              <a:t>Underway</a:t>
            </a:r>
          </a:p>
          <a:p>
            <a:pPr algn="l">
              <a:spcAft>
                <a:spcPts val="500"/>
              </a:spcAft>
            </a:pPr>
            <a:r>
              <a:rPr sz="950" b="0" i="0">
                <a:solidFill>
                  <a:srgbClr val="000000"/>
                </a:solidFill>
              </a:rPr>
              <a:t>A skills data pilot with about 100 opt-in people from each of two teams, on a LinkedIn skills taxonomy. We still need to define what we need from it.</a:t>
            </a:r>
          </a:p>
        </p:txBody>
      </p:sp>
      <p:sp>
        <p:nvSpPr>
          <p:cNvPr id="11" name="Rounded Rectangle 10"/>
          <p:cNvSpPr/>
          <p:nvPr/>
        </p:nvSpPr>
        <p:spPr>
          <a:xfrm>
            <a:off x="4266400" y="3011640"/>
            <a:ext cx="3659200" cy="210312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Pillar 2: See what is coming</a:t>
            </a:r>
          </a:p>
          <a:p>
            <a:pPr algn="l">
              <a:spcAft>
                <a:spcPts val="500"/>
              </a:spcAft>
            </a:pPr>
            <a:r>
              <a:rPr sz="900" b="1" i="0">
                <a:solidFill>
                  <a:srgbClr val="000000"/>
                </a:solidFill>
              </a:rPr>
              <a:t>We need </a:t>
            </a:r>
            <a:r>
              <a:rPr sz="900" b="0" i="0">
                <a:solidFill>
                  <a:srgbClr val="000000"/>
                </a:solidFill>
              </a:rPr>
              <a:t>to review SF stages to see the pipeline earlier, </a:t>
            </a:r>
            <a:r>
              <a:rPr sz="900" b="1" i="0">
                <a:solidFill>
                  <a:srgbClr val="000000"/>
                </a:solidFill>
              </a:rPr>
              <a:t>so we can </a:t>
            </a:r>
            <a:r>
              <a:rPr sz="900" b="0" i="0">
                <a:solidFill>
                  <a:srgbClr val="000000"/>
                </a:solidFill>
              </a:rPr>
              <a:t>plan people around demand with RM pulled in earlier in the process, not at signature. </a:t>
            </a:r>
            <a:r>
              <a:rPr sz="900" b="1" i="0">
                <a:solidFill>
                  <a:srgbClr val="000000"/>
                </a:solidFill>
              </a:rPr>
              <a:t>The outcome: </a:t>
            </a:r>
            <a:r>
              <a:rPr sz="900" b="0" i="0">
                <a:solidFill>
                  <a:srgbClr val="000000"/>
                </a:solidFill>
              </a:rPr>
              <a:t>teams that are ready to start instead of scrambling after signing.</a:t>
            </a:r>
          </a:p>
          <a:p>
            <a:pPr algn="l">
              <a:spcBef>
                <a:spcPts val="400"/>
              </a:spcBef>
              <a:spcAft>
                <a:spcPts val="500"/>
              </a:spcAft>
            </a:pPr>
            <a:r>
              <a:rPr sz="900" b="1" i="0">
                <a:solidFill>
                  <a:srgbClr val="000000"/>
                </a:solidFill>
              </a:rPr>
              <a:t>Exploring: Smart Bench</a:t>
            </a:r>
          </a:p>
          <a:p>
            <a:pPr algn="l">
              <a:spcAft>
                <a:spcPts val="500"/>
              </a:spcAft>
            </a:pPr>
            <a:r>
              <a:rPr sz="900" b="0" i="0">
                <a:solidFill>
                  <a:srgbClr val="000000"/>
                </a:solidFill>
              </a:rPr>
              <a:t>Smart Bench is a concept we are exploring. In plain terms: look ahead at what is likely to close, set clear rules for when we add or reduce capacity (hire, temporary help, or an outside partner), and plan how quickly people ramp on. What it means for us is still being defined.</a:t>
            </a:r>
          </a:p>
        </p:txBody>
      </p:sp>
      <p:sp>
        <p:nvSpPr>
          <p:cNvPr id="12" name="Rounded Rectangle 11"/>
          <p:cNvSpPr/>
          <p:nvPr/>
        </p:nvSpPr>
        <p:spPr>
          <a:xfrm>
            <a:off x="8075600" y="3011640"/>
            <a:ext cx="3659200" cy="210312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Pillar 3: One place to look</a:t>
            </a:r>
          </a:p>
          <a:p>
            <a:pPr algn="l">
              <a:spcAft>
                <a:spcPts val="500"/>
              </a:spcAft>
            </a:pPr>
            <a:r>
              <a:rPr sz="900" b="1" i="0">
                <a:solidFill>
                  <a:srgbClr val="000000"/>
                </a:solidFill>
              </a:rPr>
              <a:t>We need</a:t>
            </a:r>
            <a:r>
              <a:rPr sz="900" b="0" i="0">
                <a:solidFill>
                  <a:srgbClr val="000000"/>
                </a:solidFill>
              </a:rPr>
              <a:t> what we check today brought into one connected view, </a:t>
            </a:r>
            <a:r>
              <a:rPr sz="900" b="1" i="0">
                <a:solidFill>
                  <a:srgbClr val="000000"/>
                </a:solidFill>
              </a:rPr>
              <a:t>so we can</a:t>
            </a:r>
            <a:r>
              <a:rPr sz="900" b="0" i="0">
                <a:solidFill>
                  <a:srgbClr val="000000"/>
                </a:solidFill>
              </a:rPr>
              <a:t> move from insight to action with fewer places to look. </a:t>
            </a:r>
            <a:r>
              <a:rPr sz="900" b="1" i="0">
                <a:solidFill>
                  <a:srgbClr val="000000"/>
                </a:solidFill>
              </a:rPr>
              <a:t>The outcome:</a:t>
            </a:r>
            <a:r>
              <a:rPr sz="900" b="0" i="0">
                <a:solidFill>
                  <a:srgbClr val="000000"/>
                </a:solidFill>
              </a:rPr>
              <a:t> insight that points to the next move.</a:t>
            </a:r>
          </a:p>
          <a:p>
            <a:pPr algn="l">
              <a:spcBef>
                <a:spcPts val="400"/>
              </a:spcBef>
              <a:spcAft>
                <a:spcPts val="500"/>
              </a:spcAft>
            </a:pPr>
            <a:r>
              <a:rPr sz="900" b="1" i="0">
                <a:solidFill>
                  <a:srgbClr val="000000"/>
                </a:solidFill>
              </a:rPr>
              <a:t>Being built: Romulus</a:t>
            </a:r>
          </a:p>
          <a:p>
            <a:pPr algn="l">
              <a:spcAft>
                <a:spcPts val="500"/>
              </a:spcAft>
            </a:pPr>
            <a:r>
              <a:rPr sz="900" b="0" i="0">
                <a:solidFill>
                  <a:srgbClr val="000000"/>
                </a:solidFill>
              </a:rPr>
              <a:t>Today we check Salesforce, Workfront, pricing tools, spreadsheets, and SharePoint. Romulus is the tool we are building to help turn insight into action (next slide). It needs more feeding from the work in the other two pillars.</a:t>
            </a:r>
          </a:p>
        </p:txBody>
      </p:sp>
      <p:sp>
        <p:nvSpPr>
          <p:cNvPr id="13" name="TextBox 12"/>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29 · Delivery Excellence slide 26 (pillar 2 wording differs)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b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Romulus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AO ROMULUS SHOWCASE</a:t>
            </a:r>
          </a:p>
        </p:txBody>
      </p:sp>
      <p:sp>
        <p:nvSpPr>
          <p:cNvPr id="7" name="TextBox 6"/>
          <p:cNvSpPr txBox="1"/>
          <p:nvPr/>
        </p:nvSpPr>
        <p:spPr>
          <a:xfrm>
            <a:off x="457200" y="1170000"/>
            <a:ext cx="11277600" cy="315595"/>
          </a:xfrm>
          <a:prstGeom prst="rect">
            <a:avLst/>
          </a:prstGeom>
          <a:noFill/>
        </p:spPr>
        <p:txBody>
          <a:bodyPr wrap="square" lIns="0" rIns="0" tIns="0" bIns="0">
            <a:spAutoFit/>
          </a:bodyPr>
          <a:lstStyle/>
          <a:p>
            <a:pPr algn="l">
              <a:spcBef>
                <a:spcPts val="400"/>
              </a:spcBef>
              <a:spcAft>
                <a:spcPts val="500"/>
              </a:spcAft>
            </a:pPr>
            <a:r>
              <a:rPr sz="1250" b="1" i="0">
                <a:solidFill>
                  <a:srgbClr val="000000"/>
                </a:solidFill>
              </a:rPr>
              <a:t>An operating system for resource management.</a:t>
            </a:r>
          </a:p>
        </p:txBody>
      </p:sp>
      <p:sp>
        <p:nvSpPr>
          <p:cNvPr id="8" name="Rounded Rectangle 7"/>
          <p:cNvSpPr/>
          <p:nvPr/>
        </p:nvSpPr>
        <p:spPr>
          <a:xfrm>
            <a:off x="457200" y="5840000"/>
            <a:ext cx="11277600" cy="56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1400" b="1" i="0">
                <a:solidFill>
                  <a:srgbClr val="FFFFFF"/>
                </a:solidFill>
              </a:rPr>
              <a:t>Now here's the rest of the story….  In 3 minutes (or less)</a:t>
            </a:r>
          </a:p>
        </p:txBody>
      </p:sp>
      <p:sp>
        <p:nvSpPr>
          <p:cNvPr id="9" name="Rounded Rectangle 8"/>
          <p:cNvSpPr/>
          <p:nvPr/>
        </p:nvSpPr>
        <p:spPr>
          <a:xfrm>
            <a:off x="457200" y="1595595"/>
            <a:ext cx="11277600" cy="250370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500"/>
              </a:spcAft>
            </a:pPr>
            <a:r>
              <a:rPr sz="1300" b="0" i="0">
                <a:solidFill>
                  <a:srgbClr val="000000"/>
                </a:solidFill>
              </a:rPr>
              <a:t>Romulus turns live demand, supply and financial data into a daily situation report — surfacing the staffing decisions a Resource Manager needs to make </a:t>
            </a:r>
            <a:r>
              <a:rPr sz="1300" b="1" i="0">
                <a:solidFill>
                  <a:srgbClr val="000000"/>
                </a:solidFill>
              </a:rPr>
              <a:t>before they're asked</a:t>
            </a:r>
            <a:r>
              <a:rPr sz="1300" b="0" i="0">
                <a:solidFill>
                  <a:srgbClr val="000000"/>
                </a:solidFill>
              </a:rPr>
              <a:t>. It's built to replace the spreadsheets, email chains, and tribal knowledge our business runs on today.</a:t>
            </a:r>
          </a:p>
          <a:p>
            <a:pPr algn="l">
              <a:spcAft>
                <a:spcPts val="400"/>
              </a:spcAft>
            </a:pPr>
            <a:r>
              <a:rPr sz="1100" b="0" i="1">
                <a:solidFill>
                  <a:srgbClr val="60607D"/>
                </a:solidFill>
              </a:rPr>
              <a:t>▲  This was the actual prompt that started it all  ▲</a:t>
            </a:r>
          </a:p>
        </p:txBody>
      </p:sp>
      <p:sp>
        <p:nvSpPr>
          <p:cNvPr id="10" name="TextBox 9"/>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32 · Delivery Excellence slide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b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Late October</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RELEASE MOMENTUM</a:t>
            </a:r>
          </a:p>
        </p:txBody>
      </p:sp>
      <p:sp>
        <p:nvSpPr>
          <p:cNvPr id="7" name="Rounded Rectangle 6"/>
          <p:cNvSpPr/>
          <p:nvPr/>
        </p:nvSpPr>
        <p:spPr>
          <a:xfrm>
            <a:off x="457200" y="5840000"/>
            <a:ext cx="11277600" cy="56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900" b="1" i="0" cap="all" spc="100">
                <a:solidFill>
                  <a:srgbClr val="D6D6DF"/>
                </a:solidFill>
              </a:rPr>
              <a:t>What you can do with it</a:t>
            </a:r>
          </a:p>
          <a:p>
            <a:pPr algn="l"/>
            <a:r>
              <a:rPr sz="1400" b="1" i="0">
                <a:solidFill>
                  <a:srgbClr val="FFFFFF"/>
                </a:solidFill>
              </a:rPr>
              <a:t>FIVE PRACTICAL WAYS TO MOVE FROM INSIGHT TO ACTION</a:t>
            </a:r>
          </a:p>
        </p:txBody>
      </p:sp>
      <p:sp>
        <p:nvSpPr>
          <p:cNvPr id="8" name="Rounded Rectangle 7"/>
          <p:cNvSpPr/>
          <p:nvPr/>
        </p:nvSpPr>
        <p:spPr>
          <a:xfrm>
            <a:off x="457200" y="1170000"/>
            <a:ext cx="5563800" cy="1676009"/>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RELEASE MOMENTUM</a:t>
            </a:r>
          </a:p>
          <a:p>
            <a:pPr algn="l">
              <a:spcBef>
                <a:spcPts val="400"/>
              </a:spcBef>
              <a:spcAft>
                <a:spcPts val="500"/>
              </a:spcAft>
            </a:pPr>
            <a:r>
              <a:rPr sz="1300" b="1" i="0">
                <a:solidFill>
                  <a:srgbClr val="000000"/>
                </a:solidFill>
              </a:rPr>
              <a:t>FIRST FEATURES GO LIVE</a:t>
            </a:r>
          </a:p>
          <a:p>
            <a:pPr algn="l">
              <a:spcBef>
                <a:spcPts val="400"/>
              </a:spcBef>
              <a:spcAft>
                <a:spcPts val="500"/>
              </a:spcAft>
            </a:pPr>
            <a:r>
              <a:rPr sz="1300" b="1" i="0">
                <a:solidFill>
                  <a:srgbClr val="000000"/>
                </a:solidFill>
              </a:rPr>
              <a:t>Late October</a:t>
            </a:r>
          </a:p>
        </p:txBody>
      </p:sp>
      <p:sp>
        <p:nvSpPr>
          <p:cNvPr id="9" name="Rounded Rectangle 8"/>
          <p:cNvSpPr/>
          <p:nvPr/>
        </p:nvSpPr>
        <p:spPr>
          <a:xfrm>
            <a:off x="6171000" y="1170000"/>
            <a:ext cx="5563800" cy="1676009"/>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FULL DEMO</a:t>
            </a:r>
          </a:p>
          <a:p>
            <a:pPr algn="l">
              <a:spcBef>
                <a:spcPts val="400"/>
              </a:spcBef>
              <a:spcAft>
                <a:spcPts val="500"/>
              </a:spcAft>
            </a:pPr>
            <a:r>
              <a:rPr sz="1300" b="1" i="0">
                <a:solidFill>
                  <a:srgbClr val="FFFFFF"/>
                </a:solidFill>
              </a:rPr>
              <a:t>Next Ops Town Hall</a:t>
            </a:r>
          </a:p>
          <a:p>
            <a:pPr algn="l">
              <a:spcAft>
                <a:spcPts val="500"/>
              </a:spcAft>
            </a:pPr>
            <a:r>
              <a:rPr sz="1300" b="0" i="0">
                <a:solidFill>
                  <a:srgbClr val="FFFFFF"/>
                </a:solidFill>
              </a:rPr>
              <a:t>See the complete experience in action.</a:t>
            </a:r>
          </a:p>
        </p:txBody>
      </p:sp>
      <p:sp>
        <p:nvSpPr>
          <p:cNvPr id="10" name="Rounded Rectangle 9"/>
          <p:cNvSpPr/>
          <p:nvPr/>
        </p:nvSpPr>
        <p:spPr>
          <a:xfrm>
            <a:off x="457200" y="2996009"/>
            <a:ext cx="2135520" cy="275399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1</a:t>
            </a:r>
          </a:p>
          <a:p>
            <a:pPr algn="l">
              <a:spcBef>
                <a:spcPts val="400"/>
              </a:spcBef>
              <a:spcAft>
                <a:spcPts val="500"/>
              </a:spcAft>
            </a:pPr>
            <a:r>
              <a:rPr sz="1300" b="1" i="0">
                <a:solidFill>
                  <a:srgbClr val="000000"/>
                </a:solidFill>
              </a:rPr>
              <a:t>See today’s situation</a:t>
            </a:r>
          </a:p>
          <a:p>
            <a:pPr algn="l">
              <a:spcAft>
                <a:spcPts val="500"/>
              </a:spcAft>
            </a:pPr>
            <a:r>
              <a:rPr sz="1300" b="0" i="0">
                <a:solidFill>
                  <a:srgbClr val="000000"/>
                </a:solidFill>
              </a:rPr>
              <a:t>The morning briefing — overall health, the single most important finding, and the day’s top moves.</a:t>
            </a:r>
          </a:p>
        </p:txBody>
      </p:sp>
      <p:sp>
        <p:nvSpPr>
          <p:cNvPr id="11" name="Rounded Rectangle 10"/>
          <p:cNvSpPr/>
          <p:nvPr/>
        </p:nvSpPr>
        <p:spPr>
          <a:xfrm>
            <a:off x="2742720" y="2996009"/>
            <a:ext cx="2135520" cy="275399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2</a:t>
            </a:r>
          </a:p>
          <a:p>
            <a:pPr algn="l">
              <a:spcBef>
                <a:spcPts val="400"/>
              </a:spcBef>
              <a:spcAft>
                <a:spcPts val="500"/>
              </a:spcAft>
            </a:pPr>
            <a:r>
              <a:rPr sz="1300" b="1" i="0">
                <a:solidFill>
                  <a:srgbClr val="000000"/>
                </a:solidFill>
              </a:rPr>
              <a:t>Suggest resources for open roles</a:t>
            </a:r>
          </a:p>
          <a:p>
            <a:pPr algn="l">
              <a:spcAft>
                <a:spcPts val="500"/>
              </a:spcAft>
            </a:pPr>
            <a:r>
              <a:rPr sz="1300" b="0" i="0">
                <a:solidFill>
                  <a:srgbClr val="000000"/>
                </a:solidFill>
              </a:rPr>
              <a:t>Ranked candidates with fit rationale, availability, and recent project history.</a:t>
            </a:r>
          </a:p>
        </p:txBody>
      </p:sp>
      <p:sp>
        <p:nvSpPr>
          <p:cNvPr id="12" name="Rounded Rectangle 11"/>
          <p:cNvSpPr/>
          <p:nvPr/>
        </p:nvSpPr>
        <p:spPr>
          <a:xfrm>
            <a:off x="5028240" y="2996009"/>
            <a:ext cx="2135520" cy="275399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3</a:t>
            </a:r>
          </a:p>
          <a:p>
            <a:pPr algn="l">
              <a:spcBef>
                <a:spcPts val="400"/>
              </a:spcBef>
              <a:spcAft>
                <a:spcPts val="500"/>
              </a:spcAft>
            </a:pPr>
            <a:r>
              <a:rPr sz="1300" b="1" i="0">
                <a:solidFill>
                  <a:srgbClr val="000000"/>
                </a:solidFill>
              </a:rPr>
              <a:t>Run what-if scenarios</a:t>
            </a:r>
          </a:p>
          <a:p>
            <a:pPr algn="l">
              <a:spcAft>
                <a:spcPts val="500"/>
              </a:spcAft>
            </a:pPr>
            <a:r>
              <a:rPr sz="1300" b="0" i="0">
                <a:solidFill>
                  <a:srgbClr val="000000"/>
                </a:solidFill>
              </a:rPr>
              <a:t>Model a deal landing, a start date slipping, or filling from the bench — before committing.</a:t>
            </a:r>
          </a:p>
        </p:txBody>
      </p:sp>
      <p:sp>
        <p:nvSpPr>
          <p:cNvPr id="13" name="Rounded Rectangle 12"/>
          <p:cNvSpPr/>
          <p:nvPr/>
        </p:nvSpPr>
        <p:spPr>
          <a:xfrm>
            <a:off x="7313760" y="2996009"/>
            <a:ext cx="2135520" cy="275399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4</a:t>
            </a:r>
          </a:p>
          <a:p>
            <a:pPr algn="l">
              <a:spcBef>
                <a:spcPts val="400"/>
              </a:spcBef>
              <a:spcAft>
                <a:spcPts val="500"/>
              </a:spcAft>
            </a:pPr>
            <a:r>
              <a:rPr sz="1300" b="1" i="0">
                <a:solidFill>
                  <a:srgbClr val="000000"/>
                </a:solidFill>
              </a:rPr>
              <a:t>Walk a decision through governance</a:t>
            </a:r>
          </a:p>
          <a:p>
            <a:pPr algn="l">
              <a:spcAft>
                <a:spcPts val="500"/>
              </a:spcAft>
            </a:pPr>
            <a:r>
              <a:rPr sz="1300" b="0" i="0">
                <a:solidFill>
                  <a:srgbClr val="000000"/>
                </a:solidFill>
              </a:rPr>
              <a:t>Approval stages with policy checks surfaced at each gate. Full audit trail.</a:t>
            </a:r>
          </a:p>
        </p:txBody>
      </p:sp>
      <p:sp>
        <p:nvSpPr>
          <p:cNvPr id="14" name="Rounded Rectangle 13"/>
          <p:cNvSpPr/>
          <p:nvPr/>
        </p:nvSpPr>
        <p:spPr>
          <a:xfrm>
            <a:off x="9599280" y="2996009"/>
            <a:ext cx="2135520" cy="275399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5</a:t>
            </a:r>
          </a:p>
          <a:p>
            <a:pPr algn="l">
              <a:spcBef>
                <a:spcPts val="400"/>
              </a:spcBef>
              <a:spcAft>
                <a:spcPts val="500"/>
              </a:spcAft>
            </a:pPr>
            <a:r>
              <a:rPr sz="1300" b="1" i="0">
                <a:solidFill>
                  <a:srgbClr val="000000"/>
                </a:solidFill>
              </a:rPr>
              <a:t>Ask in plain language</a:t>
            </a:r>
          </a:p>
          <a:p>
            <a:pPr algn="l">
              <a:spcAft>
                <a:spcPts val="500"/>
              </a:spcAft>
            </a:pPr>
            <a:r>
              <a:rPr sz="1300" b="0" i="0">
                <a:solidFill>
                  <a:srgbClr val="000000"/>
                </a:solidFill>
              </a:rPr>
              <a:t>A conversational assistant grounded in current, real data — not general knowledge.</a:t>
            </a:r>
          </a:p>
        </p:txBody>
      </p:sp>
      <p:sp>
        <p:nvSpPr>
          <p:cNvPr id="15" name="TextBox 14"/>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33 (Delivery Excellence slide 29 says "Mid-November" and has no demo)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b_div_dgs.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731520"/>
            <a:ext cx="6583680" cy="3612705"/>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316736"/>
            <a:ext cx="6400800" cy="2194560"/>
          </a:xfrm>
        </p:spPr>
        <p:txBody>
          <a:bodyPr anchor="t"/>
          <a:lstStyle/>
          <a:p>
            <a:r>
              <a:rPr sz="5400"/>
              <a:t>DGS Leadership Transition</a:t>
            </a:r>
          </a:p>
        </p:txBody>
      </p:sp>
      <p:sp>
        <p:nvSpPr>
          <p:cNvPr id="3" name="Text Placeholder 2"/>
          <p:cNvSpPr>
            <a:spLocks noGrp="1"/>
          </p:cNvSpPr>
          <p:nvPr>
            <p:ph type="body" idx="15" sz="quarter"/>
          </p:nvPr>
        </p:nvSpPr>
        <p:spPr>
          <a:xfrm>
            <a:off x="914400" y="932688"/>
            <a:ext cx="6400800" cy="292608"/>
          </a:xfrm>
        </p:spPr>
        <p:txBody>
          <a:bodyPr/>
          <a:lstStyle/>
          <a:p>
            <a:r>
              <a:t>PRIORITY</a:t>
            </a:r>
          </a:p>
        </p:txBody>
      </p:sp>
      <p:sp>
        <p:nvSpPr>
          <p:cNvPr id="7" name="TextBox 6"/>
          <p:cNvSpPr txBox="1"/>
          <p:nvPr/>
        </p:nvSpPr>
        <p:spPr>
          <a:xfrm>
            <a:off x="914400" y="3212655"/>
            <a:ext cx="5852160" cy="1097280"/>
          </a:xfrm>
          <a:prstGeom prst="rect">
            <a:avLst/>
          </a:prstGeom>
          <a:noFill/>
        </p:spPr>
        <p:txBody>
          <a:bodyPr wrap="square" lIns="0" rIns="0" tIns="0" bIns="0">
            <a:spAutoFit/>
          </a:bodyPr>
          <a:lstStyle/>
          <a:p>
            <a:pPr algn="l">
              <a:spcAft>
                <a:spcPts val="500"/>
              </a:spcAft>
            </a:pPr>
            <a:r>
              <a:rPr sz="1800" b="0" i="0">
                <a:solidFill>
                  <a:srgbClr val="FFFFFF"/>
                </a:solidFill>
              </a:rPr>
              <a:t>Naazneen departs 12/31 — two-phase effort to map dependencies, resolve Extentia's operating model, and set leadership coverage.</a:t>
            </a:r>
          </a:p>
        </p:txBody>
      </p:sp>
      <p:sp>
        <p:nvSpPr>
          <p:cNvPr id="9" name="TextBox 8"/>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34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b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DGS Leadership Transition</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PRIORITY FIVE</a:t>
            </a:r>
          </a:p>
        </p:txBody>
      </p:sp>
      <p:sp>
        <p:nvSpPr>
          <p:cNvPr id="7" name="TextBox 6"/>
          <p:cNvSpPr txBox="1"/>
          <p:nvPr/>
        </p:nvSpPr>
        <p:spPr>
          <a:xfrm>
            <a:off x="457200" y="1170000"/>
            <a:ext cx="11277600" cy="702945"/>
          </a:xfrm>
          <a:prstGeom prst="rect">
            <a:avLst/>
          </a:prstGeom>
          <a:noFill/>
        </p:spPr>
        <p:txBody>
          <a:bodyPr wrap="square" lIns="0" rIns="0" tIns="0" bIns="0">
            <a:spAutoFit/>
          </a:bodyPr>
          <a:lstStyle/>
          <a:p>
            <a:pPr algn="l">
              <a:spcAft>
                <a:spcPts val="500"/>
              </a:spcAft>
            </a:pPr>
            <a:r>
              <a:rPr sz="1250" b="1" i="0">
                <a:solidFill>
                  <a:srgbClr val="000000"/>
                </a:solidFill>
              </a:rPr>
              <a:t>Why this one, now:</a:t>
            </a:r>
            <a:r>
              <a:rPr sz="1250" b="0" i="0">
                <a:solidFill>
                  <a:srgbClr val="000000"/>
                </a:solidFill>
              </a:rPr>
              <a:t> Naazneen's departure on 12/31 is a fixed deadline, and her role covers more ground than any one market realizes — global delivery, market relationships, capability development, and financial oversight. This is a two-phase effort to capture what she knows and put durable ownership in place before she leaves.</a:t>
            </a:r>
          </a:p>
        </p:txBody>
      </p:sp>
      <p:sp>
        <p:nvSpPr>
          <p:cNvPr id="8" name="Rounded Rectangle 7"/>
          <p:cNvSpPr/>
          <p:nvPr/>
        </p:nvSpPr>
        <p:spPr>
          <a:xfrm>
            <a:off x="457200" y="5340000"/>
            <a:ext cx="11277600" cy="106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1400" b="1" i="0">
                <a:solidFill>
                  <a:srgbClr val="FFFFFF"/>
                </a:solidFill>
              </a:rPr>
              <a:t>The Key Takeaway: We have a hard deadline and a business with real complexity underneath it. This two-phase plan is how we capture the knowledge, resolve ownership, and land a clean transition by year-end.</a:t>
            </a:r>
          </a:p>
        </p:txBody>
      </p:sp>
      <p:sp>
        <p:nvSpPr>
          <p:cNvPr id="9" name="Rounded Rectangle 8"/>
          <p:cNvSpPr/>
          <p:nvPr/>
        </p:nvSpPr>
        <p:spPr>
          <a:xfrm>
            <a:off x="457200" y="1982945"/>
            <a:ext cx="5563800" cy="24980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500"/>
              </a:spcAft>
            </a:pPr>
            <a:r>
              <a:rPr sz="900" b="1" i="0">
                <a:solidFill>
                  <a:srgbClr val="000000"/>
                </a:solidFill>
              </a:rPr>
              <a:t>PHASE 1 · Intake, Validate, Plan · Sept 14 – Oct 16</a:t>
            </a:r>
          </a:p>
          <a:p>
            <a:pPr algn="l">
              <a:spcAft>
                <a:spcPts val="500"/>
              </a:spcAft>
            </a:pPr>
            <a:r>
              <a:rPr sz="900" b="0" i="0">
                <a:solidFill>
                  <a:srgbClr val="000000"/>
                </a:solidFill>
              </a:rPr>
              <a:t>Milestone: India trip Sept 25 – Oct 10 (AO)</a:t>
            </a:r>
          </a:p>
          <a:p>
            <a:pPr algn="l">
              <a:spcBef>
                <a:spcPts val="400"/>
              </a:spcBef>
              <a:spcAft>
                <a:spcPts val="500"/>
              </a:spcAft>
            </a:pPr>
            <a:r>
              <a:rPr sz="900" b="1" i="0">
                <a:solidFill>
                  <a:srgbClr val="000000"/>
                </a:solidFill>
              </a:rPr>
              <a:t>Role &amp; Org Mapping</a:t>
            </a:r>
          </a:p>
          <a:p>
            <a:pPr algn="l">
              <a:spcAft>
                <a:spcPts val="500"/>
              </a:spcAft>
            </a:pPr>
            <a:r>
              <a:rPr sz="900" b="0" i="0">
                <a:solidFill>
                  <a:srgbClr val="000000"/>
                </a:solidFill>
              </a:rPr>
              <a:t>Sessions with Naazneen's team to document formal and informal responsibilities, relationships, and escalation paths.</a:t>
            </a:r>
          </a:p>
          <a:p>
            <a:pPr algn="l">
              <a:spcBef>
                <a:spcPts val="400"/>
              </a:spcBef>
              <a:spcAft>
                <a:spcPts val="500"/>
              </a:spcAft>
            </a:pPr>
            <a:r>
              <a:rPr sz="900" b="1" i="0">
                <a:solidFill>
                  <a:srgbClr val="000000"/>
                </a:solidFill>
              </a:rPr>
              <a:t>Coverage &amp; Role Design</a:t>
            </a:r>
          </a:p>
          <a:p>
            <a:pPr algn="l">
              <a:spcAft>
                <a:spcPts val="500"/>
              </a:spcAft>
            </a:pPr>
            <a:r>
              <a:rPr sz="900" b="0" i="0">
                <a:solidFill>
                  <a:srgbClr val="000000"/>
                </a:solidFill>
              </a:rPr>
              <a:t>Determine who — and # of people — are needed to take on what Naazneen has been doing. Separate the DBT-specific work from the broader set of responsibilities she carries.</a:t>
            </a:r>
          </a:p>
          <a:p>
            <a:pPr algn="l">
              <a:spcBef>
                <a:spcPts val="400"/>
              </a:spcBef>
              <a:spcAft>
                <a:spcPts val="500"/>
              </a:spcAft>
            </a:pPr>
            <a:r>
              <a:rPr sz="900" b="1" i="0">
                <a:solidFill>
                  <a:srgbClr val="000000"/>
                </a:solidFill>
              </a:rPr>
              <a:t>Alignment Prep</a:t>
            </a:r>
          </a:p>
          <a:p>
            <a:pPr algn="l">
              <a:spcAft>
                <a:spcPts val="500"/>
              </a:spcAft>
            </a:pPr>
            <a:r>
              <a:rPr sz="900" b="0" i="0">
                <a:solidFill>
                  <a:srgbClr val="000000"/>
                </a:solidFill>
              </a:rPr>
              <a:t>Establish scope, decision rights, and messaging ahead of wider stakeholder engagement.</a:t>
            </a:r>
          </a:p>
        </p:txBody>
      </p:sp>
      <p:sp>
        <p:nvSpPr>
          <p:cNvPr id="10" name="Rounded Rectangle 9"/>
          <p:cNvSpPr/>
          <p:nvPr/>
        </p:nvSpPr>
        <p:spPr>
          <a:xfrm>
            <a:off x="6171000" y="1982945"/>
            <a:ext cx="5563800" cy="24980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500"/>
              </a:spcAft>
            </a:pPr>
            <a:r>
              <a:rPr sz="950" b="1" i="0">
                <a:solidFill>
                  <a:srgbClr val="000000"/>
                </a:solidFill>
              </a:rPr>
              <a:t>PHASE 2 · Align, Anchor, Execute · Oct 19 – Dec 20</a:t>
            </a:r>
          </a:p>
          <a:p>
            <a:pPr algn="l">
              <a:spcAft>
                <a:spcPts val="500"/>
              </a:spcAft>
            </a:pPr>
            <a:r>
              <a:rPr sz="950" b="0" i="0">
                <a:solidFill>
                  <a:srgbClr val="000000"/>
                </a:solidFill>
              </a:rPr>
              <a:t>Milestone: India trip mid-Nov (AO, Missy, Eric, McComas)</a:t>
            </a:r>
          </a:p>
          <a:p>
            <a:pPr algn="l">
              <a:spcBef>
                <a:spcPts val="400"/>
              </a:spcBef>
              <a:spcAft>
                <a:spcPts val="500"/>
              </a:spcAft>
            </a:pPr>
            <a:r>
              <a:rPr sz="950" b="1" i="0">
                <a:solidFill>
                  <a:srgbClr val="000000"/>
                </a:solidFill>
              </a:rPr>
              <a:t>Operating Model Decisions</a:t>
            </a:r>
          </a:p>
          <a:p>
            <a:pPr algn="l">
              <a:spcAft>
                <a:spcPts val="500"/>
              </a:spcAft>
            </a:pPr>
            <a:r>
              <a:rPr sz="950" b="0" i="0">
                <a:solidFill>
                  <a:srgbClr val="000000"/>
                </a:solidFill>
              </a:rPr>
              <a:t>Finalize market vs. India ownership of delivery escalation, solutioning participation, and shared governance.</a:t>
            </a:r>
          </a:p>
          <a:p>
            <a:pPr algn="l">
              <a:spcBef>
                <a:spcPts val="400"/>
              </a:spcBef>
              <a:spcAft>
                <a:spcPts val="500"/>
              </a:spcAft>
            </a:pPr>
            <a:r>
              <a:rPr sz="950" b="1" i="0">
                <a:solidFill>
                  <a:srgbClr val="000000"/>
                </a:solidFill>
              </a:rPr>
              <a:t>Leadership &amp; Talent Plan</a:t>
            </a:r>
          </a:p>
          <a:p>
            <a:pPr algn="l">
              <a:spcAft>
                <a:spcPts val="500"/>
              </a:spcAft>
            </a:pPr>
            <a:r>
              <a:rPr sz="950" b="0" i="0">
                <a:solidFill>
                  <a:srgbClr val="000000"/>
                </a:solidFill>
              </a:rPr>
              <a:t>Confirm critical role coverage, succession, recruiting priorities, and capability gaps.</a:t>
            </a:r>
          </a:p>
          <a:p>
            <a:pPr algn="l">
              <a:spcBef>
                <a:spcPts val="400"/>
              </a:spcBef>
              <a:spcAft>
                <a:spcPts val="500"/>
              </a:spcAft>
            </a:pPr>
            <a:r>
              <a:rPr sz="950" b="1" i="0">
                <a:solidFill>
                  <a:srgbClr val="000000"/>
                </a:solidFill>
              </a:rPr>
              <a:t>Execution &amp; Handoff</a:t>
            </a:r>
          </a:p>
          <a:p>
            <a:pPr algn="l">
              <a:spcAft>
                <a:spcPts val="500"/>
              </a:spcAft>
            </a:pPr>
            <a:r>
              <a:rPr sz="950" b="0" i="0">
                <a:solidFill>
                  <a:srgbClr val="000000"/>
                </a:solidFill>
              </a:rPr>
              <a:t>Complete transition activities and communications ahead of the 12/31 departure.</a:t>
            </a:r>
          </a:p>
        </p:txBody>
      </p:sp>
      <p:sp>
        <p:nvSpPr>
          <p:cNvPr id="11" name="Rounded Rectangle 10"/>
          <p:cNvSpPr/>
          <p:nvPr/>
        </p:nvSpPr>
        <p:spPr>
          <a:xfrm>
            <a:off x="457200" y="4631025"/>
            <a:ext cx="11277600" cy="618974"/>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500"/>
              </a:spcAft>
            </a:pPr>
            <a:r>
              <a:rPr sz="950" b="1" i="0">
                <a:solidFill>
                  <a:srgbClr val="000000"/>
                </a:solidFill>
              </a:rPr>
              <a:t>Extentia's Organic Revenue:</a:t>
            </a:r>
            <a:r>
              <a:rPr sz="950" b="0" i="0">
                <a:solidFill>
                  <a:srgbClr val="000000"/>
                </a:solidFill>
              </a:rPr>
              <a:t> Multi-market structure (US, ANZ, India, UK) and P&amp;L ownership need to be resolved for 2027 — likely a longer runway than the core transition timeline. Tracking separately so it doesn't block Phase 1 &amp; 2 progress.</a:t>
            </a:r>
          </a:p>
        </p:txBody>
      </p:sp>
      <p:sp>
        <p:nvSpPr>
          <p:cNvPr id="12" name="TextBox 11"/>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35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b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DGS Leadership Transition</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DGS LEADERSHIP TRANSITION</a:t>
            </a:r>
          </a:p>
        </p:txBody>
      </p:sp>
      <p:sp>
        <p:nvSpPr>
          <p:cNvPr id="7" name="TextBox 6"/>
          <p:cNvSpPr txBox="1"/>
          <p:nvPr/>
        </p:nvSpPr>
        <p:spPr>
          <a:xfrm>
            <a:off x="457200" y="1170000"/>
            <a:ext cx="11277600" cy="315595"/>
          </a:xfrm>
          <a:prstGeom prst="rect">
            <a:avLst/>
          </a:prstGeom>
          <a:noFill/>
        </p:spPr>
        <p:txBody>
          <a:bodyPr wrap="square" lIns="0" rIns="0" tIns="0" bIns="0">
            <a:spAutoFit/>
          </a:bodyPr>
          <a:lstStyle/>
          <a:p>
            <a:pPr algn="l">
              <a:spcAft>
                <a:spcPts val="500"/>
              </a:spcAft>
            </a:pPr>
            <a:r>
              <a:rPr sz="1250" b="0" i="0">
                <a:solidFill>
                  <a:srgbClr val="000000"/>
                </a:solidFill>
              </a:rPr>
              <a:t>Understanding Naazneen’s role and planning for the future</a:t>
            </a:r>
          </a:p>
        </p:txBody>
      </p:sp>
      <p:sp>
        <p:nvSpPr>
          <p:cNvPr id="8" name="Rounded Rectangle 7"/>
          <p:cNvSpPr/>
          <p:nvPr/>
        </p:nvSpPr>
        <p:spPr>
          <a:xfrm>
            <a:off x="457200" y="1595595"/>
            <a:ext cx="2706900" cy="480440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Mapping Naazneen</a:t>
            </a:r>
          </a:p>
          <a:p>
            <a:pPr algn="l">
              <a:spcAft>
                <a:spcPts val="500"/>
              </a:spcAft>
            </a:pPr>
            <a:r>
              <a:rPr sz="1300" b="0" i="0">
                <a:solidFill>
                  <a:srgbClr val="000000"/>
                </a:solidFill>
              </a:rPr>
              <a:t>Over the course of the trip </a:t>
            </a:r>
            <a:r>
              <a:rPr sz="1300" b="0" i="0">
                <a:solidFill>
                  <a:srgbClr val="000000"/>
                </a:solidFill>
              </a:rPr>
              <a:t>I completed more than 30 intake interviews across DGS team members.  We covered:</a:t>
            </a:r>
          </a:p>
          <a:p>
            <a:pPr algn="l" marL="171450" indent="-171450">
              <a:spcAft>
                <a:spcPts val="500"/>
              </a:spcAft>
              <a:buFont typeface="Arial"/>
              <a:buChar char="•"/>
            </a:pPr>
            <a:r>
              <a:rPr sz="1300" b="0" i="0">
                <a:solidFill>
                  <a:srgbClr val="000000"/>
                </a:solidFill>
              </a:rPr>
              <a:t>Our ways of working</a:t>
            </a:r>
          </a:p>
          <a:p>
            <a:pPr algn="l" marL="171450" indent="-171450">
              <a:spcAft>
                <a:spcPts val="500"/>
              </a:spcAft>
              <a:buFont typeface="Arial"/>
              <a:buChar char="•"/>
            </a:pPr>
            <a:r>
              <a:rPr sz="1300" b="0" i="0">
                <a:solidFill>
                  <a:srgbClr val="000000"/>
                </a:solidFill>
              </a:rPr>
              <a:t>How resources are identified</a:t>
            </a:r>
          </a:p>
          <a:p>
            <a:pPr algn="l" marL="171450" indent="-171450">
              <a:spcAft>
                <a:spcPts val="500"/>
              </a:spcAft>
              <a:buFont typeface="Arial"/>
              <a:buChar char="•"/>
            </a:pPr>
            <a:r>
              <a:rPr sz="1300" b="0" i="0">
                <a:solidFill>
                  <a:srgbClr val="000000"/>
                </a:solidFill>
              </a:rPr>
              <a:t>How the are trained and deployed</a:t>
            </a:r>
          </a:p>
          <a:p>
            <a:pPr algn="l" marL="171450" indent="-171450">
              <a:spcAft>
                <a:spcPts val="500"/>
              </a:spcAft>
              <a:buFont typeface="Arial"/>
              <a:buChar char="•"/>
            </a:pPr>
            <a:r>
              <a:rPr sz="1300" b="0" i="0">
                <a:solidFill>
                  <a:srgbClr val="000000"/>
                </a:solidFill>
              </a:rPr>
              <a:t>How the build their careers</a:t>
            </a:r>
          </a:p>
        </p:txBody>
      </p:sp>
      <p:sp>
        <p:nvSpPr>
          <p:cNvPr id="9" name="Rounded Rectangle 8"/>
          <p:cNvSpPr/>
          <p:nvPr/>
        </p:nvSpPr>
        <p:spPr>
          <a:xfrm>
            <a:off x="3314100" y="1595595"/>
            <a:ext cx="2706900" cy="480440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Understanding how they support CXM</a:t>
            </a:r>
          </a:p>
          <a:p>
            <a:pPr algn="l">
              <a:spcAft>
                <a:spcPts val="500"/>
              </a:spcAft>
            </a:pPr>
            <a:r>
              <a:rPr sz="1300" b="0" i="0">
                <a:solidFill>
                  <a:srgbClr val="000000"/>
                </a:solidFill>
              </a:rPr>
              <a:t>They view the US as a market, they don’t see the business units per se.  Which lead to conversations around:</a:t>
            </a:r>
          </a:p>
          <a:p>
            <a:pPr algn="l" marL="171450" indent="-171450">
              <a:spcAft>
                <a:spcPts val="500"/>
              </a:spcAft>
              <a:buFont typeface="Arial"/>
              <a:buChar char="•"/>
            </a:pPr>
            <a:r>
              <a:rPr sz="1300" b="0" i="0">
                <a:solidFill>
                  <a:srgbClr val="000000"/>
                </a:solidFill>
              </a:rPr>
              <a:t>They other markets and how they operate.</a:t>
            </a:r>
          </a:p>
          <a:p>
            <a:pPr algn="l" marL="171450" indent="-171450">
              <a:spcAft>
                <a:spcPts val="500"/>
              </a:spcAft>
              <a:buFont typeface="Arial"/>
              <a:buChar char="•"/>
            </a:pPr>
            <a:r>
              <a:rPr sz="1300" b="0" i="0">
                <a:solidFill>
                  <a:srgbClr val="000000"/>
                </a:solidFill>
              </a:rPr>
              <a:t>Organic projects beyond the markets</a:t>
            </a:r>
          </a:p>
          <a:p>
            <a:pPr algn="l" marL="171450" indent="-171450">
              <a:spcAft>
                <a:spcPts val="500"/>
              </a:spcAft>
              <a:buFont typeface="Arial"/>
              <a:buChar char="•"/>
            </a:pPr>
            <a:r>
              <a:rPr sz="1300" b="0" i="0">
                <a:solidFill>
                  <a:srgbClr val="000000"/>
                </a:solidFill>
              </a:rPr>
              <a:t>How they create craft communities</a:t>
            </a:r>
          </a:p>
        </p:txBody>
      </p:sp>
      <p:sp>
        <p:nvSpPr>
          <p:cNvPr id="10" name="Rounded Rectangle 9"/>
          <p:cNvSpPr/>
          <p:nvPr/>
        </p:nvSpPr>
        <p:spPr>
          <a:xfrm>
            <a:off x="6171000" y="1595595"/>
            <a:ext cx="2706900" cy="480440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An interim model</a:t>
            </a:r>
          </a:p>
          <a:p>
            <a:pPr algn="l">
              <a:spcAft>
                <a:spcPts val="500"/>
              </a:spcAft>
            </a:pPr>
            <a:r>
              <a:rPr sz="1300" b="0" i="0">
                <a:solidFill>
                  <a:srgbClr val="000000"/>
                </a:solidFill>
              </a:rPr>
              <a:t>Naazneen’s departure creates a sizable hole in the business, but she has a good team of lieutenants</a:t>
            </a:r>
            <a:r>
              <a:rPr sz="1300" b="0" i="0">
                <a:solidFill>
                  <a:srgbClr val="000000"/>
                </a:solidFill>
              </a:rPr>
              <a:t>.</a:t>
            </a:r>
          </a:p>
          <a:p>
            <a:pPr algn="l" marL="171450" indent="-171450">
              <a:spcAft>
                <a:spcPts val="500"/>
              </a:spcAft>
              <a:buFont typeface="Arial"/>
              <a:buChar char="•"/>
            </a:pPr>
            <a:r>
              <a:rPr sz="1300" b="0" i="0">
                <a:solidFill>
                  <a:srgbClr val="000000"/>
                </a:solidFill>
              </a:rPr>
              <a:t>An interim model leveraging her lieutenants has been identified</a:t>
            </a:r>
          </a:p>
          <a:p>
            <a:pPr algn="l" marL="171450" indent="-171450">
              <a:spcAft>
                <a:spcPts val="500"/>
              </a:spcAft>
              <a:buFont typeface="Arial"/>
              <a:buChar char="•"/>
            </a:pPr>
            <a:r>
              <a:rPr sz="1300" b="0" i="0">
                <a:solidFill>
                  <a:srgbClr val="000000"/>
                </a:solidFill>
              </a:rPr>
              <a:t>Ongoing interviews for Naaz’s backfill.</a:t>
            </a:r>
          </a:p>
          <a:p>
            <a:pPr algn="l" marL="171450" indent="-171450">
              <a:spcAft>
                <a:spcPts val="500"/>
              </a:spcAft>
              <a:buFont typeface="Arial"/>
              <a:buChar char="•"/>
            </a:pPr>
            <a:r>
              <a:rPr sz="1300" b="0" i="0">
                <a:solidFill>
                  <a:srgbClr val="000000"/>
                </a:solidFill>
              </a:rPr>
              <a:t>Could be sometime in Q1 before the role I filled</a:t>
            </a:r>
          </a:p>
        </p:txBody>
      </p:sp>
      <p:sp>
        <p:nvSpPr>
          <p:cNvPr id="11" name="Rounded Rectangle 10"/>
          <p:cNvSpPr/>
          <p:nvPr/>
        </p:nvSpPr>
        <p:spPr>
          <a:xfrm>
            <a:off x="9027900" y="1595595"/>
            <a:ext cx="2706900" cy="480440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Back to India</a:t>
            </a:r>
          </a:p>
          <a:p>
            <a:pPr algn="l">
              <a:spcAft>
                <a:spcPts val="500"/>
              </a:spcAft>
            </a:pPr>
            <a:r>
              <a:rPr sz="1300" b="0" i="0">
                <a:solidFill>
                  <a:srgbClr val="000000"/>
                </a:solidFill>
              </a:rPr>
              <a:t>In mid-November, we’ll make another trip to India.  This trip will include:</a:t>
            </a:r>
          </a:p>
          <a:p>
            <a:pPr algn="l" marL="171450" indent="-171450">
              <a:spcAft>
                <a:spcPts val="500"/>
              </a:spcAft>
              <a:buFont typeface="Arial"/>
              <a:buChar char="•"/>
            </a:pPr>
            <a:r>
              <a:rPr sz="1300" b="0" i="0">
                <a:solidFill>
                  <a:srgbClr val="000000"/>
                </a:solidFill>
              </a:rPr>
              <a:t>Key leaders from DBT, Missy and AO</a:t>
            </a:r>
          </a:p>
          <a:p>
            <a:pPr algn="l" marL="171450" indent="-171450">
              <a:spcAft>
                <a:spcPts val="500"/>
              </a:spcAft>
              <a:buFont typeface="Arial"/>
              <a:buChar char="•"/>
            </a:pPr>
            <a:r>
              <a:rPr sz="1300" b="0" i="0">
                <a:solidFill>
                  <a:srgbClr val="000000"/>
                </a:solidFill>
              </a:rPr>
              <a:t>Care and feeding of the team through the transition.</a:t>
            </a:r>
          </a:p>
          <a:p>
            <a:pPr algn="l" marL="171450" indent="-171450">
              <a:spcAft>
                <a:spcPts val="500"/>
              </a:spcAft>
              <a:buFont typeface="Arial"/>
              <a:buChar char="•"/>
            </a:pPr>
            <a:r>
              <a:rPr sz="1300" b="0" i="0">
                <a:solidFill>
                  <a:srgbClr val="000000"/>
                </a:solidFill>
              </a:rPr>
              <a:t>Building toward the future with our ways of working and staffing.</a:t>
            </a:r>
          </a:p>
        </p:txBody>
      </p:sp>
      <p:sp>
        <p:nvSpPr>
          <p:cNvPr id="12" name="TextBox 11"/>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36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800">
                <a:solidFill>
                  <a:srgbClr val="FFFFFF"/>
                </a:solidFill>
              </a:rPr>
              <a:t>Intake Updates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INTAKE UPDATES · ALREADY IN MOTION</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tlCol="0" anchor="ctr" rIns="120000">
            <a:noAutofit/>
          </a:bodyPr>
          <a:lstStyle/>
          <a:p>
            <a:r>
              <a:rPr lang="en-US" sz="1050" b="1">
                <a:solidFill>
                  <a:srgbClr val="FFFFFF"/>
                </a:solidFill>
                <a:cs typeface="+mn-cs"/>
              </a:rPr>
              <a:t>Owner(s)</a:t>
            </a:r>
          </a:p>
          <a:p>
            <a:r>
              <a:rPr lang="en-US" sz="900">
                <a:solidFill>
                  <a:srgbClr val="FFFFFF"/>
                </a:solidFill>
                <a:cs typeface="+mn-cs"/>
              </a:rPr>
              <a:t>Missy Foristall, McComas, Deana, John E.</a:t>
            </a:r>
          </a:p>
        </p:txBody>
      </p:sp>
      <p:sp>
        <p:nvSpPr>
          <p:cNvPr id="529" name="TextBox 528"/>
          <p:cNvSpPr txBox="1"/>
          <p:nvPr/>
        </p:nvSpPr>
        <p:spPr>
          <a:xfrm>
            <a:off x="457200" y="1170000"/>
            <a:ext cx="11277600" cy="315595"/>
          </a:xfrm>
          <a:prstGeom prst="rect">
            <a:avLst/>
          </a:prstGeom>
          <a:noFill/>
        </p:spPr>
        <p:txBody>
          <a:bodyPr wrap="square" lIns="0" rIns="0" tIns="0" bIns="0">
            <a:spAutoFit/>
          </a:bodyPr>
          <a:lstStyle/>
          <a:p>
            <a:pPr algn="l">
              <a:spcAft>
                <a:spcPts val="500"/>
              </a:spcAft>
            </a:pPr>
            <a:r>
              <a:rPr sz="1250" b="0" i="0">
                <a:solidFill>
                  <a:srgbClr val="000000"/>
                </a:solidFill>
              </a:rPr>
              <a:t>Upstream of Delivery Models — how a request even reaches the right people before it becomes a deal.</a:t>
            </a:r>
          </a:p>
        </p:txBody>
      </p:sp>
      <p:sp>
        <p:nvSpPr>
          <p:cNvPr id="530" name="Rounded Rectangle 529"/>
          <p:cNvSpPr/>
          <p:nvPr/>
        </p:nvSpPr>
        <p:spPr>
          <a:xfrm>
            <a:off x="457200" y="1595595"/>
            <a:ext cx="3659200" cy="2453484"/>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PHASE 1 · ✓ Alias Creation</a:t>
            </a:r>
          </a:p>
          <a:p>
            <a:pPr algn="l">
              <a:spcAft>
                <a:spcPts val="500"/>
              </a:spcAft>
            </a:pPr>
            <a:r>
              <a:rPr sz="1050" b="1" i="0">
                <a:solidFill>
                  <a:srgbClr val="000000"/>
                </a:solidFill>
              </a:rPr>
              <a:t>DDM_Opportunity@merkle.com</a:t>
            </a:r>
            <a:r>
              <a:rPr sz="1050" b="0" i="0">
                <a:solidFill>
                  <a:srgbClr val="000000"/>
                </a:solidFill>
              </a:rPr>
              <a:t> and </a:t>
            </a:r>
            <a:r>
              <a:rPr sz="1050" b="1" i="0">
                <a:solidFill>
                  <a:srgbClr val="000000"/>
                </a:solidFill>
              </a:rPr>
              <a:t>DBT_Opportunity@merkle.com</a:t>
            </a:r>
            <a:r>
              <a:rPr sz="1050" b="0" i="0">
                <a:solidFill>
                  <a:srgbClr val="000000"/>
                </a:solidFill>
              </a:rPr>
              <a:t> are live, so requests reach the right BU SMEs without needing to know a matrix of names.</a:t>
            </a:r>
          </a:p>
          <a:p>
            <a:pPr algn="l">
              <a:spcBef>
                <a:spcPts val="400"/>
              </a:spcBef>
              <a:spcAft>
                <a:spcPts val="500"/>
              </a:spcAft>
            </a:pPr>
            <a:r>
              <a:rPr sz="1050" b="1" i="0">
                <a:solidFill>
                  <a:srgbClr val="000000"/>
                </a:solidFill>
              </a:rPr>
              <a:t>What's behind the alias</a:t>
            </a:r>
          </a:p>
          <a:p>
            <a:pPr algn="l" marL="171450" indent="-171450">
              <a:spcAft>
                <a:spcPts val="500"/>
              </a:spcAft>
              <a:buFont typeface="Arial"/>
              <a:buChar char="•"/>
            </a:pPr>
            <a:r>
              <a:rPr sz="1050" b="0" i="0">
                <a:solidFill>
                  <a:srgbClr val="000000"/>
                </a:solidFill>
              </a:rPr>
              <a:t>Request is reviewed and assigned to a lead within the BU</a:t>
            </a:r>
          </a:p>
          <a:p>
            <a:pPr algn="l" marL="171450" indent="-171450">
              <a:spcAft>
                <a:spcPts val="500"/>
              </a:spcAft>
              <a:buFont typeface="Arial"/>
              <a:buChar char="•"/>
            </a:pPr>
            <a:r>
              <a:rPr sz="1050" b="0" i="0">
                <a:solidFill>
                  <a:srgbClr val="000000"/>
                </a:solidFill>
              </a:rPr>
              <a:t>Lead reaches out to gather more info, pulls in solutioning support, and ensures the request is handled — creds, calls, PT entry, etc.</a:t>
            </a:r>
          </a:p>
        </p:txBody>
      </p:sp>
      <p:sp>
        <p:nvSpPr>
          <p:cNvPr id="531" name="Rounded Rectangle 530"/>
          <p:cNvSpPr/>
          <p:nvPr/>
        </p:nvSpPr>
        <p:spPr>
          <a:xfrm>
            <a:off x="4266400" y="1595595"/>
            <a:ext cx="3659200" cy="2453484"/>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PHASE 1 · ✗ Adoption</a:t>
            </a:r>
          </a:p>
          <a:p>
            <a:pPr algn="l" marL="171450" indent="-171450">
              <a:spcAft>
                <a:spcPts val="500"/>
              </a:spcAft>
              <a:buFont typeface="Arial"/>
              <a:buChar char="•"/>
            </a:pPr>
            <a:r>
              <a:rPr sz="1300" b="0" i="0">
                <a:solidFill>
                  <a:srgbClr val="000000"/>
                </a:solidFill>
              </a:rPr>
              <a:t>C&amp;C has been informed of the alias and process</a:t>
            </a:r>
          </a:p>
          <a:p>
            <a:pPr algn="l" marL="171450" indent="-171450">
              <a:spcAft>
                <a:spcPts val="500"/>
              </a:spcAft>
              <a:buFont typeface="Arial"/>
              <a:buChar char="•"/>
            </a:pPr>
            <a:r>
              <a:rPr sz="1300" b="0" i="0">
                <a:solidFill>
                  <a:srgbClr val="000000"/>
                </a:solidFill>
              </a:rPr>
              <a:t>Adoption has been slow: People still go to known individuals for help, cutting into BU visibility and ability to help</a:t>
            </a:r>
          </a:p>
        </p:txBody>
      </p:sp>
      <p:sp>
        <p:nvSpPr>
          <p:cNvPr id="532" name="Rounded Rectangle 531"/>
          <p:cNvSpPr/>
          <p:nvPr/>
        </p:nvSpPr>
        <p:spPr>
          <a:xfrm>
            <a:off x="8075600" y="1595595"/>
            <a:ext cx="3659200" cy="2453484"/>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PHASE 1 · ! Leadership Ask</a:t>
            </a:r>
          </a:p>
          <a:p>
            <a:pPr algn="l" marL="171450" indent="-171450">
              <a:spcAft>
                <a:spcPts val="500"/>
              </a:spcAft>
              <a:buFont typeface="Arial"/>
              <a:buChar char="•"/>
            </a:pPr>
            <a:r>
              <a:rPr sz="1300" b="0" i="0">
                <a:solidFill>
                  <a:srgbClr val="000000"/>
                </a:solidFill>
              </a:rPr>
              <a:t>C&amp;C leadership support in redirecting request</a:t>
            </a:r>
          </a:p>
        </p:txBody>
      </p:sp>
      <p:sp>
        <p:nvSpPr>
          <p:cNvPr id="533" name="Rounded Rectangle 532"/>
          <p:cNvSpPr/>
          <p:nvPr/>
        </p:nvSpPr>
        <p:spPr>
          <a:xfrm>
            <a:off x="457200" y="4199079"/>
            <a:ext cx="5563800" cy="220092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PHASE 2 · SME Case Request in SF – 10/16 target launch date</a:t>
            </a:r>
          </a:p>
          <a:p>
            <a:pPr algn="l">
              <a:spcAft>
                <a:spcPts val="500"/>
              </a:spcAft>
            </a:pPr>
            <a:r>
              <a:rPr sz="900" b="0" i="0">
                <a:solidFill>
                  <a:srgbClr val="000000"/>
                </a:solidFill>
              </a:rPr>
              <a:t>Updating the existing tool to cover more scenarios:</a:t>
            </a:r>
          </a:p>
          <a:p>
            <a:pPr algn="l" marL="171450" indent="-171450">
              <a:spcAft>
                <a:spcPts val="500"/>
              </a:spcAft>
              <a:buFont typeface="Arial"/>
              <a:buChar char="•"/>
            </a:pPr>
            <a:r>
              <a:rPr sz="900" b="0" i="0">
                <a:solidFill>
                  <a:srgbClr val="000000"/>
                </a:solidFill>
              </a:rPr>
              <a:t>New pursuit or deals under $500k</a:t>
            </a:r>
          </a:p>
          <a:p>
            <a:pPr algn="l" marL="171450" indent="-171450">
              <a:spcAft>
                <a:spcPts val="500"/>
              </a:spcAft>
              <a:buFont typeface="Arial"/>
              <a:buChar char="•"/>
            </a:pPr>
            <a:r>
              <a:rPr sz="900" b="0" i="0">
                <a:solidFill>
                  <a:srgbClr val="000000"/>
                </a:solidFill>
              </a:rPr>
              <a:t>Ad-hoc client request for a small new project</a:t>
            </a:r>
          </a:p>
          <a:p>
            <a:pPr algn="l" marL="171450" indent="-171450">
              <a:spcAft>
                <a:spcPts val="500"/>
              </a:spcAft>
              <a:buFont typeface="Arial"/>
              <a:buChar char="•"/>
            </a:pPr>
            <a:r>
              <a:rPr sz="900" b="0" i="0">
                <a:solidFill>
                  <a:srgbClr val="000000"/>
                </a:solidFill>
              </a:rPr>
              <a:t>Sprints involving multiple people</a:t>
            </a:r>
          </a:p>
          <a:p>
            <a:pPr algn="l" marL="171450" indent="-171450">
              <a:spcAft>
                <a:spcPts val="500"/>
              </a:spcAft>
              <a:buFont typeface="Arial"/>
              <a:buChar char="•"/>
            </a:pPr>
            <a:r>
              <a:rPr sz="900" b="0" i="0">
                <a:solidFill>
                  <a:srgbClr val="000000"/>
                </a:solidFill>
              </a:rPr>
              <a:t>Client exec-level meetings needing decks and materials</a:t>
            </a:r>
          </a:p>
          <a:p>
            <a:pPr algn="l" marL="171450" indent="-171450">
              <a:spcAft>
                <a:spcPts val="500"/>
              </a:spcAft>
              <a:buFont typeface="Arial"/>
              <a:buChar char="•"/>
            </a:pPr>
            <a:r>
              <a:rPr sz="900" b="0" i="0">
                <a:solidFill>
                  <a:srgbClr val="000000"/>
                </a:solidFill>
              </a:rPr>
              <a:t>Case studies, capability decks, etc.</a:t>
            </a:r>
          </a:p>
          <a:p>
            <a:pPr algn="l">
              <a:spcAft>
                <a:spcPts val="500"/>
              </a:spcAft>
            </a:pPr>
            <a:r>
              <a:rPr sz="900" b="0" i="0">
                <a:solidFill>
                  <a:srgbClr val="000000"/>
                </a:solidFill>
              </a:rPr>
              <a:t>Requests get emailed to the right alias AND land in a list for easy review and follow-up.</a:t>
            </a:r>
          </a:p>
        </p:txBody>
      </p:sp>
      <p:sp>
        <p:nvSpPr>
          <p:cNvPr id="534" name="Rounded Rectangle 533"/>
          <p:cNvSpPr/>
          <p:nvPr/>
        </p:nvSpPr>
        <p:spPr>
          <a:xfrm>
            <a:off x="6171000" y="4199079"/>
            <a:ext cx="5563800" cy="220092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RACI Updates – 11/1 Estimated Rollout</a:t>
            </a:r>
          </a:p>
          <a:p>
            <a:pPr algn="l">
              <a:spcAft>
                <a:spcPts val="500"/>
              </a:spcAft>
            </a:pPr>
            <a:r>
              <a:rPr sz="1300" b="0" i="0">
                <a:solidFill>
                  <a:srgbClr val="000000"/>
                </a:solidFill>
              </a:rPr>
              <a:t>Underway, to clearly articulate roles and responsibilities for everyone involved in the intake process.</a:t>
            </a:r>
          </a:p>
        </p:txBody>
      </p:sp>
      <p:sp>
        <p:nvSpPr>
          <p:cNvPr id="535" name="TextBox 534"/>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38 · Delivery Excellence slide 17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b_div_ops.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731520"/>
            <a:ext cx="6583680" cy="3185986"/>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316736"/>
            <a:ext cx="6400800" cy="2194560"/>
          </a:xfrm>
        </p:spPr>
        <p:txBody>
          <a:bodyPr anchor="t"/>
          <a:lstStyle/>
          <a:p>
            <a:r>
              <a:rPr sz="4000"/>
              <a:t>Ops Transformation: Rebuild Scoping &amp; Staffing</a:t>
            </a:r>
          </a:p>
        </p:txBody>
      </p:sp>
      <p:sp>
        <p:nvSpPr>
          <p:cNvPr id="3" name="Text Placeholder 2"/>
          <p:cNvSpPr>
            <a:spLocks noGrp="1"/>
          </p:cNvSpPr>
          <p:nvPr>
            <p:ph type="body" idx="15" sz="quarter"/>
          </p:nvPr>
        </p:nvSpPr>
        <p:spPr>
          <a:xfrm>
            <a:off x="914400" y="932688"/>
            <a:ext cx="6400800" cy="292608"/>
          </a:xfrm>
        </p:spPr>
        <p:txBody>
          <a:bodyPr/>
          <a:lstStyle/>
          <a:p>
            <a:r>
              <a:t>PRIORITY</a:t>
            </a:r>
          </a:p>
        </p:txBody>
      </p:sp>
      <p:sp>
        <p:nvSpPr>
          <p:cNvPr id="7" name="TextBox 6"/>
          <p:cNvSpPr txBox="1"/>
          <p:nvPr/>
        </p:nvSpPr>
        <p:spPr>
          <a:xfrm>
            <a:off x="914400" y="2785936"/>
            <a:ext cx="5852160" cy="1097280"/>
          </a:xfrm>
          <a:prstGeom prst="rect">
            <a:avLst/>
          </a:prstGeom>
          <a:noFill/>
        </p:spPr>
        <p:txBody>
          <a:bodyPr wrap="square" lIns="0" rIns="0" tIns="0" bIns="0">
            <a:spAutoFit/>
          </a:bodyPr>
          <a:lstStyle/>
          <a:p>
            <a:pPr algn="l">
              <a:spcAft>
                <a:spcPts val="500"/>
              </a:spcAft>
            </a:pPr>
            <a:r>
              <a:rPr sz="1800" b="0" i="0">
                <a:solidFill>
                  <a:srgbClr val="FFFFFF"/>
                </a:solidFill>
              </a:rPr>
              <a:t>Deliverables go in, and a timeline and staffing plan come out, with AI doing real work and learning from what we deliver.</a:t>
            </a:r>
          </a:p>
        </p:txBody>
      </p:sp>
      <p:sp>
        <p:nvSpPr>
          <p:cNvPr id="9" name="TextBox 8"/>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Delivery Excellence kickoff slide 18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b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400">
                <a:solidFill>
                  <a:srgbClr val="FFFFFF"/>
                </a:solidFill>
              </a:rPr>
              <a:t>Ops Transformation: Rebuild Scoping &amp; Staffing</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OPS TRANSFORMATION</a:t>
            </a:r>
          </a:p>
        </p:txBody>
      </p:sp>
      <p:sp>
        <p:nvSpPr>
          <p:cNvPr id="7" name="TextBox 6"/>
          <p:cNvSpPr txBox="1"/>
          <p:nvPr/>
        </p:nvSpPr>
        <p:spPr>
          <a:xfrm>
            <a:off x="457200" y="1170000"/>
            <a:ext cx="11277600" cy="509270"/>
          </a:xfrm>
          <a:prstGeom prst="rect">
            <a:avLst/>
          </a:prstGeom>
          <a:noFill/>
        </p:spPr>
        <p:txBody>
          <a:bodyPr wrap="square" lIns="0" rIns="0" tIns="0" bIns="0">
            <a:spAutoFit/>
          </a:bodyPr>
          <a:lstStyle/>
          <a:p>
            <a:pPr algn="l">
              <a:spcAft>
                <a:spcPts val="500"/>
              </a:spcAft>
            </a:pPr>
            <a:r>
              <a:rPr sz="1250" b="0" i="0">
                <a:solidFill>
                  <a:srgbClr val="000000"/>
                </a:solidFill>
              </a:rPr>
              <a:t>Deliverables go in, and a timeline and staffing plan come out. AI does the real work of generating the plan, and gets smarter from what we actually deliver.</a:t>
            </a:r>
          </a:p>
        </p:txBody>
      </p:sp>
      <p:sp>
        <p:nvSpPr>
          <p:cNvPr id="8" name="Rounded Rectangle 7"/>
          <p:cNvSpPr/>
          <p:nvPr/>
        </p:nvSpPr>
        <p:spPr>
          <a:xfrm>
            <a:off x="457200" y="5840000"/>
            <a:ext cx="11277600" cy="56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900" b="1" i="0" cap="all" spc="100">
                <a:solidFill>
                  <a:srgbClr val="D6D6DF"/>
                </a:solidFill>
              </a:rPr>
              <a:t>Coming soon</a:t>
            </a:r>
          </a:p>
          <a:p>
            <a:pPr algn="l"/>
            <a:r>
              <a:rPr sz="1400" b="1" i="0">
                <a:solidFill>
                  <a:srgbClr val="FFFFFF"/>
                </a:solidFill>
              </a:rPr>
              <a:t>This is a new ask, and we are still working through it. More to come.</a:t>
            </a:r>
          </a:p>
        </p:txBody>
      </p:sp>
      <p:sp>
        <p:nvSpPr>
          <p:cNvPr id="9" name="Rounded Rectangle 8"/>
          <p:cNvSpPr/>
          <p:nvPr/>
        </p:nvSpPr>
        <p:spPr>
          <a:xfrm>
            <a:off x="457200" y="1789270"/>
            <a:ext cx="3659200" cy="22108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GOES IN</a:t>
            </a:r>
          </a:p>
          <a:p>
            <a:pPr algn="l">
              <a:spcBef>
                <a:spcPts val="400"/>
              </a:spcBef>
              <a:spcAft>
                <a:spcPts val="500"/>
              </a:spcAft>
            </a:pPr>
            <a:r>
              <a:rPr sz="1300" b="1" i="0">
                <a:solidFill>
                  <a:srgbClr val="000000"/>
                </a:solidFill>
              </a:rPr>
              <a:t>Deliverables</a:t>
            </a:r>
          </a:p>
        </p:txBody>
      </p:sp>
      <p:sp>
        <p:nvSpPr>
          <p:cNvPr id="10" name="Rounded Rectangle 9"/>
          <p:cNvSpPr/>
          <p:nvPr/>
        </p:nvSpPr>
        <p:spPr>
          <a:xfrm>
            <a:off x="4266400" y="1789270"/>
            <a:ext cx="3659200" cy="2210866"/>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AI DOES THE REAL WORK</a:t>
            </a:r>
          </a:p>
          <a:p>
            <a:pPr algn="l">
              <a:spcBef>
                <a:spcPts val="400"/>
              </a:spcBef>
              <a:spcAft>
                <a:spcPts val="500"/>
              </a:spcAft>
            </a:pPr>
            <a:r>
              <a:rPr sz="1300" b="1" i="0">
                <a:solidFill>
                  <a:srgbClr val="FFFFFF"/>
                </a:solidFill>
              </a:rPr>
              <a:t>Generating the plan</a:t>
            </a:r>
          </a:p>
        </p:txBody>
      </p:sp>
      <p:sp>
        <p:nvSpPr>
          <p:cNvPr id="11" name="Rounded Rectangle 10"/>
          <p:cNvSpPr/>
          <p:nvPr/>
        </p:nvSpPr>
        <p:spPr>
          <a:xfrm>
            <a:off x="8075600" y="1789270"/>
            <a:ext cx="3659200" cy="22108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COMES OUT</a:t>
            </a:r>
          </a:p>
          <a:p>
            <a:pPr algn="l">
              <a:spcBef>
                <a:spcPts val="400"/>
              </a:spcBef>
              <a:spcAft>
                <a:spcPts val="500"/>
              </a:spcAft>
            </a:pPr>
            <a:r>
              <a:rPr sz="1300" b="1" i="0">
                <a:solidFill>
                  <a:srgbClr val="000000"/>
                </a:solidFill>
              </a:rPr>
              <a:t>Timeline + staffing plan</a:t>
            </a:r>
          </a:p>
        </p:txBody>
      </p:sp>
      <p:sp>
        <p:nvSpPr>
          <p:cNvPr id="12" name="TextBox 11"/>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Delivery Excellence kickoff slide 19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b_div_early.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731520"/>
            <a:ext cx="6583680" cy="2900236"/>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316736"/>
            <a:ext cx="6400800" cy="2194560"/>
          </a:xfrm>
        </p:spPr>
        <p:txBody>
          <a:bodyPr anchor="t"/>
          <a:lstStyle/>
          <a:p>
            <a:r>
              <a:rPr sz="4000"/>
              <a:t>Earlier Delivery &amp; Talent in Pursuits</a:t>
            </a:r>
          </a:p>
        </p:txBody>
      </p:sp>
      <p:sp>
        <p:nvSpPr>
          <p:cNvPr id="3" name="Text Placeholder 2"/>
          <p:cNvSpPr>
            <a:spLocks noGrp="1"/>
          </p:cNvSpPr>
          <p:nvPr>
            <p:ph type="body" idx="15" sz="quarter"/>
          </p:nvPr>
        </p:nvSpPr>
        <p:spPr>
          <a:xfrm>
            <a:off x="914400" y="932688"/>
            <a:ext cx="6400800" cy="292608"/>
          </a:xfrm>
        </p:spPr>
        <p:txBody>
          <a:bodyPr/>
          <a:lstStyle/>
          <a:p>
            <a:r>
              <a:t>PRIORITY</a:t>
            </a:r>
          </a:p>
        </p:txBody>
      </p:sp>
      <p:sp>
        <p:nvSpPr>
          <p:cNvPr id="7" name="TextBox 6"/>
          <p:cNvSpPr txBox="1"/>
          <p:nvPr/>
        </p:nvSpPr>
        <p:spPr>
          <a:xfrm>
            <a:off x="914400" y="2785936"/>
            <a:ext cx="5852160" cy="1097280"/>
          </a:xfrm>
          <a:prstGeom prst="rect">
            <a:avLst/>
          </a:prstGeom>
          <a:noFill/>
        </p:spPr>
        <p:txBody>
          <a:bodyPr wrap="square" lIns="0" rIns="0" tIns="0" bIns="0">
            <a:spAutoFit/>
          </a:bodyPr>
          <a:lstStyle/>
          <a:p>
            <a:pPr algn="l">
              <a:spcAft>
                <a:spcPts val="500"/>
              </a:spcAft>
            </a:pPr>
            <a:r>
              <a:rPr sz="1800" b="0" i="0">
                <a:solidFill>
                  <a:srgbClr val="FFFFFF"/>
                </a:solidFill>
              </a:rPr>
              <a:t>Bring SME expertise into upfront deal evaluation to lift our win rate on the deals we already capture.</a:t>
            </a:r>
          </a:p>
        </p:txBody>
      </p:sp>
      <p:sp>
        <p:nvSpPr>
          <p:cNvPr id="9" name="TextBox 8"/>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Delivery Excellence kickoff slide 20 · All Hands slide 39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b_hero_earl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11000000" cy="560000"/>
          </a:xfrm>
        </p:spPr>
        <p:txBody>
          <a:bodyPr/>
          <a:lstStyle/>
          <a:p>
            <a:r>
              <a:rPr sz="2400">
                <a:solidFill>
                  <a:srgbClr val="FFFFFF"/>
                </a:solidFill>
              </a:rPr>
              <a:t>Earlier delivery and talent involvement in major pursuits</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DELIVERY EXCELLENCE – QUICK WIN – DDM EXAMPLE</a:t>
            </a:r>
          </a:p>
        </p:txBody>
      </p:sp>
      <p:sp>
        <p:nvSpPr>
          <p:cNvPr id="7" name="TextBox 6"/>
          <p:cNvSpPr txBox="1"/>
          <p:nvPr/>
        </p:nvSpPr>
        <p:spPr>
          <a:xfrm>
            <a:off x="457200" y="1170000"/>
            <a:ext cx="11277600" cy="509270"/>
          </a:xfrm>
          <a:prstGeom prst="rect">
            <a:avLst/>
          </a:prstGeom>
          <a:noFill/>
        </p:spPr>
        <p:txBody>
          <a:bodyPr wrap="square" lIns="0" rIns="0" tIns="0" bIns="0">
            <a:spAutoFit/>
          </a:bodyPr>
          <a:lstStyle/>
          <a:p>
            <a:pPr algn="l">
              <a:spcAft>
                <a:spcPts val="500"/>
              </a:spcAft>
            </a:pPr>
            <a:r>
              <a:rPr sz="1250" b="1" i="0">
                <a:solidFill>
                  <a:srgbClr val="000000"/>
                </a:solidFill>
              </a:rPr>
              <a:t>Why this one, now:</a:t>
            </a:r>
            <a:r>
              <a:rPr sz="1250" b="0" i="0">
                <a:solidFill>
                  <a:srgbClr val="000000"/>
                </a:solidFill>
              </a:rPr>
              <a:t> By bringing SME expertise into upfront deal evaluation, we can increase our win rate on the deal volume we're already capturing. Quick execution is essential to drive Q4 and 2027 revenue.</a:t>
            </a:r>
          </a:p>
        </p:txBody>
      </p:sp>
      <p:sp>
        <p:nvSpPr>
          <p:cNvPr id="8" name="Rounded Rectangle 7"/>
          <p:cNvSpPr/>
          <p:nvPr/>
        </p:nvSpPr>
        <p:spPr>
          <a:xfrm>
            <a:off x="457200" y="5090000"/>
            <a:ext cx="11277600" cy="131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1400" b="1" i="0">
                <a:solidFill>
                  <a:srgbClr val="FFFFFF"/>
                </a:solidFill>
              </a:rPr>
              <a:t>The Key Takeaway: Without clear roles tied to supporting pitch and pursuit, we continue to pull delivery resources that are fully allocated into conversations that they can't give the appropriate attention to. This will continue to be a problem until we get the right skillsets with the right availability identified and in place.</a:t>
            </a:r>
          </a:p>
        </p:txBody>
      </p:sp>
      <p:sp>
        <p:nvSpPr>
          <p:cNvPr id="9" name="Rounded Rectangle 8"/>
          <p:cNvSpPr/>
          <p:nvPr/>
        </p:nvSpPr>
        <p:spPr>
          <a:xfrm>
            <a:off x="457200" y="1789270"/>
            <a:ext cx="5563800" cy="3210729"/>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500"/>
              </a:spcAft>
            </a:pPr>
            <a:r>
              <a:rPr sz="1300" b="1" i="0">
                <a:solidFill>
                  <a:srgbClr val="000000"/>
                </a:solidFill>
              </a:rPr>
              <a:t>PHASE 1 · Planning and Discovery: Now – 10/30</a:t>
            </a:r>
          </a:p>
          <a:p>
            <a:pPr algn="l">
              <a:spcBef>
                <a:spcPts val="400"/>
              </a:spcBef>
              <a:spcAft>
                <a:spcPts val="500"/>
              </a:spcAft>
            </a:pPr>
            <a:r>
              <a:rPr sz="1300" b="1" i="0">
                <a:solidFill>
                  <a:srgbClr val="000000"/>
                </a:solidFill>
              </a:rPr>
              <a:t>Define Roles Needed</a:t>
            </a:r>
          </a:p>
          <a:p>
            <a:pPr algn="l">
              <a:spcAft>
                <a:spcPts val="500"/>
              </a:spcAft>
            </a:pPr>
            <a:r>
              <a:rPr sz="1300" b="0" i="0">
                <a:solidFill>
                  <a:srgbClr val="000000"/>
                </a:solidFill>
              </a:rPr>
              <a:t>Determine the specific roles need for pursuit support (alliance partner, skillset) along with allocations, roles and responsibilities</a:t>
            </a:r>
          </a:p>
          <a:p>
            <a:pPr algn="l">
              <a:spcBef>
                <a:spcPts val="400"/>
              </a:spcBef>
              <a:spcAft>
                <a:spcPts val="500"/>
              </a:spcAft>
            </a:pPr>
            <a:r>
              <a:rPr sz="1300" b="1" i="0">
                <a:solidFill>
                  <a:srgbClr val="000000"/>
                </a:solidFill>
              </a:rPr>
              <a:t>Clarify if Internal or External Moves</a:t>
            </a:r>
          </a:p>
          <a:p>
            <a:pPr algn="l">
              <a:spcAft>
                <a:spcPts val="500"/>
              </a:spcAft>
            </a:pPr>
            <a:r>
              <a:rPr sz="1300" b="0" i="0">
                <a:solidFill>
                  <a:srgbClr val="000000"/>
                </a:solidFill>
              </a:rPr>
              <a:t>Review existing team roster to see who can move to these new roles and where we need to hire</a:t>
            </a:r>
          </a:p>
          <a:p>
            <a:pPr algn="l">
              <a:spcBef>
                <a:spcPts val="400"/>
              </a:spcBef>
              <a:spcAft>
                <a:spcPts val="500"/>
              </a:spcAft>
            </a:pPr>
            <a:r>
              <a:rPr sz="1300" b="1" i="0">
                <a:solidFill>
                  <a:srgbClr val="000000"/>
                </a:solidFill>
              </a:rPr>
              <a:t>Update Existing Org Structure</a:t>
            </a:r>
          </a:p>
          <a:p>
            <a:pPr algn="l">
              <a:spcAft>
                <a:spcPts val="500"/>
              </a:spcAft>
            </a:pPr>
            <a:r>
              <a:rPr sz="1300" b="0" i="0">
                <a:solidFill>
                  <a:srgbClr val="000000"/>
                </a:solidFill>
              </a:rPr>
              <a:t>Update the existing org structure (as needed) to best support these roles and the pursuits</a:t>
            </a:r>
          </a:p>
        </p:txBody>
      </p:sp>
      <p:sp>
        <p:nvSpPr>
          <p:cNvPr id="10" name="Rounded Rectangle 9"/>
          <p:cNvSpPr/>
          <p:nvPr/>
        </p:nvSpPr>
        <p:spPr>
          <a:xfrm>
            <a:off x="6171000" y="1789270"/>
            <a:ext cx="5563800" cy="3210729"/>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Bef>
                <a:spcPts val="400"/>
              </a:spcBef>
              <a:spcAft>
                <a:spcPts val="500"/>
              </a:spcAft>
            </a:pPr>
            <a:r>
              <a:rPr sz="1300" b="1" i="0">
                <a:solidFill>
                  <a:srgbClr val="000000"/>
                </a:solidFill>
              </a:rPr>
              <a:t>PHASE 2 · Execution on Changes: 11/2 – 12/24</a:t>
            </a:r>
          </a:p>
          <a:p>
            <a:pPr algn="l">
              <a:spcBef>
                <a:spcPts val="400"/>
              </a:spcBef>
              <a:spcAft>
                <a:spcPts val="500"/>
              </a:spcAft>
            </a:pPr>
            <a:r>
              <a:rPr sz="1300" b="1" i="0">
                <a:solidFill>
                  <a:srgbClr val="000000"/>
                </a:solidFill>
              </a:rPr>
              <a:t>Open Reqs</a:t>
            </a:r>
          </a:p>
          <a:p>
            <a:pPr algn="l">
              <a:spcAft>
                <a:spcPts val="500"/>
              </a:spcAft>
            </a:pPr>
            <a:r>
              <a:rPr sz="1300" b="0" i="0">
                <a:solidFill>
                  <a:srgbClr val="000000"/>
                </a:solidFill>
              </a:rPr>
              <a:t>Once aligned on the needs, prioritize needs and open reqs for the first set of new roles (or for backfills, if moving existing people into the new roles)</a:t>
            </a:r>
          </a:p>
          <a:p>
            <a:pPr algn="l">
              <a:spcBef>
                <a:spcPts val="400"/>
              </a:spcBef>
              <a:spcAft>
                <a:spcPts val="500"/>
              </a:spcAft>
            </a:pPr>
            <a:r>
              <a:rPr sz="1300" b="1" i="0">
                <a:solidFill>
                  <a:srgbClr val="000000"/>
                </a:solidFill>
              </a:rPr>
              <a:t>Create Transition Plan</a:t>
            </a:r>
          </a:p>
          <a:p>
            <a:pPr algn="l">
              <a:spcAft>
                <a:spcPts val="500"/>
              </a:spcAft>
            </a:pPr>
            <a:r>
              <a:rPr sz="1300" b="0" i="0">
                <a:solidFill>
                  <a:srgbClr val="000000"/>
                </a:solidFill>
              </a:rPr>
              <a:t>Identify any accounts that need to move to allow people to switch to a new role and create a 30/60 day transition plan</a:t>
            </a:r>
          </a:p>
        </p:txBody>
      </p:sp>
      <p:sp>
        <p:nvSpPr>
          <p:cNvPr id="11" name="TextBox 10"/>
          <p:cNvSpPr txBox="1"/>
          <p:nvPr/>
        </p:nvSpPr>
        <p:spPr>
          <a:xfrm>
            <a:off x="1051560" y="6492240"/>
            <a:ext cx="8686800" cy="201168"/>
          </a:xfrm>
          <a:prstGeom prst="rect">
            <a:avLst/>
          </a:prstGeom>
          <a:noFill/>
        </p:spPr>
        <p:txBody>
          <a:bodyPr wrap="none" lIns="0" rIns="0" tIns="0" bIns="0">
            <a:spAutoFit/>
          </a:bodyPr>
          <a:lstStyle/>
          <a:p>
            <a:r>
              <a:rPr sz="800" b="0" i="0">
                <a:solidFill>
                  <a:srgbClr val="60607D"/>
                </a:solidFill>
              </a:rPr>
              <a:t>Source: All Hands slide 40 · Delivery Excellence slide 21</a:t>
            </a:r>
          </a:p>
        </p:txBody>
      </p:sp>
    </p:spTree>
  </p:cSld>
  <p:clrMapOvr>
    <a:masterClrMapping/>
  </p:clrMapOvr>
</p:sld>
</file>

<file path=ppt/theme/theme1.xml><?xml version="1.0" encoding="utf-8"?>
<a:theme xmlns:a="http://schemas.openxmlformats.org/drawingml/2006/main" name="COLLABORATIVE WIREFRAME - 2025">
  <a:themeElements>
    <a:clrScheme name="Merkle_2025_v2">
      <a:dk1>
        <a:srgbClr val="FFFFFF"/>
      </a:dk1>
      <a:lt1>
        <a:srgbClr val="000000"/>
      </a:lt1>
      <a:dk2>
        <a:srgbClr val="D6D6DF"/>
      </a:dk2>
      <a:lt2>
        <a:srgbClr val="8888A1"/>
      </a:lt2>
      <a:accent1>
        <a:srgbClr val="040E4B"/>
      </a:accent1>
      <a:accent2>
        <a:srgbClr val="0391F2"/>
      </a:accent2>
      <a:accent3>
        <a:srgbClr val="031FA3"/>
      </a:accent3>
      <a:accent4>
        <a:srgbClr val="0328D1"/>
      </a:accent4>
      <a:accent5>
        <a:srgbClr val="60607D"/>
      </a:accent5>
      <a:accent6>
        <a:srgbClr val="DD3038"/>
      </a:accent6>
      <a:hlink>
        <a:srgbClr val="0228D0"/>
      </a:hlink>
      <a:folHlink>
        <a:srgbClr val="0291F1"/>
      </a:folHlink>
    </a:clrScheme>
    <a:fontScheme name="Proxima test">
      <a:majorFont>
        <a:latin typeface="Proxima Nova"/>
        <a:ea typeface=""/>
        <a:cs typeface=""/>
      </a:majorFont>
      <a:minorFont>
        <a:latin typeface="Proxima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noFill/>
        </a:ln>
      </a:spPr>
      <a:bodyPr rtlCol="0" anchor="ctr">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Autofit/>
      </a:bodyPr>
      <a:lstStyle>
        <a:defPPr algn="l">
          <a:spcAft>
            <a:spcPts val="600"/>
          </a:spcAft>
          <a:defRPr sz="1400" dirty="0" smtClean="0"/>
        </a:defPPr>
      </a:lstStyle>
    </a:txDef>
  </a:objectDefaults>
  <a:extraClrSchemeLst/>
  <a:custClrLst>
    <a:custClr name="Deep Blue">
      <a:srgbClr val="000033"/>
    </a:custClr>
    <a:custClr name="Merkle Blue">
      <a:srgbClr val="040E4B"/>
    </a:custClr>
    <a:custClr name="Gulf Blue">
      <a:srgbClr val="041677"/>
    </a:custClr>
    <a:custClr name="Klein">
      <a:srgbClr val="031FA4"/>
    </a:custClr>
    <a:custClr name="Cobalt">
      <a:srgbClr val="0328D1"/>
    </a:custClr>
    <a:custClr name="Sky Blue">
      <a:srgbClr val="0391F2"/>
    </a:custClr>
    <a:custClr name="White">
      <a:srgbClr val="FFFFFF"/>
    </a:custClr>
    <a:custClr name="White">
      <a:srgbClr val="FFFFFF"/>
    </a:custClr>
    <a:custClr name="White">
      <a:srgbClr val="FFFFFF"/>
    </a:custClr>
    <a:custClr name="White">
      <a:srgbClr val="FFFFFF"/>
    </a:custClr>
    <a:custClr name="Dark Gray Tint">
      <a:srgbClr val="8888A1"/>
    </a:custClr>
    <a:custClr name="Mid Gray">
      <a:srgbClr val="AEAEBC"/>
    </a:custClr>
    <a:custClr name="Mid Gray Tint">
      <a:srgbClr val="D6D6DF"/>
    </a:custClr>
    <a:custClr name="Light Gray">
      <a:srgbClr val="E5E5E9"/>
    </a:custClr>
    <a:custClr name="Light Gray Tint">
      <a:srgbClr val="F2F2F4"/>
    </a:custClr>
    <a:custClr name="White">
      <a:srgbClr val="FFFFFF"/>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Merkle_PPT_Template" id="{809271C0-2DF5-1D43-9E86-284BC87CAAF5}" vid="{7B0BB988-4564-F949-B1EE-E7D59515E6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3.xml><?xml version="1.0" encoding="utf-8"?>
<TemplafySlideFormConfiguration><![CDATA[{"formFields":[],"formDataEntries":[]}]]></TemplafySlideFormConfiguration>
</file>

<file path=customXml/item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5.xml><?xml version="1.0" encoding="utf-8"?>
<TemplafySlideFormConfiguration><![CDATA[{"formFields":[],"formDataEntries":[]}]]></TemplafySlideFormConfiguration>
</file>

<file path=customXml/item6.xml><?xml version="1.0" encoding="utf-8"?>
<?mso-contentType ?>
<FormTemplates xmlns="http://schemas.microsoft.com/sharepoint/v3/contenttype/forms">
  <Display>DocumentLibraryForm</Display>
  <Edit>DocumentLibraryForm</Edit>
  <New>DocumentLibraryForm</New>
</FormTemplates>
</file>

<file path=customXml/item7.xml><?xml version="1.0" encoding="utf-8"?>
<ct:contentTypeSchema xmlns:ct="http://schemas.microsoft.com/office/2006/metadata/contentType" xmlns:ma="http://schemas.microsoft.com/office/2006/metadata/properties/metaAttributes" ct:_="" ma:_="" ma:contentTypeName="Document" ma:contentTypeID="0x0101000E03A52DFF83D84488E93803DDBB9CF7" ma:contentTypeVersion="3" ma:contentTypeDescription="Create a new document." ma:contentTypeScope="" ma:versionID="7183402d5426fb7fa40a57754f8987a7">
  <xsd:schema xmlns:xsd="http://www.w3.org/2001/XMLSchema" xmlns:xs="http://www.w3.org/2001/XMLSchema" xmlns:p="http://schemas.microsoft.com/office/2006/metadata/properties" xmlns:ns2="ffd69ccd-669e-4a1a-b9ff-a607e277eb6b" targetNamespace="http://schemas.microsoft.com/office/2006/metadata/properties" ma:root="true" ma:fieldsID="fce94913ec708fae3ad90612dc7fd3f5" ns2:_="">
    <xsd:import namespace="ffd69ccd-669e-4a1a-b9ff-a607e277eb6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d69ccd-669e-4a1a-b9ff-a607e277e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8.xml><?xml version="1.0" encoding="utf-8"?>
<TemplafySlideFormConfiguration><![CDATA[{"formFields":[],"formDataEntries":[]}]]></TemplafySlideFormConfiguration>
</file>

<file path=customXml/item9.xml><?xml version="1.0" encoding="utf-8"?>
<TemplafySlideFormConfiguration><![CDATA[{"formFields":[],"formDataEntries":[]}]]></TemplafySlideFormConfiguration>
</file>

<file path=customXml/item10.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3.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5.xml><?xml version="1.0" encoding="utf-8"?>
<TemplafySlideFormConfiguration><![CDATA[{"formFields":[],"formDataEntries":[]}]]></TemplafySlideFormConfiguration>
</file>

<file path=customXml/itemProps1.xml><?xml version="1.0" encoding="utf-8"?>
<ds:datastoreItem xmlns:ds="http://schemas.openxmlformats.org/officeDocument/2006/customXml" ds:itemID="{32C947A3-4CBF-434C-A709-03C12B0F1660}">
  <ds:schemaRefs>
    <ds:schemaRef ds:uri="http://www.w3.org/XML/1998/namespace"/>
    <ds:schemaRef ds:uri="http://schemas.microsoft.com/office/infopath/2007/PartnerControls"/>
    <ds:schemaRef ds:uri="http://schemas.microsoft.com/office/2006/documentManagement/types"/>
    <ds:schemaRef ds:uri="http://schemas.openxmlformats.org/package/2006/metadata/core-properties"/>
    <ds:schemaRef ds:uri="http://purl.org/dc/terms/"/>
    <ds:schemaRef ds:uri="http://purl.org/dc/elements/1.1/"/>
    <ds:schemaRef ds:uri="ffd69ccd-669e-4a1a-b9ff-a607e277eb6b"/>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1C2D6E68-51DB-4BFD-88E4-E31D99A1A821}">
  <ds:schemaRefs/>
</ds:datastoreItem>
</file>

<file path=customXml/itemProps3.xml><?xml version="1.0" encoding="utf-8"?>
<ds:datastoreItem xmlns:ds="http://schemas.openxmlformats.org/officeDocument/2006/customXml" ds:itemID="{3A934794-B7B9-40A5-BC3E-83474445FB2C}">
  <ds:schemaRefs/>
</ds:datastoreItem>
</file>

<file path=customXml/itemProps4.xml><?xml version="1.0" encoding="utf-8"?>
<ds:datastoreItem xmlns:ds="http://schemas.openxmlformats.org/officeDocument/2006/customXml" ds:itemID="{A48A09DB-9412-4CC5-853B-30DF5312F164}">
  <ds:schemaRefs/>
</ds:datastoreItem>
</file>

<file path=customXml/itemProps5.xml><?xml version="1.0" encoding="utf-8"?>
<ds:datastoreItem xmlns:ds="http://schemas.openxmlformats.org/officeDocument/2006/customXml" ds:itemID="{8ED5A302-E581-4954-9104-07BBB2BA16EA}">
  <ds:schemaRefs/>
</ds:datastoreItem>
</file>

<file path=customXml/itemProps6.xml><?xml version="1.0" encoding="utf-8"?>
<ds:datastoreItem xmlns:ds="http://schemas.openxmlformats.org/officeDocument/2006/customXml" ds:itemID="{55D39E11-1D25-4CE1-BD32-66A872E6EE8D}">
  <ds:schemaRefs>
    <ds:schemaRef ds:uri="http://schemas.microsoft.com/sharepoint/v3/contenttype/forms"/>
  </ds:schemaRefs>
</ds:datastoreItem>
</file>

<file path=customXml/itemProps7.xml><?xml version="1.0" encoding="utf-8"?>
<ds:datastoreItem xmlns:ds="http://schemas.openxmlformats.org/officeDocument/2006/customXml" ds:itemID="{2583E5A3-4B69-4BD6-9BC5-33CDB10B0E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d69ccd-669e-4a1a-b9ff-a607e277eb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8.xml><?xml version="1.0" encoding="utf-8"?>
<ds:datastoreItem xmlns:ds="http://schemas.openxmlformats.org/officeDocument/2006/customXml" ds:itemID="{C978122E-4CF7-4DAF-A638-3228CFE4D0E4}">
  <ds:schemaRefs/>
</ds:datastoreItem>
</file>

<file path=customXml/itemProps9.xml><?xml version="1.0" encoding="utf-8"?>
<ds:datastoreItem xmlns:ds="http://schemas.openxmlformats.org/officeDocument/2006/customXml" ds:itemID="{641488FD-1F5F-4710-8EC0-17A522704CC6}">
  <ds:schemaRefs/>
</ds:datastoreItem>
</file>

<file path=customXml/itemProps10.xml><?xml version="1.0" encoding="utf-8"?>
<ds:datastoreItem xmlns:ds="http://schemas.openxmlformats.org/officeDocument/2006/customXml" ds:itemID="{B82A8263-E571-43F3-9E91-8424F188A071}">
  <ds:schemaRefs/>
</ds:datastoreItem>
</file>

<file path=customXml/itemProps11.xml><?xml version="1.0" encoding="utf-8"?>
<ds:datastoreItem xmlns:ds="http://schemas.openxmlformats.org/officeDocument/2006/customXml" ds:itemID="{D19811AB-F04C-4CB1-906B-120DD81CEC00}">
  <ds:schemaRefs/>
</ds:datastoreItem>
</file>

<file path=customXml/itemProps12.xml><?xml version="1.0" encoding="utf-8"?>
<ds:datastoreItem xmlns:ds="http://schemas.openxmlformats.org/officeDocument/2006/customXml" ds:itemID="{C45642DC-9A5F-4645-ADA4-4C9C3418D003}">
  <ds:schemaRefs/>
</ds:datastoreItem>
</file>

<file path=customXml/itemProps13.xml><?xml version="1.0" encoding="utf-8"?>
<ds:datastoreItem xmlns:ds="http://schemas.openxmlformats.org/officeDocument/2006/customXml" ds:itemID="{4D8D6E3D-6D95-4645-9B5B-00A02728EFE6}">
  <ds:schemaRefs/>
</ds:datastoreItem>
</file>

<file path=customXml/itemProps14.xml><?xml version="1.0" encoding="utf-8"?>
<ds:datastoreItem xmlns:ds="http://schemas.openxmlformats.org/officeDocument/2006/customXml" ds:itemID="{7175AA37-2E84-4AD4-A69B-19A9990FFAFF}">
  <ds:schemaRefs/>
</ds:datastoreItem>
</file>

<file path=customXml/itemProps15.xml><?xml version="1.0" encoding="utf-8"?>
<ds:datastoreItem xmlns:ds="http://schemas.openxmlformats.org/officeDocument/2006/customXml" ds:itemID="{E15543A8-80BA-4997-B7AD-F61A4B2E048D}">
  <ds:schemaRefs/>
</ds:datastoreItem>
</file>

<file path=docMetadata/LabelInfo.xml><?xml version="1.0" encoding="utf-8"?>
<clbl:labelList xmlns:clbl="http://schemas.microsoft.com/office/2020/mipLabelMetadata">
  <clbl:label id="{6e8992ec-76d5-4ea5-8eae-b0c5e558749a}" enabled="0" method="" siteId="{6e8992ec-76d5-4ea5-8eae-b0c5e558749a}" removed="1"/>
</clbl:labelList>
</file>

<file path=docProps/app.xml><?xml version="1.0" encoding="utf-8"?>
<Properties xmlns="http://schemas.openxmlformats.org/officeDocument/2006/extended-properties" xmlns:vt="http://schemas.openxmlformats.org/officeDocument/2006/docPropsVTypes">
  <Template>COLLABORATIVE WIREFRAME - 2025</Template>
  <TotalTime>1006</TotalTime>
  <Words>2141</Words>
  <Application>Microsoft Office PowerPoint</Application>
  <PresentationFormat>Widescreen</PresentationFormat>
  <Paragraphs>168</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Aptos</vt:lpstr>
      <vt:lpstr>Proxima Nova</vt:lpstr>
      <vt:lpstr>COLLABORATIVE WIREFRAME - 2025</vt:lpstr>
      <vt:lpstr>Play to Win</vt:lpstr>
      <vt:lpstr>B2B Growth Platform</vt:lpstr>
      <vt:lpstr>Deal to Delivery Playbook: Context</vt:lpstr>
      <vt:lpstr>Deal to Delivery Playbook: Update</vt:lpstr>
      <vt:lpstr>Accountability Framework: Context</vt:lpstr>
      <vt:lpstr>Accountability Framework: Update</vt:lpstr>
      <vt:lpstr>Intake Updates: Context</vt:lpstr>
      <vt:lpstr>Intake Updates: Update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Samantha O'Neil</dc:creator>
  <cp:lastModifiedBy>Rachel Harris</cp:lastModifiedBy>
  <cp:revision>4</cp:revision>
  <dcterms:created xsi:type="dcterms:W3CDTF">2026-08-19T11:07:14Z</dcterms:created>
  <dcterms:modified xsi:type="dcterms:W3CDTF">2026-10-21T14:19:20Z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0x0101000E03A52DFF83D84488E93803DDBB9CF7</vt:lpwstr>
  </property>
  <property fmtid="{D5CDD505-2E9C-101B-9397-08002B2CF9AE}" pid="4" name="_dlc_DocIdItemGuid">
    <vt:lpwstr>1588c89b-885d-4666-9250-8363a7f08b01</vt:lpwstr>
  </property>
</Properties>
</file>