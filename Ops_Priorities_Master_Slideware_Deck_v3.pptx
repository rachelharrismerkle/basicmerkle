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10.xml" ContentType="application/vnd.openxmlformats-officedocument.customXmlProperties+xml"/>
  <Override PartName="/customXml/itemProps11.xml" ContentType="application/vnd.openxmlformats-officedocument.customXmlProperties+xml"/>
  <Override PartName="/customXml/itemProps12.xml" ContentType="application/vnd.openxmlformats-officedocument.customXmlProperties+xml"/>
  <Override PartName="/customXml/itemProps13.xml" ContentType="application/vnd.openxmlformats-officedocument.customXmlProperties+xml"/>
  <Override PartName="/customXml/itemProps14.xml" ContentType="application/vnd.openxmlformats-officedocument.customXmlProperties+xml"/>
  <Override PartName="/customXml/itemProps15.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customXml/itemProps8.xml" ContentType="application/vnd.openxmlformats-officedocument.customXmlProperties+xml"/>
  <Override PartName="/customXml/itemProps9.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1.svg" ContentType="image/svg+xml"/>
  <Override PartName="/ppt/media/image2.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4051" r:id="rId16"/>
  </p:sldMasterIdLst>
  <p:notesMasterIdLst>
    <p:notesMasterId r:id="rId114"/>
  </p:notesMasterIdLst>
  <p:handoutMasterIdLst>
    <p:handoutMasterId r:id="rId115"/>
  </p:handoutMasterIdLst>
  <p:sldIdLst>
    <p:sldId id="328" r:id="rId17"/>
    <p:sldId id="329" r:id="rId18"/>
    <p:sldId id="338" r:id="rId19"/>
    <p:sldId id="2147483590" r:id="rId20"/>
    <p:sldId id="2147483647" r:id="rId21"/>
    <p:sldId id="267" r:id="rId22"/>
    <p:sldId id="268" r:id="rId23"/>
    <p:sldId id="256" r:id="rId24"/>
    <p:sldId id="257" r:id="rId25"/>
    <p:sldId id="262" r:id="rId26"/>
    <p:sldId id="330" r:id="rId27"/>
    <p:sldId id="263" r:id="rId28"/>
    <p:sldId id="258" r:id="rId29"/>
    <p:sldId id="269" r:id="rId30"/>
    <p:sldId id="270" r:id="rId31"/>
    <p:sldId id="271" r:id="rId32"/>
    <p:sldId id="259" r:id="rId33"/>
    <p:sldId id="346" r:id="rId34"/>
    <p:sldId id="331" r:id="rId35"/>
    <p:sldId id="272" r:id="rId36"/>
    <p:sldId id="273" r:id="rId37"/>
    <p:sldId id="274" r:id="rId38"/>
    <p:sldId id="275" r:id="rId39"/>
    <p:sldId id="276" r:id="rId40"/>
    <p:sldId id="277" r:id="rId41"/>
    <p:sldId id="347" r:id="rId42"/>
    <p:sldId id="332" r:id="rId43"/>
    <p:sldId id="278" r:id="rId44"/>
    <p:sldId id="279" r:id="rId45"/>
    <p:sldId id="280" r:id="rId46"/>
    <p:sldId id="281" r:id="rId47"/>
    <p:sldId id="282" r:id="rId48"/>
    <p:sldId id="285" r:id="rId49"/>
    <p:sldId id="349" r:id="rId50"/>
    <p:sldId id="2147483587" r:id="rId51"/>
    <p:sldId id="283" r:id="rId52"/>
    <p:sldId id="265" r:id="rId53"/>
    <p:sldId id="266" r:id="rId54"/>
    <p:sldId id="333" r:id="rId55"/>
    <p:sldId id="286" r:id="rId56"/>
    <p:sldId id="287" r:id="rId57"/>
    <p:sldId id="288" r:id="rId58"/>
    <p:sldId id="289" r:id="rId59"/>
    <p:sldId id="290" r:id="rId60"/>
    <p:sldId id="292" r:id="rId61"/>
    <p:sldId id="291" r:id="rId62"/>
    <p:sldId id="334" r:id="rId63"/>
    <p:sldId id="264" r:id="rId64"/>
    <p:sldId id="260" r:id="rId65"/>
    <p:sldId id="293" r:id="rId66"/>
    <p:sldId id="294" r:id="rId67"/>
    <p:sldId id="295" r:id="rId68"/>
    <p:sldId id="261" r:id="rId69"/>
    <p:sldId id="348" r:id="rId70"/>
    <p:sldId id="335" r:id="rId71"/>
    <p:sldId id="296" r:id="rId72"/>
    <p:sldId id="297" r:id="rId73"/>
    <p:sldId id="298" r:id="rId74"/>
    <p:sldId id="299" r:id="rId75"/>
    <p:sldId id="300" r:id="rId76"/>
    <p:sldId id="301" r:id="rId77"/>
    <p:sldId id="309" r:id="rId78"/>
    <p:sldId id="336" r:id="rId79"/>
    <p:sldId id="302" r:id="rId80"/>
    <p:sldId id="303" r:id="rId81"/>
    <p:sldId id="304" r:id="rId82"/>
    <p:sldId id="305" r:id="rId83"/>
    <p:sldId id="306" r:id="rId84"/>
    <p:sldId id="307" r:id="rId85"/>
    <p:sldId id="284" r:id="rId86"/>
    <p:sldId id="337" r:id="rId87"/>
    <p:sldId id="350" r:id="rId127"/>
    <p:sldId id="351" r:id="rId128"/>
    <p:sldId id="352" r:id="rId129"/>
    <p:sldId id="353" r:id="rId130"/>
    <p:sldId id="354" r:id="rId131"/>
    <p:sldId id="312" r:id="rId106"/>
    <p:sldId id="313" r:id="rId107"/>
    <p:sldId id="314" r:id="rId108"/>
    <p:sldId id="315" r:id="rId109"/>
    <p:sldId id="316" r:id="rId110"/>
    <p:sldId id="317" r:id="rId111"/>
    <p:sldId id="318" r:id="rId112"/>
    <p:sldId id="319" r:id="rId113"/>
    <p:sldId id="355" r:id="rId132"/>
    <p:sldId id="327" r:id="rId88"/>
    <p:sldId id="310" r:id="rId89"/>
    <p:sldId id="311" r:id="rId90"/>
    <p:sldId id="340" r:id="rId91"/>
    <p:sldId id="344" r:id="rId92"/>
    <p:sldId id="320" r:id="rId93"/>
    <p:sldId id="325" r:id="rId94"/>
    <p:sldId id="345" r:id="rId95"/>
    <p:sldId id="321" r:id="rId96"/>
    <p:sldId id="308" r:id="rId97"/>
    <p:sldId id="343" r:id="rId98"/>
    <p:sldId id="339" r:id="rId99"/>
    <p:sldId id="322" r:id="rId100"/>
    <p:sldId id="342" r:id="rId101"/>
    <p:sldId id="341" r:id="rId102"/>
    <p:sldId id="326" r:id="rId103"/>
    <p:sldId id="323" r:id="rId104"/>
    <p:sldId id="324" r:id="rId105"/>
  </p:sldIdLst>
  <p:sldSz cx="12192000" cy="6858000"/>
  <p:notesSz cx="6858000" cy="9144000"/>
  <p:embeddedFontLst>
    <p:embeddedFont>
      <p:font typeface="Proxima Nova" panose="020B0604020202020204" charset="0"/>
      <p:regular r:id="rId116"/>
      <p:bold r:id="rId117"/>
      <p:italic r:id="rId118"/>
      <p:boldItalic r:id="rId119"/>
    </p:embeddedFont>
  </p:embeddedFontLst>
  <p:defaultTex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and guide" id="{1B4B59CC-27CD-4569-B218-7D41A932FDA1}">
          <p14:sldIdLst>
            <p14:sldId id="328"/>
            <p14:sldId id="329"/>
            <p14:sldId id="338"/>
          </p14:sldIdLst>
        </p14:section>
        <p14:section name="Deal-to-Delivery Playbook" id="{8F841B8A-8686-4093-A0C6-CD026F17E299}">
          <p14:sldIdLst>
            <p14:sldId id="2147483590"/>
            <p14:sldId id="2147483647"/>
            <p14:sldId id="267"/>
            <p14:sldId id="268"/>
            <p14:sldId id="256"/>
            <p14:sldId id="257"/>
            <p14:sldId id="262"/>
            <p14:sldId id="330"/>
          </p14:sldIdLst>
        </p14:section>
        <p14:section name="Accountability Framework" id="{0F8675DF-1E04-4A54-9E4D-8D576EEC0061}">
          <p14:sldIdLst>
            <p14:sldId id="263"/>
            <p14:sldId id="258"/>
            <p14:sldId id="269"/>
            <p14:sldId id="270"/>
            <p14:sldId id="271"/>
            <p14:sldId id="259"/>
            <p14:sldId id="346"/>
            <p14:sldId id="331"/>
          </p14:sldIdLst>
        </p14:section>
        <p14:section name="Leadership Dashboards" id="{4DB6CFF8-53A7-4F2D-86C9-7C7BDA8AE6AD}">
          <p14:sldIdLst>
            <p14:sldId id="272"/>
            <p14:sldId id="273"/>
            <p14:sldId id="274"/>
            <p14:sldId id="275"/>
            <p14:sldId id="276"/>
            <p14:sldId id="277"/>
            <p14:sldId id="347"/>
            <p14:sldId id="332"/>
          </p14:sldIdLst>
        </p14:section>
        <p14:section name="Capacity Planning &amp; Romulus" id="{9D8899F9-79BC-42B6-A6D3-1EFAD883665F}">
          <p14:sldIdLst>
            <p14:sldId id="278"/>
            <p14:sldId id="279"/>
            <p14:sldId id="280"/>
            <p14:sldId id="281"/>
            <p14:sldId id="282"/>
            <p14:sldId id="285"/>
            <p14:sldId id="349"/>
            <p14:sldId id="2147483587"/>
            <p14:sldId id="283"/>
            <p14:sldId id="265"/>
            <p14:sldId id="266"/>
            <p14:sldId id="333"/>
          </p14:sldIdLst>
        </p14:section>
        <p14:section name="DGS Leadership Transition" id="{DBD1A292-8359-4A52-AB49-C6C8FDFA95FC}">
          <p14:sldIdLst>
            <p14:sldId id="286"/>
            <p14:sldId id="287"/>
            <p14:sldId id="288"/>
            <p14:sldId id="289"/>
            <p14:sldId id="290"/>
            <p14:sldId id="292"/>
            <p14:sldId id="291"/>
            <p14:sldId id="334"/>
          </p14:sldIdLst>
        </p14:section>
        <p14:section name="Intake Updates" id="{96CF9BFB-64CA-48F8-BB6E-65F43DCB3735}">
          <p14:sldIdLst>
            <p14:sldId id="264"/>
            <p14:sldId id="260"/>
            <p14:sldId id="293"/>
            <p14:sldId id="294"/>
            <p14:sldId id="295"/>
            <p14:sldId id="261"/>
            <p14:sldId id="348"/>
            <p14:sldId id="335"/>
          </p14:sldIdLst>
        </p14:section>
        <p14:section name="Ops Transformation: Rebuild Scoping &amp; Staffing" id="{1E674ECB-EDC9-4FFA-85E4-8C6D99D49C06}">
          <p14:sldIdLst>
            <p14:sldId id="296"/>
            <p14:sldId id="297"/>
            <p14:sldId id="298"/>
            <p14:sldId id="299"/>
            <p14:sldId id="300"/>
            <p14:sldId id="301"/>
            <p14:sldId id="309"/>
            <p14:sldId id="336"/>
          </p14:sldIdLst>
        </p14:section>
        <p14:section name="Earlier Delivery &amp; Talent in Pursuits" id="{7405A831-4014-4A95-94A5-354208F57B38}">
          <p14:sldIdLst>
            <p14:sldId id="302"/>
            <p14:sldId id="303"/>
            <p14:sldId id="304"/>
            <p14:sldId id="305"/>
            <p14:sldId id="306"/>
            <p14:sldId id="307"/>
            <p14:sldId id="284"/>
            <p14:sldId id="337"/>
          </p14:sldIdLst>
        </p14:section>
        <p14:section name="Core template slideware" id="{B88AA6F6-2589-4662-AA1D-FA4C27CB18FC}">
          <p14:sldIdLst>
            <p14:sldId id="350"/>
            <p14:sldId id="351"/>
            <p14:sldId id="352"/>
            <p14:sldId id="353"/>
            <p14:sldId id="354"/>
            <p14:sldId id="312"/>
            <p14:sldId id="313"/>
            <p14:sldId id="314"/>
            <p14:sldId id="315"/>
            <p14:sldId id="316"/>
            <p14:sldId id="317"/>
            <p14:sldId id="318"/>
            <p14:sldId id="319"/>
          </p14:sldIdLst>
        </p14:section>
        <p14:section name="Detail slideware templates" id="{8C6D4049-6540-4E6F-8F7E-550289E3306D}">
          <p14:sldIdLst>
            <p14:sldId id="355"/>
            <p14:sldId id="327"/>
            <p14:sldId id="310"/>
            <p14:sldId id="311"/>
            <p14:sldId id="340"/>
            <p14:sldId id="344"/>
            <p14:sldId id="320"/>
            <p14:sldId id="325"/>
            <p14:sldId id="345"/>
            <p14:sldId id="321"/>
            <p14:sldId id="308"/>
            <p14:sldId id="343"/>
            <p14:sldId id="339"/>
            <p14:sldId id="322"/>
            <p14:sldId id="342"/>
            <p14:sldId id="341"/>
            <p14:sldId id="326"/>
            <p14:sldId id="323"/>
            <p14:sldId id="324"/>
          </p14:sldIdLst>
        </p14:section>
      </p14:sectionLst>
    </p:ext>
    <p:ext uri="{EFAFB233-063F-42B5-8137-9DF3F51BA10A}">
      <p15:sldGuideLst xmlns:p15="http://schemas.microsoft.com/office/powerpoint/2012/main">
        <p15:guide id="1" orient="horz" pos="2160" userDrawn="1">
          <p15:clr>
            <a:srgbClr val="A4A3A4"/>
          </p15:clr>
        </p15:guide>
        <p15:guide id="2" pos="3864"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4747621-DF21-E75D-272F-6101C8F4D26F}" name="Rachel Harris" initials="RH" userId="S::R.Harris@merkle.com::fd5e8be9-ea2d-44ac-89b2-fdcd1d7c9102" providerId="AD"/>
  <p188:author id="{C2FCB735-5E4C-A9FE-A872-A0258D11E5D4}" name="Holden Bale" initials="HB" userId="S::Holden.Bale@merkle.com::c531b602-7654-40f4-8096-c3b7319cdf73" providerId="AD"/>
  <p188:author id="{6FAE4E42-A874-6C13-C1EF-F4D00034504C}" name="Chris McComas" initials="" userId="S::Chris.Mccomas@merkle.com::16a72942-0ecc-4af7-bdde-ff5438467eb4" providerId="AD"/>
  <p188:author id="{FDF5CC56-2E9D-6701-2B66-B63BAD1226DC}" name="Nicole Burguess" initials="NB" userId="S::Nicole.Burguess@merkle.com::1cb68f33-9216-4f37-aa21-b4650492fee1" providerId="AD"/>
  <p188:author id="{B8CF925A-9758-CB93-1D56-91092841DBFD}" name="Katherine Jones-Siemsen" initials="" userId="S::katherine.jonessiemsen@merkle.com::2e03eed6-ab36-40d0-88d8-2eb79c21f938" providerId="AD"/>
  <p188:author id="{6F87CDA6-2197-6957-A82D-B99877A517CC}" name="Holden Bale" initials="HB" userId="S::holden.bale@merkle.com::c531b602-7654-40f4-8096-c3b7319cdf73" providerId="AD"/>
  <p188:author id="{C39E03AD-66D9-CA27-DD7C-2114E44178B7}" name="Jennifer Coldiron" initials="JC" userId="S::Jennifer.Coldiron@merkle.com::a9aace83-3ff4-45f8-bd1f-b56969b3e51b" providerId="AD"/>
  <p188:author id="{122260B3-363F-4BA9-1955-1753C83BDB0E}" name="Kimberly Fisher" initials="" userId="S::Kimberly.Fisher@merkle.com::864d6e37-e64e-4f7d-a773-1af01d32820d" providerId="AD"/>
  <p188:author id="{04C65DB6-AFE0-C4BD-2CBC-20D0C6BC346E}" name="Vidhyarthi S" initials="VS" userId="S::vidhyarthi.s@merkle.com::563c65e5-d65f-4677-8aa6-57dd42c4d1a2" providerId="AD"/>
  <p188:author id="{CDA5F6B7-096B-F1CD-A4EB-A35ED3727E48}" name="Mel Ketchandji" initials="MK" userId="S::mel.ketchandji@merklecxm.com::459acf37-907c-4efe-938f-7a04993a3eaa" providerId="AD"/>
  <p188:author id="{77F729CC-204E-C5D0-D138-1054A84541DB}" name="Lindsey Murray" initials="LM" userId="S::lindsey.murray@merkle.com::468cb5d1-f0a4-48b8-82ad-957063689cb0" providerId="AD"/>
  <p188:author id="{8756E1CE-2660-3E17-9BB9-D517D62C312E}" name="Jennifer Coldiron" initials="JC" userId="S::jennifer.coldiron@merklecxm.com::a9aace83-3ff4-45f8-bd1f-b56969b3e51b" providerId="AD"/>
  <p188:author id="{914E52CF-953F-DF0A-99AA-72DEFC5A8773}" name="Lindsey Murray" initials="LM" userId="S::Lindsey.Murray@merkle.com::468cb5d1-f0a4-48b8-82ad-957063689cb0" providerId="AD"/>
  <p188:author id="{39ADA3E5-C12F-1243-3E69-4F8CACF4E46B}" name="Mel Ketchandji" initials="MK" userId="S::mel.ketchandji@merkle.com::459acf37-907c-4efe-938f-7a04993a3eaa" providerId="AD"/>
  <p188:author id="{320550F2-799F-B69D-8074-CCDD2CCEA80D}" name="Charles van Caloen" initials="Cv" userId="S::Charles.Vancaloen@b2binternational.com::7c6a4315-c604-4c95-8801-aa30c01cc1f5" providerId="AD"/>
  <p188:author id="{B62FECFA-3509-759D-112F-870FECCF081A}" name="Kaylie Beckley" initials="" userId="S::Kaylie.Beckley@merkle.com::58827693-7ffd-4b5a-afc7-e5b001f01327"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Garit Reuble" initials="GR" lastIdx="8" clrIdx="0">
    <p:extLst>
      <p:ext uri="{19B8F6BF-5375-455C-9EA6-DF929625EA0E}">
        <p15:presenceInfo xmlns:p15="http://schemas.microsoft.com/office/powerpoint/2012/main" userId="S::greuble@merkleinc.com::1cd1ef0a-6f3d-44d2-b08b-13eb711dda2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B8388"/>
    <a:srgbClr val="DD3039"/>
    <a:srgbClr val="0328D1"/>
    <a:srgbClr val="031FA3"/>
    <a:srgbClr val="0391F2"/>
    <a:srgbClr val="D5D5DF"/>
    <a:srgbClr val="030E49"/>
    <a:srgbClr val="0291F0"/>
    <a:srgbClr val="8888A1"/>
    <a:srgbClr val="00003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6C73F3B-A22D-4ABF-847D-28DC0CFB3778}" v="44" dt="2026-10-22T16:32:03.51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286" autoAdjust="0"/>
    <p:restoredTop sz="94660"/>
  </p:normalViewPr>
  <p:slideViewPr>
    <p:cSldViewPr snapToGrid="0">
      <p:cViewPr varScale="1">
        <p:scale>
          <a:sx n="105" d="100"/>
          <a:sy n="105" d="100"/>
        </p:scale>
        <p:origin x="642" y="96"/>
      </p:cViewPr>
      <p:guideLst>
        <p:guide orient="horz" pos="2160"/>
        <p:guide pos="386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customXml" Target="../customXml/item4.xml"/><Relationship Id="rId5" Type="http://schemas.openxmlformats.org/officeDocument/2006/relationships/customXml" Target="../customXml/item5.xml"/><Relationship Id="rId6" Type="http://schemas.openxmlformats.org/officeDocument/2006/relationships/customXml" Target="../customXml/item6.xml"/><Relationship Id="rId7" Type="http://schemas.openxmlformats.org/officeDocument/2006/relationships/customXml" Target="../customXml/item7.xml"/><Relationship Id="rId8" Type="http://schemas.openxmlformats.org/officeDocument/2006/relationships/customXml" Target="../customXml/item8.xml"/><Relationship Id="rId9" Type="http://schemas.openxmlformats.org/officeDocument/2006/relationships/customXml" Target="../customXml/item9.xml"/><Relationship Id="rId10" Type="http://schemas.openxmlformats.org/officeDocument/2006/relationships/customXml" Target="../customXml/item10.xml"/><Relationship Id="rId11" Type="http://schemas.openxmlformats.org/officeDocument/2006/relationships/customXml" Target="../customXml/item11.xml"/><Relationship Id="rId12" Type="http://schemas.openxmlformats.org/officeDocument/2006/relationships/customXml" Target="../customXml/item12.xml"/><Relationship Id="rId13" Type="http://schemas.openxmlformats.org/officeDocument/2006/relationships/customXml" Target="../customXml/item13.xml"/><Relationship Id="rId14" Type="http://schemas.openxmlformats.org/officeDocument/2006/relationships/customXml" Target="../customXml/item14.xml"/><Relationship Id="rId15" Type="http://schemas.openxmlformats.org/officeDocument/2006/relationships/customXml" Target="../customXml/item15.xml"/><Relationship Id="rId16" Type="http://schemas.openxmlformats.org/officeDocument/2006/relationships/slideMaster" Target="slideMasters/slideMaster1.xml"/><Relationship Id="rId17" Type="http://schemas.openxmlformats.org/officeDocument/2006/relationships/slide" Target="slides/slide1.xml"/><Relationship Id="rId18" Type="http://schemas.openxmlformats.org/officeDocument/2006/relationships/slide" Target="slides/slide2.xml"/><Relationship Id="rId19" Type="http://schemas.openxmlformats.org/officeDocument/2006/relationships/slide" Target="slides/slide3.xml"/><Relationship Id="rId20" Type="http://schemas.openxmlformats.org/officeDocument/2006/relationships/slide" Target="slides/slide4.xml"/><Relationship Id="rId21" Type="http://schemas.openxmlformats.org/officeDocument/2006/relationships/slide" Target="slides/slide5.xml"/><Relationship Id="rId22" Type="http://schemas.openxmlformats.org/officeDocument/2006/relationships/slide" Target="slides/slide6.xml"/><Relationship Id="rId23" Type="http://schemas.openxmlformats.org/officeDocument/2006/relationships/slide" Target="slides/slide7.xml"/><Relationship Id="rId24" Type="http://schemas.openxmlformats.org/officeDocument/2006/relationships/slide" Target="slides/slide8.xml"/><Relationship Id="rId25" Type="http://schemas.openxmlformats.org/officeDocument/2006/relationships/slide" Target="slides/slide9.xml"/><Relationship Id="rId26" Type="http://schemas.openxmlformats.org/officeDocument/2006/relationships/slide" Target="slides/slide10.xml"/><Relationship Id="rId27" Type="http://schemas.openxmlformats.org/officeDocument/2006/relationships/slide" Target="slides/slide11.xml"/><Relationship Id="rId28" Type="http://schemas.openxmlformats.org/officeDocument/2006/relationships/slide" Target="slides/slide12.xml"/><Relationship Id="rId29" Type="http://schemas.openxmlformats.org/officeDocument/2006/relationships/slide" Target="slides/slide13.xml"/><Relationship Id="rId30" Type="http://schemas.openxmlformats.org/officeDocument/2006/relationships/slide" Target="slides/slide14.xml"/><Relationship Id="rId31" Type="http://schemas.openxmlformats.org/officeDocument/2006/relationships/slide" Target="slides/slide15.xml"/><Relationship Id="rId32" Type="http://schemas.openxmlformats.org/officeDocument/2006/relationships/slide" Target="slides/slide16.xml"/><Relationship Id="rId33" Type="http://schemas.openxmlformats.org/officeDocument/2006/relationships/slide" Target="slides/slide17.xml"/><Relationship Id="rId34" Type="http://schemas.openxmlformats.org/officeDocument/2006/relationships/slide" Target="slides/slide18.xml"/><Relationship Id="rId35" Type="http://schemas.openxmlformats.org/officeDocument/2006/relationships/slide" Target="slides/slide19.xml"/><Relationship Id="rId36" Type="http://schemas.openxmlformats.org/officeDocument/2006/relationships/slide" Target="slides/slide20.xml"/><Relationship Id="rId37" Type="http://schemas.openxmlformats.org/officeDocument/2006/relationships/slide" Target="slides/slide21.xml"/><Relationship Id="rId38" Type="http://schemas.openxmlformats.org/officeDocument/2006/relationships/slide" Target="slides/slide22.xml"/><Relationship Id="rId39" Type="http://schemas.openxmlformats.org/officeDocument/2006/relationships/slide" Target="slides/slide23.xml"/><Relationship Id="rId40" Type="http://schemas.openxmlformats.org/officeDocument/2006/relationships/slide" Target="slides/slide24.xml"/><Relationship Id="rId41" Type="http://schemas.openxmlformats.org/officeDocument/2006/relationships/slide" Target="slides/slide25.xml"/><Relationship Id="rId42" Type="http://schemas.openxmlformats.org/officeDocument/2006/relationships/slide" Target="slides/slide26.xml"/><Relationship Id="rId43" Type="http://schemas.openxmlformats.org/officeDocument/2006/relationships/slide" Target="slides/slide27.xml"/><Relationship Id="rId44" Type="http://schemas.openxmlformats.org/officeDocument/2006/relationships/slide" Target="slides/slide28.xml"/><Relationship Id="rId45" Type="http://schemas.openxmlformats.org/officeDocument/2006/relationships/slide" Target="slides/slide29.xml"/><Relationship Id="rId46" Type="http://schemas.openxmlformats.org/officeDocument/2006/relationships/slide" Target="slides/slide30.xml"/><Relationship Id="rId47" Type="http://schemas.openxmlformats.org/officeDocument/2006/relationships/slide" Target="slides/slide31.xml"/><Relationship Id="rId48" Type="http://schemas.openxmlformats.org/officeDocument/2006/relationships/slide" Target="slides/slide32.xml"/><Relationship Id="rId49" Type="http://schemas.openxmlformats.org/officeDocument/2006/relationships/slide" Target="slides/slide33.xml"/><Relationship Id="rId50" Type="http://schemas.openxmlformats.org/officeDocument/2006/relationships/slide" Target="slides/slide34.xml"/><Relationship Id="rId51" Type="http://schemas.openxmlformats.org/officeDocument/2006/relationships/slide" Target="slides/slide35.xml"/><Relationship Id="rId52" Type="http://schemas.openxmlformats.org/officeDocument/2006/relationships/slide" Target="slides/slide36.xml"/><Relationship Id="rId53" Type="http://schemas.openxmlformats.org/officeDocument/2006/relationships/slide" Target="slides/slide37.xml"/><Relationship Id="rId54" Type="http://schemas.openxmlformats.org/officeDocument/2006/relationships/slide" Target="slides/slide38.xml"/><Relationship Id="rId55" Type="http://schemas.openxmlformats.org/officeDocument/2006/relationships/slide" Target="slides/slide39.xml"/><Relationship Id="rId56" Type="http://schemas.openxmlformats.org/officeDocument/2006/relationships/slide" Target="slides/slide40.xml"/><Relationship Id="rId57" Type="http://schemas.openxmlformats.org/officeDocument/2006/relationships/slide" Target="slides/slide41.xml"/><Relationship Id="rId58" Type="http://schemas.openxmlformats.org/officeDocument/2006/relationships/slide" Target="slides/slide42.xml"/><Relationship Id="rId59" Type="http://schemas.openxmlformats.org/officeDocument/2006/relationships/slide" Target="slides/slide43.xml"/><Relationship Id="rId60" Type="http://schemas.openxmlformats.org/officeDocument/2006/relationships/slide" Target="slides/slide44.xml"/><Relationship Id="rId61" Type="http://schemas.openxmlformats.org/officeDocument/2006/relationships/slide" Target="slides/slide45.xml"/><Relationship Id="rId62" Type="http://schemas.openxmlformats.org/officeDocument/2006/relationships/slide" Target="slides/slide46.xml"/><Relationship Id="rId63" Type="http://schemas.openxmlformats.org/officeDocument/2006/relationships/slide" Target="slides/slide47.xml"/><Relationship Id="rId64" Type="http://schemas.openxmlformats.org/officeDocument/2006/relationships/slide" Target="slides/slide48.xml"/><Relationship Id="rId65" Type="http://schemas.openxmlformats.org/officeDocument/2006/relationships/slide" Target="slides/slide49.xml"/><Relationship Id="rId66" Type="http://schemas.openxmlformats.org/officeDocument/2006/relationships/slide" Target="slides/slide50.xml"/><Relationship Id="rId67" Type="http://schemas.openxmlformats.org/officeDocument/2006/relationships/slide" Target="slides/slide51.xml"/><Relationship Id="rId68" Type="http://schemas.openxmlformats.org/officeDocument/2006/relationships/slide" Target="slides/slide52.xml"/><Relationship Id="rId69" Type="http://schemas.openxmlformats.org/officeDocument/2006/relationships/slide" Target="slides/slide53.xml"/><Relationship Id="rId70" Type="http://schemas.openxmlformats.org/officeDocument/2006/relationships/slide" Target="slides/slide54.xml"/><Relationship Id="rId71" Type="http://schemas.openxmlformats.org/officeDocument/2006/relationships/slide" Target="slides/slide55.xml"/><Relationship Id="rId72" Type="http://schemas.openxmlformats.org/officeDocument/2006/relationships/slide" Target="slides/slide56.xml"/><Relationship Id="rId73" Type="http://schemas.openxmlformats.org/officeDocument/2006/relationships/slide" Target="slides/slide57.xml"/><Relationship Id="rId74" Type="http://schemas.openxmlformats.org/officeDocument/2006/relationships/slide" Target="slides/slide58.xml"/><Relationship Id="rId75" Type="http://schemas.openxmlformats.org/officeDocument/2006/relationships/slide" Target="slides/slide59.xml"/><Relationship Id="rId76" Type="http://schemas.openxmlformats.org/officeDocument/2006/relationships/slide" Target="slides/slide60.xml"/><Relationship Id="rId77" Type="http://schemas.openxmlformats.org/officeDocument/2006/relationships/slide" Target="slides/slide61.xml"/><Relationship Id="rId78" Type="http://schemas.openxmlformats.org/officeDocument/2006/relationships/slide" Target="slides/slide62.xml"/><Relationship Id="rId79" Type="http://schemas.openxmlformats.org/officeDocument/2006/relationships/slide" Target="slides/slide63.xml"/><Relationship Id="rId80" Type="http://schemas.openxmlformats.org/officeDocument/2006/relationships/slide" Target="slides/slide64.xml"/><Relationship Id="rId81" Type="http://schemas.openxmlformats.org/officeDocument/2006/relationships/slide" Target="slides/slide65.xml"/><Relationship Id="rId82" Type="http://schemas.openxmlformats.org/officeDocument/2006/relationships/slide" Target="slides/slide66.xml"/><Relationship Id="rId83" Type="http://schemas.openxmlformats.org/officeDocument/2006/relationships/slide" Target="slides/slide67.xml"/><Relationship Id="rId84" Type="http://schemas.openxmlformats.org/officeDocument/2006/relationships/slide" Target="slides/slide68.xml"/><Relationship Id="rId85" Type="http://schemas.openxmlformats.org/officeDocument/2006/relationships/slide" Target="slides/slide69.xml"/><Relationship Id="rId86" Type="http://schemas.openxmlformats.org/officeDocument/2006/relationships/slide" Target="slides/slide70.xml"/><Relationship Id="rId87" Type="http://schemas.openxmlformats.org/officeDocument/2006/relationships/slide" Target="slides/slide71.xml"/><Relationship Id="rId88" Type="http://schemas.openxmlformats.org/officeDocument/2006/relationships/slide" Target="slides/slide86.xml"/><Relationship Id="rId89" Type="http://schemas.openxmlformats.org/officeDocument/2006/relationships/slide" Target="slides/slide87.xml"/><Relationship Id="rId90" Type="http://schemas.openxmlformats.org/officeDocument/2006/relationships/slide" Target="slides/slide88.xml"/><Relationship Id="rId91" Type="http://schemas.openxmlformats.org/officeDocument/2006/relationships/slide" Target="slides/slide89.xml"/><Relationship Id="rId92" Type="http://schemas.openxmlformats.org/officeDocument/2006/relationships/slide" Target="slides/slide90.xml"/><Relationship Id="rId93" Type="http://schemas.openxmlformats.org/officeDocument/2006/relationships/slide" Target="slides/slide91.xml"/><Relationship Id="rId94" Type="http://schemas.openxmlformats.org/officeDocument/2006/relationships/slide" Target="slides/slide92.xml"/><Relationship Id="rId95" Type="http://schemas.openxmlformats.org/officeDocument/2006/relationships/slide" Target="slides/slide93.xml"/><Relationship Id="rId96" Type="http://schemas.openxmlformats.org/officeDocument/2006/relationships/slide" Target="slides/slide94.xml"/><Relationship Id="rId97" Type="http://schemas.openxmlformats.org/officeDocument/2006/relationships/slide" Target="slides/slide95.xml"/><Relationship Id="rId98" Type="http://schemas.openxmlformats.org/officeDocument/2006/relationships/slide" Target="slides/slide96.xml"/><Relationship Id="rId99" Type="http://schemas.openxmlformats.org/officeDocument/2006/relationships/slide" Target="slides/slide97.xml"/><Relationship Id="rId100" Type="http://schemas.openxmlformats.org/officeDocument/2006/relationships/slide" Target="slides/slide98.xml"/><Relationship Id="rId101" Type="http://schemas.openxmlformats.org/officeDocument/2006/relationships/slide" Target="slides/slide99.xml"/><Relationship Id="rId102" Type="http://schemas.openxmlformats.org/officeDocument/2006/relationships/slide" Target="slides/slide100.xml"/><Relationship Id="rId103" Type="http://schemas.openxmlformats.org/officeDocument/2006/relationships/slide" Target="slides/slide101.xml"/><Relationship Id="rId104" Type="http://schemas.openxmlformats.org/officeDocument/2006/relationships/slide" Target="slides/slide102.xml"/><Relationship Id="rId105" Type="http://schemas.openxmlformats.org/officeDocument/2006/relationships/slide" Target="slides/slide103.xml"/><Relationship Id="rId106" Type="http://schemas.openxmlformats.org/officeDocument/2006/relationships/slide" Target="slides/slide77.xml"/><Relationship Id="rId107" Type="http://schemas.openxmlformats.org/officeDocument/2006/relationships/slide" Target="slides/slide78.xml"/><Relationship Id="rId108" Type="http://schemas.openxmlformats.org/officeDocument/2006/relationships/slide" Target="slides/slide79.xml"/><Relationship Id="rId109" Type="http://schemas.openxmlformats.org/officeDocument/2006/relationships/slide" Target="slides/slide80.xml"/><Relationship Id="rId110" Type="http://schemas.openxmlformats.org/officeDocument/2006/relationships/slide" Target="slides/slide81.xml"/><Relationship Id="rId111" Type="http://schemas.openxmlformats.org/officeDocument/2006/relationships/slide" Target="slides/slide82.xml"/><Relationship Id="rId112" Type="http://schemas.openxmlformats.org/officeDocument/2006/relationships/slide" Target="slides/slide83.xml"/><Relationship Id="rId113" Type="http://schemas.openxmlformats.org/officeDocument/2006/relationships/slide" Target="slides/slide84.xml"/><Relationship Id="rId114" Type="http://schemas.openxmlformats.org/officeDocument/2006/relationships/notesMaster" Target="notesMasters/notesMaster1.xml"/><Relationship Id="rId115" Type="http://schemas.openxmlformats.org/officeDocument/2006/relationships/handoutMaster" Target="handoutMasters/handoutMaster1.xml"/><Relationship Id="rId116" Type="http://schemas.openxmlformats.org/officeDocument/2006/relationships/font" Target="fonts/font1.fntdata"/><Relationship Id="rId117" Type="http://schemas.openxmlformats.org/officeDocument/2006/relationships/font" Target="fonts/font2.fntdata"/><Relationship Id="rId118" Type="http://schemas.openxmlformats.org/officeDocument/2006/relationships/font" Target="fonts/font3.fntdata"/><Relationship Id="rId119" Type="http://schemas.openxmlformats.org/officeDocument/2006/relationships/font" Target="fonts/font4.fntdata"/><Relationship Id="rId120" Type="http://schemas.openxmlformats.org/officeDocument/2006/relationships/commentAuthors" Target="commentAuthors.xml"/><Relationship Id="rId121" Type="http://schemas.openxmlformats.org/officeDocument/2006/relationships/presProps" Target="presProps.xml"/><Relationship Id="rId122" Type="http://schemas.openxmlformats.org/officeDocument/2006/relationships/viewProps" Target="viewProps.xml"/><Relationship Id="rId123" Type="http://schemas.openxmlformats.org/officeDocument/2006/relationships/theme" Target="theme/theme1.xml"/><Relationship Id="rId124" Type="http://schemas.openxmlformats.org/officeDocument/2006/relationships/tableStyles" Target="tableStyles.xml"/><Relationship Id="rId125" Type="http://schemas.microsoft.com/office/2015/10/relationships/revisionInfo" Target="revisionInfo.xml"/><Relationship Id="rId126" Type="http://schemas.microsoft.com/office/2018/10/relationships/authors" Target="authors.xml"/><Relationship Id="rId127" Type="http://schemas.openxmlformats.org/officeDocument/2006/relationships/slide" Target="slides/slide72.xml"/><Relationship Id="rId128" Type="http://schemas.openxmlformats.org/officeDocument/2006/relationships/slide" Target="slides/slide73.xml"/><Relationship Id="rId129" Type="http://schemas.openxmlformats.org/officeDocument/2006/relationships/slide" Target="slides/slide74.xml"/><Relationship Id="rId130" Type="http://schemas.openxmlformats.org/officeDocument/2006/relationships/slide" Target="slides/slide75.xml"/><Relationship Id="rId131" Type="http://schemas.openxmlformats.org/officeDocument/2006/relationships/slide" Target="slides/slide76.xml"/><Relationship Id="rId132" Type="http://schemas.openxmlformats.org/officeDocument/2006/relationships/slide" Target="slides/slide8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CB731AF-AEA3-CC40-BFAA-5CC9758FC0D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4" name="Footer Placeholder 3">
            <a:extLst>
              <a:ext uri="{FF2B5EF4-FFF2-40B4-BE49-F238E27FC236}">
                <a16:creationId xmlns:a16="http://schemas.microsoft.com/office/drawing/2014/main" id="{72820B76-C951-C08D-9CC0-1DF4B94DE31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DAA7B20D-4B9A-0B23-7398-D557F3709F6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B97AEEF-324F-474E-80D9-450D94E3AE5B}" type="slidenum">
              <a:rPr lang="en-US" smtClean="0"/>
              <a:t>‹#›</a:t>
            </a:fld>
            <a:endParaRPr lang="en-US"/>
          </a:p>
        </p:txBody>
      </p:sp>
    </p:spTree>
    <p:extLst>
      <p:ext uri="{BB962C8B-B14F-4D97-AF65-F5344CB8AC3E}">
        <p14:creationId xmlns:p14="http://schemas.microsoft.com/office/powerpoint/2010/main" val="67615815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705845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Missy gives high level context – then AO to  dig deeper afterwards if needed</a:t>
            </a:r>
          </a:p>
        </p:txBody>
      </p:sp>
      <p:sp>
        <p:nvSpPr>
          <p:cNvPr id="4" name="Slide Number Placeholder 3"/>
          <p:cNvSpPr>
            <a:spLocks noGrp="1"/>
          </p:cNvSpPr>
          <p:nvPr>
            <p:ph type="sldNum" sz="quarter" idx="5"/>
          </p:nvPr>
        </p:nvSpPr>
        <p:spPr/>
        <p:txBody>
          <a:bodyPr/>
          <a:lstStyle/>
          <a:p>
            <a:fld id="{D85AD6AD-028C-42F2-9F9A-0CB45E44CB25}" type="slidenum">
              <a:rPr lang="da-DK" smtClean="0"/>
              <a:pPr/>
              <a:t>35</a:t>
            </a:fld>
            <a:endParaRPr lang="da-DK"/>
          </a:p>
        </p:txBody>
      </p:sp>
    </p:spTree>
    <p:extLst>
      <p:ext uri="{BB962C8B-B14F-4D97-AF65-F5344CB8AC3E}">
        <p14:creationId xmlns:p14="http://schemas.microsoft.com/office/powerpoint/2010/main" val="12018001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 Id="rId3" Type="http://schemas.openxmlformats.org/officeDocument/2006/relationships/image" Target="../media/image2.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1.svg"/><Relationship Id="rId4" Type="http://schemas.openxmlformats.org/officeDocument/2006/relationships/image" Target="../media/image2.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eg"/><Relationship Id="rId3" Type="http://schemas.openxmlformats.org/officeDocument/2006/relationships/image" Target="../media/image1.svg"/><Relationship Id="rId4" Type="http://schemas.openxmlformats.org/officeDocument/2006/relationships/image" Target="../media/image2.sv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1.svg"/><Relationship Id="rId4" Type="http://schemas.openxmlformats.org/officeDocument/2006/relationships/image" Target="../media/image2.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 Id="rId3" Type="http://schemas.openxmlformats.org/officeDocument/2006/relationships/image" Target="../media/image2.sv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 Id="rId3" Type="http://schemas.openxmlformats.org/officeDocument/2006/relationships/image" Target="../media/image2.sv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 Id="rId3" Type="http://schemas.openxmlformats.org/officeDocument/2006/relationships/image" Target="../media/image2.sv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e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e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e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P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6EAC907-F59B-B9B6-95C0-82330A9781E3}"/>
              </a:ext>
            </a:extLst>
          </p:cNvPr>
          <p:cNvSpPr/>
          <p:nvPr userDrawn="1"/>
        </p:nvSpPr>
        <p:spPr>
          <a:xfrm rot="10800000" flipV="1">
            <a:off x="2" y="-3"/>
            <a:ext cx="12191998" cy="6858003"/>
          </a:xfrm>
          <a:prstGeom prst="rect">
            <a:avLst/>
          </a:prstGeom>
          <a:solidFill>
            <a:schemeClr val="tx1"/>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sp>
        <p:nvSpPr>
          <p:cNvPr id="2" name="Title 1">
            <a:extLst>
              <a:ext uri="{FF2B5EF4-FFF2-40B4-BE49-F238E27FC236}">
                <a16:creationId xmlns:a16="http://schemas.microsoft.com/office/drawing/2014/main" id="{D86C4ED2-BE9E-5A4D-8979-FA06EFD126F3}"/>
              </a:ext>
            </a:extLst>
          </p:cNvPr>
          <p:cNvSpPr>
            <a:spLocks noGrp="1"/>
          </p:cNvSpPr>
          <p:nvPr>
            <p:ph type="title" hasCustomPrompt="1"/>
          </p:nvPr>
        </p:nvSpPr>
        <p:spPr>
          <a:xfrm>
            <a:off x="915725" y="557784"/>
            <a:ext cx="6688233" cy="2871216"/>
          </a:xfrm>
        </p:spPr>
        <p:txBody>
          <a:bodyPr anchor="b">
            <a:noAutofit/>
          </a:bodyPr>
          <a:lstStyle>
            <a:lvl1pPr>
              <a:lnSpc>
                <a:spcPct val="85000"/>
              </a:lnSpc>
              <a:defRPr sz="6000" b="0" cap="none" spc="-50" baseline="0">
                <a:solidFill>
                  <a:schemeClr val="bg1"/>
                </a:solidFill>
              </a:defRPr>
            </a:lvl1pPr>
          </a:lstStyle>
          <a:p>
            <a:r>
              <a:rPr lang="en-US"/>
              <a:t>Click to edit </a:t>
            </a:r>
            <a:br>
              <a:rPr lang="en-US"/>
            </a:br>
            <a:r>
              <a:rPr lang="en-US"/>
              <a:t>master title</a:t>
            </a:r>
          </a:p>
        </p:txBody>
      </p:sp>
      <p:sp>
        <p:nvSpPr>
          <p:cNvPr id="22" name="Text Placeholder 12">
            <a:extLst>
              <a:ext uri="{FF2B5EF4-FFF2-40B4-BE49-F238E27FC236}">
                <a16:creationId xmlns:a16="http://schemas.microsoft.com/office/drawing/2014/main" id="{1113FBD2-393A-2E4A-A8AB-45F368B8C6B4}"/>
              </a:ext>
            </a:extLst>
          </p:cNvPr>
          <p:cNvSpPr>
            <a:spLocks noGrp="1"/>
          </p:cNvSpPr>
          <p:nvPr>
            <p:ph type="body" sz="quarter" idx="10" hasCustomPrompt="1"/>
          </p:nvPr>
        </p:nvSpPr>
        <p:spPr>
          <a:xfrm>
            <a:off x="915725" y="3483865"/>
            <a:ext cx="5559552" cy="420624"/>
          </a:xfrm>
        </p:spPr>
        <p:txBody>
          <a:bodyPr lIns="137160" tIns="45720">
            <a:noAutofit/>
          </a:bodyPr>
          <a:lstStyle>
            <a:lvl1pPr marL="0" indent="0">
              <a:buNone/>
              <a:defRPr sz="1400" b="0" cap="none" spc="0" baseline="0">
                <a:solidFill>
                  <a:schemeClr val="bg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marL="0" lvl="0" indent="0">
              <a:buNone/>
            </a:pPr>
            <a:r>
              <a:rPr lang="en-US"/>
              <a:t>Click to edit sub-headline</a:t>
            </a:r>
          </a:p>
        </p:txBody>
      </p:sp>
      <p:sp>
        <p:nvSpPr>
          <p:cNvPr id="6" name="TextBox 5">
            <a:extLst>
              <a:ext uri="{FF2B5EF4-FFF2-40B4-BE49-F238E27FC236}">
                <a16:creationId xmlns:a16="http://schemas.microsoft.com/office/drawing/2014/main" id="{550B9285-DE88-A14F-9C1D-5AC88D36343B}"/>
              </a:ext>
            </a:extLst>
          </p:cNvPr>
          <p:cNvSpPr txBox="1"/>
          <p:nvPr userDrawn="1"/>
        </p:nvSpPr>
        <p:spPr>
          <a:xfrm>
            <a:off x="9144001" y="6248401"/>
            <a:ext cx="2743200" cy="380994"/>
          </a:xfrm>
          <a:prstGeom prst="rect">
            <a:avLst/>
          </a:prstGeom>
          <a:noFill/>
        </p:spPr>
        <p:txBody>
          <a:bodyPr wrap="square" bIns="0" rtlCol="0" anchor="b">
            <a:no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800" b="0" i="0">
                <a:solidFill>
                  <a:schemeClr val="bg2">
                    <a:lumMod val="75000"/>
                  </a:schemeClr>
                </a:solidFill>
                <a:latin typeface="+mn-lt"/>
                <a:ea typeface="+mn-ea"/>
                <a:cs typeface="+mn-cs"/>
              </a:rPr>
              <a:t>© 2026 Merkle, Inc. All Rights Reserved. Confidential.</a:t>
            </a:r>
          </a:p>
        </p:txBody>
      </p:sp>
      <p:sp>
        <p:nvSpPr>
          <p:cNvPr id="12" name="Text Placeholder 11">
            <a:extLst>
              <a:ext uri="{FF2B5EF4-FFF2-40B4-BE49-F238E27FC236}">
                <a16:creationId xmlns:a16="http://schemas.microsoft.com/office/drawing/2014/main" id="{B4853A57-0F0E-9C65-77B8-2E99CD256668}"/>
              </a:ext>
            </a:extLst>
          </p:cNvPr>
          <p:cNvSpPr>
            <a:spLocks noGrp="1"/>
          </p:cNvSpPr>
          <p:nvPr>
            <p:ph type="body" sz="quarter" idx="11" hasCustomPrompt="1"/>
          </p:nvPr>
        </p:nvSpPr>
        <p:spPr>
          <a:xfrm>
            <a:off x="915725" y="4078225"/>
            <a:ext cx="5559552" cy="301752"/>
          </a:xfrm>
        </p:spPr>
        <p:txBody>
          <a:bodyPr lIns="137160"/>
          <a:lstStyle>
            <a:lvl1pPr marL="0" indent="0">
              <a:buNone/>
              <a:defRPr sz="900" b="1" cap="all" spc="200" baseline="0">
                <a:solidFill>
                  <a:schemeClr val="bg1"/>
                </a:solidFill>
              </a:defRPr>
            </a:lvl1pPr>
          </a:lstStyle>
          <a:p>
            <a:pPr lvl="0"/>
            <a:r>
              <a:rPr lang="en-US"/>
              <a:t>MONTH 00, 2026</a:t>
            </a:r>
          </a:p>
        </p:txBody>
      </p:sp>
      <p:grpSp>
        <p:nvGrpSpPr>
          <p:cNvPr id="9" name="Group 8">
            <a:extLst>
              <a:ext uri="{FF2B5EF4-FFF2-40B4-BE49-F238E27FC236}">
                <a16:creationId xmlns:a16="http://schemas.microsoft.com/office/drawing/2014/main" id="{3D55557A-4A15-1400-45F4-6C5658F1FFF5}"/>
              </a:ext>
            </a:extLst>
          </p:cNvPr>
          <p:cNvGrpSpPr/>
          <p:nvPr userDrawn="1"/>
        </p:nvGrpSpPr>
        <p:grpSpPr>
          <a:xfrm>
            <a:off x="896112" y="6351752"/>
            <a:ext cx="1405514" cy="174291"/>
            <a:chOff x="419100" y="6294132"/>
            <a:chExt cx="1400350" cy="173651"/>
          </a:xfrm>
        </p:grpSpPr>
        <p:pic>
          <p:nvPicPr>
            <p:cNvPr id="10" name="Graphic 9">
              <a:extLst>
                <a:ext uri="{FF2B5EF4-FFF2-40B4-BE49-F238E27FC236}">
                  <a16:creationId xmlns:a16="http://schemas.microsoft.com/office/drawing/2014/main" id="{F332794B-3426-A6FF-7904-E2CD96FA2D0A}"/>
                </a:ext>
              </a:extLst>
            </p:cNvPr>
            <p:cNvPicPr>
              <a:picLocks noChangeAspect="1"/>
            </p:cNvPicPr>
            <p:nvPr/>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l="8163" b="315"/>
            <a:stretch/>
          </p:blipFill>
          <p:spPr>
            <a:xfrm>
              <a:off x="533400" y="6294132"/>
              <a:ext cx="1286050" cy="173651"/>
            </a:xfrm>
            <a:prstGeom prst="rect">
              <a:avLst/>
            </a:prstGeom>
          </p:spPr>
        </p:pic>
        <p:pic>
          <p:nvPicPr>
            <p:cNvPr id="11" name="Graphic 10">
              <a:extLst>
                <a:ext uri="{FF2B5EF4-FFF2-40B4-BE49-F238E27FC236}">
                  <a16:creationId xmlns:a16="http://schemas.microsoft.com/office/drawing/2014/main" id="{40CCC968-732A-C119-AB2B-8E4ECB9631BE}"/>
                </a:ext>
              </a:extLst>
            </p:cNvPr>
            <p:cNvPicPr>
              <a:picLocks noChangeAspect="1"/>
            </p:cNvPicPr>
            <p:nvPr/>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91838" b="315"/>
            <a:stretch/>
          </p:blipFill>
          <p:spPr>
            <a:xfrm>
              <a:off x="419100" y="6294132"/>
              <a:ext cx="114300" cy="173651"/>
            </a:xfrm>
            <a:prstGeom prst="rect">
              <a:avLst/>
            </a:prstGeom>
          </p:spPr>
        </p:pic>
      </p:grpSp>
    </p:spTree>
    <p:extLst>
      <p:ext uri="{BB962C8B-B14F-4D97-AF65-F5344CB8AC3E}">
        <p14:creationId xmlns:p14="http://schemas.microsoft.com/office/powerpoint/2010/main" val="42745292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Page - Textur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14B3C1D-068A-7379-ABBE-192981F59C35}"/>
              </a:ext>
            </a:extLst>
          </p:cNvPr>
          <p:cNvSpPr/>
          <p:nvPr userDrawn="1"/>
        </p:nvSpPr>
        <p:spPr>
          <a:xfrm rot="10800000" flipV="1">
            <a:off x="2" y="-3"/>
            <a:ext cx="12191998" cy="6858003"/>
          </a:xfrm>
          <a:prstGeom prst="rect">
            <a:avLst/>
          </a:prstGeom>
          <a:solidFill>
            <a:schemeClr val="tx1"/>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pic>
        <p:nvPicPr>
          <p:cNvPr id="7" name="Picture 6" descr="A close up of a blue and black diamond&#10;&#10;AI-generated content may be incorrect.">
            <a:extLst>
              <a:ext uri="{FF2B5EF4-FFF2-40B4-BE49-F238E27FC236}">
                <a16:creationId xmlns:a16="http://schemas.microsoft.com/office/drawing/2014/main" id="{506969F5-ADEC-B44E-47F5-1066D3C379C3}"/>
              </a:ext>
            </a:extLst>
          </p:cNvPr>
          <p:cNvPicPr/>
          <p:nvPr userDrawn="1"/>
        </p:nvPicPr>
        <p:blipFill>
          <a:blip r:embed="rId2">
            <a:alphaModFix/>
          </a:blip>
          <a:srcRect l="4628" t="1913" b="17076"/>
          <a:stretch/>
        </p:blipFill>
        <p:spPr>
          <a:xfrm flipH="1">
            <a:off x="0" y="1032697"/>
            <a:ext cx="12192000" cy="5825303"/>
          </a:xfrm>
          <a:prstGeom prst="rect">
            <a:avLst/>
          </a:prstGeom>
          <a:solidFill>
            <a:schemeClr val="bg2"/>
          </a:solidFill>
        </p:spPr>
      </p:pic>
      <p:sp>
        <p:nvSpPr>
          <p:cNvPr id="6" name="TextBox 5">
            <a:extLst>
              <a:ext uri="{FF2B5EF4-FFF2-40B4-BE49-F238E27FC236}">
                <a16:creationId xmlns:a16="http://schemas.microsoft.com/office/drawing/2014/main" id="{550B9285-DE88-A14F-9C1D-5AC88D36343B}"/>
              </a:ext>
            </a:extLst>
          </p:cNvPr>
          <p:cNvSpPr txBox="1"/>
          <p:nvPr userDrawn="1"/>
        </p:nvSpPr>
        <p:spPr>
          <a:xfrm>
            <a:off x="9144001" y="6248401"/>
            <a:ext cx="2743200" cy="380994"/>
          </a:xfrm>
          <a:prstGeom prst="rect">
            <a:avLst/>
          </a:prstGeom>
          <a:noFill/>
        </p:spPr>
        <p:txBody>
          <a:bodyPr wrap="square" bIns="0" rtlCol="0" anchor="b">
            <a:no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800" b="0" i="0">
                <a:solidFill>
                  <a:schemeClr val="bg2">
                    <a:lumMod val="75000"/>
                  </a:schemeClr>
                </a:solidFill>
                <a:latin typeface="+mn-lt"/>
                <a:ea typeface="+mn-ea"/>
                <a:cs typeface="+mn-cs"/>
              </a:rPr>
              <a:t>© 2026 Merkle, Inc. All Rights Reserved. Confidential.</a:t>
            </a:r>
          </a:p>
        </p:txBody>
      </p:sp>
      <p:sp>
        <p:nvSpPr>
          <p:cNvPr id="12" name="Text Placeholder 11">
            <a:extLst>
              <a:ext uri="{FF2B5EF4-FFF2-40B4-BE49-F238E27FC236}">
                <a16:creationId xmlns:a16="http://schemas.microsoft.com/office/drawing/2014/main" id="{B4853A57-0F0E-9C65-77B8-2E99CD256668}"/>
              </a:ext>
            </a:extLst>
          </p:cNvPr>
          <p:cNvSpPr>
            <a:spLocks noGrp="1"/>
          </p:cNvSpPr>
          <p:nvPr>
            <p:ph type="body" sz="quarter" idx="11" hasCustomPrompt="1"/>
          </p:nvPr>
        </p:nvSpPr>
        <p:spPr>
          <a:xfrm>
            <a:off x="915725" y="4078225"/>
            <a:ext cx="5559552" cy="301752"/>
          </a:xfrm>
        </p:spPr>
        <p:txBody>
          <a:bodyPr lIns="137160"/>
          <a:lstStyle>
            <a:lvl1pPr marL="0" indent="0">
              <a:buNone/>
              <a:defRPr sz="900" b="1" cap="all" spc="200" baseline="0">
                <a:solidFill>
                  <a:schemeClr val="bg1"/>
                </a:solidFill>
                <a:latin typeface="+mn-lt"/>
              </a:defRPr>
            </a:lvl1pPr>
          </a:lstStyle>
          <a:p>
            <a:pPr lvl="0"/>
            <a:r>
              <a:rPr lang="en-US"/>
              <a:t>MONTH 00, 2026</a:t>
            </a:r>
          </a:p>
        </p:txBody>
      </p:sp>
      <p:sp>
        <p:nvSpPr>
          <p:cNvPr id="3" name="Title 1">
            <a:extLst>
              <a:ext uri="{FF2B5EF4-FFF2-40B4-BE49-F238E27FC236}">
                <a16:creationId xmlns:a16="http://schemas.microsoft.com/office/drawing/2014/main" id="{14B74312-9F4F-6B46-8C12-AD998C1F3FD7}"/>
              </a:ext>
            </a:extLst>
          </p:cNvPr>
          <p:cNvSpPr>
            <a:spLocks noGrp="1"/>
          </p:cNvSpPr>
          <p:nvPr>
            <p:ph type="title" hasCustomPrompt="1"/>
          </p:nvPr>
        </p:nvSpPr>
        <p:spPr>
          <a:xfrm>
            <a:off x="915725" y="557784"/>
            <a:ext cx="6688233" cy="2871216"/>
          </a:xfrm>
        </p:spPr>
        <p:txBody>
          <a:bodyPr anchor="b">
            <a:noAutofit/>
          </a:bodyPr>
          <a:lstStyle>
            <a:lvl1pPr>
              <a:lnSpc>
                <a:spcPct val="85000"/>
              </a:lnSpc>
              <a:defRPr sz="6000" b="0" cap="none" spc="-50" baseline="0">
                <a:solidFill>
                  <a:schemeClr val="bg1"/>
                </a:solidFill>
              </a:defRPr>
            </a:lvl1pPr>
          </a:lstStyle>
          <a:p>
            <a:r>
              <a:rPr lang="en-US"/>
              <a:t>Click to edit </a:t>
            </a:r>
            <a:br>
              <a:rPr lang="en-US"/>
            </a:br>
            <a:r>
              <a:rPr lang="en-US"/>
              <a:t>master title</a:t>
            </a:r>
          </a:p>
        </p:txBody>
      </p:sp>
      <p:sp>
        <p:nvSpPr>
          <p:cNvPr id="4" name="Text Placeholder 12">
            <a:extLst>
              <a:ext uri="{FF2B5EF4-FFF2-40B4-BE49-F238E27FC236}">
                <a16:creationId xmlns:a16="http://schemas.microsoft.com/office/drawing/2014/main" id="{93CE22AD-41AE-BB99-8CE6-6E3E848661B1}"/>
              </a:ext>
            </a:extLst>
          </p:cNvPr>
          <p:cNvSpPr>
            <a:spLocks noGrp="1"/>
          </p:cNvSpPr>
          <p:nvPr>
            <p:ph type="body" sz="quarter" idx="10" hasCustomPrompt="1"/>
          </p:nvPr>
        </p:nvSpPr>
        <p:spPr>
          <a:xfrm>
            <a:off x="915725" y="3483865"/>
            <a:ext cx="5559552" cy="420624"/>
          </a:xfrm>
        </p:spPr>
        <p:txBody>
          <a:bodyPr lIns="137160" tIns="45720">
            <a:noAutofit/>
          </a:bodyPr>
          <a:lstStyle>
            <a:lvl1pPr marL="0" indent="0">
              <a:buNone/>
              <a:defRPr sz="1400" b="0" cap="none" spc="0" baseline="0">
                <a:solidFill>
                  <a:schemeClr val="bg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marL="0" lvl="0" indent="0">
              <a:buNone/>
            </a:pPr>
            <a:r>
              <a:rPr lang="en-US"/>
              <a:t>Click to edit sub-headline</a:t>
            </a:r>
          </a:p>
        </p:txBody>
      </p:sp>
      <p:grpSp>
        <p:nvGrpSpPr>
          <p:cNvPr id="2" name="Group 1">
            <a:extLst>
              <a:ext uri="{FF2B5EF4-FFF2-40B4-BE49-F238E27FC236}">
                <a16:creationId xmlns:a16="http://schemas.microsoft.com/office/drawing/2014/main" id="{3EBF09FC-180F-E29A-7A91-1C442C3EC016}"/>
              </a:ext>
            </a:extLst>
          </p:cNvPr>
          <p:cNvGrpSpPr/>
          <p:nvPr userDrawn="1"/>
        </p:nvGrpSpPr>
        <p:grpSpPr>
          <a:xfrm>
            <a:off x="896112" y="6351752"/>
            <a:ext cx="1405514" cy="174291"/>
            <a:chOff x="419100" y="6294132"/>
            <a:chExt cx="1400350" cy="173651"/>
          </a:xfrm>
        </p:grpSpPr>
        <p:pic>
          <p:nvPicPr>
            <p:cNvPr id="9" name="Graphic 8">
              <a:extLst>
                <a:ext uri="{FF2B5EF4-FFF2-40B4-BE49-F238E27FC236}">
                  <a16:creationId xmlns:a16="http://schemas.microsoft.com/office/drawing/2014/main" id="{D236A869-04E1-3878-AD99-89339143F0D0}"/>
                </a:ext>
              </a:extLst>
            </p:cNvPr>
            <p:cNvPicPr>
              <a:picLocks noChangeAspect="1"/>
            </p:cNvPicPr>
            <p:nvPr/>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l="8163" b="315"/>
            <a:stretch/>
          </p:blipFill>
          <p:spPr>
            <a:xfrm>
              <a:off x="533400" y="6294132"/>
              <a:ext cx="1286050" cy="173651"/>
            </a:xfrm>
            <a:prstGeom prst="rect">
              <a:avLst/>
            </a:prstGeom>
          </p:spPr>
        </p:pic>
        <p:pic>
          <p:nvPicPr>
            <p:cNvPr id="10" name="Graphic 9">
              <a:extLst>
                <a:ext uri="{FF2B5EF4-FFF2-40B4-BE49-F238E27FC236}">
                  <a16:creationId xmlns:a16="http://schemas.microsoft.com/office/drawing/2014/main" id="{125594D8-D3CE-ECC4-A0B1-D8D532BF3801}"/>
                </a:ext>
              </a:extLst>
            </p:cNvPr>
            <p:cNvPicPr>
              <a:picLocks noChangeAspect="1"/>
            </p:cNvPicPr>
            <p:nvPr/>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r="91838" b="315"/>
            <a:stretch/>
          </p:blipFill>
          <p:spPr>
            <a:xfrm>
              <a:off x="419100" y="6294132"/>
              <a:ext cx="114300" cy="173651"/>
            </a:xfrm>
            <a:prstGeom prst="rect">
              <a:avLst/>
            </a:prstGeom>
          </p:spPr>
        </p:pic>
      </p:grpSp>
    </p:spTree>
    <p:extLst>
      <p:ext uri="{BB962C8B-B14F-4D97-AF65-F5344CB8AC3E}">
        <p14:creationId xmlns:p14="http://schemas.microsoft.com/office/powerpoint/2010/main" val="9485224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Page - Texture 2">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C125187-8ABF-297F-4A0C-0C776D86858E}"/>
              </a:ext>
            </a:extLst>
          </p:cNvPr>
          <p:cNvSpPr/>
          <p:nvPr userDrawn="1"/>
        </p:nvSpPr>
        <p:spPr>
          <a:xfrm rot="10800000" flipV="1">
            <a:off x="2" y="-3"/>
            <a:ext cx="12191998" cy="6858003"/>
          </a:xfrm>
          <a:prstGeom prst="rect">
            <a:avLst/>
          </a:prstGeom>
          <a:solidFill>
            <a:schemeClr val="tx1"/>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pic>
        <p:nvPicPr>
          <p:cNvPr id="4" name="Picture 3" descr="A close up of a crystal&#10;&#10;Description automatically generated">
            <a:extLst>
              <a:ext uri="{FF2B5EF4-FFF2-40B4-BE49-F238E27FC236}">
                <a16:creationId xmlns:a16="http://schemas.microsoft.com/office/drawing/2014/main" id="{2410A003-B644-4A74-49AF-2FBF7573BAA5}"/>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6" name="TextBox 5">
            <a:extLst>
              <a:ext uri="{FF2B5EF4-FFF2-40B4-BE49-F238E27FC236}">
                <a16:creationId xmlns:a16="http://schemas.microsoft.com/office/drawing/2014/main" id="{550B9285-DE88-A14F-9C1D-5AC88D36343B}"/>
              </a:ext>
            </a:extLst>
          </p:cNvPr>
          <p:cNvSpPr txBox="1"/>
          <p:nvPr userDrawn="1"/>
        </p:nvSpPr>
        <p:spPr>
          <a:xfrm>
            <a:off x="9144001" y="6248401"/>
            <a:ext cx="2743200" cy="380994"/>
          </a:xfrm>
          <a:prstGeom prst="rect">
            <a:avLst/>
          </a:prstGeom>
          <a:noFill/>
        </p:spPr>
        <p:txBody>
          <a:bodyPr wrap="square" bIns="0" rtlCol="0" anchor="b">
            <a:no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800" b="0" i="0">
                <a:solidFill>
                  <a:schemeClr val="bg2">
                    <a:lumMod val="75000"/>
                  </a:schemeClr>
                </a:solidFill>
                <a:latin typeface="+mn-lt"/>
                <a:ea typeface="+mn-ea"/>
                <a:cs typeface="+mn-cs"/>
              </a:rPr>
              <a:t>© 2026 Merkle, Inc. All Rights Reserved. Confidential.</a:t>
            </a:r>
          </a:p>
        </p:txBody>
      </p:sp>
      <p:sp>
        <p:nvSpPr>
          <p:cNvPr id="12" name="Text Placeholder 11">
            <a:extLst>
              <a:ext uri="{FF2B5EF4-FFF2-40B4-BE49-F238E27FC236}">
                <a16:creationId xmlns:a16="http://schemas.microsoft.com/office/drawing/2014/main" id="{B4853A57-0F0E-9C65-77B8-2E99CD256668}"/>
              </a:ext>
            </a:extLst>
          </p:cNvPr>
          <p:cNvSpPr>
            <a:spLocks noGrp="1"/>
          </p:cNvSpPr>
          <p:nvPr>
            <p:ph type="body" sz="quarter" idx="11" hasCustomPrompt="1"/>
          </p:nvPr>
        </p:nvSpPr>
        <p:spPr>
          <a:xfrm>
            <a:off x="915725" y="4078224"/>
            <a:ext cx="5559552" cy="301752"/>
          </a:xfrm>
        </p:spPr>
        <p:txBody>
          <a:bodyPr lIns="137160"/>
          <a:lstStyle>
            <a:lvl1pPr marL="0" indent="0">
              <a:buNone/>
              <a:defRPr sz="900" b="1" cap="all" spc="200" baseline="0">
                <a:solidFill>
                  <a:schemeClr val="bg1"/>
                </a:solidFill>
              </a:defRPr>
            </a:lvl1pPr>
          </a:lstStyle>
          <a:p>
            <a:pPr lvl="0"/>
            <a:r>
              <a:rPr lang="en-US"/>
              <a:t>MONTH 00, 2026</a:t>
            </a:r>
          </a:p>
        </p:txBody>
      </p:sp>
      <p:sp>
        <p:nvSpPr>
          <p:cNvPr id="3" name="Title 1">
            <a:extLst>
              <a:ext uri="{FF2B5EF4-FFF2-40B4-BE49-F238E27FC236}">
                <a16:creationId xmlns:a16="http://schemas.microsoft.com/office/drawing/2014/main" id="{A4009EE5-8318-57AF-CAFA-3F10883CC16B}"/>
              </a:ext>
            </a:extLst>
          </p:cNvPr>
          <p:cNvSpPr>
            <a:spLocks noGrp="1"/>
          </p:cNvSpPr>
          <p:nvPr>
            <p:ph type="title" hasCustomPrompt="1"/>
          </p:nvPr>
        </p:nvSpPr>
        <p:spPr>
          <a:xfrm>
            <a:off x="915725" y="557783"/>
            <a:ext cx="6688233" cy="2871216"/>
          </a:xfrm>
        </p:spPr>
        <p:txBody>
          <a:bodyPr anchor="b">
            <a:noAutofit/>
          </a:bodyPr>
          <a:lstStyle>
            <a:lvl1pPr>
              <a:lnSpc>
                <a:spcPct val="85000"/>
              </a:lnSpc>
              <a:defRPr sz="6000" b="0" cap="none" spc="-50" baseline="0">
                <a:solidFill>
                  <a:schemeClr val="bg1"/>
                </a:solidFill>
              </a:defRPr>
            </a:lvl1pPr>
          </a:lstStyle>
          <a:p>
            <a:r>
              <a:rPr lang="en-US"/>
              <a:t>Click to edit </a:t>
            </a:r>
            <a:br>
              <a:rPr lang="en-US"/>
            </a:br>
            <a:r>
              <a:rPr lang="en-US"/>
              <a:t>master title</a:t>
            </a:r>
          </a:p>
        </p:txBody>
      </p:sp>
      <p:sp>
        <p:nvSpPr>
          <p:cNvPr id="5" name="Text Placeholder 12">
            <a:extLst>
              <a:ext uri="{FF2B5EF4-FFF2-40B4-BE49-F238E27FC236}">
                <a16:creationId xmlns:a16="http://schemas.microsoft.com/office/drawing/2014/main" id="{AEAD708F-F6C6-EE02-0A4A-660B5732235F}"/>
              </a:ext>
            </a:extLst>
          </p:cNvPr>
          <p:cNvSpPr>
            <a:spLocks noGrp="1"/>
          </p:cNvSpPr>
          <p:nvPr>
            <p:ph type="body" sz="quarter" idx="10" hasCustomPrompt="1"/>
          </p:nvPr>
        </p:nvSpPr>
        <p:spPr>
          <a:xfrm>
            <a:off x="915725" y="3483864"/>
            <a:ext cx="5559552" cy="420624"/>
          </a:xfrm>
        </p:spPr>
        <p:txBody>
          <a:bodyPr lIns="137160" tIns="45720">
            <a:noAutofit/>
          </a:bodyPr>
          <a:lstStyle>
            <a:lvl1pPr marL="0" indent="0">
              <a:buNone/>
              <a:defRPr sz="1400" b="0" cap="none" spc="0" baseline="0">
                <a:solidFill>
                  <a:schemeClr val="bg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marL="0" lvl="0" indent="0">
              <a:buNone/>
            </a:pPr>
            <a:r>
              <a:rPr lang="en-US"/>
              <a:t>Click to edit sub-headline</a:t>
            </a:r>
          </a:p>
        </p:txBody>
      </p:sp>
      <p:grpSp>
        <p:nvGrpSpPr>
          <p:cNvPr id="2" name="Group 1">
            <a:extLst>
              <a:ext uri="{FF2B5EF4-FFF2-40B4-BE49-F238E27FC236}">
                <a16:creationId xmlns:a16="http://schemas.microsoft.com/office/drawing/2014/main" id="{E28ECA3B-CFD3-A2E6-5A2D-0128B6634369}"/>
              </a:ext>
            </a:extLst>
          </p:cNvPr>
          <p:cNvGrpSpPr/>
          <p:nvPr userDrawn="1"/>
        </p:nvGrpSpPr>
        <p:grpSpPr>
          <a:xfrm>
            <a:off x="896112" y="6351752"/>
            <a:ext cx="1405514" cy="174291"/>
            <a:chOff x="419100" y="6294132"/>
            <a:chExt cx="1400350" cy="173651"/>
          </a:xfrm>
        </p:grpSpPr>
        <p:pic>
          <p:nvPicPr>
            <p:cNvPr id="9" name="Graphic 8">
              <a:extLst>
                <a:ext uri="{FF2B5EF4-FFF2-40B4-BE49-F238E27FC236}">
                  <a16:creationId xmlns:a16="http://schemas.microsoft.com/office/drawing/2014/main" id="{2B80F0CB-B009-C3E2-543B-146A6093453F}"/>
                </a:ext>
              </a:extLst>
            </p:cNvPr>
            <p:cNvPicPr>
              <a:picLocks noChangeAspect="1"/>
            </p:cNvPicPr>
            <p:nvPr/>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l="8163" b="315"/>
            <a:stretch/>
          </p:blipFill>
          <p:spPr>
            <a:xfrm>
              <a:off x="533400" y="6294132"/>
              <a:ext cx="1286050" cy="173651"/>
            </a:xfrm>
            <a:prstGeom prst="rect">
              <a:avLst/>
            </a:prstGeom>
          </p:spPr>
        </p:pic>
        <p:pic>
          <p:nvPicPr>
            <p:cNvPr id="10" name="Graphic 9">
              <a:extLst>
                <a:ext uri="{FF2B5EF4-FFF2-40B4-BE49-F238E27FC236}">
                  <a16:creationId xmlns:a16="http://schemas.microsoft.com/office/drawing/2014/main" id="{DDD7CB60-82BC-BB4C-BC2B-41911FF1A57D}"/>
                </a:ext>
              </a:extLst>
            </p:cNvPr>
            <p:cNvPicPr>
              <a:picLocks noChangeAspect="1"/>
            </p:cNvPicPr>
            <p:nvPr/>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r="91838" b="315"/>
            <a:stretch/>
          </p:blipFill>
          <p:spPr>
            <a:xfrm>
              <a:off x="419100" y="6294132"/>
              <a:ext cx="114300" cy="173651"/>
            </a:xfrm>
            <a:prstGeom prst="rect">
              <a:avLst/>
            </a:prstGeom>
          </p:spPr>
        </p:pic>
      </p:grpSp>
    </p:spTree>
    <p:extLst>
      <p:ext uri="{BB962C8B-B14F-4D97-AF65-F5344CB8AC3E}">
        <p14:creationId xmlns:p14="http://schemas.microsoft.com/office/powerpoint/2010/main" val="3161148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Page - Texture 3">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99B2BC9-DE54-0166-1F24-4CBB8C07C866}"/>
              </a:ext>
            </a:extLst>
          </p:cNvPr>
          <p:cNvSpPr/>
          <p:nvPr userDrawn="1"/>
        </p:nvSpPr>
        <p:spPr>
          <a:xfrm rot="10800000" flipV="1">
            <a:off x="2" y="-3"/>
            <a:ext cx="12191998" cy="6858003"/>
          </a:xfrm>
          <a:prstGeom prst="rect">
            <a:avLst/>
          </a:prstGeom>
          <a:solidFill>
            <a:schemeClr val="tx1"/>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pic>
        <p:nvPicPr>
          <p:cNvPr id="3" name="Picture 2" descr="A close up of a blue and black background&#10;&#10;Description automatically generated">
            <a:extLst>
              <a:ext uri="{FF2B5EF4-FFF2-40B4-BE49-F238E27FC236}">
                <a16:creationId xmlns:a16="http://schemas.microsoft.com/office/drawing/2014/main" id="{6DCF780F-80F9-51BE-CE81-C818AF10AEF2}"/>
              </a:ext>
            </a:extLst>
          </p:cNvPr>
          <p:cNvPicPr>
            <a:picLocks noChangeAspect="1"/>
          </p:cNvPicPr>
          <p:nvPr userDrawn="1"/>
        </p:nvPicPr>
        <p:blipFill>
          <a:blip r:embed="rId2"/>
          <a:srcRect t="15344" b="9160"/>
          <a:stretch/>
        </p:blipFill>
        <p:spPr>
          <a:xfrm rot="10800000">
            <a:off x="0" y="1680518"/>
            <a:ext cx="12192000" cy="5177481"/>
          </a:xfrm>
          <a:prstGeom prst="rect">
            <a:avLst/>
          </a:prstGeom>
        </p:spPr>
      </p:pic>
      <p:sp>
        <p:nvSpPr>
          <p:cNvPr id="6" name="TextBox 5">
            <a:extLst>
              <a:ext uri="{FF2B5EF4-FFF2-40B4-BE49-F238E27FC236}">
                <a16:creationId xmlns:a16="http://schemas.microsoft.com/office/drawing/2014/main" id="{550B9285-DE88-A14F-9C1D-5AC88D36343B}"/>
              </a:ext>
            </a:extLst>
          </p:cNvPr>
          <p:cNvSpPr txBox="1"/>
          <p:nvPr userDrawn="1"/>
        </p:nvSpPr>
        <p:spPr>
          <a:xfrm>
            <a:off x="9144001" y="6248401"/>
            <a:ext cx="2743200" cy="380994"/>
          </a:xfrm>
          <a:prstGeom prst="rect">
            <a:avLst/>
          </a:prstGeom>
          <a:noFill/>
        </p:spPr>
        <p:txBody>
          <a:bodyPr wrap="square" bIns="0" rtlCol="0" anchor="b">
            <a:no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800" b="0" i="0">
                <a:solidFill>
                  <a:schemeClr val="bg2">
                    <a:lumMod val="75000"/>
                  </a:schemeClr>
                </a:solidFill>
                <a:latin typeface="+mn-lt"/>
                <a:ea typeface="+mn-ea"/>
                <a:cs typeface="+mn-cs"/>
              </a:rPr>
              <a:t>© 2026 Merkle, Inc. All Rights Reserved. Confidential.</a:t>
            </a:r>
          </a:p>
        </p:txBody>
      </p:sp>
      <p:sp>
        <p:nvSpPr>
          <p:cNvPr id="12" name="Text Placeholder 11">
            <a:extLst>
              <a:ext uri="{FF2B5EF4-FFF2-40B4-BE49-F238E27FC236}">
                <a16:creationId xmlns:a16="http://schemas.microsoft.com/office/drawing/2014/main" id="{B4853A57-0F0E-9C65-77B8-2E99CD256668}"/>
              </a:ext>
            </a:extLst>
          </p:cNvPr>
          <p:cNvSpPr>
            <a:spLocks noGrp="1"/>
          </p:cNvSpPr>
          <p:nvPr>
            <p:ph type="body" sz="quarter" idx="11" hasCustomPrompt="1"/>
          </p:nvPr>
        </p:nvSpPr>
        <p:spPr>
          <a:xfrm>
            <a:off x="915725" y="4078225"/>
            <a:ext cx="5559552" cy="301752"/>
          </a:xfrm>
        </p:spPr>
        <p:txBody>
          <a:bodyPr lIns="137160"/>
          <a:lstStyle>
            <a:lvl1pPr marL="0" indent="0">
              <a:buNone/>
              <a:defRPr sz="900" b="1" cap="all" spc="200" baseline="0">
                <a:solidFill>
                  <a:schemeClr val="bg1"/>
                </a:solidFill>
              </a:defRPr>
            </a:lvl1pPr>
          </a:lstStyle>
          <a:p>
            <a:pPr lvl="0"/>
            <a:r>
              <a:rPr lang="en-US"/>
              <a:t>MONTH 00, 2026</a:t>
            </a:r>
          </a:p>
        </p:txBody>
      </p:sp>
      <p:sp>
        <p:nvSpPr>
          <p:cNvPr id="4" name="Title 1">
            <a:extLst>
              <a:ext uri="{FF2B5EF4-FFF2-40B4-BE49-F238E27FC236}">
                <a16:creationId xmlns:a16="http://schemas.microsoft.com/office/drawing/2014/main" id="{85F3753E-AAD3-BFAA-F724-9A60053E238F}"/>
              </a:ext>
            </a:extLst>
          </p:cNvPr>
          <p:cNvSpPr>
            <a:spLocks noGrp="1"/>
          </p:cNvSpPr>
          <p:nvPr>
            <p:ph type="title" hasCustomPrompt="1"/>
          </p:nvPr>
        </p:nvSpPr>
        <p:spPr>
          <a:xfrm>
            <a:off x="915725" y="557784"/>
            <a:ext cx="6688233" cy="2871216"/>
          </a:xfrm>
        </p:spPr>
        <p:txBody>
          <a:bodyPr anchor="b">
            <a:noAutofit/>
          </a:bodyPr>
          <a:lstStyle>
            <a:lvl1pPr>
              <a:lnSpc>
                <a:spcPct val="85000"/>
              </a:lnSpc>
              <a:defRPr sz="6000" b="0" cap="none" spc="-50" baseline="0">
                <a:solidFill>
                  <a:schemeClr val="bg1"/>
                </a:solidFill>
              </a:defRPr>
            </a:lvl1pPr>
          </a:lstStyle>
          <a:p>
            <a:r>
              <a:rPr lang="en-US"/>
              <a:t>Click to edit </a:t>
            </a:r>
            <a:br>
              <a:rPr lang="en-US"/>
            </a:br>
            <a:r>
              <a:rPr lang="en-US"/>
              <a:t>master title</a:t>
            </a:r>
          </a:p>
        </p:txBody>
      </p:sp>
      <p:sp>
        <p:nvSpPr>
          <p:cNvPr id="5" name="Text Placeholder 12">
            <a:extLst>
              <a:ext uri="{FF2B5EF4-FFF2-40B4-BE49-F238E27FC236}">
                <a16:creationId xmlns:a16="http://schemas.microsoft.com/office/drawing/2014/main" id="{5E88FC64-C2BF-6FC5-A172-441256DE6C5B}"/>
              </a:ext>
            </a:extLst>
          </p:cNvPr>
          <p:cNvSpPr>
            <a:spLocks noGrp="1"/>
          </p:cNvSpPr>
          <p:nvPr>
            <p:ph type="body" sz="quarter" idx="10" hasCustomPrompt="1"/>
          </p:nvPr>
        </p:nvSpPr>
        <p:spPr>
          <a:xfrm>
            <a:off x="915725" y="3483865"/>
            <a:ext cx="5559552" cy="420624"/>
          </a:xfrm>
        </p:spPr>
        <p:txBody>
          <a:bodyPr lIns="137160" tIns="45720">
            <a:noAutofit/>
          </a:bodyPr>
          <a:lstStyle>
            <a:lvl1pPr marL="0" indent="0">
              <a:buNone/>
              <a:defRPr sz="1400" b="0" cap="none" spc="0" baseline="0">
                <a:solidFill>
                  <a:schemeClr val="bg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marL="0" lvl="0" indent="0">
              <a:buNone/>
            </a:pPr>
            <a:r>
              <a:rPr lang="en-US"/>
              <a:t>Click to edit sub-headline</a:t>
            </a:r>
          </a:p>
        </p:txBody>
      </p:sp>
      <p:grpSp>
        <p:nvGrpSpPr>
          <p:cNvPr id="2" name="Group 1">
            <a:extLst>
              <a:ext uri="{FF2B5EF4-FFF2-40B4-BE49-F238E27FC236}">
                <a16:creationId xmlns:a16="http://schemas.microsoft.com/office/drawing/2014/main" id="{C00A2EAE-7222-9761-9418-3316BA63F198}"/>
              </a:ext>
            </a:extLst>
          </p:cNvPr>
          <p:cNvGrpSpPr/>
          <p:nvPr userDrawn="1"/>
        </p:nvGrpSpPr>
        <p:grpSpPr>
          <a:xfrm>
            <a:off x="896112" y="6351752"/>
            <a:ext cx="1405514" cy="174291"/>
            <a:chOff x="419100" y="6294132"/>
            <a:chExt cx="1400350" cy="173651"/>
          </a:xfrm>
        </p:grpSpPr>
        <p:pic>
          <p:nvPicPr>
            <p:cNvPr id="9" name="Graphic 8">
              <a:extLst>
                <a:ext uri="{FF2B5EF4-FFF2-40B4-BE49-F238E27FC236}">
                  <a16:creationId xmlns:a16="http://schemas.microsoft.com/office/drawing/2014/main" id="{2972A630-63EB-CB8B-B0D5-79C14C540D60}"/>
                </a:ext>
              </a:extLst>
            </p:cNvPr>
            <p:cNvPicPr>
              <a:picLocks noChangeAspect="1"/>
            </p:cNvPicPr>
            <p:nvPr/>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l="8163" b="315"/>
            <a:stretch/>
          </p:blipFill>
          <p:spPr>
            <a:xfrm>
              <a:off x="533400" y="6294132"/>
              <a:ext cx="1286050" cy="173651"/>
            </a:xfrm>
            <a:prstGeom prst="rect">
              <a:avLst/>
            </a:prstGeom>
          </p:spPr>
        </p:pic>
        <p:pic>
          <p:nvPicPr>
            <p:cNvPr id="10" name="Graphic 9">
              <a:extLst>
                <a:ext uri="{FF2B5EF4-FFF2-40B4-BE49-F238E27FC236}">
                  <a16:creationId xmlns:a16="http://schemas.microsoft.com/office/drawing/2014/main" id="{98938FEE-80EE-7939-D67A-27E928B8CAB5}"/>
                </a:ext>
              </a:extLst>
            </p:cNvPr>
            <p:cNvPicPr>
              <a:picLocks noChangeAspect="1"/>
            </p:cNvPicPr>
            <p:nvPr/>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r="91838" b="315"/>
            <a:stretch/>
          </p:blipFill>
          <p:spPr>
            <a:xfrm>
              <a:off x="419100" y="6294132"/>
              <a:ext cx="114300" cy="173651"/>
            </a:xfrm>
            <a:prstGeom prst="rect">
              <a:avLst/>
            </a:prstGeom>
          </p:spPr>
        </p:pic>
      </p:grpSp>
    </p:spTree>
    <p:extLst>
      <p:ext uri="{BB962C8B-B14F-4D97-AF65-F5344CB8AC3E}">
        <p14:creationId xmlns:p14="http://schemas.microsoft.com/office/powerpoint/2010/main" val="12882563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Page - Full Bleed Image">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F99A5A2F-20B5-F28C-3CE4-6A12E0409F51}"/>
              </a:ext>
            </a:extLst>
          </p:cNvPr>
          <p:cNvGrpSpPr/>
          <p:nvPr userDrawn="1"/>
        </p:nvGrpSpPr>
        <p:grpSpPr>
          <a:xfrm>
            <a:off x="896112" y="6351752"/>
            <a:ext cx="1405514" cy="174291"/>
            <a:chOff x="419100" y="6294132"/>
            <a:chExt cx="1400350" cy="173651"/>
          </a:xfrm>
        </p:grpSpPr>
        <p:pic>
          <p:nvPicPr>
            <p:cNvPr id="7" name="Graphic 6">
              <a:extLst>
                <a:ext uri="{FF2B5EF4-FFF2-40B4-BE49-F238E27FC236}">
                  <a16:creationId xmlns:a16="http://schemas.microsoft.com/office/drawing/2014/main" id="{76E0F0CC-0C1B-E198-1E0B-76050D1E1C39}"/>
                </a:ext>
              </a:extLst>
            </p:cNvPr>
            <p:cNvPicPr>
              <a:picLocks noChangeAspect="1"/>
            </p:cNvPicPr>
            <p:nvPr/>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l="8163" b="315"/>
            <a:stretch/>
          </p:blipFill>
          <p:spPr>
            <a:xfrm>
              <a:off x="533400" y="6294132"/>
              <a:ext cx="1286050" cy="173651"/>
            </a:xfrm>
            <a:prstGeom prst="rect">
              <a:avLst/>
            </a:prstGeom>
          </p:spPr>
        </p:pic>
        <p:pic>
          <p:nvPicPr>
            <p:cNvPr id="9" name="Graphic 8">
              <a:extLst>
                <a:ext uri="{FF2B5EF4-FFF2-40B4-BE49-F238E27FC236}">
                  <a16:creationId xmlns:a16="http://schemas.microsoft.com/office/drawing/2014/main" id="{3A9F6F69-5AFC-56BA-0C17-E81E467AA49C}"/>
                </a:ext>
              </a:extLst>
            </p:cNvPr>
            <p:cNvPicPr>
              <a:picLocks noChangeAspect="1"/>
            </p:cNvPicPr>
            <p:nvPr/>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91838" b="315"/>
            <a:stretch/>
          </p:blipFill>
          <p:spPr>
            <a:xfrm>
              <a:off x="419100" y="6294132"/>
              <a:ext cx="114300" cy="173651"/>
            </a:xfrm>
            <a:prstGeom prst="rect">
              <a:avLst/>
            </a:prstGeom>
          </p:spPr>
        </p:pic>
      </p:grpSp>
      <p:sp>
        <p:nvSpPr>
          <p:cNvPr id="2" name="Picture Placeholder 1">
            <a:extLst>
              <a:ext uri="{FF2B5EF4-FFF2-40B4-BE49-F238E27FC236}">
                <a16:creationId xmlns:a16="http://schemas.microsoft.com/office/drawing/2014/main" id="{ADA0AC2B-DA1A-6CF5-8E52-82921CC8C9AB}"/>
              </a:ext>
            </a:extLst>
          </p:cNvPr>
          <p:cNvSpPr>
            <a:spLocks noGrp="1"/>
          </p:cNvSpPr>
          <p:nvPr>
            <p:ph type="pic" sz="quarter" idx="12" hasCustomPrompt="1"/>
          </p:nvPr>
        </p:nvSpPr>
        <p:spPr>
          <a:xfrm>
            <a:off x="0" y="1"/>
            <a:ext cx="12191998" cy="6858003"/>
          </a:xfrm>
          <a:custGeom>
            <a:avLst/>
            <a:gdLst>
              <a:gd name="connsiteX0" fmla="*/ 897269 w 12191998"/>
              <a:gd name="connsiteY0" fmla="*/ 6431624 h 6858003"/>
              <a:gd name="connsiteX1" fmla="*/ 993331 w 12191998"/>
              <a:gd name="connsiteY1" fmla="*/ 6528588 h 6858003"/>
              <a:gd name="connsiteX2" fmla="*/ 993331 w 12191998"/>
              <a:gd name="connsiteY2" fmla="*/ 6431624 h 6858003"/>
              <a:gd name="connsiteX3" fmla="*/ 1516925 w 12191998"/>
              <a:gd name="connsiteY3" fmla="*/ 6389274 h 6858003"/>
              <a:gd name="connsiteX4" fmla="*/ 1596273 w 12191998"/>
              <a:gd name="connsiteY4" fmla="*/ 6389274 h 6858003"/>
              <a:gd name="connsiteX5" fmla="*/ 1612525 w 12191998"/>
              <a:gd name="connsiteY5" fmla="*/ 6393128 h 6858003"/>
              <a:gd name="connsiteX6" fmla="*/ 1617305 w 12191998"/>
              <a:gd name="connsiteY6" fmla="*/ 6404690 h 6858003"/>
              <a:gd name="connsiteX7" fmla="*/ 1612525 w 12191998"/>
              <a:gd name="connsiteY7" fmla="*/ 6417214 h 6858003"/>
              <a:gd name="connsiteX8" fmla="*/ 1596273 w 12191998"/>
              <a:gd name="connsiteY8" fmla="*/ 6421550 h 6858003"/>
              <a:gd name="connsiteX9" fmla="*/ 1516925 w 12191998"/>
              <a:gd name="connsiteY9" fmla="*/ 6421550 h 6858003"/>
              <a:gd name="connsiteX10" fmla="*/ 1715460 w 12191998"/>
              <a:gd name="connsiteY10" fmla="*/ 6353146 h 6858003"/>
              <a:gd name="connsiteX11" fmla="*/ 1715460 w 12191998"/>
              <a:gd name="connsiteY11" fmla="*/ 6528495 h 6858003"/>
              <a:gd name="connsiteX12" fmla="*/ 1752796 w 12191998"/>
              <a:gd name="connsiteY12" fmla="*/ 6528495 h 6858003"/>
              <a:gd name="connsiteX13" fmla="*/ 1752796 w 12191998"/>
              <a:gd name="connsiteY13" fmla="*/ 6463461 h 6858003"/>
              <a:gd name="connsiteX14" fmla="*/ 1779122 w 12191998"/>
              <a:gd name="connsiteY14" fmla="*/ 6440820 h 6858003"/>
              <a:gd name="connsiteX15" fmla="*/ 1843741 w 12191998"/>
              <a:gd name="connsiteY15" fmla="*/ 6528495 h 6858003"/>
              <a:gd name="connsiteX16" fmla="*/ 1887299 w 12191998"/>
              <a:gd name="connsiteY16" fmla="*/ 6528495 h 6858003"/>
              <a:gd name="connsiteX17" fmla="*/ 1805928 w 12191998"/>
              <a:gd name="connsiteY17" fmla="*/ 6417697 h 6858003"/>
              <a:gd name="connsiteX18" fmla="*/ 1881555 w 12191998"/>
              <a:gd name="connsiteY18" fmla="*/ 6353146 h 6858003"/>
              <a:gd name="connsiteX19" fmla="*/ 1829860 w 12191998"/>
              <a:gd name="connsiteY19" fmla="*/ 6353146 h 6858003"/>
              <a:gd name="connsiteX20" fmla="*/ 1752796 w 12191998"/>
              <a:gd name="connsiteY20" fmla="*/ 6418661 h 6858003"/>
              <a:gd name="connsiteX21" fmla="*/ 1752796 w 12191998"/>
              <a:gd name="connsiteY21" fmla="*/ 6353146 h 6858003"/>
              <a:gd name="connsiteX22" fmla="*/ 1480119 w 12191998"/>
              <a:gd name="connsiteY22" fmla="*/ 6353146 h 6858003"/>
              <a:gd name="connsiteX23" fmla="*/ 1480119 w 12191998"/>
              <a:gd name="connsiteY23" fmla="*/ 6528495 h 6858003"/>
              <a:gd name="connsiteX24" fmla="*/ 1516925 w 12191998"/>
              <a:gd name="connsiteY24" fmla="*/ 6528495 h 6858003"/>
              <a:gd name="connsiteX25" fmla="*/ 1516925 w 12191998"/>
              <a:gd name="connsiteY25" fmla="*/ 6456716 h 6858003"/>
              <a:gd name="connsiteX26" fmla="*/ 1577631 w 12191998"/>
              <a:gd name="connsiteY26" fmla="*/ 6456716 h 6858003"/>
              <a:gd name="connsiteX27" fmla="*/ 1623519 w 12191998"/>
              <a:gd name="connsiteY27" fmla="*/ 6528495 h 6858003"/>
              <a:gd name="connsiteX28" fmla="*/ 1665104 w 12191998"/>
              <a:gd name="connsiteY28" fmla="*/ 6528495 h 6858003"/>
              <a:gd name="connsiteX29" fmla="*/ 1619217 w 12191998"/>
              <a:gd name="connsiteY29" fmla="*/ 6454790 h 6858003"/>
              <a:gd name="connsiteX30" fmla="*/ 1645507 w 12191998"/>
              <a:gd name="connsiteY30" fmla="*/ 6435521 h 6858003"/>
              <a:gd name="connsiteX31" fmla="*/ 1655067 w 12191998"/>
              <a:gd name="connsiteY31" fmla="*/ 6404691 h 6858003"/>
              <a:gd name="connsiteX32" fmla="*/ 1637859 w 12191998"/>
              <a:gd name="connsiteY32" fmla="*/ 6365671 h 6858003"/>
              <a:gd name="connsiteX33" fmla="*/ 1596751 w 12191998"/>
              <a:gd name="connsiteY33" fmla="*/ 6353146 h 6858003"/>
              <a:gd name="connsiteX34" fmla="*/ 2127612 w 12191998"/>
              <a:gd name="connsiteY34" fmla="*/ 6352198 h 6858003"/>
              <a:gd name="connsiteX35" fmla="*/ 2127612 w 12191998"/>
              <a:gd name="connsiteY35" fmla="*/ 6528494 h 6858003"/>
              <a:gd name="connsiteX36" fmla="*/ 2297579 w 12191998"/>
              <a:gd name="connsiteY36" fmla="*/ 6528494 h 6858003"/>
              <a:gd name="connsiteX37" fmla="*/ 2297579 w 12191998"/>
              <a:gd name="connsiteY37" fmla="*/ 6493138 h 6858003"/>
              <a:gd name="connsiteX38" fmla="*/ 2164479 w 12191998"/>
              <a:gd name="connsiteY38" fmla="*/ 6493138 h 6858003"/>
              <a:gd name="connsiteX39" fmla="*/ 2164479 w 12191998"/>
              <a:gd name="connsiteY39" fmla="*/ 6452939 h 6858003"/>
              <a:gd name="connsiteX40" fmla="*/ 2246830 w 12191998"/>
              <a:gd name="connsiteY40" fmla="*/ 6452939 h 6858003"/>
              <a:gd name="connsiteX41" fmla="*/ 2246830 w 12191998"/>
              <a:gd name="connsiteY41" fmla="*/ 6417583 h 6858003"/>
              <a:gd name="connsiteX42" fmla="*/ 2164479 w 12191998"/>
              <a:gd name="connsiteY42" fmla="*/ 6417583 h 6858003"/>
              <a:gd name="connsiteX43" fmla="*/ 2164479 w 12191998"/>
              <a:gd name="connsiteY43" fmla="*/ 6388523 h 6858003"/>
              <a:gd name="connsiteX44" fmla="*/ 2290390 w 12191998"/>
              <a:gd name="connsiteY44" fmla="*/ 6388523 h 6858003"/>
              <a:gd name="connsiteX45" fmla="*/ 2290390 w 12191998"/>
              <a:gd name="connsiteY45" fmla="*/ 6352198 h 6858003"/>
              <a:gd name="connsiteX46" fmla="*/ 1930569 w 12191998"/>
              <a:gd name="connsiteY46" fmla="*/ 6352198 h 6858003"/>
              <a:gd name="connsiteX47" fmla="*/ 1930569 w 12191998"/>
              <a:gd name="connsiteY47" fmla="*/ 6528494 h 6858003"/>
              <a:gd name="connsiteX48" fmla="*/ 2087383 w 12191998"/>
              <a:gd name="connsiteY48" fmla="*/ 6528494 h 6858003"/>
              <a:gd name="connsiteX49" fmla="*/ 2087383 w 12191998"/>
              <a:gd name="connsiteY49" fmla="*/ 6493138 h 6858003"/>
              <a:gd name="connsiteX50" fmla="*/ 1967861 w 12191998"/>
              <a:gd name="connsiteY50" fmla="*/ 6493138 h 6858003"/>
              <a:gd name="connsiteX51" fmla="*/ 1967861 w 12191998"/>
              <a:gd name="connsiteY51" fmla="*/ 6352198 h 6858003"/>
              <a:gd name="connsiteX52" fmla="*/ 1265509 w 12191998"/>
              <a:gd name="connsiteY52" fmla="*/ 6352198 h 6858003"/>
              <a:gd name="connsiteX53" fmla="*/ 1265509 w 12191998"/>
              <a:gd name="connsiteY53" fmla="*/ 6528494 h 6858003"/>
              <a:gd name="connsiteX54" fmla="*/ 1435470 w 12191998"/>
              <a:gd name="connsiteY54" fmla="*/ 6528494 h 6858003"/>
              <a:gd name="connsiteX55" fmla="*/ 1435470 w 12191998"/>
              <a:gd name="connsiteY55" fmla="*/ 6493138 h 6858003"/>
              <a:gd name="connsiteX56" fmla="*/ 1302853 w 12191998"/>
              <a:gd name="connsiteY56" fmla="*/ 6493138 h 6858003"/>
              <a:gd name="connsiteX57" fmla="*/ 1302853 w 12191998"/>
              <a:gd name="connsiteY57" fmla="*/ 6452939 h 6858003"/>
              <a:gd name="connsiteX58" fmla="*/ 1385200 w 12191998"/>
              <a:gd name="connsiteY58" fmla="*/ 6452939 h 6858003"/>
              <a:gd name="connsiteX59" fmla="*/ 1385200 w 12191998"/>
              <a:gd name="connsiteY59" fmla="*/ 6417583 h 6858003"/>
              <a:gd name="connsiteX60" fmla="*/ 1302853 w 12191998"/>
              <a:gd name="connsiteY60" fmla="*/ 6417583 h 6858003"/>
              <a:gd name="connsiteX61" fmla="*/ 1302853 w 12191998"/>
              <a:gd name="connsiteY61" fmla="*/ 6388523 h 6858003"/>
              <a:gd name="connsiteX62" fmla="*/ 1428289 w 12191998"/>
              <a:gd name="connsiteY62" fmla="*/ 6388523 h 6858003"/>
              <a:gd name="connsiteX63" fmla="*/ 1428289 w 12191998"/>
              <a:gd name="connsiteY63" fmla="*/ 6352198 h 6858003"/>
              <a:gd name="connsiteX64" fmla="*/ 1030531 w 12191998"/>
              <a:gd name="connsiteY64" fmla="*/ 6352198 h 6858003"/>
              <a:gd name="connsiteX65" fmla="*/ 1030531 w 12191998"/>
              <a:gd name="connsiteY65" fmla="*/ 6529014 h 6858003"/>
              <a:gd name="connsiteX66" fmla="*/ 1067731 w 12191998"/>
              <a:gd name="connsiteY66" fmla="*/ 6529014 h 6858003"/>
              <a:gd name="connsiteX67" fmla="*/ 1067731 w 12191998"/>
              <a:gd name="connsiteY67" fmla="*/ 6423970 h 6858003"/>
              <a:gd name="connsiteX68" fmla="*/ 1123532 w 12191998"/>
              <a:gd name="connsiteY68" fmla="*/ 6480295 h 6858003"/>
              <a:gd name="connsiteX69" fmla="*/ 1179333 w 12191998"/>
              <a:gd name="connsiteY69" fmla="*/ 6423970 h 6858003"/>
              <a:gd name="connsiteX70" fmla="*/ 1179333 w 12191998"/>
              <a:gd name="connsiteY70" fmla="*/ 6529014 h 6858003"/>
              <a:gd name="connsiteX71" fmla="*/ 1216533 w 12191998"/>
              <a:gd name="connsiteY71" fmla="*/ 6529014 h 6858003"/>
              <a:gd name="connsiteX72" fmla="*/ 1216533 w 12191998"/>
              <a:gd name="connsiteY72" fmla="*/ 6352198 h 6858003"/>
              <a:gd name="connsiteX73" fmla="*/ 1196756 w 12191998"/>
              <a:gd name="connsiteY73" fmla="*/ 6352198 h 6858003"/>
              <a:gd name="connsiteX74" fmla="*/ 1124003 w 12191998"/>
              <a:gd name="connsiteY74" fmla="*/ 6426584 h 6858003"/>
              <a:gd name="connsiteX75" fmla="*/ 1050308 w 12191998"/>
              <a:gd name="connsiteY75" fmla="*/ 6352198 h 6858003"/>
              <a:gd name="connsiteX76" fmla="*/ 0 w 12191998"/>
              <a:gd name="connsiteY76" fmla="*/ 0 h 6858003"/>
              <a:gd name="connsiteX77" fmla="*/ 12191998 w 12191998"/>
              <a:gd name="connsiteY77" fmla="*/ 0 h 6858003"/>
              <a:gd name="connsiteX78" fmla="*/ 12191998 w 12191998"/>
              <a:gd name="connsiteY78" fmla="*/ 6858003 h 6858003"/>
              <a:gd name="connsiteX79" fmla="*/ 0 w 12191998"/>
              <a:gd name="connsiteY79" fmla="*/ 6858003 h 6858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Lst>
            <a:rect l="l" t="t" r="r" b="b"/>
            <a:pathLst>
              <a:path w="12191998" h="6858003">
                <a:moveTo>
                  <a:pt x="897269" y="6431624"/>
                </a:moveTo>
                <a:lnTo>
                  <a:pt x="993331" y="6528588"/>
                </a:lnTo>
                <a:lnTo>
                  <a:pt x="993331" y="6431624"/>
                </a:lnTo>
                <a:close/>
                <a:moveTo>
                  <a:pt x="1516925" y="6389274"/>
                </a:moveTo>
                <a:lnTo>
                  <a:pt x="1596273" y="6389274"/>
                </a:lnTo>
                <a:cubicBezTo>
                  <a:pt x="1603443" y="6389274"/>
                  <a:pt x="1609179" y="6390720"/>
                  <a:pt x="1612525" y="6393128"/>
                </a:cubicBezTo>
                <a:cubicBezTo>
                  <a:pt x="1615871" y="6396019"/>
                  <a:pt x="1617305" y="6399872"/>
                  <a:pt x="1617305" y="6404690"/>
                </a:cubicBezTo>
                <a:cubicBezTo>
                  <a:pt x="1617305" y="6409025"/>
                  <a:pt x="1615871" y="6412879"/>
                  <a:pt x="1612525" y="6417214"/>
                </a:cubicBezTo>
                <a:cubicBezTo>
                  <a:pt x="1609179" y="6420105"/>
                  <a:pt x="1603921" y="6421550"/>
                  <a:pt x="1596273" y="6421550"/>
                </a:cubicBezTo>
                <a:lnTo>
                  <a:pt x="1516925" y="6421550"/>
                </a:lnTo>
                <a:close/>
                <a:moveTo>
                  <a:pt x="1715460" y="6353146"/>
                </a:moveTo>
                <a:lnTo>
                  <a:pt x="1715460" y="6528495"/>
                </a:lnTo>
                <a:lnTo>
                  <a:pt x="1752796" y="6528495"/>
                </a:lnTo>
                <a:lnTo>
                  <a:pt x="1752796" y="6463461"/>
                </a:lnTo>
                <a:lnTo>
                  <a:pt x="1779122" y="6440820"/>
                </a:lnTo>
                <a:lnTo>
                  <a:pt x="1843741" y="6528495"/>
                </a:lnTo>
                <a:lnTo>
                  <a:pt x="1887299" y="6528495"/>
                </a:lnTo>
                <a:lnTo>
                  <a:pt x="1805928" y="6417697"/>
                </a:lnTo>
                <a:lnTo>
                  <a:pt x="1881555" y="6353146"/>
                </a:lnTo>
                <a:lnTo>
                  <a:pt x="1829860" y="6353146"/>
                </a:lnTo>
                <a:lnTo>
                  <a:pt x="1752796" y="6418661"/>
                </a:lnTo>
                <a:lnTo>
                  <a:pt x="1752796" y="6353146"/>
                </a:lnTo>
                <a:close/>
                <a:moveTo>
                  <a:pt x="1480119" y="6353146"/>
                </a:moveTo>
                <a:lnTo>
                  <a:pt x="1480119" y="6528495"/>
                </a:lnTo>
                <a:lnTo>
                  <a:pt x="1516925" y="6528495"/>
                </a:lnTo>
                <a:lnTo>
                  <a:pt x="1516925" y="6456716"/>
                </a:lnTo>
                <a:lnTo>
                  <a:pt x="1577631" y="6456716"/>
                </a:lnTo>
                <a:lnTo>
                  <a:pt x="1623519" y="6528495"/>
                </a:lnTo>
                <a:lnTo>
                  <a:pt x="1665104" y="6528495"/>
                </a:lnTo>
                <a:lnTo>
                  <a:pt x="1619217" y="6454790"/>
                </a:lnTo>
                <a:cubicBezTo>
                  <a:pt x="1630211" y="6450936"/>
                  <a:pt x="1638814" y="6444674"/>
                  <a:pt x="1645507" y="6435521"/>
                </a:cubicBezTo>
                <a:cubicBezTo>
                  <a:pt x="1651721" y="6426368"/>
                  <a:pt x="1655067" y="6416252"/>
                  <a:pt x="1655067" y="6404691"/>
                </a:cubicBezTo>
                <a:cubicBezTo>
                  <a:pt x="1655067" y="6387830"/>
                  <a:pt x="1649331" y="6374824"/>
                  <a:pt x="1637859" y="6365671"/>
                </a:cubicBezTo>
                <a:cubicBezTo>
                  <a:pt x="1627343" y="6357482"/>
                  <a:pt x="1613959" y="6353146"/>
                  <a:pt x="1596751" y="6353146"/>
                </a:cubicBezTo>
                <a:close/>
                <a:moveTo>
                  <a:pt x="2127612" y="6352198"/>
                </a:moveTo>
                <a:lnTo>
                  <a:pt x="2127612" y="6528494"/>
                </a:lnTo>
                <a:lnTo>
                  <a:pt x="2297579" y="6528494"/>
                </a:lnTo>
                <a:lnTo>
                  <a:pt x="2297579" y="6493138"/>
                </a:lnTo>
                <a:lnTo>
                  <a:pt x="2164479" y="6493138"/>
                </a:lnTo>
                <a:lnTo>
                  <a:pt x="2164479" y="6452939"/>
                </a:lnTo>
                <a:lnTo>
                  <a:pt x="2246830" y="6452939"/>
                </a:lnTo>
                <a:lnTo>
                  <a:pt x="2246830" y="6417583"/>
                </a:lnTo>
                <a:lnTo>
                  <a:pt x="2164479" y="6417583"/>
                </a:lnTo>
                <a:lnTo>
                  <a:pt x="2164479" y="6388523"/>
                </a:lnTo>
                <a:lnTo>
                  <a:pt x="2290390" y="6388523"/>
                </a:lnTo>
                <a:lnTo>
                  <a:pt x="2290390" y="6352198"/>
                </a:lnTo>
                <a:close/>
                <a:moveTo>
                  <a:pt x="1930569" y="6352198"/>
                </a:moveTo>
                <a:lnTo>
                  <a:pt x="1930569" y="6528494"/>
                </a:lnTo>
                <a:lnTo>
                  <a:pt x="2087383" y="6528494"/>
                </a:lnTo>
                <a:lnTo>
                  <a:pt x="2087383" y="6493138"/>
                </a:lnTo>
                <a:lnTo>
                  <a:pt x="1967861" y="6493138"/>
                </a:lnTo>
                <a:lnTo>
                  <a:pt x="1967861" y="6352198"/>
                </a:lnTo>
                <a:close/>
                <a:moveTo>
                  <a:pt x="1265509" y="6352198"/>
                </a:moveTo>
                <a:lnTo>
                  <a:pt x="1265509" y="6528494"/>
                </a:lnTo>
                <a:lnTo>
                  <a:pt x="1435470" y="6528494"/>
                </a:lnTo>
                <a:lnTo>
                  <a:pt x="1435470" y="6493138"/>
                </a:lnTo>
                <a:lnTo>
                  <a:pt x="1302853" y="6493138"/>
                </a:lnTo>
                <a:lnTo>
                  <a:pt x="1302853" y="6452939"/>
                </a:lnTo>
                <a:lnTo>
                  <a:pt x="1385200" y="6452939"/>
                </a:lnTo>
                <a:lnTo>
                  <a:pt x="1385200" y="6417583"/>
                </a:lnTo>
                <a:lnTo>
                  <a:pt x="1302853" y="6417583"/>
                </a:lnTo>
                <a:lnTo>
                  <a:pt x="1302853" y="6388523"/>
                </a:lnTo>
                <a:lnTo>
                  <a:pt x="1428289" y="6388523"/>
                </a:lnTo>
                <a:lnTo>
                  <a:pt x="1428289" y="6352198"/>
                </a:lnTo>
                <a:close/>
                <a:moveTo>
                  <a:pt x="1030531" y="6352198"/>
                </a:moveTo>
                <a:lnTo>
                  <a:pt x="1030531" y="6529014"/>
                </a:lnTo>
                <a:lnTo>
                  <a:pt x="1067731" y="6529014"/>
                </a:lnTo>
                <a:lnTo>
                  <a:pt x="1067731" y="6423970"/>
                </a:lnTo>
                <a:lnTo>
                  <a:pt x="1123532" y="6480295"/>
                </a:lnTo>
                <a:lnTo>
                  <a:pt x="1179333" y="6423970"/>
                </a:lnTo>
                <a:lnTo>
                  <a:pt x="1179333" y="6529014"/>
                </a:lnTo>
                <a:lnTo>
                  <a:pt x="1216533" y="6529014"/>
                </a:lnTo>
                <a:lnTo>
                  <a:pt x="1216533" y="6352198"/>
                </a:lnTo>
                <a:lnTo>
                  <a:pt x="1196756" y="6352198"/>
                </a:lnTo>
                <a:lnTo>
                  <a:pt x="1124003" y="6426584"/>
                </a:lnTo>
                <a:lnTo>
                  <a:pt x="1050308" y="6352198"/>
                </a:lnTo>
                <a:close/>
                <a:moveTo>
                  <a:pt x="0" y="0"/>
                </a:moveTo>
                <a:lnTo>
                  <a:pt x="12191998" y="0"/>
                </a:lnTo>
                <a:lnTo>
                  <a:pt x="12191998" y="6858003"/>
                </a:lnTo>
                <a:lnTo>
                  <a:pt x="0" y="6858003"/>
                </a:lnTo>
                <a:close/>
              </a:path>
            </a:pathLst>
          </a:custGeom>
          <a:solidFill>
            <a:schemeClr val="accent5"/>
          </a:solidFill>
        </p:spPr>
        <p:txBody>
          <a:bodyPr wrap="square">
            <a:noAutofit/>
          </a:bodyPr>
          <a:lstStyle>
            <a:lvl1pPr marL="66675" indent="0">
              <a:buNone/>
              <a:defRPr>
                <a:solidFill>
                  <a:schemeClr val="bg1"/>
                </a:solidFill>
              </a:defRPr>
            </a:lvl1pPr>
          </a:lstStyle>
          <a:p>
            <a:r>
              <a:rPr lang="en-US"/>
              <a:t>Full bleed image option – click on image icon to insert</a:t>
            </a:r>
          </a:p>
        </p:txBody>
      </p:sp>
      <p:sp>
        <p:nvSpPr>
          <p:cNvPr id="6" name="TextBox 5">
            <a:extLst>
              <a:ext uri="{FF2B5EF4-FFF2-40B4-BE49-F238E27FC236}">
                <a16:creationId xmlns:a16="http://schemas.microsoft.com/office/drawing/2014/main" id="{550B9285-DE88-A14F-9C1D-5AC88D36343B}"/>
              </a:ext>
            </a:extLst>
          </p:cNvPr>
          <p:cNvSpPr txBox="1"/>
          <p:nvPr userDrawn="1"/>
        </p:nvSpPr>
        <p:spPr>
          <a:xfrm>
            <a:off x="9144001" y="6248401"/>
            <a:ext cx="2743200" cy="380994"/>
          </a:xfrm>
          <a:prstGeom prst="rect">
            <a:avLst/>
          </a:prstGeom>
          <a:noFill/>
        </p:spPr>
        <p:txBody>
          <a:bodyPr wrap="square" bIns="0" rtlCol="0" anchor="b">
            <a:no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800" b="0" i="0">
                <a:solidFill>
                  <a:schemeClr val="bg2">
                    <a:lumMod val="75000"/>
                  </a:schemeClr>
                </a:solidFill>
                <a:latin typeface="+mn-lt"/>
                <a:ea typeface="+mn-ea"/>
                <a:cs typeface="+mn-cs"/>
              </a:rPr>
              <a:t>© 2026 Merkle, Inc. All Rights Reserved. Confidential.</a:t>
            </a:r>
          </a:p>
        </p:txBody>
      </p:sp>
      <p:sp>
        <p:nvSpPr>
          <p:cNvPr id="12" name="Text Placeholder 11">
            <a:extLst>
              <a:ext uri="{FF2B5EF4-FFF2-40B4-BE49-F238E27FC236}">
                <a16:creationId xmlns:a16="http://schemas.microsoft.com/office/drawing/2014/main" id="{B4853A57-0F0E-9C65-77B8-2E99CD256668}"/>
              </a:ext>
            </a:extLst>
          </p:cNvPr>
          <p:cNvSpPr>
            <a:spLocks noGrp="1"/>
          </p:cNvSpPr>
          <p:nvPr>
            <p:ph type="body" sz="quarter" idx="11" hasCustomPrompt="1"/>
          </p:nvPr>
        </p:nvSpPr>
        <p:spPr>
          <a:xfrm>
            <a:off x="915725" y="4078225"/>
            <a:ext cx="4113475" cy="301752"/>
          </a:xfrm>
        </p:spPr>
        <p:txBody>
          <a:bodyPr lIns="137160"/>
          <a:lstStyle>
            <a:lvl1pPr marL="0" indent="0">
              <a:buNone/>
              <a:defRPr sz="900" b="1" cap="all" spc="200" baseline="0">
                <a:solidFill>
                  <a:schemeClr val="bg1"/>
                </a:solidFill>
              </a:defRPr>
            </a:lvl1pPr>
          </a:lstStyle>
          <a:p>
            <a:pPr lvl="0"/>
            <a:r>
              <a:rPr lang="en-US"/>
              <a:t>MONTH 00, 2026</a:t>
            </a:r>
          </a:p>
        </p:txBody>
      </p:sp>
      <p:sp>
        <p:nvSpPr>
          <p:cNvPr id="4" name="Title 1">
            <a:extLst>
              <a:ext uri="{FF2B5EF4-FFF2-40B4-BE49-F238E27FC236}">
                <a16:creationId xmlns:a16="http://schemas.microsoft.com/office/drawing/2014/main" id="{88964F60-0CB7-9971-C168-FCFDE0732C0A}"/>
              </a:ext>
            </a:extLst>
          </p:cNvPr>
          <p:cNvSpPr>
            <a:spLocks noGrp="1"/>
          </p:cNvSpPr>
          <p:nvPr>
            <p:ph type="title" hasCustomPrompt="1"/>
          </p:nvPr>
        </p:nvSpPr>
        <p:spPr>
          <a:xfrm>
            <a:off x="915725" y="557784"/>
            <a:ext cx="6688233" cy="2871216"/>
          </a:xfrm>
        </p:spPr>
        <p:txBody>
          <a:bodyPr anchor="b">
            <a:noAutofit/>
          </a:bodyPr>
          <a:lstStyle>
            <a:lvl1pPr>
              <a:lnSpc>
                <a:spcPct val="85000"/>
              </a:lnSpc>
              <a:defRPr sz="6000" b="0" cap="none" spc="-50" baseline="0">
                <a:solidFill>
                  <a:schemeClr val="bg1"/>
                </a:solidFill>
              </a:defRPr>
            </a:lvl1pPr>
          </a:lstStyle>
          <a:p>
            <a:r>
              <a:rPr lang="en-US"/>
              <a:t>Click to edit </a:t>
            </a:r>
            <a:br>
              <a:rPr lang="en-US"/>
            </a:br>
            <a:r>
              <a:rPr lang="en-US"/>
              <a:t>master title</a:t>
            </a:r>
          </a:p>
        </p:txBody>
      </p:sp>
      <p:sp>
        <p:nvSpPr>
          <p:cNvPr id="5" name="Text Placeholder 12">
            <a:extLst>
              <a:ext uri="{FF2B5EF4-FFF2-40B4-BE49-F238E27FC236}">
                <a16:creationId xmlns:a16="http://schemas.microsoft.com/office/drawing/2014/main" id="{070EF911-B422-12D3-FAAC-6ACB96518D67}"/>
              </a:ext>
            </a:extLst>
          </p:cNvPr>
          <p:cNvSpPr>
            <a:spLocks noGrp="1"/>
          </p:cNvSpPr>
          <p:nvPr>
            <p:ph type="body" sz="quarter" idx="10" hasCustomPrompt="1"/>
          </p:nvPr>
        </p:nvSpPr>
        <p:spPr>
          <a:xfrm>
            <a:off x="915725" y="3483865"/>
            <a:ext cx="5559552" cy="420624"/>
          </a:xfrm>
        </p:spPr>
        <p:txBody>
          <a:bodyPr lIns="137160" tIns="45720">
            <a:noAutofit/>
          </a:bodyPr>
          <a:lstStyle>
            <a:lvl1pPr marL="0" indent="0">
              <a:buNone/>
              <a:defRPr sz="1400" b="0" cap="none" spc="0" baseline="0">
                <a:solidFill>
                  <a:schemeClr val="bg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marL="0" lvl="0" indent="0">
              <a:buNone/>
            </a:pPr>
            <a:r>
              <a:rPr lang="en-US"/>
              <a:t>Click to edit sub-headline</a:t>
            </a:r>
          </a:p>
        </p:txBody>
      </p:sp>
    </p:spTree>
    <p:extLst>
      <p:ext uri="{BB962C8B-B14F-4D97-AF65-F5344CB8AC3E}">
        <p14:creationId xmlns:p14="http://schemas.microsoft.com/office/powerpoint/2010/main" val="29685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Page + Imag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40610D9-A343-A0A7-B0BD-71547EB1CADE}"/>
              </a:ext>
            </a:extLst>
          </p:cNvPr>
          <p:cNvSpPr/>
          <p:nvPr userDrawn="1"/>
        </p:nvSpPr>
        <p:spPr>
          <a:xfrm rot="10800000" flipV="1">
            <a:off x="2" y="0"/>
            <a:ext cx="12191998" cy="6858003"/>
          </a:xfrm>
          <a:prstGeom prst="rect">
            <a:avLst/>
          </a:prstGeom>
          <a:solidFill>
            <a:schemeClr val="tx1"/>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sp>
        <p:nvSpPr>
          <p:cNvPr id="8" name="Freeform 7">
            <a:extLst>
              <a:ext uri="{FF2B5EF4-FFF2-40B4-BE49-F238E27FC236}">
                <a16:creationId xmlns:a16="http://schemas.microsoft.com/office/drawing/2014/main" id="{72D94023-5488-598F-9169-C6D19D7AA522}"/>
              </a:ext>
            </a:extLst>
          </p:cNvPr>
          <p:cNvSpPr/>
          <p:nvPr userDrawn="1"/>
        </p:nvSpPr>
        <p:spPr>
          <a:xfrm flipH="1">
            <a:off x="0" y="0"/>
            <a:ext cx="6933399" cy="6857999"/>
          </a:xfrm>
          <a:custGeom>
            <a:avLst/>
            <a:gdLst>
              <a:gd name="connsiteX0" fmla="*/ 6933399 w 6933399"/>
              <a:gd name="connsiteY0" fmla="*/ 0 h 6857999"/>
              <a:gd name="connsiteX1" fmla="*/ 0 w 6933399"/>
              <a:gd name="connsiteY1" fmla="*/ 0 h 6857999"/>
              <a:gd name="connsiteX2" fmla="*/ 1190078 w 6933399"/>
              <a:gd name="connsiteY2" fmla="*/ 6857999 h 6857999"/>
              <a:gd name="connsiteX3" fmla="*/ 6933399 w 6933399"/>
              <a:gd name="connsiteY3" fmla="*/ 6857999 h 6857999"/>
              <a:gd name="connsiteX4" fmla="*/ 6933399 w 6933399"/>
              <a:gd name="connsiteY4" fmla="*/ 0 h 68579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33399" h="6857999">
                <a:moveTo>
                  <a:pt x="6933399" y="0"/>
                </a:moveTo>
                <a:lnTo>
                  <a:pt x="0" y="0"/>
                </a:lnTo>
                <a:lnTo>
                  <a:pt x="1190078" y="6857999"/>
                </a:lnTo>
                <a:lnTo>
                  <a:pt x="6933399" y="6857999"/>
                </a:lnTo>
                <a:lnTo>
                  <a:pt x="6933399" y="0"/>
                </a:lnTo>
                <a:close/>
              </a:path>
            </a:pathLst>
          </a:cu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defPPr>
              <a:defRPr lang="en-DK"/>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b="1">
              <a:solidFill>
                <a:srgbClr val="FFFFFF"/>
              </a:solidFill>
            </a:endParaRPr>
          </a:p>
        </p:txBody>
      </p:sp>
      <p:sp>
        <p:nvSpPr>
          <p:cNvPr id="14" name="Picture Placeholder 8">
            <a:extLst>
              <a:ext uri="{FF2B5EF4-FFF2-40B4-BE49-F238E27FC236}">
                <a16:creationId xmlns:a16="http://schemas.microsoft.com/office/drawing/2014/main" id="{537750C2-2CFC-FA5F-F089-5D7BE482E244}"/>
              </a:ext>
            </a:extLst>
          </p:cNvPr>
          <p:cNvSpPr>
            <a:spLocks noGrp="1"/>
          </p:cNvSpPr>
          <p:nvPr>
            <p:ph type="pic" sz="quarter" idx="12" hasCustomPrompt="1"/>
          </p:nvPr>
        </p:nvSpPr>
        <p:spPr>
          <a:xfrm>
            <a:off x="5743322" y="0"/>
            <a:ext cx="6448678" cy="6858000"/>
          </a:xfrm>
          <a:custGeom>
            <a:avLst/>
            <a:gdLst>
              <a:gd name="connsiteX0" fmla="*/ 1190078 w 6448678"/>
              <a:gd name="connsiteY0" fmla="*/ 0 h 6858000"/>
              <a:gd name="connsiteX1" fmla="*/ 6448678 w 6448678"/>
              <a:gd name="connsiteY1" fmla="*/ 0 h 6858000"/>
              <a:gd name="connsiteX2" fmla="*/ 6448678 w 6448678"/>
              <a:gd name="connsiteY2" fmla="*/ 6858000 h 6858000"/>
              <a:gd name="connsiteX3" fmla="*/ 0 w 6448678"/>
              <a:gd name="connsiteY3" fmla="*/ 6857999 h 6858000"/>
            </a:gdLst>
            <a:ahLst/>
            <a:cxnLst>
              <a:cxn ang="0">
                <a:pos x="connsiteX0" y="connsiteY0"/>
              </a:cxn>
              <a:cxn ang="0">
                <a:pos x="connsiteX1" y="connsiteY1"/>
              </a:cxn>
              <a:cxn ang="0">
                <a:pos x="connsiteX2" y="connsiteY2"/>
              </a:cxn>
              <a:cxn ang="0">
                <a:pos x="connsiteX3" y="connsiteY3"/>
              </a:cxn>
            </a:cxnLst>
            <a:rect l="l" t="t" r="r" b="b"/>
            <a:pathLst>
              <a:path w="6448678" h="6858000">
                <a:moveTo>
                  <a:pt x="1190078" y="0"/>
                </a:moveTo>
                <a:lnTo>
                  <a:pt x="6448678" y="0"/>
                </a:lnTo>
                <a:lnTo>
                  <a:pt x="6448678" y="6858000"/>
                </a:lnTo>
                <a:lnTo>
                  <a:pt x="0" y="6857999"/>
                </a:lnTo>
                <a:close/>
              </a:path>
            </a:pathLst>
          </a:custGeom>
          <a:solidFill>
            <a:schemeClr val="accent5"/>
          </a:solidFill>
        </p:spPr>
        <p:txBody>
          <a:bodyPr wrap="square">
            <a:noAutofit/>
          </a:bodyPr>
          <a:lstStyle>
            <a:lvl1pPr marL="66675" indent="0">
              <a:buNone/>
              <a:defRPr>
                <a:solidFill>
                  <a:schemeClr val="bg1"/>
                </a:solidFill>
              </a:defRPr>
            </a:lvl1pPr>
          </a:lstStyle>
          <a:p>
            <a:r>
              <a:rPr lang="en-US"/>
              <a:t>*Click image icon to insert*</a:t>
            </a:r>
          </a:p>
        </p:txBody>
      </p:sp>
      <p:sp>
        <p:nvSpPr>
          <p:cNvPr id="6" name="TextBox 5">
            <a:extLst>
              <a:ext uri="{FF2B5EF4-FFF2-40B4-BE49-F238E27FC236}">
                <a16:creationId xmlns:a16="http://schemas.microsoft.com/office/drawing/2014/main" id="{550B9285-DE88-A14F-9C1D-5AC88D36343B}"/>
              </a:ext>
            </a:extLst>
          </p:cNvPr>
          <p:cNvSpPr txBox="1"/>
          <p:nvPr userDrawn="1"/>
        </p:nvSpPr>
        <p:spPr>
          <a:xfrm>
            <a:off x="9144001" y="6248401"/>
            <a:ext cx="2743200" cy="380994"/>
          </a:xfrm>
          <a:prstGeom prst="rect">
            <a:avLst/>
          </a:prstGeom>
          <a:noFill/>
        </p:spPr>
        <p:txBody>
          <a:bodyPr wrap="square" bIns="0" rtlCol="0" anchor="b">
            <a:no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800" b="0" i="0">
                <a:solidFill>
                  <a:schemeClr val="bg2">
                    <a:lumMod val="75000"/>
                  </a:schemeClr>
                </a:solidFill>
                <a:latin typeface="+mn-lt"/>
                <a:ea typeface="+mn-ea"/>
                <a:cs typeface="+mn-cs"/>
              </a:rPr>
              <a:t>© 2026 Merkle, Inc. All Rights Reserved. Confidential.</a:t>
            </a:r>
          </a:p>
        </p:txBody>
      </p:sp>
      <p:sp>
        <p:nvSpPr>
          <p:cNvPr id="13" name="Text Placeholder 11">
            <a:extLst>
              <a:ext uri="{FF2B5EF4-FFF2-40B4-BE49-F238E27FC236}">
                <a16:creationId xmlns:a16="http://schemas.microsoft.com/office/drawing/2014/main" id="{C7F3DED5-6220-ADBB-7581-4FC4A1B601C3}"/>
              </a:ext>
            </a:extLst>
          </p:cNvPr>
          <p:cNvSpPr>
            <a:spLocks noGrp="1"/>
          </p:cNvSpPr>
          <p:nvPr>
            <p:ph type="body" sz="quarter" idx="11" hasCustomPrompt="1"/>
          </p:nvPr>
        </p:nvSpPr>
        <p:spPr>
          <a:xfrm>
            <a:off x="915725" y="4078225"/>
            <a:ext cx="4113475" cy="301752"/>
          </a:xfrm>
        </p:spPr>
        <p:txBody>
          <a:bodyPr lIns="137160"/>
          <a:lstStyle>
            <a:lvl1pPr marL="0" indent="0">
              <a:buNone/>
              <a:defRPr sz="900" b="1" cap="all" spc="200" baseline="0">
                <a:solidFill>
                  <a:schemeClr val="bg1"/>
                </a:solidFill>
              </a:defRPr>
            </a:lvl1pPr>
          </a:lstStyle>
          <a:p>
            <a:pPr lvl="0"/>
            <a:r>
              <a:rPr lang="en-US"/>
              <a:t>MONTH 00, 2026</a:t>
            </a:r>
          </a:p>
        </p:txBody>
      </p:sp>
      <p:sp>
        <p:nvSpPr>
          <p:cNvPr id="3" name="Title 1">
            <a:extLst>
              <a:ext uri="{FF2B5EF4-FFF2-40B4-BE49-F238E27FC236}">
                <a16:creationId xmlns:a16="http://schemas.microsoft.com/office/drawing/2014/main" id="{E9BA3374-EAA1-50C0-C7EA-49D0566FE53A}"/>
              </a:ext>
            </a:extLst>
          </p:cNvPr>
          <p:cNvSpPr>
            <a:spLocks noGrp="1"/>
          </p:cNvSpPr>
          <p:nvPr>
            <p:ph type="title" hasCustomPrompt="1"/>
          </p:nvPr>
        </p:nvSpPr>
        <p:spPr>
          <a:xfrm>
            <a:off x="915725" y="557784"/>
            <a:ext cx="5104931" cy="2871216"/>
          </a:xfrm>
        </p:spPr>
        <p:txBody>
          <a:bodyPr anchor="b">
            <a:noAutofit/>
          </a:bodyPr>
          <a:lstStyle>
            <a:lvl1pPr>
              <a:lnSpc>
                <a:spcPct val="85000"/>
              </a:lnSpc>
              <a:defRPr sz="6000" b="0" cap="none" spc="-50" baseline="0">
                <a:solidFill>
                  <a:schemeClr val="bg1"/>
                </a:solidFill>
              </a:defRPr>
            </a:lvl1pPr>
          </a:lstStyle>
          <a:p>
            <a:r>
              <a:rPr lang="en-US"/>
              <a:t>Click to edit </a:t>
            </a:r>
            <a:br>
              <a:rPr lang="en-US"/>
            </a:br>
            <a:r>
              <a:rPr lang="en-US"/>
              <a:t>master title</a:t>
            </a:r>
          </a:p>
        </p:txBody>
      </p:sp>
      <p:sp>
        <p:nvSpPr>
          <p:cNvPr id="4" name="Text Placeholder 12">
            <a:extLst>
              <a:ext uri="{FF2B5EF4-FFF2-40B4-BE49-F238E27FC236}">
                <a16:creationId xmlns:a16="http://schemas.microsoft.com/office/drawing/2014/main" id="{C8FBE8DB-5027-C4D6-0A1F-6C57A886A9F3}"/>
              </a:ext>
            </a:extLst>
          </p:cNvPr>
          <p:cNvSpPr>
            <a:spLocks noGrp="1"/>
          </p:cNvSpPr>
          <p:nvPr>
            <p:ph type="body" sz="quarter" idx="10" hasCustomPrompt="1"/>
          </p:nvPr>
        </p:nvSpPr>
        <p:spPr>
          <a:xfrm>
            <a:off x="915725" y="3483865"/>
            <a:ext cx="5104931" cy="420624"/>
          </a:xfrm>
        </p:spPr>
        <p:txBody>
          <a:bodyPr lIns="137160" tIns="45720">
            <a:noAutofit/>
          </a:bodyPr>
          <a:lstStyle>
            <a:lvl1pPr marL="0" indent="0">
              <a:buNone/>
              <a:defRPr sz="1400" b="0" cap="none" spc="0" baseline="0">
                <a:solidFill>
                  <a:schemeClr val="bg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marL="0" lvl="0" indent="0">
              <a:buNone/>
            </a:pPr>
            <a:r>
              <a:rPr lang="en-US"/>
              <a:t>Click to edit sub-headline</a:t>
            </a:r>
          </a:p>
        </p:txBody>
      </p:sp>
      <p:grpSp>
        <p:nvGrpSpPr>
          <p:cNvPr id="5" name="Group 4">
            <a:extLst>
              <a:ext uri="{FF2B5EF4-FFF2-40B4-BE49-F238E27FC236}">
                <a16:creationId xmlns:a16="http://schemas.microsoft.com/office/drawing/2014/main" id="{02761D30-2E65-16C9-900D-52341B68847B}"/>
              </a:ext>
            </a:extLst>
          </p:cNvPr>
          <p:cNvGrpSpPr/>
          <p:nvPr userDrawn="1"/>
        </p:nvGrpSpPr>
        <p:grpSpPr>
          <a:xfrm>
            <a:off x="896112" y="6351752"/>
            <a:ext cx="1405514" cy="174291"/>
            <a:chOff x="419100" y="6294132"/>
            <a:chExt cx="1400350" cy="173651"/>
          </a:xfrm>
        </p:grpSpPr>
        <p:pic>
          <p:nvPicPr>
            <p:cNvPr id="7" name="Graphic 6">
              <a:extLst>
                <a:ext uri="{FF2B5EF4-FFF2-40B4-BE49-F238E27FC236}">
                  <a16:creationId xmlns:a16="http://schemas.microsoft.com/office/drawing/2014/main" id="{E638B0F6-7E27-F480-F961-848E33FC27C2}"/>
                </a:ext>
              </a:extLst>
            </p:cNvPr>
            <p:cNvPicPr>
              <a:picLocks noChangeAspect="1"/>
            </p:cNvPicPr>
            <p:nvPr/>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l="8163" b="315"/>
            <a:stretch/>
          </p:blipFill>
          <p:spPr>
            <a:xfrm>
              <a:off x="533400" y="6294132"/>
              <a:ext cx="1286050" cy="173651"/>
            </a:xfrm>
            <a:prstGeom prst="rect">
              <a:avLst/>
            </a:prstGeom>
          </p:spPr>
        </p:pic>
        <p:pic>
          <p:nvPicPr>
            <p:cNvPr id="9" name="Graphic 8">
              <a:extLst>
                <a:ext uri="{FF2B5EF4-FFF2-40B4-BE49-F238E27FC236}">
                  <a16:creationId xmlns:a16="http://schemas.microsoft.com/office/drawing/2014/main" id="{2338C327-541D-059F-4FA7-BC4C86213B44}"/>
                </a:ext>
              </a:extLst>
            </p:cNvPr>
            <p:cNvPicPr>
              <a:picLocks noChangeAspect="1"/>
            </p:cNvPicPr>
            <p:nvPr/>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91838" b="315"/>
            <a:stretch/>
          </p:blipFill>
          <p:spPr>
            <a:xfrm>
              <a:off x="419100" y="6294132"/>
              <a:ext cx="114300" cy="173651"/>
            </a:xfrm>
            <a:prstGeom prst="rect">
              <a:avLst/>
            </a:prstGeom>
          </p:spPr>
        </p:pic>
      </p:grpSp>
    </p:spTree>
    <p:extLst>
      <p:ext uri="{BB962C8B-B14F-4D97-AF65-F5344CB8AC3E}">
        <p14:creationId xmlns:p14="http://schemas.microsoft.com/office/powerpoint/2010/main" val="13151283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le Page + Image 2">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96FAC30-37D0-2A31-92EC-DDB649D91826}"/>
              </a:ext>
            </a:extLst>
          </p:cNvPr>
          <p:cNvSpPr/>
          <p:nvPr userDrawn="1"/>
        </p:nvSpPr>
        <p:spPr>
          <a:xfrm rot="10800000" flipV="1">
            <a:off x="2" y="-3"/>
            <a:ext cx="12191998" cy="6858003"/>
          </a:xfrm>
          <a:prstGeom prst="rect">
            <a:avLst/>
          </a:prstGeom>
          <a:solidFill>
            <a:schemeClr val="tx1"/>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sp>
        <p:nvSpPr>
          <p:cNvPr id="3" name="Picture Placeholder 8">
            <a:extLst>
              <a:ext uri="{FF2B5EF4-FFF2-40B4-BE49-F238E27FC236}">
                <a16:creationId xmlns:a16="http://schemas.microsoft.com/office/drawing/2014/main" id="{3EDD5D33-1863-491B-BF03-502056AF2633}"/>
              </a:ext>
            </a:extLst>
          </p:cNvPr>
          <p:cNvSpPr>
            <a:spLocks noGrp="1"/>
          </p:cNvSpPr>
          <p:nvPr>
            <p:ph type="pic" sz="quarter" idx="12" hasCustomPrompt="1"/>
          </p:nvPr>
        </p:nvSpPr>
        <p:spPr>
          <a:xfrm>
            <a:off x="6678324" y="0"/>
            <a:ext cx="5513676" cy="6857999"/>
          </a:xfrm>
          <a:prstGeom prst="rect">
            <a:avLst/>
          </a:prstGeom>
          <a:solidFill>
            <a:schemeClr val="accent5"/>
          </a:solidFill>
        </p:spPr>
        <p:txBody>
          <a:bodyPr wrap="square">
            <a:noAutofit/>
          </a:bodyPr>
          <a:lstStyle>
            <a:lvl1pPr marL="0" indent="0">
              <a:buNone/>
              <a:defRPr b="0">
                <a:solidFill>
                  <a:schemeClr val="bg1"/>
                </a:solidFill>
              </a:defRPr>
            </a:lvl1pPr>
          </a:lstStyle>
          <a:p>
            <a:r>
              <a:rPr lang="en-US"/>
              <a:t>*Click image icon to insert*</a:t>
            </a:r>
          </a:p>
        </p:txBody>
      </p:sp>
      <p:sp>
        <p:nvSpPr>
          <p:cNvPr id="6" name="TextBox 5">
            <a:extLst>
              <a:ext uri="{FF2B5EF4-FFF2-40B4-BE49-F238E27FC236}">
                <a16:creationId xmlns:a16="http://schemas.microsoft.com/office/drawing/2014/main" id="{550B9285-DE88-A14F-9C1D-5AC88D36343B}"/>
              </a:ext>
            </a:extLst>
          </p:cNvPr>
          <p:cNvSpPr txBox="1"/>
          <p:nvPr userDrawn="1"/>
        </p:nvSpPr>
        <p:spPr>
          <a:xfrm>
            <a:off x="9144001" y="6248401"/>
            <a:ext cx="2743200" cy="380994"/>
          </a:xfrm>
          <a:prstGeom prst="rect">
            <a:avLst/>
          </a:prstGeom>
          <a:noFill/>
        </p:spPr>
        <p:txBody>
          <a:bodyPr wrap="square" bIns="0" rtlCol="0" anchor="b">
            <a:no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800" b="0" i="0">
                <a:solidFill>
                  <a:schemeClr val="bg2">
                    <a:lumMod val="75000"/>
                  </a:schemeClr>
                </a:solidFill>
                <a:latin typeface="+mn-lt"/>
                <a:ea typeface="+mn-ea"/>
                <a:cs typeface="+mn-cs"/>
              </a:rPr>
              <a:t>© 2026 Merkle, Inc. All Rights Reserved. Confidential.</a:t>
            </a:r>
          </a:p>
        </p:txBody>
      </p:sp>
      <p:sp>
        <p:nvSpPr>
          <p:cNvPr id="13" name="Text Placeholder 11">
            <a:extLst>
              <a:ext uri="{FF2B5EF4-FFF2-40B4-BE49-F238E27FC236}">
                <a16:creationId xmlns:a16="http://schemas.microsoft.com/office/drawing/2014/main" id="{C7F3DED5-6220-ADBB-7581-4FC4A1B601C3}"/>
              </a:ext>
            </a:extLst>
          </p:cNvPr>
          <p:cNvSpPr>
            <a:spLocks noGrp="1"/>
          </p:cNvSpPr>
          <p:nvPr>
            <p:ph type="body" sz="quarter" idx="11" hasCustomPrompt="1"/>
          </p:nvPr>
        </p:nvSpPr>
        <p:spPr>
          <a:xfrm>
            <a:off x="915725" y="4078225"/>
            <a:ext cx="4113475" cy="301752"/>
          </a:xfrm>
        </p:spPr>
        <p:txBody>
          <a:bodyPr lIns="137160"/>
          <a:lstStyle>
            <a:lvl1pPr marL="0" indent="0">
              <a:buNone/>
              <a:defRPr sz="900" b="1" cap="all" spc="200" baseline="0">
                <a:solidFill>
                  <a:schemeClr val="bg1"/>
                </a:solidFill>
              </a:defRPr>
            </a:lvl1pPr>
          </a:lstStyle>
          <a:p>
            <a:pPr lvl="0"/>
            <a:r>
              <a:rPr lang="en-US"/>
              <a:t>MONTH 00, 2026</a:t>
            </a:r>
          </a:p>
        </p:txBody>
      </p:sp>
      <p:sp>
        <p:nvSpPr>
          <p:cNvPr id="4" name="Title 1">
            <a:extLst>
              <a:ext uri="{FF2B5EF4-FFF2-40B4-BE49-F238E27FC236}">
                <a16:creationId xmlns:a16="http://schemas.microsoft.com/office/drawing/2014/main" id="{0EC419B7-C447-D270-BE9E-FCE60CA674DF}"/>
              </a:ext>
            </a:extLst>
          </p:cNvPr>
          <p:cNvSpPr>
            <a:spLocks noGrp="1"/>
          </p:cNvSpPr>
          <p:nvPr>
            <p:ph type="title" hasCustomPrompt="1"/>
          </p:nvPr>
        </p:nvSpPr>
        <p:spPr>
          <a:xfrm>
            <a:off x="915725" y="557784"/>
            <a:ext cx="5372059" cy="2871216"/>
          </a:xfrm>
        </p:spPr>
        <p:txBody>
          <a:bodyPr anchor="b">
            <a:noAutofit/>
          </a:bodyPr>
          <a:lstStyle>
            <a:lvl1pPr>
              <a:lnSpc>
                <a:spcPct val="85000"/>
              </a:lnSpc>
              <a:defRPr sz="6000" b="0" cap="none" spc="-50" baseline="0">
                <a:solidFill>
                  <a:schemeClr val="bg1"/>
                </a:solidFill>
              </a:defRPr>
            </a:lvl1pPr>
          </a:lstStyle>
          <a:p>
            <a:r>
              <a:rPr lang="en-US"/>
              <a:t>Click to edit </a:t>
            </a:r>
            <a:br>
              <a:rPr lang="en-US"/>
            </a:br>
            <a:r>
              <a:rPr lang="en-US"/>
              <a:t>master title</a:t>
            </a:r>
          </a:p>
        </p:txBody>
      </p:sp>
      <p:sp>
        <p:nvSpPr>
          <p:cNvPr id="5" name="Text Placeholder 12">
            <a:extLst>
              <a:ext uri="{FF2B5EF4-FFF2-40B4-BE49-F238E27FC236}">
                <a16:creationId xmlns:a16="http://schemas.microsoft.com/office/drawing/2014/main" id="{40773FED-138B-073C-AAB6-722D3F147581}"/>
              </a:ext>
            </a:extLst>
          </p:cNvPr>
          <p:cNvSpPr>
            <a:spLocks noGrp="1"/>
          </p:cNvSpPr>
          <p:nvPr>
            <p:ph type="body" sz="quarter" idx="10" hasCustomPrompt="1"/>
          </p:nvPr>
        </p:nvSpPr>
        <p:spPr>
          <a:xfrm>
            <a:off x="915725" y="3483865"/>
            <a:ext cx="5372059" cy="420624"/>
          </a:xfrm>
        </p:spPr>
        <p:txBody>
          <a:bodyPr lIns="137160" tIns="45720">
            <a:noAutofit/>
          </a:bodyPr>
          <a:lstStyle>
            <a:lvl1pPr marL="0" indent="0">
              <a:buNone/>
              <a:defRPr sz="1400" b="0" cap="none" spc="0" baseline="0">
                <a:solidFill>
                  <a:schemeClr val="bg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marL="0" lvl="0" indent="0">
              <a:buNone/>
            </a:pPr>
            <a:r>
              <a:rPr lang="en-US"/>
              <a:t>Click to edit sub-headline</a:t>
            </a:r>
          </a:p>
        </p:txBody>
      </p:sp>
      <p:grpSp>
        <p:nvGrpSpPr>
          <p:cNvPr id="7" name="Group 6">
            <a:extLst>
              <a:ext uri="{FF2B5EF4-FFF2-40B4-BE49-F238E27FC236}">
                <a16:creationId xmlns:a16="http://schemas.microsoft.com/office/drawing/2014/main" id="{C68993E1-6EAB-7E41-AA6A-50B7D5F12432}"/>
              </a:ext>
            </a:extLst>
          </p:cNvPr>
          <p:cNvGrpSpPr/>
          <p:nvPr userDrawn="1"/>
        </p:nvGrpSpPr>
        <p:grpSpPr>
          <a:xfrm>
            <a:off x="896112" y="6351752"/>
            <a:ext cx="1405514" cy="174291"/>
            <a:chOff x="419100" y="6294132"/>
            <a:chExt cx="1400350" cy="173651"/>
          </a:xfrm>
        </p:grpSpPr>
        <p:pic>
          <p:nvPicPr>
            <p:cNvPr id="9" name="Graphic 8">
              <a:extLst>
                <a:ext uri="{FF2B5EF4-FFF2-40B4-BE49-F238E27FC236}">
                  <a16:creationId xmlns:a16="http://schemas.microsoft.com/office/drawing/2014/main" id="{37B02FEB-149E-9A9F-E99A-E16C24B5DEA0}"/>
                </a:ext>
              </a:extLst>
            </p:cNvPr>
            <p:cNvPicPr>
              <a:picLocks noChangeAspect="1"/>
            </p:cNvPicPr>
            <p:nvPr/>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l="8163" b="315"/>
            <a:stretch/>
          </p:blipFill>
          <p:spPr>
            <a:xfrm>
              <a:off x="533400" y="6294132"/>
              <a:ext cx="1286050" cy="173651"/>
            </a:xfrm>
            <a:prstGeom prst="rect">
              <a:avLst/>
            </a:prstGeom>
          </p:spPr>
        </p:pic>
        <p:pic>
          <p:nvPicPr>
            <p:cNvPr id="10" name="Graphic 9">
              <a:extLst>
                <a:ext uri="{FF2B5EF4-FFF2-40B4-BE49-F238E27FC236}">
                  <a16:creationId xmlns:a16="http://schemas.microsoft.com/office/drawing/2014/main" id="{8027D52B-8CEC-ACD4-9B1C-2768494AA315}"/>
                </a:ext>
              </a:extLst>
            </p:cNvPr>
            <p:cNvPicPr>
              <a:picLocks noChangeAspect="1"/>
            </p:cNvPicPr>
            <p:nvPr/>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91838" b="315"/>
            <a:stretch/>
          </p:blipFill>
          <p:spPr>
            <a:xfrm>
              <a:off x="419100" y="6294132"/>
              <a:ext cx="114300" cy="173651"/>
            </a:xfrm>
            <a:prstGeom prst="rect">
              <a:avLst/>
            </a:prstGeom>
          </p:spPr>
        </p:pic>
      </p:grpSp>
    </p:spTree>
    <p:extLst>
      <p:ext uri="{BB962C8B-B14F-4D97-AF65-F5344CB8AC3E}">
        <p14:creationId xmlns:p14="http://schemas.microsoft.com/office/powerpoint/2010/main" val="26928587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genda - Textur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8467A25-6525-DEF0-6E9C-88EB741150E3}"/>
              </a:ext>
            </a:extLst>
          </p:cNvPr>
          <p:cNvSpPr/>
          <p:nvPr userDrawn="1"/>
        </p:nvSpPr>
        <p:spPr>
          <a:xfrm rot="10800000" flipV="1">
            <a:off x="2" y="-3"/>
            <a:ext cx="12191998" cy="6858003"/>
          </a:xfrm>
          <a:prstGeom prst="rect">
            <a:avLst/>
          </a:prstGeom>
          <a:solidFill>
            <a:schemeClr val="tx1"/>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pic>
        <p:nvPicPr>
          <p:cNvPr id="12" name="Picture 11">
            <a:extLst>
              <a:ext uri="{FF2B5EF4-FFF2-40B4-BE49-F238E27FC236}">
                <a16:creationId xmlns:a16="http://schemas.microsoft.com/office/drawing/2014/main" id="{C6F3087F-EC64-F7D2-2A63-A07B6B42CC0A}"/>
              </a:ext>
            </a:extLst>
          </p:cNvPr>
          <p:cNvPicPr>
            <a:picLocks noChangeAspect="1"/>
          </p:cNvPicPr>
          <p:nvPr userDrawn="1"/>
        </p:nvPicPr>
        <p:blipFill>
          <a:blip r:embed="rId2" cstate="screen">
            <a:extLst>
              <a:ext uri="{28A0092B-C50C-407E-A947-70E740481C1C}">
                <a14:useLocalDpi xmlns:a14="http://schemas.microsoft.com/office/drawing/2010/main"/>
              </a:ext>
            </a:extLst>
          </a:blip>
          <a:srcRect l="11298"/>
          <a:stretch/>
        </p:blipFill>
        <p:spPr>
          <a:xfrm rot="5400000">
            <a:off x="4897244" y="-436756"/>
            <a:ext cx="6858000" cy="7731512"/>
          </a:xfrm>
          <a:prstGeom prst="rect">
            <a:avLst/>
          </a:prstGeom>
        </p:spPr>
      </p:pic>
      <p:sp>
        <p:nvSpPr>
          <p:cNvPr id="4" name="TextBox 3">
            <a:extLst>
              <a:ext uri="{FF2B5EF4-FFF2-40B4-BE49-F238E27FC236}">
                <a16:creationId xmlns:a16="http://schemas.microsoft.com/office/drawing/2014/main" id="{FF9B4D72-F7FA-C6E0-1638-99CC0590BC3D}"/>
              </a:ext>
            </a:extLst>
          </p:cNvPr>
          <p:cNvSpPr txBox="1"/>
          <p:nvPr userDrawn="1"/>
        </p:nvSpPr>
        <p:spPr>
          <a:xfrm>
            <a:off x="7796752" y="6324600"/>
            <a:ext cx="4058444" cy="304795"/>
          </a:xfrm>
          <a:prstGeom prst="rect">
            <a:avLst/>
          </a:prstGeom>
          <a:noFill/>
        </p:spPr>
        <p:txBody>
          <a:bodyPr wrap="square" bIns="0" rtlCol="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3BDFC0B-CFB1-084E-A5D1-50420B235E65}" type="slidenum">
              <a:rPr kumimoji="0" lang="en-US" sz="700" b="0" i="0" u="none" strike="noStrike" kern="1200" cap="none" spc="0" normalizeH="0" baseline="0" noProof="0" smtClean="0">
                <a:ln>
                  <a:noFill/>
                </a:ln>
                <a:solidFill>
                  <a:schemeClr val="bg2">
                    <a:lumMod val="75000"/>
                  </a:schemeClr>
                </a:solidFill>
                <a:effectLst/>
                <a:uLnTx/>
                <a:uFillTx/>
                <a:latin typeface="+mn-lt"/>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sz="700" b="0" i="0">
              <a:solidFill>
                <a:schemeClr val="bg2">
                  <a:lumMod val="75000"/>
                </a:schemeClr>
              </a:solidFill>
              <a:latin typeface="+mn-lt"/>
              <a:ea typeface="+mn-ea"/>
              <a:cs typeface="+mn-cs"/>
            </a:endParaRPr>
          </a:p>
        </p:txBody>
      </p:sp>
      <p:sp>
        <p:nvSpPr>
          <p:cNvPr id="2" name="Title 1">
            <a:extLst>
              <a:ext uri="{FF2B5EF4-FFF2-40B4-BE49-F238E27FC236}">
                <a16:creationId xmlns:a16="http://schemas.microsoft.com/office/drawing/2014/main" id="{24C1A457-B3C2-8844-AB36-C25C82BD0B4C}"/>
              </a:ext>
            </a:extLst>
          </p:cNvPr>
          <p:cNvSpPr>
            <a:spLocks noGrp="1"/>
          </p:cNvSpPr>
          <p:nvPr>
            <p:ph type="title" hasCustomPrompt="1"/>
          </p:nvPr>
        </p:nvSpPr>
        <p:spPr>
          <a:xfrm>
            <a:off x="914400" y="731520"/>
            <a:ext cx="4114800" cy="841248"/>
          </a:xfrm>
        </p:spPr>
        <p:txBody>
          <a:bodyPr anchor="b">
            <a:noAutofit/>
          </a:bodyPr>
          <a:lstStyle>
            <a:lvl1pPr algn="l">
              <a:defRPr sz="1000" cap="all" spc="200" baseline="0">
                <a:solidFill>
                  <a:schemeClr val="bg2">
                    <a:lumMod val="90000"/>
                  </a:schemeClr>
                </a:solidFill>
                <a:latin typeface="+mn-lt"/>
              </a:defRPr>
            </a:lvl1pPr>
          </a:lstStyle>
          <a:p>
            <a:r>
              <a:rPr lang="en-US"/>
              <a:t>AGENDA</a:t>
            </a:r>
          </a:p>
        </p:txBody>
      </p:sp>
      <p:sp>
        <p:nvSpPr>
          <p:cNvPr id="6" name="Content Placeholder 4">
            <a:extLst>
              <a:ext uri="{FF2B5EF4-FFF2-40B4-BE49-F238E27FC236}">
                <a16:creationId xmlns:a16="http://schemas.microsoft.com/office/drawing/2014/main" id="{0405A382-3757-DDEC-4576-50C6A93B346D}"/>
              </a:ext>
            </a:extLst>
          </p:cNvPr>
          <p:cNvSpPr>
            <a:spLocks noGrp="1"/>
          </p:cNvSpPr>
          <p:nvPr>
            <p:ph sz="quarter" idx="11" hasCustomPrompt="1"/>
          </p:nvPr>
        </p:nvSpPr>
        <p:spPr>
          <a:xfrm>
            <a:off x="914400" y="1847088"/>
            <a:ext cx="4114800" cy="3746156"/>
          </a:xfrm>
        </p:spPr>
        <p:txBody>
          <a:bodyPr/>
          <a:lstStyle>
            <a:lvl1pPr marL="0" indent="0">
              <a:lnSpc>
                <a:spcPct val="100000"/>
              </a:lnSpc>
              <a:spcBef>
                <a:spcPts val="2400"/>
              </a:spcBef>
              <a:buNone/>
              <a:defRPr lang="en-US" sz="2400" b="0" i="0" kern="1200" dirty="0">
                <a:solidFill>
                  <a:schemeClr val="bg1"/>
                </a:solidFill>
                <a:latin typeface="+mn-lt"/>
                <a:ea typeface="+mn-ea"/>
                <a:cs typeface="+mn-cs"/>
              </a:defRPr>
            </a:lvl1pPr>
            <a:lvl2pPr marL="7938" indent="0">
              <a:lnSpc>
                <a:spcPct val="100000"/>
              </a:lnSpc>
              <a:spcBef>
                <a:spcPts val="600"/>
              </a:spcBef>
              <a:buNone/>
              <a:tabLst/>
              <a:defRPr>
                <a:solidFill>
                  <a:schemeClr val="bg1"/>
                </a:solidFill>
              </a:defRPr>
            </a:lvl2pPr>
            <a:lvl3pPr marL="173736" indent="-109728">
              <a:lnSpc>
                <a:spcPct val="100000"/>
              </a:lnSpc>
              <a:spcBef>
                <a:spcPts val="600"/>
              </a:spcBef>
              <a:defRPr sz="1200">
                <a:solidFill>
                  <a:schemeClr val="bg1"/>
                </a:solidFill>
              </a:defRPr>
            </a:lvl3pPr>
            <a:lvl4pPr marL="402336" indent="-173736">
              <a:lnSpc>
                <a:spcPct val="100000"/>
              </a:lnSpc>
              <a:spcBef>
                <a:spcPts val="600"/>
              </a:spcBef>
              <a:buFont typeface="Arial" panose="020B0604020202020204" pitchFamily="34" charset="0"/>
              <a:buChar char="•"/>
              <a:defRPr sz="1200">
                <a:solidFill>
                  <a:schemeClr val="bg1"/>
                </a:solidFill>
              </a:defRPr>
            </a:lvl4pPr>
            <a:lvl5pPr marL="576072" indent="-109728">
              <a:lnSpc>
                <a:spcPct val="100000"/>
              </a:lnSpc>
              <a:spcBef>
                <a:spcPts val="600"/>
              </a:spcBef>
              <a:buFont typeface="Arial" panose="020B0604020202020204" pitchFamily="34" charset="0"/>
              <a:buChar char="•"/>
              <a:defRPr sz="1200">
                <a:solidFill>
                  <a:schemeClr val="bg1"/>
                </a:solidFill>
              </a:defRPr>
            </a:lvl5pPr>
          </a:lstStyle>
          <a:p>
            <a:pPr marL="0" lvl="0" indent="0" algn="l" defTabSz="914400" rtl="0" eaLnBrk="1" latinLnBrk="0" hangingPunct="1">
              <a:lnSpc>
                <a:spcPct val="90000"/>
              </a:lnSpc>
              <a:spcBef>
                <a:spcPts val="1000"/>
              </a:spcBef>
              <a:buFont typeface="Arial" panose="020B0604020202020204" pitchFamily="34" charset="0"/>
              <a:buNone/>
            </a:pPr>
            <a:r>
              <a:rPr lang="en-US"/>
              <a:t>Section</a:t>
            </a:r>
          </a:p>
          <a:p>
            <a:pPr lvl="1"/>
            <a:r>
              <a:rPr lang="en-US"/>
              <a:t>Second level</a:t>
            </a:r>
          </a:p>
          <a:p>
            <a:pPr lvl="2"/>
            <a:r>
              <a:rPr lang="en-US"/>
              <a:t>Third level</a:t>
            </a:r>
          </a:p>
          <a:p>
            <a:pPr lvl="3"/>
            <a:r>
              <a:rPr lang="en-US"/>
              <a:t>Fourth level</a:t>
            </a:r>
          </a:p>
          <a:p>
            <a:pPr lvl="4"/>
            <a:r>
              <a:rPr lang="en-US"/>
              <a:t>Fifth level</a:t>
            </a:r>
          </a:p>
        </p:txBody>
      </p:sp>
      <p:grpSp>
        <p:nvGrpSpPr>
          <p:cNvPr id="5" name="Graphic 9">
            <a:extLst>
              <a:ext uri="{FF2B5EF4-FFF2-40B4-BE49-F238E27FC236}">
                <a16:creationId xmlns:a16="http://schemas.microsoft.com/office/drawing/2014/main" id="{B7483D9C-A8AF-28C7-C2E8-9E9C66A321ED}"/>
              </a:ext>
            </a:extLst>
          </p:cNvPr>
          <p:cNvGrpSpPr>
            <a:grpSpLocks noChangeAspect="1"/>
          </p:cNvGrpSpPr>
          <p:nvPr userDrawn="1"/>
        </p:nvGrpSpPr>
        <p:grpSpPr>
          <a:xfrm>
            <a:off x="417511" y="6489055"/>
            <a:ext cx="249135" cy="136828"/>
            <a:chOff x="11484948" y="313034"/>
            <a:chExt cx="401233" cy="220363"/>
          </a:xfrm>
          <a:solidFill>
            <a:schemeClr val="accent5"/>
          </a:solidFill>
        </p:grpSpPr>
        <p:sp>
          <p:nvSpPr>
            <p:cNvPr id="10" name="Freeform 9">
              <a:extLst>
                <a:ext uri="{FF2B5EF4-FFF2-40B4-BE49-F238E27FC236}">
                  <a16:creationId xmlns:a16="http://schemas.microsoft.com/office/drawing/2014/main" id="{6FFDC0C2-9DB0-2E6F-9474-FD166AA82FBF}"/>
                </a:ext>
              </a:extLst>
            </p:cNvPr>
            <p:cNvSpPr/>
            <p:nvPr userDrawn="1"/>
          </p:nvSpPr>
          <p:spPr>
            <a:xfrm>
              <a:off x="11652424" y="313034"/>
              <a:ext cx="233757" cy="220363"/>
            </a:xfrm>
            <a:custGeom>
              <a:avLst/>
              <a:gdLst>
                <a:gd name="connsiteX0" fmla="*/ 233757 w 233757"/>
                <a:gd name="connsiteY0" fmla="*/ 220363 h 220363"/>
                <a:gd name="connsiteX1" fmla="*/ 187006 w 233757"/>
                <a:gd name="connsiteY1" fmla="*/ 220363 h 220363"/>
                <a:gd name="connsiteX2" fmla="*/ 187006 w 233757"/>
                <a:gd name="connsiteY2" fmla="*/ 89448 h 220363"/>
                <a:gd name="connsiteX3" fmla="*/ 116879 w 233757"/>
                <a:gd name="connsiteY3" fmla="*/ 159645 h 220363"/>
                <a:gd name="connsiteX4" fmla="*/ 46751 w 233757"/>
                <a:gd name="connsiteY4" fmla="*/ 89448 h 220363"/>
                <a:gd name="connsiteX5" fmla="*/ 46751 w 233757"/>
                <a:gd name="connsiteY5" fmla="*/ 220363 h 220363"/>
                <a:gd name="connsiteX6" fmla="*/ 0 w 233757"/>
                <a:gd name="connsiteY6" fmla="*/ 220363 h 220363"/>
                <a:gd name="connsiteX7" fmla="*/ 0 w 233757"/>
                <a:gd name="connsiteY7" fmla="*/ 0 h 220363"/>
                <a:gd name="connsiteX8" fmla="*/ 24855 w 233757"/>
                <a:gd name="connsiteY8" fmla="*/ 0 h 220363"/>
                <a:gd name="connsiteX9" fmla="*/ 117470 w 233757"/>
                <a:gd name="connsiteY9" fmla="*/ 92706 h 220363"/>
                <a:gd name="connsiteX10" fmla="*/ 208902 w 233757"/>
                <a:gd name="connsiteY10" fmla="*/ 0 h 220363"/>
                <a:gd name="connsiteX11" fmla="*/ 233757 w 233757"/>
                <a:gd name="connsiteY11" fmla="*/ 0 h 220363"/>
                <a:gd name="connsiteX12" fmla="*/ 233757 w 233757"/>
                <a:gd name="connsiteY12" fmla="*/ 220363 h 22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757" h="220363">
                  <a:moveTo>
                    <a:pt x="233757" y="220363"/>
                  </a:moveTo>
                  <a:lnTo>
                    <a:pt x="187006" y="220363"/>
                  </a:lnTo>
                  <a:lnTo>
                    <a:pt x="187006" y="89448"/>
                  </a:lnTo>
                  <a:lnTo>
                    <a:pt x="116879" y="159645"/>
                  </a:lnTo>
                  <a:lnTo>
                    <a:pt x="46751" y="89448"/>
                  </a:lnTo>
                  <a:lnTo>
                    <a:pt x="46751" y="220363"/>
                  </a:lnTo>
                  <a:lnTo>
                    <a:pt x="0" y="220363"/>
                  </a:lnTo>
                  <a:lnTo>
                    <a:pt x="0" y="0"/>
                  </a:lnTo>
                  <a:lnTo>
                    <a:pt x="24855" y="0"/>
                  </a:lnTo>
                  <a:lnTo>
                    <a:pt x="117470" y="92706"/>
                  </a:lnTo>
                  <a:lnTo>
                    <a:pt x="208902" y="0"/>
                  </a:lnTo>
                  <a:lnTo>
                    <a:pt x="233757" y="0"/>
                  </a:lnTo>
                  <a:lnTo>
                    <a:pt x="233757" y="220363"/>
                  </a:lnTo>
                  <a:close/>
                </a:path>
              </a:pathLst>
            </a:custGeom>
            <a:solidFill>
              <a:schemeClr val="bg1"/>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11" name="Freeform 10">
              <a:extLst>
                <a:ext uri="{FF2B5EF4-FFF2-40B4-BE49-F238E27FC236}">
                  <a16:creationId xmlns:a16="http://schemas.microsoft.com/office/drawing/2014/main" id="{41505EF2-9C4E-DB81-F431-F03DC000421D}"/>
                </a:ext>
              </a:extLst>
            </p:cNvPr>
            <p:cNvSpPr/>
            <p:nvPr userDrawn="1"/>
          </p:nvSpPr>
          <p:spPr>
            <a:xfrm>
              <a:off x="11484948" y="412552"/>
              <a:ext cx="120725" cy="120844"/>
            </a:xfrm>
            <a:custGeom>
              <a:avLst/>
              <a:gdLst>
                <a:gd name="connsiteX0" fmla="*/ 120725 w 120725"/>
                <a:gd name="connsiteY0" fmla="*/ 0 h 120844"/>
                <a:gd name="connsiteX1" fmla="*/ 0 w 120725"/>
                <a:gd name="connsiteY1" fmla="*/ 0 h 120844"/>
                <a:gd name="connsiteX2" fmla="*/ 120725 w 120725"/>
                <a:gd name="connsiteY2" fmla="*/ 120844 h 120844"/>
                <a:gd name="connsiteX3" fmla="*/ 120725 w 120725"/>
                <a:gd name="connsiteY3" fmla="*/ 0 h 120844"/>
              </a:gdLst>
              <a:ahLst/>
              <a:cxnLst>
                <a:cxn ang="0">
                  <a:pos x="connsiteX0" y="connsiteY0"/>
                </a:cxn>
                <a:cxn ang="0">
                  <a:pos x="connsiteX1" y="connsiteY1"/>
                </a:cxn>
                <a:cxn ang="0">
                  <a:pos x="connsiteX2" y="connsiteY2"/>
                </a:cxn>
                <a:cxn ang="0">
                  <a:pos x="connsiteX3" y="connsiteY3"/>
                </a:cxn>
              </a:cxnLst>
              <a:rect l="l" t="t" r="r" b="b"/>
              <a:pathLst>
                <a:path w="120725" h="120844">
                  <a:moveTo>
                    <a:pt x="120725" y="0"/>
                  </a:moveTo>
                  <a:lnTo>
                    <a:pt x="0" y="0"/>
                  </a:lnTo>
                  <a:lnTo>
                    <a:pt x="120725" y="120844"/>
                  </a:lnTo>
                  <a:lnTo>
                    <a:pt x="120725" y="0"/>
                  </a:lnTo>
                  <a:close/>
                </a:path>
              </a:pathLst>
            </a:custGeom>
            <a:solidFill>
              <a:srgbClr val="F23A1E"/>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grpSp>
    </p:spTree>
    <p:extLst>
      <p:ext uri="{BB962C8B-B14F-4D97-AF65-F5344CB8AC3E}">
        <p14:creationId xmlns:p14="http://schemas.microsoft.com/office/powerpoint/2010/main" val="36340368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Agenda Slide - Image Dark">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B5B1102-0EBD-E982-3358-18916BADB734}"/>
              </a:ext>
            </a:extLst>
          </p:cNvPr>
          <p:cNvSpPr/>
          <p:nvPr userDrawn="1"/>
        </p:nvSpPr>
        <p:spPr>
          <a:xfrm rot="10800000" flipV="1">
            <a:off x="2" y="-3"/>
            <a:ext cx="12191998" cy="6858003"/>
          </a:xfrm>
          <a:prstGeom prst="rect">
            <a:avLst/>
          </a:prstGeom>
          <a:solidFill>
            <a:schemeClr val="tx1"/>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sp>
        <p:nvSpPr>
          <p:cNvPr id="10" name="Picture Placeholder 6">
            <a:extLst>
              <a:ext uri="{FF2B5EF4-FFF2-40B4-BE49-F238E27FC236}">
                <a16:creationId xmlns:a16="http://schemas.microsoft.com/office/drawing/2014/main" id="{04512901-5206-5467-E6E2-1B836F7ACC29}"/>
              </a:ext>
            </a:extLst>
          </p:cNvPr>
          <p:cNvSpPr>
            <a:spLocks noGrp="1"/>
          </p:cNvSpPr>
          <p:nvPr>
            <p:ph type="pic" sz="quarter" idx="12" hasCustomPrompt="1"/>
          </p:nvPr>
        </p:nvSpPr>
        <p:spPr>
          <a:xfrm>
            <a:off x="5743322" y="0"/>
            <a:ext cx="6448678" cy="6857999"/>
          </a:xfrm>
          <a:prstGeom prst="rect">
            <a:avLst/>
          </a:prstGeom>
          <a:solidFill>
            <a:schemeClr val="accent5"/>
          </a:solidFill>
        </p:spPr>
        <p:txBody>
          <a:bodyPr wrap="square">
            <a:noAutofit/>
          </a:bodyPr>
          <a:lstStyle>
            <a:lvl1pPr marL="0" indent="0">
              <a:buNone/>
              <a:defRPr b="0">
                <a:solidFill>
                  <a:schemeClr val="bg1"/>
                </a:solidFill>
                <a:latin typeface="+mn-lt"/>
              </a:defRPr>
            </a:lvl1pPr>
          </a:lstStyle>
          <a:p>
            <a:r>
              <a:rPr lang="en-US"/>
              <a:t>*Click image icon to insert*</a:t>
            </a:r>
          </a:p>
        </p:txBody>
      </p:sp>
      <p:sp>
        <p:nvSpPr>
          <p:cNvPr id="2" name="Title 1">
            <a:extLst>
              <a:ext uri="{FF2B5EF4-FFF2-40B4-BE49-F238E27FC236}">
                <a16:creationId xmlns:a16="http://schemas.microsoft.com/office/drawing/2014/main" id="{24C1A457-B3C2-8844-AB36-C25C82BD0B4C}"/>
              </a:ext>
            </a:extLst>
          </p:cNvPr>
          <p:cNvSpPr>
            <a:spLocks noGrp="1"/>
          </p:cNvSpPr>
          <p:nvPr>
            <p:ph type="title" hasCustomPrompt="1"/>
          </p:nvPr>
        </p:nvSpPr>
        <p:spPr>
          <a:xfrm>
            <a:off x="914400" y="731520"/>
            <a:ext cx="4114800" cy="841248"/>
          </a:xfrm>
        </p:spPr>
        <p:txBody>
          <a:bodyPr anchor="b">
            <a:noAutofit/>
          </a:bodyPr>
          <a:lstStyle>
            <a:lvl1pPr algn="l">
              <a:defRPr sz="1000" cap="all" spc="200" baseline="0">
                <a:solidFill>
                  <a:schemeClr val="bg2">
                    <a:lumMod val="90000"/>
                  </a:schemeClr>
                </a:solidFill>
                <a:latin typeface="+mn-lt"/>
              </a:defRPr>
            </a:lvl1pPr>
          </a:lstStyle>
          <a:p>
            <a:r>
              <a:rPr lang="en-US"/>
              <a:t>AGENDA</a:t>
            </a:r>
          </a:p>
        </p:txBody>
      </p:sp>
      <p:sp>
        <p:nvSpPr>
          <p:cNvPr id="4" name="TextBox 3">
            <a:extLst>
              <a:ext uri="{FF2B5EF4-FFF2-40B4-BE49-F238E27FC236}">
                <a16:creationId xmlns:a16="http://schemas.microsoft.com/office/drawing/2014/main" id="{FF9B4D72-F7FA-C6E0-1638-99CC0590BC3D}"/>
              </a:ext>
            </a:extLst>
          </p:cNvPr>
          <p:cNvSpPr txBox="1"/>
          <p:nvPr userDrawn="1"/>
        </p:nvSpPr>
        <p:spPr>
          <a:xfrm>
            <a:off x="7796752" y="6324600"/>
            <a:ext cx="4058444" cy="304795"/>
          </a:xfrm>
          <a:prstGeom prst="rect">
            <a:avLst/>
          </a:prstGeom>
          <a:noFill/>
        </p:spPr>
        <p:txBody>
          <a:bodyPr wrap="square" bIns="0" rtlCol="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3BDFC0B-CFB1-084E-A5D1-50420B235E65}" type="slidenum">
              <a:rPr kumimoji="0" lang="en-US" sz="700" b="0" i="0" u="none" strike="noStrike" kern="1200" cap="none" spc="0" normalizeH="0" baseline="0" noProof="0" smtClean="0">
                <a:ln>
                  <a:noFill/>
                </a:ln>
                <a:solidFill>
                  <a:schemeClr val="bg2">
                    <a:lumMod val="75000"/>
                  </a:schemeClr>
                </a:solidFill>
                <a:effectLst/>
                <a:uLnTx/>
                <a:uFillTx/>
                <a:latin typeface="+mn-lt"/>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sz="700" b="0" i="0">
              <a:solidFill>
                <a:schemeClr val="bg2">
                  <a:lumMod val="75000"/>
                </a:schemeClr>
              </a:solidFill>
              <a:latin typeface="+mn-lt"/>
              <a:ea typeface="+mn-ea"/>
              <a:cs typeface="+mn-cs"/>
            </a:endParaRPr>
          </a:p>
        </p:txBody>
      </p:sp>
      <p:sp>
        <p:nvSpPr>
          <p:cNvPr id="6" name="Content Placeholder 4">
            <a:extLst>
              <a:ext uri="{FF2B5EF4-FFF2-40B4-BE49-F238E27FC236}">
                <a16:creationId xmlns:a16="http://schemas.microsoft.com/office/drawing/2014/main" id="{0405A382-3757-DDEC-4576-50C6A93B346D}"/>
              </a:ext>
            </a:extLst>
          </p:cNvPr>
          <p:cNvSpPr>
            <a:spLocks noGrp="1"/>
          </p:cNvSpPr>
          <p:nvPr>
            <p:ph sz="quarter" idx="11" hasCustomPrompt="1"/>
          </p:nvPr>
        </p:nvSpPr>
        <p:spPr>
          <a:xfrm>
            <a:off x="914400" y="1847088"/>
            <a:ext cx="4114800" cy="3746156"/>
          </a:xfrm>
        </p:spPr>
        <p:txBody>
          <a:bodyPr/>
          <a:lstStyle>
            <a:lvl1pPr marL="0" indent="0">
              <a:lnSpc>
                <a:spcPct val="100000"/>
              </a:lnSpc>
              <a:spcBef>
                <a:spcPts val="2400"/>
              </a:spcBef>
              <a:buNone/>
              <a:defRPr lang="en-US" sz="2400" b="0" i="0" kern="1200" dirty="0">
                <a:solidFill>
                  <a:schemeClr val="bg1"/>
                </a:solidFill>
                <a:latin typeface="+mn-lt"/>
                <a:ea typeface="+mn-ea"/>
                <a:cs typeface="+mn-cs"/>
              </a:defRPr>
            </a:lvl1pPr>
            <a:lvl2pPr marL="7938" indent="0">
              <a:lnSpc>
                <a:spcPct val="100000"/>
              </a:lnSpc>
              <a:spcBef>
                <a:spcPts val="600"/>
              </a:spcBef>
              <a:buNone/>
              <a:tabLst/>
              <a:defRPr>
                <a:solidFill>
                  <a:schemeClr val="bg1"/>
                </a:solidFill>
              </a:defRPr>
            </a:lvl2pPr>
            <a:lvl3pPr marL="173736" indent="-109728">
              <a:lnSpc>
                <a:spcPct val="100000"/>
              </a:lnSpc>
              <a:spcBef>
                <a:spcPts val="600"/>
              </a:spcBef>
              <a:defRPr sz="1200">
                <a:solidFill>
                  <a:schemeClr val="bg1"/>
                </a:solidFill>
              </a:defRPr>
            </a:lvl3pPr>
            <a:lvl4pPr marL="402336" indent="-173736">
              <a:lnSpc>
                <a:spcPct val="100000"/>
              </a:lnSpc>
              <a:spcBef>
                <a:spcPts val="600"/>
              </a:spcBef>
              <a:buFont typeface="Arial" panose="020B0604020202020204" pitchFamily="34" charset="0"/>
              <a:buChar char="•"/>
              <a:defRPr sz="1200">
                <a:solidFill>
                  <a:schemeClr val="bg1"/>
                </a:solidFill>
              </a:defRPr>
            </a:lvl4pPr>
            <a:lvl5pPr marL="576072" indent="-109728">
              <a:lnSpc>
                <a:spcPct val="100000"/>
              </a:lnSpc>
              <a:spcBef>
                <a:spcPts val="600"/>
              </a:spcBef>
              <a:buFont typeface="Arial" panose="020B0604020202020204" pitchFamily="34" charset="0"/>
              <a:buChar char="•"/>
              <a:defRPr sz="1200">
                <a:solidFill>
                  <a:schemeClr val="bg1"/>
                </a:solidFill>
              </a:defRPr>
            </a:lvl5pPr>
          </a:lstStyle>
          <a:p>
            <a:pPr marL="0" lvl="0" indent="0" algn="l" defTabSz="914400" rtl="0" eaLnBrk="1" latinLnBrk="0" hangingPunct="1">
              <a:lnSpc>
                <a:spcPct val="90000"/>
              </a:lnSpc>
              <a:spcBef>
                <a:spcPts val="1000"/>
              </a:spcBef>
              <a:buFont typeface="Arial" panose="020B0604020202020204" pitchFamily="34" charset="0"/>
              <a:buNone/>
            </a:pPr>
            <a:r>
              <a:rPr lang="en-US"/>
              <a:t>Section</a:t>
            </a:r>
          </a:p>
          <a:p>
            <a:pPr lvl="1"/>
            <a:r>
              <a:rPr lang="en-US"/>
              <a:t>Second level</a:t>
            </a:r>
          </a:p>
          <a:p>
            <a:pPr lvl="2"/>
            <a:r>
              <a:rPr lang="en-US"/>
              <a:t>Third level</a:t>
            </a:r>
          </a:p>
          <a:p>
            <a:pPr lvl="3"/>
            <a:r>
              <a:rPr lang="en-US"/>
              <a:t>Fourth level</a:t>
            </a:r>
          </a:p>
          <a:p>
            <a:pPr lvl="4"/>
            <a:r>
              <a:rPr lang="en-US"/>
              <a:t>Fifth level</a:t>
            </a:r>
          </a:p>
        </p:txBody>
      </p:sp>
      <p:sp>
        <p:nvSpPr>
          <p:cNvPr id="5" name="TextBox 4">
            <a:extLst>
              <a:ext uri="{FF2B5EF4-FFF2-40B4-BE49-F238E27FC236}">
                <a16:creationId xmlns:a16="http://schemas.microsoft.com/office/drawing/2014/main" id="{7229B836-2CF3-2B59-3C0F-7283E00BA955}"/>
              </a:ext>
            </a:extLst>
          </p:cNvPr>
          <p:cNvSpPr txBox="1"/>
          <p:nvPr userDrawn="1"/>
        </p:nvSpPr>
        <p:spPr>
          <a:xfrm>
            <a:off x="8122722" y="-498764"/>
            <a:ext cx="0" cy="0"/>
          </a:xfrm>
          <a:prstGeom prst="rect">
            <a:avLst/>
          </a:prstGeom>
          <a:noFill/>
        </p:spPr>
        <p:txBody>
          <a:bodyPr wrap="none" rtlCol="0">
            <a:noAutofit/>
          </a:bodyPr>
          <a:lstStyle/>
          <a:p>
            <a:pPr algn="l">
              <a:spcAft>
                <a:spcPts val="600"/>
              </a:spcAft>
            </a:pPr>
            <a:endParaRPr lang="en-US" sz="1400"/>
          </a:p>
        </p:txBody>
      </p:sp>
      <p:grpSp>
        <p:nvGrpSpPr>
          <p:cNvPr id="11" name="Graphic 9">
            <a:extLst>
              <a:ext uri="{FF2B5EF4-FFF2-40B4-BE49-F238E27FC236}">
                <a16:creationId xmlns:a16="http://schemas.microsoft.com/office/drawing/2014/main" id="{61D4772C-0237-9278-49C2-024DDD16DF48}"/>
              </a:ext>
            </a:extLst>
          </p:cNvPr>
          <p:cNvGrpSpPr>
            <a:grpSpLocks noChangeAspect="1"/>
          </p:cNvGrpSpPr>
          <p:nvPr userDrawn="1"/>
        </p:nvGrpSpPr>
        <p:grpSpPr>
          <a:xfrm>
            <a:off x="417511" y="6489055"/>
            <a:ext cx="249135" cy="136828"/>
            <a:chOff x="11484948" y="313034"/>
            <a:chExt cx="401233" cy="220363"/>
          </a:xfrm>
          <a:solidFill>
            <a:schemeClr val="accent5"/>
          </a:solidFill>
        </p:grpSpPr>
        <p:sp>
          <p:nvSpPr>
            <p:cNvPr id="12" name="Freeform 11">
              <a:extLst>
                <a:ext uri="{FF2B5EF4-FFF2-40B4-BE49-F238E27FC236}">
                  <a16:creationId xmlns:a16="http://schemas.microsoft.com/office/drawing/2014/main" id="{30BC871A-7FC5-1A88-E623-D1315B45B18C}"/>
                </a:ext>
              </a:extLst>
            </p:cNvPr>
            <p:cNvSpPr/>
            <p:nvPr userDrawn="1"/>
          </p:nvSpPr>
          <p:spPr>
            <a:xfrm>
              <a:off x="11652424" y="313034"/>
              <a:ext cx="233757" cy="220363"/>
            </a:xfrm>
            <a:custGeom>
              <a:avLst/>
              <a:gdLst>
                <a:gd name="connsiteX0" fmla="*/ 233757 w 233757"/>
                <a:gd name="connsiteY0" fmla="*/ 220363 h 220363"/>
                <a:gd name="connsiteX1" fmla="*/ 187006 w 233757"/>
                <a:gd name="connsiteY1" fmla="*/ 220363 h 220363"/>
                <a:gd name="connsiteX2" fmla="*/ 187006 w 233757"/>
                <a:gd name="connsiteY2" fmla="*/ 89448 h 220363"/>
                <a:gd name="connsiteX3" fmla="*/ 116879 w 233757"/>
                <a:gd name="connsiteY3" fmla="*/ 159645 h 220363"/>
                <a:gd name="connsiteX4" fmla="*/ 46751 w 233757"/>
                <a:gd name="connsiteY4" fmla="*/ 89448 h 220363"/>
                <a:gd name="connsiteX5" fmla="*/ 46751 w 233757"/>
                <a:gd name="connsiteY5" fmla="*/ 220363 h 220363"/>
                <a:gd name="connsiteX6" fmla="*/ 0 w 233757"/>
                <a:gd name="connsiteY6" fmla="*/ 220363 h 220363"/>
                <a:gd name="connsiteX7" fmla="*/ 0 w 233757"/>
                <a:gd name="connsiteY7" fmla="*/ 0 h 220363"/>
                <a:gd name="connsiteX8" fmla="*/ 24855 w 233757"/>
                <a:gd name="connsiteY8" fmla="*/ 0 h 220363"/>
                <a:gd name="connsiteX9" fmla="*/ 117470 w 233757"/>
                <a:gd name="connsiteY9" fmla="*/ 92706 h 220363"/>
                <a:gd name="connsiteX10" fmla="*/ 208902 w 233757"/>
                <a:gd name="connsiteY10" fmla="*/ 0 h 220363"/>
                <a:gd name="connsiteX11" fmla="*/ 233757 w 233757"/>
                <a:gd name="connsiteY11" fmla="*/ 0 h 220363"/>
                <a:gd name="connsiteX12" fmla="*/ 233757 w 233757"/>
                <a:gd name="connsiteY12" fmla="*/ 220363 h 22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757" h="220363">
                  <a:moveTo>
                    <a:pt x="233757" y="220363"/>
                  </a:moveTo>
                  <a:lnTo>
                    <a:pt x="187006" y="220363"/>
                  </a:lnTo>
                  <a:lnTo>
                    <a:pt x="187006" y="89448"/>
                  </a:lnTo>
                  <a:lnTo>
                    <a:pt x="116879" y="159645"/>
                  </a:lnTo>
                  <a:lnTo>
                    <a:pt x="46751" y="89448"/>
                  </a:lnTo>
                  <a:lnTo>
                    <a:pt x="46751" y="220363"/>
                  </a:lnTo>
                  <a:lnTo>
                    <a:pt x="0" y="220363"/>
                  </a:lnTo>
                  <a:lnTo>
                    <a:pt x="0" y="0"/>
                  </a:lnTo>
                  <a:lnTo>
                    <a:pt x="24855" y="0"/>
                  </a:lnTo>
                  <a:lnTo>
                    <a:pt x="117470" y="92706"/>
                  </a:lnTo>
                  <a:lnTo>
                    <a:pt x="208902" y="0"/>
                  </a:lnTo>
                  <a:lnTo>
                    <a:pt x="233757" y="0"/>
                  </a:lnTo>
                  <a:lnTo>
                    <a:pt x="233757" y="220363"/>
                  </a:lnTo>
                  <a:close/>
                </a:path>
              </a:pathLst>
            </a:custGeom>
            <a:solidFill>
              <a:schemeClr val="bg1"/>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13" name="Freeform 12">
              <a:extLst>
                <a:ext uri="{FF2B5EF4-FFF2-40B4-BE49-F238E27FC236}">
                  <a16:creationId xmlns:a16="http://schemas.microsoft.com/office/drawing/2014/main" id="{DDD58B76-62E5-50A7-DD88-DDF61335B612}"/>
                </a:ext>
              </a:extLst>
            </p:cNvPr>
            <p:cNvSpPr/>
            <p:nvPr userDrawn="1"/>
          </p:nvSpPr>
          <p:spPr>
            <a:xfrm>
              <a:off x="11484948" y="412552"/>
              <a:ext cx="120725" cy="120844"/>
            </a:xfrm>
            <a:custGeom>
              <a:avLst/>
              <a:gdLst>
                <a:gd name="connsiteX0" fmla="*/ 120725 w 120725"/>
                <a:gd name="connsiteY0" fmla="*/ 0 h 120844"/>
                <a:gd name="connsiteX1" fmla="*/ 0 w 120725"/>
                <a:gd name="connsiteY1" fmla="*/ 0 h 120844"/>
                <a:gd name="connsiteX2" fmla="*/ 120725 w 120725"/>
                <a:gd name="connsiteY2" fmla="*/ 120844 h 120844"/>
                <a:gd name="connsiteX3" fmla="*/ 120725 w 120725"/>
                <a:gd name="connsiteY3" fmla="*/ 0 h 120844"/>
              </a:gdLst>
              <a:ahLst/>
              <a:cxnLst>
                <a:cxn ang="0">
                  <a:pos x="connsiteX0" y="connsiteY0"/>
                </a:cxn>
                <a:cxn ang="0">
                  <a:pos x="connsiteX1" y="connsiteY1"/>
                </a:cxn>
                <a:cxn ang="0">
                  <a:pos x="connsiteX2" y="connsiteY2"/>
                </a:cxn>
                <a:cxn ang="0">
                  <a:pos x="connsiteX3" y="connsiteY3"/>
                </a:cxn>
              </a:cxnLst>
              <a:rect l="l" t="t" r="r" b="b"/>
              <a:pathLst>
                <a:path w="120725" h="120844">
                  <a:moveTo>
                    <a:pt x="120725" y="0"/>
                  </a:moveTo>
                  <a:lnTo>
                    <a:pt x="0" y="0"/>
                  </a:lnTo>
                  <a:lnTo>
                    <a:pt x="120725" y="120844"/>
                  </a:lnTo>
                  <a:lnTo>
                    <a:pt x="120725" y="0"/>
                  </a:lnTo>
                  <a:close/>
                </a:path>
              </a:pathLst>
            </a:custGeom>
            <a:solidFill>
              <a:srgbClr val="F23A1E"/>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grpSp>
    </p:spTree>
    <p:extLst>
      <p:ext uri="{BB962C8B-B14F-4D97-AF65-F5344CB8AC3E}">
        <p14:creationId xmlns:p14="http://schemas.microsoft.com/office/powerpoint/2010/main" val="11552620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Agenda Slide 1">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5A10F1C-046F-1CBE-F91B-EB48F6346AC8}"/>
              </a:ext>
            </a:extLst>
          </p:cNvPr>
          <p:cNvSpPr/>
          <p:nvPr userDrawn="1"/>
        </p:nvSpPr>
        <p:spPr>
          <a:xfrm>
            <a:off x="5207000" y="6129867"/>
            <a:ext cx="1972733" cy="72813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sp>
        <p:nvSpPr>
          <p:cNvPr id="8" name="Picture Placeholder 8">
            <a:extLst>
              <a:ext uri="{FF2B5EF4-FFF2-40B4-BE49-F238E27FC236}">
                <a16:creationId xmlns:a16="http://schemas.microsoft.com/office/drawing/2014/main" id="{28B13C15-A48B-B4D1-051D-3DA53D30DFC2}"/>
              </a:ext>
            </a:extLst>
          </p:cNvPr>
          <p:cNvSpPr>
            <a:spLocks noGrp="1"/>
          </p:cNvSpPr>
          <p:nvPr>
            <p:ph type="pic" sz="quarter" idx="12"/>
          </p:nvPr>
        </p:nvSpPr>
        <p:spPr>
          <a:xfrm>
            <a:off x="5743322" y="0"/>
            <a:ext cx="6448678" cy="6858000"/>
          </a:xfrm>
          <a:custGeom>
            <a:avLst/>
            <a:gdLst>
              <a:gd name="connsiteX0" fmla="*/ 1190078 w 6448678"/>
              <a:gd name="connsiteY0" fmla="*/ 0 h 6858000"/>
              <a:gd name="connsiteX1" fmla="*/ 6448678 w 6448678"/>
              <a:gd name="connsiteY1" fmla="*/ 0 h 6858000"/>
              <a:gd name="connsiteX2" fmla="*/ 6448678 w 6448678"/>
              <a:gd name="connsiteY2" fmla="*/ 6858000 h 6858000"/>
              <a:gd name="connsiteX3" fmla="*/ 0 w 6448678"/>
              <a:gd name="connsiteY3" fmla="*/ 6857999 h 6858000"/>
            </a:gdLst>
            <a:ahLst/>
            <a:cxnLst>
              <a:cxn ang="0">
                <a:pos x="connsiteX0" y="connsiteY0"/>
              </a:cxn>
              <a:cxn ang="0">
                <a:pos x="connsiteX1" y="connsiteY1"/>
              </a:cxn>
              <a:cxn ang="0">
                <a:pos x="connsiteX2" y="connsiteY2"/>
              </a:cxn>
              <a:cxn ang="0">
                <a:pos x="connsiteX3" y="connsiteY3"/>
              </a:cxn>
            </a:cxnLst>
            <a:rect l="l" t="t" r="r" b="b"/>
            <a:pathLst>
              <a:path w="6448678" h="6858000">
                <a:moveTo>
                  <a:pt x="1190078" y="0"/>
                </a:moveTo>
                <a:lnTo>
                  <a:pt x="6448678" y="0"/>
                </a:lnTo>
                <a:lnTo>
                  <a:pt x="6448678" y="6858000"/>
                </a:lnTo>
                <a:lnTo>
                  <a:pt x="0" y="6857999"/>
                </a:lnTo>
                <a:close/>
              </a:path>
            </a:pathLst>
          </a:custGeom>
          <a:solidFill>
            <a:schemeClr val="bg2"/>
          </a:solidFill>
        </p:spPr>
        <p:txBody>
          <a:bodyPr wrap="square">
            <a:noAutofit/>
          </a:bodyPr>
          <a:lstStyle>
            <a:lvl1pPr>
              <a:defRPr>
                <a:latin typeface="+mn-lt"/>
              </a:defRPr>
            </a:lvl1pPr>
          </a:lstStyle>
          <a:p>
            <a:r>
              <a:rPr lang="en-US"/>
              <a:t>Click icon to add picture</a:t>
            </a:r>
          </a:p>
        </p:txBody>
      </p:sp>
      <p:sp>
        <p:nvSpPr>
          <p:cNvPr id="2" name="Title 1">
            <a:extLst>
              <a:ext uri="{FF2B5EF4-FFF2-40B4-BE49-F238E27FC236}">
                <a16:creationId xmlns:a16="http://schemas.microsoft.com/office/drawing/2014/main" id="{24C1A457-B3C2-8844-AB36-C25C82BD0B4C}"/>
              </a:ext>
            </a:extLst>
          </p:cNvPr>
          <p:cNvSpPr>
            <a:spLocks noGrp="1"/>
          </p:cNvSpPr>
          <p:nvPr>
            <p:ph type="title" hasCustomPrompt="1"/>
          </p:nvPr>
        </p:nvSpPr>
        <p:spPr>
          <a:xfrm>
            <a:off x="914400" y="731520"/>
            <a:ext cx="4114800" cy="841248"/>
          </a:xfrm>
        </p:spPr>
        <p:txBody>
          <a:bodyPr anchor="b">
            <a:noAutofit/>
          </a:bodyPr>
          <a:lstStyle>
            <a:lvl1pPr algn="l">
              <a:defRPr sz="1000" cap="all" spc="200" baseline="0">
                <a:solidFill>
                  <a:schemeClr val="tx2"/>
                </a:solidFill>
                <a:latin typeface="+mn-lt"/>
              </a:defRPr>
            </a:lvl1pPr>
          </a:lstStyle>
          <a:p>
            <a:r>
              <a:rPr lang="en-US"/>
              <a:t>AGENDA</a:t>
            </a:r>
          </a:p>
        </p:txBody>
      </p:sp>
      <p:sp>
        <p:nvSpPr>
          <p:cNvPr id="5" name="Content Placeholder 4">
            <a:extLst>
              <a:ext uri="{FF2B5EF4-FFF2-40B4-BE49-F238E27FC236}">
                <a16:creationId xmlns:a16="http://schemas.microsoft.com/office/drawing/2014/main" id="{618E85C0-43B1-434D-9B22-4C10DBAFA7F2}"/>
              </a:ext>
            </a:extLst>
          </p:cNvPr>
          <p:cNvSpPr>
            <a:spLocks noGrp="1"/>
          </p:cNvSpPr>
          <p:nvPr>
            <p:ph sz="quarter" idx="11" hasCustomPrompt="1"/>
          </p:nvPr>
        </p:nvSpPr>
        <p:spPr>
          <a:xfrm>
            <a:off x="914400" y="1847088"/>
            <a:ext cx="4114800" cy="3746156"/>
          </a:xfrm>
        </p:spPr>
        <p:txBody>
          <a:bodyPr/>
          <a:lstStyle>
            <a:lvl1pPr marL="0" indent="0">
              <a:lnSpc>
                <a:spcPct val="100000"/>
              </a:lnSpc>
              <a:spcBef>
                <a:spcPts val="2400"/>
              </a:spcBef>
              <a:buNone/>
              <a:defRPr lang="en-US" sz="2400" b="0" i="0" kern="1200" dirty="0">
                <a:solidFill>
                  <a:schemeClr val="tx1"/>
                </a:solidFill>
                <a:latin typeface="+mn-lt"/>
                <a:ea typeface="+mn-ea"/>
                <a:cs typeface="+mn-cs"/>
              </a:defRPr>
            </a:lvl1pPr>
            <a:lvl2pPr marL="7938" indent="0">
              <a:lnSpc>
                <a:spcPct val="100000"/>
              </a:lnSpc>
              <a:spcBef>
                <a:spcPts val="600"/>
              </a:spcBef>
              <a:buNone/>
              <a:tabLst/>
              <a:defRPr>
                <a:solidFill>
                  <a:schemeClr val="tx1"/>
                </a:solidFill>
              </a:defRPr>
            </a:lvl2pPr>
            <a:lvl3pPr marL="173736" indent="-109728">
              <a:lnSpc>
                <a:spcPct val="100000"/>
              </a:lnSpc>
              <a:spcBef>
                <a:spcPts val="600"/>
              </a:spcBef>
              <a:defRPr sz="1200">
                <a:solidFill>
                  <a:schemeClr val="tx1"/>
                </a:solidFill>
              </a:defRPr>
            </a:lvl3pPr>
            <a:lvl4pPr marL="402336" indent="-173736">
              <a:lnSpc>
                <a:spcPct val="100000"/>
              </a:lnSpc>
              <a:spcBef>
                <a:spcPts val="600"/>
              </a:spcBef>
              <a:buFont typeface="Arial" panose="020B0604020202020204" pitchFamily="34" charset="0"/>
              <a:buChar char="•"/>
              <a:defRPr sz="1200">
                <a:solidFill>
                  <a:schemeClr val="tx1"/>
                </a:solidFill>
              </a:defRPr>
            </a:lvl4pPr>
            <a:lvl5pPr marL="576072" indent="-109728">
              <a:lnSpc>
                <a:spcPct val="100000"/>
              </a:lnSpc>
              <a:spcBef>
                <a:spcPts val="600"/>
              </a:spcBef>
              <a:buFont typeface="Arial" panose="020B0604020202020204" pitchFamily="34" charset="0"/>
              <a:buChar char="•"/>
              <a:defRPr sz="1200">
                <a:solidFill>
                  <a:schemeClr val="tx1"/>
                </a:solidFill>
              </a:defRPr>
            </a:lvl5pPr>
          </a:lstStyle>
          <a:p>
            <a:pPr marL="0" lvl="0" indent="0" algn="l" defTabSz="914400" rtl="0" eaLnBrk="1" latinLnBrk="0" hangingPunct="1">
              <a:lnSpc>
                <a:spcPct val="90000"/>
              </a:lnSpc>
              <a:spcBef>
                <a:spcPts val="1000"/>
              </a:spcBef>
              <a:buFont typeface="Arial" panose="020B0604020202020204" pitchFamily="34" charset="0"/>
              <a:buNone/>
            </a:pPr>
            <a:r>
              <a:rPr lang="en-US"/>
              <a:t>Section</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408622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genda Slide - Team">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C1A457-B3C2-8844-AB36-C25C82BD0B4C}"/>
              </a:ext>
            </a:extLst>
          </p:cNvPr>
          <p:cNvSpPr>
            <a:spLocks noGrp="1"/>
          </p:cNvSpPr>
          <p:nvPr>
            <p:ph type="title" hasCustomPrompt="1"/>
          </p:nvPr>
        </p:nvSpPr>
        <p:spPr>
          <a:xfrm>
            <a:off x="914400" y="731520"/>
            <a:ext cx="4114800" cy="841248"/>
          </a:xfrm>
        </p:spPr>
        <p:txBody>
          <a:bodyPr anchor="b">
            <a:noAutofit/>
          </a:bodyPr>
          <a:lstStyle>
            <a:lvl1pPr algn="l">
              <a:defRPr sz="1000" cap="all" spc="200" baseline="0">
                <a:solidFill>
                  <a:schemeClr val="tx2"/>
                </a:solidFill>
                <a:latin typeface="+mn-lt"/>
              </a:defRPr>
            </a:lvl1pPr>
          </a:lstStyle>
          <a:p>
            <a:r>
              <a:rPr lang="en-US"/>
              <a:t>AGENDA</a:t>
            </a:r>
          </a:p>
        </p:txBody>
      </p:sp>
      <p:sp>
        <p:nvSpPr>
          <p:cNvPr id="5" name="Content Placeholder 4">
            <a:extLst>
              <a:ext uri="{FF2B5EF4-FFF2-40B4-BE49-F238E27FC236}">
                <a16:creationId xmlns:a16="http://schemas.microsoft.com/office/drawing/2014/main" id="{618E85C0-43B1-434D-9B22-4C10DBAFA7F2}"/>
              </a:ext>
            </a:extLst>
          </p:cNvPr>
          <p:cNvSpPr>
            <a:spLocks noGrp="1"/>
          </p:cNvSpPr>
          <p:nvPr>
            <p:ph sz="quarter" idx="11" hasCustomPrompt="1"/>
          </p:nvPr>
        </p:nvSpPr>
        <p:spPr>
          <a:xfrm>
            <a:off x="914400" y="1847088"/>
            <a:ext cx="4114800" cy="3746156"/>
          </a:xfrm>
        </p:spPr>
        <p:txBody>
          <a:bodyPr/>
          <a:lstStyle>
            <a:lvl1pPr marL="0" indent="0">
              <a:lnSpc>
                <a:spcPct val="100000"/>
              </a:lnSpc>
              <a:spcBef>
                <a:spcPts val="2400"/>
              </a:spcBef>
              <a:buNone/>
              <a:defRPr lang="en-US" sz="2400" b="0" i="0" kern="1200" dirty="0">
                <a:solidFill>
                  <a:schemeClr val="tx1"/>
                </a:solidFill>
                <a:latin typeface="+mn-lt"/>
                <a:ea typeface="+mn-ea"/>
                <a:cs typeface="+mn-cs"/>
              </a:defRPr>
            </a:lvl1pPr>
            <a:lvl2pPr marL="7938" indent="0">
              <a:lnSpc>
                <a:spcPct val="100000"/>
              </a:lnSpc>
              <a:spcBef>
                <a:spcPts val="600"/>
              </a:spcBef>
              <a:buNone/>
              <a:tabLst/>
              <a:defRPr>
                <a:solidFill>
                  <a:schemeClr val="tx1"/>
                </a:solidFill>
              </a:defRPr>
            </a:lvl2pPr>
            <a:lvl3pPr marL="173736" indent="-109728">
              <a:lnSpc>
                <a:spcPct val="100000"/>
              </a:lnSpc>
              <a:spcBef>
                <a:spcPts val="600"/>
              </a:spcBef>
              <a:defRPr sz="1200">
                <a:solidFill>
                  <a:schemeClr val="tx1"/>
                </a:solidFill>
              </a:defRPr>
            </a:lvl3pPr>
            <a:lvl4pPr marL="402336" indent="-173736">
              <a:lnSpc>
                <a:spcPct val="100000"/>
              </a:lnSpc>
              <a:spcBef>
                <a:spcPts val="600"/>
              </a:spcBef>
              <a:buFont typeface="Arial" panose="020B0604020202020204" pitchFamily="34" charset="0"/>
              <a:buChar char="•"/>
              <a:defRPr sz="1200">
                <a:solidFill>
                  <a:schemeClr val="tx1"/>
                </a:solidFill>
              </a:defRPr>
            </a:lvl4pPr>
            <a:lvl5pPr marL="576072" indent="-109728">
              <a:lnSpc>
                <a:spcPct val="100000"/>
              </a:lnSpc>
              <a:spcBef>
                <a:spcPts val="600"/>
              </a:spcBef>
              <a:buFont typeface="Arial" panose="020B0604020202020204" pitchFamily="34" charset="0"/>
              <a:buChar char="•"/>
              <a:defRPr sz="1200">
                <a:solidFill>
                  <a:schemeClr val="tx1"/>
                </a:solidFill>
              </a:defRPr>
            </a:lvl5pPr>
          </a:lstStyle>
          <a:p>
            <a:pPr marL="0" lvl="0" indent="0" algn="l" defTabSz="914400" rtl="0" eaLnBrk="1" latinLnBrk="0" hangingPunct="1">
              <a:lnSpc>
                <a:spcPct val="90000"/>
              </a:lnSpc>
              <a:spcBef>
                <a:spcPts val="1000"/>
              </a:spcBef>
              <a:buFont typeface="Arial" panose="020B0604020202020204" pitchFamily="34" charset="0"/>
              <a:buNone/>
            </a:pPr>
            <a:r>
              <a:rPr lang="en-US"/>
              <a:t>Section</a:t>
            </a:r>
          </a:p>
          <a:p>
            <a:pPr lvl="1"/>
            <a:r>
              <a:rPr lang="en-US"/>
              <a:t>Second level</a:t>
            </a:r>
          </a:p>
          <a:p>
            <a:pPr lvl="2"/>
            <a:r>
              <a:rPr lang="en-US"/>
              <a:t>Third level</a:t>
            </a:r>
          </a:p>
          <a:p>
            <a:pPr lvl="3"/>
            <a:r>
              <a:rPr lang="en-US"/>
              <a:t>Fourth level</a:t>
            </a:r>
          </a:p>
          <a:p>
            <a:pPr lvl="4"/>
            <a:r>
              <a:rPr lang="en-US"/>
              <a:t>Fifth level</a:t>
            </a:r>
          </a:p>
        </p:txBody>
      </p:sp>
      <p:sp>
        <p:nvSpPr>
          <p:cNvPr id="6" name="Picture Placeholder 1">
            <a:extLst>
              <a:ext uri="{FF2B5EF4-FFF2-40B4-BE49-F238E27FC236}">
                <a16:creationId xmlns:a16="http://schemas.microsoft.com/office/drawing/2014/main" id="{8F5D0E0E-0A59-C262-2E84-D5250A85B9E6}"/>
              </a:ext>
            </a:extLst>
          </p:cNvPr>
          <p:cNvSpPr>
            <a:spLocks noGrp="1"/>
          </p:cNvSpPr>
          <p:nvPr>
            <p:ph type="pic" sz="quarter" idx="12" hasCustomPrompt="1"/>
          </p:nvPr>
        </p:nvSpPr>
        <p:spPr>
          <a:xfrm>
            <a:off x="8941462" y="1847088"/>
            <a:ext cx="628574" cy="626280"/>
          </a:xfrm>
          <a:prstGeom prst="ellipse">
            <a:avLst/>
          </a:prstGeom>
          <a:solidFill>
            <a:schemeClr val="tx2"/>
          </a:solidFill>
        </p:spPr>
        <p:txBody>
          <a:bodyPr/>
          <a:lstStyle>
            <a:lvl1pPr marL="66675" indent="0">
              <a:buNone/>
              <a:defRPr b="1">
                <a:latin typeface="+mn-lt"/>
              </a:defRPr>
            </a:lvl1pPr>
          </a:lstStyle>
          <a:p>
            <a:r>
              <a:rPr lang="en-US" sz="600"/>
              <a:t> </a:t>
            </a:r>
          </a:p>
        </p:txBody>
      </p:sp>
      <p:sp>
        <p:nvSpPr>
          <p:cNvPr id="7" name="Picture Placeholder 2">
            <a:extLst>
              <a:ext uri="{FF2B5EF4-FFF2-40B4-BE49-F238E27FC236}">
                <a16:creationId xmlns:a16="http://schemas.microsoft.com/office/drawing/2014/main" id="{B6CAC3CE-CD4C-55F2-634E-4DFD4B911B05}"/>
              </a:ext>
            </a:extLst>
          </p:cNvPr>
          <p:cNvSpPr>
            <a:spLocks noGrp="1"/>
          </p:cNvSpPr>
          <p:nvPr>
            <p:ph type="pic" sz="quarter" idx="13" hasCustomPrompt="1"/>
          </p:nvPr>
        </p:nvSpPr>
        <p:spPr>
          <a:xfrm>
            <a:off x="6135756" y="1847088"/>
            <a:ext cx="628574" cy="626280"/>
          </a:xfrm>
          <a:prstGeom prst="ellipse">
            <a:avLst/>
          </a:prstGeom>
          <a:solidFill>
            <a:schemeClr val="tx2"/>
          </a:solidFill>
        </p:spPr>
        <p:txBody>
          <a:bodyPr/>
          <a:lstStyle>
            <a:lvl1pPr marL="66675" indent="0">
              <a:buNone/>
              <a:defRPr b="1">
                <a:latin typeface="+mn-lt"/>
              </a:defRPr>
            </a:lvl1pPr>
          </a:lstStyle>
          <a:p>
            <a:r>
              <a:rPr lang="en-US" sz="600"/>
              <a:t> </a:t>
            </a:r>
          </a:p>
        </p:txBody>
      </p:sp>
      <p:sp>
        <p:nvSpPr>
          <p:cNvPr id="8" name="Picture Placeholder 3">
            <a:extLst>
              <a:ext uri="{FF2B5EF4-FFF2-40B4-BE49-F238E27FC236}">
                <a16:creationId xmlns:a16="http://schemas.microsoft.com/office/drawing/2014/main" id="{154F1B20-8829-99ED-6527-725F590FF71E}"/>
              </a:ext>
            </a:extLst>
          </p:cNvPr>
          <p:cNvSpPr>
            <a:spLocks noGrp="1"/>
          </p:cNvSpPr>
          <p:nvPr>
            <p:ph type="pic" sz="quarter" idx="14" hasCustomPrompt="1"/>
          </p:nvPr>
        </p:nvSpPr>
        <p:spPr>
          <a:xfrm>
            <a:off x="6135756" y="2789560"/>
            <a:ext cx="628574" cy="626280"/>
          </a:xfrm>
          <a:prstGeom prst="ellipse">
            <a:avLst/>
          </a:prstGeom>
          <a:solidFill>
            <a:schemeClr val="tx2"/>
          </a:solidFill>
        </p:spPr>
        <p:txBody>
          <a:bodyPr/>
          <a:lstStyle>
            <a:lvl1pPr marL="66675" indent="0">
              <a:buNone/>
              <a:defRPr>
                <a:latin typeface="+mn-lt"/>
              </a:defRPr>
            </a:lvl1pPr>
          </a:lstStyle>
          <a:p>
            <a:r>
              <a:rPr lang="en-US" sz="600"/>
              <a:t> </a:t>
            </a:r>
          </a:p>
        </p:txBody>
      </p:sp>
      <p:sp>
        <p:nvSpPr>
          <p:cNvPr id="9" name="Picture Placeholder 5">
            <a:extLst>
              <a:ext uri="{FF2B5EF4-FFF2-40B4-BE49-F238E27FC236}">
                <a16:creationId xmlns:a16="http://schemas.microsoft.com/office/drawing/2014/main" id="{E1C58B29-DBBD-6004-2842-DC8FF4B96C2F}"/>
              </a:ext>
            </a:extLst>
          </p:cNvPr>
          <p:cNvSpPr>
            <a:spLocks noGrp="1"/>
          </p:cNvSpPr>
          <p:nvPr>
            <p:ph type="pic" sz="quarter" idx="16" hasCustomPrompt="1"/>
          </p:nvPr>
        </p:nvSpPr>
        <p:spPr>
          <a:xfrm>
            <a:off x="8937655" y="2789560"/>
            <a:ext cx="628574" cy="626280"/>
          </a:xfrm>
          <a:prstGeom prst="ellipse">
            <a:avLst/>
          </a:prstGeom>
          <a:solidFill>
            <a:schemeClr val="tx2"/>
          </a:solidFill>
        </p:spPr>
        <p:txBody>
          <a:bodyPr/>
          <a:lstStyle>
            <a:lvl1pPr marL="66675" indent="0">
              <a:buNone/>
              <a:defRPr>
                <a:latin typeface="+mn-lt"/>
              </a:defRPr>
            </a:lvl1pPr>
          </a:lstStyle>
          <a:p>
            <a:r>
              <a:rPr lang="en-US" sz="600"/>
              <a:t> </a:t>
            </a:r>
          </a:p>
        </p:txBody>
      </p:sp>
      <p:sp>
        <p:nvSpPr>
          <p:cNvPr id="11" name="Picture Placeholder 7">
            <a:extLst>
              <a:ext uri="{FF2B5EF4-FFF2-40B4-BE49-F238E27FC236}">
                <a16:creationId xmlns:a16="http://schemas.microsoft.com/office/drawing/2014/main" id="{FA3F649A-0DCE-9785-3674-5452A110AEF0}"/>
              </a:ext>
            </a:extLst>
          </p:cNvPr>
          <p:cNvSpPr>
            <a:spLocks noGrp="1"/>
          </p:cNvSpPr>
          <p:nvPr>
            <p:ph type="pic" sz="quarter" idx="18" hasCustomPrompt="1"/>
          </p:nvPr>
        </p:nvSpPr>
        <p:spPr>
          <a:xfrm>
            <a:off x="8937655" y="3770026"/>
            <a:ext cx="628574" cy="626280"/>
          </a:xfrm>
          <a:prstGeom prst="ellipse">
            <a:avLst/>
          </a:prstGeom>
          <a:solidFill>
            <a:schemeClr val="tx2"/>
          </a:solidFill>
        </p:spPr>
        <p:txBody>
          <a:bodyPr/>
          <a:lstStyle>
            <a:lvl1pPr marL="66675" indent="0">
              <a:buNone/>
              <a:defRPr>
                <a:latin typeface="+mn-lt"/>
              </a:defRPr>
            </a:lvl1pPr>
          </a:lstStyle>
          <a:p>
            <a:r>
              <a:rPr lang="en-US" sz="600"/>
              <a:t> </a:t>
            </a:r>
          </a:p>
        </p:txBody>
      </p:sp>
      <p:sp>
        <p:nvSpPr>
          <p:cNvPr id="12" name="Picture Placeholder 8">
            <a:extLst>
              <a:ext uri="{FF2B5EF4-FFF2-40B4-BE49-F238E27FC236}">
                <a16:creationId xmlns:a16="http://schemas.microsoft.com/office/drawing/2014/main" id="{E5083365-E602-C03D-64C8-E1AF47E5DE59}"/>
              </a:ext>
            </a:extLst>
          </p:cNvPr>
          <p:cNvSpPr>
            <a:spLocks noGrp="1"/>
          </p:cNvSpPr>
          <p:nvPr>
            <p:ph type="pic" sz="quarter" idx="19" hasCustomPrompt="1"/>
          </p:nvPr>
        </p:nvSpPr>
        <p:spPr>
          <a:xfrm>
            <a:off x="6135756" y="3732032"/>
            <a:ext cx="628574" cy="626280"/>
          </a:xfrm>
          <a:prstGeom prst="ellipse">
            <a:avLst/>
          </a:prstGeom>
          <a:solidFill>
            <a:schemeClr val="tx2"/>
          </a:solidFill>
        </p:spPr>
        <p:txBody>
          <a:bodyPr/>
          <a:lstStyle>
            <a:lvl1pPr marL="66675" indent="0">
              <a:buNone/>
              <a:defRPr>
                <a:latin typeface="+mn-lt"/>
              </a:defRPr>
            </a:lvl1pPr>
          </a:lstStyle>
          <a:p>
            <a:r>
              <a:rPr lang="en-US" sz="600"/>
              <a:t> </a:t>
            </a:r>
          </a:p>
        </p:txBody>
      </p:sp>
      <p:sp>
        <p:nvSpPr>
          <p:cNvPr id="13" name="Picture Placeholder 9">
            <a:extLst>
              <a:ext uri="{FF2B5EF4-FFF2-40B4-BE49-F238E27FC236}">
                <a16:creationId xmlns:a16="http://schemas.microsoft.com/office/drawing/2014/main" id="{C545EFE3-FA36-364F-3506-16CBB259473E}"/>
              </a:ext>
            </a:extLst>
          </p:cNvPr>
          <p:cNvSpPr>
            <a:spLocks noGrp="1"/>
          </p:cNvSpPr>
          <p:nvPr>
            <p:ph type="pic" sz="quarter" idx="20" hasCustomPrompt="1"/>
          </p:nvPr>
        </p:nvSpPr>
        <p:spPr>
          <a:xfrm>
            <a:off x="6135756" y="4678712"/>
            <a:ext cx="628574" cy="626280"/>
          </a:xfrm>
          <a:prstGeom prst="ellipse">
            <a:avLst/>
          </a:prstGeom>
          <a:solidFill>
            <a:schemeClr val="tx2"/>
          </a:solidFill>
        </p:spPr>
        <p:txBody>
          <a:bodyPr/>
          <a:lstStyle>
            <a:lvl1pPr marL="66675" indent="0">
              <a:buNone/>
              <a:defRPr>
                <a:latin typeface="+mn-lt"/>
              </a:defRPr>
            </a:lvl1pPr>
          </a:lstStyle>
          <a:p>
            <a:r>
              <a:rPr lang="en-US" sz="600"/>
              <a:t> </a:t>
            </a:r>
          </a:p>
        </p:txBody>
      </p:sp>
      <p:sp>
        <p:nvSpPr>
          <p:cNvPr id="15" name="Picture Placeholder 11">
            <a:extLst>
              <a:ext uri="{FF2B5EF4-FFF2-40B4-BE49-F238E27FC236}">
                <a16:creationId xmlns:a16="http://schemas.microsoft.com/office/drawing/2014/main" id="{DD445EE6-B934-7390-6760-4BFC0A0AC254}"/>
              </a:ext>
            </a:extLst>
          </p:cNvPr>
          <p:cNvSpPr>
            <a:spLocks noGrp="1"/>
          </p:cNvSpPr>
          <p:nvPr>
            <p:ph type="pic" sz="quarter" idx="22" hasCustomPrompt="1"/>
          </p:nvPr>
        </p:nvSpPr>
        <p:spPr>
          <a:xfrm>
            <a:off x="8921447" y="4678712"/>
            <a:ext cx="628574" cy="626280"/>
          </a:xfrm>
          <a:prstGeom prst="ellipse">
            <a:avLst/>
          </a:prstGeom>
          <a:solidFill>
            <a:schemeClr val="tx2"/>
          </a:solidFill>
        </p:spPr>
        <p:txBody>
          <a:bodyPr/>
          <a:lstStyle>
            <a:lvl1pPr marL="66675" indent="0">
              <a:buNone/>
              <a:defRPr>
                <a:latin typeface="+mn-lt"/>
              </a:defRPr>
            </a:lvl1pPr>
          </a:lstStyle>
          <a:p>
            <a:r>
              <a:rPr lang="en-US" sz="600"/>
              <a:t> </a:t>
            </a:r>
          </a:p>
        </p:txBody>
      </p:sp>
      <p:sp>
        <p:nvSpPr>
          <p:cNvPr id="18" name="Text Placeholder 17">
            <a:extLst>
              <a:ext uri="{FF2B5EF4-FFF2-40B4-BE49-F238E27FC236}">
                <a16:creationId xmlns:a16="http://schemas.microsoft.com/office/drawing/2014/main" id="{5A82CAF8-782E-6B97-B6B0-0260DCE4F197}"/>
              </a:ext>
            </a:extLst>
          </p:cNvPr>
          <p:cNvSpPr>
            <a:spLocks noGrp="1"/>
          </p:cNvSpPr>
          <p:nvPr>
            <p:ph type="body" sz="quarter" idx="23" hasCustomPrompt="1"/>
          </p:nvPr>
        </p:nvSpPr>
        <p:spPr>
          <a:xfrm>
            <a:off x="6096000" y="731839"/>
            <a:ext cx="4049712" cy="840930"/>
          </a:xfrm>
        </p:spPr>
        <p:txBody>
          <a:bodyPr anchor="b"/>
          <a:lstStyle>
            <a:lvl1pPr marL="0" indent="0">
              <a:buNone/>
              <a:defRPr sz="1000" b="1" cap="all" spc="200" baseline="0">
                <a:solidFill>
                  <a:schemeClr val="accent5"/>
                </a:solidFill>
                <a:latin typeface="+mn-lt"/>
              </a:defRPr>
            </a:lvl1pPr>
            <a:lvl2pPr marL="457200" indent="0">
              <a:buNone/>
              <a:defRPr sz="800" b="1"/>
            </a:lvl2pPr>
            <a:lvl3pPr marL="914400" indent="0">
              <a:buNone/>
              <a:defRPr sz="800" b="1"/>
            </a:lvl3pPr>
            <a:lvl4pPr marL="1371600" indent="0">
              <a:buNone/>
              <a:defRPr sz="800" b="1"/>
            </a:lvl4pPr>
            <a:lvl5pPr marL="1828800" indent="0">
              <a:buNone/>
              <a:defRPr sz="800" b="1"/>
            </a:lvl5pPr>
          </a:lstStyle>
          <a:p>
            <a:pPr lvl="0"/>
            <a:r>
              <a:rPr lang="en-US"/>
              <a:t>MEET THE TEAM</a:t>
            </a:r>
          </a:p>
        </p:txBody>
      </p:sp>
    </p:spTree>
    <p:extLst>
      <p:ext uri="{BB962C8B-B14F-4D97-AF65-F5344CB8AC3E}">
        <p14:creationId xmlns:p14="http://schemas.microsoft.com/office/powerpoint/2010/main" val="77082781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genda Slide - Image Ligh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D476FD4A-8DEC-4288-31FC-E11FAEAEB878}"/>
              </a:ext>
            </a:extLst>
          </p:cNvPr>
          <p:cNvSpPr/>
          <p:nvPr userDrawn="1"/>
        </p:nvSpPr>
        <p:spPr>
          <a:xfrm>
            <a:off x="5207000" y="6129867"/>
            <a:ext cx="1972733" cy="72813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sp>
        <p:nvSpPr>
          <p:cNvPr id="2" name="Title 1">
            <a:extLst>
              <a:ext uri="{FF2B5EF4-FFF2-40B4-BE49-F238E27FC236}">
                <a16:creationId xmlns:a16="http://schemas.microsoft.com/office/drawing/2014/main" id="{24C1A457-B3C2-8844-AB36-C25C82BD0B4C}"/>
              </a:ext>
            </a:extLst>
          </p:cNvPr>
          <p:cNvSpPr>
            <a:spLocks noGrp="1"/>
          </p:cNvSpPr>
          <p:nvPr>
            <p:ph type="title" hasCustomPrompt="1"/>
          </p:nvPr>
        </p:nvSpPr>
        <p:spPr>
          <a:xfrm>
            <a:off x="914400" y="731520"/>
            <a:ext cx="4114800" cy="841248"/>
          </a:xfrm>
        </p:spPr>
        <p:txBody>
          <a:bodyPr anchor="b">
            <a:noAutofit/>
          </a:bodyPr>
          <a:lstStyle>
            <a:lvl1pPr algn="l">
              <a:defRPr sz="1000" cap="all" spc="200" baseline="0">
                <a:solidFill>
                  <a:schemeClr val="tx2"/>
                </a:solidFill>
                <a:latin typeface="+mn-lt"/>
              </a:defRPr>
            </a:lvl1pPr>
          </a:lstStyle>
          <a:p>
            <a:r>
              <a:rPr lang="en-US"/>
              <a:t>AGENDA</a:t>
            </a:r>
          </a:p>
        </p:txBody>
      </p:sp>
      <p:sp>
        <p:nvSpPr>
          <p:cNvPr id="5" name="Content Placeholder 4">
            <a:extLst>
              <a:ext uri="{FF2B5EF4-FFF2-40B4-BE49-F238E27FC236}">
                <a16:creationId xmlns:a16="http://schemas.microsoft.com/office/drawing/2014/main" id="{618E85C0-43B1-434D-9B22-4C10DBAFA7F2}"/>
              </a:ext>
            </a:extLst>
          </p:cNvPr>
          <p:cNvSpPr>
            <a:spLocks noGrp="1"/>
          </p:cNvSpPr>
          <p:nvPr>
            <p:ph sz="quarter" idx="11" hasCustomPrompt="1"/>
          </p:nvPr>
        </p:nvSpPr>
        <p:spPr>
          <a:xfrm>
            <a:off x="914400" y="1847088"/>
            <a:ext cx="4114800" cy="3746156"/>
          </a:xfrm>
        </p:spPr>
        <p:txBody>
          <a:bodyPr/>
          <a:lstStyle>
            <a:lvl1pPr marL="0" indent="0">
              <a:lnSpc>
                <a:spcPct val="100000"/>
              </a:lnSpc>
              <a:spcBef>
                <a:spcPts val="2400"/>
              </a:spcBef>
              <a:buNone/>
              <a:defRPr lang="en-US" sz="2400" b="0" i="0" kern="1200" dirty="0">
                <a:solidFill>
                  <a:schemeClr val="tx1"/>
                </a:solidFill>
                <a:latin typeface="+mn-lt"/>
                <a:ea typeface="+mn-ea"/>
                <a:cs typeface="+mn-cs"/>
              </a:defRPr>
            </a:lvl1pPr>
            <a:lvl2pPr marL="7938" indent="0">
              <a:lnSpc>
                <a:spcPct val="100000"/>
              </a:lnSpc>
              <a:spcBef>
                <a:spcPts val="600"/>
              </a:spcBef>
              <a:buNone/>
              <a:tabLst/>
              <a:defRPr>
                <a:solidFill>
                  <a:schemeClr val="tx1"/>
                </a:solidFill>
              </a:defRPr>
            </a:lvl2pPr>
            <a:lvl3pPr marL="173736" indent="-109728">
              <a:lnSpc>
                <a:spcPct val="100000"/>
              </a:lnSpc>
              <a:spcBef>
                <a:spcPts val="600"/>
              </a:spcBef>
              <a:defRPr sz="1200">
                <a:solidFill>
                  <a:schemeClr val="tx1"/>
                </a:solidFill>
              </a:defRPr>
            </a:lvl3pPr>
            <a:lvl4pPr marL="402336" indent="-173736">
              <a:lnSpc>
                <a:spcPct val="100000"/>
              </a:lnSpc>
              <a:spcBef>
                <a:spcPts val="600"/>
              </a:spcBef>
              <a:buFont typeface="Arial" panose="020B0604020202020204" pitchFamily="34" charset="0"/>
              <a:buChar char="•"/>
              <a:defRPr sz="1200">
                <a:solidFill>
                  <a:schemeClr val="tx1"/>
                </a:solidFill>
              </a:defRPr>
            </a:lvl4pPr>
            <a:lvl5pPr marL="576072" indent="-109728">
              <a:lnSpc>
                <a:spcPct val="100000"/>
              </a:lnSpc>
              <a:spcBef>
                <a:spcPts val="600"/>
              </a:spcBef>
              <a:buFont typeface="Arial" panose="020B0604020202020204" pitchFamily="34" charset="0"/>
              <a:buChar char="•"/>
              <a:defRPr sz="1200">
                <a:solidFill>
                  <a:schemeClr val="tx1"/>
                </a:solidFill>
              </a:defRPr>
            </a:lvl5pPr>
          </a:lstStyle>
          <a:p>
            <a:pPr marL="0" lvl="0" indent="0" algn="l" defTabSz="914400" rtl="0" eaLnBrk="1" latinLnBrk="0" hangingPunct="1">
              <a:lnSpc>
                <a:spcPct val="90000"/>
              </a:lnSpc>
              <a:spcBef>
                <a:spcPts val="1000"/>
              </a:spcBef>
              <a:buFont typeface="Arial" panose="020B0604020202020204" pitchFamily="34" charset="0"/>
              <a:buNone/>
            </a:pPr>
            <a:r>
              <a:rPr lang="en-US"/>
              <a:t>Section</a:t>
            </a:r>
          </a:p>
          <a:p>
            <a:pPr lvl="1"/>
            <a:r>
              <a:rPr lang="en-US"/>
              <a:t>Second level</a:t>
            </a:r>
          </a:p>
          <a:p>
            <a:pPr lvl="2"/>
            <a:r>
              <a:rPr lang="en-US"/>
              <a:t>Third level</a:t>
            </a:r>
          </a:p>
          <a:p>
            <a:pPr lvl="3"/>
            <a:r>
              <a:rPr lang="en-US"/>
              <a:t>Fourth level</a:t>
            </a:r>
          </a:p>
          <a:p>
            <a:pPr lvl="4"/>
            <a:r>
              <a:rPr lang="en-US"/>
              <a:t>Fifth level</a:t>
            </a:r>
          </a:p>
        </p:txBody>
      </p:sp>
      <p:sp>
        <p:nvSpPr>
          <p:cNvPr id="3" name="Picture Placeholder 6">
            <a:extLst>
              <a:ext uri="{FF2B5EF4-FFF2-40B4-BE49-F238E27FC236}">
                <a16:creationId xmlns:a16="http://schemas.microsoft.com/office/drawing/2014/main" id="{B3093CCE-368A-239E-8D3F-6FCA13314FC3}"/>
              </a:ext>
            </a:extLst>
          </p:cNvPr>
          <p:cNvSpPr>
            <a:spLocks noGrp="1"/>
          </p:cNvSpPr>
          <p:nvPr>
            <p:ph type="pic" sz="quarter" idx="12" hasCustomPrompt="1"/>
          </p:nvPr>
        </p:nvSpPr>
        <p:spPr>
          <a:xfrm>
            <a:off x="5743322" y="1"/>
            <a:ext cx="6448678" cy="6857999"/>
          </a:xfrm>
          <a:prstGeom prst="rect">
            <a:avLst/>
          </a:prstGeom>
          <a:solidFill>
            <a:schemeClr val="bg2"/>
          </a:solidFill>
        </p:spPr>
        <p:txBody>
          <a:bodyPr wrap="square">
            <a:noAutofit/>
          </a:bodyPr>
          <a:lstStyle>
            <a:lvl1pPr marL="0" indent="0">
              <a:buNone/>
              <a:defRPr b="0">
                <a:solidFill>
                  <a:schemeClr val="bg1"/>
                </a:solidFill>
                <a:latin typeface="+mn-lt"/>
              </a:defRPr>
            </a:lvl1pPr>
          </a:lstStyle>
          <a:p>
            <a:r>
              <a:rPr lang="en-US"/>
              <a:t>*Click image icon to insert*</a:t>
            </a:r>
          </a:p>
        </p:txBody>
      </p:sp>
      <p:sp>
        <p:nvSpPr>
          <p:cNvPr id="4" name="TextBox 3">
            <a:extLst>
              <a:ext uri="{FF2B5EF4-FFF2-40B4-BE49-F238E27FC236}">
                <a16:creationId xmlns:a16="http://schemas.microsoft.com/office/drawing/2014/main" id="{9A815C76-9273-44CE-603F-F4A10C34A659}"/>
              </a:ext>
            </a:extLst>
          </p:cNvPr>
          <p:cNvSpPr txBox="1"/>
          <p:nvPr userDrawn="1"/>
        </p:nvSpPr>
        <p:spPr>
          <a:xfrm>
            <a:off x="7796752" y="6324600"/>
            <a:ext cx="4058444" cy="304795"/>
          </a:xfrm>
          <a:prstGeom prst="rect">
            <a:avLst/>
          </a:prstGeom>
          <a:noFill/>
        </p:spPr>
        <p:txBody>
          <a:bodyPr wrap="square" bIns="0" rtlCol="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3BDFC0B-CFB1-084E-A5D1-50420B235E65}" type="slidenum">
              <a:rPr kumimoji="0" lang="en-US" sz="700" b="0" i="0" u="none" strike="noStrike" kern="1200" cap="none" spc="0" normalizeH="0" baseline="0" noProof="0" smtClean="0">
                <a:ln>
                  <a:noFill/>
                </a:ln>
                <a:solidFill>
                  <a:schemeClr val="bg2">
                    <a:lumMod val="75000"/>
                  </a:schemeClr>
                </a:solidFill>
                <a:effectLst/>
                <a:uLnTx/>
                <a:uFillTx/>
                <a:latin typeface="+mn-lt"/>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sz="700" b="0" i="0">
              <a:solidFill>
                <a:schemeClr val="bg2">
                  <a:lumMod val="75000"/>
                </a:schemeClr>
              </a:solidFill>
              <a:latin typeface="+mn-lt"/>
              <a:ea typeface="+mn-ea"/>
              <a:cs typeface="+mn-cs"/>
            </a:endParaRPr>
          </a:p>
        </p:txBody>
      </p:sp>
    </p:spTree>
    <p:extLst>
      <p:ext uri="{BB962C8B-B14F-4D97-AF65-F5344CB8AC3E}">
        <p14:creationId xmlns:p14="http://schemas.microsoft.com/office/powerpoint/2010/main" val="267686981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Divider Slide 1">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5519A66-EB16-1A1C-E787-A898E82A40F2}"/>
              </a:ext>
            </a:extLst>
          </p:cNvPr>
          <p:cNvSpPr/>
          <p:nvPr userDrawn="1"/>
        </p:nvSpPr>
        <p:spPr>
          <a:xfrm rot="10800000" flipV="1">
            <a:off x="2" y="-3"/>
            <a:ext cx="12191998" cy="6858003"/>
          </a:xfrm>
          <a:prstGeom prst="rect">
            <a:avLst/>
          </a:prstGeom>
          <a:solidFill>
            <a:schemeClr val="tx1"/>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sp>
        <p:nvSpPr>
          <p:cNvPr id="2" name="Title 1">
            <a:extLst>
              <a:ext uri="{FF2B5EF4-FFF2-40B4-BE49-F238E27FC236}">
                <a16:creationId xmlns:a16="http://schemas.microsoft.com/office/drawing/2014/main" id="{D86C4ED2-BE9E-5A4D-8979-FA06EFD126F3}"/>
              </a:ext>
            </a:extLst>
          </p:cNvPr>
          <p:cNvSpPr>
            <a:spLocks noGrp="1"/>
          </p:cNvSpPr>
          <p:nvPr>
            <p:ph type="title" hasCustomPrompt="1"/>
          </p:nvPr>
        </p:nvSpPr>
        <p:spPr>
          <a:xfrm>
            <a:off x="914400" y="1318719"/>
            <a:ext cx="9709484" cy="2870201"/>
          </a:xfrm>
        </p:spPr>
        <p:txBody>
          <a:bodyPr anchor="t">
            <a:noAutofit/>
          </a:bodyPr>
          <a:lstStyle>
            <a:lvl1pPr>
              <a:lnSpc>
                <a:spcPct val="85000"/>
              </a:lnSpc>
              <a:defRPr sz="6000" b="0" cap="none" spc="-50" baseline="0">
                <a:solidFill>
                  <a:schemeClr val="bg1"/>
                </a:solidFill>
              </a:defRPr>
            </a:lvl1pPr>
          </a:lstStyle>
          <a:p>
            <a:r>
              <a:rPr lang="en-US"/>
              <a:t>Divider copy goes here</a:t>
            </a:r>
          </a:p>
        </p:txBody>
      </p:sp>
      <p:grpSp>
        <p:nvGrpSpPr>
          <p:cNvPr id="4" name="Graphic 9">
            <a:extLst>
              <a:ext uri="{FF2B5EF4-FFF2-40B4-BE49-F238E27FC236}">
                <a16:creationId xmlns:a16="http://schemas.microsoft.com/office/drawing/2014/main" id="{FCFFBCBA-0559-328A-A56A-19158E195F3E}"/>
              </a:ext>
            </a:extLst>
          </p:cNvPr>
          <p:cNvGrpSpPr>
            <a:grpSpLocks noChangeAspect="1"/>
          </p:cNvGrpSpPr>
          <p:nvPr userDrawn="1"/>
        </p:nvGrpSpPr>
        <p:grpSpPr>
          <a:xfrm>
            <a:off x="417511" y="6489055"/>
            <a:ext cx="249135" cy="136828"/>
            <a:chOff x="11484948" y="313034"/>
            <a:chExt cx="401233" cy="220363"/>
          </a:xfrm>
          <a:solidFill>
            <a:schemeClr val="accent5"/>
          </a:solidFill>
        </p:grpSpPr>
        <p:sp>
          <p:nvSpPr>
            <p:cNvPr id="5" name="Freeform 4">
              <a:extLst>
                <a:ext uri="{FF2B5EF4-FFF2-40B4-BE49-F238E27FC236}">
                  <a16:creationId xmlns:a16="http://schemas.microsoft.com/office/drawing/2014/main" id="{31E1F5A4-4FDE-935B-A4FD-B4C29343FACD}"/>
                </a:ext>
              </a:extLst>
            </p:cNvPr>
            <p:cNvSpPr/>
            <p:nvPr userDrawn="1"/>
          </p:nvSpPr>
          <p:spPr>
            <a:xfrm>
              <a:off x="11652424" y="313034"/>
              <a:ext cx="233757" cy="220363"/>
            </a:xfrm>
            <a:custGeom>
              <a:avLst/>
              <a:gdLst>
                <a:gd name="connsiteX0" fmla="*/ 233757 w 233757"/>
                <a:gd name="connsiteY0" fmla="*/ 220363 h 220363"/>
                <a:gd name="connsiteX1" fmla="*/ 187006 w 233757"/>
                <a:gd name="connsiteY1" fmla="*/ 220363 h 220363"/>
                <a:gd name="connsiteX2" fmla="*/ 187006 w 233757"/>
                <a:gd name="connsiteY2" fmla="*/ 89448 h 220363"/>
                <a:gd name="connsiteX3" fmla="*/ 116879 w 233757"/>
                <a:gd name="connsiteY3" fmla="*/ 159645 h 220363"/>
                <a:gd name="connsiteX4" fmla="*/ 46751 w 233757"/>
                <a:gd name="connsiteY4" fmla="*/ 89448 h 220363"/>
                <a:gd name="connsiteX5" fmla="*/ 46751 w 233757"/>
                <a:gd name="connsiteY5" fmla="*/ 220363 h 220363"/>
                <a:gd name="connsiteX6" fmla="*/ 0 w 233757"/>
                <a:gd name="connsiteY6" fmla="*/ 220363 h 220363"/>
                <a:gd name="connsiteX7" fmla="*/ 0 w 233757"/>
                <a:gd name="connsiteY7" fmla="*/ 0 h 220363"/>
                <a:gd name="connsiteX8" fmla="*/ 24855 w 233757"/>
                <a:gd name="connsiteY8" fmla="*/ 0 h 220363"/>
                <a:gd name="connsiteX9" fmla="*/ 117470 w 233757"/>
                <a:gd name="connsiteY9" fmla="*/ 92706 h 220363"/>
                <a:gd name="connsiteX10" fmla="*/ 208902 w 233757"/>
                <a:gd name="connsiteY10" fmla="*/ 0 h 220363"/>
                <a:gd name="connsiteX11" fmla="*/ 233757 w 233757"/>
                <a:gd name="connsiteY11" fmla="*/ 0 h 220363"/>
                <a:gd name="connsiteX12" fmla="*/ 233757 w 233757"/>
                <a:gd name="connsiteY12" fmla="*/ 220363 h 22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757" h="220363">
                  <a:moveTo>
                    <a:pt x="233757" y="220363"/>
                  </a:moveTo>
                  <a:lnTo>
                    <a:pt x="187006" y="220363"/>
                  </a:lnTo>
                  <a:lnTo>
                    <a:pt x="187006" y="89448"/>
                  </a:lnTo>
                  <a:lnTo>
                    <a:pt x="116879" y="159645"/>
                  </a:lnTo>
                  <a:lnTo>
                    <a:pt x="46751" y="89448"/>
                  </a:lnTo>
                  <a:lnTo>
                    <a:pt x="46751" y="220363"/>
                  </a:lnTo>
                  <a:lnTo>
                    <a:pt x="0" y="220363"/>
                  </a:lnTo>
                  <a:lnTo>
                    <a:pt x="0" y="0"/>
                  </a:lnTo>
                  <a:lnTo>
                    <a:pt x="24855" y="0"/>
                  </a:lnTo>
                  <a:lnTo>
                    <a:pt x="117470" y="92706"/>
                  </a:lnTo>
                  <a:lnTo>
                    <a:pt x="208902" y="0"/>
                  </a:lnTo>
                  <a:lnTo>
                    <a:pt x="233757" y="0"/>
                  </a:lnTo>
                  <a:lnTo>
                    <a:pt x="233757" y="220363"/>
                  </a:lnTo>
                  <a:close/>
                </a:path>
              </a:pathLst>
            </a:custGeom>
            <a:solidFill>
              <a:schemeClr val="bg1"/>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6" name="Freeform 5">
              <a:extLst>
                <a:ext uri="{FF2B5EF4-FFF2-40B4-BE49-F238E27FC236}">
                  <a16:creationId xmlns:a16="http://schemas.microsoft.com/office/drawing/2014/main" id="{BCB53C9B-EBD3-5ABA-2E39-0B9E964BA2B3}"/>
                </a:ext>
              </a:extLst>
            </p:cNvPr>
            <p:cNvSpPr/>
            <p:nvPr userDrawn="1"/>
          </p:nvSpPr>
          <p:spPr>
            <a:xfrm>
              <a:off x="11484948" y="412552"/>
              <a:ext cx="120725" cy="120844"/>
            </a:xfrm>
            <a:custGeom>
              <a:avLst/>
              <a:gdLst>
                <a:gd name="connsiteX0" fmla="*/ 120725 w 120725"/>
                <a:gd name="connsiteY0" fmla="*/ 0 h 120844"/>
                <a:gd name="connsiteX1" fmla="*/ 0 w 120725"/>
                <a:gd name="connsiteY1" fmla="*/ 0 h 120844"/>
                <a:gd name="connsiteX2" fmla="*/ 120725 w 120725"/>
                <a:gd name="connsiteY2" fmla="*/ 120844 h 120844"/>
                <a:gd name="connsiteX3" fmla="*/ 120725 w 120725"/>
                <a:gd name="connsiteY3" fmla="*/ 0 h 120844"/>
              </a:gdLst>
              <a:ahLst/>
              <a:cxnLst>
                <a:cxn ang="0">
                  <a:pos x="connsiteX0" y="connsiteY0"/>
                </a:cxn>
                <a:cxn ang="0">
                  <a:pos x="connsiteX1" y="connsiteY1"/>
                </a:cxn>
                <a:cxn ang="0">
                  <a:pos x="connsiteX2" y="connsiteY2"/>
                </a:cxn>
                <a:cxn ang="0">
                  <a:pos x="connsiteX3" y="connsiteY3"/>
                </a:cxn>
              </a:cxnLst>
              <a:rect l="l" t="t" r="r" b="b"/>
              <a:pathLst>
                <a:path w="120725" h="120844">
                  <a:moveTo>
                    <a:pt x="120725" y="0"/>
                  </a:moveTo>
                  <a:lnTo>
                    <a:pt x="0" y="0"/>
                  </a:lnTo>
                  <a:lnTo>
                    <a:pt x="120725" y="120844"/>
                  </a:lnTo>
                  <a:lnTo>
                    <a:pt x="120725" y="0"/>
                  </a:lnTo>
                  <a:close/>
                </a:path>
              </a:pathLst>
            </a:custGeom>
            <a:solidFill>
              <a:srgbClr val="F23A1E"/>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grpSp>
    </p:spTree>
    <p:extLst>
      <p:ext uri="{BB962C8B-B14F-4D97-AF65-F5344CB8AC3E}">
        <p14:creationId xmlns:p14="http://schemas.microsoft.com/office/powerpoint/2010/main" val="385089650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Divider Slide - Texture, Dar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702C4C0-6AF4-A751-D91A-FC5F17759A5C}"/>
              </a:ext>
            </a:extLst>
          </p:cNvPr>
          <p:cNvSpPr/>
          <p:nvPr userDrawn="1"/>
        </p:nvSpPr>
        <p:spPr>
          <a:xfrm rot="10800000" flipV="1">
            <a:off x="2" y="-3"/>
            <a:ext cx="12191998" cy="6858003"/>
          </a:xfrm>
          <a:prstGeom prst="rect">
            <a:avLst/>
          </a:prstGeom>
          <a:solidFill>
            <a:schemeClr val="tx1"/>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pic>
        <p:nvPicPr>
          <p:cNvPr id="3" name="Picture 2" descr="A close up of a blue and black diamond&#10;&#10;AI-generated content may be incorrect.">
            <a:extLst>
              <a:ext uri="{FF2B5EF4-FFF2-40B4-BE49-F238E27FC236}">
                <a16:creationId xmlns:a16="http://schemas.microsoft.com/office/drawing/2014/main" id="{3A8CA6DA-F5A8-713D-4994-D03AAE9DB1DE}"/>
              </a:ext>
            </a:extLst>
          </p:cNvPr>
          <p:cNvPicPr/>
          <p:nvPr userDrawn="1"/>
        </p:nvPicPr>
        <p:blipFill>
          <a:blip r:embed="rId2">
            <a:alphaModFix/>
          </a:blip>
          <a:srcRect l="4628" t="1913" b="17076"/>
          <a:stretch/>
        </p:blipFill>
        <p:spPr>
          <a:xfrm flipH="1">
            <a:off x="0" y="1032697"/>
            <a:ext cx="12192000" cy="5825303"/>
          </a:xfrm>
          <a:prstGeom prst="rect">
            <a:avLst/>
          </a:prstGeom>
          <a:solidFill>
            <a:schemeClr val="bg2"/>
          </a:solidFill>
        </p:spPr>
      </p:pic>
      <p:sp>
        <p:nvSpPr>
          <p:cNvPr id="7" name="Title 1">
            <a:extLst>
              <a:ext uri="{FF2B5EF4-FFF2-40B4-BE49-F238E27FC236}">
                <a16:creationId xmlns:a16="http://schemas.microsoft.com/office/drawing/2014/main" id="{D20BAF10-7045-56DD-9CD8-14C315EB5B3B}"/>
              </a:ext>
            </a:extLst>
          </p:cNvPr>
          <p:cNvSpPr>
            <a:spLocks noGrp="1"/>
          </p:cNvSpPr>
          <p:nvPr>
            <p:ph type="title" hasCustomPrompt="1"/>
          </p:nvPr>
        </p:nvSpPr>
        <p:spPr>
          <a:xfrm>
            <a:off x="914400" y="1318719"/>
            <a:ext cx="9709484" cy="2870201"/>
          </a:xfrm>
        </p:spPr>
        <p:txBody>
          <a:bodyPr anchor="t">
            <a:noAutofit/>
          </a:bodyPr>
          <a:lstStyle>
            <a:lvl1pPr>
              <a:lnSpc>
                <a:spcPct val="85000"/>
              </a:lnSpc>
              <a:defRPr sz="6000" b="0" cap="none" spc="-50" baseline="0">
                <a:solidFill>
                  <a:schemeClr val="bg1"/>
                </a:solidFill>
              </a:defRPr>
            </a:lvl1pPr>
          </a:lstStyle>
          <a:p>
            <a:r>
              <a:rPr lang="en-US"/>
              <a:t>Divider copy goes here</a:t>
            </a:r>
          </a:p>
        </p:txBody>
      </p:sp>
      <p:grpSp>
        <p:nvGrpSpPr>
          <p:cNvPr id="4" name="Graphic 9">
            <a:extLst>
              <a:ext uri="{FF2B5EF4-FFF2-40B4-BE49-F238E27FC236}">
                <a16:creationId xmlns:a16="http://schemas.microsoft.com/office/drawing/2014/main" id="{86E32514-7374-FBA6-E3BA-B1F5A00FDC8D}"/>
              </a:ext>
            </a:extLst>
          </p:cNvPr>
          <p:cNvGrpSpPr>
            <a:grpSpLocks noChangeAspect="1"/>
          </p:cNvGrpSpPr>
          <p:nvPr userDrawn="1"/>
        </p:nvGrpSpPr>
        <p:grpSpPr>
          <a:xfrm>
            <a:off x="417511" y="6489055"/>
            <a:ext cx="249135" cy="136828"/>
            <a:chOff x="11484948" y="313034"/>
            <a:chExt cx="401233" cy="220363"/>
          </a:xfrm>
          <a:solidFill>
            <a:schemeClr val="accent5"/>
          </a:solidFill>
        </p:grpSpPr>
        <p:sp>
          <p:nvSpPr>
            <p:cNvPr id="5" name="Freeform 4">
              <a:extLst>
                <a:ext uri="{FF2B5EF4-FFF2-40B4-BE49-F238E27FC236}">
                  <a16:creationId xmlns:a16="http://schemas.microsoft.com/office/drawing/2014/main" id="{9FC621CF-7D6E-189D-DB48-B3B57464B4CD}"/>
                </a:ext>
              </a:extLst>
            </p:cNvPr>
            <p:cNvSpPr/>
            <p:nvPr userDrawn="1"/>
          </p:nvSpPr>
          <p:spPr>
            <a:xfrm>
              <a:off x="11652424" y="313034"/>
              <a:ext cx="233757" cy="220363"/>
            </a:xfrm>
            <a:custGeom>
              <a:avLst/>
              <a:gdLst>
                <a:gd name="connsiteX0" fmla="*/ 233757 w 233757"/>
                <a:gd name="connsiteY0" fmla="*/ 220363 h 220363"/>
                <a:gd name="connsiteX1" fmla="*/ 187006 w 233757"/>
                <a:gd name="connsiteY1" fmla="*/ 220363 h 220363"/>
                <a:gd name="connsiteX2" fmla="*/ 187006 w 233757"/>
                <a:gd name="connsiteY2" fmla="*/ 89448 h 220363"/>
                <a:gd name="connsiteX3" fmla="*/ 116879 w 233757"/>
                <a:gd name="connsiteY3" fmla="*/ 159645 h 220363"/>
                <a:gd name="connsiteX4" fmla="*/ 46751 w 233757"/>
                <a:gd name="connsiteY4" fmla="*/ 89448 h 220363"/>
                <a:gd name="connsiteX5" fmla="*/ 46751 w 233757"/>
                <a:gd name="connsiteY5" fmla="*/ 220363 h 220363"/>
                <a:gd name="connsiteX6" fmla="*/ 0 w 233757"/>
                <a:gd name="connsiteY6" fmla="*/ 220363 h 220363"/>
                <a:gd name="connsiteX7" fmla="*/ 0 w 233757"/>
                <a:gd name="connsiteY7" fmla="*/ 0 h 220363"/>
                <a:gd name="connsiteX8" fmla="*/ 24855 w 233757"/>
                <a:gd name="connsiteY8" fmla="*/ 0 h 220363"/>
                <a:gd name="connsiteX9" fmla="*/ 117470 w 233757"/>
                <a:gd name="connsiteY9" fmla="*/ 92706 h 220363"/>
                <a:gd name="connsiteX10" fmla="*/ 208902 w 233757"/>
                <a:gd name="connsiteY10" fmla="*/ 0 h 220363"/>
                <a:gd name="connsiteX11" fmla="*/ 233757 w 233757"/>
                <a:gd name="connsiteY11" fmla="*/ 0 h 220363"/>
                <a:gd name="connsiteX12" fmla="*/ 233757 w 233757"/>
                <a:gd name="connsiteY12" fmla="*/ 220363 h 22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757" h="220363">
                  <a:moveTo>
                    <a:pt x="233757" y="220363"/>
                  </a:moveTo>
                  <a:lnTo>
                    <a:pt x="187006" y="220363"/>
                  </a:lnTo>
                  <a:lnTo>
                    <a:pt x="187006" y="89448"/>
                  </a:lnTo>
                  <a:lnTo>
                    <a:pt x="116879" y="159645"/>
                  </a:lnTo>
                  <a:lnTo>
                    <a:pt x="46751" y="89448"/>
                  </a:lnTo>
                  <a:lnTo>
                    <a:pt x="46751" y="220363"/>
                  </a:lnTo>
                  <a:lnTo>
                    <a:pt x="0" y="220363"/>
                  </a:lnTo>
                  <a:lnTo>
                    <a:pt x="0" y="0"/>
                  </a:lnTo>
                  <a:lnTo>
                    <a:pt x="24855" y="0"/>
                  </a:lnTo>
                  <a:lnTo>
                    <a:pt x="117470" y="92706"/>
                  </a:lnTo>
                  <a:lnTo>
                    <a:pt x="208902" y="0"/>
                  </a:lnTo>
                  <a:lnTo>
                    <a:pt x="233757" y="0"/>
                  </a:lnTo>
                  <a:lnTo>
                    <a:pt x="233757" y="220363"/>
                  </a:lnTo>
                  <a:close/>
                </a:path>
              </a:pathLst>
            </a:custGeom>
            <a:solidFill>
              <a:schemeClr val="bg1"/>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6" name="Freeform 5">
              <a:extLst>
                <a:ext uri="{FF2B5EF4-FFF2-40B4-BE49-F238E27FC236}">
                  <a16:creationId xmlns:a16="http://schemas.microsoft.com/office/drawing/2014/main" id="{3ABC6638-711B-F07F-BEC7-E4FC3B5EF3C9}"/>
                </a:ext>
              </a:extLst>
            </p:cNvPr>
            <p:cNvSpPr/>
            <p:nvPr userDrawn="1"/>
          </p:nvSpPr>
          <p:spPr>
            <a:xfrm>
              <a:off x="11484948" y="412552"/>
              <a:ext cx="120725" cy="120844"/>
            </a:xfrm>
            <a:custGeom>
              <a:avLst/>
              <a:gdLst>
                <a:gd name="connsiteX0" fmla="*/ 120725 w 120725"/>
                <a:gd name="connsiteY0" fmla="*/ 0 h 120844"/>
                <a:gd name="connsiteX1" fmla="*/ 0 w 120725"/>
                <a:gd name="connsiteY1" fmla="*/ 0 h 120844"/>
                <a:gd name="connsiteX2" fmla="*/ 120725 w 120725"/>
                <a:gd name="connsiteY2" fmla="*/ 120844 h 120844"/>
                <a:gd name="connsiteX3" fmla="*/ 120725 w 120725"/>
                <a:gd name="connsiteY3" fmla="*/ 0 h 120844"/>
              </a:gdLst>
              <a:ahLst/>
              <a:cxnLst>
                <a:cxn ang="0">
                  <a:pos x="connsiteX0" y="connsiteY0"/>
                </a:cxn>
                <a:cxn ang="0">
                  <a:pos x="connsiteX1" y="connsiteY1"/>
                </a:cxn>
                <a:cxn ang="0">
                  <a:pos x="connsiteX2" y="connsiteY2"/>
                </a:cxn>
                <a:cxn ang="0">
                  <a:pos x="connsiteX3" y="connsiteY3"/>
                </a:cxn>
              </a:cxnLst>
              <a:rect l="l" t="t" r="r" b="b"/>
              <a:pathLst>
                <a:path w="120725" h="120844">
                  <a:moveTo>
                    <a:pt x="120725" y="0"/>
                  </a:moveTo>
                  <a:lnTo>
                    <a:pt x="0" y="0"/>
                  </a:lnTo>
                  <a:lnTo>
                    <a:pt x="120725" y="120844"/>
                  </a:lnTo>
                  <a:lnTo>
                    <a:pt x="120725" y="0"/>
                  </a:lnTo>
                  <a:close/>
                </a:path>
              </a:pathLst>
            </a:custGeom>
            <a:solidFill>
              <a:srgbClr val="F23A1E"/>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grpSp>
    </p:spTree>
    <p:extLst>
      <p:ext uri="{BB962C8B-B14F-4D97-AF65-F5344CB8AC3E}">
        <p14:creationId xmlns:p14="http://schemas.microsoft.com/office/powerpoint/2010/main" val="145850369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Divider Slide - Texture, Dark 2">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9D10BA4-827D-AA38-97A3-C2740EFBBA7C}"/>
              </a:ext>
            </a:extLst>
          </p:cNvPr>
          <p:cNvSpPr/>
          <p:nvPr userDrawn="1"/>
        </p:nvSpPr>
        <p:spPr>
          <a:xfrm rot="10800000" flipV="1">
            <a:off x="2" y="-3"/>
            <a:ext cx="12191998" cy="6858003"/>
          </a:xfrm>
          <a:prstGeom prst="rect">
            <a:avLst/>
          </a:prstGeom>
          <a:solidFill>
            <a:schemeClr val="tx1"/>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pic>
        <p:nvPicPr>
          <p:cNvPr id="3" name="Picture 2" descr="A close up of a crystal&#10;&#10;Description automatically generated">
            <a:extLst>
              <a:ext uri="{FF2B5EF4-FFF2-40B4-BE49-F238E27FC236}">
                <a16:creationId xmlns:a16="http://schemas.microsoft.com/office/drawing/2014/main" id="{A1D1A869-B1B3-5954-7BA3-3805061FB807}"/>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5" name="Title 1">
            <a:extLst>
              <a:ext uri="{FF2B5EF4-FFF2-40B4-BE49-F238E27FC236}">
                <a16:creationId xmlns:a16="http://schemas.microsoft.com/office/drawing/2014/main" id="{18CCC5DF-DCC3-A7E0-8B5E-6DE35862C0DB}"/>
              </a:ext>
            </a:extLst>
          </p:cNvPr>
          <p:cNvSpPr>
            <a:spLocks noGrp="1"/>
          </p:cNvSpPr>
          <p:nvPr>
            <p:ph type="title" hasCustomPrompt="1"/>
          </p:nvPr>
        </p:nvSpPr>
        <p:spPr>
          <a:xfrm>
            <a:off x="914400" y="1318719"/>
            <a:ext cx="5835316" cy="2870201"/>
          </a:xfrm>
        </p:spPr>
        <p:txBody>
          <a:bodyPr anchor="t">
            <a:noAutofit/>
          </a:bodyPr>
          <a:lstStyle>
            <a:lvl1pPr>
              <a:lnSpc>
                <a:spcPct val="85000"/>
              </a:lnSpc>
              <a:defRPr sz="6000" b="0" cap="none" spc="-50" baseline="0">
                <a:solidFill>
                  <a:schemeClr val="bg1"/>
                </a:solidFill>
              </a:defRPr>
            </a:lvl1pPr>
          </a:lstStyle>
          <a:p>
            <a:r>
              <a:rPr lang="en-US"/>
              <a:t>Divider copy goes here</a:t>
            </a:r>
          </a:p>
        </p:txBody>
      </p:sp>
      <p:grpSp>
        <p:nvGrpSpPr>
          <p:cNvPr id="4" name="Graphic 9">
            <a:extLst>
              <a:ext uri="{FF2B5EF4-FFF2-40B4-BE49-F238E27FC236}">
                <a16:creationId xmlns:a16="http://schemas.microsoft.com/office/drawing/2014/main" id="{D7326869-F134-6A80-8C87-240FB555D7FB}"/>
              </a:ext>
            </a:extLst>
          </p:cNvPr>
          <p:cNvGrpSpPr>
            <a:grpSpLocks noChangeAspect="1"/>
          </p:cNvGrpSpPr>
          <p:nvPr userDrawn="1"/>
        </p:nvGrpSpPr>
        <p:grpSpPr>
          <a:xfrm>
            <a:off x="417511" y="6489055"/>
            <a:ext cx="249135" cy="136828"/>
            <a:chOff x="11484948" y="313034"/>
            <a:chExt cx="401233" cy="220363"/>
          </a:xfrm>
          <a:solidFill>
            <a:schemeClr val="accent5"/>
          </a:solidFill>
        </p:grpSpPr>
        <p:sp>
          <p:nvSpPr>
            <p:cNvPr id="6" name="Freeform 5">
              <a:extLst>
                <a:ext uri="{FF2B5EF4-FFF2-40B4-BE49-F238E27FC236}">
                  <a16:creationId xmlns:a16="http://schemas.microsoft.com/office/drawing/2014/main" id="{6BA00105-FD57-9129-08E6-FD38D2AF0531}"/>
                </a:ext>
              </a:extLst>
            </p:cNvPr>
            <p:cNvSpPr/>
            <p:nvPr userDrawn="1"/>
          </p:nvSpPr>
          <p:spPr>
            <a:xfrm>
              <a:off x="11652424" y="313034"/>
              <a:ext cx="233757" cy="220363"/>
            </a:xfrm>
            <a:custGeom>
              <a:avLst/>
              <a:gdLst>
                <a:gd name="connsiteX0" fmla="*/ 233757 w 233757"/>
                <a:gd name="connsiteY0" fmla="*/ 220363 h 220363"/>
                <a:gd name="connsiteX1" fmla="*/ 187006 w 233757"/>
                <a:gd name="connsiteY1" fmla="*/ 220363 h 220363"/>
                <a:gd name="connsiteX2" fmla="*/ 187006 w 233757"/>
                <a:gd name="connsiteY2" fmla="*/ 89448 h 220363"/>
                <a:gd name="connsiteX3" fmla="*/ 116879 w 233757"/>
                <a:gd name="connsiteY3" fmla="*/ 159645 h 220363"/>
                <a:gd name="connsiteX4" fmla="*/ 46751 w 233757"/>
                <a:gd name="connsiteY4" fmla="*/ 89448 h 220363"/>
                <a:gd name="connsiteX5" fmla="*/ 46751 w 233757"/>
                <a:gd name="connsiteY5" fmla="*/ 220363 h 220363"/>
                <a:gd name="connsiteX6" fmla="*/ 0 w 233757"/>
                <a:gd name="connsiteY6" fmla="*/ 220363 h 220363"/>
                <a:gd name="connsiteX7" fmla="*/ 0 w 233757"/>
                <a:gd name="connsiteY7" fmla="*/ 0 h 220363"/>
                <a:gd name="connsiteX8" fmla="*/ 24855 w 233757"/>
                <a:gd name="connsiteY8" fmla="*/ 0 h 220363"/>
                <a:gd name="connsiteX9" fmla="*/ 117470 w 233757"/>
                <a:gd name="connsiteY9" fmla="*/ 92706 h 220363"/>
                <a:gd name="connsiteX10" fmla="*/ 208902 w 233757"/>
                <a:gd name="connsiteY10" fmla="*/ 0 h 220363"/>
                <a:gd name="connsiteX11" fmla="*/ 233757 w 233757"/>
                <a:gd name="connsiteY11" fmla="*/ 0 h 220363"/>
                <a:gd name="connsiteX12" fmla="*/ 233757 w 233757"/>
                <a:gd name="connsiteY12" fmla="*/ 220363 h 22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757" h="220363">
                  <a:moveTo>
                    <a:pt x="233757" y="220363"/>
                  </a:moveTo>
                  <a:lnTo>
                    <a:pt x="187006" y="220363"/>
                  </a:lnTo>
                  <a:lnTo>
                    <a:pt x="187006" y="89448"/>
                  </a:lnTo>
                  <a:lnTo>
                    <a:pt x="116879" y="159645"/>
                  </a:lnTo>
                  <a:lnTo>
                    <a:pt x="46751" y="89448"/>
                  </a:lnTo>
                  <a:lnTo>
                    <a:pt x="46751" y="220363"/>
                  </a:lnTo>
                  <a:lnTo>
                    <a:pt x="0" y="220363"/>
                  </a:lnTo>
                  <a:lnTo>
                    <a:pt x="0" y="0"/>
                  </a:lnTo>
                  <a:lnTo>
                    <a:pt x="24855" y="0"/>
                  </a:lnTo>
                  <a:lnTo>
                    <a:pt x="117470" y="92706"/>
                  </a:lnTo>
                  <a:lnTo>
                    <a:pt x="208902" y="0"/>
                  </a:lnTo>
                  <a:lnTo>
                    <a:pt x="233757" y="0"/>
                  </a:lnTo>
                  <a:lnTo>
                    <a:pt x="233757" y="220363"/>
                  </a:lnTo>
                  <a:close/>
                </a:path>
              </a:pathLst>
            </a:custGeom>
            <a:solidFill>
              <a:schemeClr val="bg1"/>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7" name="Freeform 6">
              <a:extLst>
                <a:ext uri="{FF2B5EF4-FFF2-40B4-BE49-F238E27FC236}">
                  <a16:creationId xmlns:a16="http://schemas.microsoft.com/office/drawing/2014/main" id="{5BBCC59D-398D-4651-7DAB-5DB02B14E956}"/>
                </a:ext>
              </a:extLst>
            </p:cNvPr>
            <p:cNvSpPr/>
            <p:nvPr userDrawn="1"/>
          </p:nvSpPr>
          <p:spPr>
            <a:xfrm>
              <a:off x="11484948" y="412552"/>
              <a:ext cx="120725" cy="120844"/>
            </a:xfrm>
            <a:custGeom>
              <a:avLst/>
              <a:gdLst>
                <a:gd name="connsiteX0" fmla="*/ 120725 w 120725"/>
                <a:gd name="connsiteY0" fmla="*/ 0 h 120844"/>
                <a:gd name="connsiteX1" fmla="*/ 0 w 120725"/>
                <a:gd name="connsiteY1" fmla="*/ 0 h 120844"/>
                <a:gd name="connsiteX2" fmla="*/ 120725 w 120725"/>
                <a:gd name="connsiteY2" fmla="*/ 120844 h 120844"/>
                <a:gd name="connsiteX3" fmla="*/ 120725 w 120725"/>
                <a:gd name="connsiteY3" fmla="*/ 0 h 120844"/>
              </a:gdLst>
              <a:ahLst/>
              <a:cxnLst>
                <a:cxn ang="0">
                  <a:pos x="connsiteX0" y="connsiteY0"/>
                </a:cxn>
                <a:cxn ang="0">
                  <a:pos x="connsiteX1" y="connsiteY1"/>
                </a:cxn>
                <a:cxn ang="0">
                  <a:pos x="connsiteX2" y="connsiteY2"/>
                </a:cxn>
                <a:cxn ang="0">
                  <a:pos x="connsiteX3" y="connsiteY3"/>
                </a:cxn>
              </a:cxnLst>
              <a:rect l="l" t="t" r="r" b="b"/>
              <a:pathLst>
                <a:path w="120725" h="120844">
                  <a:moveTo>
                    <a:pt x="120725" y="0"/>
                  </a:moveTo>
                  <a:lnTo>
                    <a:pt x="0" y="0"/>
                  </a:lnTo>
                  <a:lnTo>
                    <a:pt x="120725" y="120844"/>
                  </a:lnTo>
                  <a:lnTo>
                    <a:pt x="120725" y="0"/>
                  </a:lnTo>
                  <a:close/>
                </a:path>
              </a:pathLst>
            </a:custGeom>
            <a:solidFill>
              <a:srgbClr val="F23A1E"/>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grpSp>
    </p:spTree>
    <p:extLst>
      <p:ext uri="{BB962C8B-B14F-4D97-AF65-F5344CB8AC3E}">
        <p14:creationId xmlns:p14="http://schemas.microsoft.com/office/powerpoint/2010/main" val="61165183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Divider Slide - Texture, Dark 3">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9D10BA4-827D-AA38-97A3-C2740EFBBA7C}"/>
              </a:ext>
            </a:extLst>
          </p:cNvPr>
          <p:cNvSpPr/>
          <p:nvPr userDrawn="1"/>
        </p:nvSpPr>
        <p:spPr>
          <a:xfrm rot="10800000" flipV="1">
            <a:off x="0" y="-3"/>
            <a:ext cx="12191998" cy="6858003"/>
          </a:xfrm>
          <a:prstGeom prst="rect">
            <a:avLst/>
          </a:prstGeom>
          <a:solidFill>
            <a:schemeClr val="tx1"/>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pic>
        <p:nvPicPr>
          <p:cNvPr id="8" name="Picture 7" descr="A close up of a blue and black background&#10;&#10;Description automatically generated">
            <a:extLst>
              <a:ext uri="{FF2B5EF4-FFF2-40B4-BE49-F238E27FC236}">
                <a16:creationId xmlns:a16="http://schemas.microsoft.com/office/drawing/2014/main" id="{91A43463-E247-52FD-0BBD-07F9DA95E8F8}"/>
              </a:ext>
            </a:extLst>
          </p:cNvPr>
          <p:cNvPicPr>
            <a:picLocks noChangeAspect="1"/>
          </p:cNvPicPr>
          <p:nvPr userDrawn="1"/>
        </p:nvPicPr>
        <p:blipFill>
          <a:blip r:embed="rId2"/>
          <a:srcRect t="15344" b="9160"/>
          <a:stretch/>
        </p:blipFill>
        <p:spPr>
          <a:xfrm rot="10800000">
            <a:off x="0" y="1681812"/>
            <a:ext cx="12188952" cy="5176187"/>
          </a:xfrm>
          <a:prstGeom prst="rect">
            <a:avLst/>
          </a:prstGeom>
        </p:spPr>
      </p:pic>
      <p:sp>
        <p:nvSpPr>
          <p:cNvPr id="5" name="Title 1">
            <a:extLst>
              <a:ext uri="{FF2B5EF4-FFF2-40B4-BE49-F238E27FC236}">
                <a16:creationId xmlns:a16="http://schemas.microsoft.com/office/drawing/2014/main" id="{18CCC5DF-DCC3-A7E0-8B5E-6DE35862C0DB}"/>
              </a:ext>
            </a:extLst>
          </p:cNvPr>
          <p:cNvSpPr>
            <a:spLocks noGrp="1"/>
          </p:cNvSpPr>
          <p:nvPr>
            <p:ph type="title" hasCustomPrompt="1"/>
          </p:nvPr>
        </p:nvSpPr>
        <p:spPr>
          <a:xfrm>
            <a:off x="914400" y="1318719"/>
            <a:ext cx="9709484" cy="2870201"/>
          </a:xfrm>
        </p:spPr>
        <p:txBody>
          <a:bodyPr anchor="t">
            <a:noAutofit/>
          </a:bodyPr>
          <a:lstStyle>
            <a:lvl1pPr>
              <a:lnSpc>
                <a:spcPct val="85000"/>
              </a:lnSpc>
              <a:defRPr sz="6000" b="0" cap="none" spc="-50" baseline="0">
                <a:solidFill>
                  <a:schemeClr val="bg1"/>
                </a:solidFill>
              </a:defRPr>
            </a:lvl1pPr>
          </a:lstStyle>
          <a:p>
            <a:r>
              <a:rPr lang="en-US"/>
              <a:t>Divider copy goes here</a:t>
            </a:r>
          </a:p>
        </p:txBody>
      </p:sp>
      <p:grpSp>
        <p:nvGrpSpPr>
          <p:cNvPr id="4" name="Graphic 9">
            <a:extLst>
              <a:ext uri="{FF2B5EF4-FFF2-40B4-BE49-F238E27FC236}">
                <a16:creationId xmlns:a16="http://schemas.microsoft.com/office/drawing/2014/main" id="{D7326869-F134-6A80-8C87-240FB555D7FB}"/>
              </a:ext>
            </a:extLst>
          </p:cNvPr>
          <p:cNvGrpSpPr>
            <a:grpSpLocks noChangeAspect="1"/>
          </p:cNvGrpSpPr>
          <p:nvPr userDrawn="1"/>
        </p:nvGrpSpPr>
        <p:grpSpPr>
          <a:xfrm>
            <a:off x="417511" y="6489055"/>
            <a:ext cx="249135" cy="136828"/>
            <a:chOff x="11484948" y="313034"/>
            <a:chExt cx="401233" cy="220363"/>
          </a:xfrm>
          <a:solidFill>
            <a:schemeClr val="accent5"/>
          </a:solidFill>
        </p:grpSpPr>
        <p:sp>
          <p:nvSpPr>
            <p:cNvPr id="6" name="Freeform 5">
              <a:extLst>
                <a:ext uri="{FF2B5EF4-FFF2-40B4-BE49-F238E27FC236}">
                  <a16:creationId xmlns:a16="http://schemas.microsoft.com/office/drawing/2014/main" id="{6BA00105-FD57-9129-08E6-FD38D2AF0531}"/>
                </a:ext>
              </a:extLst>
            </p:cNvPr>
            <p:cNvSpPr/>
            <p:nvPr userDrawn="1"/>
          </p:nvSpPr>
          <p:spPr>
            <a:xfrm>
              <a:off x="11652424" y="313034"/>
              <a:ext cx="233757" cy="220363"/>
            </a:xfrm>
            <a:custGeom>
              <a:avLst/>
              <a:gdLst>
                <a:gd name="connsiteX0" fmla="*/ 233757 w 233757"/>
                <a:gd name="connsiteY0" fmla="*/ 220363 h 220363"/>
                <a:gd name="connsiteX1" fmla="*/ 187006 w 233757"/>
                <a:gd name="connsiteY1" fmla="*/ 220363 h 220363"/>
                <a:gd name="connsiteX2" fmla="*/ 187006 w 233757"/>
                <a:gd name="connsiteY2" fmla="*/ 89448 h 220363"/>
                <a:gd name="connsiteX3" fmla="*/ 116879 w 233757"/>
                <a:gd name="connsiteY3" fmla="*/ 159645 h 220363"/>
                <a:gd name="connsiteX4" fmla="*/ 46751 w 233757"/>
                <a:gd name="connsiteY4" fmla="*/ 89448 h 220363"/>
                <a:gd name="connsiteX5" fmla="*/ 46751 w 233757"/>
                <a:gd name="connsiteY5" fmla="*/ 220363 h 220363"/>
                <a:gd name="connsiteX6" fmla="*/ 0 w 233757"/>
                <a:gd name="connsiteY6" fmla="*/ 220363 h 220363"/>
                <a:gd name="connsiteX7" fmla="*/ 0 w 233757"/>
                <a:gd name="connsiteY7" fmla="*/ 0 h 220363"/>
                <a:gd name="connsiteX8" fmla="*/ 24855 w 233757"/>
                <a:gd name="connsiteY8" fmla="*/ 0 h 220363"/>
                <a:gd name="connsiteX9" fmla="*/ 117470 w 233757"/>
                <a:gd name="connsiteY9" fmla="*/ 92706 h 220363"/>
                <a:gd name="connsiteX10" fmla="*/ 208902 w 233757"/>
                <a:gd name="connsiteY10" fmla="*/ 0 h 220363"/>
                <a:gd name="connsiteX11" fmla="*/ 233757 w 233757"/>
                <a:gd name="connsiteY11" fmla="*/ 0 h 220363"/>
                <a:gd name="connsiteX12" fmla="*/ 233757 w 233757"/>
                <a:gd name="connsiteY12" fmla="*/ 220363 h 22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757" h="220363">
                  <a:moveTo>
                    <a:pt x="233757" y="220363"/>
                  </a:moveTo>
                  <a:lnTo>
                    <a:pt x="187006" y="220363"/>
                  </a:lnTo>
                  <a:lnTo>
                    <a:pt x="187006" y="89448"/>
                  </a:lnTo>
                  <a:lnTo>
                    <a:pt x="116879" y="159645"/>
                  </a:lnTo>
                  <a:lnTo>
                    <a:pt x="46751" y="89448"/>
                  </a:lnTo>
                  <a:lnTo>
                    <a:pt x="46751" y="220363"/>
                  </a:lnTo>
                  <a:lnTo>
                    <a:pt x="0" y="220363"/>
                  </a:lnTo>
                  <a:lnTo>
                    <a:pt x="0" y="0"/>
                  </a:lnTo>
                  <a:lnTo>
                    <a:pt x="24855" y="0"/>
                  </a:lnTo>
                  <a:lnTo>
                    <a:pt x="117470" y="92706"/>
                  </a:lnTo>
                  <a:lnTo>
                    <a:pt x="208902" y="0"/>
                  </a:lnTo>
                  <a:lnTo>
                    <a:pt x="233757" y="0"/>
                  </a:lnTo>
                  <a:lnTo>
                    <a:pt x="233757" y="220363"/>
                  </a:lnTo>
                  <a:close/>
                </a:path>
              </a:pathLst>
            </a:custGeom>
            <a:solidFill>
              <a:schemeClr val="bg1"/>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7" name="Freeform 6">
              <a:extLst>
                <a:ext uri="{FF2B5EF4-FFF2-40B4-BE49-F238E27FC236}">
                  <a16:creationId xmlns:a16="http://schemas.microsoft.com/office/drawing/2014/main" id="{5BBCC59D-398D-4651-7DAB-5DB02B14E956}"/>
                </a:ext>
              </a:extLst>
            </p:cNvPr>
            <p:cNvSpPr/>
            <p:nvPr userDrawn="1"/>
          </p:nvSpPr>
          <p:spPr>
            <a:xfrm>
              <a:off x="11484948" y="412552"/>
              <a:ext cx="120725" cy="120844"/>
            </a:xfrm>
            <a:custGeom>
              <a:avLst/>
              <a:gdLst>
                <a:gd name="connsiteX0" fmla="*/ 120725 w 120725"/>
                <a:gd name="connsiteY0" fmla="*/ 0 h 120844"/>
                <a:gd name="connsiteX1" fmla="*/ 0 w 120725"/>
                <a:gd name="connsiteY1" fmla="*/ 0 h 120844"/>
                <a:gd name="connsiteX2" fmla="*/ 120725 w 120725"/>
                <a:gd name="connsiteY2" fmla="*/ 120844 h 120844"/>
                <a:gd name="connsiteX3" fmla="*/ 120725 w 120725"/>
                <a:gd name="connsiteY3" fmla="*/ 0 h 120844"/>
              </a:gdLst>
              <a:ahLst/>
              <a:cxnLst>
                <a:cxn ang="0">
                  <a:pos x="connsiteX0" y="connsiteY0"/>
                </a:cxn>
                <a:cxn ang="0">
                  <a:pos x="connsiteX1" y="connsiteY1"/>
                </a:cxn>
                <a:cxn ang="0">
                  <a:pos x="connsiteX2" y="connsiteY2"/>
                </a:cxn>
                <a:cxn ang="0">
                  <a:pos x="connsiteX3" y="connsiteY3"/>
                </a:cxn>
              </a:cxnLst>
              <a:rect l="l" t="t" r="r" b="b"/>
              <a:pathLst>
                <a:path w="120725" h="120844">
                  <a:moveTo>
                    <a:pt x="120725" y="0"/>
                  </a:moveTo>
                  <a:lnTo>
                    <a:pt x="0" y="0"/>
                  </a:lnTo>
                  <a:lnTo>
                    <a:pt x="120725" y="120844"/>
                  </a:lnTo>
                  <a:lnTo>
                    <a:pt x="120725" y="0"/>
                  </a:lnTo>
                  <a:close/>
                </a:path>
              </a:pathLst>
            </a:custGeom>
            <a:solidFill>
              <a:srgbClr val="F23A1E"/>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grpSp>
    </p:spTree>
    <p:extLst>
      <p:ext uri="{BB962C8B-B14F-4D97-AF65-F5344CB8AC3E}">
        <p14:creationId xmlns:p14="http://schemas.microsoft.com/office/powerpoint/2010/main" val="30997597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Divider Slide - Texture, L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41928FC-79A3-190F-8F05-6BA96E237EBF}"/>
              </a:ext>
            </a:extLst>
          </p:cNvPr>
          <p:cNvSpPr/>
          <p:nvPr userDrawn="1"/>
        </p:nvSpPr>
        <p:spPr>
          <a:xfrm rot="10800000" flipV="1">
            <a:off x="0" y="0"/>
            <a:ext cx="12191998" cy="6858003"/>
          </a:xfrm>
          <a:prstGeom prst="rect">
            <a:avLst/>
          </a:prstGeom>
          <a:solidFill>
            <a:schemeClr val="bg2"/>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pic>
        <p:nvPicPr>
          <p:cNvPr id="9" name="Picture 8">
            <a:extLst>
              <a:ext uri="{FF2B5EF4-FFF2-40B4-BE49-F238E27FC236}">
                <a16:creationId xmlns:a16="http://schemas.microsoft.com/office/drawing/2014/main" id="{531776B3-790F-BFCC-B158-72F24BAAADBF}"/>
              </a:ext>
            </a:extLst>
          </p:cNvPr>
          <p:cNvPicPr>
            <a:picLocks noChangeAspect="1"/>
          </p:cNvPicPr>
          <p:nvPr userDrawn="1"/>
        </p:nvPicPr>
        <p:blipFill>
          <a:blip r:embed="rId2"/>
          <a:srcRect l="32657" t="10642" r="-3" b="13034"/>
          <a:stretch/>
        </p:blipFill>
        <p:spPr>
          <a:xfrm rot="5400000">
            <a:off x="6577010" y="1243014"/>
            <a:ext cx="6858001" cy="4371975"/>
          </a:xfrm>
          <a:prstGeom prst="rect">
            <a:avLst/>
          </a:prstGeom>
        </p:spPr>
      </p:pic>
      <p:grpSp>
        <p:nvGrpSpPr>
          <p:cNvPr id="10" name="Graphic 9">
            <a:extLst>
              <a:ext uri="{FF2B5EF4-FFF2-40B4-BE49-F238E27FC236}">
                <a16:creationId xmlns:a16="http://schemas.microsoft.com/office/drawing/2014/main" id="{62515DD1-8C1A-0C64-9E44-1E116A32E439}"/>
              </a:ext>
            </a:extLst>
          </p:cNvPr>
          <p:cNvGrpSpPr>
            <a:grpSpLocks noChangeAspect="1"/>
          </p:cNvGrpSpPr>
          <p:nvPr userDrawn="1"/>
        </p:nvGrpSpPr>
        <p:grpSpPr>
          <a:xfrm>
            <a:off x="417511" y="6489055"/>
            <a:ext cx="249135" cy="136828"/>
            <a:chOff x="11484948" y="313034"/>
            <a:chExt cx="401233" cy="220363"/>
          </a:xfrm>
          <a:solidFill>
            <a:schemeClr val="accent5"/>
          </a:solidFill>
        </p:grpSpPr>
        <p:sp>
          <p:nvSpPr>
            <p:cNvPr id="11" name="Freeform 10">
              <a:extLst>
                <a:ext uri="{FF2B5EF4-FFF2-40B4-BE49-F238E27FC236}">
                  <a16:creationId xmlns:a16="http://schemas.microsoft.com/office/drawing/2014/main" id="{23F89819-46B3-3107-41D5-6CAB71E77DFA}"/>
                </a:ext>
              </a:extLst>
            </p:cNvPr>
            <p:cNvSpPr/>
            <p:nvPr userDrawn="1"/>
          </p:nvSpPr>
          <p:spPr>
            <a:xfrm>
              <a:off x="11652424" y="313034"/>
              <a:ext cx="233757" cy="220363"/>
            </a:xfrm>
            <a:custGeom>
              <a:avLst/>
              <a:gdLst>
                <a:gd name="connsiteX0" fmla="*/ 233757 w 233757"/>
                <a:gd name="connsiteY0" fmla="*/ 220363 h 220363"/>
                <a:gd name="connsiteX1" fmla="*/ 187006 w 233757"/>
                <a:gd name="connsiteY1" fmla="*/ 220363 h 220363"/>
                <a:gd name="connsiteX2" fmla="*/ 187006 w 233757"/>
                <a:gd name="connsiteY2" fmla="*/ 89448 h 220363"/>
                <a:gd name="connsiteX3" fmla="*/ 116879 w 233757"/>
                <a:gd name="connsiteY3" fmla="*/ 159645 h 220363"/>
                <a:gd name="connsiteX4" fmla="*/ 46751 w 233757"/>
                <a:gd name="connsiteY4" fmla="*/ 89448 h 220363"/>
                <a:gd name="connsiteX5" fmla="*/ 46751 w 233757"/>
                <a:gd name="connsiteY5" fmla="*/ 220363 h 220363"/>
                <a:gd name="connsiteX6" fmla="*/ 0 w 233757"/>
                <a:gd name="connsiteY6" fmla="*/ 220363 h 220363"/>
                <a:gd name="connsiteX7" fmla="*/ 0 w 233757"/>
                <a:gd name="connsiteY7" fmla="*/ 0 h 220363"/>
                <a:gd name="connsiteX8" fmla="*/ 24855 w 233757"/>
                <a:gd name="connsiteY8" fmla="*/ 0 h 220363"/>
                <a:gd name="connsiteX9" fmla="*/ 117470 w 233757"/>
                <a:gd name="connsiteY9" fmla="*/ 92706 h 220363"/>
                <a:gd name="connsiteX10" fmla="*/ 208902 w 233757"/>
                <a:gd name="connsiteY10" fmla="*/ 0 h 220363"/>
                <a:gd name="connsiteX11" fmla="*/ 233757 w 233757"/>
                <a:gd name="connsiteY11" fmla="*/ 0 h 220363"/>
                <a:gd name="connsiteX12" fmla="*/ 233757 w 233757"/>
                <a:gd name="connsiteY12" fmla="*/ 220363 h 22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757" h="220363">
                  <a:moveTo>
                    <a:pt x="233757" y="220363"/>
                  </a:moveTo>
                  <a:lnTo>
                    <a:pt x="187006" y="220363"/>
                  </a:lnTo>
                  <a:lnTo>
                    <a:pt x="187006" y="89448"/>
                  </a:lnTo>
                  <a:lnTo>
                    <a:pt x="116879" y="159645"/>
                  </a:lnTo>
                  <a:lnTo>
                    <a:pt x="46751" y="89448"/>
                  </a:lnTo>
                  <a:lnTo>
                    <a:pt x="46751" y="220363"/>
                  </a:lnTo>
                  <a:lnTo>
                    <a:pt x="0" y="220363"/>
                  </a:lnTo>
                  <a:lnTo>
                    <a:pt x="0" y="0"/>
                  </a:lnTo>
                  <a:lnTo>
                    <a:pt x="24855" y="0"/>
                  </a:lnTo>
                  <a:lnTo>
                    <a:pt x="117470" y="92706"/>
                  </a:lnTo>
                  <a:lnTo>
                    <a:pt x="208902" y="0"/>
                  </a:lnTo>
                  <a:lnTo>
                    <a:pt x="233757" y="0"/>
                  </a:lnTo>
                  <a:lnTo>
                    <a:pt x="233757" y="220363"/>
                  </a:lnTo>
                  <a:close/>
                </a:path>
              </a:pathLst>
            </a:custGeom>
            <a:solidFill>
              <a:srgbClr val="10295D"/>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12" name="Freeform 11">
              <a:extLst>
                <a:ext uri="{FF2B5EF4-FFF2-40B4-BE49-F238E27FC236}">
                  <a16:creationId xmlns:a16="http://schemas.microsoft.com/office/drawing/2014/main" id="{4D660E8C-B871-6A95-F225-A5B539A04A70}"/>
                </a:ext>
              </a:extLst>
            </p:cNvPr>
            <p:cNvSpPr/>
            <p:nvPr userDrawn="1"/>
          </p:nvSpPr>
          <p:spPr>
            <a:xfrm>
              <a:off x="11484948" y="412552"/>
              <a:ext cx="120725" cy="120844"/>
            </a:xfrm>
            <a:custGeom>
              <a:avLst/>
              <a:gdLst>
                <a:gd name="connsiteX0" fmla="*/ 120725 w 120725"/>
                <a:gd name="connsiteY0" fmla="*/ 0 h 120844"/>
                <a:gd name="connsiteX1" fmla="*/ 0 w 120725"/>
                <a:gd name="connsiteY1" fmla="*/ 0 h 120844"/>
                <a:gd name="connsiteX2" fmla="*/ 120725 w 120725"/>
                <a:gd name="connsiteY2" fmla="*/ 120844 h 120844"/>
                <a:gd name="connsiteX3" fmla="*/ 120725 w 120725"/>
                <a:gd name="connsiteY3" fmla="*/ 0 h 120844"/>
              </a:gdLst>
              <a:ahLst/>
              <a:cxnLst>
                <a:cxn ang="0">
                  <a:pos x="connsiteX0" y="connsiteY0"/>
                </a:cxn>
                <a:cxn ang="0">
                  <a:pos x="connsiteX1" y="connsiteY1"/>
                </a:cxn>
                <a:cxn ang="0">
                  <a:pos x="connsiteX2" y="connsiteY2"/>
                </a:cxn>
                <a:cxn ang="0">
                  <a:pos x="connsiteX3" y="connsiteY3"/>
                </a:cxn>
              </a:cxnLst>
              <a:rect l="l" t="t" r="r" b="b"/>
              <a:pathLst>
                <a:path w="120725" h="120844">
                  <a:moveTo>
                    <a:pt x="120725" y="0"/>
                  </a:moveTo>
                  <a:lnTo>
                    <a:pt x="0" y="0"/>
                  </a:lnTo>
                  <a:lnTo>
                    <a:pt x="120725" y="120844"/>
                  </a:lnTo>
                  <a:lnTo>
                    <a:pt x="120725" y="0"/>
                  </a:lnTo>
                  <a:close/>
                </a:path>
              </a:pathLst>
            </a:custGeom>
            <a:solidFill>
              <a:srgbClr val="F23A1E"/>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grpSp>
      <p:sp>
        <p:nvSpPr>
          <p:cNvPr id="5" name="Title 1">
            <a:extLst>
              <a:ext uri="{FF2B5EF4-FFF2-40B4-BE49-F238E27FC236}">
                <a16:creationId xmlns:a16="http://schemas.microsoft.com/office/drawing/2014/main" id="{18CCC5DF-DCC3-A7E0-8B5E-6DE35862C0DB}"/>
              </a:ext>
            </a:extLst>
          </p:cNvPr>
          <p:cNvSpPr>
            <a:spLocks noGrp="1"/>
          </p:cNvSpPr>
          <p:nvPr>
            <p:ph type="title" hasCustomPrompt="1"/>
          </p:nvPr>
        </p:nvSpPr>
        <p:spPr>
          <a:xfrm>
            <a:off x="914400" y="1318719"/>
            <a:ext cx="5866544" cy="2870201"/>
          </a:xfrm>
        </p:spPr>
        <p:txBody>
          <a:bodyPr anchor="t">
            <a:noAutofit/>
          </a:bodyPr>
          <a:lstStyle>
            <a:lvl1pPr>
              <a:lnSpc>
                <a:spcPct val="85000"/>
              </a:lnSpc>
              <a:defRPr sz="6000" b="0" cap="none" spc="-50" baseline="0">
                <a:solidFill>
                  <a:schemeClr val="tx1"/>
                </a:solidFill>
              </a:defRPr>
            </a:lvl1pPr>
          </a:lstStyle>
          <a:p>
            <a:r>
              <a:rPr lang="en-US"/>
              <a:t>Divider copy goes here</a:t>
            </a:r>
          </a:p>
        </p:txBody>
      </p:sp>
    </p:spTree>
    <p:extLst>
      <p:ext uri="{BB962C8B-B14F-4D97-AF65-F5344CB8AC3E}">
        <p14:creationId xmlns:p14="http://schemas.microsoft.com/office/powerpoint/2010/main" val="45019152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Divider Slide - Texture, Light 2">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DC4ADE0-0FB5-D047-00E9-C3F86508ACA3}"/>
              </a:ext>
            </a:extLst>
          </p:cNvPr>
          <p:cNvSpPr/>
          <p:nvPr userDrawn="1"/>
        </p:nvSpPr>
        <p:spPr>
          <a:xfrm rot="10800000" flipV="1">
            <a:off x="2" y="0"/>
            <a:ext cx="12191998" cy="6858003"/>
          </a:xfrm>
          <a:prstGeom prst="rect">
            <a:avLst/>
          </a:prstGeom>
          <a:solidFill>
            <a:schemeClr val="bg2"/>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pic>
        <p:nvPicPr>
          <p:cNvPr id="3" name="Picture 2">
            <a:extLst>
              <a:ext uri="{FF2B5EF4-FFF2-40B4-BE49-F238E27FC236}">
                <a16:creationId xmlns:a16="http://schemas.microsoft.com/office/drawing/2014/main" id="{A221CAF3-AB05-F456-E3E0-86189F496F39}"/>
              </a:ext>
            </a:extLst>
          </p:cNvPr>
          <p:cNvPicPr>
            <a:picLocks noChangeAspect="1"/>
          </p:cNvPicPr>
          <p:nvPr userDrawn="1"/>
        </p:nvPicPr>
        <p:blipFill>
          <a:blip r:embed="rId2"/>
          <a:srcRect l="58512" t="17473" r="-64" b="3447"/>
          <a:stretch/>
        </p:blipFill>
        <p:spPr>
          <a:xfrm rot="5400000" flipH="1">
            <a:off x="6947338" y="1613338"/>
            <a:ext cx="5065986" cy="5423338"/>
          </a:xfrm>
          <a:prstGeom prst="rect">
            <a:avLst/>
          </a:prstGeom>
        </p:spPr>
      </p:pic>
      <p:grpSp>
        <p:nvGrpSpPr>
          <p:cNvPr id="6" name="Graphic 9">
            <a:extLst>
              <a:ext uri="{FF2B5EF4-FFF2-40B4-BE49-F238E27FC236}">
                <a16:creationId xmlns:a16="http://schemas.microsoft.com/office/drawing/2014/main" id="{10C1272F-E48D-13A6-C867-593EC65548CE}"/>
              </a:ext>
            </a:extLst>
          </p:cNvPr>
          <p:cNvGrpSpPr>
            <a:grpSpLocks noChangeAspect="1"/>
          </p:cNvGrpSpPr>
          <p:nvPr userDrawn="1"/>
        </p:nvGrpSpPr>
        <p:grpSpPr>
          <a:xfrm>
            <a:off x="417511" y="6489055"/>
            <a:ext cx="249135" cy="136828"/>
            <a:chOff x="11484948" y="313034"/>
            <a:chExt cx="401233" cy="220363"/>
          </a:xfrm>
          <a:solidFill>
            <a:schemeClr val="accent5"/>
          </a:solidFill>
        </p:grpSpPr>
        <p:sp>
          <p:nvSpPr>
            <p:cNvPr id="7" name="Freeform 6">
              <a:extLst>
                <a:ext uri="{FF2B5EF4-FFF2-40B4-BE49-F238E27FC236}">
                  <a16:creationId xmlns:a16="http://schemas.microsoft.com/office/drawing/2014/main" id="{DFE6C87D-DA3E-6368-E300-E2A2D01BC13F}"/>
                </a:ext>
              </a:extLst>
            </p:cNvPr>
            <p:cNvSpPr/>
            <p:nvPr userDrawn="1"/>
          </p:nvSpPr>
          <p:spPr>
            <a:xfrm>
              <a:off x="11652424" y="313034"/>
              <a:ext cx="233757" cy="220363"/>
            </a:xfrm>
            <a:custGeom>
              <a:avLst/>
              <a:gdLst>
                <a:gd name="connsiteX0" fmla="*/ 233757 w 233757"/>
                <a:gd name="connsiteY0" fmla="*/ 220363 h 220363"/>
                <a:gd name="connsiteX1" fmla="*/ 187006 w 233757"/>
                <a:gd name="connsiteY1" fmla="*/ 220363 h 220363"/>
                <a:gd name="connsiteX2" fmla="*/ 187006 w 233757"/>
                <a:gd name="connsiteY2" fmla="*/ 89448 h 220363"/>
                <a:gd name="connsiteX3" fmla="*/ 116879 w 233757"/>
                <a:gd name="connsiteY3" fmla="*/ 159645 h 220363"/>
                <a:gd name="connsiteX4" fmla="*/ 46751 w 233757"/>
                <a:gd name="connsiteY4" fmla="*/ 89448 h 220363"/>
                <a:gd name="connsiteX5" fmla="*/ 46751 w 233757"/>
                <a:gd name="connsiteY5" fmla="*/ 220363 h 220363"/>
                <a:gd name="connsiteX6" fmla="*/ 0 w 233757"/>
                <a:gd name="connsiteY6" fmla="*/ 220363 h 220363"/>
                <a:gd name="connsiteX7" fmla="*/ 0 w 233757"/>
                <a:gd name="connsiteY7" fmla="*/ 0 h 220363"/>
                <a:gd name="connsiteX8" fmla="*/ 24855 w 233757"/>
                <a:gd name="connsiteY8" fmla="*/ 0 h 220363"/>
                <a:gd name="connsiteX9" fmla="*/ 117470 w 233757"/>
                <a:gd name="connsiteY9" fmla="*/ 92706 h 220363"/>
                <a:gd name="connsiteX10" fmla="*/ 208902 w 233757"/>
                <a:gd name="connsiteY10" fmla="*/ 0 h 220363"/>
                <a:gd name="connsiteX11" fmla="*/ 233757 w 233757"/>
                <a:gd name="connsiteY11" fmla="*/ 0 h 220363"/>
                <a:gd name="connsiteX12" fmla="*/ 233757 w 233757"/>
                <a:gd name="connsiteY12" fmla="*/ 220363 h 22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757" h="220363">
                  <a:moveTo>
                    <a:pt x="233757" y="220363"/>
                  </a:moveTo>
                  <a:lnTo>
                    <a:pt x="187006" y="220363"/>
                  </a:lnTo>
                  <a:lnTo>
                    <a:pt x="187006" y="89448"/>
                  </a:lnTo>
                  <a:lnTo>
                    <a:pt x="116879" y="159645"/>
                  </a:lnTo>
                  <a:lnTo>
                    <a:pt x="46751" y="89448"/>
                  </a:lnTo>
                  <a:lnTo>
                    <a:pt x="46751" y="220363"/>
                  </a:lnTo>
                  <a:lnTo>
                    <a:pt x="0" y="220363"/>
                  </a:lnTo>
                  <a:lnTo>
                    <a:pt x="0" y="0"/>
                  </a:lnTo>
                  <a:lnTo>
                    <a:pt x="24855" y="0"/>
                  </a:lnTo>
                  <a:lnTo>
                    <a:pt x="117470" y="92706"/>
                  </a:lnTo>
                  <a:lnTo>
                    <a:pt x="208902" y="0"/>
                  </a:lnTo>
                  <a:lnTo>
                    <a:pt x="233757" y="0"/>
                  </a:lnTo>
                  <a:lnTo>
                    <a:pt x="233757" y="220363"/>
                  </a:lnTo>
                  <a:close/>
                </a:path>
              </a:pathLst>
            </a:custGeom>
            <a:solidFill>
              <a:srgbClr val="10295D"/>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8" name="Freeform 7">
              <a:extLst>
                <a:ext uri="{FF2B5EF4-FFF2-40B4-BE49-F238E27FC236}">
                  <a16:creationId xmlns:a16="http://schemas.microsoft.com/office/drawing/2014/main" id="{CB7481C0-6D1E-EF36-C613-3E7785AEF37A}"/>
                </a:ext>
              </a:extLst>
            </p:cNvPr>
            <p:cNvSpPr/>
            <p:nvPr userDrawn="1"/>
          </p:nvSpPr>
          <p:spPr>
            <a:xfrm>
              <a:off x="11484948" y="412552"/>
              <a:ext cx="120725" cy="120844"/>
            </a:xfrm>
            <a:custGeom>
              <a:avLst/>
              <a:gdLst>
                <a:gd name="connsiteX0" fmla="*/ 120725 w 120725"/>
                <a:gd name="connsiteY0" fmla="*/ 0 h 120844"/>
                <a:gd name="connsiteX1" fmla="*/ 0 w 120725"/>
                <a:gd name="connsiteY1" fmla="*/ 0 h 120844"/>
                <a:gd name="connsiteX2" fmla="*/ 120725 w 120725"/>
                <a:gd name="connsiteY2" fmla="*/ 120844 h 120844"/>
                <a:gd name="connsiteX3" fmla="*/ 120725 w 120725"/>
                <a:gd name="connsiteY3" fmla="*/ 0 h 120844"/>
              </a:gdLst>
              <a:ahLst/>
              <a:cxnLst>
                <a:cxn ang="0">
                  <a:pos x="connsiteX0" y="connsiteY0"/>
                </a:cxn>
                <a:cxn ang="0">
                  <a:pos x="connsiteX1" y="connsiteY1"/>
                </a:cxn>
                <a:cxn ang="0">
                  <a:pos x="connsiteX2" y="connsiteY2"/>
                </a:cxn>
                <a:cxn ang="0">
                  <a:pos x="connsiteX3" y="connsiteY3"/>
                </a:cxn>
              </a:cxnLst>
              <a:rect l="l" t="t" r="r" b="b"/>
              <a:pathLst>
                <a:path w="120725" h="120844">
                  <a:moveTo>
                    <a:pt x="120725" y="0"/>
                  </a:moveTo>
                  <a:lnTo>
                    <a:pt x="0" y="0"/>
                  </a:lnTo>
                  <a:lnTo>
                    <a:pt x="120725" y="120844"/>
                  </a:lnTo>
                  <a:lnTo>
                    <a:pt x="120725" y="0"/>
                  </a:lnTo>
                  <a:close/>
                </a:path>
              </a:pathLst>
            </a:custGeom>
            <a:solidFill>
              <a:srgbClr val="F23A1E"/>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grpSp>
      <p:sp>
        <p:nvSpPr>
          <p:cNvPr id="4" name="Title 1">
            <a:extLst>
              <a:ext uri="{FF2B5EF4-FFF2-40B4-BE49-F238E27FC236}">
                <a16:creationId xmlns:a16="http://schemas.microsoft.com/office/drawing/2014/main" id="{6CE20A1F-2047-7BC9-8B59-CED282DAA681}"/>
              </a:ext>
            </a:extLst>
          </p:cNvPr>
          <p:cNvSpPr>
            <a:spLocks noGrp="1"/>
          </p:cNvSpPr>
          <p:nvPr>
            <p:ph type="title" hasCustomPrompt="1"/>
          </p:nvPr>
        </p:nvSpPr>
        <p:spPr>
          <a:xfrm>
            <a:off x="914400" y="1318719"/>
            <a:ext cx="5866544" cy="2870201"/>
          </a:xfrm>
        </p:spPr>
        <p:txBody>
          <a:bodyPr anchor="t">
            <a:noAutofit/>
          </a:bodyPr>
          <a:lstStyle>
            <a:lvl1pPr>
              <a:lnSpc>
                <a:spcPct val="85000"/>
              </a:lnSpc>
              <a:defRPr sz="6000" b="0" cap="none" spc="-50" baseline="0">
                <a:solidFill>
                  <a:schemeClr val="tx1"/>
                </a:solidFill>
              </a:defRPr>
            </a:lvl1pPr>
          </a:lstStyle>
          <a:p>
            <a:r>
              <a:rPr lang="en-US"/>
              <a:t>Divider copy goes here</a:t>
            </a:r>
          </a:p>
        </p:txBody>
      </p:sp>
    </p:spTree>
    <p:extLst>
      <p:ext uri="{BB962C8B-B14F-4D97-AF65-F5344CB8AC3E}">
        <p14:creationId xmlns:p14="http://schemas.microsoft.com/office/powerpoint/2010/main" val="370423665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ivider Slide - Texture, Light 3">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62D6E5A-3F26-3F8D-C878-96A904D35C87}"/>
              </a:ext>
            </a:extLst>
          </p:cNvPr>
          <p:cNvSpPr/>
          <p:nvPr userDrawn="1"/>
        </p:nvSpPr>
        <p:spPr>
          <a:xfrm rot="10800000" flipV="1">
            <a:off x="2" y="-3"/>
            <a:ext cx="12191998" cy="6858003"/>
          </a:xfrm>
          <a:prstGeom prst="rect">
            <a:avLst/>
          </a:prstGeom>
          <a:solidFill>
            <a:schemeClr val="bg2"/>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pic>
        <p:nvPicPr>
          <p:cNvPr id="5" name="Picture 4">
            <a:extLst>
              <a:ext uri="{FF2B5EF4-FFF2-40B4-BE49-F238E27FC236}">
                <a16:creationId xmlns:a16="http://schemas.microsoft.com/office/drawing/2014/main" id="{660C216B-A8AC-384A-81FE-0ED05251E3C5}"/>
              </a:ext>
            </a:extLst>
          </p:cNvPr>
          <p:cNvPicPr>
            <a:picLocks noChangeAspect="1"/>
          </p:cNvPicPr>
          <p:nvPr userDrawn="1"/>
        </p:nvPicPr>
        <p:blipFill>
          <a:blip r:embed="rId2"/>
          <a:srcRect r="32407" b="4787"/>
          <a:stretch/>
        </p:blipFill>
        <p:spPr>
          <a:xfrm rot="5400000">
            <a:off x="6046075" y="712077"/>
            <a:ext cx="6858001" cy="5433849"/>
          </a:xfrm>
          <a:prstGeom prst="rect">
            <a:avLst/>
          </a:prstGeom>
        </p:spPr>
      </p:pic>
      <p:grpSp>
        <p:nvGrpSpPr>
          <p:cNvPr id="6" name="Graphic 9">
            <a:extLst>
              <a:ext uri="{FF2B5EF4-FFF2-40B4-BE49-F238E27FC236}">
                <a16:creationId xmlns:a16="http://schemas.microsoft.com/office/drawing/2014/main" id="{72E8A13F-22E9-99BA-FAFF-672D279ABDC0}"/>
              </a:ext>
            </a:extLst>
          </p:cNvPr>
          <p:cNvGrpSpPr>
            <a:grpSpLocks noChangeAspect="1"/>
          </p:cNvGrpSpPr>
          <p:nvPr userDrawn="1"/>
        </p:nvGrpSpPr>
        <p:grpSpPr>
          <a:xfrm>
            <a:off x="417511" y="6489055"/>
            <a:ext cx="249135" cy="136828"/>
            <a:chOff x="11484948" y="313034"/>
            <a:chExt cx="401233" cy="220363"/>
          </a:xfrm>
          <a:solidFill>
            <a:schemeClr val="accent5"/>
          </a:solidFill>
        </p:grpSpPr>
        <p:sp>
          <p:nvSpPr>
            <p:cNvPr id="7" name="Freeform 6">
              <a:extLst>
                <a:ext uri="{FF2B5EF4-FFF2-40B4-BE49-F238E27FC236}">
                  <a16:creationId xmlns:a16="http://schemas.microsoft.com/office/drawing/2014/main" id="{290E42D1-AA36-19D3-3286-A45AF96EE9A7}"/>
                </a:ext>
              </a:extLst>
            </p:cNvPr>
            <p:cNvSpPr/>
            <p:nvPr userDrawn="1"/>
          </p:nvSpPr>
          <p:spPr>
            <a:xfrm>
              <a:off x="11652424" y="313034"/>
              <a:ext cx="233757" cy="220363"/>
            </a:xfrm>
            <a:custGeom>
              <a:avLst/>
              <a:gdLst>
                <a:gd name="connsiteX0" fmla="*/ 233757 w 233757"/>
                <a:gd name="connsiteY0" fmla="*/ 220363 h 220363"/>
                <a:gd name="connsiteX1" fmla="*/ 187006 w 233757"/>
                <a:gd name="connsiteY1" fmla="*/ 220363 h 220363"/>
                <a:gd name="connsiteX2" fmla="*/ 187006 w 233757"/>
                <a:gd name="connsiteY2" fmla="*/ 89448 h 220363"/>
                <a:gd name="connsiteX3" fmla="*/ 116879 w 233757"/>
                <a:gd name="connsiteY3" fmla="*/ 159645 h 220363"/>
                <a:gd name="connsiteX4" fmla="*/ 46751 w 233757"/>
                <a:gd name="connsiteY4" fmla="*/ 89448 h 220363"/>
                <a:gd name="connsiteX5" fmla="*/ 46751 w 233757"/>
                <a:gd name="connsiteY5" fmla="*/ 220363 h 220363"/>
                <a:gd name="connsiteX6" fmla="*/ 0 w 233757"/>
                <a:gd name="connsiteY6" fmla="*/ 220363 h 220363"/>
                <a:gd name="connsiteX7" fmla="*/ 0 w 233757"/>
                <a:gd name="connsiteY7" fmla="*/ 0 h 220363"/>
                <a:gd name="connsiteX8" fmla="*/ 24855 w 233757"/>
                <a:gd name="connsiteY8" fmla="*/ 0 h 220363"/>
                <a:gd name="connsiteX9" fmla="*/ 117470 w 233757"/>
                <a:gd name="connsiteY9" fmla="*/ 92706 h 220363"/>
                <a:gd name="connsiteX10" fmla="*/ 208902 w 233757"/>
                <a:gd name="connsiteY10" fmla="*/ 0 h 220363"/>
                <a:gd name="connsiteX11" fmla="*/ 233757 w 233757"/>
                <a:gd name="connsiteY11" fmla="*/ 0 h 220363"/>
                <a:gd name="connsiteX12" fmla="*/ 233757 w 233757"/>
                <a:gd name="connsiteY12" fmla="*/ 220363 h 22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757" h="220363">
                  <a:moveTo>
                    <a:pt x="233757" y="220363"/>
                  </a:moveTo>
                  <a:lnTo>
                    <a:pt x="187006" y="220363"/>
                  </a:lnTo>
                  <a:lnTo>
                    <a:pt x="187006" y="89448"/>
                  </a:lnTo>
                  <a:lnTo>
                    <a:pt x="116879" y="159645"/>
                  </a:lnTo>
                  <a:lnTo>
                    <a:pt x="46751" y="89448"/>
                  </a:lnTo>
                  <a:lnTo>
                    <a:pt x="46751" y="220363"/>
                  </a:lnTo>
                  <a:lnTo>
                    <a:pt x="0" y="220363"/>
                  </a:lnTo>
                  <a:lnTo>
                    <a:pt x="0" y="0"/>
                  </a:lnTo>
                  <a:lnTo>
                    <a:pt x="24855" y="0"/>
                  </a:lnTo>
                  <a:lnTo>
                    <a:pt x="117470" y="92706"/>
                  </a:lnTo>
                  <a:lnTo>
                    <a:pt x="208902" y="0"/>
                  </a:lnTo>
                  <a:lnTo>
                    <a:pt x="233757" y="0"/>
                  </a:lnTo>
                  <a:lnTo>
                    <a:pt x="233757" y="220363"/>
                  </a:lnTo>
                  <a:close/>
                </a:path>
              </a:pathLst>
            </a:custGeom>
            <a:solidFill>
              <a:srgbClr val="10295D"/>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8" name="Freeform 7">
              <a:extLst>
                <a:ext uri="{FF2B5EF4-FFF2-40B4-BE49-F238E27FC236}">
                  <a16:creationId xmlns:a16="http://schemas.microsoft.com/office/drawing/2014/main" id="{A702E34B-F934-E630-C91C-379464692887}"/>
                </a:ext>
              </a:extLst>
            </p:cNvPr>
            <p:cNvSpPr/>
            <p:nvPr userDrawn="1"/>
          </p:nvSpPr>
          <p:spPr>
            <a:xfrm>
              <a:off x="11484948" y="412552"/>
              <a:ext cx="120725" cy="120844"/>
            </a:xfrm>
            <a:custGeom>
              <a:avLst/>
              <a:gdLst>
                <a:gd name="connsiteX0" fmla="*/ 120725 w 120725"/>
                <a:gd name="connsiteY0" fmla="*/ 0 h 120844"/>
                <a:gd name="connsiteX1" fmla="*/ 0 w 120725"/>
                <a:gd name="connsiteY1" fmla="*/ 0 h 120844"/>
                <a:gd name="connsiteX2" fmla="*/ 120725 w 120725"/>
                <a:gd name="connsiteY2" fmla="*/ 120844 h 120844"/>
                <a:gd name="connsiteX3" fmla="*/ 120725 w 120725"/>
                <a:gd name="connsiteY3" fmla="*/ 0 h 120844"/>
              </a:gdLst>
              <a:ahLst/>
              <a:cxnLst>
                <a:cxn ang="0">
                  <a:pos x="connsiteX0" y="connsiteY0"/>
                </a:cxn>
                <a:cxn ang="0">
                  <a:pos x="connsiteX1" y="connsiteY1"/>
                </a:cxn>
                <a:cxn ang="0">
                  <a:pos x="connsiteX2" y="connsiteY2"/>
                </a:cxn>
                <a:cxn ang="0">
                  <a:pos x="connsiteX3" y="connsiteY3"/>
                </a:cxn>
              </a:cxnLst>
              <a:rect l="l" t="t" r="r" b="b"/>
              <a:pathLst>
                <a:path w="120725" h="120844">
                  <a:moveTo>
                    <a:pt x="120725" y="0"/>
                  </a:moveTo>
                  <a:lnTo>
                    <a:pt x="0" y="0"/>
                  </a:lnTo>
                  <a:lnTo>
                    <a:pt x="120725" y="120844"/>
                  </a:lnTo>
                  <a:lnTo>
                    <a:pt x="120725" y="0"/>
                  </a:lnTo>
                  <a:close/>
                </a:path>
              </a:pathLst>
            </a:custGeom>
            <a:solidFill>
              <a:srgbClr val="F23A1E"/>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grpSp>
      <p:sp>
        <p:nvSpPr>
          <p:cNvPr id="4" name="Title 1">
            <a:extLst>
              <a:ext uri="{FF2B5EF4-FFF2-40B4-BE49-F238E27FC236}">
                <a16:creationId xmlns:a16="http://schemas.microsoft.com/office/drawing/2014/main" id="{F5064E94-0FC8-C479-67A7-81481582BE63}"/>
              </a:ext>
            </a:extLst>
          </p:cNvPr>
          <p:cNvSpPr>
            <a:spLocks noGrp="1"/>
          </p:cNvSpPr>
          <p:nvPr>
            <p:ph type="title" hasCustomPrompt="1"/>
          </p:nvPr>
        </p:nvSpPr>
        <p:spPr>
          <a:xfrm>
            <a:off x="914400" y="1318719"/>
            <a:ext cx="5866544" cy="2870201"/>
          </a:xfrm>
        </p:spPr>
        <p:txBody>
          <a:bodyPr anchor="t">
            <a:noAutofit/>
          </a:bodyPr>
          <a:lstStyle>
            <a:lvl1pPr>
              <a:lnSpc>
                <a:spcPct val="85000"/>
              </a:lnSpc>
              <a:defRPr sz="6000" b="0" cap="none" spc="-50" baseline="0">
                <a:solidFill>
                  <a:schemeClr val="tx1"/>
                </a:solidFill>
              </a:defRPr>
            </a:lvl1pPr>
          </a:lstStyle>
          <a:p>
            <a:r>
              <a:rPr lang="en-US"/>
              <a:t>Divider copy goes here</a:t>
            </a:r>
          </a:p>
        </p:txBody>
      </p:sp>
    </p:spTree>
    <p:extLst>
      <p:ext uri="{BB962C8B-B14F-4D97-AF65-F5344CB8AC3E}">
        <p14:creationId xmlns:p14="http://schemas.microsoft.com/office/powerpoint/2010/main" val="108536514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ivider Slide + EYEBROW, Dar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BF33162-B13D-704C-3524-E527FF5BEC09}"/>
              </a:ext>
            </a:extLst>
          </p:cNvPr>
          <p:cNvSpPr/>
          <p:nvPr userDrawn="1"/>
        </p:nvSpPr>
        <p:spPr>
          <a:xfrm rot="10800000" flipV="1">
            <a:off x="2" y="-3"/>
            <a:ext cx="12191998" cy="6858003"/>
          </a:xfrm>
          <a:prstGeom prst="rect">
            <a:avLst/>
          </a:prstGeom>
          <a:solidFill>
            <a:schemeClr val="tx1"/>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sp>
        <p:nvSpPr>
          <p:cNvPr id="25" name="TextBox 24">
            <a:extLst>
              <a:ext uri="{FF2B5EF4-FFF2-40B4-BE49-F238E27FC236}">
                <a16:creationId xmlns:a16="http://schemas.microsoft.com/office/drawing/2014/main" id="{7A83B8F5-18AE-B94A-82A0-B580840EFE63}"/>
              </a:ext>
            </a:extLst>
          </p:cNvPr>
          <p:cNvSpPr txBox="1"/>
          <p:nvPr userDrawn="1"/>
        </p:nvSpPr>
        <p:spPr>
          <a:xfrm>
            <a:off x="7796752" y="6324600"/>
            <a:ext cx="4058444" cy="304795"/>
          </a:xfrm>
          <a:prstGeom prst="rect">
            <a:avLst/>
          </a:prstGeom>
          <a:noFill/>
        </p:spPr>
        <p:txBody>
          <a:bodyPr wrap="square" bIns="0" rtlCol="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3BDFC0B-CFB1-084E-A5D1-50420B235E65}" type="slidenum">
              <a:rPr kumimoji="0" lang="en-US" sz="700" b="0" i="0" u="none" strike="noStrike" kern="1200" cap="none" spc="0" normalizeH="0" baseline="0" noProof="0" smtClean="0">
                <a:ln>
                  <a:noFill/>
                </a:ln>
                <a:solidFill>
                  <a:schemeClr val="bg2">
                    <a:lumMod val="75000"/>
                  </a:schemeClr>
                </a:solidFill>
                <a:effectLst/>
                <a:uLnTx/>
                <a:uFillTx/>
                <a:latin typeface="+mj-lt"/>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sz="700" b="0" i="0">
              <a:solidFill>
                <a:schemeClr val="bg2">
                  <a:lumMod val="75000"/>
                </a:schemeClr>
              </a:solidFill>
              <a:latin typeface="+mj-lt"/>
              <a:ea typeface="+mn-ea"/>
              <a:cs typeface="+mn-cs"/>
            </a:endParaRPr>
          </a:p>
        </p:txBody>
      </p:sp>
      <p:sp>
        <p:nvSpPr>
          <p:cNvPr id="3" name="Title 1">
            <a:extLst>
              <a:ext uri="{FF2B5EF4-FFF2-40B4-BE49-F238E27FC236}">
                <a16:creationId xmlns:a16="http://schemas.microsoft.com/office/drawing/2014/main" id="{45BF5F69-E10A-F6B1-3F95-D3C57AE277B8}"/>
              </a:ext>
            </a:extLst>
          </p:cNvPr>
          <p:cNvSpPr>
            <a:spLocks noGrp="1"/>
          </p:cNvSpPr>
          <p:nvPr>
            <p:ph type="title" hasCustomPrompt="1"/>
          </p:nvPr>
        </p:nvSpPr>
        <p:spPr>
          <a:xfrm>
            <a:off x="914400" y="1318719"/>
            <a:ext cx="9709484" cy="2870201"/>
          </a:xfrm>
        </p:spPr>
        <p:txBody>
          <a:bodyPr vert="horz" lIns="91440" tIns="45720" rIns="91440" bIns="45720" rtlCol="0" anchor="t">
            <a:noAutofit/>
          </a:bodyPr>
          <a:lstStyle>
            <a:lvl1pPr>
              <a:defRPr lang="en-US" sz="6000" b="0" cap="none" spc="-50" baseline="0" dirty="0">
                <a:solidFill>
                  <a:schemeClr val="bg1"/>
                </a:solidFill>
                <a:latin typeface="+mj-lt"/>
              </a:defRPr>
            </a:lvl1pPr>
          </a:lstStyle>
          <a:p>
            <a:pPr lvl="0">
              <a:lnSpc>
                <a:spcPct val="85000"/>
              </a:lnSpc>
            </a:pPr>
            <a:r>
              <a:rPr lang="en-US"/>
              <a:t>Divider copy goes here</a:t>
            </a:r>
          </a:p>
        </p:txBody>
      </p:sp>
      <p:sp>
        <p:nvSpPr>
          <p:cNvPr id="5" name="Text Placeholder 12">
            <a:extLst>
              <a:ext uri="{FF2B5EF4-FFF2-40B4-BE49-F238E27FC236}">
                <a16:creationId xmlns:a16="http://schemas.microsoft.com/office/drawing/2014/main" id="{03653832-9177-0922-2808-259E17057D89}"/>
              </a:ext>
            </a:extLst>
          </p:cNvPr>
          <p:cNvSpPr>
            <a:spLocks noGrp="1"/>
          </p:cNvSpPr>
          <p:nvPr>
            <p:ph type="body" sz="quarter" idx="15" hasCustomPrompt="1"/>
          </p:nvPr>
        </p:nvSpPr>
        <p:spPr>
          <a:xfrm>
            <a:off x="914400" y="937172"/>
            <a:ext cx="9709484" cy="290049"/>
          </a:xfrm>
        </p:spPr>
        <p:txBody>
          <a:bodyPr lIns="137160" rIns="91440" anchor="b">
            <a:noAutofit/>
          </a:bodyPr>
          <a:lstStyle>
            <a:lvl1pPr marL="0" indent="0">
              <a:buNone/>
              <a:defRPr sz="800" b="1" i="0" cap="all" spc="150" baseline="0">
                <a:solidFill>
                  <a:schemeClr val="bg2">
                    <a:lumMod val="90000"/>
                  </a:schemeClr>
                </a:solidFill>
                <a:latin typeface="+mj-lt"/>
              </a:defRPr>
            </a:lvl1pPr>
          </a:lstStyle>
          <a:p>
            <a:pPr lvl="0"/>
            <a:r>
              <a:rPr lang="en-US"/>
              <a:t>Two to three word eyebrow (optional)</a:t>
            </a:r>
          </a:p>
        </p:txBody>
      </p:sp>
      <p:grpSp>
        <p:nvGrpSpPr>
          <p:cNvPr id="4" name="Graphic 9">
            <a:extLst>
              <a:ext uri="{FF2B5EF4-FFF2-40B4-BE49-F238E27FC236}">
                <a16:creationId xmlns:a16="http://schemas.microsoft.com/office/drawing/2014/main" id="{17E7EE1E-226D-38AF-361F-E567ED24DDE6}"/>
              </a:ext>
            </a:extLst>
          </p:cNvPr>
          <p:cNvGrpSpPr>
            <a:grpSpLocks noChangeAspect="1"/>
          </p:cNvGrpSpPr>
          <p:nvPr userDrawn="1"/>
        </p:nvGrpSpPr>
        <p:grpSpPr>
          <a:xfrm>
            <a:off x="417511" y="6489055"/>
            <a:ext cx="249135" cy="136828"/>
            <a:chOff x="11484948" y="313034"/>
            <a:chExt cx="401233" cy="220363"/>
          </a:xfrm>
          <a:solidFill>
            <a:schemeClr val="accent5"/>
          </a:solidFill>
        </p:grpSpPr>
        <p:sp>
          <p:nvSpPr>
            <p:cNvPr id="6" name="Freeform 5">
              <a:extLst>
                <a:ext uri="{FF2B5EF4-FFF2-40B4-BE49-F238E27FC236}">
                  <a16:creationId xmlns:a16="http://schemas.microsoft.com/office/drawing/2014/main" id="{C94A7307-B4FD-2762-B048-B46752517BB1}"/>
                </a:ext>
              </a:extLst>
            </p:cNvPr>
            <p:cNvSpPr/>
            <p:nvPr userDrawn="1"/>
          </p:nvSpPr>
          <p:spPr>
            <a:xfrm>
              <a:off x="11652424" y="313034"/>
              <a:ext cx="233757" cy="220363"/>
            </a:xfrm>
            <a:custGeom>
              <a:avLst/>
              <a:gdLst>
                <a:gd name="connsiteX0" fmla="*/ 233757 w 233757"/>
                <a:gd name="connsiteY0" fmla="*/ 220363 h 220363"/>
                <a:gd name="connsiteX1" fmla="*/ 187006 w 233757"/>
                <a:gd name="connsiteY1" fmla="*/ 220363 h 220363"/>
                <a:gd name="connsiteX2" fmla="*/ 187006 w 233757"/>
                <a:gd name="connsiteY2" fmla="*/ 89448 h 220363"/>
                <a:gd name="connsiteX3" fmla="*/ 116879 w 233757"/>
                <a:gd name="connsiteY3" fmla="*/ 159645 h 220363"/>
                <a:gd name="connsiteX4" fmla="*/ 46751 w 233757"/>
                <a:gd name="connsiteY4" fmla="*/ 89448 h 220363"/>
                <a:gd name="connsiteX5" fmla="*/ 46751 w 233757"/>
                <a:gd name="connsiteY5" fmla="*/ 220363 h 220363"/>
                <a:gd name="connsiteX6" fmla="*/ 0 w 233757"/>
                <a:gd name="connsiteY6" fmla="*/ 220363 h 220363"/>
                <a:gd name="connsiteX7" fmla="*/ 0 w 233757"/>
                <a:gd name="connsiteY7" fmla="*/ 0 h 220363"/>
                <a:gd name="connsiteX8" fmla="*/ 24855 w 233757"/>
                <a:gd name="connsiteY8" fmla="*/ 0 h 220363"/>
                <a:gd name="connsiteX9" fmla="*/ 117470 w 233757"/>
                <a:gd name="connsiteY9" fmla="*/ 92706 h 220363"/>
                <a:gd name="connsiteX10" fmla="*/ 208902 w 233757"/>
                <a:gd name="connsiteY10" fmla="*/ 0 h 220363"/>
                <a:gd name="connsiteX11" fmla="*/ 233757 w 233757"/>
                <a:gd name="connsiteY11" fmla="*/ 0 h 220363"/>
                <a:gd name="connsiteX12" fmla="*/ 233757 w 233757"/>
                <a:gd name="connsiteY12" fmla="*/ 220363 h 22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757" h="220363">
                  <a:moveTo>
                    <a:pt x="233757" y="220363"/>
                  </a:moveTo>
                  <a:lnTo>
                    <a:pt x="187006" y="220363"/>
                  </a:lnTo>
                  <a:lnTo>
                    <a:pt x="187006" y="89448"/>
                  </a:lnTo>
                  <a:lnTo>
                    <a:pt x="116879" y="159645"/>
                  </a:lnTo>
                  <a:lnTo>
                    <a:pt x="46751" y="89448"/>
                  </a:lnTo>
                  <a:lnTo>
                    <a:pt x="46751" y="220363"/>
                  </a:lnTo>
                  <a:lnTo>
                    <a:pt x="0" y="220363"/>
                  </a:lnTo>
                  <a:lnTo>
                    <a:pt x="0" y="0"/>
                  </a:lnTo>
                  <a:lnTo>
                    <a:pt x="24855" y="0"/>
                  </a:lnTo>
                  <a:lnTo>
                    <a:pt x="117470" y="92706"/>
                  </a:lnTo>
                  <a:lnTo>
                    <a:pt x="208902" y="0"/>
                  </a:lnTo>
                  <a:lnTo>
                    <a:pt x="233757" y="0"/>
                  </a:lnTo>
                  <a:lnTo>
                    <a:pt x="233757" y="220363"/>
                  </a:lnTo>
                  <a:close/>
                </a:path>
              </a:pathLst>
            </a:custGeom>
            <a:solidFill>
              <a:schemeClr val="bg1"/>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7" name="Freeform 6">
              <a:extLst>
                <a:ext uri="{FF2B5EF4-FFF2-40B4-BE49-F238E27FC236}">
                  <a16:creationId xmlns:a16="http://schemas.microsoft.com/office/drawing/2014/main" id="{4FB4FB2C-2043-7793-4C1D-1FCACAD624F3}"/>
                </a:ext>
              </a:extLst>
            </p:cNvPr>
            <p:cNvSpPr/>
            <p:nvPr userDrawn="1"/>
          </p:nvSpPr>
          <p:spPr>
            <a:xfrm>
              <a:off x="11484948" y="412552"/>
              <a:ext cx="120725" cy="120844"/>
            </a:xfrm>
            <a:custGeom>
              <a:avLst/>
              <a:gdLst>
                <a:gd name="connsiteX0" fmla="*/ 120725 w 120725"/>
                <a:gd name="connsiteY0" fmla="*/ 0 h 120844"/>
                <a:gd name="connsiteX1" fmla="*/ 0 w 120725"/>
                <a:gd name="connsiteY1" fmla="*/ 0 h 120844"/>
                <a:gd name="connsiteX2" fmla="*/ 120725 w 120725"/>
                <a:gd name="connsiteY2" fmla="*/ 120844 h 120844"/>
                <a:gd name="connsiteX3" fmla="*/ 120725 w 120725"/>
                <a:gd name="connsiteY3" fmla="*/ 0 h 120844"/>
              </a:gdLst>
              <a:ahLst/>
              <a:cxnLst>
                <a:cxn ang="0">
                  <a:pos x="connsiteX0" y="connsiteY0"/>
                </a:cxn>
                <a:cxn ang="0">
                  <a:pos x="connsiteX1" y="connsiteY1"/>
                </a:cxn>
                <a:cxn ang="0">
                  <a:pos x="connsiteX2" y="connsiteY2"/>
                </a:cxn>
                <a:cxn ang="0">
                  <a:pos x="connsiteX3" y="connsiteY3"/>
                </a:cxn>
              </a:cxnLst>
              <a:rect l="l" t="t" r="r" b="b"/>
              <a:pathLst>
                <a:path w="120725" h="120844">
                  <a:moveTo>
                    <a:pt x="120725" y="0"/>
                  </a:moveTo>
                  <a:lnTo>
                    <a:pt x="0" y="0"/>
                  </a:lnTo>
                  <a:lnTo>
                    <a:pt x="120725" y="120844"/>
                  </a:lnTo>
                  <a:lnTo>
                    <a:pt x="120725" y="0"/>
                  </a:lnTo>
                  <a:close/>
                </a:path>
              </a:pathLst>
            </a:custGeom>
            <a:solidFill>
              <a:srgbClr val="F23A1E"/>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grpSp>
    </p:spTree>
    <p:extLst>
      <p:ext uri="{BB962C8B-B14F-4D97-AF65-F5344CB8AC3E}">
        <p14:creationId xmlns:p14="http://schemas.microsoft.com/office/powerpoint/2010/main" val="69004681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Divider Slide + EYEBROW, Light">
    <p:spTree>
      <p:nvGrpSpPr>
        <p:cNvPr id="1" name=""/>
        <p:cNvGrpSpPr/>
        <p:nvPr/>
      </p:nvGrpSpPr>
      <p:grpSpPr>
        <a:xfrm>
          <a:off x="0" y="0"/>
          <a:ext cx="0" cy="0"/>
          <a:chOff x="0" y="0"/>
          <a:chExt cx="0" cy="0"/>
        </a:xfrm>
      </p:grpSpPr>
      <p:sp>
        <p:nvSpPr>
          <p:cNvPr id="3" name="Text Placeholder 12">
            <a:extLst>
              <a:ext uri="{FF2B5EF4-FFF2-40B4-BE49-F238E27FC236}">
                <a16:creationId xmlns:a16="http://schemas.microsoft.com/office/drawing/2014/main" id="{C29B351B-52EF-CC43-0932-43B95E39A9F9}"/>
              </a:ext>
            </a:extLst>
          </p:cNvPr>
          <p:cNvSpPr>
            <a:spLocks noGrp="1"/>
          </p:cNvSpPr>
          <p:nvPr>
            <p:ph type="body" sz="quarter" idx="15" hasCustomPrompt="1"/>
          </p:nvPr>
        </p:nvSpPr>
        <p:spPr>
          <a:xfrm>
            <a:off x="914398" y="937172"/>
            <a:ext cx="9710927" cy="290049"/>
          </a:xfrm>
        </p:spPr>
        <p:txBody>
          <a:bodyPr lIns="137160" rIns="45720" anchor="b">
            <a:noAutofit/>
          </a:bodyPr>
          <a:lstStyle>
            <a:lvl1pPr marL="0" indent="0">
              <a:buNone/>
              <a:defRPr sz="800" b="1" i="0" cap="all" spc="150" baseline="0">
                <a:solidFill>
                  <a:schemeClr val="accent5"/>
                </a:solidFill>
                <a:latin typeface="+mj-lt"/>
              </a:defRPr>
            </a:lvl1pPr>
          </a:lstStyle>
          <a:p>
            <a:pPr lvl="0"/>
            <a:r>
              <a:rPr lang="en-US"/>
              <a:t>Two to three word eyebrow (optional)</a:t>
            </a:r>
          </a:p>
        </p:txBody>
      </p:sp>
      <p:sp>
        <p:nvSpPr>
          <p:cNvPr id="6" name="Title 1">
            <a:extLst>
              <a:ext uri="{FF2B5EF4-FFF2-40B4-BE49-F238E27FC236}">
                <a16:creationId xmlns:a16="http://schemas.microsoft.com/office/drawing/2014/main" id="{24D1596B-D4ED-3AE3-A9C3-CB2EDEB8D053}"/>
              </a:ext>
            </a:extLst>
          </p:cNvPr>
          <p:cNvSpPr>
            <a:spLocks noGrp="1"/>
          </p:cNvSpPr>
          <p:nvPr>
            <p:ph type="title" hasCustomPrompt="1"/>
          </p:nvPr>
        </p:nvSpPr>
        <p:spPr>
          <a:xfrm>
            <a:off x="914400" y="1318719"/>
            <a:ext cx="9709484" cy="2870201"/>
          </a:xfrm>
        </p:spPr>
        <p:txBody>
          <a:bodyPr vert="horz" lIns="91440" tIns="45720" rIns="91440" bIns="45720" rtlCol="0" anchor="t">
            <a:noAutofit/>
          </a:bodyPr>
          <a:lstStyle>
            <a:lvl1pPr>
              <a:defRPr lang="en-US" sz="6000" b="0" cap="none" spc="-50" baseline="0" dirty="0">
                <a:solidFill>
                  <a:schemeClr val="tx1"/>
                </a:solidFill>
              </a:defRPr>
            </a:lvl1pPr>
          </a:lstStyle>
          <a:p>
            <a:pPr lvl="0">
              <a:lnSpc>
                <a:spcPct val="85000"/>
              </a:lnSpc>
            </a:pPr>
            <a:r>
              <a:rPr lang="en-US"/>
              <a:t>Divider copy goes here</a:t>
            </a:r>
          </a:p>
        </p:txBody>
      </p:sp>
    </p:spTree>
    <p:extLst>
      <p:ext uri="{BB962C8B-B14F-4D97-AF65-F5344CB8AC3E}">
        <p14:creationId xmlns:p14="http://schemas.microsoft.com/office/powerpoint/2010/main" val="186888247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Statement Slide 1">
    <p:bg>
      <p:bgPr>
        <a:solidFill>
          <a:schemeClr val="tx1"/>
        </a:solidFill>
        <a:effectLst/>
      </p:bgPr>
    </p:b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D4CD5E66-0DCE-50E7-3440-C11A15865C46}"/>
              </a:ext>
            </a:extLst>
          </p:cNvPr>
          <p:cNvSpPr txBox="1"/>
          <p:nvPr userDrawn="1"/>
        </p:nvSpPr>
        <p:spPr>
          <a:xfrm>
            <a:off x="7796752" y="6324600"/>
            <a:ext cx="4058444" cy="304795"/>
          </a:xfrm>
          <a:prstGeom prst="rect">
            <a:avLst/>
          </a:prstGeom>
          <a:noFill/>
        </p:spPr>
        <p:txBody>
          <a:bodyPr wrap="square" bIns="0" rtlCol="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3BDFC0B-CFB1-084E-A5D1-50420B235E65}" type="slidenum">
              <a:rPr kumimoji="0" lang="en-US" sz="700" b="0" i="0" u="none" strike="noStrike" kern="1200" cap="none" spc="0" normalizeH="0" baseline="0" noProof="0" smtClean="0">
                <a:ln>
                  <a:noFill/>
                </a:ln>
                <a:solidFill>
                  <a:schemeClr val="bg2">
                    <a:lumMod val="75000"/>
                  </a:schemeClr>
                </a:solidFill>
                <a:effectLst/>
                <a:uLnTx/>
                <a:uFillTx/>
                <a:latin typeface="+mj-lt"/>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sz="700" b="0" i="0">
              <a:solidFill>
                <a:schemeClr val="bg2">
                  <a:lumMod val="75000"/>
                </a:schemeClr>
              </a:solidFill>
              <a:latin typeface="+mj-lt"/>
              <a:ea typeface="+mn-ea"/>
              <a:cs typeface="+mn-cs"/>
            </a:endParaRPr>
          </a:p>
        </p:txBody>
      </p:sp>
      <p:sp>
        <p:nvSpPr>
          <p:cNvPr id="3" name="Title 1">
            <a:extLst>
              <a:ext uri="{FF2B5EF4-FFF2-40B4-BE49-F238E27FC236}">
                <a16:creationId xmlns:a16="http://schemas.microsoft.com/office/drawing/2014/main" id="{02203853-1382-5769-6B65-A05E73FDEE94}"/>
              </a:ext>
            </a:extLst>
          </p:cNvPr>
          <p:cNvSpPr>
            <a:spLocks noGrp="1"/>
          </p:cNvSpPr>
          <p:nvPr>
            <p:ph type="title" hasCustomPrompt="1"/>
          </p:nvPr>
        </p:nvSpPr>
        <p:spPr>
          <a:xfrm>
            <a:off x="1241244" y="1993899"/>
            <a:ext cx="9709484" cy="2870201"/>
          </a:xfrm>
        </p:spPr>
        <p:txBody>
          <a:bodyPr vert="horz" lIns="91440" tIns="45720" rIns="91440" bIns="45720" rtlCol="0" anchor="ctr">
            <a:noAutofit/>
          </a:bodyPr>
          <a:lstStyle>
            <a:lvl1pPr algn="ctr">
              <a:defRPr lang="en-US" sz="4400" b="0" cap="none" spc="-50" baseline="0" dirty="0">
                <a:solidFill>
                  <a:schemeClr val="bg1"/>
                </a:solidFill>
                <a:latin typeface="+mj-lt"/>
              </a:defRPr>
            </a:lvl1pPr>
          </a:lstStyle>
          <a:p>
            <a:pPr lvl="0">
              <a:lnSpc>
                <a:spcPct val="85000"/>
              </a:lnSpc>
            </a:pPr>
            <a:r>
              <a:rPr lang="en-US"/>
              <a:t>Statement copy goes here</a:t>
            </a:r>
          </a:p>
        </p:txBody>
      </p:sp>
      <p:grpSp>
        <p:nvGrpSpPr>
          <p:cNvPr id="2" name="Graphic 9">
            <a:extLst>
              <a:ext uri="{FF2B5EF4-FFF2-40B4-BE49-F238E27FC236}">
                <a16:creationId xmlns:a16="http://schemas.microsoft.com/office/drawing/2014/main" id="{766D62DE-CF40-057B-C7A1-7C1F85B1FCCA}"/>
              </a:ext>
            </a:extLst>
          </p:cNvPr>
          <p:cNvGrpSpPr>
            <a:grpSpLocks noChangeAspect="1"/>
          </p:cNvGrpSpPr>
          <p:nvPr userDrawn="1"/>
        </p:nvGrpSpPr>
        <p:grpSpPr>
          <a:xfrm>
            <a:off x="417511" y="6489055"/>
            <a:ext cx="249135" cy="136828"/>
            <a:chOff x="11484948" y="313034"/>
            <a:chExt cx="401233" cy="220363"/>
          </a:xfrm>
          <a:solidFill>
            <a:schemeClr val="accent5"/>
          </a:solidFill>
        </p:grpSpPr>
        <p:sp>
          <p:nvSpPr>
            <p:cNvPr id="4" name="Freeform 3">
              <a:extLst>
                <a:ext uri="{FF2B5EF4-FFF2-40B4-BE49-F238E27FC236}">
                  <a16:creationId xmlns:a16="http://schemas.microsoft.com/office/drawing/2014/main" id="{4C29980B-38B0-E1FA-2321-A37FE238E4BE}"/>
                </a:ext>
              </a:extLst>
            </p:cNvPr>
            <p:cNvSpPr/>
            <p:nvPr userDrawn="1"/>
          </p:nvSpPr>
          <p:spPr>
            <a:xfrm>
              <a:off x="11652424" y="313034"/>
              <a:ext cx="233757" cy="220363"/>
            </a:xfrm>
            <a:custGeom>
              <a:avLst/>
              <a:gdLst>
                <a:gd name="connsiteX0" fmla="*/ 233757 w 233757"/>
                <a:gd name="connsiteY0" fmla="*/ 220363 h 220363"/>
                <a:gd name="connsiteX1" fmla="*/ 187006 w 233757"/>
                <a:gd name="connsiteY1" fmla="*/ 220363 h 220363"/>
                <a:gd name="connsiteX2" fmla="*/ 187006 w 233757"/>
                <a:gd name="connsiteY2" fmla="*/ 89448 h 220363"/>
                <a:gd name="connsiteX3" fmla="*/ 116879 w 233757"/>
                <a:gd name="connsiteY3" fmla="*/ 159645 h 220363"/>
                <a:gd name="connsiteX4" fmla="*/ 46751 w 233757"/>
                <a:gd name="connsiteY4" fmla="*/ 89448 h 220363"/>
                <a:gd name="connsiteX5" fmla="*/ 46751 w 233757"/>
                <a:gd name="connsiteY5" fmla="*/ 220363 h 220363"/>
                <a:gd name="connsiteX6" fmla="*/ 0 w 233757"/>
                <a:gd name="connsiteY6" fmla="*/ 220363 h 220363"/>
                <a:gd name="connsiteX7" fmla="*/ 0 w 233757"/>
                <a:gd name="connsiteY7" fmla="*/ 0 h 220363"/>
                <a:gd name="connsiteX8" fmla="*/ 24855 w 233757"/>
                <a:gd name="connsiteY8" fmla="*/ 0 h 220363"/>
                <a:gd name="connsiteX9" fmla="*/ 117470 w 233757"/>
                <a:gd name="connsiteY9" fmla="*/ 92706 h 220363"/>
                <a:gd name="connsiteX10" fmla="*/ 208902 w 233757"/>
                <a:gd name="connsiteY10" fmla="*/ 0 h 220363"/>
                <a:gd name="connsiteX11" fmla="*/ 233757 w 233757"/>
                <a:gd name="connsiteY11" fmla="*/ 0 h 220363"/>
                <a:gd name="connsiteX12" fmla="*/ 233757 w 233757"/>
                <a:gd name="connsiteY12" fmla="*/ 220363 h 22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757" h="220363">
                  <a:moveTo>
                    <a:pt x="233757" y="220363"/>
                  </a:moveTo>
                  <a:lnTo>
                    <a:pt x="187006" y="220363"/>
                  </a:lnTo>
                  <a:lnTo>
                    <a:pt x="187006" y="89448"/>
                  </a:lnTo>
                  <a:lnTo>
                    <a:pt x="116879" y="159645"/>
                  </a:lnTo>
                  <a:lnTo>
                    <a:pt x="46751" y="89448"/>
                  </a:lnTo>
                  <a:lnTo>
                    <a:pt x="46751" y="220363"/>
                  </a:lnTo>
                  <a:lnTo>
                    <a:pt x="0" y="220363"/>
                  </a:lnTo>
                  <a:lnTo>
                    <a:pt x="0" y="0"/>
                  </a:lnTo>
                  <a:lnTo>
                    <a:pt x="24855" y="0"/>
                  </a:lnTo>
                  <a:lnTo>
                    <a:pt x="117470" y="92706"/>
                  </a:lnTo>
                  <a:lnTo>
                    <a:pt x="208902" y="0"/>
                  </a:lnTo>
                  <a:lnTo>
                    <a:pt x="233757" y="0"/>
                  </a:lnTo>
                  <a:lnTo>
                    <a:pt x="233757" y="220363"/>
                  </a:lnTo>
                  <a:close/>
                </a:path>
              </a:pathLst>
            </a:custGeom>
            <a:solidFill>
              <a:schemeClr val="bg1"/>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5" name="Freeform 4">
              <a:extLst>
                <a:ext uri="{FF2B5EF4-FFF2-40B4-BE49-F238E27FC236}">
                  <a16:creationId xmlns:a16="http://schemas.microsoft.com/office/drawing/2014/main" id="{36B6559D-DFD7-D3F6-073A-B30CA655B0F7}"/>
                </a:ext>
              </a:extLst>
            </p:cNvPr>
            <p:cNvSpPr/>
            <p:nvPr userDrawn="1"/>
          </p:nvSpPr>
          <p:spPr>
            <a:xfrm>
              <a:off x="11484948" y="412552"/>
              <a:ext cx="120725" cy="120844"/>
            </a:xfrm>
            <a:custGeom>
              <a:avLst/>
              <a:gdLst>
                <a:gd name="connsiteX0" fmla="*/ 120725 w 120725"/>
                <a:gd name="connsiteY0" fmla="*/ 0 h 120844"/>
                <a:gd name="connsiteX1" fmla="*/ 0 w 120725"/>
                <a:gd name="connsiteY1" fmla="*/ 0 h 120844"/>
                <a:gd name="connsiteX2" fmla="*/ 120725 w 120725"/>
                <a:gd name="connsiteY2" fmla="*/ 120844 h 120844"/>
                <a:gd name="connsiteX3" fmla="*/ 120725 w 120725"/>
                <a:gd name="connsiteY3" fmla="*/ 0 h 120844"/>
              </a:gdLst>
              <a:ahLst/>
              <a:cxnLst>
                <a:cxn ang="0">
                  <a:pos x="connsiteX0" y="connsiteY0"/>
                </a:cxn>
                <a:cxn ang="0">
                  <a:pos x="connsiteX1" y="connsiteY1"/>
                </a:cxn>
                <a:cxn ang="0">
                  <a:pos x="connsiteX2" y="connsiteY2"/>
                </a:cxn>
                <a:cxn ang="0">
                  <a:pos x="connsiteX3" y="connsiteY3"/>
                </a:cxn>
              </a:cxnLst>
              <a:rect l="l" t="t" r="r" b="b"/>
              <a:pathLst>
                <a:path w="120725" h="120844">
                  <a:moveTo>
                    <a:pt x="120725" y="0"/>
                  </a:moveTo>
                  <a:lnTo>
                    <a:pt x="0" y="0"/>
                  </a:lnTo>
                  <a:lnTo>
                    <a:pt x="120725" y="120844"/>
                  </a:lnTo>
                  <a:lnTo>
                    <a:pt x="120725" y="0"/>
                  </a:lnTo>
                  <a:close/>
                </a:path>
              </a:pathLst>
            </a:custGeom>
            <a:solidFill>
              <a:srgbClr val="F23A1E"/>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grpSp>
    </p:spTree>
    <p:extLst>
      <p:ext uri="{BB962C8B-B14F-4D97-AF65-F5344CB8AC3E}">
        <p14:creationId xmlns:p14="http://schemas.microsoft.com/office/powerpoint/2010/main" val="144760598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Statement Slide - Dark Imag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6432818-24CB-12AD-36F8-601D317ED98F}"/>
              </a:ext>
            </a:extLst>
          </p:cNvPr>
          <p:cNvSpPr/>
          <p:nvPr userDrawn="1"/>
        </p:nvSpPr>
        <p:spPr>
          <a:xfrm rot="10800000" flipV="1">
            <a:off x="2" y="-3"/>
            <a:ext cx="12191998" cy="6858003"/>
          </a:xfrm>
          <a:prstGeom prst="rect">
            <a:avLst/>
          </a:prstGeom>
          <a:solidFill>
            <a:schemeClr val="accent1"/>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sp>
        <p:nvSpPr>
          <p:cNvPr id="9" name="Picture Placeholder 8">
            <a:extLst>
              <a:ext uri="{FF2B5EF4-FFF2-40B4-BE49-F238E27FC236}">
                <a16:creationId xmlns:a16="http://schemas.microsoft.com/office/drawing/2014/main" id="{71E72675-4E9E-486A-C051-C92449EE7939}"/>
              </a:ext>
            </a:extLst>
          </p:cNvPr>
          <p:cNvSpPr>
            <a:spLocks noGrp="1"/>
          </p:cNvSpPr>
          <p:nvPr>
            <p:ph type="pic" sz="quarter" idx="10" hasCustomPrompt="1"/>
          </p:nvPr>
        </p:nvSpPr>
        <p:spPr>
          <a:xfrm>
            <a:off x="3" y="0"/>
            <a:ext cx="12191997" cy="6858002"/>
          </a:xfrm>
          <a:custGeom>
            <a:avLst/>
            <a:gdLst>
              <a:gd name="connsiteX0" fmla="*/ 417190 w 12191997"/>
              <a:gd name="connsiteY0" fmla="*/ 6550173 h 6858002"/>
              <a:gd name="connsiteX1" fmla="*/ 419098 w 12191997"/>
              <a:gd name="connsiteY1" fmla="*/ 6550173 h 6858002"/>
              <a:gd name="connsiteX2" fmla="*/ 419098 w 12191997"/>
              <a:gd name="connsiteY2" fmla="*/ 6552070 h 6858002"/>
              <a:gd name="connsiteX3" fmla="*/ 522773 w 12191997"/>
              <a:gd name="connsiteY3" fmla="*/ 6489534 h 6858002"/>
              <a:gd name="connsiteX4" fmla="*/ 522773 w 12191997"/>
              <a:gd name="connsiteY4" fmla="*/ 6626228 h 6858002"/>
              <a:gd name="connsiteX5" fmla="*/ 552231 w 12191997"/>
              <a:gd name="connsiteY5" fmla="*/ 6626228 h 6858002"/>
              <a:gd name="connsiteX6" fmla="*/ 552231 w 12191997"/>
              <a:gd name="connsiteY6" fmla="*/ 6544276 h 6858002"/>
              <a:gd name="connsiteX7" fmla="*/ 596420 w 12191997"/>
              <a:gd name="connsiteY7" fmla="*/ 6588218 h 6858002"/>
              <a:gd name="connsiteX8" fmla="*/ 640607 w 12191997"/>
              <a:gd name="connsiteY8" fmla="*/ 6544276 h 6858002"/>
              <a:gd name="connsiteX9" fmla="*/ 640607 w 12191997"/>
              <a:gd name="connsiteY9" fmla="*/ 6626228 h 6858002"/>
              <a:gd name="connsiteX10" fmla="*/ 668233 w 12191997"/>
              <a:gd name="connsiteY10" fmla="*/ 6626228 h 6858002"/>
              <a:gd name="connsiteX11" fmla="*/ 668233 w 12191997"/>
              <a:gd name="connsiteY11" fmla="*/ 6489534 h 6858002"/>
              <a:gd name="connsiteX12" fmla="*/ 653161 w 12191997"/>
              <a:gd name="connsiteY12" fmla="*/ 6489534 h 6858002"/>
              <a:gd name="connsiteX13" fmla="*/ 653160 w 12191997"/>
              <a:gd name="connsiteY13" fmla="*/ 6489534 h 6858002"/>
              <a:gd name="connsiteX14" fmla="*/ 596792 w 12191997"/>
              <a:gd name="connsiteY14" fmla="*/ 6546315 h 6858002"/>
              <a:gd name="connsiteX15" fmla="*/ 539693 w 12191997"/>
              <a:gd name="connsiteY15" fmla="*/ 6489534 h 6858002"/>
              <a:gd name="connsiteX16" fmla="*/ 419098 w 12191997"/>
              <a:gd name="connsiteY16" fmla="*/ 6489534 h 6858002"/>
              <a:gd name="connsiteX17" fmla="*/ 419098 w 12191997"/>
              <a:gd name="connsiteY17" fmla="*/ 6550172 h 6858002"/>
              <a:gd name="connsiteX18" fmla="*/ 417189 w 12191997"/>
              <a:gd name="connsiteY18" fmla="*/ 6550172 h 6858002"/>
              <a:gd name="connsiteX19" fmla="*/ 417190 w 12191997"/>
              <a:gd name="connsiteY19" fmla="*/ 6550173 h 6858002"/>
              <a:gd name="connsiteX20" fmla="*/ 419099 w 12191997"/>
              <a:gd name="connsiteY20" fmla="*/ 6552071 h 6858002"/>
              <a:gd name="connsiteX21" fmla="*/ 419098 w 12191997"/>
              <a:gd name="connsiteY21" fmla="*/ 6552071 h 6858002"/>
              <a:gd name="connsiteX22" fmla="*/ 419098 w 12191997"/>
              <a:gd name="connsiteY22" fmla="*/ 6626781 h 6858002"/>
              <a:gd name="connsiteX23" fmla="*/ 419099 w 12191997"/>
              <a:gd name="connsiteY23" fmla="*/ 6626781 h 6858002"/>
              <a:gd name="connsiteX24" fmla="*/ 419099 w 12191997"/>
              <a:gd name="connsiteY24" fmla="*/ 6552071 h 6858002"/>
              <a:gd name="connsiteX25" fmla="*/ 493259 w 12191997"/>
              <a:gd name="connsiteY25" fmla="*/ 6625821 h 6858002"/>
              <a:gd name="connsiteX26" fmla="*/ 493259 w 12191997"/>
              <a:gd name="connsiteY26" fmla="*/ 6550173 h 6858002"/>
              <a:gd name="connsiteX27" fmla="*/ 419099 w 12191997"/>
              <a:gd name="connsiteY27" fmla="*/ 6550173 h 6858002"/>
              <a:gd name="connsiteX28" fmla="*/ 419099 w 12191997"/>
              <a:gd name="connsiteY28" fmla="*/ 6489534 h 6858002"/>
              <a:gd name="connsiteX29" fmla="*/ 0 w 12191997"/>
              <a:gd name="connsiteY29" fmla="*/ 0 h 6858002"/>
              <a:gd name="connsiteX30" fmla="*/ 12191997 w 12191997"/>
              <a:gd name="connsiteY30" fmla="*/ 0 h 6858002"/>
              <a:gd name="connsiteX31" fmla="*/ 12191997 w 12191997"/>
              <a:gd name="connsiteY31" fmla="*/ 6858002 h 6858002"/>
              <a:gd name="connsiteX32" fmla="*/ 0 w 12191997"/>
              <a:gd name="connsiteY32" fmla="*/ 6858002 h 6858002"/>
              <a:gd name="connsiteX0" fmla="*/ 417190 w 12191997"/>
              <a:gd name="connsiteY0" fmla="*/ 6550173 h 6858002"/>
              <a:gd name="connsiteX1" fmla="*/ 419098 w 12191997"/>
              <a:gd name="connsiteY1" fmla="*/ 6550173 h 6858002"/>
              <a:gd name="connsiteX2" fmla="*/ 419098 w 12191997"/>
              <a:gd name="connsiteY2" fmla="*/ 6552070 h 6858002"/>
              <a:gd name="connsiteX3" fmla="*/ 417190 w 12191997"/>
              <a:gd name="connsiteY3" fmla="*/ 6550173 h 6858002"/>
              <a:gd name="connsiteX4" fmla="*/ 522773 w 12191997"/>
              <a:gd name="connsiteY4" fmla="*/ 6489534 h 6858002"/>
              <a:gd name="connsiteX5" fmla="*/ 522773 w 12191997"/>
              <a:gd name="connsiteY5" fmla="*/ 6626228 h 6858002"/>
              <a:gd name="connsiteX6" fmla="*/ 552231 w 12191997"/>
              <a:gd name="connsiteY6" fmla="*/ 6626228 h 6858002"/>
              <a:gd name="connsiteX7" fmla="*/ 552231 w 12191997"/>
              <a:gd name="connsiteY7" fmla="*/ 6544276 h 6858002"/>
              <a:gd name="connsiteX8" fmla="*/ 596420 w 12191997"/>
              <a:gd name="connsiteY8" fmla="*/ 6588218 h 6858002"/>
              <a:gd name="connsiteX9" fmla="*/ 640607 w 12191997"/>
              <a:gd name="connsiteY9" fmla="*/ 6544276 h 6858002"/>
              <a:gd name="connsiteX10" fmla="*/ 640607 w 12191997"/>
              <a:gd name="connsiteY10" fmla="*/ 6626228 h 6858002"/>
              <a:gd name="connsiteX11" fmla="*/ 668233 w 12191997"/>
              <a:gd name="connsiteY11" fmla="*/ 6626228 h 6858002"/>
              <a:gd name="connsiteX12" fmla="*/ 668233 w 12191997"/>
              <a:gd name="connsiteY12" fmla="*/ 6489534 h 6858002"/>
              <a:gd name="connsiteX13" fmla="*/ 653161 w 12191997"/>
              <a:gd name="connsiteY13" fmla="*/ 6489534 h 6858002"/>
              <a:gd name="connsiteX14" fmla="*/ 653160 w 12191997"/>
              <a:gd name="connsiteY14" fmla="*/ 6489534 h 6858002"/>
              <a:gd name="connsiteX15" fmla="*/ 596792 w 12191997"/>
              <a:gd name="connsiteY15" fmla="*/ 6546315 h 6858002"/>
              <a:gd name="connsiteX16" fmla="*/ 539693 w 12191997"/>
              <a:gd name="connsiteY16" fmla="*/ 6489534 h 6858002"/>
              <a:gd name="connsiteX17" fmla="*/ 522773 w 12191997"/>
              <a:gd name="connsiteY17" fmla="*/ 6489534 h 6858002"/>
              <a:gd name="connsiteX18" fmla="*/ 419099 w 12191997"/>
              <a:gd name="connsiteY18" fmla="*/ 6489534 h 6858002"/>
              <a:gd name="connsiteX19" fmla="*/ 419098 w 12191997"/>
              <a:gd name="connsiteY19" fmla="*/ 6550172 h 6858002"/>
              <a:gd name="connsiteX20" fmla="*/ 417189 w 12191997"/>
              <a:gd name="connsiteY20" fmla="*/ 6550172 h 6858002"/>
              <a:gd name="connsiteX21" fmla="*/ 417190 w 12191997"/>
              <a:gd name="connsiteY21" fmla="*/ 6550173 h 6858002"/>
              <a:gd name="connsiteX22" fmla="*/ 419099 w 12191997"/>
              <a:gd name="connsiteY22" fmla="*/ 6552071 h 6858002"/>
              <a:gd name="connsiteX23" fmla="*/ 419098 w 12191997"/>
              <a:gd name="connsiteY23" fmla="*/ 6552071 h 6858002"/>
              <a:gd name="connsiteX24" fmla="*/ 419098 w 12191997"/>
              <a:gd name="connsiteY24" fmla="*/ 6626781 h 6858002"/>
              <a:gd name="connsiteX25" fmla="*/ 419099 w 12191997"/>
              <a:gd name="connsiteY25" fmla="*/ 6626781 h 6858002"/>
              <a:gd name="connsiteX26" fmla="*/ 419099 w 12191997"/>
              <a:gd name="connsiteY26" fmla="*/ 6552071 h 6858002"/>
              <a:gd name="connsiteX27" fmla="*/ 493259 w 12191997"/>
              <a:gd name="connsiteY27" fmla="*/ 6625821 h 6858002"/>
              <a:gd name="connsiteX28" fmla="*/ 493259 w 12191997"/>
              <a:gd name="connsiteY28" fmla="*/ 6550173 h 6858002"/>
              <a:gd name="connsiteX29" fmla="*/ 419099 w 12191997"/>
              <a:gd name="connsiteY29" fmla="*/ 6550173 h 6858002"/>
              <a:gd name="connsiteX30" fmla="*/ 419099 w 12191997"/>
              <a:gd name="connsiteY30" fmla="*/ 6489534 h 6858002"/>
              <a:gd name="connsiteX31" fmla="*/ 0 w 12191997"/>
              <a:gd name="connsiteY31" fmla="*/ 0 h 6858002"/>
              <a:gd name="connsiteX32" fmla="*/ 12191997 w 12191997"/>
              <a:gd name="connsiteY32" fmla="*/ 0 h 6858002"/>
              <a:gd name="connsiteX33" fmla="*/ 12191997 w 12191997"/>
              <a:gd name="connsiteY33" fmla="*/ 6858002 h 6858002"/>
              <a:gd name="connsiteX34" fmla="*/ 0 w 12191997"/>
              <a:gd name="connsiteY34" fmla="*/ 6858002 h 6858002"/>
              <a:gd name="connsiteX35" fmla="*/ 0 w 12191997"/>
              <a:gd name="connsiteY35" fmla="*/ 0 h 6858002"/>
              <a:gd name="connsiteX0" fmla="*/ 417190 w 12191997"/>
              <a:gd name="connsiteY0" fmla="*/ 6550173 h 6858002"/>
              <a:gd name="connsiteX1" fmla="*/ 419098 w 12191997"/>
              <a:gd name="connsiteY1" fmla="*/ 6550173 h 6858002"/>
              <a:gd name="connsiteX2" fmla="*/ 419098 w 12191997"/>
              <a:gd name="connsiteY2" fmla="*/ 6552070 h 6858002"/>
              <a:gd name="connsiteX3" fmla="*/ 417190 w 12191997"/>
              <a:gd name="connsiteY3" fmla="*/ 6550173 h 6858002"/>
              <a:gd name="connsiteX4" fmla="*/ 522773 w 12191997"/>
              <a:gd name="connsiteY4" fmla="*/ 6489534 h 6858002"/>
              <a:gd name="connsiteX5" fmla="*/ 522773 w 12191997"/>
              <a:gd name="connsiteY5" fmla="*/ 6626228 h 6858002"/>
              <a:gd name="connsiteX6" fmla="*/ 552231 w 12191997"/>
              <a:gd name="connsiteY6" fmla="*/ 6626228 h 6858002"/>
              <a:gd name="connsiteX7" fmla="*/ 552231 w 12191997"/>
              <a:gd name="connsiteY7" fmla="*/ 6544276 h 6858002"/>
              <a:gd name="connsiteX8" fmla="*/ 596420 w 12191997"/>
              <a:gd name="connsiteY8" fmla="*/ 6588218 h 6858002"/>
              <a:gd name="connsiteX9" fmla="*/ 640607 w 12191997"/>
              <a:gd name="connsiteY9" fmla="*/ 6544276 h 6858002"/>
              <a:gd name="connsiteX10" fmla="*/ 640607 w 12191997"/>
              <a:gd name="connsiteY10" fmla="*/ 6626228 h 6858002"/>
              <a:gd name="connsiteX11" fmla="*/ 668233 w 12191997"/>
              <a:gd name="connsiteY11" fmla="*/ 6626228 h 6858002"/>
              <a:gd name="connsiteX12" fmla="*/ 668233 w 12191997"/>
              <a:gd name="connsiteY12" fmla="*/ 6489534 h 6858002"/>
              <a:gd name="connsiteX13" fmla="*/ 653161 w 12191997"/>
              <a:gd name="connsiteY13" fmla="*/ 6489534 h 6858002"/>
              <a:gd name="connsiteX14" fmla="*/ 653160 w 12191997"/>
              <a:gd name="connsiteY14" fmla="*/ 6489534 h 6858002"/>
              <a:gd name="connsiteX15" fmla="*/ 596792 w 12191997"/>
              <a:gd name="connsiteY15" fmla="*/ 6546315 h 6858002"/>
              <a:gd name="connsiteX16" fmla="*/ 539693 w 12191997"/>
              <a:gd name="connsiteY16" fmla="*/ 6489534 h 6858002"/>
              <a:gd name="connsiteX17" fmla="*/ 522773 w 12191997"/>
              <a:gd name="connsiteY17" fmla="*/ 6489534 h 6858002"/>
              <a:gd name="connsiteX18" fmla="*/ 419099 w 12191997"/>
              <a:gd name="connsiteY18" fmla="*/ 6550173 h 6858002"/>
              <a:gd name="connsiteX19" fmla="*/ 419098 w 12191997"/>
              <a:gd name="connsiteY19" fmla="*/ 6550172 h 6858002"/>
              <a:gd name="connsiteX20" fmla="*/ 417189 w 12191997"/>
              <a:gd name="connsiteY20" fmla="*/ 6550172 h 6858002"/>
              <a:gd name="connsiteX21" fmla="*/ 417190 w 12191997"/>
              <a:gd name="connsiteY21" fmla="*/ 6550173 h 6858002"/>
              <a:gd name="connsiteX22" fmla="*/ 419099 w 12191997"/>
              <a:gd name="connsiteY22" fmla="*/ 6552071 h 6858002"/>
              <a:gd name="connsiteX23" fmla="*/ 419098 w 12191997"/>
              <a:gd name="connsiteY23" fmla="*/ 6552071 h 6858002"/>
              <a:gd name="connsiteX24" fmla="*/ 419098 w 12191997"/>
              <a:gd name="connsiteY24" fmla="*/ 6626781 h 6858002"/>
              <a:gd name="connsiteX25" fmla="*/ 419099 w 12191997"/>
              <a:gd name="connsiteY25" fmla="*/ 6626781 h 6858002"/>
              <a:gd name="connsiteX26" fmla="*/ 419099 w 12191997"/>
              <a:gd name="connsiteY26" fmla="*/ 6552071 h 6858002"/>
              <a:gd name="connsiteX27" fmla="*/ 493259 w 12191997"/>
              <a:gd name="connsiteY27" fmla="*/ 6625821 h 6858002"/>
              <a:gd name="connsiteX28" fmla="*/ 493259 w 12191997"/>
              <a:gd name="connsiteY28" fmla="*/ 6550173 h 6858002"/>
              <a:gd name="connsiteX29" fmla="*/ 419099 w 12191997"/>
              <a:gd name="connsiteY29" fmla="*/ 6550173 h 6858002"/>
              <a:gd name="connsiteX30" fmla="*/ 0 w 12191997"/>
              <a:gd name="connsiteY30" fmla="*/ 0 h 6858002"/>
              <a:gd name="connsiteX31" fmla="*/ 12191997 w 12191997"/>
              <a:gd name="connsiteY31" fmla="*/ 0 h 6858002"/>
              <a:gd name="connsiteX32" fmla="*/ 12191997 w 12191997"/>
              <a:gd name="connsiteY32" fmla="*/ 6858002 h 6858002"/>
              <a:gd name="connsiteX33" fmla="*/ 0 w 12191997"/>
              <a:gd name="connsiteY33" fmla="*/ 6858002 h 6858002"/>
              <a:gd name="connsiteX34" fmla="*/ 0 w 12191997"/>
              <a:gd name="connsiteY34" fmla="*/ 0 h 6858002"/>
              <a:gd name="connsiteX0" fmla="*/ 417190 w 12191997"/>
              <a:gd name="connsiteY0" fmla="*/ 6550173 h 6858002"/>
              <a:gd name="connsiteX1" fmla="*/ 419098 w 12191997"/>
              <a:gd name="connsiteY1" fmla="*/ 6550173 h 6858002"/>
              <a:gd name="connsiteX2" fmla="*/ 419098 w 12191997"/>
              <a:gd name="connsiteY2" fmla="*/ 6552070 h 6858002"/>
              <a:gd name="connsiteX3" fmla="*/ 417190 w 12191997"/>
              <a:gd name="connsiteY3" fmla="*/ 6550173 h 6858002"/>
              <a:gd name="connsiteX4" fmla="*/ 522773 w 12191997"/>
              <a:gd name="connsiteY4" fmla="*/ 6489534 h 6858002"/>
              <a:gd name="connsiteX5" fmla="*/ 522773 w 12191997"/>
              <a:gd name="connsiteY5" fmla="*/ 6626228 h 6858002"/>
              <a:gd name="connsiteX6" fmla="*/ 552231 w 12191997"/>
              <a:gd name="connsiteY6" fmla="*/ 6626228 h 6858002"/>
              <a:gd name="connsiteX7" fmla="*/ 552231 w 12191997"/>
              <a:gd name="connsiteY7" fmla="*/ 6544276 h 6858002"/>
              <a:gd name="connsiteX8" fmla="*/ 596420 w 12191997"/>
              <a:gd name="connsiteY8" fmla="*/ 6588218 h 6858002"/>
              <a:gd name="connsiteX9" fmla="*/ 640607 w 12191997"/>
              <a:gd name="connsiteY9" fmla="*/ 6544276 h 6858002"/>
              <a:gd name="connsiteX10" fmla="*/ 640607 w 12191997"/>
              <a:gd name="connsiteY10" fmla="*/ 6626228 h 6858002"/>
              <a:gd name="connsiteX11" fmla="*/ 668233 w 12191997"/>
              <a:gd name="connsiteY11" fmla="*/ 6626228 h 6858002"/>
              <a:gd name="connsiteX12" fmla="*/ 668233 w 12191997"/>
              <a:gd name="connsiteY12" fmla="*/ 6489534 h 6858002"/>
              <a:gd name="connsiteX13" fmla="*/ 653161 w 12191997"/>
              <a:gd name="connsiteY13" fmla="*/ 6489534 h 6858002"/>
              <a:gd name="connsiteX14" fmla="*/ 653160 w 12191997"/>
              <a:gd name="connsiteY14" fmla="*/ 6489534 h 6858002"/>
              <a:gd name="connsiteX15" fmla="*/ 596792 w 12191997"/>
              <a:gd name="connsiteY15" fmla="*/ 6546315 h 6858002"/>
              <a:gd name="connsiteX16" fmla="*/ 539693 w 12191997"/>
              <a:gd name="connsiteY16" fmla="*/ 6489534 h 6858002"/>
              <a:gd name="connsiteX17" fmla="*/ 522773 w 12191997"/>
              <a:gd name="connsiteY17" fmla="*/ 6489534 h 6858002"/>
              <a:gd name="connsiteX18" fmla="*/ 419099 w 12191997"/>
              <a:gd name="connsiteY18" fmla="*/ 6550173 h 6858002"/>
              <a:gd name="connsiteX19" fmla="*/ 419098 w 12191997"/>
              <a:gd name="connsiteY19" fmla="*/ 6550172 h 6858002"/>
              <a:gd name="connsiteX20" fmla="*/ 417189 w 12191997"/>
              <a:gd name="connsiteY20" fmla="*/ 6550172 h 6858002"/>
              <a:gd name="connsiteX21" fmla="*/ 417190 w 12191997"/>
              <a:gd name="connsiteY21" fmla="*/ 6550173 h 6858002"/>
              <a:gd name="connsiteX22" fmla="*/ 419099 w 12191997"/>
              <a:gd name="connsiteY22" fmla="*/ 6552071 h 6858002"/>
              <a:gd name="connsiteX23" fmla="*/ 419098 w 12191997"/>
              <a:gd name="connsiteY23" fmla="*/ 6552071 h 6858002"/>
              <a:gd name="connsiteX24" fmla="*/ 419098 w 12191997"/>
              <a:gd name="connsiteY24" fmla="*/ 6626781 h 6858002"/>
              <a:gd name="connsiteX25" fmla="*/ 419099 w 12191997"/>
              <a:gd name="connsiteY25" fmla="*/ 6552071 h 6858002"/>
              <a:gd name="connsiteX26" fmla="*/ 493259 w 12191997"/>
              <a:gd name="connsiteY26" fmla="*/ 6625821 h 6858002"/>
              <a:gd name="connsiteX27" fmla="*/ 493259 w 12191997"/>
              <a:gd name="connsiteY27" fmla="*/ 6550173 h 6858002"/>
              <a:gd name="connsiteX28" fmla="*/ 419099 w 12191997"/>
              <a:gd name="connsiteY28" fmla="*/ 6550173 h 6858002"/>
              <a:gd name="connsiteX29" fmla="*/ 0 w 12191997"/>
              <a:gd name="connsiteY29" fmla="*/ 0 h 6858002"/>
              <a:gd name="connsiteX30" fmla="*/ 12191997 w 12191997"/>
              <a:gd name="connsiteY30" fmla="*/ 0 h 6858002"/>
              <a:gd name="connsiteX31" fmla="*/ 12191997 w 12191997"/>
              <a:gd name="connsiteY31" fmla="*/ 6858002 h 6858002"/>
              <a:gd name="connsiteX32" fmla="*/ 0 w 12191997"/>
              <a:gd name="connsiteY32" fmla="*/ 6858002 h 6858002"/>
              <a:gd name="connsiteX33" fmla="*/ 0 w 12191997"/>
              <a:gd name="connsiteY33" fmla="*/ 0 h 6858002"/>
              <a:gd name="connsiteX0" fmla="*/ 417190 w 12191997"/>
              <a:gd name="connsiteY0" fmla="*/ 6550173 h 6858002"/>
              <a:gd name="connsiteX1" fmla="*/ 419098 w 12191997"/>
              <a:gd name="connsiteY1" fmla="*/ 6550173 h 6858002"/>
              <a:gd name="connsiteX2" fmla="*/ 419098 w 12191997"/>
              <a:gd name="connsiteY2" fmla="*/ 6552070 h 6858002"/>
              <a:gd name="connsiteX3" fmla="*/ 417190 w 12191997"/>
              <a:gd name="connsiteY3" fmla="*/ 6550173 h 6858002"/>
              <a:gd name="connsiteX4" fmla="*/ 522773 w 12191997"/>
              <a:gd name="connsiteY4" fmla="*/ 6489534 h 6858002"/>
              <a:gd name="connsiteX5" fmla="*/ 522773 w 12191997"/>
              <a:gd name="connsiteY5" fmla="*/ 6626228 h 6858002"/>
              <a:gd name="connsiteX6" fmla="*/ 552231 w 12191997"/>
              <a:gd name="connsiteY6" fmla="*/ 6626228 h 6858002"/>
              <a:gd name="connsiteX7" fmla="*/ 552231 w 12191997"/>
              <a:gd name="connsiteY7" fmla="*/ 6544276 h 6858002"/>
              <a:gd name="connsiteX8" fmla="*/ 596420 w 12191997"/>
              <a:gd name="connsiteY8" fmla="*/ 6588218 h 6858002"/>
              <a:gd name="connsiteX9" fmla="*/ 640607 w 12191997"/>
              <a:gd name="connsiteY9" fmla="*/ 6544276 h 6858002"/>
              <a:gd name="connsiteX10" fmla="*/ 640607 w 12191997"/>
              <a:gd name="connsiteY10" fmla="*/ 6626228 h 6858002"/>
              <a:gd name="connsiteX11" fmla="*/ 668233 w 12191997"/>
              <a:gd name="connsiteY11" fmla="*/ 6626228 h 6858002"/>
              <a:gd name="connsiteX12" fmla="*/ 668233 w 12191997"/>
              <a:gd name="connsiteY12" fmla="*/ 6489534 h 6858002"/>
              <a:gd name="connsiteX13" fmla="*/ 653161 w 12191997"/>
              <a:gd name="connsiteY13" fmla="*/ 6489534 h 6858002"/>
              <a:gd name="connsiteX14" fmla="*/ 653160 w 12191997"/>
              <a:gd name="connsiteY14" fmla="*/ 6489534 h 6858002"/>
              <a:gd name="connsiteX15" fmla="*/ 596792 w 12191997"/>
              <a:gd name="connsiteY15" fmla="*/ 6546315 h 6858002"/>
              <a:gd name="connsiteX16" fmla="*/ 539693 w 12191997"/>
              <a:gd name="connsiteY16" fmla="*/ 6489534 h 6858002"/>
              <a:gd name="connsiteX17" fmla="*/ 522773 w 12191997"/>
              <a:gd name="connsiteY17" fmla="*/ 6489534 h 6858002"/>
              <a:gd name="connsiteX18" fmla="*/ 419099 w 12191997"/>
              <a:gd name="connsiteY18" fmla="*/ 6550173 h 6858002"/>
              <a:gd name="connsiteX19" fmla="*/ 419098 w 12191997"/>
              <a:gd name="connsiteY19" fmla="*/ 6550172 h 6858002"/>
              <a:gd name="connsiteX20" fmla="*/ 417189 w 12191997"/>
              <a:gd name="connsiteY20" fmla="*/ 6550172 h 6858002"/>
              <a:gd name="connsiteX21" fmla="*/ 417190 w 12191997"/>
              <a:gd name="connsiteY21" fmla="*/ 6550173 h 6858002"/>
              <a:gd name="connsiteX22" fmla="*/ 419099 w 12191997"/>
              <a:gd name="connsiteY22" fmla="*/ 6552071 h 6858002"/>
              <a:gd name="connsiteX23" fmla="*/ 419098 w 12191997"/>
              <a:gd name="connsiteY23" fmla="*/ 6552071 h 6858002"/>
              <a:gd name="connsiteX24" fmla="*/ 419099 w 12191997"/>
              <a:gd name="connsiteY24" fmla="*/ 6552071 h 6858002"/>
              <a:gd name="connsiteX25" fmla="*/ 493259 w 12191997"/>
              <a:gd name="connsiteY25" fmla="*/ 6625821 h 6858002"/>
              <a:gd name="connsiteX26" fmla="*/ 493259 w 12191997"/>
              <a:gd name="connsiteY26" fmla="*/ 6550173 h 6858002"/>
              <a:gd name="connsiteX27" fmla="*/ 419099 w 12191997"/>
              <a:gd name="connsiteY27" fmla="*/ 6550173 h 6858002"/>
              <a:gd name="connsiteX28" fmla="*/ 0 w 12191997"/>
              <a:gd name="connsiteY28" fmla="*/ 0 h 6858002"/>
              <a:gd name="connsiteX29" fmla="*/ 12191997 w 12191997"/>
              <a:gd name="connsiteY29" fmla="*/ 0 h 6858002"/>
              <a:gd name="connsiteX30" fmla="*/ 12191997 w 12191997"/>
              <a:gd name="connsiteY30" fmla="*/ 6858002 h 6858002"/>
              <a:gd name="connsiteX31" fmla="*/ 0 w 12191997"/>
              <a:gd name="connsiteY31" fmla="*/ 6858002 h 6858002"/>
              <a:gd name="connsiteX32" fmla="*/ 0 w 12191997"/>
              <a:gd name="connsiteY32" fmla="*/ 0 h 6858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2191997" h="6858002">
                <a:moveTo>
                  <a:pt x="417190" y="6550173"/>
                </a:moveTo>
                <a:lnTo>
                  <a:pt x="419098" y="6550173"/>
                </a:lnTo>
                <a:lnTo>
                  <a:pt x="419098" y="6552070"/>
                </a:lnTo>
                <a:lnTo>
                  <a:pt x="417190" y="6550173"/>
                </a:lnTo>
                <a:close/>
                <a:moveTo>
                  <a:pt x="522773" y="6489534"/>
                </a:moveTo>
                <a:lnTo>
                  <a:pt x="522773" y="6626228"/>
                </a:lnTo>
                <a:lnTo>
                  <a:pt x="552231" y="6626228"/>
                </a:lnTo>
                <a:lnTo>
                  <a:pt x="552231" y="6544276"/>
                </a:lnTo>
                <a:lnTo>
                  <a:pt x="596420" y="6588218"/>
                </a:lnTo>
                <a:lnTo>
                  <a:pt x="640607" y="6544276"/>
                </a:lnTo>
                <a:lnTo>
                  <a:pt x="640607" y="6626228"/>
                </a:lnTo>
                <a:lnTo>
                  <a:pt x="668233" y="6626228"/>
                </a:lnTo>
                <a:lnTo>
                  <a:pt x="668233" y="6489534"/>
                </a:lnTo>
                <a:lnTo>
                  <a:pt x="653161" y="6489534"/>
                </a:lnTo>
                <a:lnTo>
                  <a:pt x="653160" y="6489534"/>
                </a:lnTo>
                <a:lnTo>
                  <a:pt x="596792" y="6546315"/>
                </a:lnTo>
                <a:lnTo>
                  <a:pt x="539693" y="6489534"/>
                </a:lnTo>
                <a:lnTo>
                  <a:pt x="522773" y="6489534"/>
                </a:lnTo>
                <a:close/>
                <a:moveTo>
                  <a:pt x="419099" y="6550173"/>
                </a:moveTo>
                <a:lnTo>
                  <a:pt x="419098" y="6550172"/>
                </a:lnTo>
                <a:lnTo>
                  <a:pt x="417189" y="6550172"/>
                </a:lnTo>
                <a:lnTo>
                  <a:pt x="417190" y="6550173"/>
                </a:lnTo>
                <a:lnTo>
                  <a:pt x="419099" y="6552071"/>
                </a:lnTo>
                <a:lnTo>
                  <a:pt x="419098" y="6552071"/>
                </a:lnTo>
                <a:lnTo>
                  <a:pt x="419099" y="6552071"/>
                </a:lnTo>
                <a:lnTo>
                  <a:pt x="493259" y="6625821"/>
                </a:lnTo>
                <a:lnTo>
                  <a:pt x="493259" y="6550173"/>
                </a:lnTo>
                <a:lnTo>
                  <a:pt x="419099" y="6550173"/>
                </a:lnTo>
                <a:close/>
                <a:moveTo>
                  <a:pt x="0" y="0"/>
                </a:moveTo>
                <a:lnTo>
                  <a:pt x="12191997" y="0"/>
                </a:lnTo>
                <a:lnTo>
                  <a:pt x="12191997" y="6858002"/>
                </a:lnTo>
                <a:lnTo>
                  <a:pt x="0" y="6858002"/>
                </a:lnTo>
                <a:lnTo>
                  <a:pt x="0" y="0"/>
                </a:lnTo>
                <a:close/>
              </a:path>
            </a:pathLst>
          </a:custGeom>
          <a:solidFill>
            <a:schemeClr val="accent5"/>
          </a:solidFill>
        </p:spPr>
        <p:txBody>
          <a:bodyPr wrap="square">
            <a:noAutofit/>
          </a:bodyPr>
          <a:lstStyle>
            <a:lvl1pPr marL="0" indent="0" algn="ctr">
              <a:buNone/>
              <a:defRPr sz="1200" b="0">
                <a:solidFill>
                  <a:schemeClr val="bg1"/>
                </a:solidFill>
                <a:latin typeface="+mj-lt"/>
              </a:defRPr>
            </a:lvl1pPr>
          </a:lstStyle>
          <a:p>
            <a:r>
              <a:rPr lang="en-US"/>
              <a:t>Full Bleed Image Option – click on image icon to insert</a:t>
            </a:r>
          </a:p>
        </p:txBody>
      </p:sp>
      <p:sp>
        <p:nvSpPr>
          <p:cNvPr id="8" name="TextBox 7">
            <a:extLst>
              <a:ext uri="{FF2B5EF4-FFF2-40B4-BE49-F238E27FC236}">
                <a16:creationId xmlns:a16="http://schemas.microsoft.com/office/drawing/2014/main" id="{D4CD5E66-0DCE-50E7-3440-C11A15865C46}"/>
              </a:ext>
            </a:extLst>
          </p:cNvPr>
          <p:cNvSpPr txBox="1"/>
          <p:nvPr userDrawn="1"/>
        </p:nvSpPr>
        <p:spPr>
          <a:xfrm>
            <a:off x="7796752" y="6324600"/>
            <a:ext cx="4058444" cy="304795"/>
          </a:xfrm>
          <a:prstGeom prst="rect">
            <a:avLst/>
          </a:prstGeom>
          <a:noFill/>
        </p:spPr>
        <p:txBody>
          <a:bodyPr wrap="square" bIns="0" rtlCol="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3BDFC0B-CFB1-084E-A5D1-50420B235E65}" type="slidenum">
              <a:rPr kumimoji="0" lang="en-US" sz="700" b="0" i="0" u="none" strike="noStrike" kern="1200" cap="none" spc="0" normalizeH="0" baseline="0" noProof="0" smtClean="0">
                <a:ln>
                  <a:noFill/>
                </a:ln>
                <a:solidFill>
                  <a:schemeClr val="bg2">
                    <a:lumMod val="75000"/>
                  </a:schemeClr>
                </a:solidFill>
                <a:effectLst/>
                <a:uLnTx/>
                <a:uFillTx/>
                <a:latin typeface="+mj-lt"/>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sz="700" b="0" i="0">
              <a:solidFill>
                <a:schemeClr val="bg2">
                  <a:lumMod val="75000"/>
                </a:schemeClr>
              </a:solidFill>
              <a:latin typeface="+mj-lt"/>
              <a:ea typeface="+mn-ea"/>
              <a:cs typeface="+mn-cs"/>
            </a:endParaRPr>
          </a:p>
        </p:txBody>
      </p:sp>
      <p:sp>
        <p:nvSpPr>
          <p:cNvPr id="3" name="Title 1">
            <a:extLst>
              <a:ext uri="{FF2B5EF4-FFF2-40B4-BE49-F238E27FC236}">
                <a16:creationId xmlns:a16="http://schemas.microsoft.com/office/drawing/2014/main" id="{02203853-1382-5769-6B65-A05E73FDEE94}"/>
              </a:ext>
            </a:extLst>
          </p:cNvPr>
          <p:cNvSpPr>
            <a:spLocks noGrp="1"/>
          </p:cNvSpPr>
          <p:nvPr>
            <p:ph type="title" hasCustomPrompt="1"/>
          </p:nvPr>
        </p:nvSpPr>
        <p:spPr>
          <a:xfrm>
            <a:off x="1241244" y="1993899"/>
            <a:ext cx="9709484" cy="2870201"/>
          </a:xfrm>
        </p:spPr>
        <p:txBody>
          <a:bodyPr vert="horz" lIns="91440" tIns="45720" rIns="91440" bIns="45720" rtlCol="0" anchor="ctr">
            <a:noAutofit/>
          </a:bodyPr>
          <a:lstStyle>
            <a:lvl1pPr algn="ctr">
              <a:defRPr lang="en-US" sz="4400" b="0" cap="none" spc="-50" baseline="0" dirty="0">
                <a:solidFill>
                  <a:schemeClr val="bg1"/>
                </a:solidFill>
                <a:latin typeface="+mj-lt"/>
              </a:defRPr>
            </a:lvl1pPr>
          </a:lstStyle>
          <a:p>
            <a:pPr lvl="0">
              <a:lnSpc>
                <a:spcPct val="85000"/>
              </a:lnSpc>
            </a:pPr>
            <a:r>
              <a:rPr lang="en-US"/>
              <a:t>Statement copy goes here</a:t>
            </a:r>
          </a:p>
        </p:txBody>
      </p:sp>
      <p:grpSp>
        <p:nvGrpSpPr>
          <p:cNvPr id="4" name="Graphic 9">
            <a:extLst>
              <a:ext uri="{FF2B5EF4-FFF2-40B4-BE49-F238E27FC236}">
                <a16:creationId xmlns:a16="http://schemas.microsoft.com/office/drawing/2014/main" id="{3A3D2473-9F36-446A-A8FA-6492495329A8}"/>
              </a:ext>
            </a:extLst>
          </p:cNvPr>
          <p:cNvGrpSpPr>
            <a:grpSpLocks noChangeAspect="1"/>
          </p:cNvGrpSpPr>
          <p:nvPr userDrawn="1"/>
        </p:nvGrpSpPr>
        <p:grpSpPr>
          <a:xfrm>
            <a:off x="417511" y="6489055"/>
            <a:ext cx="249135" cy="136828"/>
            <a:chOff x="11484948" y="313034"/>
            <a:chExt cx="401233" cy="220363"/>
          </a:xfrm>
          <a:solidFill>
            <a:schemeClr val="accent5"/>
          </a:solidFill>
        </p:grpSpPr>
        <p:sp>
          <p:nvSpPr>
            <p:cNvPr id="5" name="Freeform 4">
              <a:extLst>
                <a:ext uri="{FF2B5EF4-FFF2-40B4-BE49-F238E27FC236}">
                  <a16:creationId xmlns:a16="http://schemas.microsoft.com/office/drawing/2014/main" id="{F487E1F0-8E2B-D294-12AE-66769DB84F75}"/>
                </a:ext>
              </a:extLst>
            </p:cNvPr>
            <p:cNvSpPr/>
            <p:nvPr userDrawn="1"/>
          </p:nvSpPr>
          <p:spPr>
            <a:xfrm>
              <a:off x="11652424" y="313034"/>
              <a:ext cx="233757" cy="220363"/>
            </a:xfrm>
            <a:custGeom>
              <a:avLst/>
              <a:gdLst>
                <a:gd name="connsiteX0" fmla="*/ 233757 w 233757"/>
                <a:gd name="connsiteY0" fmla="*/ 220363 h 220363"/>
                <a:gd name="connsiteX1" fmla="*/ 187006 w 233757"/>
                <a:gd name="connsiteY1" fmla="*/ 220363 h 220363"/>
                <a:gd name="connsiteX2" fmla="*/ 187006 w 233757"/>
                <a:gd name="connsiteY2" fmla="*/ 89448 h 220363"/>
                <a:gd name="connsiteX3" fmla="*/ 116879 w 233757"/>
                <a:gd name="connsiteY3" fmla="*/ 159645 h 220363"/>
                <a:gd name="connsiteX4" fmla="*/ 46751 w 233757"/>
                <a:gd name="connsiteY4" fmla="*/ 89448 h 220363"/>
                <a:gd name="connsiteX5" fmla="*/ 46751 w 233757"/>
                <a:gd name="connsiteY5" fmla="*/ 220363 h 220363"/>
                <a:gd name="connsiteX6" fmla="*/ 0 w 233757"/>
                <a:gd name="connsiteY6" fmla="*/ 220363 h 220363"/>
                <a:gd name="connsiteX7" fmla="*/ 0 w 233757"/>
                <a:gd name="connsiteY7" fmla="*/ 0 h 220363"/>
                <a:gd name="connsiteX8" fmla="*/ 24855 w 233757"/>
                <a:gd name="connsiteY8" fmla="*/ 0 h 220363"/>
                <a:gd name="connsiteX9" fmla="*/ 117470 w 233757"/>
                <a:gd name="connsiteY9" fmla="*/ 92706 h 220363"/>
                <a:gd name="connsiteX10" fmla="*/ 208902 w 233757"/>
                <a:gd name="connsiteY10" fmla="*/ 0 h 220363"/>
                <a:gd name="connsiteX11" fmla="*/ 233757 w 233757"/>
                <a:gd name="connsiteY11" fmla="*/ 0 h 220363"/>
                <a:gd name="connsiteX12" fmla="*/ 233757 w 233757"/>
                <a:gd name="connsiteY12" fmla="*/ 220363 h 22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757" h="220363">
                  <a:moveTo>
                    <a:pt x="233757" y="220363"/>
                  </a:moveTo>
                  <a:lnTo>
                    <a:pt x="187006" y="220363"/>
                  </a:lnTo>
                  <a:lnTo>
                    <a:pt x="187006" y="89448"/>
                  </a:lnTo>
                  <a:lnTo>
                    <a:pt x="116879" y="159645"/>
                  </a:lnTo>
                  <a:lnTo>
                    <a:pt x="46751" y="89448"/>
                  </a:lnTo>
                  <a:lnTo>
                    <a:pt x="46751" y="220363"/>
                  </a:lnTo>
                  <a:lnTo>
                    <a:pt x="0" y="220363"/>
                  </a:lnTo>
                  <a:lnTo>
                    <a:pt x="0" y="0"/>
                  </a:lnTo>
                  <a:lnTo>
                    <a:pt x="24855" y="0"/>
                  </a:lnTo>
                  <a:lnTo>
                    <a:pt x="117470" y="92706"/>
                  </a:lnTo>
                  <a:lnTo>
                    <a:pt x="208902" y="0"/>
                  </a:lnTo>
                  <a:lnTo>
                    <a:pt x="233757" y="0"/>
                  </a:lnTo>
                  <a:lnTo>
                    <a:pt x="233757" y="220363"/>
                  </a:lnTo>
                  <a:close/>
                </a:path>
              </a:pathLst>
            </a:custGeom>
            <a:solidFill>
              <a:schemeClr val="bg1"/>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6" name="Freeform 5">
              <a:extLst>
                <a:ext uri="{FF2B5EF4-FFF2-40B4-BE49-F238E27FC236}">
                  <a16:creationId xmlns:a16="http://schemas.microsoft.com/office/drawing/2014/main" id="{6BDBB09E-07B6-82BF-25AF-60D2713980F8}"/>
                </a:ext>
              </a:extLst>
            </p:cNvPr>
            <p:cNvSpPr/>
            <p:nvPr userDrawn="1"/>
          </p:nvSpPr>
          <p:spPr>
            <a:xfrm>
              <a:off x="11484948" y="412552"/>
              <a:ext cx="120725" cy="120844"/>
            </a:xfrm>
            <a:custGeom>
              <a:avLst/>
              <a:gdLst>
                <a:gd name="connsiteX0" fmla="*/ 120725 w 120725"/>
                <a:gd name="connsiteY0" fmla="*/ 0 h 120844"/>
                <a:gd name="connsiteX1" fmla="*/ 0 w 120725"/>
                <a:gd name="connsiteY1" fmla="*/ 0 h 120844"/>
                <a:gd name="connsiteX2" fmla="*/ 120725 w 120725"/>
                <a:gd name="connsiteY2" fmla="*/ 120844 h 120844"/>
                <a:gd name="connsiteX3" fmla="*/ 120725 w 120725"/>
                <a:gd name="connsiteY3" fmla="*/ 0 h 120844"/>
              </a:gdLst>
              <a:ahLst/>
              <a:cxnLst>
                <a:cxn ang="0">
                  <a:pos x="connsiteX0" y="connsiteY0"/>
                </a:cxn>
                <a:cxn ang="0">
                  <a:pos x="connsiteX1" y="connsiteY1"/>
                </a:cxn>
                <a:cxn ang="0">
                  <a:pos x="connsiteX2" y="connsiteY2"/>
                </a:cxn>
                <a:cxn ang="0">
                  <a:pos x="connsiteX3" y="connsiteY3"/>
                </a:cxn>
              </a:cxnLst>
              <a:rect l="l" t="t" r="r" b="b"/>
              <a:pathLst>
                <a:path w="120725" h="120844">
                  <a:moveTo>
                    <a:pt x="120725" y="0"/>
                  </a:moveTo>
                  <a:lnTo>
                    <a:pt x="0" y="0"/>
                  </a:lnTo>
                  <a:lnTo>
                    <a:pt x="120725" y="120844"/>
                  </a:lnTo>
                  <a:lnTo>
                    <a:pt x="120725" y="0"/>
                  </a:lnTo>
                  <a:close/>
                </a:path>
              </a:pathLst>
            </a:custGeom>
            <a:solidFill>
              <a:srgbClr val="F23A1E"/>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grpSp>
    </p:spTree>
    <p:extLst>
      <p:ext uri="{BB962C8B-B14F-4D97-AF65-F5344CB8AC3E}">
        <p14:creationId xmlns:p14="http://schemas.microsoft.com/office/powerpoint/2010/main" val="14814232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Statement Slide - Light Image">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E997BFE9-BEE7-F58E-6537-4215445B6864}"/>
              </a:ext>
            </a:extLst>
          </p:cNvPr>
          <p:cNvSpPr>
            <a:spLocks noGrp="1"/>
          </p:cNvSpPr>
          <p:nvPr>
            <p:ph type="title"/>
          </p:nvPr>
        </p:nvSpPr>
        <p:spPr>
          <a:xfrm>
            <a:off x="1241258" y="1993899"/>
            <a:ext cx="9709484" cy="2870201"/>
          </a:xfrm>
        </p:spPr>
        <p:txBody>
          <a:bodyPr vert="horz" lIns="91440" tIns="45720" rIns="91440" bIns="45720" rtlCol="0" anchor="ctr">
            <a:noAutofit/>
          </a:bodyPr>
          <a:lstStyle>
            <a:lvl1pPr algn="ctr">
              <a:defRPr lang="en-US" sz="4400" b="0" cap="none" spc="-50" baseline="0" dirty="0">
                <a:solidFill>
                  <a:schemeClr val="tx1"/>
                </a:solidFill>
                <a:latin typeface="+mj-lt"/>
              </a:defRPr>
            </a:lvl1pPr>
          </a:lstStyle>
          <a:p>
            <a:pPr lvl="0">
              <a:lnSpc>
                <a:spcPct val="85000"/>
              </a:lnSpc>
            </a:pPr>
            <a:r>
              <a:rPr lang="en-US"/>
              <a:t>Click to edit Master title style</a:t>
            </a:r>
          </a:p>
        </p:txBody>
      </p:sp>
    </p:spTree>
    <p:extLst>
      <p:ext uri="{BB962C8B-B14F-4D97-AF65-F5344CB8AC3E}">
        <p14:creationId xmlns:p14="http://schemas.microsoft.com/office/powerpoint/2010/main" val="277321747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amp; Body + EYEBROW">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CAED8851-434C-7140-AC33-777AE06AE0D4}"/>
              </a:ext>
            </a:extLst>
          </p:cNvPr>
          <p:cNvSpPr>
            <a:spLocks noGrp="1"/>
          </p:cNvSpPr>
          <p:nvPr>
            <p:ph sz="quarter" idx="11"/>
          </p:nvPr>
        </p:nvSpPr>
        <p:spPr>
          <a:xfrm>
            <a:off x="533400" y="1463040"/>
            <a:ext cx="11125200" cy="4553712"/>
          </a:xfrm>
        </p:spPr>
        <p:txBody>
          <a:bodyPr/>
          <a:lstStyle>
            <a:lvl1pPr marL="0" indent="0">
              <a:lnSpc>
                <a:spcPct val="100000"/>
              </a:lnSpc>
              <a:spcBef>
                <a:spcPts val="0"/>
              </a:spcBef>
              <a:spcAft>
                <a:spcPts val="600"/>
              </a:spcAft>
              <a:buFont typeface="Arial" panose="020B0604020202020204" pitchFamily="34" charset="0"/>
              <a:buNone/>
              <a:defRPr/>
            </a:lvl1pPr>
            <a:lvl2pPr marL="274320" indent="-182880">
              <a:lnSpc>
                <a:spcPct val="100000"/>
              </a:lnSpc>
              <a:spcBef>
                <a:spcPts val="0"/>
              </a:spcBef>
              <a:spcAft>
                <a:spcPts val="600"/>
              </a:spcAft>
              <a:buFont typeface="Arial" panose="020B0604020202020204" pitchFamily="34" charset="0"/>
              <a:buChar char="•"/>
              <a:defRPr/>
            </a:lvl2pPr>
            <a:lvl3pPr marL="640080" indent="-182880">
              <a:lnSpc>
                <a:spcPct val="100000"/>
              </a:lnSpc>
              <a:spcBef>
                <a:spcPts val="0"/>
              </a:spcBef>
              <a:spcAft>
                <a:spcPts val="600"/>
              </a:spcAft>
              <a:buFont typeface="Arial" panose="020B0604020202020204" pitchFamily="34" charset="0"/>
              <a:buChar char="•"/>
              <a:defRPr/>
            </a:lvl3pPr>
            <a:lvl4pPr marL="1005840" indent="-182880">
              <a:lnSpc>
                <a:spcPct val="100000"/>
              </a:lnSpc>
              <a:spcBef>
                <a:spcPts val="0"/>
              </a:spcBef>
              <a:spcAft>
                <a:spcPts val="600"/>
              </a:spcAft>
              <a:buFont typeface="Arial" panose="020B0604020202020204" pitchFamily="34" charset="0"/>
              <a:buChar char="•"/>
              <a:defRPr/>
            </a:lvl4pPr>
            <a:lvl5pPr marL="1371600" indent="-182880">
              <a:lnSpc>
                <a:spcPct val="100000"/>
              </a:lnSpc>
              <a:spcBef>
                <a:spcPts val="0"/>
              </a:spcBef>
              <a:spcAft>
                <a:spcPts val="600"/>
              </a:spcAft>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714349C2-A08F-D94E-A8AB-6A65937CBC58}"/>
              </a:ext>
            </a:extLst>
          </p:cNvPr>
          <p:cNvSpPr>
            <a:spLocks noGrp="1"/>
          </p:cNvSpPr>
          <p:nvPr>
            <p:ph type="title"/>
          </p:nvPr>
        </p:nvSpPr>
        <p:spPr>
          <a:xfrm>
            <a:off x="533400" y="731520"/>
            <a:ext cx="11128248" cy="612648"/>
          </a:xfrm>
        </p:spPr>
        <p:txBody>
          <a:bodyPr anchor="t">
            <a:noAutofit/>
          </a:bodyPr>
          <a:lstStyle>
            <a:lvl1pPr>
              <a:defRPr spc="-50" baseline="0"/>
            </a:lvl1pPr>
          </a:lstStyle>
          <a:p>
            <a:r>
              <a:rPr lang="en-US"/>
              <a:t>Click to edit Master title style</a:t>
            </a:r>
          </a:p>
        </p:txBody>
      </p:sp>
      <p:sp>
        <p:nvSpPr>
          <p:cNvPr id="4" name="Text Placeholder 3">
            <a:extLst>
              <a:ext uri="{FF2B5EF4-FFF2-40B4-BE49-F238E27FC236}">
                <a16:creationId xmlns:a16="http://schemas.microsoft.com/office/drawing/2014/main" id="{2C8B710C-98AB-E15B-A05A-468E5AF541FD}"/>
              </a:ext>
            </a:extLst>
          </p:cNvPr>
          <p:cNvSpPr>
            <a:spLocks noGrp="1"/>
          </p:cNvSpPr>
          <p:nvPr>
            <p:ph type="body" sz="quarter" idx="12" hasCustomPrompt="1"/>
          </p:nvPr>
        </p:nvSpPr>
        <p:spPr>
          <a:xfrm>
            <a:off x="533400" y="502920"/>
            <a:ext cx="11128248" cy="182880"/>
          </a:xfrm>
        </p:spPr>
        <p:txBody>
          <a:bodyPr/>
          <a:lstStyle>
            <a:lvl1pPr marL="0" indent="0">
              <a:buNone/>
              <a:defRPr sz="800" b="1" cap="all" spc="200" baseline="0">
                <a:solidFill>
                  <a:schemeClr val="tx2"/>
                </a:solidFill>
              </a:defRPr>
            </a:lvl1pPr>
            <a:lvl2pPr marL="457200" indent="0">
              <a:buNone/>
              <a:defRPr sz="800" b="1" cap="all" baseline="0"/>
            </a:lvl2pPr>
            <a:lvl3pPr marL="914400" indent="0">
              <a:buNone/>
              <a:defRPr sz="800" b="1" cap="all" baseline="0"/>
            </a:lvl3pPr>
            <a:lvl4pPr marL="1371600" indent="0">
              <a:buNone/>
              <a:defRPr sz="800" b="1" cap="all" baseline="0"/>
            </a:lvl4pPr>
            <a:lvl5pPr marL="1828800" indent="0">
              <a:buNone/>
              <a:defRPr sz="800" b="1" cap="all" baseline="0"/>
            </a:lvl5pPr>
          </a:lstStyle>
          <a:p>
            <a:pPr lvl="0"/>
            <a:r>
              <a:rPr lang="en-US"/>
              <a:t>SECTION NAME</a:t>
            </a:r>
          </a:p>
        </p:txBody>
      </p:sp>
    </p:spTree>
    <p:extLst>
      <p:ext uri="{BB962C8B-B14F-4D97-AF65-F5344CB8AC3E}">
        <p14:creationId xmlns:p14="http://schemas.microsoft.com/office/powerpoint/2010/main" val="159081603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amp; Body + EYEBROW + LIN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4349C2-A08F-D94E-A8AB-6A65937CBC58}"/>
              </a:ext>
            </a:extLst>
          </p:cNvPr>
          <p:cNvSpPr>
            <a:spLocks noGrp="1"/>
          </p:cNvSpPr>
          <p:nvPr>
            <p:ph type="title"/>
          </p:nvPr>
        </p:nvSpPr>
        <p:spPr>
          <a:xfrm>
            <a:off x="533400" y="914400"/>
            <a:ext cx="11128248" cy="612648"/>
          </a:xfrm>
        </p:spPr>
        <p:txBody>
          <a:bodyPr anchor="t">
            <a:noAutofit/>
          </a:bodyPr>
          <a:lstStyle>
            <a:lvl1pPr>
              <a:defRPr spc="-50" baseline="0"/>
            </a:lvl1pPr>
          </a:lstStyle>
          <a:p>
            <a:r>
              <a:rPr lang="en-US"/>
              <a:t>Click to edit Master title style</a:t>
            </a:r>
          </a:p>
        </p:txBody>
      </p:sp>
      <p:sp>
        <p:nvSpPr>
          <p:cNvPr id="4" name="Text Placeholder 3">
            <a:extLst>
              <a:ext uri="{FF2B5EF4-FFF2-40B4-BE49-F238E27FC236}">
                <a16:creationId xmlns:a16="http://schemas.microsoft.com/office/drawing/2014/main" id="{2C8B710C-98AB-E15B-A05A-468E5AF541FD}"/>
              </a:ext>
            </a:extLst>
          </p:cNvPr>
          <p:cNvSpPr>
            <a:spLocks noGrp="1"/>
          </p:cNvSpPr>
          <p:nvPr>
            <p:ph type="body" sz="quarter" idx="12" hasCustomPrompt="1"/>
          </p:nvPr>
        </p:nvSpPr>
        <p:spPr>
          <a:xfrm>
            <a:off x="533400" y="502920"/>
            <a:ext cx="11128248" cy="182880"/>
          </a:xfrm>
        </p:spPr>
        <p:txBody>
          <a:bodyPr/>
          <a:lstStyle>
            <a:lvl1pPr marL="0" indent="0">
              <a:buNone/>
              <a:defRPr sz="800" b="1" cap="all" spc="200" baseline="0">
                <a:solidFill>
                  <a:schemeClr val="tx2"/>
                </a:solidFill>
              </a:defRPr>
            </a:lvl1pPr>
            <a:lvl2pPr marL="457200" indent="0">
              <a:buNone/>
              <a:defRPr sz="800" b="1" cap="all" baseline="0"/>
            </a:lvl2pPr>
            <a:lvl3pPr marL="914400" indent="0">
              <a:buNone/>
              <a:defRPr sz="800" b="1" cap="all" baseline="0"/>
            </a:lvl3pPr>
            <a:lvl4pPr marL="1371600" indent="0">
              <a:buNone/>
              <a:defRPr sz="800" b="1" cap="all" baseline="0"/>
            </a:lvl4pPr>
            <a:lvl5pPr marL="1828800" indent="0">
              <a:buNone/>
              <a:defRPr sz="800" b="1" cap="all" baseline="0"/>
            </a:lvl5pPr>
          </a:lstStyle>
          <a:p>
            <a:pPr lvl="0"/>
            <a:r>
              <a:rPr lang="en-US"/>
              <a:t>SECTION NAME</a:t>
            </a:r>
          </a:p>
        </p:txBody>
      </p:sp>
      <p:cxnSp>
        <p:nvCxnSpPr>
          <p:cNvPr id="6" name="Straight Connector 5">
            <a:extLst>
              <a:ext uri="{FF2B5EF4-FFF2-40B4-BE49-F238E27FC236}">
                <a16:creationId xmlns:a16="http://schemas.microsoft.com/office/drawing/2014/main" id="{A9A652DD-9EB4-EBCC-D99F-7C1BD35129EA}"/>
              </a:ext>
            </a:extLst>
          </p:cNvPr>
          <p:cNvCxnSpPr>
            <a:cxnSpLocks/>
          </p:cNvCxnSpPr>
          <p:nvPr userDrawn="1"/>
        </p:nvCxnSpPr>
        <p:spPr>
          <a:xfrm>
            <a:off x="533400" y="806092"/>
            <a:ext cx="11125200" cy="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sp>
        <p:nvSpPr>
          <p:cNvPr id="3" name="Content Placeholder 4">
            <a:extLst>
              <a:ext uri="{FF2B5EF4-FFF2-40B4-BE49-F238E27FC236}">
                <a16:creationId xmlns:a16="http://schemas.microsoft.com/office/drawing/2014/main" id="{72E01C5B-B994-ECBE-A728-43FA40CF55CE}"/>
              </a:ext>
            </a:extLst>
          </p:cNvPr>
          <p:cNvSpPr>
            <a:spLocks noGrp="1"/>
          </p:cNvSpPr>
          <p:nvPr>
            <p:ph sz="quarter" idx="11"/>
          </p:nvPr>
        </p:nvSpPr>
        <p:spPr>
          <a:xfrm>
            <a:off x="533400" y="1635354"/>
            <a:ext cx="11125200" cy="4381397"/>
          </a:xfrm>
        </p:spPr>
        <p:txBody>
          <a:bodyPr/>
          <a:lstStyle>
            <a:lvl1pPr marL="0" indent="0">
              <a:lnSpc>
                <a:spcPct val="100000"/>
              </a:lnSpc>
              <a:spcBef>
                <a:spcPts val="0"/>
              </a:spcBef>
              <a:spcAft>
                <a:spcPts val="600"/>
              </a:spcAft>
              <a:buFont typeface="Arial" panose="020B0604020202020204" pitchFamily="34" charset="0"/>
              <a:buNone/>
              <a:defRPr/>
            </a:lvl1pPr>
            <a:lvl2pPr marL="274320" indent="-182880">
              <a:lnSpc>
                <a:spcPct val="100000"/>
              </a:lnSpc>
              <a:spcBef>
                <a:spcPts val="0"/>
              </a:spcBef>
              <a:spcAft>
                <a:spcPts val="600"/>
              </a:spcAft>
              <a:buFont typeface="Arial" panose="020B0604020202020204" pitchFamily="34" charset="0"/>
              <a:buChar char="•"/>
              <a:defRPr/>
            </a:lvl2pPr>
            <a:lvl3pPr marL="640080" indent="-182880">
              <a:lnSpc>
                <a:spcPct val="100000"/>
              </a:lnSpc>
              <a:spcBef>
                <a:spcPts val="0"/>
              </a:spcBef>
              <a:spcAft>
                <a:spcPts val="600"/>
              </a:spcAft>
              <a:buFont typeface="Arial" panose="020B0604020202020204" pitchFamily="34" charset="0"/>
              <a:buChar char="•"/>
              <a:defRPr/>
            </a:lvl3pPr>
            <a:lvl4pPr marL="1005840" indent="-182880">
              <a:lnSpc>
                <a:spcPct val="100000"/>
              </a:lnSpc>
              <a:spcBef>
                <a:spcPts val="0"/>
              </a:spcBef>
              <a:spcAft>
                <a:spcPts val="600"/>
              </a:spcAft>
              <a:buFont typeface="Arial" panose="020B0604020202020204" pitchFamily="34" charset="0"/>
              <a:buChar char="•"/>
              <a:defRPr/>
            </a:lvl4pPr>
            <a:lvl5pPr marL="1371600" indent="-182880">
              <a:lnSpc>
                <a:spcPct val="100000"/>
              </a:lnSpc>
              <a:spcBef>
                <a:spcPts val="0"/>
              </a:spcBef>
              <a:spcAft>
                <a:spcPts val="600"/>
              </a:spcAft>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244121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amp; Body">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CAED8851-434C-7140-AC33-777AE06AE0D4}"/>
              </a:ext>
            </a:extLst>
          </p:cNvPr>
          <p:cNvSpPr>
            <a:spLocks noGrp="1"/>
          </p:cNvSpPr>
          <p:nvPr>
            <p:ph sz="quarter" idx="11"/>
          </p:nvPr>
        </p:nvSpPr>
        <p:spPr>
          <a:xfrm>
            <a:off x="533400" y="1219200"/>
            <a:ext cx="11125200" cy="4800599"/>
          </a:xfrm>
        </p:spPr>
        <p:txBody>
          <a:bodyPr/>
          <a:lstStyle>
            <a:lvl1pPr marL="0" indent="0">
              <a:lnSpc>
                <a:spcPct val="100000"/>
              </a:lnSpc>
              <a:spcBef>
                <a:spcPts val="0"/>
              </a:spcBef>
              <a:spcAft>
                <a:spcPts val="600"/>
              </a:spcAft>
              <a:buFont typeface="Arial" panose="020B0604020202020204" pitchFamily="34" charset="0"/>
              <a:buNone/>
              <a:defRPr/>
            </a:lvl1pPr>
            <a:lvl2pPr marL="274320" indent="-182880">
              <a:lnSpc>
                <a:spcPct val="100000"/>
              </a:lnSpc>
              <a:spcBef>
                <a:spcPts val="0"/>
              </a:spcBef>
              <a:spcAft>
                <a:spcPts val="600"/>
              </a:spcAft>
              <a:buFont typeface="Arial" panose="020B0604020202020204" pitchFamily="34" charset="0"/>
              <a:buChar char="•"/>
              <a:defRPr/>
            </a:lvl2pPr>
            <a:lvl3pPr marL="640080" indent="-182880">
              <a:lnSpc>
                <a:spcPct val="100000"/>
              </a:lnSpc>
              <a:spcBef>
                <a:spcPts val="0"/>
              </a:spcBef>
              <a:spcAft>
                <a:spcPts val="600"/>
              </a:spcAft>
              <a:buFont typeface="Arial" panose="020B0604020202020204" pitchFamily="34" charset="0"/>
              <a:buChar char="•"/>
              <a:defRPr/>
            </a:lvl3pPr>
            <a:lvl4pPr marL="1005840" indent="-182880">
              <a:lnSpc>
                <a:spcPct val="100000"/>
              </a:lnSpc>
              <a:spcBef>
                <a:spcPts val="0"/>
              </a:spcBef>
              <a:spcAft>
                <a:spcPts val="600"/>
              </a:spcAft>
              <a:buFont typeface="Arial" panose="020B0604020202020204" pitchFamily="34" charset="0"/>
              <a:buChar char="•"/>
              <a:defRPr/>
            </a:lvl4pPr>
            <a:lvl5pPr marL="1371600" indent="-182880">
              <a:lnSpc>
                <a:spcPct val="100000"/>
              </a:lnSpc>
              <a:spcBef>
                <a:spcPts val="0"/>
              </a:spcBef>
              <a:spcAft>
                <a:spcPts val="600"/>
              </a:spcAft>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714349C2-A08F-D94E-A8AB-6A65937CBC58}"/>
              </a:ext>
            </a:extLst>
          </p:cNvPr>
          <p:cNvSpPr>
            <a:spLocks noGrp="1"/>
          </p:cNvSpPr>
          <p:nvPr>
            <p:ph type="title"/>
          </p:nvPr>
        </p:nvSpPr>
        <p:spPr>
          <a:xfrm>
            <a:off x="533400" y="457200"/>
            <a:ext cx="11125200" cy="609600"/>
          </a:xfrm>
        </p:spPr>
        <p:txBody>
          <a:bodyPr anchor="t">
            <a:noAutofit/>
          </a:bodyPr>
          <a:lstStyle/>
          <a:p>
            <a:r>
              <a:rPr lang="en-US"/>
              <a:t>Click to edit Master title style</a:t>
            </a:r>
          </a:p>
        </p:txBody>
      </p:sp>
    </p:spTree>
    <p:extLst>
      <p:ext uri="{BB962C8B-B14F-4D97-AF65-F5344CB8AC3E}">
        <p14:creationId xmlns:p14="http://schemas.microsoft.com/office/powerpoint/2010/main" val="118189618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amp; Body 2 Column">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CAED8851-434C-7140-AC33-777AE06AE0D4}"/>
              </a:ext>
            </a:extLst>
          </p:cNvPr>
          <p:cNvSpPr>
            <a:spLocks noGrp="1"/>
          </p:cNvSpPr>
          <p:nvPr>
            <p:ph sz="quarter" idx="11"/>
          </p:nvPr>
        </p:nvSpPr>
        <p:spPr>
          <a:xfrm>
            <a:off x="533398" y="2204484"/>
            <a:ext cx="4983480" cy="3664688"/>
          </a:xfrm>
        </p:spPr>
        <p:txBody>
          <a:bodyPr/>
          <a:lstStyle>
            <a:lvl1pPr marL="0" indent="0">
              <a:lnSpc>
                <a:spcPct val="100000"/>
              </a:lnSpc>
              <a:spcBef>
                <a:spcPts val="0"/>
              </a:spcBef>
              <a:spcAft>
                <a:spcPts val="600"/>
              </a:spcAft>
              <a:buFont typeface="Arial" panose="020B0604020202020204" pitchFamily="34" charset="0"/>
              <a:buNone/>
              <a:defRPr/>
            </a:lvl1pPr>
            <a:lvl2pPr marL="274320" indent="-182880">
              <a:lnSpc>
                <a:spcPct val="100000"/>
              </a:lnSpc>
              <a:spcBef>
                <a:spcPts val="0"/>
              </a:spcBef>
              <a:spcAft>
                <a:spcPts val="600"/>
              </a:spcAft>
              <a:buFont typeface="Arial" panose="020B0604020202020204" pitchFamily="34" charset="0"/>
              <a:buChar char="•"/>
              <a:defRPr/>
            </a:lvl2pPr>
            <a:lvl3pPr marL="640080" indent="-182880">
              <a:lnSpc>
                <a:spcPct val="100000"/>
              </a:lnSpc>
              <a:spcBef>
                <a:spcPts val="0"/>
              </a:spcBef>
              <a:spcAft>
                <a:spcPts val="600"/>
              </a:spcAft>
              <a:buFont typeface="Arial" panose="020B0604020202020204" pitchFamily="34" charset="0"/>
              <a:buChar char="•"/>
              <a:defRPr/>
            </a:lvl3pPr>
            <a:lvl4pPr marL="1005840" indent="-182880">
              <a:lnSpc>
                <a:spcPct val="100000"/>
              </a:lnSpc>
              <a:spcBef>
                <a:spcPts val="0"/>
              </a:spcBef>
              <a:spcAft>
                <a:spcPts val="600"/>
              </a:spcAft>
              <a:buFont typeface="Arial" panose="020B0604020202020204" pitchFamily="34" charset="0"/>
              <a:buChar char="•"/>
              <a:defRPr/>
            </a:lvl4pPr>
            <a:lvl5pPr marL="1371600" indent="-182880">
              <a:lnSpc>
                <a:spcPct val="100000"/>
              </a:lnSpc>
              <a:spcBef>
                <a:spcPts val="0"/>
              </a:spcBef>
              <a:spcAft>
                <a:spcPts val="600"/>
              </a:spcAft>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714349C2-A08F-D94E-A8AB-6A65937CBC58}"/>
              </a:ext>
            </a:extLst>
          </p:cNvPr>
          <p:cNvSpPr>
            <a:spLocks noGrp="1"/>
          </p:cNvSpPr>
          <p:nvPr>
            <p:ph type="title"/>
          </p:nvPr>
        </p:nvSpPr>
        <p:spPr>
          <a:xfrm>
            <a:off x="533400" y="457200"/>
            <a:ext cx="11125200" cy="609600"/>
          </a:xfrm>
        </p:spPr>
        <p:txBody>
          <a:bodyPr anchor="t">
            <a:noAutofit/>
          </a:bodyPr>
          <a:lstStyle/>
          <a:p>
            <a:r>
              <a:rPr lang="en-US"/>
              <a:t>Click to edit Master title style</a:t>
            </a:r>
          </a:p>
        </p:txBody>
      </p:sp>
      <p:sp>
        <p:nvSpPr>
          <p:cNvPr id="3" name="Content Placeholder 4">
            <a:extLst>
              <a:ext uri="{FF2B5EF4-FFF2-40B4-BE49-F238E27FC236}">
                <a16:creationId xmlns:a16="http://schemas.microsoft.com/office/drawing/2014/main" id="{DF286743-D2CF-A33E-5ECD-A9033A58A8C0}"/>
              </a:ext>
            </a:extLst>
          </p:cNvPr>
          <p:cNvSpPr>
            <a:spLocks noGrp="1"/>
          </p:cNvSpPr>
          <p:nvPr>
            <p:ph sz="quarter" idx="12"/>
          </p:nvPr>
        </p:nvSpPr>
        <p:spPr>
          <a:xfrm>
            <a:off x="6675120" y="2204484"/>
            <a:ext cx="4983480" cy="3664688"/>
          </a:xfrm>
        </p:spPr>
        <p:txBody>
          <a:bodyPr/>
          <a:lstStyle>
            <a:lvl1pPr marL="0" indent="0">
              <a:lnSpc>
                <a:spcPct val="100000"/>
              </a:lnSpc>
              <a:spcBef>
                <a:spcPts val="0"/>
              </a:spcBef>
              <a:spcAft>
                <a:spcPts val="600"/>
              </a:spcAft>
              <a:buFont typeface="Arial" panose="020B0604020202020204" pitchFamily="34" charset="0"/>
              <a:buNone/>
              <a:defRPr/>
            </a:lvl1pPr>
            <a:lvl2pPr marL="274320" indent="-182880">
              <a:lnSpc>
                <a:spcPct val="100000"/>
              </a:lnSpc>
              <a:spcBef>
                <a:spcPts val="0"/>
              </a:spcBef>
              <a:spcAft>
                <a:spcPts val="600"/>
              </a:spcAft>
              <a:buFont typeface="Arial" panose="020B0604020202020204" pitchFamily="34" charset="0"/>
              <a:buChar char="•"/>
              <a:defRPr/>
            </a:lvl2pPr>
            <a:lvl3pPr marL="640080" indent="-182880">
              <a:lnSpc>
                <a:spcPct val="100000"/>
              </a:lnSpc>
              <a:spcBef>
                <a:spcPts val="0"/>
              </a:spcBef>
              <a:spcAft>
                <a:spcPts val="600"/>
              </a:spcAft>
              <a:buFont typeface="Arial" panose="020B0604020202020204" pitchFamily="34" charset="0"/>
              <a:buChar char="•"/>
              <a:defRPr/>
            </a:lvl3pPr>
            <a:lvl4pPr marL="1005840" indent="-182880">
              <a:lnSpc>
                <a:spcPct val="100000"/>
              </a:lnSpc>
              <a:spcBef>
                <a:spcPts val="0"/>
              </a:spcBef>
              <a:spcAft>
                <a:spcPts val="600"/>
              </a:spcAft>
              <a:buFont typeface="Arial" panose="020B0604020202020204" pitchFamily="34" charset="0"/>
              <a:buChar char="•"/>
              <a:defRPr/>
            </a:lvl4pPr>
            <a:lvl5pPr marL="1371600" indent="-182880">
              <a:lnSpc>
                <a:spcPct val="100000"/>
              </a:lnSpc>
              <a:spcBef>
                <a:spcPts val="0"/>
              </a:spcBef>
              <a:spcAft>
                <a:spcPts val="600"/>
              </a:spcAft>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9629976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amp; Body 3 Column">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CAED8851-434C-7140-AC33-777AE06AE0D4}"/>
              </a:ext>
            </a:extLst>
          </p:cNvPr>
          <p:cNvSpPr>
            <a:spLocks noGrp="1"/>
          </p:cNvSpPr>
          <p:nvPr>
            <p:ph sz="quarter" idx="11"/>
          </p:nvPr>
        </p:nvSpPr>
        <p:spPr>
          <a:xfrm>
            <a:off x="533399" y="2204484"/>
            <a:ext cx="3547872" cy="3664688"/>
          </a:xfrm>
        </p:spPr>
        <p:txBody>
          <a:bodyPr/>
          <a:lstStyle>
            <a:lvl1pPr marL="0" indent="0">
              <a:lnSpc>
                <a:spcPct val="100000"/>
              </a:lnSpc>
              <a:spcBef>
                <a:spcPts val="0"/>
              </a:spcBef>
              <a:spcAft>
                <a:spcPts val="600"/>
              </a:spcAft>
              <a:buFont typeface="Arial" panose="020B0604020202020204" pitchFamily="34" charset="0"/>
              <a:buNone/>
              <a:defRPr/>
            </a:lvl1pPr>
            <a:lvl2pPr marL="274320" indent="-182880">
              <a:lnSpc>
                <a:spcPct val="100000"/>
              </a:lnSpc>
              <a:spcBef>
                <a:spcPts val="0"/>
              </a:spcBef>
              <a:spcAft>
                <a:spcPts val="600"/>
              </a:spcAft>
              <a:buFont typeface="Arial" panose="020B0604020202020204" pitchFamily="34" charset="0"/>
              <a:buChar char="•"/>
              <a:defRPr/>
            </a:lvl2pPr>
            <a:lvl3pPr marL="640080" indent="-182880">
              <a:lnSpc>
                <a:spcPct val="100000"/>
              </a:lnSpc>
              <a:spcBef>
                <a:spcPts val="0"/>
              </a:spcBef>
              <a:spcAft>
                <a:spcPts val="600"/>
              </a:spcAft>
              <a:buFont typeface="Arial" panose="020B0604020202020204" pitchFamily="34" charset="0"/>
              <a:buChar char="•"/>
              <a:defRPr/>
            </a:lvl3pPr>
            <a:lvl4pPr marL="1005840" indent="-182880">
              <a:lnSpc>
                <a:spcPct val="100000"/>
              </a:lnSpc>
              <a:spcBef>
                <a:spcPts val="0"/>
              </a:spcBef>
              <a:spcAft>
                <a:spcPts val="600"/>
              </a:spcAft>
              <a:buFont typeface="Arial" panose="020B0604020202020204" pitchFamily="34" charset="0"/>
              <a:buChar char="•"/>
              <a:defRPr/>
            </a:lvl4pPr>
            <a:lvl5pPr marL="1371600" indent="-182880">
              <a:lnSpc>
                <a:spcPct val="100000"/>
              </a:lnSpc>
              <a:spcBef>
                <a:spcPts val="0"/>
              </a:spcBef>
              <a:spcAft>
                <a:spcPts val="600"/>
              </a:spcAft>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714349C2-A08F-D94E-A8AB-6A65937CBC58}"/>
              </a:ext>
            </a:extLst>
          </p:cNvPr>
          <p:cNvSpPr>
            <a:spLocks noGrp="1"/>
          </p:cNvSpPr>
          <p:nvPr>
            <p:ph type="title"/>
          </p:nvPr>
        </p:nvSpPr>
        <p:spPr>
          <a:xfrm>
            <a:off x="533400" y="457200"/>
            <a:ext cx="11125200" cy="609600"/>
          </a:xfrm>
        </p:spPr>
        <p:txBody>
          <a:bodyPr anchor="t">
            <a:noAutofit/>
          </a:bodyPr>
          <a:lstStyle/>
          <a:p>
            <a:r>
              <a:rPr lang="en-US"/>
              <a:t>Click to edit Master title style</a:t>
            </a:r>
          </a:p>
        </p:txBody>
      </p:sp>
      <p:sp>
        <p:nvSpPr>
          <p:cNvPr id="3" name="Content Placeholder 4">
            <a:extLst>
              <a:ext uri="{FF2B5EF4-FFF2-40B4-BE49-F238E27FC236}">
                <a16:creationId xmlns:a16="http://schemas.microsoft.com/office/drawing/2014/main" id="{DF286743-D2CF-A33E-5ECD-A9033A58A8C0}"/>
              </a:ext>
            </a:extLst>
          </p:cNvPr>
          <p:cNvSpPr>
            <a:spLocks noGrp="1"/>
          </p:cNvSpPr>
          <p:nvPr>
            <p:ph sz="quarter" idx="12"/>
          </p:nvPr>
        </p:nvSpPr>
        <p:spPr>
          <a:xfrm>
            <a:off x="4322064" y="2204484"/>
            <a:ext cx="3547872" cy="3664688"/>
          </a:xfrm>
        </p:spPr>
        <p:txBody>
          <a:bodyPr/>
          <a:lstStyle>
            <a:lvl1pPr marL="0" indent="0">
              <a:lnSpc>
                <a:spcPct val="100000"/>
              </a:lnSpc>
              <a:spcBef>
                <a:spcPts val="0"/>
              </a:spcBef>
              <a:spcAft>
                <a:spcPts val="600"/>
              </a:spcAft>
              <a:buFont typeface="Arial" panose="020B0604020202020204" pitchFamily="34" charset="0"/>
              <a:buNone/>
              <a:defRPr/>
            </a:lvl1pPr>
            <a:lvl2pPr marL="274320" indent="-182880">
              <a:lnSpc>
                <a:spcPct val="100000"/>
              </a:lnSpc>
              <a:spcBef>
                <a:spcPts val="0"/>
              </a:spcBef>
              <a:spcAft>
                <a:spcPts val="600"/>
              </a:spcAft>
              <a:buFont typeface="Arial" panose="020B0604020202020204" pitchFamily="34" charset="0"/>
              <a:buChar char="•"/>
              <a:defRPr/>
            </a:lvl2pPr>
            <a:lvl3pPr marL="640080" indent="-182880">
              <a:lnSpc>
                <a:spcPct val="100000"/>
              </a:lnSpc>
              <a:spcBef>
                <a:spcPts val="0"/>
              </a:spcBef>
              <a:spcAft>
                <a:spcPts val="600"/>
              </a:spcAft>
              <a:buFont typeface="Arial" panose="020B0604020202020204" pitchFamily="34" charset="0"/>
              <a:buChar char="•"/>
              <a:defRPr/>
            </a:lvl3pPr>
            <a:lvl4pPr marL="1005840" indent="-182880">
              <a:lnSpc>
                <a:spcPct val="100000"/>
              </a:lnSpc>
              <a:spcBef>
                <a:spcPts val="0"/>
              </a:spcBef>
              <a:spcAft>
                <a:spcPts val="600"/>
              </a:spcAft>
              <a:buFont typeface="Arial" panose="020B0604020202020204" pitchFamily="34" charset="0"/>
              <a:buChar char="•"/>
              <a:defRPr/>
            </a:lvl4pPr>
            <a:lvl5pPr marL="1371600" indent="-182880">
              <a:lnSpc>
                <a:spcPct val="100000"/>
              </a:lnSpc>
              <a:spcBef>
                <a:spcPts val="0"/>
              </a:spcBef>
              <a:spcAft>
                <a:spcPts val="600"/>
              </a:spcAft>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4">
            <a:extLst>
              <a:ext uri="{FF2B5EF4-FFF2-40B4-BE49-F238E27FC236}">
                <a16:creationId xmlns:a16="http://schemas.microsoft.com/office/drawing/2014/main" id="{F466B4D2-38C6-E3E9-D68E-B47FB0924CA0}"/>
              </a:ext>
            </a:extLst>
          </p:cNvPr>
          <p:cNvSpPr>
            <a:spLocks noGrp="1"/>
          </p:cNvSpPr>
          <p:nvPr>
            <p:ph sz="quarter" idx="13"/>
          </p:nvPr>
        </p:nvSpPr>
        <p:spPr>
          <a:xfrm>
            <a:off x="8110728" y="2204484"/>
            <a:ext cx="3547872" cy="3664688"/>
          </a:xfrm>
        </p:spPr>
        <p:txBody>
          <a:bodyPr/>
          <a:lstStyle>
            <a:lvl1pPr marL="0" indent="0">
              <a:lnSpc>
                <a:spcPct val="100000"/>
              </a:lnSpc>
              <a:spcBef>
                <a:spcPts val="0"/>
              </a:spcBef>
              <a:spcAft>
                <a:spcPts val="600"/>
              </a:spcAft>
              <a:buFont typeface="Arial" panose="020B0604020202020204" pitchFamily="34" charset="0"/>
              <a:buNone/>
              <a:defRPr/>
            </a:lvl1pPr>
            <a:lvl2pPr marL="274320" indent="-182880">
              <a:lnSpc>
                <a:spcPct val="100000"/>
              </a:lnSpc>
              <a:spcBef>
                <a:spcPts val="0"/>
              </a:spcBef>
              <a:spcAft>
                <a:spcPts val="600"/>
              </a:spcAft>
              <a:buFont typeface="Arial" panose="020B0604020202020204" pitchFamily="34" charset="0"/>
              <a:buChar char="•"/>
              <a:defRPr/>
            </a:lvl2pPr>
            <a:lvl3pPr marL="640080" indent="-182880">
              <a:lnSpc>
                <a:spcPct val="100000"/>
              </a:lnSpc>
              <a:spcBef>
                <a:spcPts val="0"/>
              </a:spcBef>
              <a:spcAft>
                <a:spcPts val="600"/>
              </a:spcAft>
              <a:buFont typeface="Arial" panose="020B0604020202020204" pitchFamily="34" charset="0"/>
              <a:buChar char="•"/>
              <a:defRPr/>
            </a:lvl3pPr>
            <a:lvl4pPr marL="1005840" indent="-182880">
              <a:lnSpc>
                <a:spcPct val="100000"/>
              </a:lnSpc>
              <a:spcBef>
                <a:spcPts val="0"/>
              </a:spcBef>
              <a:spcAft>
                <a:spcPts val="600"/>
              </a:spcAft>
              <a:buFont typeface="Arial" panose="020B0604020202020204" pitchFamily="34" charset="0"/>
              <a:buChar char="•"/>
              <a:defRPr/>
            </a:lvl4pPr>
            <a:lvl5pPr marL="1371600" indent="-182880">
              <a:lnSpc>
                <a:spcPct val="100000"/>
              </a:lnSpc>
              <a:spcBef>
                <a:spcPts val="0"/>
              </a:spcBef>
              <a:spcAft>
                <a:spcPts val="600"/>
              </a:spcAft>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2089744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4349C2-A08F-D94E-A8AB-6A65937CBC58}"/>
              </a:ext>
            </a:extLst>
          </p:cNvPr>
          <p:cNvSpPr>
            <a:spLocks noGrp="1"/>
          </p:cNvSpPr>
          <p:nvPr>
            <p:ph type="title"/>
          </p:nvPr>
        </p:nvSpPr>
        <p:spPr>
          <a:xfrm>
            <a:off x="533400" y="457200"/>
            <a:ext cx="11125200" cy="609600"/>
          </a:xfrm>
        </p:spPr>
        <p:txBody>
          <a:bodyPr anchor="t"/>
          <a:lstStyle/>
          <a:p>
            <a:r>
              <a:rPr lang="en-US"/>
              <a:t>Click to edit Master title style</a:t>
            </a:r>
          </a:p>
        </p:txBody>
      </p:sp>
    </p:spTree>
    <p:extLst>
      <p:ext uri="{BB962C8B-B14F-4D97-AF65-F5344CB8AC3E}">
        <p14:creationId xmlns:p14="http://schemas.microsoft.com/office/powerpoint/2010/main" val="10189223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78980765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Only with Backgroun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F89D0F4-D14E-2391-C035-8D4F022380C6}"/>
              </a:ext>
            </a:extLst>
          </p:cNvPr>
          <p:cNvSpPr/>
          <p:nvPr userDrawn="1"/>
        </p:nvSpPr>
        <p:spPr>
          <a:xfrm rot="10800000" flipV="1">
            <a:off x="2" y="-3"/>
            <a:ext cx="12191998" cy="6858003"/>
          </a:xfrm>
          <a:prstGeom prst="rect">
            <a:avLst/>
          </a:prstGeom>
          <a:solidFill>
            <a:schemeClr val="tx1"/>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sp>
        <p:nvSpPr>
          <p:cNvPr id="2" name="Title 1">
            <a:extLst>
              <a:ext uri="{FF2B5EF4-FFF2-40B4-BE49-F238E27FC236}">
                <a16:creationId xmlns:a16="http://schemas.microsoft.com/office/drawing/2014/main" id="{714349C2-A08F-D94E-A8AB-6A65937CBC58}"/>
              </a:ext>
            </a:extLst>
          </p:cNvPr>
          <p:cNvSpPr>
            <a:spLocks noGrp="1"/>
          </p:cNvSpPr>
          <p:nvPr>
            <p:ph type="title"/>
          </p:nvPr>
        </p:nvSpPr>
        <p:spPr>
          <a:xfrm>
            <a:off x="533400" y="457200"/>
            <a:ext cx="11125200" cy="609600"/>
          </a:xfrm>
        </p:spPr>
        <p:txBody>
          <a:bodyPr anchor="t"/>
          <a:lstStyle>
            <a:lvl1pPr>
              <a:defRPr>
                <a:solidFill>
                  <a:schemeClr val="bg1"/>
                </a:solidFill>
              </a:defRPr>
            </a:lvl1pPr>
          </a:lstStyle>
          <a:p>
            <a:r>
              <a:rPr lang="en-US"/>
              <a:t>Click to edit Master title style</a:t>
            </a:r>
          </a:p>
        </p:txBody>
      </p:sp>
      <p:sp>
        <p:nvSpPr>
          <p:cNvPr id="8" name="TextBox 7">
            <a:extLst>
              <a:ext uri="{FF2B5EF4-FFF2-40B4-BE49-F238E27FC236}">
                <a16:creationId xmlns:a16="http://schemas.microsoft.com/office/drawing/2014/main" id="{BF3C50C5-83D2-174A-8E01-353653718445}"/>
              </a:ext>
            </a:extLst>
          </p:cNvPr>
          <p:cNvSpPr txBox="1"/>
          <p:nvPr userDrawn="1"/>
        </p:nvSpPr>
        <p:spPr>
          <a:xfrm>
            <a:off x="7796752" y="6324600"/>
            <a:ext cx="4058444" cy="304795"/>
          </a:xfrm>
          <a:prstGeom prst="rect">
            <a:avLst/>
          </a:prstGeom>
          <a:noFill/>
        </p:spPr>
        <p:txBody>
          <a:bodyPr wrap="square" bIns="0" rtlCol="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3BDFC0B-CFB1-084E-A5D1-50420B235E65}" type="slidenum">
              <a:rPr kumimoji="0" lang="en-US" sz="700" b="0" i="0" u="none" strike="noStrike" kern="1200" cap="none" spc="0" normalizeH="0" baseline="0" noProof="0" smtClean="0">
                <a:ln>
                  <a:noFill/>
                </a:ln>
                <a:solidFill>
                  <a:schemeClr val="bg2">
                    <a:lumMod val="75000"/>
                  </a:schemeClr>
                </a:solidFill>
                <a:effectLst/>
                <a:uLnTx/>
                <a:uFillTx/>
                <a:latin typeface="+mn-lt"/>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sz="700" b="0" i="0">
              <a:solidFill>
                <a:schemeClr val="bg2">
                  <a:lumMod val="75000"/>
                </a:schemeClr>
              </a:solidFill>
              <a:latin typeface="+mn-lt"/>
              <a:ea typeface="+mn-ea"/>
              <a:cs typeface="+mn-cs"/>
            </a:endParaRPr>
          </a:p>
        </p:txBody>
      </p:sp>
      <p:grpSp>
        <p:nvGrpSpPr>
          <p:cNvPr id="3" name="Graphic 9">
            <a:extLst>
              <a:ext uri="{FF2B5EF4-FFF2-40B4-BE49-F238E27FC236}">
                <a16:creationId xmlns:a16="http://schemas.microsoft.com/office/drawing/2014/main" id="{732AA259-A6AF-EC29-5532-7F89B2999E1C}"/>
              </a:ext>
            </a:extLst>
          </p:cNvPr>
          <p:cNvGrpSpPr>
            <a:grpSpLocks noChangeAspect="1"/>
          </p:cNvGrpSpPr>
          <p:nvPr userDrawn="1"/>
        </p:nvGrpSpPr>
        <p:grpSpPr>
          <a:xfrm>
            <a:off x="417511" y="6489055"/>
            <a:ext cx="249135" cy="136828"/>
            <a:chOff x="11484948" y="313034"/>
            <a:chExt cx="401233" cy="220363"/>
          </a:xfrm>
          <a:solidFill>
            <a:schemeClr val="accent5"/>
          </a:solidFill>
        </p:grpSpPr>
        <p:sp>
          <p:nvSpPr>
            <p:cNvPr id="5" name="Freeform 4">
              <a:extLst>
                <a:ext uri="{FF2B5EF4-FFF2-40B4-BE49-F238E27FC236}">
                  <a16:creationId xmlns:a16="http://schemas.microsoft.com/office/drawing/2014/main" id="{F6E9AE4E-794D-87F2-4C05-6D750127774B}"/>
                </a:ext>
              </a:extLst>
            </p:cNvPr>
            <p:cNvSpPr/>
            <p:nvPr userDrawn="1"/>
          </p:nvSpPr>
          <p:spPr>
            <a:xfrm>
              <a:off x="11652424" y="313034"/>
              <a:ext cx="233757" cy="220363"/>
            </a:xfrm>
            <a:custGeom>
              <a:avLst/>
              <a:gdLst>
                <a:gd name="connsiteX0" fmla="*/ 233757 w 233757"/>
                <a:gd name="connsiteY0" fmla="*/ 220363 h 220363"/>
                <a:gd name="connsiteX1" fmla="*/ 187006 w 233757"/>
                <a:gd name="connsiteY1" fmla="*/ 220363 h 220363"/>
                <a:gd name="connsiteX2" fmla="*/ 187006 w 233757"/>
                <a:gd name="connsiteY2" fmla="*/ 89448 h 220363"/>
                <a:gd name="connsiteX3" fmla="*/ 116879 w 233757"/>
                <a:gd name="connsiteY3" fmla="*/ 159645 h 220363"/>
                <a:gd name="connsiteX4" fmla="*/ 46751 w 233757"/>
                <a:gd name="connsiteY4" fmla="*/ 89448 h 220363"/>
                <a:gd name="connsiteX5" fmla="*/ 46751 w 233757"/>
                <a:gd name="connsiteY5" fmla="*/ 220363 h 220363"/>
                <a:gd name="connsiteX6" fmla="*/ 0 w 233757"/>
                <a:gd name="connsiteY6" fmla="*/ 220363 h 220363"/>
                <a:gd name="connsiteX7" fmla="*/ 0 w 233757"/>
                <a:gd name="connsiteY7" fmla="*/ 0 h 220363"/>
                <a:gd name="connsiteX8" fmla="*/ 24855 w 233757"/>
                <a:gd name="connsiteY8" fmla="*/ 0 h 220363"/>
                <a:gd name="connsiteX9" fmla="*/ 117470 w 233757"/>
                <a:gd name="connsiteY9" fmla="*/ 92706 h 220363"/>
                <a:gd name="connsiteX10" fmla="*/ 208902 w 233757"/>
                <a:gd name="connsiteY10" fmla="*/ 0 h 220363"/>
                <a:gd name="connsiteX11" fmla="*/ 233757 w 233757"/>
                <a:gd name="connsiteY11" fmla="*/ 0 h 220363"/>
                <a:gd name="connsiteX12" fmla="*/ 233757 w 233757"/>
                <a:gd name="connsiteY12" fmla="*/ 220363 h 22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757" h="220363">
                  <a:moveTo>
                    <a:pt x="233757" y="220363"/>
                  </a:moveTo>
                  <a:lnTo>
                    <a:pt x="187006" y="220363"/>
                  </a:lnTo>
                  <a:lnTo>
                    <a:pt x="187006" y="89448"/>
                  </a:lnTo>
                  <a:lnTo>
                    <a:pt x="116879" y="159645"/>
                  </a:lnTo>
                  <a:lnTo>
                    <a:pt x="46751" y="89448"/>
                  </a:lnTo>
                  <a:lnTo>
                    <a:pt x="46751" y="220363"/>
                  </a:lnTo>
                  <a:lnTo>
                    <a:pt x="0" y="220363"/>
                  </a:lnTo>
                  <a:lnTo>
                    <a:pt x="0" y="0"/>
                  </a:lnTo>
                  <a:lnTo>
                    <a:pt x="24855" y="0"/>
                  </a:lnTo>
                  <a:lnTo>
                    <a:pt x="117470" y="92706"/>
                  </a:lnTo>
                  <a:lnTo>
                    <a:pt x="208902" y="0"/>
                  </a:lnTo>
                  <a:lnTo>
                    <a:pt x="233757" y="0"/>
                  </a:lnTo>
                  <a:lnTo>
                    <a:pt x="233757" y="220363"/>
                  </a:lnTo>
                  <a:close/>
                </a:path>
              </a:pathLst>
            </a:custGeom>
            <a:solidFill>
              <a:schemeClr val="bg1"/>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6" name="Freeform 5">
              <a:extLst>
                <a:ext uri="{FF2B5EF4-FFF2-40B4-BE49-F238E27FC236}">
                  <a16:creationId xmlns:a16="http://schemas.microsoft.com/office/drawing/2014/main" id="{1FFB977A-09D9-1892-6CC0-012B3144D78D}"/>
                </a:ext>
              </a:extLst>
            </p:cNvPr>
            <p:cNvSpPr/>
            <p:nvPr userDrawn="1"/>
          </p:nvSpPr>
          <p:spPr>
            <a:xfrm>
              <a:off x="11484948" y="412552"/>
              <a:ext cx="120725" cy="120844"/>
            </a:xfrm>
            <a:custGeom>
              <a:avLst/>
              <a:gdLst>
                <a:gd name="connsiteX0" fmla="*/ 120725 w 120725"/>
                <a:gd name="connsiteY0" fmla="*/ 0 h 120844"/>
                <a:gd name="connsiteX1" fmla="*/ 0 w 120725"/>
                <a:gd name="connsiteY1" fmla="*/ 0 h 120844"/>
                <a:gd name="connsiteX2" fmla="*/ 120725 w 120725"/>
                <a:gd name="connsiteY2" fmla="*/ 120844 h 120844"/>
                <a:gd name="connsiteX3" fmla="*/ 120725 w 120725"/>
                <a:gd name="connsiteY3" fmla="*/ 0 h 120844"/>
              </a:gdLst>
              <a:ahLst/>
              <a:cxnLst>
                <a:cxn ang="0">
                  <a:pos x="connsiteX0" y="connsiteY0"/>
                </a:cxn>
                <a:cxn ang="0">
                  <a:pos x="connsiteX1" y="connsiteY1"/>
                </a:cxn>
                <a:cxn ang="0">
                  <a:pos x="connsiteX2" y="connsiteY2"/>
                </a:cxn>
                <a:cxn ang="0">
                  <a:pos x="connsiteX3" y="connsiteY3"/>
                </a:cxn>
              </a:cxnLst>
              <a:rect l="l" t="t" r="r" b="b"/>
              <a:pathLst>
                <a:path w="120725" h="120844">
                  <a:moveTo>
                    <a:pt x="120725" y="0"/>
                  </a:moveTo>
                  <a:lnTo>
                    <a:pt x="0" y="0"/>
                  </a:lnTo>
                  <a:lnTo>
                    <a:pt x="120725" y="120844"/>
                  </a:lnTo>
                  <a:lnTo>
                    <a:pt x="120725" y="0"/>
                  </a:lnTo>
                  <a:close/>
                </a:path>
              </a:pathLst>
            </a:custGeom>
            <a:solidFill>
              <a:srgbClr val="F23A1E"/>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grpSp>
    </p:spTree>
    <p:extLst>
      <p:ext uri="{BB962C8B-B14F-4D97-AF65-F5344CB8AC3E}">
        <p14:creationId xmlns:p14="http://schemas.microsoft.com/office/powerpoint/2010/main" val="49702448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amp; Body with Backgroun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5646CBC-6FE2-3596-CA9A-848AF961AE20}"/>
              </a:ext>
            </a:extLst>
          </p:cNvPr>
          <p:cNvSpPr/>
          <p:nvPr userDrawn="1"/>
        </p:nvSpPr>
        <p:spPr>
          <a:xfrm rot="10800000" flipV="1">
            <a:off x="2" y="-3"/>
            <a:ext cx="12191998" cy="6858003"/>
          </a:xfrm>
          <a:prstGeom prst="rect">
            <a:avLst/>
          </a:prstGeom>
          <a:solidFill>
            <a:schemeClr val="tx1"/>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sp>
        <p:nvSpPr>
          <p:cNvPr id="2" name="Title 1">
            <a:extLst>
              <a:ext uri="{FF2B5EF4-FFF2-40B4-BE49-F238E27FC236}">
                <a16:creationId xmlns:a16="http://schemas.microsoft.com/office/drawing/2014/main" id="{714349C2-A08F-D94E-A8AB-6A65937CBC58}"/>
              </a:ext>
            </a:extLst>
          </p:cNvPr>
          <p:cNvSpPr>
            <a:spLocks noGrp="1"/>
          </p:cNvSpPr>
          <p:nvPr>
            <p:ph type="title"/>
          </p:nvPr>
        </p:nvSpPr>
        <p:spPr>
          <a:xfrm>
            <a:off x="533400" y="457200"/>
            <a:ext cx="11125200" cy="609600"/>
          </a:xfrm>
        </p:spPr>
        <p:txBody>
          <a:bodyPr anchor="t"/>
          <a:lstStyle>
            <a:lvl1pPr>
              <a:defRPr>
                <a:solidFill>
                  <a:schemeClr val="bg1"/>
                </a:solidFill>
              </a:defRPr>
            </a:lvl1pPr>
          </a:lstStyle>
          <a:p>
            <a:r>
              <a:rPr lang="en-US"/>
              <a:t>Click to edit Master title style</a:t>
            </a:r>
          </a:p>
        </p:txBody>
      </p:sp>
      <p:sp>
        <p:nvSpPr>
          <p:cNvPr id="10" name="TextBox 9">
            <a:extLst>
              <a:ext uri="{FF2B5EF4-FFF2-40B4-BE49-F238E27FC236}">
                <a16:creationId xmlns:a16="http://schemas.microsoft.com/office/drawing/2014/main" id="{1B97C4DD-D778-3B47-91CB-0DBEC93C9B26}"/>
              </a:ext>
            </a:extLst>
          </p:cNvPr>
          <p:cNvSpPr txBox="1"/>
          <p:nvPr userDrawn="1"/>
        </p:nvSpPr>
        <p:spPr>
          <a:xfrm>
            <a:off x="7796752" y="6324600"/>
            <a:ext cx="4058444" cy="304795"/>
          </a:xfrm>
          <a:prstGeom prst="rect">
            <a:avLst/>
          </a:prstGeom>
          <a:noFill/>
        </p:spPr>
        <p:txBody>
          <a:bodyPr wrap="square" bIns="0" rtlCol="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3BDFC0B-CFB1-084E-A5D1-50420B235E65}" type="slidenum">
              <a:rPr kumimoji="0" lang="en-US" sz="700" b="0" i="0" u="none" strike="noStrike" kern="1200" cap="none" spc="0" normalizeH="0" baseline="0" noProof="0" smtClean="0">
                <a:ln>
                  <a:noFill/>
                </a:ln>
                <a:solidFill>
                  <a:schemeClr val="bg2">
                    <a:lumMod val="75000"/>
                  </a:schemeClr>
                </a:solidFill>
                <a:effectLst/>
                <a:uLnTx/>
                <a:uFillTx/>
                <a:latin typeface="+mn-lt"/>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sz="700" b="0" i="0">
              <a:solidFill>
                <a:schemeClr val="bg2">
                  <a:lumMod val="75000"/>
                </a:schemeClr>
              </a:solidFill>
              <a:latin typeface="+mn-lt"/>
              <a:ea typeface="+mn-ea"/>
              <a:cs typeface="+mn-cs"/>
            </a:endParaRPr>
          </a:p>
        </p:txBody>
      </p:sp>
      <p:sp>
        <p:nvSpPr>
          <p:cNvPr id="9" name="Content Placeholder 4">
            <a:extLst>
              <a:ext uri="{FF2B5EF4-FFF2-40B4-BE49-F238E27FC236}">
                <a16:creationId xmlns:a16="http://schemas.microsoft.com/office/drawing/2014/main" id="{5B3261BB-9F2B-9340-9D35-C7D084FF499C}"/>
              </a:ext>
            </a:extLst>
          </p:cNvPr>
          <p:cNvSpPr>
            <a:spLocks noGrp="1"/>
          </p:cNvSpPr>
          <p:nvPr>
            <p:ph sz="quarter" idx="11"/>
          </p:nvPr>
        </p:nvSpPr>
        <p:spPr>
          <a:xfrm>
            <a:off x="533400" y="1219200"/>
            <a:ext cx="11125200" cy="4800599"/>
          </a:xfrm>
        </p:spPr>
        <p:txBody>
          <a:bodyPr/>
          <a:lstStyle>
            <a:lvl1pPr>
              <a:defRPr>
                <a:solidFill>
                  <a:schemeClr val="bg1"/>
                </a:solidFill>
              </a:defRPr>
            </a:lvl1pPr>
            <a:lvl2pPr marL="274320" indent="-182880">
              <a:buFont typeface="Arial" panose="020B0604020202020204" pitchFamily="34" charset="0"/>
              <a:buChar char="•"/>
              <a:defRPr>
                <a:solidFill>
                  <a:schemeClr val="bg1"/>
                </a:solidFill>
              </a:defRPr>
            </a:lvl2pPr>
            <a:lvl3pPr marL="640080" indent="-182880">
              <a:buFont typeface="Arial" panose="020B0604020202020204" pitchFamily="34" charset="0"/>
              <a:buChar char="•"/>
              <a:defRPr>
                <a:solidFill>
                  <a:schemeClr val="bg1"/>
                </a:solidFill>
              </a:defRPr>
            </a:lvl3pPr>
            <a:lvl4pPr marL="1005840" indent="-182880">
              <a:buFont typeface="Arial" panose="020B0604020202020204" pitchFamily="34" charset="0"/>
              <a:buChar char="•"/>
              <a:defRPr>
                <a:solidFill>
                  <a:schemeClr val="bg1"/>
                </a:solidFill>
              </a:defRPr>
            </a:lvl4pPr>
            <a:lvl5pPr marL="1371600" indent="-182880">
              <a:buFont typeface="Arial" panose="020B0604020202020204" pitchFamily="34" charset="0"/>
              <a:buChar cha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3" name="Graphic 9">
            <a:extLst>
              <a:ext uri="{FF2B5EF4-FFF2-40B4-BE49-F238E27FC236}">
                <a16:creationId xmlns:a16="http://schemas.microsoft.com/office/drawing/2014/main" id="{F8B5E816-7D75-0001-CE5A-06EF94F015C5}"/>
              </a:ext>
            </a:extLst>
          </p:cNvPr>
          <p:cNvGrpSpPr>
            <a:grpSpLocks noChangeAspect="1"/>
          </p:cNvGrpSpPr>
          <p:nvPr userDrawn="1"/>
        </p:nvGrpSpPr>
        <p:grpSpPr>
          <a:xfrm>
            <a:off x="417511" y="6489055"/>
            <a:ext cx="249135" cy="136828"/>
            <a:chOff x="11484948" y="313034"/>
            <a:chExt cx="401233" cy="220363"/>
          </a:xfrm>
          <a:solidFill>
            <a:schemeClr val="accent5"/>
          </a:solidFill>
        </p:grpSpPr>
        <p:sp>
          <p:nvSpPr>
            <p:cNvPr id="5" name="Freeform 4">
              <a:extLst>
                <a:ext uri="{FF2B5EF4-FFF2-40B4-BE49-F238E27FC236}">
                  <a16:creationId xmlns:a16="http://schemas.microsoft.com/office/drawing/2014/main" id="{4B571E3A-ACB2-CF3F-D682-5A60220C80B1}"/>
                </a:ext>
              </a:extLst>
            </p:cNvPr>
            <p:cNvSpPr/>
            <p:nvPr userDrawn="1"/>
          </p:nvSpPr>
          <p:spPr>
            <a:xfrm>
              <a:off x="11652424" y="313034"/>
              <a:ext cx="233757" cy="220363"/>
            </a:xfrm>
            <a:custGeom>
              <a:avLst/>
              <a:gdLst>
                <a:gd name="connsiteX0" fmla="*/ 233757 w 233757"/>
                <a:gd name="connsiteY0" fmla="*/ 220363 h 220363"/>
                <a:gd name="connsiteX1" fmla="*/ 187006 w 233757"/>
                <a:gd name="connsiteY1" fmla="*/ 220363 h 220363"/>
                <a:gd name="connsiteX2" fmla="*/ 187006 w 233757"/>
                <a:gd name="connsiteY2" fmla="*/ 89448 h 220363"/>
                <a:gd name="connsiteX3" fmla="*/ 116879 w 233757"/>
                <a:gd name="connsiteY3" fmla="*/ 159645 h 220363"/>
                <a:gd name="connsiteX4" fmla="*/ 46751 w 233757"/>
                <a:gd name="connsiteY4" fmla="*/ 89448 h 220363"/>
                <a:gd name="connsiteX5" fmla="*/ 46751 w 233757"/>
                <a:gd name="connsiteY5" fmla="*/ 220363 h 220363"/>
                <a:gd name="connsiteX6" fmla="*/ 0 w 233757"/>
                <a:gd name="connsiteY6" fmla="*/ 220363 h 220363"/>
                <a:gd name="connsiteX7" fmla="*/ 0 w 233757"/>
                <a:gd name="connsiteY7" fmla="*/ 0 h 220363"/>
                <a:gd name="connsiteX8" fmla="*/ 24855 w 233757"/>
                <a:gd name="connsiteY8" fmla="*/ 0 h 220363"/>
                <a:gd name="connsiteX9" fmla="*/ 117470 w 233757"/>
                <a:gd name="connsiteY9" fmla="*/ 92706 h 220363"/>
                <a:gd name="connsiteX10" fmla="*/ 208902 w 233757"/>
                <a:gd name="connsiteY10" fmla="*/ 0 h 220363"/>
                <a:gd name="connsiteX11" fmla="*/ 233757 w 233757"/>
                <a:gd name="connsiteY11" fmla="*/ 0 h 220363"/>
                <a:gd name="connsiteX12" fmla="*/ 233757 w 233757"/>
                <a:gd name="connsiteY12" fmla="*/ 220363 h 22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757" h="220363">
                  <a:moveTo>
                    <a:pt x="233757" y="220363"/>
                  </a:moveTo>
                  <a:lnTo>
                    <a:pt x="187006" y="220363"/>
                  </a:lnTo>
                  <a:lnTo>
                    <a:pt x="187006" y="89448"/>
                  </a:lnTo>
                  <a:lnTo>
                    <a:pt x="116879" y="159645"/>
                  </a:lnTo>
                  <a:lnTo>
                    <a:pt x="46751" y="89448"/>
                  </a:lnTo>
                  <a:lnTo>
                    <a:pt x="46751" y="220363"/>
                  </a:lnTo>
                  <a:lnTo>
                    <a:pt x="0" y="220363"/>
                  </a:lnTo>
                  <a:lnTo>
                    <a:pt x="0" y="0"/>
                  </a:lnTo>
                  <a:lnTo>
                    <a:pt x="24855" y="0"/>
                  </a:lnTo>
                  <a:lnTo>
                    <a:pt x="117470" y="92706"/>
                  </a:lnTo>
                  <a:lnTo>
                    <a:pt x="208902" y="0"/>
                  </a:lnTo>
                  <a:lnTo>
                    <a:pt x="233757" y="0"/>
                  </a:lnTo>
                  <a:lnTo>
                    <a:pt x="233757" y="220363"/>
                  </a:lnTo>
                  <a:close/>
                </a:path>
              </a:pathLst>
            </a:custGeom>
            <a:solidFill>
              <a:schemeClr val="bg1"/>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6" name="Freeform 5">
              <a:extLst>
                <a:ext uri="{FF2B5EF4-FFF2-40B4-BE49-F238E27FC236}">
                  <a16:creationId xmlns:a16="http://schemas.microsoft.com/office/drawing/2014/main" id="{A6BD859A-D9BF-AD32-D97B-51D39374A711}"/>
                </a:ext>
              </a:extLst>
            </p:cNvPr>
            <p:cNvSpPr/>
            <p:nvPr userDrawn="1"/>
          </p:nvSpPr>
          <p:spPr>
            <a:xfrm>
              <a:off x="11484948" y="412552"/>
              <a:ext cx="120725" cy="120844"/>
            </a:xfrm>
            <a:custGeom>
              <a:avLst/>
              <a:gdLst>
                <a:gd name="connsiteX0" fmla="*/ 120725 w 120725"/>
                <a:gd name="connsiteY0" fmla="*/ 0 h 120844"/>
                <a:gd name="connsiteX1" fmla="*/ 0 w 120725"/>
                <a:gd name="connsiteY1" fmla="*/ 0 h 120844"/>
                <a:gd name="connsiteX2" fmla="*/ 120725 w 120725"/>
                <a:gd name="connsiteY2" fmla="*/ 120844 h 120844"/>
                <a:gd name="connsiteX3" fmla="*/ 120725 w 120725"/>
                <a:gd name="connsiteY3" fmla="*/ 0 h 120844"/>
              </a:gdLst>
              <a:ahLst/>
              <a:cxnLst>
                <a:cxn ang="0">
                  <a:pos x="connsiteX0" y="connsiteY0"/>
                </a:cxn>
                <a:cxn ang="0">
                  <a:pos x="connsiteX1" y="connsiteY1"/>
                </a:cxn>
                <a:cxn ang="0">
                  <a:pos x="connsiteX2" y="connsiteY2"/>
                </a:cxn>
                <a:cxn ang="0">
                  <a:pos x="connsiteX3" y="connsiteY3"/>
                </a:cxn>
              </a:cxnLst>
              <a:rect l="l" t="t" r="r" b="b"/>
              <a:pathLst>
                <a:path w="120725" h="120844">
                  <a:moveTo>
                    <a:pt x="120725" y="0"/>
                  </a:moveTo>
                  <a:lnTo>
                    <a:pt x="0" y="0"/>
                  </a:lnTo>
                  <a:lnTo>
                    <a:pt x="120725" y="120844"/>
                  </a:lnTo>
                  <a:lnTo>
                    <a:pt x="120725" y="0"/>
                  </a:lnTo>
                  <a:close/>
                </a:path>
              </a:pathLst>
            </a:custGeom>
            <a:solidFill>
              <a:srgbClr val="F23A1E"/>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grpSp>
    </p:spTree>
    <p:extLst>
      <p:ext uri="{BB962C8B-B14F-4D97-AF65-F5344CB8AC3E}">
        <p14:creationId xmlns:p14="http://schemas.microsoft.com/office/powerpoint/2010/main" val="334955197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tle &amp; Body + EYEBROW with Backgroun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5CB87FB-A401-9C88-F7DA-B4DB9C08974C}"/>
              </a:ext>
            </a:extLst>
          </p:cNvPr>
          <p:cNvSpPr/>
          <p:nvPr userDrawn="1"/>
        </p:nvSpPr>
        <p:spPr>
          <a:xfrm rot="10800000" flipV="1">
            <a:off x="2" y="-3"/>
            <a:ext cx="12191998" cy="6858003"/>
          </a:xfrm>
          <a:prstGeom prst="rect">
            <a:avLst/>
          </a:prstGeom>
          <a:solidFill>
            <a:schemeClr val="tx1"/>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sp>
        <p:nvSpPr>
          <p:cNvPr id="5" name="Content Placeholder 4">
            <a:extLst>
              <a:ext uri="{FF2B5EF4-FFF2-40B4-BE49-F238E27FC236}">
                <a16:creationId xmlns:a16="http://schemas.microsoft.com/office/drawing/2014/main" id="{CAED8851-434C-7140-AC33-777AE06AE0D4}"/>
              </a:ext>
            </a:extLst>
          </p:cNvPr>
          <p:cNvSpPr>
            <a:spLocks noGrp="1"/>
          </p:cNvSpPr>
          <p:nvPr>
            <p:ph sz="quarter" idx="11"/>
          </p:nvPr>
        </p:nvSpPr>
        <p:spPr>
          <a:xfrm>
            <a:off x="533400" y="1463040"/>
            <a:ext cx="11125200" cy="4553712"/>
          </a:xfrm>
        </p:spPr>
        <p:txBody>
          <a:bodyPr/>
          <a:lstStyle>
            <a:lvl1pPr marL="0" indent="0">
              <a:lnSpc>
                <a:spcPct val="100000"/>
              </a:lnSpc>
              <a:spcBef>
                <a:spcPts val="0"/>
              </a:spcBef>
              <a:spcAft>
                <a:spcPts val="600"/>
              </a:spcAft>
              <a:buFont typeface="Arial" panose="020B0604020202020204" pitchFamily="34" charset="0"/>
              <a:buNone/>
              <a:defRPr>
                <a:solidFill>
                  <a:schemeClr val="bg1"/>
                </a:solidFill>
              </a:defRPr>
            </a:lvl1pPr>
            <a:lvl2pPr marL="274320" indent="-182880">
              <a:lnSpc>
                <a:spcPct val="100000"/>
              </a:lnSpc>
              <a:spcBef>
                <a:spcPts val="0"/>
              </a:spcBef>
              <a:spcAft>
                <a:spcPts val="600"/>
              </a:spcAft>
              <a:buFont typeface="Arial" panose="020B0604020202020204" pitchFamily="34" charset="0"/>
              <a:buChar char="•"/>
              <a:defRPr>
                <a:solidFill>
                  <a:schemeClr val="bg1"/>
                </a:solidFill>
              </a:defRPr>
            </a:lvl2pPr>
            <a:lvl3pPr marL="640080" indent="-182880">
              <a:lnSpc>
                <a:spcPct val="100000"/>
              </a:lnSpc>
              <a:spcBef>
                <a:spcPts val="0"/>
              </a:spcBef>
              <a:spcAft>
                <a:spcPts val="600"/>
              </a:spcAft>
              <a:buFont typeface="Arial" panose="020B0604020202020204" pitchFamily="34" charset="0"/>
              <a:buChar char="•"/>
              <a:defRPr>
                <a:solidFill>
                  <a:schemeClr val="bg1"/>
                </a:solidFill>
              </a:defRPr>
            </a:lvl3pPr>
            <a:lvl4pPr marL="1005840" indent="-182880">
              <a:lnSpc>
                <a:spcPct val="100000"/>
              </a:lnSpc>
              <a:spcBef>
                <a:spcPts val="0"/>
              </a:spcBef>
              <a:spcAft>
                <a:spcPts val="600"/>
              </a:spcAft>
              <a:buFont typeface="Arial" panose="020B0604020202020204" pitchFamily="34" charset="0"/>
              <a:buChar char="•"/>
              <a:defRPr>
                <a:solidFill>
                  <a:schemeClr val="bg1"/>
                </a:solidFill>
              </a:defRPr>
            </a:lvl4pPr>
            <a:lvl5pPr marL="1371600" indent="-182880">
              <a:lnSpc>
                <a:spcPct val="100000"/>
              </a:lnSpc>
              <a:spcBef>
                <a:spcPts val="0"/>
              </a:spcBef>
              <a:spcAft>
                <a:spcPts val="600"/>
              </a:spcAft>
              <a:buFont typeface="Arial" panose="020B0604020202020204" pitchFamily="34" charset="0"/>
              <a:buChar cha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714349C2-A08F-D94E-A8AB-6A65937CBC58}"/>
              </a:ext>
            </a:extLst>
          </p:cNvPr>
          <p:cNvSpPr>
            <a:spLocks noGrp="1"/>
          </p:cNvSpPr>
          <p:nvPr>
            <p:ph type="title"/>
          </p:nvPr>
        </p:nvSpPr>
        <p:spPr>
          <a:xfrm>
            <a:off x="533400" y="731520"/>
            <a:ext cx="11128248" cy="612648"/>
          </a:xfrm>
        </p:spPr>
        <p:txBody>
          <a:bodyPr anchor="t">
            <a:noAutofit/>
          </a:bodyPr>
          <a:lstStyle>
            <a:lvl1pPr>
              <a:defRPr spc="-50" baseline="0">
                <a:solidFill>
                  <a:schemeClr val="bg1"/>
                </a:solidFill>
              </a:defRPr>
            </a:lvl1pPr>
          </a:lstStyle>
          <a:p>
            <a:r>
              <a:rPr lang="en-US"/>
              <a:t>Click to edit Master title style</a:t>
            </a:r>
          </a:p>
        </p:txBody>
      </p:sp>
      <p:sp>
        <p:nvSpPr>
          <p:cNvPr id="4" name="Text Placeholder 3">
            <a:extLst>
              <a:ext uri="{FF2B5EF4-FFF2-40B4-BE49-F238E27FC236}">
                <a16:creationId xmlns:a16="http://schemas.microsoft.com/office/drawing/2014/main" id="{2C8B710C-98AB-E15B-A05A-468E5AF541FD}"/>
              </a:ext>
            </a:extLst>
          </p:cNvPr>
          <p:cNvSpPr>
            <a:spLocks noGrp="1"/>
          </p:cNvSpPr>
          <p:nvPr>
            <p:ph type="body" sz="quarter" idx="12" hasCustomPrompt="1"/>
          </p:nvPr>
        </p:nvSpPr>
        <p:spPr>
          <a:xfrm>
            <a:off x="533400" y="502920"/>
            <a:ext cx="11128248" cy="182880"/>
          </a:xfrm>
        </p:spPr>
        <p:txBody>
          <a:bodyPr/>
          <a:lstStyle>
            <a:lvl1pPr marL="0" indent="0">
              <a:buNone/>
              <a:defRPr sz="800" b="1" cap="all" spc="200" baseline="0">
                <a:solidFill>
                  <a:schemeClr val="bg2">
                    <a:lumMod val="90000"/>
                  </a:schemeClr>
                </a:solidFill>
              </a:defRPr>
            </a:lvl1pPr>
            <a:lvl2pPr marL="457200" indent="0">
              <a:buNone/>
              <a:defRPr sz="800" b="1" cap="all" baseline="0"/>
            </a:lvl2pPr>
            <a:lvl3pPr marL="914400" indent="0">
              <a:buNone/>
              <a:defRPr sz="800" b="1" cap="all" baseline="0"/>
            </a:lvl3pPr>
            <a:lvl4pPr marL="1371600" indent="0">
              <a:buNone/>
              <a:defRPr sz="800" b="1" cap="all" baseline="0"/>
            </a:lvl4pPr>
            <a:lvl5pPr marL="1828800" indent="0">
              <a:buNone/>
              <a:defRPr sz="800" b="1" cap="all" baseline="0"/>
            </a:lvl5pPr>
          </a:lstStyle>
          <a:p>
            <a:pPr lvl="0"/>
            <a:r>
              <a:rPr lang="en-US"/>
              <a:t>SECTION NAME</a:t>
            </a:r>
          </a:p>
        </p:txBody>
      </p:sp>
      <p:grpSp>
        <p:nvGrpSpPr>
          <p:cNvPr id="7" name="Graphic 9">
            <a:extLst>
              <a:ext uri="{FF2B5EF4-FFF2-40B4-BE49-F238E27FC236}">
                <a16:creationId xmlns:a16="http://schemas.microsoft.com/office/drawing/2014/main" id="{D9FCE122-784E-9DC6-F7E8-FA43165BFF36}"/>
              </a:ext>
            </a:extLst>
          </p:cNvPr>
          <p:cNvGrpSpPr>
            <a:grpSpLocks noChangeAspect="1"/>
          </p:cNvGrpSpPr>
          <p:nvPr userDrawn="1"/>
        </p:nvGrpSpPr>
        <p:grpSpPr>
          <a:xfrm>
            <a:off x="417511" y="6489055"/>
            <a:ext cx="249135" cy="136828"/>
            <a:chOff x="11484948" y="313034"/>
            <a:chExt cx="401233" cy="220363"/>
          </a:xfrm>
          <a:solidFill>
            <a:schemeClr val="accent5"/>
          </a:solidFill>
        </p:grpSpPr>
        <p:sp>
          <p:nvSpPr>
            <p:cNvPr id="8" name="Freeform 7">
              <a:extLst>
                <a:ext uri="{FF2B5EF4-FFF2-40B4-BE49-F238E27FC236}">
                  <a16:creationId xmlns:a16="http://schemas.microsoft.com/office/drawing/2014/main" id="{22731A90-798F-263D-EA32-25545EDF5D05}"/>
                </a:ext>
              </a:extLst>
            </p:cNvPr>
            <p:cNvSpPr/>
            <p:nvPr userDrawn="1"/>
          </p:nvSpPr>
          <p:spPr>
            <a:xfrm>
              <a:off x="11652424" y="313034"/>
              <a:ext cx="233757" cy="220363"/>
            </a:xfrm>
            <a:custGeom>
              <a:avLst/>
              <a:gdLst>
                <a:gd name="connsiteX0" fmla="*/ 233757 w 233757"/>
                <a:gd name="connsiteY0" fmla="*/ 220363 h 220363"/>
                <a:gd name="connsiteX1" fmla="*/ 187006 w 233757"/>
                <a:gd name="connsiteY1" fmla="*/ 220363 h 220363"/>
                <a:gd name="connsiteX2" fmla="*/ 187006 w 233757"/>
                <a:gd name="connsiteY2" fmla="*/ 89448 h 220363"/>
                <a:gd name="connsiteX3" fmla="*/ 116879 w 233757"/>
                <a:gd name="connsiteY3" fmla="*/ 159645 h 220363"/>
                <a:gd name="connsiteX4" fmla="*/ 46751 w 233757"/>
                <a:gd name="connsiteY4" fmla="*/ 89448 h 220363"/>
                <a:gd name="connsiteX5" fmla="*/ 46751 w 233757"/>
                <a:gd name="connsiteY5" fmla="*/ 220363 h 220363"/>
                <a:gd name="connsiteX6" fmla="*/ 0 w 233757"/>
                <a:gd name="connsiteY6" fmla="*/ 220363 h 220363"/>
                <a:gd name="connsiteX7" fmla="*/ 0 w 233757"/>
                <a:gd name="connsiteY7" fmla="*/ 0 h 220363"/>
                <a:gd name="connsiteX8" fmla="*/ 24855 w 233757"/>
                <a:gd name="connsiteY8" fmla="*/ 0 h 220363"/>
                <a:gd name="connsiteX9" fmla="*/ 117470 w 233757"/>
                <a:gd name="connsiteY9" fmla="*/ 92706 h 220363"/>
                <a:gd name="connsiteX10" fmla="*/ 208902 w 233757"/>
                <a:gd name="connsiteY10" fmla="*/ 0 h 220363"/>
                <a:gd name="connsiteX11" fmla="*/ 233757 w 233757"/>
                <a:gd name="connsiteY11" fmla="*/ 0 h 220363"/>
                <a:gd name="connsiteX12" fmla="*/ 233757 w 233757"/>
                <a:gd name="connsiteY12" fmla="*/ 220363 h 22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757" h="220363">
                  <a:moveTo>
                    <a:pt x="233757" y="220363"/>
                  </a:moveTo>
                  <a:lnTo>
                    <a:pt x="187006" y="220363"/>
                  </a:lnTo>
                  <a:lnTo>
                    <a:pt x="187006" y="89448"/>
                  </a:lnTo>
                  <a:lnTo>
                    <a:pt x="116879" y="159645"/>
                  </a:lnTo>
                  <a:lnTo>
                    <a:pt x="46751" y="89448"/>
                  </a:lnTo>
                  <a:lnTo>
                    <a:pt x="46751" y="220363"/>
                  </a:lnTo>
                  <a:lnTo>
                    <a:pt x="0" y="220363"/>
                  </a:lnTo>
                  <a:lnTo>
                    <a:pt x="0" y="0"/>
                  </a:lnTo>
                  <a:lnTo>
                    <a:pt x="24855" y="0"/>
                  </a:lnTo>
                  <a:lnTo>
                    <a:pt x="117470" y="92706"/>
                  </a:lnTo>
                  <a:lnTo>
                    <a:pt x="208902" y="0"/>
                  </a:lnTo>
                  <a:lnTo>
                    <a:pt x="233757" y="0"/>
                  </a:lnTo>
                  <a:lnTo>
                    <a:pt x="233757" y="220363"/>
                  </a:lnTo>
                  <a:close/>
                </a:path>
              </a:pathLst>
            </a:custGeom>
            <a:solidFill>
              <a:schemeClr val="bg1"/>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9" name="Freeform 8">
              <a:extLst>
                <a:ext uri="{FF2B5EF4-FFF2-40B4-BE49-F238E27FC236}">
                  <a16:creationId xmlns:a16="http://schemas.microsoft.com/office/drawing/2014/main" id="{2B36744D-81AD-D6CF-EAF0-E1488DD39B7D}"/>
                </a:ext>
              </a:extLst>
            </p:cNvPr>
            <p:cNvSpPr/>
            <p:nvPr userDrawn="1"/>
          </p:nvSpPr>
          <p:spPr>
            <a:xfrm>
              <a:off x="11484948" y="412552"/>
              <a:ext cx="120725" cy="120844"/>
            </a:xfrm>
            <a:custGeom>
              <a:avLst/>
              <a:gdLst>
                <a:gd name="connsiteX0" fmla="*/ 120725 w 120725"/>
                <a:gd name="connsiteY0" fmla="*/ 0 h 120844"/>
                <a:gd name="connsiteX1" fmla="*/ 0 w 120725"/>
                <a:gd name="connsiteY1" fmla="*/ 0 h 120844"/>
                <a:gd name="connsiteX2" fmla="*/ 120725 w 120725"/>
                <a:gd name="connsiteY2" fmla="*/ 120844 h 120844"/>
                <a:gd name="connsiteX3" fmla="*/ 120725 w 120725"/>
                <a:gd name="connsiteY3" fmla="*/ 0 h 120844"/>
              </a:gdLst>
              <a:ahLst/>
              <a:cxnLst>
                <a:cxn ang="0">
                  <a:pos x="connsiteX0" y="connsiteY0"/>
                </a:cxn>
                <a:cxn ang="0">
                  <a:pos x="connsiteX1" y="connsiteY1"/>
                </a:cxn>
                <a:cxn ang="0">
                  <a:pos x="connsiteX2" y="connsiteY2"/>
                </a:cxn>
                <a:cxn ang="0">
                  <a:pos x="connsiteX3" y="connsiteY3"/>
                </a:cxn>
              </a:cxnLst>
              <a:rect l="l" t="t" r="r" b="b"/>
              <a:pathLst>
                <a:path w="120725" h="120844">
                  <a:moveTo>
                    <a:pt x="120725" y="0"/>
                  </a:moveTo>
                  <a:lnTo>
                    <a:pt x="0" y="0"/>
                  </a:lnTo>
                  <a:lnTo>
                    <a:pt x="120725" y="120844"/>
                  </a:lnTo>
                  <a:lnTo>
                    <a:pt x="120725" y="0"/>
                  </a:lnTo>
                  <a:close/>
                </a:path>
              </a:pathLst>
            </a:custGeom>
            <a:solidFill>
              <a:srgbClr val="F23A1E"/>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grpSp>
      <p:sp>
        <p:nvSpPr>
          <p:cNvPr id="6" name="TextBox 5">
            <a:extLst>
              <a:ext uri="{FF2B5EF4-FFF2-40B4-BE49-F238E27FC236}">
                <a16:creationId xmlns:a16="http://schemas.microsoft.com/office/drawing/2014/main" id="{F1DD96A2-159F-BFEA-27CA-32D611C64F0A}"/>
              </a:ext>
            </a:extLst>
          </p:cNvPr>
          <p:cNvSpPr txBox="1"/>
          <p:nvPr userDrawn="1"/>
        </p:nvSpPr>
        <p:spPr>
          <a:xfrm>
            <a:off x="7796752" y="6324600"/>
            <a:ext cx="4058444" cy="304795"/>
          </a:xfrm>
          <a:prstGeom prst="rect">
            <a:avLst/>
          </a:prstGeom>
          <a:noFill/>
        </p:spPr>
        <p:txBody>
          <a:bodyPr wrap="square" bIns="0" rtlCol="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3BDFC0B-CFB1-084E-A5D1-50420B235E65}" type="slidenum">
              <a:rPr kumimoji="0" lang="en-US" sz="700" b="0" i="0" u="none" strike="noStrike" kern="1200" cap="none" spc="0" normalizeH="0" baseline="0" noProof="0" smtClean="0">
                <a:ln>
                  <a:noFill/>
                </a:ln>
                <a:solidFill>
                  <a:schemeClr val="bg2">
                    <a:lumMod val="75000"/>
                  </a:schemeClr>
                </a:solidFill>
                <a:effectLst/>
                <a:uLnTx/>
                <a:uFillTx/>
                <a:latin typeface="+mn-lt"/>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sz="700" b="0" i="0">
              <a:solidFill>
                <a:schemeClr val="bg2">
                  <a:lumMod val="75000"/>
                </a:schemeClr>
              </a:solidFill>
              <a:latin typeface="+mn-lt"/>
              <a:ea typeface="+mn-ea"/>
              <a:cs typeface="+mn-cs"/>
            </a:endParaRPr>
          </a:p>
        </p:txBody>
      </p:sp>
    </p:spTree>
    <p:extLst>
      <p:ext uri="{BB962C8B-B14F-4D97-AF65-F5344CB8AC3E}">
        <p14:creationId xmlns:p14="http://schemas.microsoft.com/office/powerpoint/2010/main" val="264306177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p:cSld name="Closin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7D13399-5BEF-EEED-B940-0B118B8114F4}"/>
              </a:ext>
            </a:extLst>
          </p:cNvPr>
          <p:cNvSpPr/>
          <p:nvPr userDrawn="1"/>
        </p:nvSpPr>
        <p:spPr>
          <a:xfrm rot="10800000" flipV="1">
            <a:off x="2" y="-3"/>
            <a:ext cx="12191998" cy="6858003"/>
          </a:xfrm>
          <a:prstGeom prst="rect">
            <a:avLst/>
          </a:prstGeom>
          <a:solidFill>
            <a:schemeClr val="tx1"/>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sp>
        <p:nvSpPr>
          <p:cNvPr id="8" name="TextBox 7">
            <a:extLst>
              <a:ext uri="{FF2B5EF4-FFF2-40B4-BE49-F238E27FC236}">
                <a16:creationId xmlns:a16="http://schemas.microsoft.com/office/drawing/2014/main" id="{EE1B876D-140A-A646-9E95-8CA988F4773F}"/>
              </a:ext>
            </a:extLst>
          </p:cNvPr>
          <p:cNvSpPr txBox="1"/>
          <p:nvPr/>
        </p:nvSpPr>
        <p:spPr>
          <a:xfrm>
            <a:off x="9144001" y="6248401"/>
            <a:ext cx="2743200" cy="380994"/>
          </a:xfrm>
          <a:prstGeom prst="rect">
            <a:avLst/>
          </a:prstGeom>
          <a:noFill/>
        </p:spPr>
        <p:txBody>
          <a:bodyPr wrap="square" bIns="0" rtlCol="0" anchor="b">
            <a:no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800" b="0" i="0">
                <a:solidFill>
                  <a:schemeClr val="bg2">
                    <a:lumMod val="75000"/>
                  </a:schemeClr>
                </a:solidFill>
                <a:latin typeface="+mn-lt"/>
                <a:ea typeface="+mn-ea"/>
                <a:cs typeface="+mn-cs"/>
              </a:rPr>
              <a:t>© 2026 Merkle, Inc. All Rights Reserved. Confidential.</a:t>
            </a:r>
          </a:p>
        </p:txBody>
      </p:sp>
      <p:grpSp>
        <p:nvGrpSpPr>
          <p:cNvPr id="11" name="Graphic 9">
            <a:extLst>
              <a:ext uri="{FF2B5EF4-FFF2-40B4-BE49-F238E27FC236}">
                <a16:creationId xmlns:a16="http://schemas.microsoft.com/office/drawing/2014/main" id="{3266A6D4-7FA8-1F50-AF70-17632A9A1500}"/>
              </a:ext>
            </a:extLst>
          </p:cNvPr>
          <p:cNvGrpSpPr>
            <a:grpSpLocks noChangeAspect="1"/>
          </p:cNvGrpSpPr>
          <p:nvPr userDrawn="1"/>
        </p:nvGrpSpPr>
        <p:grpSpPr>
          <a:xfrm>
            <a:off x="5473098" y="3188907"/>
            <a:ext cx="878544" cy="482508"/>
            <a:chOff x="11484948" y="313034"/>
            <a:chExt cx="401233" cy="220363"/>
          </a:xfrm>
          <a:solidFill>
            <a:schemeClr val="accent5"/>
          </a:solidFill>
        </p:grpSpPr>
        <p:sp>
          <p:nvSpPr>
            <p:cNvPr id="12" name="Freeform 11">
              <a:extLst>
                <a:ext uri="{FF2B5EF4-FFF2-40B4-BE49-F238E27FC236}">
                  <a16:creationId xmlns:a16="http://schemas.microsoft.com/office/drawing/2014/main" id="{D38B71AF-F8A4-A1E9-B960-47978F397A7C}"/>
                </a:ext>
              </a:extLst>
            </p:cNvPr>
            <p:cNvSpPr/>
            <p:nvPr userDrawn="1"/>
          </p:nvSpPr>
          <p:spPr>
            <a:xfrm>
              <a:off x="11652424" y="313034"/>
              <a:ext cx="233757" cy="220363"/>
            </a:xfrm>
            <a:custGeom>
              <a:avLst/>
              <a:gdLst>
                <a:gd name="connsiteX0" fmla="*/ 233757 w 233757"/>
                <a:gd name="connsiteY0" fmla="*/ 220363 h 220363"/>
                <a:gd name="connsiteX1" fmla="*/ 187006 w 233757"/>
                <a:gd name="connsiteY1" fmla="*/ 220363 h 220363"/>
                <a:gd name="connsiteX2" fmla="*/ 187006 w 233757"/>
                <a:gd name="connsiteY2" fmla="*/ 89448 h 220363"/>
                <a:gd name="connsiteX3" fmla="*/ 116879 w 233757"/>
                <a:gd name="connsiteY3" fmla="*/ 159645 h 220363"/>
                <a:gd name="connsiteX4" fmla="*/ 46751 w 233757"/>
                <a:gd name="connsiteY4" fmla="*/ 89448 h 220363"/>
                <a:gd name="connsiteX5" fmla="*/ 46751 w 233757"/>
                <a:gd name="connsiteY5" fmla="*/ 220363 h 220363"/>
                <a:gd name="connsiteX6" fmla="*/ 0 w 233757"/>
                <a:gd name="connsiteY6" fmla="*/ 220363 h 220363"/>
                <a:gd name="connsiteX7" fmla="*/ 0 w 233757"/>
                <a:gd name="connsiteY7" fmla="*/ 0 h 220363"/>
                <a:gd name="connsiteX8" fmla="*/ 24855 w 233757"/>
                <a:gd name="connsiteY8" fmla="*/ 0 h 220363"/>
                <a:gd name="connsiteX9" fmla="*/ 117470 w 233757"/>
                <a:gd name="connsiteY9" fmla="*/ 92706 h 220363"/>
                <a:gd name="connsiteX10" fmla="*/ 208902 w 233757"/>
                <a:gd name="connsiteY10" fmla="*/ 0 h 220363"/>
                <a:gd name="connsiteX11" fmla="*/ 233757 w 233757"/>
                <a:gd name="connsiteY11" fmla="*/ 0 h 220363"/>
                <a:gd name="connsiteX12" fmla="*/ 233757 w 233757"/>
                <a:gd name="connsiteY12" fmla="*/ 220363 h 22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757" h="220363">
                  <a:moveTo>
                    <a:pt x="233757" y="220363"/>
                  </a:moveTo>
                  <a:lnTo>
                    <a:pt x="187006" y="220363"/>
                  </a:lnTo>
                  <a:lnTo>
                    <a:pt x="187006" y="89448"/>
                  </a:lnTo>
                  <a:lnTo>
                    <a:pt x="116879" y="159645"/>
                  </a:lnTo>
                  <a:lnTo>
                    <a:pt x="46751" y="89448"/>
                  </a:lnTo>
                  <a:lnTo>
                    <a:pt x="46751" y="220363"/>
                  </a:lnTo>
                  <a:lnTo>
                    <a:pt x="0" y="220363"/>
                  </a:lnTo>
                  <a:lnTo>
                    <a:pt x="0" y="0"/>
                  </a:lnTo>
                  <a:lnTo>
                    <a:pt x="24855" y="0"/>
                  </a:lnTo>
                  <a:lnTo>
                    <a:pt x="117470" y="92706"/>
                  </a:lnTo>
                  <a:lnTo>
                    <a:pt x="208902" y="0"/>
                  </a:lnTo>
                  <a:lnTo>
                    <a:pt x="233757" y="0"/>
                  </a:lnTo>
                  <a:lnTo>
                    <a:pt x="233757" y="220363"/>
                  </a:lnTo>
                  <a:close/>
                </a:path>
              </a:pathLst>
            </a:custGeom>
            <a:solidFill>
              <a:schemeClr val="bg1"/>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13" name="Freeform 12">
              <a:extLst>
                <a:ext uri="{FF2B5EF4-FFF2-40B4-BE49-F238E27FC236}">
                  <a16:creationId xmlns:a16="http://schemas.microsoft.com/office/drawing/2014/main" id="{8D225686-E5A8-A339-D3BA-08D00055A0AB}"/>
                </a:ext>
              </a:extLst>
            </p:cNvPr>
            <p:cNvSpPr/>
            <p:nvPr userDrawn="1"/>
          </p:nvSpPr>
          <p:spPr>
            <a:xfrm>
              <a:off x="11484948" y="412552"/>
              <a:ext cx="120725" cy="120844"/>
            </a:xfrm>
            <a:custGeom>
              <a:avLst/>
              <a:gdLst>
                <a:gd name="connsiteX0" fmla="*/ 120725 w 120725"/>
                <a:gd name="connsiteY0" fmla="*/ 0 h 120844"/>
                <a:gd name="connsiteX1" fmla="*/ 0 w 120725"/>
                <a:gd name="connsiteY1" fmla="*/ 0 h 120844"/>
                <a:gd name="connsiteX2" fmla="*/ 120725 w 120725"/>
                <a:gd name="connsiteY2" fmla="*/ 120844 h 120844"/>
                <a:gd name="connsiteX3" fmla="*/ 120725 w 120725"/>
                <a:gd name="connsiteY3" fmla="*/ 0 h 120844"/>
              </a:gdLst>
              <a:ahLst/>
              <a:cxnLst>
                <a:cxn ang="0">
                  <a:pos x="connsiteX0" y="connsiteY0"/>
                </a:cxn>
                <a:cxn ang="0">
                  <a:pos x="connsiteX1" y="connsiteY1"/>
                </a:cxn>
                <a:cxn ang="0">
                  <a:pos x="connsiteX2" y="connsiteY2"/>
                </a:cxn>
                <a:cxn ang="0">
                  <a:pos x="connsiteX3" y="connsiteY3"/>
                </a:cxn>
              </a:cxnLst>
              <a:rect l="l" t="t" r="r" b="b"/>
              <a:pathLst>
                <a:path w="120725" h="120844">
                  <a:moveTo>
                    <a:pt x="120725" y="0"/>
                  </a:moveTo>
                  <a:lnTo>
                    <a:pt x="0" y="0"/>
                  </a:lnTo>
                  <a:lnTo>
                    <a:pt x="120725" y="120844"/>
                  </a:lnTo>
                  <a:lnTo>
                    <a:pt x="120725" y="0"/>
                  </a:lnTo>
                  <a:close/>
                </a:path>
              </a:pathLst>
            </a:custGeom>
            <a:solidFill>
              <a:srgbClr val="F23A1E"/>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grpSp>
    </p:spTree>
    <p:extLst>
      <p:ext uri="{BB962C8B-B14F-4D97-AF65-F5344CB8AC3E}">
        <p14:creationId xmlns:p14="http://schemas.microsoft.com/office/powerpoint/2010/main" val="247342055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7049211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2B730ED-7B9D-40FC-B1E0-F1125DD90F87}"/>
              </a:ext>
            </a:extLst>
          </p:cNvPr>
          <p:cNvSpPr>
            <a:spLocks noGrp="1"/>
          </p:cNvSpPr>
          <p:nvPr>
            <p:ph type="title"/>
          </p:nvPr>
        </p:nvSpPr>
        <p:spPr>
          <a:xfrm>
            <a:off x="533400" y="457200"/>
            <a:ext cx="11125200" cy="609600"/>
          </a:xfrm>
          <a:prstGeom prst="rect">
            <a:avLst/>
          </a:prstGeom>
        </p:spPr>
        <p:txBody>
          <a:bodyPr vert="horz" lIns="91440" tIns="45720" rIns="91440" bIns="45720" rtlCol="0" anchor="t">
            <a:noAutofit/>
          </a:bodyPr>
          <a:lstStyle/>
          <a:p>
            <a:r>
              <a:rPr lang="en-US"/>
              <a:t>Click to edit Master title style</a:t>
            </a:r>
            <a:endParaRPr lang="da-DK"/>
          </a:p>
        </p:txBody>
      </p:sp>
      <p:sp>
        <p:nvSpPr>
          <p:cNvPr id="3" name="Text Placeholder 2">
            <a:extLst>
              <a:ext uri="{FF2B5EF4-FFF2-40B4-BE49-F238E27FC236}">
                <a16:creationId xmlns:a16="http://schemas.microsoft.com/office/drawing/2014/main" id="{F1B16267-223E-41DF-97C0-3C5C64CF28FE}"/>
              </a:ext>
            </a:extLst>
          </p:cNvPr>
          <p:cNvSpPr>
            <a:spLocks noGrp="1"/>
          </p:cNvSpPr>
          <p:nvPr>
            <p:ph type="body" idx="1"/>
          </p:nvPr>
        </p:nvSpPr>
        <p:spPr>
          <a:xfrm>
            <a:off x="533400" y="1219200"/>
            <a:ext cx="11125200" cy="4800599"/>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0F89AE7F-24B1-A64B-B288-B6C5E8A9B846}"/>
              </a:ext>
            </a:extLst>
          </p:cNvPr>
          <p:cNvSpPr txBox="1"/>
          <p:nvPr/>
        </p:nvSpPr>
        <p:spPr>
          <a:xfrm>
            <a:off x="7796752" y="6324600"/>
            <a:ext cx="4058444" cy="304795"/>
          </a:xfrm>
          <a:prstGeom prst="rect">
            <a:avLst/>
          </a:prstGeom>
          <a:noFill/>
        </p:spPr>
        <p:txBody>
          <a:bodyPr wrap="square" bIns="0" rtlCol="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3BDFC0B-CFB1-084E-A5D1-50420B235E65}" type="slidenum">
              <a:rPr kumimoji="0" lang="en-US" sz="700" b="0" i="0" u="none" strike="noStrike" kern="1200" cap="none" spc="0" normalizeH="0" baseline="0" noProof="0" smtClean="0">
                <a:ln>
                  <a:noFill/>
                </a:ln>
                <a:solidFill>
                  <a:schemeClr val="bg2">
                    <a:lumMod val="75000"/>
                  </a:schemeClr>
                </a:solidFill>
                <a:effectLst/>
                <a:uLnTx/>
                <a:uFillTx/>
                <a:latin typeface="+mn-lt"/>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sz="700" b="0" i="0">
              <a:solidFill>
                <a:schemeClr val="bg2">
                  <a:lumMod val="75000"/>
                </a:schemeClr>
              </a:solidFill>
              <a:latin typeface="+mn-lt"/>
              <a:ea typeface="+mn-ea"/>
              <a:cs typeface="+mn-cs"/>
            </a:endParaRPr>
          </a:p>
        </p:txBody>
      </p:sp>
      <p:sp>
        <p:nvSpPr>
          <p:cNvPr id="9" name="TextBox 8">
            <a:extLst>
              <a:ext uri="{FF2B5EF4-FFF2-40B4-BE49-F238E27FC236}">
                <a16:creationId xmlns:a16="http://schemas.microsoft.com/office/drawing/2014/main" id="{A90C8A3C-DD41-F348-BAAE-28579DC164C9}"/>
              </a:ext>
            </a:extLst>
          </p:cNvPr>
          <p:cNvSpPr txBox="1"/>
          <p:nvPr userDrawn="1"/>
        </p:nvSpPr>
        <p:spPr>
          <a:xfrm>
            <a:off x="7796752" y="6324600"/>
            <a:ext cx="4058444" cy="304795"/>
          </a:xfrm>
          <a:prstGeom prst="rect">
            <a:avLst/>
          </a:prstGeom>
          <a:noFill/>
        </p:spPr>
        <p:txBody>
          <a:bodyPr wrap="square" bIns="0" rtlCol="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3BDFC0B-CFB1-084E-A5D1-50420B235E65}" type="slidenum">
              <a:rPr kumimoji="0" lang="en-US" sz="700" b="0" i="0" u="none" strike="noStrike" kern="1200" cap="none" spc="0" normalizeH="0" baseline="0" noProof="0" smtClean="0">
                <a:ln>
                  <a:noFill/>
                </a:ln>
                <a:solidFill>
                  <a:schemeClr val="bg2">
                    <a:lumMod val="75000"/>
                  </a:schemeClr>
                </a:solidFill>
                <a:effectLst/>
                <a:uLnTx/>
                <a:uFillTx/>
                <a:latin typeface="+mn-lt"/>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sz="700" b="0" i="0">
              <a:solidFill>
                <a:schemeClr val="bg2">
                  <a:lumMod val="75000"/>
                </a:schemeClr>
              </a:solidFill>
              <a:latin typeface="+mn-lt"/>
              <a:ea typeface="+mn-ea"/>
              <a:cs typeface="+mn-cs"/>
            </a:endParaRPr>
          </a:p>
        </p:txBody>
      </p:sp>
      <p:grpSp>
        <p:nvGrpSpPr>
          <p:cNvPr id="14" name="Graphic 9">
            <a:extLst>
              <a:ext uri="{FF2B5EF4-FFF2-40B4-BE49-F238E27FC236}">
                <a16:creationId xmlns:a16="http://schemas.microsoft.com/office/drawing/2014/main" id="{91938403-5DD2-285C-67C1-6B3077C17CA8}"/>
              </a:ext>
            </a:extLst>
          </p:cNvPr>
          <p:cNvGrpSpPr>
            <a:grpSpLocks noChangeAspect="1"/>
          </p:cNvGrpSpPr>
          <p:nvPr userDrawn="1"/>
        </p:nvGrpSpPr>
        <p:grpSpPr>
          <a:xfrm>
            <a:off x="417511" y="6489055"/>
            <a:ext cx="249135" cy="136828"/>
            <a:chOff x="11484948" y="313034"/>
            <a:chExt cx="401233" cy="220363"/>
          </a:xfrm>
          <a:solidFill>
            <a:schemeClr val="accent5"/>
          </a:solidFill>
        </p:grpSpPr>
        <p:sp>
          <p:nvSpPr>
            <p:cNvPr id="15" name="Freeform 14">
              <a:extLst>
                <a:ext uri="{FF2B5EF4-FFF2-40B4-BE49-F238E27FC236}">
                  <a16:creationId xmlns:a16="http://schemas.microsoft.com/office/drawing/2014/main" id="{2C8368F7-FE0C-4A9D-A6AC-23CC716F632C}"/>
                </a:ext>
              </a:extLst>
            </p:cNvPr>
            <p:cNvSpPr/>
            <p:nvPr userDrawn="1"/>
          </p:nvSpPr>
          <p:spPr>
            <a:xfrm>
              <a:off x="11652424" y="313034"/>
              <a:ext cx="233757" cy="220363"/>
            </a:xfrm>
            <a:custGeom>
              <a:avLst/>
              <a:gdLst>
                <a:gd name="connsiteX0" fmla="*/ 233757 w 233757"/>
                <a:gd name="connsiteY0" fmla="*/ 220363 h 220363"/>
                <a:gd name="connsiteX1" fmla="*/ 187006 w 233757"/>
                <a:gd name="connsiteY1" fmla="*/ 220363 h 220363"/>
                <a:gd name="connsiteX2" fmla="*/ 187006 w 233757"/>
                <a:gd name="connsiteY2" fmla="*/ 89448 h 220363"/>
                <a:gd name="connsiteX3" fmla="*/ 116879 w 233757"/>
                <a:gd name="connsiteY3" fmla="*/ 159645 h 220363"/>
                <a:gd name="connsiteX4" fmla="*/ 46751 w 233757"/>
                <a:gd name="connsiteY4" fmla="*/ 89448 h 220363"/>
                <a:gd name="connsiteX5" fmla="*/ 46751 w 233757"/>
                <a:gd name="connsiteY5" fmla="*/ 220363 h 220363"/>
                <a:gd name="connsiteX6" fmla="*/ 0 w 233757"/>
                <a:gd name="connsiteY6" fmla="*/ 220363 h 220363"/>
                <a:gd name="connsiteX7" fmla="*/ 0 w 233757"/>
                <a:gd name="connsiteY7" fmla="*/ 0 h 220363"/>
                <a:gd name="connsiteX8" fmla="*/ 24855 w 233757"/>
                <a:gd name="connsiteY8" fmla="*/ 0 h 220363"/>
                <a:gd name="connsiteX9" fmla="*/ 117470 w 233757"/>
                <a:gd name="connsiteY9" fmla="*/ 92706 h 220363"/>
                <a:gd name="connsiteX10" fmla="*/ 208902 w 233757"/>
                <a:gd name="connsiteY10" fmla="*/ 0 h 220363"/>
                <a:gd name="connsiteX11" fmla="*/ 233757 w 233757"/>
                <a:gd name="connsiteY11" fmla="*/ 0 h 220363"/>
                <a:gd name="connsiteX12" fmla="*/ 233757 w 233757"/>
                <a:gd name="connsiteY12" fmla="*/ 220363 h 22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757" h="220363">
                  <a:moveTo>
                    <a:pt x="233757" y="220363"/>
                  </a:moveTo>
                  <a:lnTo>
                    <a:pt x="187006" y="220363"/>
                  </a:lnTo>
                  <a:lnTo>
                    <a:pt x="187006" y="89448"/>
                  </a:lnTo>
                  <a:lnTo>
                    <a:pt x="116879" y="159645"/>
                  </a:lnTo>
                  <a:lnTo>
                    <a:pt x="46751" y="89448"/>
                  </a:lnTo>
                  <a:lnTo>
                    <a:pt x="46751" y="220363"/>
                  </a:lnTo>
                  <a:lnTo>
                    <a:pt x="0" y="220363"/>
                  </a:lnTo>
                  <a:lnTo>
                    <a:pt x="0" y="0"/>
                  </a:lnTo>
                  <a:lnTo>
                    <a:pt x="24855" y="0"/>
                  </a:lnTo>
                  <a:lnTo>
                    <a:pt x="117470" y="92706"/>
                  </a:lnTo>
                  <a:lnTo>
                    <a:pt x="208902" y="0"/>
                  </a:lnTo>
                  <a:lnTo>
                    <a:pt x="233757" y="0"/>
                  </a:lnTo>
                  <a:lnTo>
                    <a:pt x="233757" y="220363"/>
                  </a:lnTo>
                  <a:close/>
                </a:path>
              </a:pathLst>
            </a:custGeom>
            <a:solidFill>
              <a:srgbClr val="10295D"/>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16" name="Freeform 15">
              <a:extLst>
                <a:ext uri="{FF2B5EF4-FFF2-40B4-BE49-F238E27FC236}">
                  <a16:creationId xmlns:a16="http://schemas.microsoft.com/office/drawing/2014/main" id="{B327AF6F-810F-21C4-8946-5FD13473973C}"/>
                </a:ext>
              </a:extLst>
            </p:cNvPr>
            <p:cNvSpPr/>
            <p:nvPr userDrawn="1"/>
          </p:nvSpPr>
          <p:spPr>
            <a:xfrm>
              <a:off x="11484948" y="412552"/>
              <a:ext cx="120725" cy="120844"/>
            </a:xfrm>
            <a:custGeom>
              <a:avLst/>
              <a:gdLst>
                <a:gd name="connsiteX0" fmla="*/ 120725 w 120725"/>
                <a:gd name="connsiteY0" fmla="*/ 0 h 120844"/>
                <a:gd name="connsiteX1" fmla="*/ 0 w 120725"/>
                <a:gd name="connsiteY1" fmla="*/ 0 h 120844"/>
                <a:gd name="connsiteX2" fmla="*/ 120725 w 120725"/>
                <a:gd name="connsiteY2" fmla="*/ 120844 h 120844"/>
                <a:gd name="connsiteX3" fmla="*/ 120725 w 120725"/>
                <a:gd name="connsiteY3" fmla="*/ 0 h 120844"/>
              </a:gdLst>
              <a:ahLst/>
              <a:cxnLst>
                <a:cxn ang="0">
                  <a:pos x="connsiteX0" y="connsiteY0"/>
                </a:cxn>
                <a:cxn ang="0">
                  <a:pos x="connsiteX1" y="connsiteY1"/>
                </a:cxn>
                <a:cxn ang="0">
                  <a:pos x="connsiteX2" y="connsiteY2"/>
                </a:cxn>
                <a:cxn ang="0">
                  <a:pos x="connsiteX3" y="connsiteY3"/>
                </a:cxn>
              </a:cxnLst>
              <a:rect l="l" t="t" r="r" b="b"/>
              <a:pathLst>
                <a:path w="120725" h="120844">
                  <a:moveTo>
                    <a:pt x="120725" y="0"/>
                  </a:moveTo>
                  <a:lnTo>
                    <a:pt x="0" y="0"/>
                  </a:lnTo>
                  <a:lnTo>
                    <a:pt x="120725" y="120844"/>
                  </a:lnTo>
                  <a:lnTo>
                    <a:pt x="120725" y="0"/>
                  </a:lnTo>
                  <a:close/>
                </a:path>
              </a:pathLst>
            </a:custGeom>
            <a:solidFill>
              <a:srgbClr val="F23A1E"/>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grpSp>
    </p:spTree>
    <p:extLst>
      <p:ext uri="{BB962C8B-B14F-4D97-AF65-F5344CB8AC3E}">
        <p14:creationId xmlns:p14="http://schemas.microsoft.com/office/powerpoint/2010/main" val="2038093919"/>
      </p:ext>
    </p:extLst>
  </p:cSld>
  <p:clrMap bg1="dk1" tx1="lt1" bg2="dk2" tx2="lt2" accent1="accent1" accent2="accent2" accent3="accent3" accent4="accent4" accent5="accent5" accent6="accent6" hlink="hlink" folHlink="folHlink"/>
  <p:sldLayoutIdLst>
    <p:sldLayoutId id="2147484052" r:id="rId1"/>
    <p:sldLayoutId id="2147484053" r:id="rId2"/>
    <p:sldLayoutId id="2147484088" r:id="rId3"/>
    <p:sldLayoutId id="2147484087" r:id="rId4"/>
    <p:sldLayoutId id="2147484054" r:id="rId5"/>
    <p:sldLayoutId id="2147484057" r:id="rId6"/>
    <p:sldLayoutId id="2147484101" r:id="rId7"/>
    <p:sldLayoutId id="2147484059" r:id="rId8"/>
    <p:sldLayoutId id="2147484100" r:id="rId9"/>
    <p:sldLayoutId id="2147484089" r:id="rId10"/>
    <p:sldLayoutId id="2147484098" r:id="rId11"/>
    <p:sldLayoutId id="2147484090" r:id="rId12"/>
    <p:sldLayoutId id="2147484105" r:id="rId13"/>
    <p:sldLayoutId id="2147484104" r:id="rId14"/>
    <p:sldLayoutId id="2147484061" r:id="rId15"/>
    <p:sldLayoutId id="2147484119" r:id="rId16"/>
    <p:sldLayoutId id="2147484120" r:id="rId17"/>
    <p:sldLayoutId id="2147484093" r:id="rId18"/>
    <p:sldLayoutId id="2147484094" r:id="rId19"/>
    <p:sldLayoutId id="2147484075" r:id="rId20"/>
    <p:sldLayoutId id="2147484096" r:id="rId21"/>
    <p:sldLayoutId id="2147484117" r:id="rId22"/>
    <p:sldLayoutId id="2147484076" r:id="rId23"/>
    <p:sldLayoutId id="2147484077" r:id="rId24"/>
    <p:sldLayoutId id="2147484064" r:id="rId25"/>
    <p:sldLayoutId id="2147484116" r:id="rId26"/>
    <p:sldLayoutId id="2147484063" r:id="rId27"/>
    <p:sldLayoutId id="2147484066" r:id="rId28"/>
    <p:sldLayoutId id="2147484065" r:id="rId29"/>
    <p:sldLayoutId id="2147484067" r:id="rId30"/>
    <p:sldLayoutId id="2147484068" r:id="rId31"/>
    <p:sldLayoutId id="2147484074" r:id="rId32"/>
    <p:sldLayoutId id="2147484073" r:id="rId33"/>
    <p:sldLayoutId id="2147484118" r:id="rId34"/>
    <p:sldLayoutId id="2147484086" r:id="rId35"/>
    <p:sldLayoutId id="2147484121" r:id="rId36"/>
  </p:sldLayoutIdLst>
  <p:txStyles>
    <p:titleStyle>
      <a:lvl1pPr algn="l" defTabSz="914400" rtl="0" eaLnBrk="1" latinLnBrk="0" hangingPunct="1">
        <a:lnSpc>
          <a:spcPct val="90000"/>
        </a:lnSpc>
        <a:spcBef>
          <a:spcPct val="0"/>
        </a:spcBef>
        <a:buNone/>
        <a:defRPr sz="2400" b="1" kern="1200" spc="-50" baseline="0">
          <a:solidFill>
            <a:schemeClr val="tx1"/>
          </a:solidFill>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tabLst/>
        <a:defRPr sz="1400" kern="1200">
          <a:solidFill>
            <a:schemeClr val="tx1"/>
          </a:solidFill>
          <a:latin typeface="+mn-lt"/>
          <a:ea typeface="+mn-ea"/>
          <a:cs typeface="+mn-cs"/>
        </a:defRPr>
      </a:lvl1pPr>
      <a:lvl2pPr marL="274320" indent="-18288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2pPr>
      <a:lvl3pPr marL="640080" indent="-18288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3pPr>
      <a:lvl4pPr marL="1005840" indent="-18288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4pPr>
      <a:lvl5pPr marL="1371600" indent="-18288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1" orient="horz" pos="3936">
          <p15:clr>
            <a:srgbClr val="F26B43"/>
          </p15:clr>
        </p15:guide>
        <p15:guide id="22" orient="horz" pos="4176">
          <p15:clr>
            <a:srgbClr val="F26B43"/>
          </p15:clr>
        </p15:guide>
        <p15:guide id="27" orient="horz" pos="336">
          <p15:clr>
            <a:srgbClr val="5ACBF0"/>
          </p15:clr>
        </p15:guide>
        <p15:guide id="28" orient="horz" pos="3792">
          <p15:clr>
            <a:srgbClr val="5ACBF0"/>
          </p15:clr>
        </p15:guide>
        <p15:guide id="29" pos="336">
          <p15:clr>
            <a:srgbClr val="5ACBF0"/>
          </p15:clr>
        </p15:guide>
        <p15:guide id="30" pos="7344">
          <p15:clr>
            <a:srgbClr val="5ACBF0"/>
          </p15:clr>
        </p15:guide>
        <p15:guide id="31" orient="horz" pos="768">
          <p15:clr>
            <a:srgbClr val="5ACBF0"/>
          </p15:clr>
        </p15:guide>
        <p15:guide id="32" orient="horz" pos="720">
          <p15:clr>
            <a:srgbClr val="5ACBF0"/>
          </p15:clr>
        </p15:guide>
        <p15:guide id="33" orient="horz" pos="2160">
          <p15:clr>
            <a:srgbClr val="FDE53C"/>
          </p15:clr>
        </p15:guide>
        <p15:guide id="34" pos="3840">
          <p15:clr>
            <a:srgbClr val="FDE53C"/>
          </p15:clr>
        </p15:guide>
        <p15:guide id="35" pos="1366">
          <p15:clr>
            <a:srgbClr val="A4A3A4"/>
          </p15:clr>
        </p15:guide>
        <p15:guide id="36" pos="1533">
          <p15:clr>
            <a:srgbClr val="A4A3A4"/>
          </p15:clr>
        </p15:guide>
        <p15:guide id="37" pos="2561">
          <p15:clr>
            <a:srgbClr val="A4A3A4"/>
          </p15:clr>
        </p15:guide>
        <p15:guide id="38" pos="2729">
          <p15:clr>
            <a:srgbClr val="A4A3A4"/>
          </p15:clr>
        </p15:guide>
        <p15:guide id="39" pos="3756">
          <p15:clr>
            <a:srgbClr val="A4A3A4"/>
          </p15:clr>
        </p15:guide>
        <p15:guide id="40" pos="3927">
          <p15:clr>
            <a:srgbClr val="A4A3A4"/>
          </p15:clr>
        </p15:guide>
        <p15:guide id="41" pos="4957">
          <p15:clr>
            <a:srgbClr val="A4A3A4"/>
          </p15:clr>
        </p15:guide>
        <p15:guide id="42" pos="5122">
          <p15:clr>
            <a:srgbClr val="A4A3A4"/>
          </p15:clr>
        </p15:guide>
        <p15:guide id="43" pos="6153">
          <p15:clr>
            <a:srgbClr val="A4A3A4"/>
          </p15:clr>
        </p15:guide>
        <p15:guide id="44" pos="6320">
          <p15:clr>
            <a:srgbClr val="A4A3A4"/>
          </p15:clr>
        </p15:guide>
        <p15:guide id="45" pos="240">
          <p15:clr>
            <a:srgbClr val="FDE53C"/>
          </p15:clr>
        </p15:guide>
        <p15:guide id="46" pos="340">
          <p15:clr>
            <a:srgbClr val="FDE53C"/>
          </p15:clr>
        </p15:guide>
        <p15:guide id="47" pos="7464">
          <p15:clr>
            <a:srgbClr val="FDE53C"/>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0.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1.jpg"/><Relationship Id="rId3" Type="http://schemas.openxmlformats.org/officeDocument/2006/relationships/hyperlink" Target="https://globalappsportalnam.sharepoint.com/:t:/r/sites/MerkleCXMAmericasOperations2-OpsLeads/Shared%20Documents/Forms/AllItems.aspx?id=%2Fsites%2FMerkleCXMAmericasOperations2%2DOpsLeads%2FShared%20Documents%2F01%2DOps%20Priorities%2FPriorities%5FMaster%5FUpdate%5FGuide%2Emd&amp;parent=%2Fsites%2FMerkleCXMAmericasOperations2%2DOpsLeads%2FShared%20Documents%2F01%2DOps%20Priorities&amp;p=true&amp;share=cQoVXVzzOwu1S71HLMlQUgG9EgUCJraVVyvCnOlL9mFtEPuKDg"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2.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3.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3.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3.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3.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3.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4.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1.jpg"/><Relationship Id="rId3" Type="http://schemas.openxmlformats.org/officeDocument/2006/relationships/image" Target="../media/image15.jpg"/><Relationship Id="rId4" Type="http://schemas.openxmlformats.org/officeDocument/2006/relationships/image" Target="../media/image16.jpg"/><Relationship Id="rId5" Type="http://schemas.openxmlformats.org/officeDocument/2006/relationships/image" Target="../media/image17.jpg"/><Relationship Id="rId6" Type="http://schemas.openxmlformats.org/officeDocument/2006/relationships/image" Target="../media/image18.jpg"/><Relationship Id="rId7" Type="http://schemas.openxmlformats.org/officeDocument/2006/relationships/image" Target="../media/image66.jpg"/><Relationship Id="rId8" Type="http://schemas.openxmlformats.org/officeDocument/2006/relationships/image" Target="../media/image67.jpg"/><Relationship Id="rId9" Type="http://schemas.openxmlformats.org/officeDocument/2006/relationships/image" Target="../media/image68.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96.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9.jpg"/><Relationship Id="rId3" Type="http://schemas.openxmlformats.org/officeDocument/2006/relationships/image" Target="../media/image88.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9.jpg"/><Relationship Id="rId3" Type="http://schemas.openxmlformats.org/officeDocument/2006/relationships/image" Target="../media/image88.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9.jpg"/><Relationship Id="rId3" Type="http://schemas.openxmlformats.org/officeDocument/2006/relationships/image" Target="../media/image88.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9.jpg"/><Relationship Id="rId3" Type="http://schemas.openxmlformats.org/officeDocument/2006/relationships/image" Target="../media/image88.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20.jpg"/><Relationship Id="rId3" Type="http://schemas.openxmlformats.org/officeDocument/2006/relationships/image" Target="../media/image89.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21.jpg"/><Relationship Id="rId3" Type="http://schemas.openxmlformats.org/officeDocument/2006/relationships/image" Target="../media/image22.jpg"/><Relationship Id="rId4" Type="http://schemas.openxmlformats.org/officeDocument/2006/relationships/image" Target="../media/image88.jpg"/><Relationship Id="rId5" Type="http://schemas.openxmlformats.org/officeDocument/2006/relationships/image" Target="../media/image90.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1.jpg"/><Relationship Id="rId3" Type="http://schemas.openxmlformats.org/officeDocument/2006/relationships/image" Target="../media/image23.jpg"/><Relationship Id="rId4" Type="http://schemas.openxmlformats.org/officeDocument/2006/relationships/image" Target="../media/image24.jpg"/><Relationship Id="rId5" Type="http://schemas.openxmlformats.org/officeDocument/2006/relationships/image" Target="../media/image25.jpg"/><Relationship Id="rId6" Type="http://schemas.openxmlformats.org/officeDocument/2006/relationships/image" Target="../media/image69.jpg"/><Relationship Id="rId7" Type="http://schemas.openxmlformats.org/officeDocument/2006/relationships/image" Target="../media/image65.jpg"/><Relationship Id="rId8" Type="http://schemas.openxmlformats.org/officeDocument/2006/relationships/image" Target="../media/image70.jpg"/><Relationship Id="rId9" Type="http://schemas.openxmlformats.org/officeDocument/2006/relationships/image" Target="../media/image88.jpg"/><Relationship Id="rId10" Type="http://schemas.openxmlformats.org/officeDocument/2006/relationships/image" Target="../media/image91.jpg"/><Relationship Id="rId11" Type="http://schemas.openxmlformats.org/officeDocument/2006/relationships/image" Target="../media/image92.jpg"/><Relationship Id="rId12" Type="http://schemas.openxmlformats.org/officeDocument/2006/relationships/image" Target="../media/image93.jpg"/><Relationship Id="rId13" Type="http://schemas.openxmlformats.org/officeDocument/2006/relationships/image" Target="../media/image94.jpg"/><Relationship Id="rId14" Type="http://schemas.openxmlformats.org/officeDocument/2006/relationships/image" Target="../media/image95.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image" Target="../media/image26.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27.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27.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27.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27.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28.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29.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1.jpg"/><Relationship Id="rId3" Type="http://schemas.openxmlformats.org/officeDocument/2006/relationships/image" Target="../media/image30.jpg"/><Relationship Id="rId4" Type="http://schemas.openxmlformats.org/officeDocument/2006/relationships/image" Target="../media/image26.jpg"/><Relationship Id="rId5" Type="http://schemas.openxmlformats.org/officeDocument/2006/relationships/image" Target="../media/image28.jpg"/><Relationship Id="rId6" Type="http://schemas.openxmlformats.org/officeDocument/2006/relationships/image" Target="../media/image27.jpg"/><Relationship Id="rId7" Type="http://schemas.openxmlformats.org/officeDocument/2006/relationships/image" Target="../media/image71.jpg"/><Relationship Id="rId8" Type="http://schemas.openxmlformats.org/officeDocument/2006/relationships/image" Target="../media/image72.jpg"/><Relationship Id="rId9" Type="http://schemas.openxmlformats.org/officeDocument/2006/relationships/image" Target="../media/image29.jpg"/><Relationship Id="rId10" Type="http://schemas.openxmlformats.org/officeDocument/2006/relationships/image" Target="../media/image73.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image" Target="../media/image31.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32.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32.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32.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32.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33.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34.jpg"/><Relationship Id="rId3" Type="http://schemas.openxmlformats.org/officeDocument/2006/relationships/image" Target="../media/image35.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32.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34.jpg"/><Relationship Id="rId3" Type="http://schemas.openxmlformats.org/officeDocument/2006/relationships/image" Target="../media/image36.jp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34.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1.jpg"/><Relationship Id="rId3" Type="http://schemas.openxmlformats.org/officeDocument/2006/relationships/image" Target="../media/image37.jpg"/><Relationship Id="rId4" Type="http://schemas.openxmlformats.org/officeDocument/2006/relationships/image" Target="../media/image31.jpg"/><Relationship Id="rId5" Type="http://schemas.openxmlformats.org/officeDocument/2006/relationships/image" Target="../media/image33.jpg"/><Relationship Id="rId6" Type="http://schemas.openxmlformats.org/officeDocument/2006/relationships/image" Target="../media/image32.jpg"/><Relationship Id="rId7" Type="http://schemas.openxmlformats.org/officeDocument/2006/relationships/image" Target="../media/image74.jpg"/><Relationship Id="rId8" Type="http://schemas.openxmlformats.org/officeDocument/2006/relationships/image" Target="../media/image35.jpg"/><Relationship Id="rId9" Type="http://schemas.openxmlformats.org/officeDocument/2006/relationships/image" Target="../media/image75.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image" Target="../media/image38.jp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39.jp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39.jp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39.jp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39.jp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40.jp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39.jp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1.jpg"/><Relationship Id="rId3" Type="http://schemas.openxmlformats.org/officeDocument/2006/relationships/image" Target="../media/image41.jpg"/><Relationship Id="rId4" Type="http://schemas.openxmlformats.org/officeDocument/2006/relationships/image" Target="../media/image38.jpg"/><Relationship Id="rId5" Type="http://schemas.openxmlformats.org/officeDocument/2006/relationships/image" Target="../media/image40.jpg"/><Relationship Id="rId6" Type="http://schemas.openxmlformats.org/officeDocument/2006/relationships/image" Target="../media/image39.jpg"/><Relationship Id="rId7" Type="http://schemas.openxmlformats.org/officeDocument/2006/relationships/image" Target="../media/image76.jpg"/><Relationship Id="rId8" Type="http://schemas.openxmlformats.org/officeDocument/2006/relationships/image" Target="../media/image77.jpg"/><Relationship Id="rId9" Type="http://schemas.openxmlformats.org/officeDocument/2006/relationships/image" Target="../media/image78.jp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image" Target="../media/image42.jp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43.jp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43.jp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43.jp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43.jp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44.jp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45.jpg"/><Relationship Id="rId3" Type="http://schemas.openxmlformats.org/officeDocument/2006/relationships/image" Target="../media/image46.jp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1.jpg"/><Relationship Id="rId3" Type="http://schemas.openxmlformats.org/officeDocument/2006/relationships/image" Target="../media/image47.jpg"/><Relationship Id="rId4" Type="http://schemas.openxmlformats.org/officeDocument/2006/relationships/image" Target="../media/image48.jpg"/><Relationship Id="rId5" Type="http://schemas.openxmlformats.org/officeDocument/2006/relationships/image" Target="../media/image49.jpg"/><Relationship Id="rId6" Type="http://schemas.openxmlformats.org/officeDocument/2006/relationships/image" Target="../media/image50.jpg"/><Relationship Id="rId7" Type="http://schemas.openxmlformats.org/officeDocument/2006/relationships/image" Target="../media/image79.jpg"/><Relationship Id="rId8" Type="http://schemas.openxmlformats.org/officeDocument/2006/relationships/image" Target="../media/image80.jpg"/><Relationship Id="rId9" Type="http://schemas.openxmlformats.org/officeDocument/2006/relationships/image" Target="../media/image81.jp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image" Target="../media/image51.jp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52.jp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52.jp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52.jp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52.jp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53.jp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54.jpg"/><Relationship Id="rId3" Type="http://schemas.openxmlformats.org/officeDocument/2006/relationships/image" Target="../media/image55.jp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1.jpg"/><Relationship Id="rId3" Type="http://schemas.openxmlformats.org/officeDocument/2006/relationships/image" Target="../media/image56.jpg"/><Relationship Id="rId4" Type="http://schemas.openxmlformats.org/officeDocument/2006/relationships/image" Target="../media/image51.jpg"/><Relationship Id="rId5" Type="http://schemas.openxmlformats.org/officeDocument/2006/relationships/image" Target="../media/image53.jpg"/><Relationship Id="rId6" Type="http://schemas.openxmlformats.org/officeDocument/2006/relationships/image" Target="../media/image52.jpg"/><Relationship Id="rId7" Type="http://schemas.openxmlformats.org/officeDocument/2006/relationships/image" Target="../media/image82.jpg"/><Relationship Id="rId8" Type="http://schemas.openxmlformats.org/officeDocument/2006/relationships/image" Target="../media/image83.jpg"/><Relationship Id="rId9" Type="http://schemas.openxmlformats.org/officeDocument/2006/relationships/image" Target="../media/image84.jp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image" Target="../media/image57.jp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58.jp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58.jp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58.jp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58.jp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59.jp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60.jp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1.jpg"/><Relationship Id="rId3" Type="http://schemas.openxmlformats.org/officeDocument/2006/relationships/image" Target="../media/image61.jpg"/><Relationship Id="rId4" Type="http://schemas.openxmlformats.org/officeDocument/2006/relationships/image" Target="../media/image57.jpg"/><Relationship Id="rId5" Type="http://schemas.openxmlformats.org/officeDocument/2006/relationships/image" Target="../media/image59.jpg"/><Relationship Id="rId6" Type="http://schemas.openxmlformats.org/officeDocument/2006/relationships/image" Target="../media/image58.jpg"/><Relationship Id="rId7" Type="http://schemas.openxmlformats.org/officeDocument/2006/relationships/image" Target="../media/image85.jpg"/><Relationship Id="rId8" Type="http://schemas.openxmlformats.org/officeDocument/2006/relationships/image" Target="../media/image86.jpg"/><Relationship Id="rId9" Type="http://schemas.openxmlformats.org/officeDocument/2006/relationships/image" Target="../media/image87.jp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image" Target="../media/image24.jp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1.jp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1.jp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1.jp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25.jp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1.jp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1.jp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1.jp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1.jp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1.jp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1.jp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1.jp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1.jp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1.jp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1.jp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1.jp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1.jp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62.jpg"/><Relationship Id="rId3" Type="http://schemas.openxmlformats.org/officeDocument/2006/relationships/image" Target="../media/image63.jp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62.jpg"/><Relationship Id="rId3" Type="http://schemas.openxmlformats.org/officeDocument/2006/relationships/image" Target="../media/image64.jp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1.jp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1.jp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62.jpg"/><Relationship Id="rId3" Type="http://schemas.openxmlformats.org/officeDocument/2006/relationships/image" Target="../media/image65.jp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1.jp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1.jp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62.jp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62.jpg"/><Relationship Id="rId3" Type="http://schemas.openxmlformats.org/officeDocument/2006/relationships/image" Target="../media/image64.jp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1.jp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62.jpg"/><Relationship Id="rId3" Type="http://schemas.openxmlformats.org/officeDocument/2006/relationships/image" Target="../media/image22.jp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62.jp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1.jp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1.jp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1.jp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 name="Picture 4" descr="f_hero_overview.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endParaRP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Where We're Focusing</a:t>
            </a:r>
          </a:p>
        </p:txBody>
      </p:sp>
      <p:sp>
        <p:nvSpPr>
          <p:cNvPr id="4" name="Text Placeholder 3"/>
          <p:cNvSpPr>
            <a:spLocks noGrp="1"/>
          </p:cNvSpPr>
          <p:nvPr>
            <p:ph type="body" sz="quarter" idx="12"/>
          </p:nvPr>
        </p:nvSpPr>
        <p:spPr>
          <a:xfrm>
            <a:off x="457200" y="170000"/>
            <a:ext cx="8000000" cy="182880"/>
          </a:xfrm>
        </p:spPr>
        <p:txBody>
          <a:bodyPr/>
          <a:lstStyle/>
          <a:p>
            <a:r>
              <a:rPr>
                <a:solidFill>
                  <a:srgbClr val="0391F2"/>
                </a:solidFill>
              </a:rPr>
              <a:t>OPS PRIORITIES</a:t>
            </a:r>
          </a:p>
        </p:txBody>
      </p:sp>
      <p:sp>
        <p:nvSpPr>
          <p:cNvPr id="7" name="TextBox 6"/>
          <p:cNvSpPr txBox="1"/>
          <p:nvPr/>
        </p:nvSpPr>
        <p:spPr>
          <a:xfrm>
            <a:off x="457200" y="1188720"/>
            <a:ext cx="11277600" cy="457200"/>
          </a:xfrm>
          <a:prstGeom prst="rect">
            <a:avLst/>
          </a:prstGeom>
          <a:noFill/>
        </p:spPr>
        <p:txBody>
          <a:bodyPr wrap="square" lIns="0" tIns="0" rIns="0" bIns="0" anchor="t">
            <a:spAutoFit/>
          </a:bodyPr>
          <a:lstStyle/>
          <a:p>
            <a:pPr algn="l">
              <a:spcAft>
                <a:spcPts val="500"/>
              </a:spcAft>
            </a:pPr>
            <a:r>
              <a:rPr sz="1150" b="0" i="0">
                <a:solidFill>
                  <a:srgbClr val="000000"/>
                </a:solidFill>
              </a:rPr>
              <a:t>Top priorities, agreed as a team. Together, this is how we answer Play to Win's Delivery Excellence and Operational Review asks. We're tackling one epic at a time, starting with the Deal-to-Delivery Playbook, and moving to the next once it has real momentum.</a:t>
            </a:r>
          </a:p>
        </p:txBody>
      </p:sp>
      <p:sp>
        <p:nvSpPr>
          <p:cNvPr id="8" name="TextBox 7"/>
          <p:cNvSpPr txBox="1"/>
          <p:nvPr/>
        </p:nvSpPr>
        <p:spPr>
          <a:xfrm>
            <a:off x="457200" y="1737360"/>
            <a:ext cx="5486400" cy="182880"/>
          </a:xfrm>
          <a:prstGeom prst="rect">
            <a:avLst/>
          </a:prstGeom>
          <a:noFill/>
        </p:spPr>
        <p:txBody>
          <a:bodyPr wrap="square" lIns="0" tIns="0" rIns="0" bIns="0" anchor="t">
            <a:spAutoFit/>
          </a:bodyPr>
          <a:lstStyle/>
          <a:p>
            <a:pPr algn="l">
              <a:spcAft>
                <a:spcPts val="600"/>
              </a:spcAft>
            </a:pPr>
            <a:r>
              <a:rPr sz="1100" b="1" i="0" cap="all" spc="60">
                <a:solidFill>
                  <a:srgbClr val="000000"/>
                </a:solidFill>
              </a:rPr>
              <a:t>TOP 4 PRIORITIES</a:t>
            </a:r>
          </a:p>
        </p:txBody>
      </p:sp>
      <p:sp>
        <p:nvSpPr>
          <p:cNvPr id="9" name="Rounded Rectangle 8"/>
          <p:cNvSpPr/>
          <p:nvPr/>
        </p:nvSpPr>
        <p:spPr>
          <a:xfrm>
            <a:off x="457200" y="1975104"/>
            <a:ext cx="11277600" cy="457200"/>
          </a:xfrm>
          <a:prstGeom prst="roundRect">
            <a:avLst>
              <a:gd name="adj" fmla="val 90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ctr"/>
            <a:endParaRPr/>
          </a:p>
        </p:txBody>
      </p:sp>
      <p:sp>
        <p:nvSpPr>
          <p:cNvPr id="10" name="TextBox 9"/>
          <p:cNvSpPr txBox="1"/>
          <p:nvPr/>
        </p:nvSpPr>
        <p:spPr>
          <a:xfrm>
            <a:off x="685800" y="2039112"/>
            <a:ext cx="2743200" cy="457200"/>
          </a:xfrm>
          <a:prstGeom prst="rect">
            <a:avLst/>
          </a:prstGeom>
          <a:noFill/>
        </p:spPr>
        <p:txBody>
          <a:bodyPr wrap="square" lIns="0" tIns="0" rIns="0" bIns="0" anchor="t">
            <a:spAutoFit/>
          </a:bodyPr>
          <a:lstStyle/>
          <a:p>
            <a:pPr algn="l">
              <a:spcBef>
                <a:spcPts val="400"/>
              </a:spcBef>
              <a:spcAft>
                <a:spcPts val="500"/>
              </a:spcAft>
            </a:pPr>
            <a:r>
              <a:rPr sz="1100" b="1" i="0">
                <a:solidFill>
                  <a:srgbClr val="000000"/>
                </a:solidFill>
              </a:rPr>
              <a:t>Deal-to-Delivery Playbook</a:t>
            </a:r>
          </a:p>
        </p:txBody>
      </p:sp>
      <p:sp>
        <p:nvSpPr>
          <p:cNvPr id="11" name="TextBox 10"/>
          <p:cNvSpPr txBox="1"/>
          <p:nvPr/>
        </p:nvSpPr>
        <p:spPr>
          <a:xfrm>
            <a:off x="3566160" y="2029968"/>
            <a:ext cx="5852160" cy="457200"/>
          </a:xfrm>
          <a:prstGeom prst="rect">
            <a:avLst/>
          </a:prstGeom>
          <a:noFill/>
        </p:spPr>
        <p:txBody>
          <a:bodyPr wrap="square" lIns="0" tIns="0" rIns="0" bIns="0" anchor="t">
            <a:spAutoFit/>
          </a:bodyPr>
          <a:lstStyle/>
          <a:p>
            <a:pPr algn="l">
              <a:spcAft>
                <a:spcPts val="500"/>
              </a:spcAft>
            </a:pPr>
            <a:r>
              <a:rPr sz="900" b="0" i="0">
                <a:solidFill>
                  <a:srgbClr val="000000"/>
                </a:solidFill>
              </a:rPr>
              <a:t>Work is sold in shapes we cannot staff or deliver.</a:t>
            </a:r>
          </a:p>
        </p:txBody>
      </p:sp>
      <p:sp>
        <p:nvSpPr>
          <p:cNvPr id="12" name="Rounded Rectangle 11"/>
          <p:cNvSpPr/>
          <p:nvPr/>
        </p:nvSpPr>
        <p:spPr>
          <a:xfrm>
            <a:off x="10363200" y="2066544"/>
            <a:ext cx="1188720" cy="274320"/>
          </a:xfrm>
          <a:prstGeom prst="roundRect">
            <a:avLst>
              <a:gd name="adj" fmla="val 50000"/>
            </a:avLst>
          </a:prstGeom>
          <a:solidFill>
            <a:srgbClr val="000000"/>
          </a:solidFill>
          <a:ln>
            <a:noFill/>
          </a:ln>
        </p:spPr>
        <p:txBody>
          <a:bodyPr lIns="0" tIns="0" rIns="0" bIns="0" rtlCol="0" anchor="ctr"/>
          <a:lstStyle/>
          <a:p>
            <a:pPr algn="ctr"/>
            <a:r>
              <a:rPr sz="800" b="1" i="0" cap="all" spc="60">
                <a:solidFill>
                  <a:srgbClr val="FFFFFF"/>
                </a:solidFill>
              </a:rPr>
              <a:t>Focus now</a:t>
            </a:r>
          </a:p>
        </p:txBody>
      </p:sp>
      <p:sp>
        <p:nvSpPr>
          <p:cNvPr id="13" name="Rounded Rectangle 12"/>
          <p:cNvSpPr/>
          <p:nvPr/>
        </p:nvSpPr>
        <p:spPr>
          <a:xfrm>
            <a:off x="457200" y="2468880"/>
            <a:ext cx="11277600" cy="457200"/>
          </a:xfrm>
          <a:prstGeom prst="roundRect">
            <a:avLst>
              <a:gd name="adj" fmla="val 90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ctr"/>
            <a:endParaRPr/>
          </a:p>
        </p:txBody>
      </p:sp>
      <p:sp>
        <p:nvSpPr>
          <p:cNvPr id="14" name="TextBox 13"/>
          <p:cNvSpPr txBox="1"/>
          <p:nvPr/>
        </p:nvSpPr>
        <p:spPr>
          <a:xfrm>
            <a:off x="685800" y="2532888"/>
            <a:ext cx="2743200" cy="457200"/>
          </a:xfrm>
          <a:prstGeom prst="rect">
            <a:avLst/>
          </a:prstGeom>
          <a:noFill/>
        </p:spPr>
        <p:txBody>
          <a:bodyPr wrap="square" lIns="0" tIns="0" rIns="0" bIns="0" anchor="t">
            <a:spAutoFit/>
          </a:bodyPr>
          <a:lstStyle/>
          <a:p>
            <a:pPr algn="l">
              <a:spcBef>
                <a:spcPts val="400"/>
              </a:spcBef>
              <a:spcAft>
                <a:spcPts val="500"/>
              </a:spcAft>
            </a:pPr>
            <a:r>
              <a:rPr sz="1100" b="1" i="0">
                <a:solidFill>
                  <a:srgbClr val="000000"/>
                </a:solidFill>
              </a:rPr>
              <a:t>Accountability Framework</a:t>
            </a:r>
          </a:p>
        </p:txBody>
      </p:sp>
      <p:sp>
        <p:nvSpPr>
          <p:cNvPr id="15" name="TextBox 14"/>
          <p:cNvSpPr txBox="1"/>
          <p:nvPr/>
        </p:nvSpPr>
        <p:spPr>
          <a:xfrm>
            <a:off x="3566160" y="2523744"/>
            <a:ext cx="5852160" cy="457200"/>
          </a:xfrm>
          <a:prstGeom prst="rect">
            <a:avLst/>
          </a:prstGeom>
          <a:noFill/>
        </p:spPr>
        <p:txBody>
          <a:bodyPr wrap="square" lIns="0" tIns="0" rIns="0" bIns="0" anchor="t">
            <a:spAutoFit/>
          </a:bodyPr>
          <a:lstStyle/>
          <a:p>
            <a:pPr algn="l">
              <a:spcAft>
                <a:spcPts val="500"/>
              </a:spcAft>
            </a:pPr>
            <a:r>
              <a:rPr sz="900" b="0" i="0">
                <a:solidFill>
                  <a:srgbClr val="000000"/>
                </a:solidFill>
              </a:rPr>
              <a:t>Define accountability for every project, with clear delivery roles, executive sponsorship, and regular reviews that highlight high risk projects.</a:t>
            </a:r>
          </a:p>
        </p:txBody>
      </p:sp>
      <p:sp>
        <p:nvSpPr>
          <p:cNvPr id="16" name="Rounded Rectangle 15"/>
          <p:cNvSpPr/>
          <p:nvPr/>
        </p:nvSpPr>
        <p:spPr>
          <a:xfrm>
            <a:off x="10363200" y="2560320"/>
            <a:ext cx="1188720" cy="274320"/>
          </a:xfrm>
          <a:prstGeom prst="roundRect">
            <a:avLst>
              <a:gd name="adj" fmla="val 50000"/>
            </a:avLst>
          </a:prstGeom>
          <a:solidFill>
            <a:srgbClr val="FFFFFF"/>
          </a:solidFill>
          <a:ln w="12700">
            <a:solidFill>
              <a:srgbClr val="000000"/>
            </a:solidFill>
          </a:ln>
        </p:spPr>
        <p:txBody>
          <a:bodyPr lIns="0" tIns="0" rIns="0" bIns="0" rtlCol="0" anchor="ctr"/>
          <a:lstStyle/>
          <a:p>
            <a:pPr algn="ctr"/>
            <a:r>
              <a:rPr sz="800" b="1" i="0" cap="all" spc="60">
                <a:solidFill>
                  <a:srgbClr val="000000"/>
                </a:solidFill>
              </a:rPr>
              <a:t>Next</a:t>
            </a:r>
          </a:p>
        </p:txBody>
      </p:sp>
      <p:sp>
        <p:nvSpPr>
          <p:cNvPr id="17" name="Rounded Rectangle 16"/>
          <p:cNvSpPr/>
          <p:nvPr/>
        </p:nvSpPr>
        <p:spPr>
          <a:xfrm>
            <a:off x="457200" y="2962656"/>
            <a:ext cx="11277600" cy="457200"/>
          </a:xfrm>
          <a:prstGeom prst="roundRect">
            <a:avLst>
              <a:gd name="adj" fmla="val 90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ctr"/>
            <a:endParaRPr/>
          </a:p>
        </p:txBody>
      </p:sp>
      <p:sp>
        <p:nvSpPr>
          <p:cNvPr id="18" name="TextBox 17"/>
          <p:cNvSpPr txBox="1"/>
          <p:nvPr/>
        </p:nvSpPr>
        <p:spPr>
          <a:xfrm>
            <a:off x="685800" y="3026664"/>
            <a:ext cx="2743200" cy="457200"/>
          </a:xfrm>
          <a:prstGeom prst="rect">
            <a:avLst/>
          </a:prstGeom>
          <a:noFill/>
        </p:spPr>
        <p:txBody>
          <a:bodyPr wrap="square" lIns="0" tIns="0" rIns="0" bIns="0" anchor="t">
            <a:spAutoFit/>
          </a:bodyPr>
          <a:lstStyle/>
          <a:p>
            <a:pPr algn="l">
              <a:spcBef>
                <a:spcPts val="400"/>
              </a:spcBef>
              <a:spcAft>
                <a:spcPts val="500"/>
              </a:spcAft>
            </a:pPr>
            <a:r>
              <a:rPr sz="1100" b="1" i="0">
                <a:solidFill>
                  <a:srgbClr val="000000"/>
                </a:solidFill>
              </a:rPr>
              <a:t>Leadership Dashboards</a:t>
            </a:r>
          </a:p>
        </p:txBody>
      </p:sp>
      <p:sp>
        <p:nvSpPr>
          <p:cNvPr id="19" name="TextBox 18"/>
          <p:cNvSpPr txBox="1"/>
          <p:nvPr/>
        </p:nvSpPr>
        <p:spPr>
          <a:xfrm>
            <a:off x="3566160" y="3017520"/>
            <a:ext cx="5852160" cy="457200"/>
          </a:xfrm>
          <a:prstGeom prst="rect">
            <a:avLst/>
          </a:prstGeom>
          <a:noFill/>
        </p:spPr>
        <p:txBody>
          <a:bodyPr wrap="square" lIns="0" tIns="0" rIns="0" bIns="0" anchor="t">
            <a:spAutoFit/>
          </a:bodyPr>
          <a:lstStyle/>
          <a:p>
            <a:pPr algn="l">
              <a:spcAft>
                <a:spcPts val="500"/>
              </a:spcAft>
            </a:pPr>
            <a:r>
              <a:rPr sz="900" b="0" i="0">
                <a:solidFill>
                  <a:srgbClr val="000000"/>
                </a:solidFill>
              </a:rPr>
              <a:t>One leadership dashboard — shoring, chargeability, margin, capacity, forecast, rate cards, burn, and revenue recognition.</a:t>
            </a:r>
          </a:p>
        </p:txBody>
      </p:sp>
      <p:sp>
        <p:nvSpPr>
          <p:cNvPr id="20" name="Rounded Rectangle 19"/>
          <p:cNvSpPr/>
          <p:nvPr/>
        </p:nvSpPr>
        <p:spPr>
          <a:xfrm>
            <a:off x="10363200" y="3054096"/>
            <a:ext cx="1188720" cy="274320"/>
          </a:xfrm>
          <a:prstGeom prst="roundRect">
            <a:avLst>
              <a:gd name="adj" fmla="val 50000"/>
            </a:avLst>
          </a:prstGeom>
          <a:solidFill>
            <a:srgbClr val="FFFFFF"/>
          </a:solidFill>
          <a:ln w="12700">
            <a:solidFill>
              <a:srgbClr val="000000"/>
            </a:solidFill>
          </a:ln>
        </p:spPr>
        <p:txBody>
          <a:bodyPr lIns="0" tIns="0" rIns="0" bIns="0" rtlCol="0" anchor="ctr"/>
          <a:lstStyle/>
          <a:p>
            <a:pPr algn="ctr"/>
            <a:r>
              <a:rPr sz="800" b="1" i="0" cap="all" spc="60">
                <a:solidFill>
                  <a:srgbClr val="000000"/>
                </a:solidFill>
              </a:rPr>
              <a:t>Next</a:t>
            </a:r>
          </a:p>
        </p:txBody>
      </p:sp>
      <p:sp>
        <p:nvSpPr>
          <p:cNvPr id="21" name="Rounded Rectangle 20"/>
          <p:cNvSpPr/>
          <p:nvPr/>
        </p:nvSpPr>
        <p:spPr>
          <a:xfrm>
            <a:off x="457200" y="3456432"/>
            <a:ext cx="11277600" cy="457200"/>
          </a:xfrm>
          <a:prstGeom prst="roundRect">
            <a:avLst>
              <a:gd name="adj" fmla="val 90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ctr"/>
            <a:endParaRPr/>
          </a:p>
        </p:txBody>
      </p:sp>
      <p:sp>
        <p:nvSpPr>
          <p:cNvPr id="22" name="TextBox 21"/>
          <p:cNvSpPr txBox="1"/>
          <p:nvPr/>
        </p:nvSpPr>
        <p:spPr>
          <a:xfrm>
            <a:off x="685800" y="3520440"/>
            <a:ext cx="2743200" cy="457200"/>
          </a:xfrm>
          <a:prstGeom prst="rect">
            <a:avLst/>
          </a:prstGeom>
          <a:noFill/>
        </p:spPr>
        <p:txBody>
          <a:bodyPr wrap="square" lIns="0" tIns="0" rIns="0" bIns="0" anchor="t">
            <a:spAutoFit/>
          </a:bodyPr>
          <a:lstStyle/>
          <a:p>
            <a:pPr algn="l">
              <a:spcBef>
                <a:spcPts val="400"/>
              </a:spcBef>
              <a:spcAft>
                <a:spcPts val="500"/>
              </a:spcAft>
            </a:pPr>
            <a:r>
              <a:rPr sz="1100" b="1" i="0">
                <a:solidFill>
                  <a:srgbClr val="000000"/>
                </a:solidFill>
              </a:rPr>
              <a:t>Capacity Planning &amp; Romulus</a:t>
            </a:r>
          </a:p>
        </p:txBody>
      </p:sp>
      <p:sp>
        <p:nvSpPr>
          <p:cNvPr id="23" name="TextBox 22"/>
          <p:cNvSpPr txBox="1"/>
          <p:nvPr/>
        </p:nvSpPr>
        <p:spPr>
          <a:xfrm>
            <a:off x="3566160" y="3511296"/>
            <a:ext cx="5852160" cy="457200"/>
          </a:xfrm>
          <a:prstGeom prst="rect">
            <a:avLst/>
          </a:prstGeom>
          <a:noFill/>
        </p:spPr>
        <p:txBody>
          <a:bodyPr wrap="square" lIns="0" tIns="0" rIns="0" bIns="0" anchor="t">
            <a:spAutoFit/>
          </a:bodyPr>
          <a:lstStyle/>
          <a:p>
            <a:pPr algn="l">
              <a:spcAft>
                <a:spcPts val="500"/>
              </a:spcAft>
            </a:pPr>
            <a:r>
              <a:rPr sz="900" b="0" i="0">
                <a:solidFill>
                  <a:srgbClr val="000000"/>
                </a:solidFill>
              </a:rPr>
              <a:t>Closing the skills and bench visibility gap so we can staff ahead of demand.</a:t>
            </a:r>
          </a:p>
        </p:txBody>
      </p:sp>
      <p:sp>
        <p:nvSpPr>
          <p:cNvPr id="24" name="Rounded Rectangle 23"/>
          <p:cNvSpPr/>
          <p:nvPr/>
        </p:nvSpPr>
        <p:spPr>
          <a:xfrm>
            <a:off x="10363200" y="3547872"/>
            <a:ext cx="1188720" cy="274320"/>
          </a:xfrm>
          <a:prstGeom prst="roundRect">
            <a:avLst>
              <a:gd name="adj" fmla="val 50000"/>
            </a:avLst>
          </a:prstGeom>
          <a:solidFill>
            <a:srgbClr val="FFFFFF"/>
          </a:solidFill>
          <a:ln w="12700">
            <a:solidFill>
              <a:srgbClr val="000000"/>
            </a:solidFill>
          </a:ln>
        </p:spPr>
        <p:txBody>
          <a:bodyPr lIns="0" tIns="0" rIns="0" bIns="0" rtlCol="0" anchor="ctr"/>
          <a:lstStyle/>
          <a:p>
            <a:pPr algn="ctr"/>
            <a:r>
              <a:rPr sz="800" b="1" i="0" cap="all" spc="60">
                <a:solidFill>
                  <a:srgbClr val="000000"/>
                </a:solidFill>
              </a:rPr>
              <a:t>Next</a:t>
            </a:r>
          </a:p>
        </p:txBody>
      </p:sp>
      <p:sp>
        <p:nvSpPr>
          <p:cNvPr id="25" name="TextBox 24"/>
          <p:cNvSpPr txBox="1"/>
          <p:nvPr/>
        </p:nvSpPr>
        <p:spPr>
          <a:xfrm>
            <a:off x="457200" y="4023360"/>
            <a:ext cx="5486400" cy="182880"/>
          </a:xfrm>
          <a:prstGeom prst="rect">
            <a:avLst/>
          </a:prstGeom>
          <a:noFill/>
        </p:spPr>
        <p:txBody>
          <a:bodyPr wrap="square" lIns="0" tIns="0" rIns="0" bIns="0" anchor="t">
            <a:spAutoFit/>
          </a:bodyPr>
          <a:lstStyle/>
          <a:p>
            <a:pPr algn="l">
              <a:spcAft>
                <a:spcPts val="600"/>
              </a:spcAft>
            </a:pPr>
            <a:r>
              <a:rPr sz="1100" b="1" i="0" cap="all" spc="60">
                <a:solidFill>
                  <a:srgbClr val="000000"/>
                </a:solidFill>
              </a:rPr>
              <a:t>ALSO SHORT-TERM · OTHER INITIATIVES</a:t>
            </a:r>
          </a:p>
        </p:txBody>
      </p:sp>
      <p:sp>
        <p:nvSpPr>
          <p:cNvPr id="26" name="Rounded Rectangle 25"/>
          <p:cNvSpPr/>
          <p:nvPr/>
        </p:nvSpPr>
        <p:spPr>
          <a:xfrm>
            <a:off x="457200" y="4261104"/>
            <a:ext cx="11277600" cy="457200"/>
          </a:xfrm>
          <a:prstGeom prst="roundRect">
            <a:avLst>
              <a:gd name="adj" fmla="val 90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ctr"/>
            <a:endParaRPr/>
          </a:p>
        </p:txBody>
      </p:sp>
      <p:sp>
        <p:nvSpPr>
          <p:cNvPr id="27" name="TextBox 26"/>
          <p:cNvSpPr txBox="1"/>
          <p:nvPr/>
        </p:nvSpPr>
        <p:spPr>
          <a:xfrm>
            <a:off x="685800" y="4325112"/>
            <a:ext cx="2743200" cy="457200"/>
          </a:xfrm>
          <a:prstGeom prst="rect">
            <a:avLst/>
          </a:prstGeom>
          <a:noFill/>
        </p:spPr>
        <p:txBody>
          <a:bodyPr wrap="square" lIns="0" tIns="0" rIns="0" bIns="0" anchor="t">
            <a:spAutoFit/>
          </a:bodyPr>
          <a:lstStyle/>
          <a:p>
            <a:pPr algn="l">
              <a:spcBef>
                <a:spcPts val="400"/>
              </a:spcBef>
              <a:spcAft>
                <a:spcPts val="500"/>
              </a:spcAft>
            </a:pPr>
            <a:r>
              <a:rPr sz="1100" b="1" i="0">
                <a:solidFill>
                  <a:srgbClr val="000000"/>
                </a:solidFill>
              </a:rPr>
              <a:t>DGS Leadership Transition</a:t>
            </a:r>
          </a:p>
        </p:txBody>
      </p:sp>
      <p:sp>
        <p:nvSpPr>
          <p:cNvPr id="28" name="TextBox 27"/>
          <p:cNvSpPr txBox="1"/>
          <p:nvPr/>
        </p:nvSpPr>
        <p:spPr>
          <a:xfrm>
            <a:off x="3566160" y="4315968"/>
            <a:ext cx="5852160" cy="457200"/>
          </a:xfrm>
          <a:prstGeom prst="rect">
            <a:avLst/>
          </a:prstGeom>
          <a:noFill/>
        </p:spPr>
        <p:txBody>
          <a:bodyPr wrap="square" lIns="0" tIns="0" rIns="0" bIns="0" anchor="t">
            <a:spAutoFit/>
          </a:bodyPr>
          <a:lstStyle/>
          <a:p>
            <a:pPr algn="l">
              <a:spcAft>
                <a:spcPts val="500"/>
              </a:spcAft>
            </a:pPr>
            <a:r>
              <a:rPr sz="900" b="0" i="0">
                <a:solidFill>
                  <a:srgbClr val="000000"/>
                </a:solidFill>
              </a:rPr>
              <a:t>Naazneen departs 12/31 — two-phase effort to map dependencies, resolve Extentia's operating model, and set leadership coverage.</a:t>
            </a:r>
          </a:p>
        </p:txBody>
      </p:sp>
      <p:sp>
        <p:nvSpPr>
          <p:cNvPr id="29" name="Rounded Rectangle 28"/>
          <p:cNvSpPr/>
          <p:nvPr/>
        </p:nvSpPr>
        <p:spPr>
          <a:xfrm>
            <a:off x="10363200" y="4352544"/>
            <a:ext cx="1188720" cy="274320"/>
          </a:xfrm>
          <a:prstGeom prst="roundRect">
            <a:avLst>
              <a:gd name="adj" fmla="val 50000"/>
            </a:avLst>
          </a:prstGeom>
          <a:solidFill>
            <a:srgbClr val="000000"/>
          </a:solidFill>
          <a:ln>
            <a:noFill/>
          </a:ln>
        </p:spPr>
        <p:txBody>
          <a:bodyPr lIns="0" tIns="0" rIns="0" bIns="0" rtlCol="0" anchor="ctr"/>
          <a:lstStyle/>
          <a:p>
            <a:pPr algn="ctr"/>
            <a:r>
              <a:rPr sz="800" b="1" i="0" cap="all" spc="60">
                <a:solidFill>
                  <a:srgbClr val="FFFFFF"/>
                </a:solidFill>
              </a:rPr>
              <a:t>Focus now</a:t>
            </a:r>
          </a:p>
        </p:txBody>
      </p:sp>
      <p:sp>
        <p:nvSpPr>
          <p:cNvPr id="30" name="Rounded Rectangle 29"/>
          <p:cNvSpPr/>
          <p:nvPr/>
        </p:nvSpPr>
        <p:spPr>
          <a:xfrm>
            <a:off x="457200" y="4754880"/>
            <a:ext cx="11277600" cy="457200"/>
          </a:xfrm>
          <a:prstGeom prst="roundRect">
            <a:avLst>
              <a:gd name="adj" fmla="val 90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ctr"/>
            <a:endParaRPr/>
          </a:p>
        </p:txBody>
      </p:sp>
      <p:sp>
        <p:nvSpPr>
          <p:cNvPr id="31" name="TextBox 30"/>
          <p:cNvSpPr txBox="1"/>
          <p:nvPr/>
        </p:nvSpPr>
        <p:spPr>
          <a:xfrm>
            <a:off x="685800" y="4818888"/>
            <a:ext cx="2743200" cy="457200"/>
          </a:xfrm>
          <a:prstGeom prst="rect">
            <a:avLst/>
          </a:prstGeom>
          <a:noFill/>
        </p:spPr>
        <p:txBody>
          <a:bodyPr wrap="square" lIns="0" tIns="0" rIns="0" bIns="0" anchor="t">
            <a:spAutoFit/>
          </a:bodyPr>
          <a:lstStyle/>
          <a:p>
            <a:pPr algn="l">
              <a:spcBef>
                <a:spcPts val="400"/>
              </a:spcBef>
              <a:spcAft>
                <a:spcPts val="500"/>
              </a:spcAft>
            </a:pPr>
            <a:r>
              <a:rPr sz="1100" b="1" i="0">
                <a:solidFill>
                  <a:srgbClr val="000000"/>
                </a:solidFill>
              </a:rPr>
              <a:t>Intake Updates</a:t>
            </a:r>
          </a:p>
        </p:txBody>
      </p:sp>
      <p:sp>
        <p:nvSpPr>
          <p:cNvPr id="32" name="TextBox 31"/>
          <p:cNvSpPr txBox="1"/>
          <p:nvPr/>
        </p:nvSpPr>
        <p:spPr>
          <a:xfrm>
            <a:off x="3566160" y="4809744"/>
            <a:ext cx="5852160" cy="457200"/>
          </a:xfrm>
          <a:prstGeom prst="rect">
            <a:avLst/>
          </a:prstGeom>
          <a:noFill/>
        </p:spPr>
        <p:txBody>
          <a:bodyPr wrap="square" lIns="0" tIns="0" rIns="0" bIns="0" anchor="t">
            <a:spAutoFit/>
          </a:bodyPr>
          <a:lstStyle/>
          <a:p>
            <a:pPr algn="l">
              <a:spcAft>
                <a:spcPts val="500"/>
              </a:spcAft>
            </a:pPr>
            <a:r>
              <a:rPr sz="900" b="0" i="0">
                <a:solidFill>
                  <a:srgbClr val="000000"/>
                </a:solidFill>
              </a:rPr>
              <a:t>Upstream of Delivery Models — alias routing is live; SME case request tool and RACI updates underway to close adoption gaps.</a:t>
            </a:r>
          </a:p>
        </p:txBody>
      </p:sp>
      <p:sp>
        <p:nvSpPr>
          <p:cNvPr id="33" name="Rounded Rectangle 32"/>
          <p:cNvSpPr/>
          <p:nvPr/>
        </p:nvSpPr>
        <p:spPr>
          <a:xfrm>
            <a:off x="10363200" y="4846320"/>
            <a:ext cx="1188720" cy="274320"/>
          </a:xfrm>
          <a:prstGeom prst="roundRect">
            <a:avLst>
              <a:gd name="adj" fmla="val 50000"/>
            </a:avLst>
          </a:prstGeom>
          <a:solidFill>
            <a:srgbClr val="000000"/>
          </a:solidFill>
          <a:ln>
            <a:noFill/>
          </a:ln>
        </p:spPr>
        <p:txBody>
          <a:bodyPr lIns="0" tIns="0" rIns="0" bIns="0" rtlCol="0" anchor="ctr"/>
          <a:lstStyle/>
          <a:p>
            <a:pPr algn="ctr"/>
            <a:r>
              <a:rPr sz="800" b="1" i="0" cap="all" spc="60">
                <a:solidFill>
                  <a:srgbClr val="FFFFFF"/>
                </a:solidFill>
              </a:rPr>
              <a:t>In Motion</a:t>
            </a:r>
          </a:p>
        </p:txBody>
      </p:sp>
      <p:sp>
        <p:nvSpPr>
          <p:cNvPr id="34" name="Rounded Rectangle 33"/>
          <p:cNvSpPr/>
          <p:nvPr/>
        </p:nvSpPr>
        <p:spPr>
          <a:xfrm>
            <a:off x="457200" y="5248656"/>
            <a:ext cx="11277600" cy="457200"/>
          </a:xfrm>
          <a:prstGeom prst="roundRect">
            <a:avLst>
              <a:gd name="adj" fmla="val 90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ctr"/>
            <a:endParaRPr/>
          </a:p>
        </p:txBody>
      </p:sp>
      <p:sp>
        <p:nvSpPr>
          <p:cNvPr id="35" name="TextBox 34"/>
          <p:cNvSpPr txBox="1"/>
          <p:nvPr/>
        </p:nvSpPr>
        <p:spPr>
          <a:xfrm>
            <a:off x="685800" y="5312664"/>
            <a:ext cx="2743200" cy="457200"/>
          </a:xfrm>
          <a:prstGeom prst="rect">
            <a:avLst/>
          </a:prstGeom>
          <a:noFill/>
        </p:spPr>
        <p:txBody>
          <a:bodyPr wrap="square" lIns="0" tIns="0" rIns="0" bIns="0" anchor="t">
            <a:spAutoFit/>
          </a:bodyPr>
          <a:lstStyle/>
          <a:p>
            <a:pPr algn="l">
              <a:spcBef>
                <a:spcPts val="400"/>
              </a:spcBef>
              <a:spcAft>
                <a:spcPts val="500"/>
              </a:spcAft>
            </a:pPr>
            <a:r>
              <a:rPr sz="1100" b="1" i="0">
                <a:solidFill>
                  <a:srgbClr val="000000"/>
                </a:solidFill>
              </a:rPr>
              <a:t>Ops Transformation: Rebuild Scoping &amp; Staffing</a:t>
            </a:r>
          </a:p>
        </p:txBody>
      </p:sp>
      <p:sp>
        <p:nvSpPr>
          <p:cNvPr id="36" name="TextBox 35"/>
          <p:cNvSpPr txBox="1"/>
          <p:nvPr/>
        </p:nvSpPr>
        <p:spPr>
          <a:xfrm>
            <a:off x="3566160" y="5303520"/>
            <a:ext cx="5852160" cy="457200"/>
          </a:xfrm>
          <a:prstGeom prst="rect">
            <a:avLst/>
          </a:prstGeom>
          <a:noFill/>
        </p:spPr>
        <p:txBody>
          <a:bodyPr wrap="square" lIns="0" tIns="0" rIns="0" bIns="0" anchor="t">
            <a:spAutoFit/>
          </a:bodyPr>
          <a:lstStyle/>
          <a:p>
            <a:pPr algn="l">
              <a:spcAft>
                <a:spcPts val="500"/>
              </a:spcAft>
            </a:pPr>
            <a:r>
              <a:rPr sz="900" b="0" i="0">
                <a:solidFill>
                  <a:srgbClr val="000000"/>
                </a:solidFill>
              </a:rPr>
              <a:t>Deliverables go in, and a timeline and staffing plan come out, with AI doing real work and learning from what we deliver.</a:t>
            </a:r>
          </a:p>
        </p:txBody>
      </p:sp>
      <p:sp>
        <p:nvSpPr>
          <p:cNvPr id="37" name="Rounded Rectangle 36"/>
          <p:cNvSpPr/>
          <p:nvPr/>
        </p:nvSpPr>
        <p:spPr>
          <a:xfrm>
            <a:off x="10363200" y="5340096"/>
            <a:ext cx="1188720" cy="274320"/>
          </a:xfrm>
          <a:prstGeom prst="roundRect">
            <a:avLst>
              <a:gd name="adj" fmla="val 50000"/>
            </a:avLst>
          </a:prstGeom>
          <a:solidFill>
            <a:srgbClr val="FFFFFF"/>
          </a:solidFill>
          <a:ln w="12700">
            <a:solidFill>
              <a:srgbClr val="000000"/>
            </a:solidFill>
          </a:ln>
        </p:spPr>
        <p:txBody>
          <a:bodyPr lIns="0" tIns="0" rIns="0" bIns="0" rtlCol="0" anchor="ctr"/>
          <a:lstStyle/>
          <a:p>
            <a:pPr algn="ctr"/>
            <a:r>
              <a:rPr sz="800" b="1" i="0" cap="all" spc="60">
                <a:solidFill>
                  <a:srgbClr val="000000"/>
                </a:solidFill>
              </a:rPr>
              <a:t>Taking shape</a:t>
            </a:r>
          </a:p>
        </p:txBody>
      </p:sp>
      <p:sp>
        <p:nvSpPr>
          <p:cNvPr id="38" name="Rounded Rectangle 37"/>
          <p:cNvSpPr/>
          <p:nvPr/>
        </p:nvSpPr>
        <p:spPr>
          <a:xfrm>
            <a:off x="457200" y="5742432"/>
            <a:ext cx="11277600" cy="457200"/>
          </a:xfrm>
          <a:prstGeom prst="roundRect">
            <a:avLst>
              <a:gd name="adj" fmla="val 90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ctr"/>
            <a:endParaRPr/>
          </a:p>
        </p:txBody>
      </p:sp>
      <p:sp>
        <p:nvSpPr>
          <p:cNvPr id="39" name="TextBox 38"/>
          <p:cNvSpPr txBox="1"/>
          <p:nvPr/>
        </p:nvSpPr>
        <p:spPr>
          <a:xfrm>
            <a:off x="685800" y="5806440"/>
            <a:ext cx="2743200" cy="457200"/>
          </a:xfrm>
          <a:prstGeom prst="rect">
            <a:avLst/>
          </a:prstGeom>
          <a:noFill/>
        </p:spPr>
        <p:txBody>
          <a:bodyPr wrap="square" lIns="0" tIns="0" rIns="0" bIns="0" anchor="t">
            <a:spAutoFit/>
          </a:bodyPr>
          <a:lstStyle/>
          <a:p>
            <a:pPr algn="l">
              <a:spcBef>
                <a:spcPts val="400"/>
              </a:spcBef>
              <a:spcAft>
                <a:spcPts val="500"/>
              </a:spcAft>
            </a:pPr>
            <a:r>
              <a:rPr sz="1100" b="1" i="0">
                <a:solidFill>
                  <a:srgbClr val="000000"/>
                </a:solidFill>
              </a:rPr>
              <a:t>Earlier Delivery &amp; Talent in Pursuits</a:t>
            </a:r>
          </a:p>
        </p:txBody>
      </p:sp>
      <p:sp>
        <p:nvSpPr>
          <p:cNvPr id="40" name="TextBox 39"/>
          <p:cNvSpPr txBox="1"/>
          <p:nvPr/>
        </p:nvSpPr>
        <p:spPr>
          <a:xfrm>
            <a:off x="3566160" y="5797296"/>
            <a:ext cx="5852160" cy="457200"/>
          </a:xfrm>
          <a:prstGeom prst="rect">
            <a:avLst/>
          </a:prstGeom>
          <a:noFill/>
        </p:spPr>
        <p:txBody>
          <a:bodyPr wrap="square" lIns="0" tIns="0" rIns="0" bIns="0" anchor="t">
            <a:spAutoFit/>
          </a:bodyPr>
          <a:lstStyle/>
          <a:p>
            <a:pPr algn="l">
              <a:spcAft>
                <a:spcPts val="500"/>
              </a:spcAft>
            </a:pPr>
            <a:r>
              <a:rPr sz="900" b="0" i="0">
                <a:solidFill>
                  <a:srgbClr val="000000"/>
                </a:solidFill>
              </a:rPr>
              <a:t>Bring SME expertise into upfront deal evaluation to lift our win rate on the deals we already capture.</a:t>
            </a:r>
          </a:p>
        </p:txBody>
      </p:sp>
      <p:sp>
        <p:nvSpPr>
          <p:cNvPr id="41" name="Rounded Rectangle 40"/>
          <p:cNvSpPr/>
          <p:nvPr/>
        </p:nvSpPr>
        <p:spPr>
          <a:xfrm>
            <a:off x="10363200" y="5833872"/>
            <a:ext cx="1188720" cy="274320"/>
          </a:xfrm>
          <a:prstGeom prst="roundRect">
            <a:avLst>
              <a:gd name="adj" fmla="val 50000"/>
            </a:avLst>
          </a:prstGeom>
          <a:solidFill>
            <a:srgbClr val="FFFFFF"/>
          </a:solidFill>
          <a:ln w="12700">
            <a:solidFill>
              <a:srgbClr val="000000"/>
            </a:solidFill>
          </a:ln>
        </p:spPr>
        <p:txBody>
          <a:bodyPr lIns="0" tIns="0" rIns="0" bIns="0" rtlCol="0" anchor="ctr"/>
          <a:lstStyle/>
          <a:p>
            <a:pPr algn="ctr"/>
            <a:r>
              <a:rPr sz="800" b="1" i="0" cap="all" spc="60">
                <a:solidFill>
                  <a:srgbClr val="000000"/>
                </a:solidFill>
              </a:rPr>
              <a:t>Quick win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pic>
        <p:nvPicPr>
          <p:cNvPr id="5" name="Picture 4" descr="f_hero_library.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endParaRP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How to fill this in</a:t>
            </a:r>
          </a:p>
        </p:txBody>
      </p:sp>
      <p:sp>
        <p:nvSpPr>
          <p:cNvPr id="4" name="Text Placeholder 3"/>
          <p:cNvSpPr>
            <a:spLocks noGrp="1"/>
          </p:cNvSpPr>
          <p:nvPr>
            <p:ph type="body" sz="quarter" idx="12"/>
          </p:nvPr>
        </p:nvSpPr>
        <p:spPr>
          <a:xfrm>
            <a:off x="457200" y="170000"/>
            <a:ext cx="8000000" cy="182880"/>
          </a:xfrm>
        </p:spPr>
        <p:txBody>
          <a:bodyPr/>
          <a:lstStyle/>
          <a:p>
            <a:r>
              <a:rPr>
                <a:solidFill>
                  <a:srgbClr val="0391F2"/>
                </a:solidFill>
              </a:rPr>
              <a:t>HOW TO USE THIS TEMPLATE</a:t>
            </a:r>
          </a:p>
        </p:txBody>
      </p:sp>
      <p:sp>
        <p:nvSpPr>
          <p:cNvPr id="7" name="TextBox 6"/>
          <p:cNvSpPr txBox="1"/>
          <p:nvPr/>
        </p:nvSpPr>
        <p:spPr>
          <a:xfrm>
            <a:off x="457200" y="1150000"/>
            <a:ext cx="11277600" cy="457200"/>
          </a:xfrm>
          <a:prstGeom prst="rect">
            <a:avLst/>
          </a:prstGeom>
          <a:noFill/>
        </p:spPr>
        <p:txBody>
          <a:bodyPr wrap="square" lIns="0" tIns="0" rIns="0" bIns="0" anchor="t">
            <a:spAutoFit/>
          </a:bodyPr>
          <a:lstStyle/>
          <a:p>
            <a:pPr algn="l">
              <a:spcAft>
                <a:spcPts val="500"/>
              </a:spcAft>
            </a:pPr>
            <a:r>
              <a:rPr sz="1250" b="0" i="0">
                <a:solidFill>
                  <a:srgbClr val="000000"/>
                </a:solidFill>
              </a:rPr>
              <a:t>Every priority gets the same six slides. If you do not know something yet, leave the prompt in place. Blank is fine. Do not guess.</a:t>
            </a:r>
          </a:p>
        </p:txBody>
      </p:sp>
      <p:sp>
        <p:nvSpPr>
          <p:cNvPr id="8" name="Rounded Rectangle 7"/>
          <p:cNvSpPr/>
          <p:nvPr/>
        </p:nvSpPr>
        <p:spPr>
          <a:xfrm>
            <a:off x="457200" y="1672920"/>
            <a:ext cx="11277600" cy="636656"/>
          </a:xfrm>
          <a:prstGeom prst="roundRect">
            <a:avLst>
              <a:gd name="adj" fmla="val 90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ctr"/>
            <a:endParaRPr/>
          </a:p>
        </p:txBody>
      </p:sp>
      <p:sp>
        <p:nvSpPr>
          <p:cNvPr id="9" name="TextBox 8"/>
          <p:cNvSpPr txBox="1"/>
          <p:nvPr/>
        </p:nvSpPr>
        <p:spPr>
          <a:xfrm>
            <a:off x="685800" y="1736928"/>
            <a:ext cx="2103120" cy="676656"/>
          </a:xfrm>
          <a:prstGeom prst="rect">
            <a:avLst/>
          </a:prstGeom>
          <a:noFill/>
        </p:spPr>
        <p:txBody>
          <a:bodyPr wrap="square" lIns="0" tIns="0" rIns="0" bIns="0" anchor="t">
            <a:spAutoFit/>
          </a:bodyPr>
          <a:lstStyle/>
          <a:p>
            <a:pPr algn="l">
              <a:spcBef>
                <a:spcPts val="400"/>
              </a:spcBef>
              <a:spcAft>
                <a:spcPts val="500"/>
              </a:spcAft>
            </a:pPr>
            <a:r>
              <a:rPr sz="1200" b="1" i="0">
                <a:solidFill>
                  <a:srgbClr val="000000"/>
                </a:solidFill>
              </a:rPr>
              <a:t>1. Divider</a:t>
            </a:r>
          </a:p>
        </p:txBody>
      </p:sp>
      <p:sp>
        <p:nvSpPr>
          <p:cNvPr id="10" name="TextBox 9"/>
          <p:cNvSpPr txBox="1"/>
          <p:nvPr/>
        </p:nvSpPr>
        <p:spPr>
          <a:xfrm>
            <a:off x="2926080" y="1736928"/>
            <a:ext cx="4937760" cy="676656"/>
          </a:xfrm>
          <a:prstGeom prst="rect">
            <a:avLst/>
          </a:prstGeom>
          <a:noFill/>
        </p:spPr>
        <p:txBody>
          <a:bodyPr wrap="square" lIns="0" tIns="0" rIns="0" bIns="0" anchor="t">
            <a:spAutoFit/>
          </a:bodyPr>
          <a:lstStyle/>
          <a:p>
            <a:pPr algn="l">
              <a:spcBef>
                <a:spcPts val="200"/>
              </a:spcBef>
              <a:spcAft>
                <a:spcPts val="200"/>
              </a:spcAft>
            </a:pPr>
            <a:r>
              <a:rPr sz="850" b="1" i="0" cap="all" spc="100">
                <a:solidFill>
                  <a:srgbClr val="60607D"/>
                </a:solidFill>
              </a:rPr>
              <a:t>Put here</a:t>
            </a:r>
          </a:p>
          <a:p>
            <a:pPr algn="l">
              <a:spcAft>
                <a:spcPts val="500"/>
              </a:spcAft>
            </a:pPr>
            <a:r>
              <a:rPr sz="1050" b="0" i="0">
                <a:solidFill>
                  <a:srgbClr val="000000"/>
                </a:solidFill>
              </a:rPr>
              <a:t>The name of the priority and who owns it.</a:t>
            </a:r>
          </a:p>
        </p:txBody>
      </p:sp>
      <p:sp>
        <p:nvSpPr>
          <p:cNvPr id="11" name="TextBox 10"/>
          <p:cNvSpPr txBox="1"/>
          <p:nvPr/>
        </p:nvSpPr>
        <p:spPr>
          <a:xfrm>
            <a:off x="8046720" y="1736928"/>
            <a:ext cx="3383280" cy="676656"/>
          </a:xfrm>
          <a:prstGeom prst="rect">
            <a:avLst/>
          </a:prstGeom>
          <a:noFill/>
        </p:spPr>
        <p:txBody>
          <a:bodyPr wrap="square" lIns="0" tIns="0" rIns="0" bIns="0" anchor="t">
            <a:spAutoFit/>
          </a:bodyPr>
          <a:lstStyle/>
          <a:p>
            <a:pPr algn="l">
              <a:spcBef>
                <a:spcPts val="200"/>
              </a:spcBef>
              <a:spcAft>
                <a:spcPts val="200"/>
              </a:spcAft>
            </a:pPr>
            <a:r>
              <a:rPr sz="850" b="1" i="0" cap="all" spc="100">
                <a:solidFill>
                  <a:srgbClr val="60607D"/>
                </a:solidFill>
              </a:rPr>
              <a:t>Why it matters</a:t>
            </a:r>
          </a:p>
          <a:p>
            <a:pPr algn="l">
              <a:spcAft>
                <a:spcPts val="500"/>
              </a:spcAft>
            </a:pPr>
            <a:r>
              <a:rPr sz="1050" b="0" i="0">
                <a:solidFill>
                  <a:srgbClr val="000000"/>
                </a:solidFill>
              </a:rPr>
              <a:t>Everyone knows whose job this is.</a:t>
            </a:r>
          </a:p>
        </p:txBody>
      </p:sp>
      <p:sp>
        <p:nvSpPr>
          <p:cNvPr id="12" name="Rounded Rectangle 11"/>
          <p:cNvSpPr/>
          <p:nvPr/>
        </p:nvSpPr>
        <p:spPr>
          <a:xfrm>
            <a:off x="457200" y="2349576"/>
            <a:ext cx="11277600" cy="636656"/>
          </a:xfrm>
          <a:prstGeom prst="roundRect">
            <a:avLst>
              <a:gd name="adj" fmla="val 90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ctr"/>
            <a:endParaRPr/>
          </a:p>
        </p:txBody>
      </p:sp>
      <p:sp>
        <p:nvSpPr>
          <p:cNvPr id="13" name="TextBox 12"/>
          <p:cNvSpPr txBox="1"/>
          <p:nvPr/>
        </p:nvSpPr>
        <p:spPr>
          <a:xfrm>
            <a:off x="685800" y="2413584"/>
            <a:ext cx="2103120" cy="676656"/>
          </a:xfrm>
          <a:prstGeom prst="rect">
            <a:avLst/>
          </a:prstGeom>
          <a:noFill/>
        </p:spPr>
        <p:txBody>
          <a:bodyPr wrap="square" lIns="0" tIns="0" rIns="0" bIns="0" anchor="t">
            <a:spAutoFit/>
          </a:bodyPr>
          <a:lstStyle/>
          <a:p>
            <a:pPr algn="l">
              <a:spcBef>
                <a:spcPts val="400"/>
              </a:spcBef>
              <a:spcAft>
                <a:spcPts val="500"/>
              </a:spcAft>
            </a:pPr>
            <a:r>
              <a:rPr sz="1200" b="1" i="0">
                <a:solidFill>
                  <a:srgbClr val="000000"/>
                </a:solidFill>
              </a:rPr>
              <a:t>2. Exec summary</a:t>
            </a:r>
          </a:p>
        </p:txBody>
      </p:sp>
      <p:sp>
        <p:nvSpPr>
          <p:cNvPr id="14" name="TextBox 13"/>
          <p:cNvSpPr txBox="1"/>
          <p:nvPr/>
        </p:nvSpPr>
        <p:spPr>
          <a:xfrm>
            <a:off x="2926080" y="2413584"/>
            <a:ext cx="4937760" cy="676656"/>
          </a:xfrm>
          <a:prstGeom prst="rect">
            <a:avLst/>
          </a:prstGeom>
          <a:noFill/>
        </p:spPr>
        <p:txBody>
          <a:bodyPr wrap="square" lIns="0" tIns="0" rIns="0" bIns="0" anchor="t">
            <a:spAutoFit/>
          </a:bodyPr>
          <a:lstStyle/>
          <a:p>
            <a:pPr algn="l">
              <a:spcBef>
                <a:spcPts val="200"/>
              </a:spcBef>
              <a:spcAft>
                <a:spcPts val="200"/>
              </a:spcAft>
            </a:pPr>
            <a:r>
              <a:rPr sz="850" b="1" i="0" cap="all" spc="100">
                <a:solidFill>
                  <a:srgbClr val="60607D"/>
                </a:solidFill>
              </a:rPr>
              <a:t>Put here</a:t>
            </a:r>
          </a:p>
          <a:p>
            <a:pPr algn="l">
              <a:spcAft>
                <a:spcPts val="500"/>
              </a:spcAft>
            </a:pPr>
            <a:r>
              <a:rPr sz="1050" b="0" i="0">
                <a:solidFill>
                  <a:srgbClr val="000000"/>
                </a:solidFill>
              </a:rPr>
              <a:t>Goal, problem, what we are changing, what it unlocks, and one key takeaway.</a:t>
            </a:r>
          </a:p>
        </p:txBody>
      </p:sp>
      <p:sp>
        <p:nvSpPr>
          <p:cNvPr id="15" name="TextBox 14"/>
          <p:cNvSpPr txBox="1"/>
          <p:nvPr/>
        </p:nvSpPr>
        <p:spPr>
          <a:xfrm>
            <a:off x="8046720" y="2413584"/>
            <a:ext cx="3383280" cy="676656"/>
          </a:xfrm>
          <a:prstGeom prst="rect">
            <a:avLst/>
          </a:prstGeom>
          <a:noFill/>
        </p:spPr>
        <p:txBody>
          <a:bodyPr wrap="square" lIns="0" tIns="0" rIns="0" bIns="0" anchor="t">
            <a:spAutoFit/>
          </a:bodyPr>
          <a:lstStyle/>
          <a:p>
            <a:pPr algn="l">
              <a:spcBef>
                <a:spcPts val="200"/>
              </a:spcBef>
              <a:spcAft>
                <a:spcPts val="200"/>
              </a:spcAft>
            </a:pPr>
            <a:r>
              <a:rPr sz="850" b="1" i="0" cap="all" spc="100">
                <a:solidFill>
                  <a:srgbClr val="60607D"/>
                </a:solidFill>
              </a:rPr>
              <a:t>Why it matters</a:t>
            </a:r>
          </a:p>
          <a:p>
            <a:pPr algn="l">
              <a:spcAft>
                <a:spcPts val="500"/>
              </a:spcAft>
            </a:pPr>
            <a:r>
              <a:rPr sz="1050" b="0" i="0">
                <a:solidFill>
                  <a:srgbClr val="000000"/>
                </a:solidFill>
              </a:rPr>
              <a:t>If someone reads only one slide, this is it.</a:t>
            </a:r>
          </a:p>
        </p:txBody>
      </p:sp>
      <p:sp>
        <p:nvSpPr>
          <p:cNvPr id="16" name="Rounded Rectangle 15"/>
          <p:cNvSpPr/>
          <p:nvPr/>
        </p:nvSpPr>
        <p:spPr>
          <a:xfrm>
            <a:off x="457200" y="3026232"/>
            <a:ext cx="11277600" cy="636656"/>
          </a:xfrm>
          <a:prstGeom prst="roundRect">
            <a:avLst>
              <a:gd name="adj" fmla="val 90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ctr"/>
            <a:endParaRPr/>
          </a:p>
        </p:txBody>
      </p:sp>
      <p:sp>
        <p:nvSpPr>
          <p:cNvPr id="17" name="TextBox 16"/>
          <p:cNvSpPr txBox="1"/>
          <p:nvPr/>
        </p:nvSpPr>
        <p:spPr>
          <a:xfrm>
            <a:off x="685800" y="3090240"/>
            <a:ext cx="2103120" cy="676656"/>
          </a:xfrm>
          <a:prstGeom prst="rect">
            <a:avLst/>
          </a:prstGeom>
          <a:noFill/>
        </p:spPr>
        <p:txBody>
          <a:bodyPr wrap="square" lIns="0" tIns="0" rIns="0" bIns="0" anchor="t">
            <a:spAutoFit/>
          </a:bodyPr>
          <a:lstStyle/>
          <a:p>
            <a:pPr algn="l">
              <a:spcBef>
                <a:spcPts val="400"/>
              </a:spcBef>
              <a:spcAft>
                <a:spcPts val="500"/>
              </a:spcAft>
            </a:pPr>
            <a:r>
              <a:rPr sz="1200" b="1" i="0">
                <a:solidFill>
                  <a:srgbClr val="000000"/>
                </a:solidFill>
              </a:rPr>
              <a:t>3. Why now</a:t>
            </a:r>
          </a:p>
        </p:txBody>
      </p:sp>
      <p:sp>
        <p:nvSpPr>
          <p:cNvPr id="18" name="TextBox 17"/>
          <p:cNvSpPr txBox="1"/>
          <p:nvPr/>
        </p:nvSpPr>
        <p:spPr>
          <a:xfrm>
            <a:off x="2926080" y="3090240"/>
            <a:ext cx="4937760" cy="676656"/>
          </a:xfrm>
          <a:prstGeom prst="rect">
            <a:avLst/>
          </a:prstGeom>
          <a:noFill/>
        </p:spPr>
        <p:txBody>
          <a:bodyPr wrap="square" lIns="0" tIns="0" rIns="0" bIns="0" anchor="t">
            <a:spAutoFit/>
          </a:bodyPr>
          <a:lstStyle/>
          <a:p>
            <a:pPr algn="l">
              <a:spcBef>
                <a:spcPts val="200"/>
              </a:spcBef>
              <a:spcAft>
                <a:spcPts val="200"/>
              </a:spcAft>
            </a:pPr>
            <a:r>
              <a:rPr sz="850" b="1" i="0" cap="all" spc="100">
                <a:solidFill>
                  <a:srgbClr val="60607D"/>
                </a:solidFill>
              </a:rPr>
              <a:t>Put here</a:t>
            </a:r>
          </a:p>
          <a:p>
            <a:pPr algn="l">
              <a:spcAft>
                <a:spcPts val="500"/>
              </a:spcAft>
            </a:pPr>
            <a:r>
              <a:rPr sz="1050" b="0" i="0">
                <a:solidFill>
                  <a:srgbClr val="000000"/>
                </a:solidFill>
              </a:rPr>
              <a:t>Why now: why it cannot wait. A bullet for each reason, then what we need.</a:t>
            </a:r>
          </a:p>
        </p:txBody>
      </p:sp>
      <p:sp>
        <p:nvSpPr>
          <p:cNvPr id="19" name="TextBox 18"/>
          <p:cNvSpPr txBox="1"/>
          <p:nvPr/>
        </p:nvSpPr>
        <p:spPr>
          <a:xfrm>
            <a:off x="8046720" y="3090240"/>
            <a:ext cx="3383280" cy="676656"/>
          </a:xfrm>
          <a:prstGeom prst="rect">
            <a:avLst/>
          </a:prstGeom>
          <a:noFill/>
        </p:spPr>
        <p:txBody>
          <a:bodyPr wrap="square" lIns="0" tIns="0" rIns="0" bIns="0" anchor="t">
            <a:spAutoFit/>
          </a:bodyPr>
          <a:lstStyle/>
          <a:p>
            <a:pPr algn="l">
              <a:spcBef>
                <a:spcPts val="200"/>
              </a:spcBef>
              <a:spcAft>
                <a:spcPts val="200"/>
              </a:spcAft>
            </a:pPr>
            <a:r>
              <a:rPr sz="850" b="1" i="0" cap="all" spc="100">
                <a:solidFill>
                  <a:srgbClr val="60607D"/>
                </a:solidFill>
              </a:rPr>
              <a:t>Why it matters</a:t>
            </a:r>
          </a:p>
          <a:p>
            <a:pPr algn="l">
              <a:spcAft>
                <a:spcPts val="500"/>
              </a:spcAft>
            </a:pPr>
            <a:r>
              <a:rPr sz="1050" b="0" i="0">
                <a:solidFill>
                  <a:srgbClr val="000000"/>
                </a:solidFill>
              </a:rPr>
              <a:t>Leaders back things that feel urgent and clear.</a:t>
            </a:r>
          </a:p>
        </p:txBody>
      </p:sp>
      <p:sp>
        <p:nvSpPr>
          <p:cNvPr id="20" name="Rounded Rectangle 19"/>
          <p:cNvSpPr/>
          <p:nvPr/>
        </p:nvSpPr>
        <p:spPr>
          <a:xfrm>
            <a:off x="457200" y="3702888"/>
            <a:ext cx="11277600" cy="636656"/>
          </a:xfrm>
          <a:prstGeom prst="roundRect">
            <a:avLst>
              <a:gd name="adj" fmla="val 90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ctr"/>
            <a:endParaRPr/>
          </a:p>
        </p:txBody>
      </p:sp>
      <p:sp>
        <p:nvSpPr>
          <p:cNvPr id="21" name="TextBox 20"/>
          <p:cNvSpPr txBox="1"/>
          <p:nvPr/>
        </p:nvSpPr>
        <p:spPr>
          <a:xfrm>
            <a:off x="685800" y="3766896"/>
            <a:ext cx="2103120" cy="676656"/>
          </a:xfrm>
          <a:prstGeom prst="rect">
            <a:avLst/>
          </a:prstGeom>
          <a:noFill/>
        </p:spPr>
        <p:txBody>
          <a:bodyPr wrap="square" lIns="0" tIns="0" rIns="0" bIns="0" anchor="t">
            <a:spAutoFit/>
          </a:bodyPr>
          <a:lstStyle/>
          <a:p>
            <a:pPr algn="l">
              <a:spcBef>
                <a:spcPts val="400"/>
              </a:spcBef>
              <a:spcAft>
                <a:spcPts val="500"/>
              </a:spcAft>
            </a:pPr>
            <a:r>
              <a:rPr sz="1200" b="1" i="0">
                <a:solidFill>
                  <a:srgbClr val="000000"/>
                </a:solidFill>
              </a:rPr>
              <a:t>4. How we are going about it</a:t>
            </a:r>
          </a:p>
        </p:txBody>
      </p:sp>
      <p:sp>
        <p:nvSpPr>
          <p:cNvPr id="22" name="TextBox 21"/>
          <p:cNvSpPr txBox="1"/>
          <p:nvPr/>
        </p:nvSpPr>
        <p:spPr>
          <a:xfrm>
            <a:off x="2926080" y="3766896"/>
            <a:ext cx="4937760" cy="676656"/>
          </a:xfrm>
          <a:prstGeom prst="rect">
            <a:avLst/>
          </a:prstGeom>
          <a:noFill/>
        </p:spPr>
        <p:txBody>
          <a:bodyPr wrap="square" lIns="0" tIns="0" rIns="0" bIns="0" anchor="t">
            <a:spAutoFit/>
          </a:bodyPr>
          <a:lstStyle/>
          <a:p>
            <a:pPr algn="l">
              <a:spcBef>
                <a:spcPts val="200"/>
              </a:spcBef>
              <a:spcAft>
                <a:spcPts val="200"/>
              </a:spcAft>
            </a:pPr>
            <a:r>
              <a:rPr sz="850" b="1" i="0" cap="all" spc="100">
                <a:solidFill>
                  <a:srgbClr val="60607D"/>
                </a:solidFill>
              </a:rPr>
              <a:t>Put here</a:t>
            </a:r>
          </a:p>
          <a:p>
            <a:pPr algn="l">
              <a:spcAft>
                <a:spcPts val="500"/>
              </a:spcAft>
            </a:pPr>
            <a:r>
              <a:rPr sz="1050" b="0" i="0">
                <a:solidFill>
                  <a:srgbClr val="000000"/>
                </a:solidFill>
              </a:rPr>
              <a:t>The steps or stories, a timeline with real dates, who is on the team, and who we partner with.</a:t>
            </a:r>
          </a:p>
        </p:txBody>
      </p:sp>
      <p:sp>
        <p:nvSpPr>
          <p:cNvPr id="23" name="TextBox 22"/>
          <p:cNvSpPr txBox="1"/>
          <p:nvPr/>
        </p:nvSpPr>
        <p:spPr>
          <a:xfrm>
            <a:off x="8046720" y="3766896"/>
            <a:ext cx="3383280" cy="676656"/>
          </a:xfrm>
          <a:prstGeom prst="rect">
            <a:avLst/>
          </a:prstGeom>
          <a:noFill/>
        </p:spPr>
        <p:txBody>
          <a:bodyPr wrap="square" lIns="0" tIns="0" rIns="0" bIns="0" anchor="t">
            <a:spAutoFit/>
          </a:bodyPr>
          <a:lstStyle/>
          <a:p>
            <a:pPr algn="l">
              <a:spcBef>
                <a:spcPts val="200"/>
              </a:spcBef>
              <a:spcAft>
                <a:spcPts val="200"/>
              </a:spcAft>
            </a:pPr>
            <a:r>
              <a:rPr sz="850" b="1" i="0" cap="all" spc="100">
                <a:solidFill>
                  <a:srgbClr val="60607D"/>
                </a:solidFill>
              </a:rPr>
              <a:t>Why it matters</a:t>
            </a:r>
          </a:p>
          <a:p>
            <a:pPr algn="l">
              <a:spcAft>
                <a:spcPts val="500"/>
              </a:spcAft>
            </a:pPr>
            <a:r>
              <a:rPr sz="1050" b="0" i="0">
                <a:solidFill>
                  <a:srgbClr val="000000"/>
                </a:solidFill>
              </a:rPr>
              <a:t>Shows there is a plan and a date to hold us to.</a:t>
            </a:r>
          </a:p>
        </p:txBody>
      </p:sp>
      <p:sp>
        <p:nvSpPr>
          <p:cNvPr id="24" name="Rounded Rectangle 23"/>
          <p:cNvSpPr/>
          <p:nvPr/>
        </p:nvSpPr>
        <p:spPr>
          <a:xfrm>
            <a:off x="457200" y="4379544"/>
            <a:ext cx="11277600" cy="636656"/>
          </a:xfrm>
          <a:prstGeom prst="roundRect">
            <a:avLst>
              <a:gd name="adj" fmla="val 90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ctr"/>
            <a:endParaRPr/>
          </a:p>
        </p:txBody>
      </p:sp>
      <p:sp>
        <p:nvSpPr>
          <p:cNvPr id="25" name="TextBox 24"/>
          <p:cNvSpPr txBox="1"/>
          <p:nvPr/>
        </p:nvSpPr>
        <p:spPr>
          <a:xfrm>
            <a:off x="685800" y="4443552"/>
            <a:ext cx="2103120" cy="676656"/>
          </a:xfrm>
          <a:prstGeom prst="rect">
            <a:avLst/>
          </a:prstGeom>
          <a:noFill/>
        </p:spPr>
        <p:txBody>
          <a:bodyPr wrap="square" lIns="0" tIns="0" rIns="0" bIns="0" anchor="t">
            <a:spAutoFit/>
          </a:bodyPr>
          <a:lstStyle/>
          <a:p>
            <a:pPr algn="l">
              <a:spcBef>
                <a:spcPts val="400"/>
              </a:spcBef>
              <a:spcAft>
                <a:spcPts val="500"/>
              </a:spcAft>
            </a:pPr>
            <a:r>
              <a:rPr sz="1200" b="1" i="0">
                <a:solidFill>
                  <a:srgbClr val="000000"/>
                </a:solidFill>
              </a:rPr>
              <a:t>5. Adoption &amp; change management</a:t>
            </a:r>
          </a:p>
        </p:txBody>
      </p:sp>
      <p:sp>
        <p:nvSpPr>
          <p:cNvPr id="26" name="TextBox 25"/>
          <p:cNvSpPr txBox="1"/>
          <p:nvPr/>
        </p:nvSpPr>
        <p:spPr>
          <a:xfrm>
            <a:off x="2926080" y="4443552"/>
            <a:ext cx="4937760" cy="676656"/>
          </a:xfrm>
          <a:prstGeom prst="rect">
            <a:avLst/>
          </a:prstGeom>
          <a:noFill/>
        </p:spPr>
        <p:txBody>
          <a:bodyPr wrap="square" lIns="0" tIns="0" rIns="0" bIns="0" anchor="t">
            <a:spAutoFit/>
          </a:bodyPr>
          <a:lstStyle/>
          <a:p>
            <a:pPr algn="l">
              <a:spcBef>
                <a:spcPts val="200"/>
              </a:spcBef>
              <a:spcAft>
                <a:spcPts val="200"/>
              </a:spcAft>
            </a:pPr>
            <a:r>
              <a:rPr sz="850" b="1" i="0" cap="all" spc="100">
                <a:solidFill>
                  <a:srgbClr val="60607D"/>
                </a:solidFill>
              </a:rPr>
              <a:t>Put here</a:t>
            </a:r>
          </a:p>
          <a:p>
            <a:pPr algn="l">
              <a:spcAft>
                <a:spcPts val="500"/>
              </a:spcAft>
            </a:pPr>
            <a:r>
              <a:rPr sz="1050" b="0" i="0">
                <a:solidFill>
                  <a:srgbClr val="000000"/>
                </a:solidFill>
              </a:rPr>
              <a:t>A plan for the four things that make a change stick: strategy, communications, enablement, and measuring.</a:t>
            </a:r>
          </a:p>
        </p:txBody>
      </p:sp>
      <p:sp>
        <p:nvSpPr>
          <p:cNvPr id="27" name="TextBox 26"/>
          <p:cNvSpPr txBox="1"/>
          <p:nvPr/>
        </p:nvSpPr>
        <p:spPr>
          <a:xfrm>
            <a:off x="8046720" y="4443552"/>
            <a:ext cx="3383280" cy="676656"/>
          </a:xfrm>
          <a:prstGeom prst="rect">
            <a:avLst/>
          </a:prstGeom>
          <a:noFill/>
        </p:spPr>
        <p:txBody>
          <a:bodyPr wrap="square" lIns="0" tIns="0" rIns="0" bIns="0" anchor="t">
            <a:spAutoFit/>
          </a:bodyPr>
          <a:lstStyle/>
          <a:p>
            <a:pPr algn="l">
              <a:spcBef>
                <a:spcPts val="200"/>
              </a:spcBef>
              <a:spcAft>
                <a:spcPts val="200"/>
              </a:spcAft>
            </a:pPr>
            <a:r>
              <a:rPr sz="850" b="1" i="0" cap="all" spc="100">
                <a:solidFill>
                  <a:srgbClr val="60607D"/>
                </a:solidFill>
              </a:rPr>
              <a:t>Why it matters</a:t>
            </a:r>
          </a:p>
          <a:p>
            <a:pPr algn="l">
              <a:spcAft>
                <a:spcPts val="500"/>
              </a:spcAft>
            </a:pPr>
            <a:r>
              <a:rPr sz="1050" b="0" i="0">
                <a:solidFill>
                  <a:srgbClr val="000000"/>
                </a:solidFill>
              </a:rPr>
              <a:t>A change only works if people actually adopt it.</a:t>
            </a:r>
          </a:p>
        </p:txBody>
      </p:sp>
      <p:sp>
        <p:nvSpPr>
          <p:cNvPr id="28" name="Rounded Rectangle 27"/>
          <p:cNvSpPr/>
          <p:nvPr/>
        </p:nvSpPr>
        <p:spPr>
          <a:xfrm>
            <a:off x="457200" y="5056200"/>
            <a:ext cx="11277600" cy="636656"/>
          </a:xfrm>
          <a:prstGeom prst="roundRect">
            <a:avLst>
              <a:gd name="adj" fmla="val 90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ctr"/>
            <a:endParaRPr/>
          </a:p>
        </p:txBody>
      </p:sp>
      <p:sp>
        <p:nvSpPr>
          <p:cNvPr id="29" name="TextBox 28"/>
          <p:cNvSpPr txBox="1"/>
          <p:nvPr/>
        </p:nvSpPr>
        <p:spPr>
          <a:xfrm>
            <a:off x="685800" y="5120208"/>
            <a:ext cx="2103120" cy="676656"/>
          </a:xfrm>
          <a:prstGeom prst="rect">
            <a:avLst/>
          </a:prstGeom>
          <a:noFill/>
        </p:spPr>
        <p:txBody>
          <a:bodyPr wrap="square" lIns="0" tIns="0" rIns="0" bIns="0" anchor="t">
            <a:spAutoFit/>
          </a:bodyPr>
          <a:lstStyle/>
          <a:p>
            <a:pPr algn="l">
              <a:spcBef>
                <a:spcPts val="400"/>
              </a:spcBef>
              <a:spcAft>
                <a:spcPts val="500"/>
              </a:spcAft>
            </a:pPr>
            <a:r>
              <a:rPr sz="1200" b="1" i="0">
                <a:solidFill>
                  <a:srgbClr val="000000"/>
                </a:solidFill>
              </a:rPr>
              <a:t>6. Update</a:t>
            </a:r>
          </a:p>
        </p:txBody>
      </p:sp>
      <p:sp>
        <p:nvSpPr>
          <p:cNvPr id="30" name="TextBox 29"/>
          <p:cNvSpPr txBox="1"/>
          <p:nvPr/>
        </p:nvSpPr>
        <p:spPr>
          <a:xfrm>
            <a:off x="2926080" y="5120208"/>
            <a:ext cx="4937760" cy="676656"/>
          </a:xfrm>
          <a:prstGeom prst="rect">
            <a:avLst/>
          </a:prstGeom>
          <a:noFill/>
        </p:spPr>
        <p:txBody>
          <a:bodyPr wrap="square" lIns="0" tIns="0" rIns="0" bIns="0" anchor="t">
            <a:spAutoFit/>
          </a:bodyPr>
          <a:lstStyle/>
          <a:p>
            <a:pPr algn="l">
              <a:spcBef>
                <a:spcPts val="200"/>
              </a:spcBef>
              <a:spcAft>
                <a:spcPts val="200"/>
              </a:spcAft>
            </a:pPr>
            <a:r>
              <a:rPr sz="850" b="1" i="0" cap="all" spc="100">
                <a:solidFill>
                  <a:srgbClr val="60607D"/>
                </a:solidFill>
              </a:rPr>
              <a:t>Put here</a:t>
            </a:r>
          </a:p>
          <a:p>
            <a:pPr algn="l">
              <a:spcAft>
                <a:spcPts val="500"/>
              </a:spcAft>
            </a:pPr>
            <a:r>
              <a:rPr sz="1050" b="0" i="0">
                <a:solidFill>
                  <a:srgbClr val="000000"/>
                </a:solidFill>
              </a:rPr>
              <a:t>What got done, what is next, and what is in our way or what we need from you.</a:t>
            </a:r>
          </a:p>
        </p:txBody>
      </p:sp>
      <p:sp>
        <p:nvSpPr>
          <p:cNvPr id="31" name="TextBox 30"/>
          <p:cNvSpPr txBox="1"/>
          <p:nvPr/>
        </p:nvSpPr>
        <p:spPr>
          <a:xfrm>
            <a:off x="8046720" y="5120208"/>
            <a:ext cx="3383280" cy="676656"/>
          </a:xfrm>
          <a:prstGeom prst="rect">
            <a:avLst/>
          </a:prstGeom>
          <a:noFill/>
        </p:spPr>
        <p:txBody>
          <a:bodyPr wrap="square" lIns="0" tIns="0" rIns="0" bIns="0" anchor="t">
            <a:spAutoFit/>
          </a:bodyPr>
          <a:lstStyle/>
          <a:p>
            <a:pPr algn="l">
              <a:spcBef>
                <a:spcPts val="200"/>
              </a:spcBef>
              <a:spcAft>
                <a:spcPts val="200"/>
              </a:spcAft>
            </a:pPr>
            <a:r>
              <a:rPr sz="850" b="1" i="0" cap="all" spc="100">
                <a:solidFill>
                  <a:srgbClr val="60607D"/>
                </a:solidFill>
              </a:rPr>
              <a:t>Why it matters</a:t>
            </a:r>
          </a:p>
          <a:p>
            <a:pPr algn="l">
              <a:spcAft>
                <a:spcPts val="500"/>
              </a:spcAft>
            </a:pPr>
            <a:r>
              <a:rPr sz="1050" b="0" i="0">
                <a:solidFill>
                  <a:srgbClr val="000000"/>
                </a:solidFill>
              </a:rPr>
              <a:t>It keeps everyone current and tells leaders how to help.</a:t>
            </a:r>
          </a:p>
        </p:txBody>
      </p:sp>
      <p:sp>
        <p:nvSpPr>
          <p:cNvPr id="32" name="Rounded Rectangle 31"/>
          <p:cNvSpPr/>
          <p:nvPr/>
        </p:nvSpPr>
        <p:spPr>
          <a:xfrm>
            <a:off x="457200" y="5806008"/>
            <a:ext cx="11277600" cy="457200"/>
          </a:xfrm>
          <a:prstGeom prst="roundRect">
            <a:avLst>
              <a:gd name="adj" fmla="val 6000"/>
            </a:avLst>
          </a:prstGeom>
          <a:solidFill>
            <a:srgbClr val="000000"/>
          </a:solidFill>
          <a:ln>
            <a:noFill/>
          </a:ln>
          <a:effectLst>
            <a:outerShdw blurRad="190500" dist="50800" dir="5400000" algn="t" rotWithShape="0">
              <a:srgbClr val="000000">
                <a:alpha val="13000"/>
              </a:srgbClr>
            </a:outerShdw>
          </a:effectLst>
        </p:spPr>
        <p:txBody>
          <a:bodyPr wrap="square" lIns="300000" tIns="50000" rIns="300000" bIns="50000" rtlCol="0" anchor="ctr"/>
          <a:lstStyle/>
          <a:p>
            <a:pPr algn="l"/>
            <a:r>
              <a:rPr sz="1400" b="1" i="0" dirty="0">
                <a:solidFill>
                  <a:srgbClr val="FFFFFF"/>
                </a:solidFill>
              </a:rPr>
              <a:t>Need more detail on something? Add a supporting-detail slide from the layouts at the end.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pic>
        <p:nvPicPr>
          <p:cNvPr id="5" name="Picture 4" descr="f_hero_library.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endParaRP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Update your section with Claude</a:t>
            </a:r>
          </a:p>
        </p:txBody>
      </p:sp>
      <p:sp>
        <p:nvSpPr>
          <p:cNvPr id="4" name="Text Placeholder 3"/>
          <p:cNvSpPr>
            <a:spLocks noGrp="1"/>
          </p:cNvSpPr>
          <p:nvPr>
            <p:ph type="body" sz="quarter" idx="12"/>
          </p:nvPr>
        </p:nvSpPr>
        <p:spPr>
          <a:xfrm>
            <a:off x="457200" y="170000"/>
            <a:ext cx="8000000" cy="182880"/>
          </a:xfrm>
        </p:spPr>
        <p:txBody>
          <a:bodyPr/>
          <a:lstStyle/>
          <a:p>
            <a:r>
              <a:rPr>
                <a:solidFill>
                  <a:srgbClr val="0391F2"/>
                </a:solidFill>
              </a:rPr>
              <a:t>HOW TO USE THIS TEMPLATE</a:t>
            </a:r>
          </a:p>
        </p:txBody>
      </p:sp>
      <p:sp>
        <p:nvSpPr>
          <p:cNvPr id="7" name="TextBox 6"/>
          <p:cNvSpPr txBox="1"/>
          <p:nvPr/>
        </p:nvSpPr>
        <p:spPr>
          <a:xfrm>
            <a:off x="457200" y="1150000"/>
            <a:ext cx="11277600" cy="457200"/>
          </a:xfrm>
          <a:prstGeom prst="rect">
            <a:avLst/>
          </a:prstGeom>
          <a:noFill/>
        </p:spPr>
        <p:txBody>
          <a:bodyPr wrap="square" lIns="0" tIns="0" rIns="0" bIns="0" anchor="t">
            <a:spAutoFit/>
          </a:bodyPr>
          <a:lstStyle/>
          <a:p>
            <a:pPr algn="l">
              <a:spcAft>
                <a:spcPts val="500"/>
              </a:spcAft>
            </a:pPr>
            <a:r>
              <a:rPr sz="1250" b="0" i="0">
                <a:solidFill>
                  <a:srgbClr val="000000"/>
                </a:solidFill>
              </a:rPr>
              <a:t>You do not have to build slides. Give Claude your notes and it hands back your section, ready to paste into this deck.</a:t>
            </a:r>
          </a:p>
        </p:txBody>
      </p:sp>
      <p:sp>
        <p:nvSpPr>
          <p:cNvPr id="8" name="Rounded Rectangle 7"/>
          <p:cNvSpPr/>
          <p:nvPr/>
        </p:nvSpPr>
        <p:spPr>
          <a:xfrm>
            <a:off x="457200" y="1718640"/>
            <a:ext cx="2706900" cy="27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a:solidFill>
                  <a:srgbClr val="60607D"/>
                </a:solidFill>
              </a:rPr>
              <a:t>Step 1</a:t>
            </a:r>
          </a:p>
          <a:p>
            <a:pPr algn="l">
              <a:spcBef>
                <a:spcPts val="400"/>
              </a:spcBef>
              <a:spcAft>
                <a:spcPts val="200"/>
              </a:spcAft>
            </a:pPr>
            <a:r>
              <a:rPr sz="1250" b="1" i="0">
                <a:solidFill>
                  <a:srgbClr val="000000"/>
                </a:solidFill>
              </a:rPr>
              <a:t>Set up once</a:t>
            </a:r>
          </a:p>
          <a:p>
            <a:pPr algn="l">
              <a:spcAft>
                <a:spcPts val="500"/>
              </a:spcAft>
            </a:pPr>
            <a:r>
              <a:rPr sz="1250" b="0" i="0">
                <a:solidFill>
                  <a:srgbClr val="000000"/>
                </a:solidFill>
              </a:rPr>
              <a:t>Make a Claude project. Add two files: this deck (Priorities_Master.pptx) and the update guide. Use the Use this MD button below.</a:t>
            </a:r>
          </a:p>
        </p:txBody>
      </p:sp>
      <p:sp>
        <p:nvSpPr>
          <p:cNvPr id="9" name="Rounded Rectangle 8"/>
          <p:cNvSpPr/>
          <p:nvPr/>
        </p:nvSpPr>
        <p:spPr>
          <a:xfrm>
            <a:off x="3314100" y="1718640"/>
            <a:ext cx="2706900" cy="27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a:solidFill>
                  <a:srgbClr val="60607D"/>
                </a:solidFill>
              </a:rPr>
              <a:t>Step 2</a:t>
            </a:r>
          </a:p>
          <a:p>
            <a:pPr algn="l">
              <a:spcBef>
                <a:spcPts val="400"/>
              </a:spcBef>
              <a:spcAft>
                <a:spcPts val="200"/>
              </a:spcAft>
            </a:pPr>
            <a:r>
              <a:rPr sz="1250" b="1" i="0">
                <a:solidFill>
                  <a:srgbClr val="000000"/>
                </a:solidFill>
              </a:rPr>
              <a:t>Say which priority</a:t>
            </a:r>
          </a:p>
          <a:p>
            <a:pPr algn="l">
              <a:spcAft>
                <a:spcPts val="500"/>
              </a:spcAft>
            </a:pPr>
            <a:r>
              <a:rPr sz="1250" b="0" i="0">
                <a:solidFill>
                  <a:srgbClr val="000000"/>
                </a:solidFill>
              </a:rPr>
              <a:t>Name your priority exactly as it appears in this deck. Then say what you want: fill my section, update my Update slide, fix something, or add detail.</a:t>
            </a:r>
          </a:p>
        </p:txBody>
      </p:sp>
      <p:sp>
        <p:nvSpPr>
          <p:cNvPr id="10" name="Rounded Rectangle 9"/>
          <p:cNvSpPr/>
          <p:nvPr/>
        </p:nvSpPr>
        <p:spPr>
          <a:xfrm>
            <a:off x="6171000" y="1718640"/>
            <a:ext cx="2706900" cy="27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a:solidFill>
                  <a:srgbClr val="60607D"/>
                </a:solidFill>
              </a:rPr>
              <a:t>Step 3</a:t>
            </a:r>
          </a:p>
          <a:p>
            <a:pPr algn="l">
              <a:spcBef>
                <a:spcPts val="400"/>
              </a:spcBef>
              <a:spcAft>
                <a:spcPts val="200"/>
              </a:spcAft>
            </a:pPr>
            <a:r>
              <a:rPr sz="1250" b="1" i="0">
                <a:solidFill>
                  <a:srgbClr val="000000"/>
                </a:solidFill>
              </a:rPr>
              <a:t>Give it your notes</a:t>
            </a:r>
          </a:p>
          <a:p>
            <a:pPr algn="l">
              <a:spcAft>
                <a:spcPts val="500"/>
              </a:spcAft>
            </a:pPr>
            <a:r>
              <a:rPr sz="1250" b="0" i="0">
                <a:solidFill>
                  <a:srgbClr val="000000"/>
                </a:solidFill>
              </a:rPr>
              <a:t>Paste notes, an email, a transcript, anything. Claude fills the boxes in the template and asks if something is missing. It never makes things up.</a:t>
            </a:r>
          </a:p>
        </p:txBody>
      </p:sp>
      <p:sp>
        <p:nvSpPr>
          <p:cNvPr id="11" name="Rounded Rectangle 10"/>
          <p:cNvSpPr/>
          <p:nvPr/>
        </p:nvSpPr>
        <p:spPr>
          <a:xfrm>
            <a:off x="9027900" y="1718640"/>
            <a:ext cx="2706900" cy="27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a:solidFill>
                  <a:srgbClr val="60607D"/>
                </a:solidFill>
              </a:rPr>
              <a:t>Step 4</a:t>
            </a:r>
          </a:p>
          <a:p>
            <a:pPr algn="l">
              <a:spcBef>
                <a:spcPts val="400"/>
              </a:spcBef>
              <a:spcAft>
                <a:spcPts val="200"/>
              </a:spcAft>
            </a:pPr>
            <a:r>
              <a:rPr sz="1250" b="1" i="0">
                <a:solidFill>
                  <a:srgbClr val="000000"/>
                </a:solidFill>
              </a:rPr>
              <a:t>Copy it back in</a:t>
            </a:r>
          </a:p>
          <a:p>
            <a:pPr algn="l">
              <a:spcAft>
                <a:spcPts val="500"/>
              </a:spcAft>
            </a:pPr>
            <a:r>
              <a:rPr sz="1250" b="0" i="0">
                <a:solidFill>
                  <a:srgbClr val="000000"/>
                </a:solidFill>
              </a:rPr>
              <a:t>Claude returns only your section as a small PowerPoint file. Open this deck, delete your old slides, paste the new ones in the same place.</a:t>
            </a:r>
          </a:p>
        </p:txBody>
      </p:sp>
      <p:sp>
        <p:nvSpPr>
          <p:cNvPr id="12" name="Rounded Rectangle 11"/>
          <p:cNvSpPr/>
          <p:nvPr/>
        </p:nvSpPr>
        <p:spPr>
          <a:xfrm>
            <a:off x="457200" y="4568640"/>
            <a:ext cx="5563800" cy="105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000000"/>
                </a:solidFill>
              </a:rPr>
              <a:t>What Claude will do</a:t>
            </a:r>
          </a:p>
          <a:p>
            <a:pPr marL="171450" indent="-171450" algn="l">
              <a:spcAft>
                <a:spcPts val="500"/>
              </a:spcAft>
              <a:buFont typeface="Arial"/>
              <a:buChar char="•"/>
            </a:pPr>
            <a:r>
              <a:rPr sz="900" b="0" i="0">
                <a:solidFill>
                  <a:srgbClr val="000000"/>
                </a:solidFill>
              </a:rPr>
              <a:t>Fit your content into the template boxes, shorten wording to fit, and put today's date on the Update slide.</a:t>
            </a:r>
          </a:p>
          <a:p>
            <a:pPr marL="171450" indent="-171450" algn="l">
              <a:spcAft>
                <a:spcPts val="500"/>
              </a:spcAft>
              <a:buFont typeface="Arial"/>
              <a:buChar char="•"/>
            </a:pPr>
            <a:r>
              <a:rPr sz="900" b="0" i="0">
                <a:solidFill>
                  <a:srgbClr val="000000"/>
                </a:solidFill>
              </a:rPr>
              <a:t>Propose extra detail slides in the same style. It adds them only if you say yes.</a:t>
            </a:r>
          </a:p>
        </p:txBody>
      </p:sp>
      <p:sp>
        <p:nvSpPr>
          <p:cNvPr id="13" name="Rounded Rectangle 12"/>
          <p:cNvSpPr/>
          <p:nvPr/>
        </p:nvSpPr>
        <p:spPr>
          <a:xfrm>
            <a:off x="6171000" y="4568640"/>
            <a:ext cx="5563800" cy="1050000"/>
          </a:xfrm>
          <a:prstGeom prst="roundRect">
            <a:avLst>
              <a:gd name="adj" fmla="val 3200"/>
            </a:avLst>
          </a:prstGeom>
          <a:solidFill>
            <a:srgbClr val="000000"/>
          </a:solidFill>
          <a:ln>
            <a:no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D6D6DF"/>
                </a:solidFill>
              </a:rPr>
              <a:t>What Claude will not do</a:t>
            </a:r>
          </a:p>
          <a:p>
            <a:pPr marL="171450" indent="-171450" algn="l">
              <a:spcAft>
                <a:spcPts val="500"/>
              </a:spcAft>
              <a:buFont typeface="Arial"/>
              <a:buChar char="•"/>
            </a:pPr>
            <a:r>
              <a:rPr sz="950" b="0" i="0">
                <a:solidFill>
                  <a:srgbClr val="FFFFFF"/>
                </a:solidFill>
              </a:rPr>
              <a:t>Change the template, other priorities, or the look of the six standard slides.</a:t>
            </a:r>
          </a:p>
          <a:p>
            <a:pPr marL="171450" indent="-171450" algn="l">
              <a:spcAft>
                <a:spcPts val="500"/>
              </a:spcAft>
              <a:buFont typeface="Arial"/>
              <a:buChar char="•"/>
            </a:pPr>
            <a:r>
              <a:rPr sz="950" b="0" i="0">
                <a:solidFill>
                  <a:srgbClr val="FFFFFF"/>
                </a:solidFill>
              </a:rPr>
              <a:t>Invent dates, names, numbers or owners. Anything unknown stays blank.</a:t>
            </a:r>
          </a:p>
        </p:txBody>
      </p:sp>
      <p:sp>
        <p:nvSpPr>
          <p:cNvPr id="14" name="Rounded Rectangle 13">
            <a:hlinkClick r:id="rId3"/>
          </p:cNvPr>
          <p:cNvSpPr/>
          <p:nvPr/>
        </p:nvSpPr>
        <p:spPr>
          <a:xfrm>
            <a:off x="457200" y="5800000"/>
            <a:ext cx="3291840" cy="411480"/>
          </a:xfrm>
          <a:prstGeom prst="roundRect">
            <a:avLst>
              <a:gd name="adj" fmla="val 50000"/>
            </a:avLst>
          </a:prstGeom>
          <a:solidFill>
            <a:schemeClr val="accent3"/>
          </a:solidFill>
          <a:ln>
            <a:noFill/>
          </a:ln>
        </p:spPr>
        <p:txBody>
          <a:bodyPr lIns="0" tIns="0" rIns="0" bIns="0" rtlCol="0" anchor="ctr"/>
          <a:lstStyle/>
          <a:p>
            <a:pPr algn="ctr"/>
            <a:r>
              <a:rPr lang="en-US" sz="1200" b="1" i="0" dirty="0">
                <a:solidFill>
                  <a:srgbClr val="FFFFFF"/>
                </a:solidFill>
              </a:rPr>
              <a:t>Click to </a:t>
            </a:r>
            <a:r>
              <a:rPr sz="1200" b="1" i="0" dirty="0">
                <a:solidFill>
                  <a:srgbClr val="FFFFFF"/>
                </a:solidFill>
              </a:rPr>
              <a:t>Use this MD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div_p1.jpg"/>
          <p:cNvPicPr>
            <a:picLocks noChangeAspect="1"/>
          </p:cNvPicPr>
          <p:nvPr/>
        </p:nvPicPr>
        <p:blipFill>
          <a:blip r:embed="rId2"/>
          <a:stretch>
            <a:fillRect/>
          </a:stretch>
        </p:blipFill>
        <p:spPr>
          <a:xfrm>
            <a:off x="0" y="0"/>
            <a:ext cx="12192000" cy="6858000"/>
          </a:xfrm>
          <a:prstGeom prst="rect">
            <a:avLst/>
          </a:prstGeom>
        </p:spPr>
      </p:pic>
      <p:sp>
        <p:nvSpPr>
          <p:cNvPr id="4" name="Rectangle 3"/>
          <p:cNvSpPr/>
          <p:nvPr/>
        </p:nvSpPr>
        <p:spPr>
          <a:xfrm>
            <a:off x="0" y="0"/>
            <a:ext cx="12192000" cy="6858000"/>
          </a:xfrm>
          <a:prstGeom prst="rect">
            <a:avLst/>
          </a:prstGeom>
          <a:gradFill rotWithShape="1">
            <a:gsLst>
              <a:gs pos="0">
                <a:srgbClr val="000000">
                  <a:alpha val="90000"/>
                </a:srgbClr>
              </a:gs>
              <a:gs pos="42000">
                <a:srgbClr val="000000">
                  <a:alpha val="58000"/>
                </a:srgbClr>
              </a:gs>
              <a:gs pos="100000">
                <a:srgbClr val="000000">
                  <a:alpha val="26000"/>
                </a:srgbClr>
              </a:gs>
            </a:gsLst>
            <a:lin ang="0" scaled="0"/>
          </a:gradFill>
          <a:ln>
            <a:noFill/>
          </a:ln>
        </p:spPr>
        <p:txBody>
          <a:bodyPr rtlCol="0" anchor="ctr"/>
          <a:lstStyle/>
          <a:p>
            <a:pPr algn="ctr"/>
            <a:endParaRPr/>
          </a:p>
        </p:txBody>
      </p:sp>
      <p:sp>
        <p:nvSpPr>
          <p:cNvPr id="5" name="Rectangle 4"/>
          <p:cNvSpPr/>
          <p:nvPr/>
        </p:nvSpPr>
        <p:spPr>
          <a:xfrm>
            <a:off x="0" y="0"/>
            <a:ext cx="12192000" cy="6858000"/>
          </a:xfrm>
          <a:prstGeom prst="rect">
            <a:avLst/>
          </a:prstGeom>
          <a:gradFill rotWithShape="1">
            <a:gsLst>
              <a:gs pos="0">
                <a:srgbClr val="000000">
                  <a:alpha val="0"/>
                </a:srgbClr>
              </a:gs>
              <a:gs pos="45000">
                <a:srgbClr val="000000">
                  <a:alpha val="10000"/>
                </a:srgbClr>
              </a:gs>
              <a:gs pos="100000">
                <a:srgbClr val="000000">
                  <a:alpha val="58000"/>
                </a:srgbClr>
              </a:gs>
            </a:gsLst>
            <a:lin ang="5400000" scaled="0"/>
          </a:gradFill>
          <a:ln>
            <a:noFill/>
          </a:ln>
        </p:spPr>
        <p:txBody>
          <a:bodyPr rtlCol="0" anchor="ctr"/>
          <a:lstStyle/>
          <a:p>
            <a:pPr algn="ctr"/>
            <a:endParaRPr/>
          </a:p>
        </p:txBody>
      </p:sp>
      <p:sp>
        <p:nvSpPr>
          <p:cNvPr id="8" name="Rounded Rectangle 7"/>
          <p:cNvSpPr/>
          <p:nvPr/>
        </p:nvSpPr>
        <p:spPr>
          <a:xfrm>
            <a:off x="640080" y="2710000"/>
            <a:ext cx="7300000" cy="3260000"/>
          </a:xfrm>
          <a:prstGeom prst="roundRect">
            <a:avLst>
              <a:gd name="adj" fmla="val 2500"/>
            </a:avLst>
          </a:prstGeom>
          <a:solidFill>
            <a:srgbClr val="000000">
              <a:alpha val="62000"/>
            </a:srgbClr>
          </a:solidFill>
          <a:ln>
            <a:noFill/>
          </a:ln>
        </p:spPr>
        <p:txBody>
          <a:bodyPr rtlCol="0" anchor="ctr"/>
          <a:lstStyle/>
          <a:p>
            <a:pPr algn="ctr"/>
            <a:endParaRPr/>
          </a:p>
        </p:txBody>
      </p:sp>
      <p:sp>
        <p:nvSpPr>
          <p:cNvPr id="2" name="Title 1"/>
          <p:cNvSpPr>
            <a:spLocks noGrp="1"/>
          </p:cNvSpPr>
          <p:nvPr>
            <p:ph type="title"/>
          </p:nvPr>
        </p:nvSpPr>
        <p:spPr>
          <a:xfrm>
            <a:off x="914400" y="1900000"/>
            <a:ext cx="6300000" cy="3000000"/>
          </a:xfrm>
        </p:spPr>
        <p:txBody>
          <a:bodyPr anchor="b"/>
          <a:lstStyle/>
          <a:p>
            <a:r>
              <a:t>Deal to Delivery Playbook</a:t>
            </a:r>
          </a:p>
        </p:txBody>
      </p:sp>
      <p:sp>
        <p:nvSpPr>
          <p:cNvPr id="6" name="TextBox 5"/>
          <p:cNvSpPr txBox="1"/>
          <p:nvPr/>
        </p:nvSpPr>
        <p:spPr>
          <a:xfrm>
            <a:off x="914400" y="2940000"/>
            <a:ext cx="6000000" cy="260000"/>
          </a:xfrm>
          <a:prstGeom prst="rect">
            <a:avLst/>
          </a:prstGeom>
          <a:noFill/>
        </p:spPr>
        <p:txBody>
          <a:bodyPr wrap="square" lIns="0" rIns="0">
            <a:spAutoFit/>
          </a:bodyPr>
          <a:lstStyle/>
          <a:p>
            <a:pPr algn="l"/>
            <a:r>
              <a:rPr sz="1000" b="1" spc="200">
                <a:solidFill>
                  <a:srgbClr val="0391F2"/>
                </a:solidFill>
              </a:rPr>
              <a:t>CRITICAL ENABLERS</a:t>
            </a:r>
          </a:p>
        </p:txBody>
      </p:sp>
      <p:sp>
        <p:nvSpPr>
          <p:cNvPr id="7" name="TextBox 6"/>
          <p:cNvSpPr txBox="1"/>
          <p:nvPr/>
        </p:nvSpPr>
        <p:spPr>
          <a:xfrm>
            <a:off x="914400" y="5030000"/>
            <a:ext cx="6000000" cy="700000"/>
          </a:xfrm>
          <a:prstGeom prst="rect">
            <a:avLst/>
          </a:prstGeom>
          <a:noFill/>
        </p:spPr>
        <p:txBody>
          <a:bodyPr wrap="square" lIns="0" rIns="0">
            <a:spAutoFit/>
          </a:bodyPr>
          <a:lstStyle/>
          <a:p>
            <a:pPr algn="l"/>
            <a:r>
              <a:rPr sz="1000" b="1">
                <a:solidFill>
                  <a:srgbClr val="0391F2"/>
                </a:solidFill>
              </a:rPr>
              <a:t>Owner(s)</a:t>
            </a:r>
          </a:p>
          <a:p>
            <a:pPr algn="l"/>
            <a:r>
              <a:rPr sz="1400" i="0">
                <a:solidFill>
                  <a:srgbClr val="FFFFFF"/>
                </a:solidFill>
              </a:rPr>
              <a:t>Missy Foristall, Chris McComas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7" name="Picture 506" descr="hero_p1.jpg"/>
          <p:cNvPicPr>
            <a:picLocks noChangeAspect="1"/>
          </p:cNvPicPr>
          <p:nvPr/>
        </p:nvPicPr>
        <p:blipFill>
          <a:blip r:embed="rId2"/>
          <a:stretch>
            <a:fillRect/>
          </a:stretch>
        </p:blipFill>
        <p:spPr>
          <a:xfrm>
            <a:off x="0" y="0"/>
            <a:ext cx="12192000" cy="1000000"/>
          </a:xfrm>
          <a:prstGeom prst="rect">
            <a:avLst/>
          </a:prstGeom>
        </p:spPr>
      </p:pic>
      <p:sp>
        <p:nvSpPr>
          <p:cNvPr id="508" name="Rectangle 507"/>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endParaRPr/>
          </a:p>
        </p:txBody>
      </p:sp>
      <p:sp>
        <p:nvSpPr>
          <p:cNvPr id="8" name="Text Placeholder 7">
            <a:extLst>
              <a:ext uri="{FF2B5EF4-FFF2-40B4-BE49-F238E27FC236}">
                <a16:creationId xmlns:a16="http://schemas.microsoft.com/office/drawing/2014/main" id="{43A36069-C4E2-A327-FEBF-07750730ECEA}"/>
              </a:ext>
            </a:extLst>
          </p:cNvPr>
          <p:cNvSpPr>
            <a:spLocks noGrp="1"/>
          </p:cNvSpPr>
          <p:nvPr>
            <p:ph type="body" sz="quarter" idx="12"/>
          </p:nvPr>
        </p:nvSpPr>
        <p:spPr>
          <a:xfrm>
            <a:off x="457200" y="170000"/>
            <a:ext cx="8000000" cy="182880"/>
          </a:xfrm>
        </p:spPr>
        <p:txBody>
          <a:bodyPr>
            <a:noAutofit/>
          </a:bodyPr>
          <a:lstStyle/>
          <a:p>
            <a:r>
              <a:rPr lang="en-US" dirty="0">
                <a:solidFill>
                  <a:srgbClr val="0391F2"/>
                </a:solidFill>
              </a:rPr>
              <a:t>OPS PRIORITIES · EXEC SUMMARY</a:t>
            </a:r>
          </a:p>
        </p:txBody>
      </p:sp>
      <p:sp>
        <p:nvSpPr>
          <p:cNvPr id="21" name="Title 20">
            <a:extLst>
              <a:ext uri="{FF2B5EF4-FFF2-40B4-BE49-F238E27FC236}">
                <a16:creationId xmlns:a16="http://schemas.microsoft.com/office/drawing/2014/main" id="{50CCB795-307F-C643-C7C1-507D8B5B32EB}"/>
              </a:ext>
            </a:extLst>
          </p:cNvPr>
          <p:cNvSpPr>
            <a:spLocks noGrp="1"/>
          </p:cNvSpPr>
          <p:nvPr>
            <p:ph type="title"/>
          </p:nvPr>
        </p:nvSpPr>
        <p:spPr>
          <a:xfrm>
            <a:off x="457200" y="300000"/>
            <a:ext cx="8000000" cy="560000"/>
          </a:xfrm>
        </p:spPr>
        <p:txBody>
          <a:bodyPr>
            <a:noAutofit/>
          </a:bodyPr>
          <a:lstStyle/>
          <a:p>
            <a:r>
              <a:rPr lang="en-US" sz="2800" dirty="0">
                <a:solidFill>
                  <a:schemeClr val="bg1"/>
                </a:solidFill>
              </a:rPr>
              <a:t>Deal to Delivery Playbook</a:t>
            </a:r>
          </a:p>
        </p:txBody>
      </p:sp>
      <p:sp>
        <p:nvSpPr>
          <p:cNvPr id="13" name="Rounded Rectangle 12">
            <a:extLst>
              <a:ext uri="{FF2B5EF4-FFF2-40B4-BE49-F238E27FC236}">
                <a16:creationId xmlns:a16="http://schemas.microsoft.com/office/drawing/2014/main" id="{5637A419-FF94-DBCB-082F-42BC6E7DAE00}"/>
              </a:ext>
            </a:extLst>
          </p:cNvPr>
          <p:cNvSpPr>
            <a:spLocks/>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wrap="square" lIns="150000" rIns="120000" rtlCol="0" anchor="ctr">
            <a:noAutofit/>
          </a:bodyPr>
          <a:lstStyle/>
          <a:p>
            <a:r>
              <a:rPr lang="en-US" sz="1050" b="1">
                <a:solidFill>
                  <a:srgbClr val="FFFFFF"/>
                </a:solidFill>
                <a:cs typeface="+mn-cs"/>
              </a:rPr>
              <a:t>Owner(s)</a:t>
            </a:r>
          </a:p>
          <a:p>
            <a:r>
              <a:rPr lang="en-US" sz="900" i="0">
                <a:solidFill>
                  <a:srgbClr val="FFFFFF"/>
                </a:solidFill>
                <a:cs typeface="+mn-cs"/>
              </a:rPr>
              <a:t>Missy Foristall, Chris McComas</a:t>
            </a:r>
          </a:p>
        </p:txBody>
      </p:sp>
      <p:sp>
        <p:nvSpPr>
          <p:cNvPr id="502" name="Takeaway">
            <a:extLst>
              <a:ext uri="{FF2B5EF4-FFF2-40B4-BE49-F238E27FC236}">
                <a16:creationId xmlns:a16="http://schemas.microsoft.com/office/drawing/2014/main" id="{615D6856-4CC4-0C29-A8AF-F4BF58F532AB}"/>
              </a:ext>
            </a:extLst>
          </p:cNvPr>
          <p:cNvSpPr>
            <a:spLocks noGrp="1" noRot="1" noMove="1" noResize="1" noEditPoints="1" noAdjustHandles="1" noChangeArrowheads="1" noChangeShapeType="1"/>
          </p:cNvSpPr>
          <p:nvPr/>
        </p:nvSpPr>
        <p:spPr>
          <a:xfrm>
            <a:off x="457200" y="5510000"/>
            <a:ext cx="11277600" cy="890000"/>
          </a:xfrm>
          <a:prstGeom prst="roundRect">
            <a:avLst>
              <a:gd name="adj" fmla="val 6000"/>
            </a:avLst>
          </a:prstGeom>
          <a:solidFill>
            <a:srgbClr val="000000"/>
          </a:solidFill>
          <a:ln>
            <a:noFill/>
          </a:ln>
          <a:effectLst>
            <a:outerShdw blurRad="190500" dist="50800" dir="5400000" algn="t" rotWithShape="0">
              <a:srgbClr val="000000">
                <a:alpha val="13000"/>
              </a:srgbClr>
            </a:outerShdw>
          </a:effectLst>
        </p:spPr>
        <p:txBody>
          <a:bodyPr wrap="square" lIns="300000" tIns="70000" rIns="300000" bIns="70000" rtlCol="0" anchor="ctr">
            <a:noAutofit/>
          </a:bodyPr>
          <a:lstStyle/>
          <a:p>
            <a:pPr>
              <a:spcAft>
                <a:spcPts val="600"/>
              </a:spcAft>
            </a:pPr>
            <a:r>
              <a:rPr lang="en-US" sz="900" b="1">
                <a:solidFill>
                  <a:srgbClr val="D6D6DF"/>
                </a:solidFill>
              </a:rPr>
              <a:t>KEY TAKEAWAY</a:t>
            </a:r>
          </a:p>
          <a:p>
            <a:pPr marL="0" indent="0">
              <a:buNone/>
            </a:pPr>
            <a:r>
              <a:rPr lang="en-US" sz="1500" b="1">
                <a:solidFill>
                  <a:srgbClr val="FFFFFF"/>
                </a:solidFill>
              </a:rPr>
              <a:t>If we do nothing else, we must stop selling what we cannot properly deliver.</a:t>
            </a:r>
          </a:p>
        </p:txBody>
      </p:sp>
      <p:sp>
        <p:nvSpPr>
          <p:cNvPr id="503" name="Card 2026 GOAL">
            <a:extLst>
              <a:ext uri="{FF2B5EF4-FFF2-40B4-BE49-F238E27FC236}">
                <a16:creationId xmlns:a16="http://schemas.microsoft.com/office/drawing/2014/main" id="{615D6856-4CC4-0C29-A8AF-F4BF58F532AB}"/>
              </a:ext>
            </a:extLst>
          </p:cNvPr>
          <p:cNvSpPr>
            <a:spLocks noGrp="1" noRot="1" noMove="1" noResize="1" noEditPoints="1" noAdjustHandles="1" noChangeArrowheads="1" noChangeShapeType="1"/>
          </p:cNvSpPr>
          <p:nvPr/>
        </p:nvSpPr>
        <p:spPr>
          <a:xfrm>
            <a:off x="457200" y="1080000"/>
            <a:ext cx="5563800" cy="1950000"/>
          </a:xfrm>
          <a:prstGeom prst="roundRect">
            <a:avLst>
              <a:gd name="adj" fmla="val 3200"/>
            </a:avLst>
          </a:prstGeom>
          <a:solidFill>
            <a:srgbClr val="000000"/>
          </a:solidFill>
          <a:ln>
            <a:noFill/>
          </a:ln>
          <a:effectLst>
            <a:outerShdw blurRad="190500" dist="50800" dir="5400000" algn="t" rotWithShape="0">
              <a:srgbClr val="000000">
                <a:alpha val="13000"/>
              </a:srgbClr>
            </a:outerShdw>
          </a:effectLst>
        </p:spPr>
        <p:txBody>
          <a:bodyPr wrap="square" lIns="215000" tIns="170000" rIns="190000" bIns="60000" rtlCol="0" anchor="t">
            <a:noAutofit/>
          </a:bodyPr>
          <a:lstStyle/>
          <a:p>
            <a:pPr>
              <a:spcAft>
                <a:spcPts val="300"/>
              </a:spcAft>
            </a:pPr>
            <a:r>
              <a:rPr lang="en-US" sz="1200" b="1">
                <a:solidFill>
                  <a:srgbClr val="D6D6DF"/>
                </a:solidFill>
              </a:rPr>
              <a:t>2026 GOAL</a:t>
            </a:r>
          </a:p>
          <a:p>
            <a:pPr marL="0" indent="0">
              <a:spcAft>
                <a:spcPts val="300"/>
              </a:spcAft>
              <a:buNone/>
            </a:pPr>
            <a:r>
              <a:rPr lang="en-US" sz="1400" b="1">
                <a:solidFill>
                  <a:srgbClr val="FFFFFF"/>
                </a:solidFill>
              </a:rPr>
              <a:t>Align how we scope, execute, and set client expectations, so what we sell is what we deliver.</a:t>
            </a:r>
          </a:p>
          <a:p>
            <a:pPr marL="171450" indent="-171450">
              <a:spcBef>
                <a:spcPts val="600"/>
              </a:spcBef>
              <a:spcAft>
                <a:spcPts val="300"/>
              </a:spcAft>
              <a:buFont typeface="Arial" panose="020B0604020202020204" pitchFamily="34" charset="0"/>
              <a:buChar char="•"/>
            </a:pPr>
            <a:r>
              <a:rPr lang="en-US" sz="1000">
                <a:solidFill>
                  <a:srgbClr val="FFFFFF"/>
                </a:solidFill>
              </a:rPr>
              <a:t>In practice: each deal is sold on a named delivery model, with contract, scope and billing matched to it, and delivery follows that same shape from qualification through staffing.</a:t>
            </a:r>
          </a:p>
        </p:txBody>
      </p:sp>
      <p:sp>
        <p:nvSpPr>
          <p:cNvPr id="504" name="Card THE PROBLEM">
            <a:extLst>
              <a:ext uri="{FF2B5EF4-FFF2-40B4-BE49-F238E27FC236}">
                <a16:creationId xmlns:a16="http://schemas.microsoft.com/office/drawing/2014/main" id="{615D6856-4CC4-0C29-A8AF-F4BF58F532AB}"/>
              </a:ext>
            </a:extLst>
          </p:cNvPr>
          <p:cNvSpPr>
            <a:spLocks noGrp="1" noRot="1" noMove="1" noResize="1" noEditPoints="1" noAdjustHandles="1" noChangeArrowheads="1" noChangeShapeType="1"/>
          </p:cNvSpPr>
          <p:nvPr/>
        </p:nvSpPr>
        <p:spPr>
          <a:xfrm>
            <a:off x="6171000" y="1080000"/>
            <a:ext cx="5563800" cy="195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5000" tIns="170000" rIns="190000" bIns="60000" rtlCol="0" anchor="t">
            <a:noAutofit/>
          </a:bodyPr>
          <a:lstStyle/>
          <a:p>
            <a:pPr>
              <a:spcAft>
                <a:spcPts val="300"/>
              </a:spcAft>
            </a:pPr>
            <a:r>
              <a:rPr lang="en-US" sz="1200" b="1" dirty="0">
                <a:solidFill>
                  <a:srgbClr val="000000"/>
                </a:solidFill>
              </a:rPr>
              <a:t>THE PROBLEM</a:t>
            </a:r>
          </a:p>
          <a:p>
            <a:pPr marL="171450" indent="-171450">
              <a:spcAft>
                <a:spcPts val="300"/>
              </a:spcAft>
              <a:buFont typeface="Arial" panose="020B0604020202020204" pitchFamily="34" charset="0"/>
              <a:buChar char="•"/>
            </a:pPr>
            <a:r>
              <a:rPr lang="en-US" sz="1000" dirty="0"/>
              <a:t>Work is sold in shapes we cannot staff or deliver.</a:t>
            </a:r>
          </a:p>
          <a:p>
            <a:pPr marL="171450" indent="-171450">
              <a:spcAft>
                <a:spcPts val="300"/>
              </a:spcAft>
              <a:buFont typeface="Arial" panose="020B0604020202020204" pitchFamily="34" charset="0"/>
              <a:buChar char="•"/>
            </a:pPr>
            <a:r>
              <a:rPr lang="en-US" sz="1000" dirty="0"/>
              <a:t>There is no standardized, named set of delivery models that is declared at the point of sale, carried into contracting, enforced at staffing and used for delivery.</a:t>
            </a:r>
          </a:p>
          <a:p>
            <a:pPr marL="171450" indent="-171450">
              <a:spcAft>
                <a:spcPts val="300"/>
              </a:spcAft>
              <a:buFont typeface="Arial" panose="020B0604020202020204" pitchFamily="34" charset="0"/>
              <a:buChar char="•"/>
            </a:pPr>
            <a:r>
              <a:rPr lang="en-US" sz="1000" dirty="0"/>
              <a:t>The delivery approach is decided implicitly by whoever is making decisions at that moment, and it is often not understood until the symptoms are visible to the client or a pivot needs investment.</a:t>
            </a:r>
          </a:p>
        </p:txBody>
      </p:sp>
      <p:sp>
        <p:nvSpPr>
          <p:cNvPr id="505" name="Card WHAT WE ARE CHANGING">
            <a:extLst>
              <a:ext uri="{FF2B5EF4-FFF2-40B4-BE49-F238E27FC236}">
                <a16:creationId xmlns:a16="http://schemas.microsoft.com/office/drawing/2014/main" id="{615D6856-4CC4-0C29-A8AF-F4BF58F532AB}"/>
              </a:ext>
            </a:extLst>
          </p:cNvPr>
          <p:cNvSpPr>
            <a:spLocks noGrp="1" noRot="1" noMove="1" noResize="1" noEditPoints="1" noAdjustHandles="1" noChangeArrowheads="1" noChangeShapeType="1"/>
          </p:cNvSpPr>
          <p:nvPr/>
        </p:nvSpPr>
        <p:spPr>
          <a:xfrm>
            <a:off x="457200" y="3130000"/>
            <a:ext cx="5563800" cy="22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5000" tIns="170000" rIns="190000" bIns="60000" rtlCol="0" anchor="t">
            <a:noAutofit/>
          </a:bodyPr>
          <a:lstStyle/>
          <a:p>
            <a:pPr>
              <a:spcAft>
                <a:spcPts val="300"/>
              </a:spcAft>
            </a:pPr>
            <a:r>
              <a:rPr lang="en-US" sz="1200" b="1" dirty="0">
                <a:solidFill>
                  <a:srgbClr val="000000"/>
                </a:solidFill>
              </a:rPr>
              <a:t>WHAT WE ARE CHANGING</a:t>
            </a:r>
          </a:p>
          <a:p>
            <a:pPr marL="171450" indent="-171450">
              <a:spcAft>
                <a:spcPts val="300"/>
              </a:spcAft>
              <a:buFont typeface="Arial" panose="020B0604020202020204" pitchFamily="34" charset="0"/>
              <a:buChar char="•"/>
            </a:pPr>
            <a:r>
              <a:rPr lang="en-US" sz="1000" dirty="0"/>
              <a:t>Every engagement and every track gets a named delivery model from a small, standard set, declared before review and staffing.</a:t>
            </a:r>
          </a:p>
          <a:p>
            <a:pPr marL="171450" indent="-171450">
              <a:spcAft>
                <a:spcPts val="300"/>
              </a:spcAft>
              <a:buFont typeface="Arial" panose="020B0604020202020204" pitchFamily="34" charset="0"/>
              <a:buChar char="•"/>
            </a:pPr>
            <a:r>
              <a:rPr lang="en-US" sz="1000" dirty="0"/>
              <a:t>No SOW is signed without a model name attached, and that name determines governance.</a:t>
            </a:r>
          </a:p>
          <a:p>
            <a:pPr marL="171450" indent="-171450">
              <a:spcBef>
                <a:spcPts val="500"/>
              </a:spcBef>
              <a:spcAft>
                <a:spcPts val="300"/>
              </a:spcAft>
              <a:buFont typeface="Arial" panose="020B0604020202020204" pitchFamily="34" charset="0"/>
              <a:buChar char="•"/>
            </a:pPr>
            <a:r>
              <a:rPr lang="en-US" sz="1100" b="1" dirty="0">
                <a:solidFill>
                  <a:srgbClr val="000000"/>
                </a:solidFill>
              </a:rPr>
              <a:t>Base set of starting models</a:t>
            </a:r>
          </a:p>
          <a:p>
            <a:pPr marL="171450" indent="-171450">
              <a:spcAft>
                <a:spcPts val="300"/>
              </a:spcAft>
              <a:buFont typeface="Arial" panose="020B0604020202020204" pitchFamily="34" charset="0"/>
              <a:buChar char="•"/>
            </a:pPr>
            <a:r>
              <a:rPr lang="en-US" sz="1000" dirty="0"/>
              <a:t>Fixed Constraint Delivery, Velocity Based Delivery, Outcomes Based Delivery, Retainer</a:t>
            </a:r>
          </a:p>
          <a:p>
            <a:pPr marL="171450" indent="-171450">
              <a:spcBef>
                <a:spcPts val="500"/>
              </a:spcBef>
              <a:spcAft>
                <a:spcPts val="300"/>
              </a:spcAft>
              <a:buFont typeface="Arial" panose="020B0604020202020204" pitchFamily="34" charset="0"/>
              <a:buChar char="•"/>
            </a:pPr>
            <a:r>
              <a:rPr lang="en-US" sz="1100" b="1" dirty="0">
                <a:solidFill>
                  <a:srgbClr val="000000"/>
                </a:solidFill>
              </a:rPr>
              <a:t>MVP defines 3 threaded aspects that must work together for each model</a:t>
            </a:r>
          </a:p>
          <a:p>
            <a:pPr marL="171450" indent="-171450">
              <a:spcAft>
                <a:spcPts val="300"/>
              </a:spcAft>
              <a:buFont typeface="Arial" panose="020B0604020202020204" pitchFamily="34" charset="0"/>
              <a:buChar char="•"/>
            </a:pPr>
            <a:r>
              <a:rPr lang="en-US" sz="1000" dirty="0"/>
              <a:t>Delivery Model &gt; Contracts &gt; Methodology/Approach Standards</a:t>
            </a:r>
          </a:p>
        </p:txBody>
      </p:sp>
      <p:sp>
        <p:nvSpPr>
          <p:cNvPr id="506" name="Card WHAT THIS UNLOCKS">
            <a:extLst>
              <a:ext uri="{FF2B5EF4-FFF2-40B4-BE49-F238E27FC236}">
                <a16:creationId xmlns:a16="http://schemas.microsoft.com/office/drawing/2014/main" id="{615D6856-4CC4-0C29-A8AF-F4BF58F532AB}"/>
              </a:ext>
            </a:extLst>
          </p:cNvPr>
          <p:cNvSpPr>
            <a:spLocks noGrp="1" noRot="1" noMove="1" noResize="1" noEditPoints="1" noAdjustHandles="1" noChangeArrowheads="1" noChangeShapeType="1"/>
          </p:cNvSpPr>
          <p:nvPr/>
        </p:nvSpPr>
        <p:spPr>
          <a:xfrm>
            <a:off x="6171000" y="3130000"/>
            <a:ext cx="5563800" cy="2280000"/>
          </a:xfrm>
          <a:prstGeom prst="roundRect">
            <a:avLst>
              <a:gd name="adj" fmla="val 3200"/>
            </a:avLst>
          </a:prstGeom>
          <a:solidFill>
            <a:srgbClr val="000000"/>
          </a:solidFill>
          <a:ln>
            <a:noFill/>
          </a:ln>
          <a:effectLst>
            <a:outerShdw blurRad="190500" dist="50800" dir="5400000" algn="t" rotWithShape="0">
              <a:srgbClr val="000000">
                <a:alpha val="13000"/>
              </a:srgbClr>
            </a:outerShdw>
          </a:effectLst>
        </p:spPr>
        <p:txBody>
          <a:bodyPr wrap="square" lIns="215000" tIns="170000" rIns="190000" bIns="60000" rtlCol="0" anchor="t">
            <a:noAutofit/>
          </a:bodyPr>
          <a:lstStyle/>
          <a:p>
            <a:pPr>
              <a:spcAft>
                <a:spcPts val="300"/>
              </a:spcAft>
            </a:pPr>
            <a:r>
              <a:rPr lang="en-US" sz="1200" b="1" dirty="0">
                <a:solidFill>
                  <a:srgbClr val="D6D6DF"/>
                </a:solidFill>
              </a:rPr>
              <a:t>WHAT THIS UNLOCKS</a:t>
            </a:r>
          </a:p>
          <a:p>
            <a:pPr marL="171450" indent="-171450">
              <a:spcAft>
                <a:spcPts val="300"/>
              </a:spcAft>
              <a:buFont typeface="Arial" panose="020B0604020202020204" pitchFamily="34" charset="0"/>
              <a:buChar char="•"/>
            </a:pPr>
            <a:r>
              <a:rPr lang="en-US" sz="1000" dirty="0">
                <a:solidFill>
                  <a:srgbClr val="FFFFFF"/>
                </a:solidFill>
              </a:rPr>
              <a:t>We stop agreeing to unreasonable combinations, like fixed-price with no scope control.</a:t>
            </a:r>
          </a:p>
          <a:p>
            <a:pPr marL="171450" indent="-171450">
              <a:spcAft>
                <a:spcPts val="300"/>
              </a:spcAft>
              <a:buFont typeface="Arial" panose="020B0604020202020204" pitchFamily="34" charset="0"/>
              <a:buChar char="•"/>
            </a:pPr>
            <a:r>
              <a:rPr lang="en-US" sz="1000" dirty="0">
                <a:solidFill>
                  <a:srgbClr val="FFFFFF"/>
                </a:solidFill>
              </a:rPr>
              <a:t>Our pricing tools reflect true deliverability, not just theoretical margin.</a:t>
            </a:r>
          </a:p>
          <a:p>
            <a:pPr marL="171450" indent="-171450">
              <a:spcAft>
                <a:spcPts val="300"/>
              </a:spcAft>
              <a:buFont typeface="Arial" panose="020B0604020202020204" pitchFamily="34" charset="0"/>
              <a:buChar char="•"/>
            </a:pPr>
            <a:r>
              <a:rPr lang="en-US" sz="1000" dirty="0">
                <a:solidFill>
                  <a:srgbClr val="FFFFFF"/>
                </a:solidFill>
              </a:rPr>
              <a:t>We guide clients into how we work instead of inheriting whatever mix they bring.</a:t>
            </a:r>
          </a:p>
          <a:p>
            <a:pPr marL="171450" indent="-171450">
              <a:spcBef>
                <a:spcPts val="500"/>
              </a:spcBef>
              <a:spcAft>
                <a:spcPts val="300"/>
              </a:spcAft>
              <a:buFont typeface="Arial" panose="020B0604020202020204" pitchFamily="34" charset="0"/>
              <a:buChar char="•"/>
            </a:pPr>
            <a:r>
              <a:rPr lang="en-US" sz="1100" b="1" dirty="0">
                <a:solidFill>
                  <a:srgbClr val="D6D6DF"/>
                </a:solidFill>
              </a:rPr>
              <a:t>Beyond the MVP</a:t>
            </a:r>
          </a:p>
          <a:p>
            <a:pPr marL="171450" indent="-171450">
              <a:spcAft>
                <a:spcPts val="300"/>
              </a:spcAft>
              <a:buFont typeface="Arial" panose="020B0604020202020204" pitchFamily="34" charset="0"/>
              <a:buChar char="•"/>
            </a:pPr>
            <a:r>
              <a:rPr lang="en-US" sz="1000" dirty="0">
                <a:solidFill>
                  <a:srgbClr val="FFFFFF"/>
                </a:solidFill>
              </a:rPr>
              <a:t>Supported by AI: estimation, pricing, and staffing follow once the MVP is solid, and we move toward metered or token-based commercial pricing.</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7" name="Picture 506" descr="hero_p1.jpg"/>
          <p:cNvPicPr>
            <a:picLocks noChangeAspect="1"/>
          </p:cNvPicPr>
          <p:nvPr/>
        </p:nvPicPr>
        <p:blipFill>
          <a:blip r:embed="rId2"/>
          <a:stretch>
            <a:fillRect/>
          </a:stretch>
        </p:blipFill>
        <p:spPr>
          <a:xfrm>
            <a:off x="0" y="0"/>
            <a:ext cx="12192000" cy="1000000"/>
          </a:xfrm>
          <a:prstGeom prst="rect">
            <a:avLst/>
          </a:prstGeom>
        </p:spPr>
      </p:pic>
      <p:sp>
        <p:nvSpPr>
          <p:cNvPr id="508" name="Rectangle 507"/>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endParaRP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Why now</a:t>
            </a:r>
          </a:p>
        </p:txBody>
      </p:sp>
      <p:sp>
        <p:nvSpPr>
          <p:cNvPr id="4" name="Text Placeholder 3"/>
          <p:cNvSpPr>
            <a:spLocks noGrp="1"/>
          </p:cNvSpPr>
          <p:nvPr>
            <p:ph type="body" sz="quarter" idx="12"/>
          </p:nvPr>
        </p:nvSpPr>
        <p:spPr>
          <a:xfrm>
            <a:off x="457200" y="170000"/>
            <a:ext cx="8000000" cy="182880"/>
          </a:xfrm>
        </p:spPr>
        <p:txBody>
          <a:bodyPr/>
          <a:lstStyle/>
          <a:p>
            <a:r>
              <a:rPr>
                <a:solidFill>
                  <a:srgbClr val="0391F2"/>
                </a:solidFill>
              </a:rPr>
              <a:t>DEAL-TO-DELIVERY PLAYBOOK · CLICK-DOWN · THE PROBLEM</a:t>
            </a:r>
          </a:p>
        </p:txBody>
      </p:sp>
      <p:sp>
        <p:nvSpPr>
          <p:cNvPr id="13" name="Rounded Rectangle 12">
            <a:extLst>
              <a:ext uri="{FF2B5EF4-FFF2-40B4-BE49-F238E27FC236}">
                <a16:creationId xmlns:a16="http://schemas.microsoft.com/office/drawing/2014/main" id="{5637A419-FF94-DBCB-082F-42BC6E7DAE00}"/>
              </a:ext>
            </a:extLst>
          </p:cNvPr>
          <p:cNvSpPr>
            <a:spLocks/>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wrap="square" lIns="150000" rIns="120000" rtlCol="0" anchor="ctr">
            <a:noAutofit/>
          </a:bodyPr>
          <a:lstStyle/>
          <a:p>
            <a:r>
              <a:rPr lang="en-US" sz="1050" b="1">
                <a:solidFill>
                  <a:srgbClr val="FFFFFF"/>
                </a:solidFill>
                <a:cs typeface="+mn-cs"/>
              </a:rPr>
              <a:t>Owner(s)</a:t>
            </a:r>
          </a:p>
          <a:p>
            <a:r>
              <a:rPr lang="en-US" sz="900" i="0">
                <a:solidFill>
                  <a:srgbClr val="FFFFFF"/>
                </a:solidFill>
                <a:cs typeface="+mn-cs"/>
              </a:rPr>
              <a:t>Missy Foristall, Chris McComas</a:t>
            </a:r>
          </a:p>
        </p:txBody>
      </p:sp>
      <p:sp>
        <p:nvSpPr>
          <p:cNvPr id="509" name="Rounded Rectangle 508"/>
          <p:cNvSpPr/>
          <p:nvPr/>
        </p:nvSpPr>
        <p:spPr>
          <a:xfrm>
            <a:off x="457200" y="1170000"/>
            <a:ext cx="11277600" cy="1250000"/>
          </a:xfrm>
          <a:prstGeom prst="roundRect">
            <a:avLst>
              <a:gd name="adj" fmla="val 3200"/>
            </a:avLst>
          </a:prstGeom>
          <a:solidFill>
            <a:srgbClr val="000000"/>
          </a:solidFill>
          <a:ln>
            <a:noFill/>
          </a:ln>
          <a:effectLst>
            <a:outerShdw blurRad="190500" dist="50800" dir="5400000" algn="t" rotWithShape="0">
              <a:srgbClr val="000000">
                <a:alpha val="13000"/>
              </a:srgbClr>
            </a:outerShdw>
          </a:effectLst>
        </p:spPr>
        <p:txBody>
          <a:bodyPr wrap="square" lIns="274320" tIns="109728" rIns="274320" bIns="73152" rtlCol="0" anchor="ctr"/>
          <a:lstStyle/>
          <a:p>
            <a:pPr algn="l">
              <a:spcBef>
                <a:spcPts val="400"/>
              </a:spcBef>
              <a:spcAft>
                <a:spcPts val="500"/>
              </a:spcAft>
            </a:pPr>
            <a:r>
              <a:rPr sz="1600" b="1" i="0" dirty="0">
                <a:solidFill>
                  <a:srgbClr val="FFFFFF"/>
                </a:solidFill>
              </a:rPr>
              <a:t>Work is being sold in shapes we cannot staff or deliver, and that's costing us today — not a future risk. It's also our clearest answer to Play to Win's Delivery Excellence ask.</a:t>
            </a:r>
          </a:p>
        </p:txBody>
      </p:sp>
      <p:sp>
        <p:nvSpPr>
          <p:cNvPr id="510" name="Rounded Rectangle 509"/>
          <p:cNvSpPr/>
          <p:nvPr/>
        </p:nvSpPr>
        <p:spPr>
          <a:xfrm>
            <a:off x="457200" y="2570000"/>
            <a:ext cx="6541008" cy="36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000000"/>
                </a:solidFill>
              </a:rPr>
              <a:t>What's happening today</a:t>
            </a:r>
          </a:p>
          <a:p>
            <a:pPr marL="171450" indent="-171450" algn="l">
              <a:spcAft>
                <a:spcPts val="500"/>
              </a:spcAft>
              <a:buFont typeface="Arial"/>
              <a:buChar char="•"/>
            </a:pPr>
            <a:r>
              <a:rPr sz="1300" b="0" i="0">
                <a:solidFill>
                  <a:srgbClr val="000000"/>
                </a:solidFill>
              </a:rPr>
              <a:t>There is no standardized, named set of delivery models, from which an individual or set of models is required to be declared at the point of sale, carried into contracting, enforced at staffing and used for delivery.</a:t>
            </a:r>
          </a:p>
          <a:p>
            <a:pPr marL="171450" indent="-171450" algn="l">
              <a:spcAft>
                <a:spcPts val="500"/>
              </a:spcAft>
              <a:buFont typeface="Arial"/>
              <a:buChar char="•"/>
            </a:pPr>
            <a:r>
              <a:rPr sz="1300" b="0" i="0">
                <a:solidFill>
                  <a:srgbClr val="000000"/>
                </a:solidFill>
              </a:rPr>
              <a:t>As a result, the delivery approach for any given engagement, or track within an engagement, is decided implicitly and independently by whoever happens to be making decisions at that moment (executives, Sales, CPs, Delivery leads, etc.), rather than through one shared educated decision.</a:t>
            </a:r>
          </a:p>
          <a:p>
            <a:pPr marL="171450" indent="-171450" algn="l">
              <a:spcAft>
                <a:spcPts val="500"/>
              </a:spcAft>
              <a:buFont typeface="Arial"/>
              <a:buChar char="•"/>
            </a:pPr>
            <a:r>
              <a:rPr sz="1300" b="0" i="0">
                <a:solidFill>
                  <a:srgbClr val="000000"/>
                </a:solidFill>
              </a:rPr>
              <a:t>When these implicit decisions disagree with the type of engagement or client expectation, often it is not fully understood until the symptoms are already visible to the client, or we are at a point that a pivot will require investment.</a:t>
            </a:r>
          </a:p>
        </p:txBody>
      </p:sp>
      <p:sp>
        <p:nvSpPr>
          <p:cNvPr id="511" name="Rounded Rectangle 510"/>
          <p:cNvSpPr/>
          <p:nvPr/>
        </p:nvSpPr>
        <p:spPr>
          <a:xfrm>
            <a:off x="7148208" y="2570000"/>
            <a:ext cx="4586592" cy="3680000"/>
          </a:xfrm>
          <a:prstGeom prst="roundRect">
            <a:avLst>
              <a:gd name="adj" fmla="val 3200"/>
            </a:avLst>
          </a:prstGeom>
          <a:solidFill>
            <a:srgbClr val="000000"/>
          </a:solidFill>
          <a:ln>
            <a:no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D6D6DF"/>
                </a:solidFill>
              </a:rPr>
              <a:t>So we need</a:t>
            </a:r>
          </a:p>
          <a:p>
            <a:pPr marL="171450" indent="-171450" algn="l">
              <a:spcAft>
                <a:spcPts val="500"/>
              </a:spcAft>
              <a:buFont typeface="Arial"/>
              <a:buChar char="•"/>
            </a:pPr>
            <a:r>
              <a:rPr sz="1300" b="0" i="0">
                <a:solidFill>
                  <a:srgbClr val="FFFFFF"/>
                </a:solidFill>
              </a:rPr>
              <a:t>We need a small set of authorized delivery models</a:t>
            </a:r>
          </a:p>
          <a:p>
            <a:pPr marL="171450" indent="-171450" algn="l">
              <a:spcAft>
                <a:spcPts val="500"/>
              </a:spcAft>
              <a:buFont typeface="Arial"/>
              <a:buChar char="•"/>
            </a:pPr>
            <a:r>
              <a:rPr sz="1300" b="0" i="0">
                <a:solidFill>
                  <a:srgbClr val="FFFFFF"/>
                </a:solidFill>
              </a:rPr>
              <a:t>That align approach, contract, and methodology standards</a:t>
            </a:r>
          </a:p>
          <a:p>
            <a:pPr marL="171450" indent="-171450" algn="l">
              <a:spcAft>
                <a:spcPts val="500"/>
              </a:spcAft>
              <a:buFont typeface="Arial"/>
              <a:buChar char="•"/>
            </a:pPr>
            <a:r>
              <a:rPr sz="1300" b="0" i="0">
                <a:solidFill>
                  <a:srgbClr val="FFFFFF"/>
                </a:solidFill>
              </a:rPr>
              <a:t>Allowing us to improve how we solution, estimate, and deliver</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7" name="Picture 506" descr="hero_p1.jpg"/>
          <p:cNvPicPr>
            <a:picLocks noChangeAspect="1"/>
          </p:cNvPicPr>
          <p:nvPr/>
        </p:nvPicPr>
        <p:blipFill>
          <a:blip r:embed="rId2"/>
          <a:stretch>
            <a:fillRect/>
          </a:stretch>
        </p:blipFill>
        <p:spPr>
          <a:xfrm>
            <a:off x="0" y="0"/>
            <a:ext cx="12192000" cy="1000000"/>
          </a:xfrm>
          <a:prstGeom prst="rect">
            <a:avLst/>
          </a:prstGeom>
        </p:spPr>
      </p:pic>
      <p:sp>
        <p:nvSpPr>
          <p:cNvPr id="508" name="Rectangle 507"/>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endParaRP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How we're going about it</a:t>
            </a:r>
          </a:p>
        </p:txBody>
      </p:sp>
      <p:sp>
        <p:nvSpPr>
          <p:cNvPr id="4" name="Text Placeholder 3"/>
          <p:cNvSpPr>
            <a:spLocks noGrp="1"/>
          </p:cNvSpPr>
          <p:nvPr>
            <p:ph type="body" sz="quarter" idx="12"/>
          </p:nvPr>
        </p:nvSpPr>
        <p:spPr>
          <a:xfrm>
            <a:off x="457200" y="170000"/>
            <a:ext cx="8000000" cy="182880"/>
          </a:xfrm>
        </p:spPr>
        <p:txBody>
          <a:bodyPr/>
          <a:lstStyle/>
          <a:p>
            <a:r>
              <a:rPr>
                <a:solidFill>
                  <a:srgbClr val="0391F2"/>
                </a:solidFill>
              </a:rPr>
              <a:t>DEAL-TO-DELIVERY PLAYBOOK · CLICK-DOWN · WHAT WE ARE CHANGING</a:t>
            </a:r>
          </a:p>
        </p:txBody>
      </p:sp>
      <p:sp>
        <p:nvSpPr>
          <p:cNvPr id="13" name="Rounded Rectangle 12">
            <a:extLst>
              <a:ext uri="{FF2B5EF4-FFF2-40B4-BE49-F238E27FC236}">
                <a16:creationId xmlns:a16="http://schemas.microsoft.com/office/drawing/2014/main" id="{5637A419-FF94-DBCB-082F-42BC6E7DAE00}"/>
              </a:ext>
            </a:extLst>
          </p:cNvPr>
          <p:cNvSpPr>
            <a:spLocks/>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wrap="square" lIns="150000" rIns="120000" rtlCol="0" anchor="ctr">
            <a:noAutofit/>
          </a:bodyPr>
          <a:lstStyle/>
          <a:p>
            <a:r>
              <a:rPr lang="en-US" sz="1050" b="1">
                <a:solidFill>
                  <a:srgbClr val="FFFFFF"/>
                </a:solidFill>
                <a:cs typeface="+mn-cs"/>
              </a:rPr>
              <a:t>Owner(s)</a:t>
            </a:r>
          </a:p>
          <a:p>
            <a:r>
              <a:rPr lang="en-US" sz="900" i="0">
                <a:solidFill>
                  <a:srgbClr val="FFFFFF"/>
                </a:solidFill>
                <a:cs typeface="+mn-cs"/>
              </a:rPr>
              <a:t>Missy Foristall, Chris McComas</a:t>
            </a:r>
          </a:p>
        </p:txBody>
      </p:sp>
      <p:sp>
        <p:nvSpPr>
          <p:cNvPr id="509" name="TextBox 508"/>
          <p:cNvSpPr txBox="1"/>
          <p:nvPr/>
        </p:nvSpPr>
        <p:spPr>
          <a:xfrm>
            <a:off x="457200" y="1170000"/>
            <a:ext cx="11277600" cy="457200"/>
          </a:xfrm>
          <a:prstGeom prst="rect">
            <a:avLst/>
          </a:prstGeom>
          <a:noFill/>
        </p:spPr>
        <p:txBody>
          <a:bodyPr wrap="square" lIns="0" tIns="0" rIns="0" bIns="0" anchor="t">
            <a:spAutoFit/>
          </a:bodyPr>
          <a:lstStyle/>
          <a:p>
            <a:pPr algn="l">
              <a:spcAft>
                <a:spcPts val="500"/>
              </a:spcAft>
            </a:pPr>
            <a:r>
              <a:rPr sz="1250" b="0" i="0">
                <a:solidFill>
                  <a:srgbClr val="000000"/>
                </a:solidFill>
              </a:rPr>
              <a:t>Every engagement, and every track within a multi-track program, must have an explicitly named delivery model (chosen from a small, standard set) declared before review, staffing, etc. and checked at fixed intervals afterward. The model determines governance, staffing, and authority; it is not inferred after the fact by whoever is doing the work.</a:t>
            </a:r>
          </a:p>
        </p:txBody>
      </p:sp>
      <p:sp>
        <p:nvSpPr>
          <p:cNvPr id="510" name="Rounded Rectangle 509"/>
          <p:cNvSpPr/>
          <p:nvPr/>
        </p:nvSpPr>
        <p:spPr>
          <a:xfrm>
            <a:off x="457200" y="1828368"/>
            <a:ext cx="2744400" cy="233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a:solidFill>
                  <a:srgbClr val="60607D"/>
                </a:solidFill>
              </a:rPr>
              <a:t>Step 1</a:t>
            </a:r>
          </a:p>
          <a:p>
            <a:pPr algn="l">
              <a:spcBef>
                <a:spcPts val="400"/>
              </a:spcBef>
              <a:spcAft>
                <a:spcPts val="200"/>
              </a:spcAft>
            </a:pPr>
            <a:r>
              <a:rPr sz="1150" b="1" i="0">
                <a:solidFill>
                  <a:srgbClr val="000000"/>
                </a:solidFill>
              </a:rPr>
              <a:t>Delivery Models</a:t>
            </a:r>
          </a:p>
          <a:p>
            <a:pPr algn="l">
              <a:spcAft>
                <a:spcPts val="500"/>
              </a:spcAft>
            </a:pPr>
            <a:r>
              <a:rPr sz="1150" b="0" i="0">
                <a:solidFill>
                  <a:srgbClr val="000000"/>
                </a:solidFill>
              </a:rPr>
              <a:t>Every deal categorized at qualification into one of 5-6 core models, so pricing and staffing follow a known shape.</a:t>
            </a:r>
          </a:p>
        </p:txBody>
      </p:sp>
      <p:sp>
        <p:nvSpPr>
          <p:cNvPr id="511" name="Rounded Rectangle 510"/>
          <p:cNvSpPr/>
          <p:nvPr/>
        </p:nvSpPr>
        <p:spPr>
          <a:xfrm>
            <a:off x="3301600" y="1828368"/>
            <a:ext cx="2744400" cy="233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a:solidFill>
                  <a:srgbClr val="60607D"/>
                </a:solidFill>
              </a:rPr>
              <a:t>Step 2</a:t>
            </a:r>
          </a:p>
          <a:p>
            <a:pPr algn="l">
              <a:spcBef>
                <a:spcPts val="400"/>
              </a:spcBef>
              <a:spcAft>
                <a:spcPts val="200"/>
              </a:spcAft>
            </a:pPr>
            <a:r>
              <a:rPr sz="1150" b="1" i="0">
                <a:solidFill>
                  <a:srgbClr val="000000"/>
                </a:solidFill>
              </a:rPr>
              <a:t>Contracts</a:t>
            </a:r>
          </a:p>
          <a:p>
            <a:pPr algn="l">
              <a:spcAft>
                <a:spcPts val="500"/>
              </a:spcAft>
            </a:pPr>
            <a:r>
              <a:rPr sz="1150" b="0" i="0">
                <a:solidFill>
                  <a:srgbClr val="000000"/>
                </a:solidFill>
              </a:rPr>
              <a:t>Terms, scope language, and billing matched to the chosen model — no more fixed price with no scope control.</a:t>
            </a:r>
          </a:p>
        </p:txBody>
      </p:sp>
      <p:sp>
        <p:nvSpPr>
          <p:cNvPr id="512" name="Rounded Rectangle 511"/>
          <p:cNvSpPr/>
          <p:nvPr/>
        </p:nvSpPr>
        <p:spPr>
          <a:xfrm>
            <a:off x="6146000" y="1828368"/>
            <a:ext cx="2744400" cy="233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a:solidFill>
                  <a:srgbClr val="60607D"/>
                </a:solidFill>
              </a:rPr>
              <a:t>Step 3</a:t>
            </a:r>
          </a:p>
          <a:p>
            <a:pPr algn="l">
              <a:spcBef>
                <a:spcPts val="400"/>
              </a:spcBef>
              <a:spcAft>
                <a:spcPts val="200"/>
              </a:spcAft>
            </a:pPr>
            <a:r>
              <a:rPr sz="1150" b="1" i="0">
                <a:solidFill>
                  <a:srgbClr val="000000"/>
                </a:solidFill>
              </a:rPr>
              <a:t>Methodology Standards</a:t>
            </a:r>
          </a:p>
          <a:p>
            <a:pPr algn="l">
              <a:spcAft>
                <a:spcPts val="500"/>
              </a:spcAft>
            </a:pPr>
            <a:r>
              <a:rPr sz="1150" b="0" i="0">
                <a:solidFill>
                  <a:srgbClr val="000000"/>
                </a:solidFill>
              </a:rPr>
              <a:t>Clear working practices, so we guide clients into how we work instead of inheriting whatever mix they bring.</a:t>
            </a:r>
          </a:p>
        </p:txBody>
      </p:sp>
      <p:sp>
        <p:nvSpPr>
          <p:cNvPr id="513" name="Rounded Rectangle 512"/>
          <p:cNvSpPr/>
          <p:nvPr/>
        </p:nvSpPr>
        <p:spPr>
          <a:xfrm>
            <a:off x="8990400" y="1828368"/>
            <a:ext cx="2744400" cy="233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a:solidFill>
                  <a:srgbClr val="60607D"/>
                </a:solidFill>
              </a:rPr>
              <a:t>Step 4</a:t>
            </a:r>
          </a:p>
          <a:p>
            <a:pPr algn="l">
              <a:spcBef>
                <a:spcPts val="400"/>
              </a:spcBef>
              <a:spcAft>
                <a:spcPts val="200"/>
              </a:spcAft>
            </a:pPr>
            <a:r>
              <a:rPr sz="1150" b="1" i="0">
                <a:solidFill>
                  <a:srgbClr val="000000"/>
                </a:solidFill>
              </a:rPr>
              <a:t>After the MVP</a:t>
            </a:r>
          </a:p>
          <a:p>
            <a:pPr algn="l">
              <a:spcAft>
                <a:spcPts val="500"/>
              </a:spcAft>
            </a:pPr>
            <a:r>
              <a:rPr sz="1150" b="0" i="0">
                <a:solidFill>
                  <a:srgbClr val="000000"/>
                </a:solidFill>
              </a:rPr>
              <a:t>Supported by AI: Estimation, Pricing, and Staffing follow once the MVP is solid.</a:t>
            </a:r>
          </a:p>
        </p:txBody>
      </p:sp>
      <p:sp>
        <p:nvSpPr>
          <p:cNvPr id="514" name="Rectangle 513"/>
          <p:cNvSpPr/>
          <p:nvPr/>
        </p:nvSpPr>
        <p:spPr>
          <a:xfrm>
            <a:off x="1544960" y="4379808"/>
            <a:ext cx="9102080" cy="19050"/>
          </a:xfrm>
          <a:prstGeom prst="rect">
            <a:avLst/>
          </a:prstGeom>
          <a:solidFill>
            <a:srgbClr val="D6D6DF"/>
          </a:solidFill>
          <a:ln>
            <a:noFill/>
          </a:ln>
        </p:spPr>
        <p:txBody>
          <a:bodyPr rtlCol="0" anchor="ctr"/>
          <a:lstStyle/>
          <a:p>
            <a:pPr algn="ctr"/>
            <a:endParaRPr/>
          </a:p>
        </p:txBody>
      </p:sp>
      <p:sp>
        <p:nvSpPr>
          <p:cNvPr id="515" name="Oval 514"/>
          <p:cNvSpPr/>
          <p:nvPr/>
        </p:nvSpPr>
        <p:spPr>
          <a:xfrm>
            <a:off x="1453520" y="4288368"/>
            <a:ext cx="182880" cy="182880"/>
          </a:xfrm>
          <a:prstGeom prst="ellipse">
            <a:avLst/>
          </a:prstGeom>
          <a:solidFill>
            <a:srgbClr val="FFFFFF"/>
          </a:solidFill>
          <a:ln w="19050">
            <a:solidFill>
              <a:srgbClr val="000000"/>
            </a:solidFill>
          </a:ln>
        </p:spPr>
        <p:txBody>
          <a:bodyPr rtlCol="0" anchor="ctr"/>
          <a:lstStyle/>
          <a:p>
            <a:pPr algn="ctr"/>
            <a:endParaRPr/>
          </a:p>
        </p:txBody>
      </p:sp>
      <p:sp>
        <p:nvSpPr>
          <p:cNvPr id="516" name="Rounded Rectangle 515"/>
          <p:cNvSpPr/>
          <p:nvPr/>
        </p:nvSpPr>
        <p:spPr>
          <a:xfrm>
            <a:off x="457200" y="4562688"/>
            <a:ext cx="2175520"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Bef>
                <a:spcPts val="400"/>
              </a:spcBef>
              <a:spcAft>
                <a:spcPts val="200"/>
              </a:spcAft>
            </a:pPr>
            <a:r>
              <a:rPr sz="1100" b="1" i="0">
                <a:solidFill>
                  <a:srgbClr val="000000"/>
                </a:solidFill>
              </a:rPr>
              <a:t>Oct 16th</a:t>
            </a:r>
          </a:p>
          <a:p>
            <a:pPr algn="l">
              <a:spcAft>
                <a:spcPts val="500"/>
              </a:spcAft>
            </a:pPr>
            <a:r>
              <a:rPr sz="1100" b="0" i="0">
                <a:solidFill>
                  <a:srgbClr val="000000"/>
                </a:solidFill>
              </a:rPr>
              <a:t>Draft Models Gathered</a:t>
            </a:r>
          </a:p>
        </p:txBody>
      </p:sp>
      <p:sp>
        <p:nvSpPr>
          <p:cNvPr id="517" name="Oval 516"/>
          <p:cNvSpPr/>
          <p:nvPr/>
        </p:nvSpPr>
        <p:spPr>
          <a:xfrm>
            <a:off x="3729040" y="4288368"/>
            <a:ext cx="182880" cy="182880"/>
          </a:xfrm>
          <a:prstGeom prst="ellipse">
            <a:avLst/>
          </a:prstGeom>
          <a:solidFill>
            <a:srgbClr val="FFFFFF"/>
          </a:solidFill>
          <a:ln w="19050">
            <a:solidFill>
              <a:srgbClr val="000000"/>
            </a:solidFill>
          </a:ln>
        </p:spPr>
        <p:txBody>
          <a:bodyPr rtlCol="0" anchor="ctr"/>
          <a:lstStyle/>
          <a:p>
            <a:pPr algn="ctr"/>
            <a:endParaRPr/>
          </a:p>
        </p:txBody>
      </p:sp>
      <p:sp>
        <p:nvSpPr>
          <p:cNvPr id="518" name="Rounded Rectangle 517"/>
          <p:cNvSpPr/>
          <p:nvPr/>
        </p:nvSpPr>
        <p:spPr>
          <a:xfrm>
            <a:off x="2732720" y="4562688"/>
            <a:ext cx="2175520"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Bef>
                <a:spcPts val="400"/>
              </a:spcBef>
              <a:spcAft>
                <a:spcPts val="200"/>
              </a:spcAft>
            </a:pPr>
            <a:r>
              <a:rPr sz="1100" b="1" i="0">
                <a:solidFill>
                  <a:srgbClr val="000000"/>
                </a:solidFill>
              </a:rPr>
              <a:t>Week of Oct. 26th</a:t>
            </a:r>
          </a:p>
          <a:p>
            <a:pPr algn="l">
              <a:spcAft>
                <a:spcPts val="500"/>
              </a:spcAft>
            </a:pPr>
            <a:r>
              <a:rPr sz="1100" b="0" i="0">
                <a:solidFill>
                  <a:srgbClr val="000000"/>
                </a:solidFill>
              </a:rPr>
              <a:t>Base Model rationalization across groups</a:t>
            </a:r>
          </a:p>
        </p:txBody>
      </p:sp>
      <p:sp>
        <p:nvSpPr>
          <p:cNvPr id="519" name="Oval 518"/>
          <p:cNvSpPr/>
          <p:nvPr/>
        </p:nvSpPr>
        <p:spPr>
          <a:xfrm>
            <a:off x="6004560" y="4288368"/>
            <a:ext cx="182880" cy="182880"/>
          </a:xfrm>
          <a:prstGeom prst="ellipse">
            <a:avLst/>
          </a:prstGeom>
          <a:solidFill>
            <a:srgbClr val="FFFFFF"/>
          </a:solidFill>
          <a:ln w="19050">
            <a:solidFill>
              <a:srgbClr val="000000"/>
            </a:solidFill>
          </a:ln>
        </p:spPr>
        <p:txBody>
          <a:bodyPr rtlCol="0" anchor="ctr"/>
          <a:lstStyle/>
          <a:p>
            <a:pPr algn="ctr"/>
            <a:endParaRPr/>
          </a:p>
        </p:txBody>
      </p:sp>
      <p:sp>
        <p:nvSpPr>
          <p:cNvPr id="520" name="Rounded Rectangle 519"/>
          <p:cNvSpPr/>
          <p:nvPr/>
        </p:nvSpPr>
        <p:spPr>
          <a:xfrm>
            <a:off x="5008240" y="4562688"/>
            <a:ext cx="2175520"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Bef>
                <a:spcPts val="400"/>
              </a:spcBef>
              <a:spcAft>
                <a:spcPts val="200"/>
              </a:spcAft>
            </a:pPr>
            <a:r>
              <a:rPr sz="1100" b="1" i="0">
                <a:solidFill>
                  <a:srgbClr val="000000"/>
                </a:solidFill>
              </a:rPr>
              <a:t>Oct 23rd Shifting to Nov 6th</a:t>
            </a:r>
          </a:p>
          <a:p>
            <a:pPr algn="l">
              <a:spcAft>
                <a:spcPts val="500"/>
              </a:spcAft>
            </a:pPr>
            <a:r>
              <a:rPr sz="1100" b="0" i="0">
                <a:solidFill>
                  <a:srgbClr val="000000"/>
                </a:solidFill>
              </a:rPr>
              <a:t>Initial Models Well Defined</a:t>
            </a:r>
          </a:p>
        </p:txBody>
      </p:sp>
      <p:sp>
        <p:nvSpPr>
          <p:cNvPr id="521" name="Oval 520"/>
          <p:cNvSpPr/>
          <p:nvPr/>
        </p:nvSpPr>
        <p:spPr>
          <a:xfrm>
            <a:off x="8280080" y="4288368"/>
            <a:ext cx="182880" cy="182880"/>
          </a:xfrm>
          <a:prstGeom prst="ellipse">
            <a:avLst/>
          </a:prstGeom>
          <a:solidFill>
            <a:srgbClr val="FFFFFF"/>
          </a:solidFill>
          <a:ln w="19050">
            <a:solidFill>
              <a:srgbClr val="000000"/>
            </a:solidFill>
          </a:ln>
        </p:spPr>
        <p:txBody>
          <a:bodyPr rtlCol="0" anchor="ctr"/>
          <a:lstStyle/>
          <a:p>
            <a:pPr algn="ctr"/>
            <a:endParaRPr/>
          </a:p>
        </p:txBody>
      </p:sp>
      <p:sp>
        <p:nvSpPr>
          <p:cNvPr id="522" name="Rounded Rectangle 521"/>
          <p:cNvSpPr/>
          <p:nvPr/>
        </p:nvSpPr>
        <p:spPr>
          <a:xfrm>
            <a:off x="7283760" y="4562688"/>
            <a:ext cx="2175520"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Bef>
                <a:spcPts val="400"/>
              </a:spcBef>
              <a:spcAft>
                <a:spcPts val="200"/>
              </a:spcAft>
            </a:pPr>
            <a:r>
              <a:rPr sz="1100" b="1" i="0">
                <a:solidFill>
                  <a:srgbClr val="000000"/>
                </a:solidFill>
              </a:rPr>
              <a:t>Nov 13th</a:t>
            </a:r>
          </a:p>
          <a:p>
            <a:pPr algn="l">
              <a:spcAft>
                <a:spcPts val="500"/>
              </a:spcAft>
            </a:pPr>
            <a:r>
              <a:rPr sz="1100" b="0" i="0">
                <a:solidFill>
                  <a:srgbClr val="000000"/>
                </a:solidFill>
              </a:rPr>
              <a:t>1st Batch of Models &amp; Program "Stack" Guidance</a:t>
            </a:r>
          </a:p>
        </p:txBody>
      </p:sp>
      <p:sp>
        <p:nvSpPr>
          <p:cNvPr id="523" name="Oval 522"/>
          <p:cNvSpPr/>
          <p:nvPr/>
        </p:nvSpPr>
        <p:spPr>
          <a:xfrm>
            <a:off x="10555600" y="4288368"/>
            <a:ext cx="182880" cy="182880"/>
          </a:xfrm>
          <a:prstGeom prst="ellipse">
            <a:avLst/>
          </a:prstGeom>
          <a:solidFill>
            <a:srgbClr val="FFFFFF"/>
          </a:solidFill>
          <a:ln w="19050">
            <a:solidFill>
              <a:srgbClr val="D6D6DF"/>
            </a:solidFill>
          </a:ln>
        </p:spPr>
        <p:txBody>
          <a:bodyPr rtlCol="0" anchor="ctr"/>
          <a:lstStyle/>
          <a:p>
            <a:pPr algn="ctr"/>
            <a:endParaRPr/>
          </a:p>
        </p:txBody>
      </p:sp>
      <p:sp>
        <p:nvSpPr>
          <p:cNvPr id="524" name="Rounded Rectangle 523"/>
          <p:cNvSpPr/>
          <p:nvPr/>
        </p:nvSpPr>
        <p:spPr>
          <a:xfrm>
            <a:off x="9559280" y="4562688"/>
            <a:ext cx="2175520"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Bef>
                <a:spcPts val="200"/>
              </a:spcBef>
              <a:spcAft>
                <a:spcPts val="200"/>
              </a:spcAft>
            </a:pPr>
            <a:r>
              <a:rPr sz="850" b="1" i="0" cap="all" spc="100">
                <a:solidFill>
                  <a:srgbClr val="60607D"/>
                </a:solidFill>
              </a:rPr>
              <a:t>The target</a:t>
            </a:r>
          </a:p>
          <a:p>
            <a:pPr algn="l">
              <a:spcBef>
                <a:spcPts val="400"/>
              </a:spcBef>
              <a:spcAft>
                <a:spcPts val="200"/>
              </a:spcAft>
            </a:pPr>
            <a:r>
              <a:rPr sz="1000" b="1" i="0">
                <a:solidFill>
                  <a:srgbClr val="000000"/>
                </a:solidFill>
              </a:rPr>
              <a:t>MVP done</a:t>
            </a:r>
          </a:p>
          <a:p>
            <a:pPr algn="l">
              <a:spcAft>
                <a:spcPts val="500"/>
              </a:spcAft>
            </a:pPr>
            <a:r>
              <a:rPr sz="1000" b="0" i="1">
                <a:solidFill>
                  <a:srgbClr val="60607D"/>
                </a:solidFill>
              </a:rPr>
              <a:t>[Date we are shooting for.]</a:t>
            </a:r>
          </a:p>
        </p:txBody>
      </p:sp>
      <p:sp>
        <p:nvSpPr>
          <p:cNvPr id="525" name="Rounded Rectangle 524"/>
          <p:cNvSpPr/>
          <p:nvPr/>
        </p:nvSpPr>
        <p:spPr>
          <a:xfrm>
            <a:off x="457200" y="5462688"/>
            <a:ext cx="5563800" cy="93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91440" rIns="182880" bIns="36576" rtlCol="0" anchor="t"/>
          <a:lstStyle/>
          <a:p>
            <a:pPr algn="l">
              <a:spcAft>
                <a:spcPts val="600"/>
              </a:spcAft>
            </a:pPr>
            <a:r>
              <a:rPr sz="1100" b="1" i="0" cap="all" spc="60">
                <a:solidFill>
                  <a:srgbClr val="000000"/>
                </a:solidFill>
              </a:rPr>
              <a:t>Team</a:t>
            </a:r>
          </a:p>
        </p:txBody>
      </p:sp>
      <p:sp>
        <p:nvSpPr>
          <p:cNvPr id="526" name="Rounded Rectangle 525"/>
          <p:cNvSpPr/>
          <p:nvPr/>
        </p:nvSpPr>
        <p:spPr>
          <a:xfrm>
            <a:off x="667512" y="5791872"/>
            <a:ext cx="457722" cy="246888"/>
          </a:xfrm>
          <a:prstGeom prst="roundRect">
            <a:avLst>
              <a:gd name="adj" fmla="val 50000"/>
            </a:avLst>
          </a:prstGeom>
          <a:solidFill>
            <a:srgbClr val="FFFFFF"/>
          </a:solidFill>
          <a:ln w="12700">
            <a:solidFill>
              <a:srgbClr val="000000"/>
            </a:solidFill>
          </a:ln>
        </p:spPr>
        <p:txBody>
          <a:bodyPr wrap="none" lIns="0" tIns="0" rIns="0" bIns="0" rtlCol="0" anchor="ctr"/>
          <a:lstStyle/>
          <a:p>
            <a:pPr algn="ctr"/>
            <a:r>
              <a:rPr sz="900" b="1" i="0">
                <a:solidFill>
                  <a:srgbClr val="000000"/>
                </a:solidFill>
              </a:rPr>
              <a:t>John</a:t>
            </a:r>
          </a:p>
        </p:txBody>
      </p:sp>
      <p:sp>
        <p:nvSpPr>
          <p:cNvPr id="527" name="Rounded Rectangle 526"/>
          <p:cNvSpPr/>
          <p:nvPr/>
        </p:nvSpPr>
        <p:spPr>
          <a:xfrm>
            <a:off x="1207530" y="5791872"/>
            <a:ext cx="517289" cy="246888"/>
          </a:xfrm>
          <a:prstGeom prst="roundRect">
            <a:avLst>
              <a:gd name="adj" fmla="val 50000"/>
            </a:avLst>
          </a:prstGeom>
          <a:solidFill>
            <a:srgbClr val="FFFFFF"/>
          </a:solidFill>
          <a:ln w="12700">
            <a:solidFill>
              <a:srgbClr val="000000"/>
            </a:solidFill>
          </a:ln>
        </p:spPr>
        <p:txBody>
          <a:bodyPr wrap="none" lIns="0" tIns="0" rIns="0" bIns="0" rtlCol="0" anchor="ctr"/>
          <a:lstStyle/>
          <a:p>
            <a:pPr algn="ctr"/>
            <a:r>
              <a:rPr sz="900" b="1" i="0">
                <a:solidFill>
                  <a:srgbClr val="000000"/>
                </a:solidFill>
              </a:rPr>
              <a:t>Chris</a:t>
            </a:r>
          </a:p>
        </p:txBody>
      </p:sp>
      <p:sp>
        <p:nvSpPr>
          <p:cNvPr id="528" name="Rounded Rectangle 527"/>
          <p:cNvSpPr/>
          <p:nvPr/>
        </p:nvSpPr>
        <p:spPr>
          <a:xfrm>
            <a:off x="6171000" y="5462688"/>
            <a:ext cx="5563800" cy="93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91440" rIns="182880" bIns="36576" rtlCol="0" anchor="t"/>
          <a:lstStyle/>
          <a:p>
            <a:pPr algn="l">
              <a:spcAft>
                <a:spcPts val="600"/>
              </a:spcAft>
            </a:pPr>
            <a:r>
              <a:rPr sz="1100" b="1" i="0" cap="all" spc="60">
                <a:solidFill>
                  <a:srgbClr val="000000"/>
                </a:solidFill>
              </a:rPr>
              <a:t>Partners</a:t>
            </a:r>
          </a:p>
        </p:txBody>
      </p:sp>
      <p:sp>
        <p:nvSpPr>
          <p:cNvPr id="529" name="Rounded Rectangle 528"/>
          <p:cNvSpPr/>
          <p:nvPr/>
        </p:nvSpPr>
        <p:spPr>
          <a:xfrm>
            <a:off x="6381312" y="5791872"/>
            <a:ext cx="636422" cy="246888"/>
          </a:xfrm>
          <a:prstGeom prst="roundRect">
            <a:avLst>
              <a:gd name="adj" fmla="val 50000"/>
            </a:avLst>
          </a:prstGeom>
          <a:solidFill>
            <a:srgbClr val="FFFFFF"/>
          </a:solidFill>
          <a:ln w="12700">
            <a:solidFill>
              <a:srgbClr val="000000"/>
            </a:solidFill>
          </a:ln>
        </p:spPr>
        <p:txBody>
          <a:bodyPr wrap="none" lIns="0" tIns="0" rIns="0" bIns="0" rtlCol="0" anchor="ctr"/>
          <a:lstStyle/>
          <a:p>
            <a:pPr algn="ctr"/>
            <a:r>
              <a:rPr sz="900" b="1" i="0">
                <a:solidFill>
                  <a:srgbClr val="000000"/>
                </a:solidFill>
              </a:rPr>
              <a:t>BU COOs</a:t>
            </a:r>
          </a:p>
        </p:txBody>
      </p:sp>
      <p:sp>
        <p:nvSpPr>
          <p:cNvPr id="530" name="Rounded Rectangle 529"/>
          <p:cNvSpPr/>
          <p:nvPr/>
        </p:nvSpPr>
        <p:spPr>
          <a:xfrm>
            <a:off x="7100030" y="5791872"/>
            <a:ext cx="1053388" cy="246888"/>
          </a:xfrm>
          <a:prstGeom prst="roundRect">
            <a:avLst>
              <a:gd name="adj" fmla="val 50000"/>
            </a:avLst>
          </a:prstGeom>
          <a:solidFill>
            <a:srgbClr val="FFFFFF"/>
          </a:solidFill>
          <a:ln w="12700">
            <a:solidFill>
              <a:srgbClr val="000000"/>
            </a:solidFill>
          </a:ln>
        </p:spPr>
        <p:txBody>
          <a:bodyPr wrap="none" lIns="0" tIns="0" rIns="0" bIns="0" rtlCol="0" anchor="ctr"/>
          <a:lstStyle/>
          <a:p>
            <a:pPr algn="ctr"/>
            <a:r>
              <a:rPr sz="900" b="1" i="0">
                <a:solidFill>
                  <a:srgbClr val="000000"/>
                </a:solidFill>
              </a:rPr>
              <a:t>Delivery Leads</a:t>
            </a:r>
          </a:p>
        </p:txBody>
      </p:sp>
      <p:sp>
        <p:nvSpPr>
          <p:cNvPr id="531" name="Rounded Rectangle 530"/>
          <p:cNvSpPr/>
          <p:nvPr/>
        </p:nvSpPr>
        <p:spPr>
          <a:xfrm>
            <a:off x="8235714" y="5791872"/>
            <a:ext cx="1946888" cy="246888"/>
          </a:xfrm>
          <a:prstGeom prst="roundRect">
            <a:avLst>
              <a:gd name="adj" fmla="val 50000"/>
            </a:avLst>
          </a:prstGeom>
          <a:solidFill>
            <a:srgbClr val="FFFFFF"/>
          </a:solidFill>
          <a:ln w="12700">
            <a:solidFill>
              <a:srgbClr val="000000"/>
            </a:solidFill>
          </a:ln>
        </p:spPr>
        <p:txBody>
          <a:bodyPr wrap="none" lIns="0" tIns="0" rIns="0" bIns="0" rtlCol="0" anchor="ctr"/>
          <a:lstStyle/>
          <a:p>
            <a:pPr algn="ctr"/>
            <a:r>
              <a:rPr sz="900" b="1" i="0">
                <a:solidFill>
                  <a:srgbClr val="000000"/>
                </a:solidFill>
              </a:rPr>
              <a:t>Enterprise Project Management</a:t>
            </a:r>
          </a:p>
        </p:txBody>
      </p:sp>
      <p:sp>
        <p:nvSpPr>
          <p:cNvPr id="532" name="Rounded Rectangle 531"/>
          <p:cNvSpPr/>
          <p:nvPr/>
        </p:nvSpPr>
        <p:spPr>
          <a:xfrm>
            <a:off x="6381312" y="6102768"/>
            <a:ext cx="1708621" cy="246888"/>
          </a:xfrm>
          <a:prstGeom prst="roundRect">
            <a:avLst>
              <a:gd name="adj" fmla="val 50000"/>
            </a:avLst>
          </a:prstGeom>
          <a:solidFill>
            <a:srgbClr val="FFFFFF"/>
          </a:solidFill>
          <a:ln w="12700">
            <a:solidFill>
              <a:srgbClr val="000000"/>
            </a:solidFill>
          </a:ln>
        </p:spPr>
        <p:txBody>
          <a:bodyPr wrap="none" lIns="0" tIns="0" rIns="0" bIns="0" rtlCol="0" anchor="ctr"/>
          <a:lstStyle/>
          <a:p>
            <a:pPr algn="ctr"/>
            <a:r>
              <a:rPr sz="900" b="1" i="0">
                <a:solidFill>
                  <a:srgbClr val="000000"/>
                </a:solidFill>
              </a:rPr>
              <a:t>Client &amp; Commercial teams</a:t>
            </a:r>
          </a:p>
        </p:txBody>
      </p:sp>
      <p:sp>
        <p:nvSpPr>
          <p:cNvPr id="533" name="Rounded Rectangle 532"/>
          <p:cNvSpPr/>
          <p:nvPr/>
        </p:nvSpPr>
        <p:spPr>
          <a:xfrm>
            <a:off x="8172229" y="6102768"/>
            <a:ext cx="636422" cy="246888"/>
          </a:xfrm>
          <a:prstGeom prst="roundRect">
            <a:avLst>
              <a:gd name="adj" fmla="val 50000"/>
            </a:avLst>
          </a:prstGeom>
          <a:solidFill>
            <a:srgbClr val="FFFFFF"/>
          </a:solidFill>
          <a:ln w="12700">
            <a:solidFill>
              <a:srgbClr val="000000"/>
            </a:solidFill>
          </a:ln>
        </p:spPr>
        <p:txBody>
          <a:bodyPr wrap="none" lIns="0" tIns="0" rIns="0" bIns="0" rtlCol="0" anchor="ctr"/>
          <a:lstStyle/>
          <a:p>
            <a:pPr algn="ctr"/>
            <a:r>
              <a:rPr sz="900" b="1" i="0">
                <a:solidFill>
                  <a:srgbClr val="000000"/>
                </a:solidFill>
              </a:rPr>
              <a:t>Finance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7" name="Picture 506" descr="hero_p1.jpg"/>
          <p:cNvPicPr>
            <a:picLocks noChangeAspect="1"/>
          </p:cNvPicPr>
          <p:nvPr/>
        </p:nvPicPr>
        <p:blipFill>
          <a:blip r:embed="rId2"/>
          <a:stretch>
            <a:fillRect/>
          </a:stretch>
        </p:blipFill>
        <p:spPr>
          <a:xfrm>
            <a:off x="0" y="0"/>
            <a:ext cx="12192000" cy="1000000"/>
          </a:xfrm>
          <a:prstGeom prst="rect">
            <a:avLst/>
          </a:prstGeom>
        </p:spPr>
      </p:pic>
      <p:sp>
        <p:nvSpPr>
          <p:cNvPr id="508" name="Rectangle 507"/>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endParaRPr/>
          </a:p>
        </p:txBody>
      </p:sp>
      <p:sp>
        <p:nvSpPr>
          <p:cNvPr id="3" name="Title 2"/>
          <p:cNvSpPr>
            <a:spLocks noGrp="1"/>
          </p:cNvSpPr>
          <p:nvPr>
            <p:ph type="title"/>
          </p:nvPr>
        </p:nvSpPr>
        <p:spPr>
          <a:xfrm>
            <a:off x="457200" y="300000"/>
            <a:ext cx="8000000" cy="560000"/>
          </a:xfrm>
        </p:spPr>
        <p:txBody>
          <a:bodyPr/>
          <a:lstStyle/>
          <a:p>
            <a:r>
              <a:rPr sz="2200">
                <a:solidFill>
                  <a:srgbClr val="FFFFFF"/>
                </a:solidFill>
              </a:rPr>
              <a:t>Delivery Models: the four starting models</a:t>
            </a:r>
          </a:p>
        </p:txBody>
      </p:sp>
      <p:sp>
        <p:nvSpPr>
          <p:cNvPr id="4" name="Text Placeholder 3"/>
          <p:cNvSpPr>
            <a:spLocks noGrp="1"/>
          </p:cNvSpPr>
          <p:nvPr>
            <p:ph type="body" sz="quarter" idx="12"/>
          </p:nvPr>
        </p:nvSpPr>
        <p:spPr>
          <a:xfrm>
            <a:off x="457200" y="170000"/>
            <a:ext cx="8000000" cy="182880"/>
          </a:xfrm>
        </p:spPr>
        <p:txBody>
          <a:bodyPr/>
          <a:lstStyle/>
          <a:p>
            <a:r>
              <a:rPr>
                <a:solidFill>
                  <a:srgbClr val="0391F2"/>
                </a:solidFill>
              </a:rPr>
              <a:t>DEAL-TO-DELIVERY PLAYBOOK · DETAIL</a:t>
            </a:r>
          </a:p>
        </p:txBody>
      </p:sp>
      <p:sp>
        <p:nvSpPr>
          <p:cNvPr id="13" name="Rounded Rectangle 12">
            <a:extLst>
              <a:ext uri="{FF2B5EF4-FFF2-40B4-BE49-F238E27FC236}">
                <a16:creationId xmlns:a16="http://schemas.microsoft.com/office/drawing/2014/main" id="{5637A419-FF94-DBCB-082F-42BC6E7DAE00}"/>
              </a:ext>
            </a:extLst>
          </p:cNvPr>
          <p:cNvSpPr>
            <a:spLocks/>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wrap="square" lIns="150000" rIns="120000" rtlCol="0" anchor="ctr">
            <a:noAutofit/>
          </a:bodyPr>
          <a:lstStyle/>
          <a:p>
            <a:r>
              <a:rPr lang="en-US" sz="1050" b="1">
                <a:solidFill>
                  <a:srgbClr val="FFFFFF"/>
                </a:solidFill>
                <a:cs typeface="+mn-cs"/>
              </a:rPr>
              <a:t>Owner(s)</a:t>
            </a:r>
          </a:p>
          <a:p>
            <a:r>
              <a:rPr lang="en-US" sz="900" i="0">
                <a:solidFill>
                  <a:srgbClr val="FFFFFF"/>
                </a:solidFill>
                <a:cs typeface="+mn-cs"/>
              </a:rPr>
              <a:t>Missy Foristall, Chris McComas</a:t>
            </a:r>
          </a:p>
        </p:txBody>
      </p:sp>
      <p:sp>
        <p:nvSpPr>
          <p:cNvPr id="509" name="Rounded Rectangle 508"/>
          <p:cNvSpPr/>
          <p:nvPr/>
        </p:nvSpPr>
        <p:spPr>
          <a:xfrm>
            <a:off x="457200" y="1170000"/>
            <a:ext cx="2706900" cy="50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dirty="0">
                <a:solidFill>
                  <a:srgbClr val="60607D"/>
                </a:solidFill>
              </a:rPr>
              <a:t>MODEL 1</a:t>
            </a:r>
          </a:p>
          <a:p>
            <a:pPr algn="l">
              <a:spcBef>
                <a:spcPts val="400"/>
              </a:spcBef>
              <a:spcAft>
                <a:spcPts val="200"/>
              </a:spcAft>
            </a:pPr>
            <a:r>
              <a:rPr sz="1100" b="1" i="0" dirty="0">
                <a:solidFill>
                  <a:srgbClr val="000000"/>
                </a:solidFill>
              </a:rPr>
              <a:t>Fixed Constraint Delivery</a:t>
            </a:r>
          </a:p>
          <a:p>
            <a:pPr algn="l">
              <a:spcAft>
                <a:spcPts val="500"/>
              </a:spcAft>
            </a:pPr>
            <a:r>
              <a:rPr sz="1100" b="0" i="0" dirty="0">
                <a:solidFill>
                  <a:srgbClr val="000000"/>
                </a:solidFill>
              </a:rPr>
              <a:t>A fixed constraint (budget, deadline, or scope) is set, and delivery is planned backward to it.</a:t>
            </a:r>
          </a:p>
          <a:p>
            <a:pPr algn="l">
              <a:spcBef>
                <a:spcPts val="400"/>
              </a:spcBef>
              <a:spcAft>
                <a:spcPts val="500"/>
              </a:spcAft>
            </a:pPr>
            <a:r>
              <a:rPr sz="1100" b="1" i="0" dirty="0">
                <a:solidFill>
                  <a:srgbClr val="000000"/>
                </a:solidFill>
              </a:rPr>
              <a:t>Key characteristics</a:t>
            </a:r>
          </a:p>
          <a:p>
            <a:pPr marL="171450" indent="-171450" algn="l">
              <a:spcAft>
                <a:spcPts val="500"/>
              </a:spcAft>
              <a:buFont typeface="Arial"/>
              <a:buChar char="•"/>
            </a:pPr>
            <a:r>
              <a:rPr sz="1100" b="0" i="0" dirty="0" err="1">
                <a:solidFill>
                  <a:srgbClr val="000000"/>
                </a:solidFill>
              </a:rPr>
              <a:t>Backcasted</a:t>
            </a:r>
            <a:r>
              <a:rPr sz="1100" b="0" i="0" dirty="0">
                <a:solidFill>
                  <a:srgbClr val="000000"/>
                </a:solidFill>
              </a:rPr>
              <a:t> plan is mandatory before build starts — no </a:t>
            </a:r>
            <a:r>
              <a:rPr sz="1100" b="0" i="0" dirty="0" err="1">
                <a:solidFill>
                  <a:srgbClr val="000000"/>
                </a:solidFill>
              </a:rPr>
              <a:t>backcast</a:t>
            </a:r>
            <a:r>
              <a:rPr sz="1100" b="0" i="0" dirty="0">
                <a:solidFill>
                  <a:srgbClr val="000000"/>
                </a:solidFill>
              </a:rPr>
              <a:t>, no green light</a:t>
            </a:r>
          </a:p>
          <a:p>
            <a:pPr marL="171450" indent="-171450" algn="l">
              <a:spcAft>
                <a:spcPts val="500"/>
              </a:spcAft>
              <a:buFont typeface="Arial"/>
              <a:buChar char="•"/>
            </a:pPr>
            <a:r>
              <a:rPr sz="1100" b="0" i="0" dirty="0">
                <a:solidFill>
                  <a:srgbClr val="000000"/>
                </a:solidFill>
              </a:rPr>
              <a:t>Scope is fixed and baselined at Gate 1; change flows through CR (constraint-impacting) or Scope Bank (parity swaps)</a:t>
            </a:r>
          </a:p>
          <a:p>
            <a:pPr marL="171450" indent="-171450" algn="l">
              <a:spcAft>
                <a:spcPts val="500"/>
              </a:spcAft>
              <a:buFont typeface="Arial"/>
              <a:buChar char="•"/>
            </a:pPr>
            <a:r>
              <a:rPr sz="1100" b="0" i="0" dirty="0">
                <a:solidFill>
                  <a:srgbClr val="000000"/>
                </a:solidFill>
              </a:rPr>
              <a:t>Phase-gated structure with formal sign-offs</a:t>
            </a:r>
          </a:p>
          <a:p>
            <a:pPr marL="171450" indent="-171450" algn="l">
              <a:spcAft>
                <a:spcPts val="500"/>
              </a:spcAft>
              <a:buFont typeface="Arial"/>
              <a:buChar char="•"/>
            </a:pPr>
            <a:r>
              <a:rPr sz="1100" b="0" i="0" dirty="0">
                <a:solidFill>
                  <a:srgbClr val="000000"/>
                </a:solidFill>
              </a:rPr>
              <a:t>Squad Lead = Scrum Master</a:t>
            </a:r>
          </a:p>
          <a:p>
            <a:pPr marL="171450" indent="-171450" algn="l">
              <a:spcAft>
                <a:spcPts val="500"/>
              </a:spcAft>
              <a:buFont typeface="Arial"/>
              <a:buChar char="•"/>
            </a:pPr>
            <a:r>
              <a:rPr sz="1100" b="0" i="0" dirty="0">
                <a:solidFill>
                  <a:srgbClr val="000000"/>
                </a:solidFill>
              </a:rPr>
              <a:t>Success is binary at the end: did it ship, on time, in budget, to spec</a:t>
            </a:r>
          </a:p>
        </p:txBody>
      </p:sp>
      <p:sp>
        <p:nvSpPr>
          <p:cNvPr id="510" name="Rounded Rectangle 509"/>
          <p:cNvSpPr/>
          <p:nvPr/>
        </p:nvSpPr>
        <p:spPr>
          <a:xfrm>
            <a:off x="3314100" y="1170000"/>
            <a:ext cx="2706900" cy="50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a:solidFill>
                  <a:srgbClr val="60607D"/>
                </a:solidFill>
              </a:rPr>
              <a:t>MODEL 2</a:t>
            </a:r>
          </a:p>
          <a:p>
            <a:pPr algn="l">
              <a:spcBef>
                <a:spcPts val="400"/>
              </a:spcBef>
              <a:spcAft>
                <a:spcPts val="200"/>
              </a:spcAft>
            </a:pPr>
            <a:r>
              <a:rPr sz="1100" b="1" i="0">
                <a:solidFill>
                  <a:srgbClr val="000000"/>
                </a:solidFill>
              </a:rPr>
              <a:t>Velocity Based Delivery</a:t>
            </a:r>
          </a:p>
          <a:p>
            <a:pPr algn="l">
              <a:spcAft>
                <a:spcPts val="500"/>
              </a:spcAft>
            </a:pPr>
            <a:r>
              <a:rPr sz="1100" b="0" i="0">
                <a:solidFill>
                  <a:srgbClr val="000000"/>
                </a:solidFill>
              </a:rPr>
              <a:t>A contracted team delivers at a predictable, measurable pace; value is demonstrated through throughput and periodic releases, not a fixed feature list.</a:t>
            </a:r>
          </a:p>
          <a:p>
            <a:pPr algn="l">
              <a:spcBef>
                <a:spcPts val="400"/>
              </a:spcBef>
              <a:spcAft>
                <a:spcPts val="500"/>
              </a:spcAft>
            </a:pPr>
            <a:r>
              <a:rPr sz="1100" b="1" i="0">
                <a:solidFill>
                  <a:srgbClr val="000000"/>
                </a:solidFill>
              </a:rPr>
              <a:t>Key characteristics</a:t>
            </a:r>
          </a:p>
          <a:p>
            <a:pPr marL="171450" indent="-171450" algn="l">
              <a:spcAft>
                <a:spcPts val="500"/>
              </a:spcAft>
              <a:buFont typeface="Arial"/>
              <a:buChar char="•"/>
            </a:pPr>
            <a:r>
              <a:rPr sz="1100" b="0" i="0">
                <a:solidFill>
                  <a:srgbClr val="000000"/>
                </a:solidFill>
              </a:rPr>
              <a:t>No fixed scope commitment — backlog is client-prioritized, reordered freely</a:t>
            </a:r>
          </a:p>
          <a:p>
            <a:pPr marL="171450" indent="-171450" algn="l">
              <a:spcAft>
                <a:spcPts val="500"/>
              </a:spcAft>
              <a:buFont typeface="Arial"/>
              <a:buChar char="•"/>
            </a:pPr>
            <a:r>
              <a:rPr sz="1100" b="0" i="0">
                <a:solidFill>
                  <a:srgbClr val="000000"/>
                </a:solidFill>
              </a:rPr>
              <a:t>Velocity baseline is established and defended</a:t>
            </a:r>
          </a:p>
          <a:p>
            <a:pPr marL="171450" indent="-171450" algn="l">
              <a:spcAft>
                <a:spcPts val="500"/>
              </a:spcAft>
              <a:buFont typeface="Arial"/>
              <a:buChar char="•"/>
            </a:pPr>
            <a:r>
              <a:rPr sz="1100" b="0" i="0">
                <a:solidFill>
                  <a:srgbClr val="000000"/>
                </a:solidFill>
              </a:rPr>
              <a:t>PI Planning cadence (8–10 weeks) anchors medium-term commitments</a:t>
            </a:r>
          </a:p>
          <a:p>
            <a:pPr marL="171450" indent="-171450" algn="l">
              <a:spcAft>
                <a:spcPts val="500"/>
              </a:spcAft>
              <a:buFont typeface="Arial"/>
              <a:buChar char="•"/>
            </a:pPr>
            <a:r>
              <a:rPr sz="1100" b="0" i="0">
                <a:solidFill>
                  <a:srgbClr val="000000"/>
                </a:solidFill>
              </a:rPr>
              <a:t>Squad Lead = Scrum Master</a:t>
            </a:r>
          </a:p>
          <a:p>
            <a:pPr marL="171450" indent="-171450" algn="l">
              <a:spcAft>
                <a:spcPts val="500"/>
              </a:spcAft>
              <a:buFont typeface="Arial"/>
              <a:buChar char="•"/>
            </a:pPr>
            <a:r>
              <a:rPr sz="1100" b="0" i="0">
                <a:solidFill>
                  <a:srgbClr val="000000"/>
                </a:solidFill>
              </a:rPr>
              <a:t>Contract states team capacity/pace is what's being bought — NOT a feature list</a:t>
            </a:r>
          </a:p>
        </p:txBody>
      </p:sp>
      <p:sp>
        <p:nvSpPr>
          <p:cNvPr id="511" name="Rounded Rectangle 510"/>
          <p:cNvSpPr/>
          <p:nvPr/>
        </p:nvSpPr>
        <p:spPr>
          <a:xfrm>
            <a:off x="6171000" y="1170000"/>
            <a:ext cx="2706900" cy="50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a:solidFill>
                  <a:srgbClr val="60607D"/>
                </a:solidFill>
              </a:rPr>
              <a:t>MODEL 3</a:t>
            </a:r>
          </a:p>
          <a:p>
            <a:pPr algn="l">
              <a:spcBef>
                <a:spcPts val="400"/>
              </a:spcBef>
              <a:spcAft>
                <a:spcPts val="200"/>
              </a:spcAft>
            </a:pPr>
            <a:r>
              <a:rPr sz="1100" b="1" i="0">
                <a:solidFill>
                  <a:srgbClr val="000000"/>
                </a:solidFill>
              </a:rPr>
              <a:t>Outcomes Based Delivery</a:t>
            </a:r>
          </a:p>
          <a:p>
            <a:pPr algn="l">
              <a:spcAft>
                <a:spcPts val="500"/>
              </a:spcAft>
            </a:pPr>
            <a:r>
              <a:rPr sz="1100" b="0" i="0">
                <a:solidFill>
                  <a:srgbClr val="000000"/>
                </a:solidFill>
              </a:rPr>
              <a:t>A strategic product partnership; the backlog exists to move measurable business outcomes, not just to ship features.</a:t>
            </a:r>
          </a:p>
          <a:p>
            <a:pPr algn="l">
              <a:spcBef>
                <a:spcPts val="400"/>
              </a:spcBef>
              <a:spcAft>
                <a:spcPts val="500"/>
              </a:spcAft>
            </a:pPr>
            <a:r>
              <a:rPr sz="1100" b="1" i="0">
                <a:solidFill>
                  <a:srgbClr val="000000"/>
                </a:solidFill>
              </a:rPr>
              <a:t>Key characteristics</a:t>
            </a:r>
          </a:p>
          <a:p>
            <a:pPr marL="171450" indent="-171450" algn="l">
              <a:spcAft>
                <a:spcPts val="500"/>
              </a:spcAft>
              <a:buFont typeface="Arial"/>
              <a:buChar char="•"/>
            </a:pPr>
            <a:r>
              <a:rPr sz="1100" b="0" i="0">
                <a:solidFill>
                  <a:srgbClr val="000000"/>
                </a:solidFill>
              </a:rPr>
              <a:t>POD Led = Product Owner, with real authority — decision rights and roadmap access should be contractually explicit</a:t>
            </a:r>
          </a:p>
          <a:p>
            <a:pPr marL="171450" indent="-171450" algn="l">
              <a:spcAft>
                <a:spcPts val="500"/>
              </a:spcAft>
              <a:buFont typeface="Arial"/>
              <a:buChar char="•"/>
            </a:pPr>
            <a:r>
              <a:rPr sz="1100" b="0" i="0">
                <a:solidFill>
                  <a:srgbClr val="000000"/>
                </a:solidFill>
              </a:rPr>
              <a:t>Every backlog item is anchored to an OKR before it enters a sprint</a:t>
            </a:r>
          </a:p>
          <a:p>
            <a:pPr marL="171450" indent="-171450" algn="l">
              <a:spcAft>
                <a:spcPts val="500"/>
              </a:spcAft>
              <a:buFont typeface="Arial"/>
              <a:buChar char="•"/>
            </a:pPr>
            <a:r>
              <a:rPr sz="1100" b="0" i="0">
                <a:solidFill>
                  <a:srgbClr val="000000"/>
                </a:solidFill>
              </a:rPr>
              <a:t>Client Product Owner co-owns the roadmap (not just consulted)</a:t>
            </a:r>
          </a:p>
          <a:p>
            <a:pPr marL="171450" indent="-171450" algn="l">
              <a:spcAft>
                <a:spcPts val="500"/>
              </a:spcAft>
              <a:buFont typeface="Arial"/>
              <a:buChar char="•"/>
            </a:pPr>
            <a:r>
              <a:rPr sz="1100" b="0" i="0">
                <a:solidFill>
                  <a:srgbClr val="000000"/>
                </a:solidFill>
              </a:rPr>
              <a:t>Continuous discovery is a funded, scheduled activity</a:t>
            </a:r>
          </a:p>
          <a:p>
            <a:pPr marL="171450" indent="-171450" algn="l">
              <a:spcAft>
                <a:spcPts val="500"/>
              </a:spcAft>
              <a:buFont typeface="Arial"/>
              <a:buChar char="•"/>
            </a:pPr>
            <a:r>
              <a:rPr sz="1100" b="0" i="0">
                <a:solidFill>
                  <a:srgbClr val="000000"/>
                </a:solidFill>
              </a:rPr>
              <a:t>Quarterly roadmap/OKR review with Exec Sponsor</a:t>
            </a:r>
          </a:p>
        </p:txBody>
      </p:sp>
      <p:sp>
        <p:nvSpPr>
          <p:cNvPr id="512" name="Rounded Rectangle 511"/>
          <p:cNvSpPr/>
          <p:nvPr/>
        </p:nvSpPr>
        <p:spPr>
          <a:xfrm>
            <a:off x="9027900" y="1170000"/>
            <a:ext cx="2706900" cy="50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a:solidFill>
                  <a:srgbClr val="60607D"/>
                </a:solidFill>
              </a:rPr>
              <a:t>MODEL 4</a:t>
            </a:r>
          </a:p>
          <a:p>
            <a:pPr algn="l">
              <a:spcBef>
                <a:spcPts val="400"/>
              </a:spcBef>
              <a:spcAft>
                <a:spcPts val="200"/>
              </a:spcAft>
            </a:pPr>
            <a:r>
              <a:rPr sz="1000" b="1" i="0">
                <a:solidFill>
                  <a:srgbClr val="000000"/>
                </a:solidFill>
              </a:rPr>
              <a:t>Retainer(Site Support Example)</a:t>
            </a:r>
          </a:p>
          <a:p>
            <a:pPr algn="l">
              <a:spcAft>
                <a:spcPts val="500"/>
              </a:spcAft>
            </a:pPr>
            <a:r>
              <a:rPr sz="1000" b="0" i="0">
                <a:solidFill>
                  <a:srgbClr val="000000"/>
                </a:solidFill>
              </a:rPr>
              <a:t>Live Ops/Support retainer running and sustaining what's already been built. This is not new development, this is protecting existing value and responding to it.</a:t>
            </a:r>
          </a:p>
          <a:p>
            <a:pPr algn="l">
              <a:spcBef>
                <a:spcPts val="400"/>
              </a:spcBef>
              <a:spcAft>
                <a:spcPts val="500"/>
              </a:spcAft>
            </a:pPr>
            <a:r>
              <a:rPr sz="1000" b="1" i="0">
                <a:solidFill>
                  <a:srgbClr val="000000"/>
                </a:solidFill>
              </a:rPr>
              <a:t>Key characteristics</a:t>
            </a:r>
          </a:p>
          <a:p>
            <a:pPr marL="171450" indent="-171450" algn="l">
              <a:spcAft>
                <a:spcPts val="500"/>
              </a:spcAft>
              <a:buFont typeface="Arial"/>
              <a:buChar char="•"/>
            </a:pPr>
            <a:r>
              <a:rPr sz="1000" b="0" i="0">
                <a:solidFill>
                  <a:srgbClr val="000000"/>
                </a:solidFill>
              </a:rPr>
              <a:t>Scope is reactive + scheduled maintenance</a:t>
            </a:r>
          </a:p>
          <a:p>
            <a:pPr marL="171450" indent="-171450" algn="l">
              <a:spcAft>
                <a:spcPts val="500"/>
              </a:spcAft>
              <a:buFont typeface="Arial"/>
              <a:buChar char="•"/>
            </a:pPr>
            <a:r>
              <a:rPr sz="1000" b="0" i="0">
                <a:solidFill>
                  <a:srgbClr val="000000"/>
                </a:solidFill>
              </a:rPr>
              <a:t>Governed by SLAs (response/resolution time by severity)</a:t>
            </a:r>
          </a:p>
          <a:p>
            <a:pPr marL="171450" indent="-171450" algn="l">
              <a:spcAft>
                <a:spcPts val="500"/>
              </a:spcAft>
              <a:buFont typeface="Arial"/>
              <a:buChar char="•"/>
            </a:pPr>
            <a:r>
              <a:rPr sz="1000" b="0" i="0">
                <a:solidFill>
                  <a:srgbClr val="000000"/>
                </a:solidFill>
              </a:rPr>
              <a:t>Staffing is typically lighter-weight and more specialized (support engineers, on-call rotation)</a:t>
            </a:r>
          </a:p>
          <a:p>
            <a:pPr marL="171450" indent="-171450" algn="l">
              <a:spcAft>
                <a:spcPts val="500"/>
              </a:spcAft>
              <a:buFont typeface="Arial"/>
              <a:buChar char="•"/>
            </a:pPr>
            <a:r>
              <a:rPr sz="1000" b="0" i="0">
                <a:solidFill>
                  <a:srgbClr val="000000"/>
                </a:solidFill>
              </a:rPr>
              <a:t>Escalation tiers are explicit (L1/L2/L3)</a:t>
            </a:r>
          </a:p>
          <a:p>
            <a:pPr marL="171450" indent="-171450" algn="l">
              <a:spcAft>
                <a:spcPts val="500"/>
              </a:spcAft>
              <a:buFont typeface="Arial"/>
              <a:buChar char="•"/>
            </a:pPr>
            <a:r>
              <a:rPr sz="1000" b="0" i="0">
                <a:solidFill>
                  <a:srgbClr val="000000"/>
                </a:solidFill>
              </a:rPr>
              <a:t>Requires a clear boundary between support and enhancement (CR)</a:t>
            </a:r>
          </a:p>
          <a:p>
            <a:pPr marL="171450" indent="-171450" algn="l">
              <a:spcAft>
                <a:spcPts val="500"/>
              </a:spcAft>
              <a:buFont typeface="Arial"/>
              <a:buChar char="•"/>
            </a:pPr>
            <a:r>
              <a:rPr sz="1000" b="0" i="0">
                <a:solidFill>
                  <a:srgbClr val="000000"/>
                </a:solidFill>
              </a:rPr>
              <a:t>Often runs alongside another model (e.g., Model 3 team drives new value while Model 4 team keeps the lights 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7" name="Picture 506" descr="hero_p1.jpg"/>
          <p:cNvPicPr>
            <a:picLocks noChangeAspect="1"/>
          </p:cNvPicPr>
          <p:nvPr/>
        </p:nvPicPr>
        <p:blipFill>
          <a:blip r:embed="rId2"/>
          <a:stretch>
            <a:fillRect/>
          </a:stretch>
        </p:blipFill>
        <p:spPr>
          <a:xfrm>
            <a:off x="0" y="0"/>
            <a:ext cx="12192000" cy="1000000"/>
          </a:xfrm>
          <a:prstGeom prst="rect">
            <a:avLst/>
          </a:prstGeom>
        </p:spPr>
      </p:pic>
      <p:sp>
        <p:nvSpPr>
          <p:cNvPr id="508" name="Rectangle 507"/>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endParaRP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The recommendation: four rules</a:t>
            </a:r>
          </a:p>
        </p:txBody>
      </p:sp>
      <p:sp>
        <p:nvSpPr>
          <p:cNvPr id="4" name="Text Placeholder 3"/>
          <p:cNvSpPr>
            <a:spLocks noGrp="1"/>
          </p:cNvSpPr>
          <p:nvPr>
            <p:ph type="body" sz="quarter" idx="12"/>
          </p:nvPr>
        </p:nvSpPr>
        <p:spPr>
          <a:xfrm>
            <a:off x="457200" y="170000"/>
            <a:ext cx="8000000" cy="182880"/>
          </a:xfrm>
        </p:spPr>
        <p:txBody>
          <a:bodyPr/>
          <a:lstStyle/>
          <a:p>
            <a:r>
              <a:rPr>
                <a:solidFill>
                  <a:srgbClr val="0391F2"/>
                </a:solidFill>
              </a:rPr>
              <a:t>DEAL-TO-DELIVERY PLAYBOOK · DETAIL</a:t>
            </a:r>
          </a:p>
        </p:txBody>
      </p:sp>
      <p:sp>
        <p:nvSpPr>
          <p:cNvPr id="13" name="Rounded Rectangle 12">
            <a:extLst>
              <a:ext uri="{FF2B5EF4-FFF2-40B4-BE49-F238E27FC236}">
                <a16:creationId xmlns:a16="http://schemas.microsoft.com/office/drawing/2014/main" id="{5637A419-FF94-DBCB-082F-42BC6E7DAE00}"/>
              </a:ext>
            </a:extLst>
          </p:cNvPr>
          <p:cNvSpPr>
            <a:spLocks/>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wrap="square" lIns="150000" rIns="120000" rtlCol="0" anchor="ctr">
            <a:noAutofit/>
          </a:bodyPr>
          <a:lstStyle/>
          <a:p>
            <a:r>
              <a:rPr lang="en-US" sz="1050" b="1">
                <a:solidFill>
                  <a:srgbClr val="FFFFFF"/>
                </a:solidFill>
                <a:cs typeface="+mn-cs"/>
              </a:rPr>
              <a:t>Owner(s)</a:t>
            </a:r>
          </a:p>
          <a:p>
            <a:r>
              <a:rPr lang="en-US" sz="900" i="0">
                <a:solidFill>
                  <a:srgbClr val="FFFFFF"/>
                </a:solidFill>
                <a:cs typeface="+mn-cs"/>
              </a:rPr>
              <a:t>Missy Foristall, Chris McComas</a:t>
            </a:r>
          </a:p>
        </p:txBody>
      </p:sp>
      <p:sp>
        <p:nvSpPr>
          <p:cNvPr id="509" name="Rounded Rectangle 508"/>
          <p:cNvSpPr/>
          <p:nvPr/>
        </p:nvSpPr>
        <p:spPr>
          <a:xfrm>
            <a:off x="457200" y="1170000"/>
            <a:ext cx="2706900" cy="3325713"/>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a:solidFill>
                  <a:srgbClr val="60607D"/>
                </a:solidFill>
              </a:rPr>
              <a:t>Rule 1</a:t>
            </a:r>
          </a:p>
          <a:p>
            <a:pPr algn="l">
              <a:spcBef>
                <a:spcPts val="400"/>
              </a:spcBef>
              <a:spcAft>
                <a:spcPts val="200"/>
              </a:spcAft>
            </a:pPr>
            <a:r>
              <a:rPr sz="1100" b="1" i="0">
                <a:solidFill>
                  <a:srgbClr val="000000"/>
                </a:solidFill>
              </a:rPr>
              <a:t>Standardize a small set of named models mapped to commercial structure</a:t>
            </a:r>
          </a:p>
          <a:p>
            <a:pPr algn="l">
              <a:spcAft>
                <a:spcPts val="500"/>
              </a:spcAft>
            </a:pPr>
            <a:r>
              <a:rPr sz="1100" b="0" i="0">
                <a:solidFill>
                  <a:srgbClr val="000000"/>
                </a:solidFill>
              </a:rPr>
              <a:t>No SOW is signed without a model name attached to it, and that name determines governance</a:t>
            </a:r>
          </a:p>
          <a:p>
            <a:pPr algn="l">
              <a:spcAft>
                <a:spcPts val="500"/>
              </a:spcAft>
            </a:pPr>
            <a:r>
              <a:rPr sz="1100" b="0" i="0">
                <a:solidFill>
                  <a:srgbClr val="000000"/>
                </a:solidFill>
              </a:rPr>
              <a:t>(e.g., gates vs. PI cadence vs. OKR-anchored backlog)</a:t>
            </a:r>
          </a:p>
        </p:txBody>
      </p:sp>
      <p:sp>
        <p:nvSpPr>
          <p:cNvPr id="510" name="Rounded Rectangle 509"/>
          <p:cNvSpPr/>
          <p:nvPr/>
        </p:nvSpPr>
        <p:spPr>
          <a:xfrm>
            <a:off x="3314100" y="1170000"/>
            <a:ext cx="2706900" cy="3325713"/>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dirty="0">
                <a:solidFill>
                  <a:srgbClr val="60607D"/>
                </a:solidFill>
              </a:rPr>
              <a:t>Rule 2</a:t>
            </a:r>
          </a:p>
          <a:p>
            <a:pPr algn="l">
              <a:spcBef>
                <a:spcPts val="400"/>
              </a:spcBef>
              <a:spcAft>
                <a:spcPts val="200"/>
              </a:spcAft>
            </a:pPr>
            <a:r>
              <a:rPr sz="1100" b="1" i="0" dirty="0">
                <a:solidFill>
                  <a:srgbClr val="000000"/>
                </a:solidFill>
              </a:rPr>
              <a:t>Treat multi-track programs as portfolios of clearly defined tracks mapped to a model, not one label stretched over the whole account.</a:t>
            </a:r>
          </a:p>
          <a:p>
            <a:pPr algn="ctr">
              <a:spcAft>
                <a:spcPts val="500"/>
              </a:spcAft>
            </a:pPr>
            <a:r>
              <a:rPr sz="1100" b="0" i="0" dirty="0">
                <a:solidFill>
                  <a:schemeClr val="tx1">
                    <a:lumMod val="65000"/>
                    <a:lumOff val="35000"/>
                  </a:schemeClr>
                </a:solidFill>
              </a:rPr>
              <a:t>Program A:</a:t>
            </a:r>
          </a:p>
          <a:p>
            <a:pPr algn="ctr">
              <a:spcAft>
                <a:spcPts val="500"/>
              </a:spcAft>
            </a:pPr>
            <a:r>
              <a:rPr sz="1100" b="0" i="0" dirty="0">
                <a:solidFill>
                  <a:schemeClr val="tx1">
                    <a:lumMod val="65000"/>
                    <a:lumOff val="35000"/>
                  </a:schemeClr>
                </a:solidFill>
              </a:rPr>
              <a:t>Track A: Model 1 (</a:t>
            </a:r>
            <a:r>
              <a:rPr sz="1100" b="0" i="0" dirty="0" err="1">
                <a:solidFill>
                  <a:schemeClr val="tx1">
                    <a:lumMod val="65000"/>
                    <a:lumOff val="35000"/>
                  </a:schemeClr>
                </a:solidFill>
              </a:rPr>
              <a:t>backcasted</a:t>
            </a:r>
            <a:r>
              <a:rPr sz="1100" b="0" i="0" dirty="0">
                <a:solidFill>
                  <a:schemeClr val="tx1">
                    <a:lumMod val="65000"/>
                    <a:lumOff val="35000"/>
                  </a:schemeClr>
                </a:solidFill>
              </a:rPr>
              <a:t> platform build) +Track B: Model 3 (outcomes based page performance improvement )+</a:t>
            </a:r>
          </a:p>
          <a:p>
            <a:pPr algn="ctr">
              <a:spcAft>
                <a:spcPts val="500"/>
              </a:spcAft>
            </a:pPr>
            <a:r>
              <a:rPr sz="1100" b="0" i="0" dirty="0">
                <a:solidFill>
                  <a:schemeClr val="tx1">
                    <a:lumMod val="65000"/>
                    <a:lumOff val="35000"/>
                  </a:schemeClr>
                </a:solidFill>
              </a:rPr>
              <a:t>Track C: Model 2 (retainer - ops)</a:t>
            </a:r>
          </a:p>
        </p:txBody>
      </p:sp>
      <p:sp>
        <p:nvSpPr>
          <p:cNvPr id="511" name="Rounded Rectangle 510"/>
          <p:cNvSpPr/>
          <p:nvPr/>
        </p:nvSpPr>
        <p:spPr>
          <a:xfrm>
            <a:off x="6171000" y="1170000"/>
            <a:ext cx="2706900" cy="3325713"/>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a:solidFill>
                  <a:srgbClr val="60607D"/>
                </a:solidFill>
              </a:rPr>
              <a:t>Rule 3</a:t>
            </a:r>
          </a:p>
          <a:p>
            <a:pPr algn="l">
              <a:spcBef>
                <a:spcPts val="400"/>
              </a:spcBef>
              <a:spcAft>
                <a:spcPts val="200"/>
              </a:spcAft>
            </a:pPr>
            <a:r>
              <a:rPr sz="1100" b="1" i="0">
                <a:solidFill>
                  <a:srgbClr val="000000"/>
                </a:solidFill>
              </a:rPr>
              <a:t>Require a kickoff certification.</a:t>
            </a:r>
          </a:p>
          <a:p>
            <a:pPr algn="l">
              <a:spcAft>
                <a:spcPts val="500"/>
              </a:spcAft>
            </a:pPr>
            <a:r>
              <a:rPr sz="1100" b="0" i="0">
                <a:solidFill>
                  <a:srgbClr val="000000"/>
                </a:solidFill>
              </a:rPr>
              <a:t>A named accountable role (Program or Account Lead and Delivery Lead) signs off, at kickoff and at defined checkpoints, that the working model, the staffing, and the contract still agree with each other. Shift from "escalate when it's already broken" into "check before it can break."</a:t>
            </a:r>
          </a:p>
        </p:txBody>
      </p:sp>
      <p:sp>
        <p:nvSpPr>
          <p:cNvPr id="512" name="Rounded Rectangle 511"/>
          <p:cNvSpPr/>
          <p:nvPr/>
        </p:nvSpPr>
        <p:spPr>
          <a:xfrm>
            <a:off x="9027900" y="1170000"/>
            <a:ext cx="2706900" cy="3325713"/>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a:solidFill>
                  <a:srgbClr val="60607D"/>
                </a:solidFill>
              </a:rPr>
              <a:t>Rule 4</a:t>
            </a:r>
          </a:p>
          <a:p>
            <a:pPr algn="l">
              <a:spcBef>
                <a:spcPts val="400"/>
              </a:spcBef>
              <a:spcAft>
                <a:spcPts val="200"/>
              </a:spcAft>
            </a:pPr>
            <a:r>
              <a:rPr sz="1100" b="1" i="0">
                <a:solidFill>
                  <a:srgbClr val="000000"/>
                </a:solidFill>
              </a:rPr>
              <a:t>Build leading indicators per model.</a:t>
            </a:r>
          </a:p>
          <a:p>
            <a:pPr algn="l">
              <a:spcAft>
                <a:spcPts val="500"/>
              </a:spcAft>
            </a:pPr>
            <a:r>
              <a:rPr sz="1100" b="0" i="0">
                <a:solidFill>
                  <a:srgbClr val="000000"/>
                </a:solidFill>
              </a:rPr>
              <a:t>Make drift visible in week 2 to 4 of a track instead of at the next executive review.</a:t>
            </a:r>
          </a:p>
          <a:p>
            <a:pPr algn="l">
              <a:spcAft>
                <a:spcPts val="500"/>
              </a:spcAft>
            </a:pPr>
            <a:r>
              <a:rPr sz="1100" b="0" i="0">
                <a:solidFill>
                  <a:srgbClr val="000000"/>
                </a:solidFill>
              </a:rPr>
              <a:t>Each model gets 3 to 4 checkable signals (e.g., for Model 1: is there a backcasted plan and is the client tracking to gates; for Model 2: is velocity being reported against contracted throughput)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1" name="Picture 510" descr="rail_p1.jpg"/>
          <p:cNvPicPr>
            <a:picLocks noChangeAspect="1"/>
          </p:cNvPicPr>
          <p:nvPr/>
        </p:nvPicPr>
        <p:blipFill>
          <a:blip r:embed="rId2"/>
          <a:stretch>
            <a:fillRect/>
          </a:stretch>
        </p:blipFill>
        <p:spPr>
          <a:xfrm>
            <a:off x="228600" y="228600"/>
            <a:ext cx="3200000" cy="6171400"/>
          </a:xfrm>
          <a:prstGeom prst="roundRect">
            <a:avLst>
              <a:gd name="adj" fmla="val 3600"/>
            </a:avLst>
          </a:prstGeom>
        </p:spPr>
      </p:pic>
      <p:sp>
        <p:nvSpPr>
          <p:cNvPr id="512" name="Rounded Rectangle 511"/>
          <p:cNvSpPr/>
          <p:nvPr/>
        </p:nvSpPr>
        <p:spPr>
          <a:xfrm>
            <a:off x="228600" y="228600"/>
            <a:ext cx="3200000" cy="6171400"/>
          </a:xfrm>
          <a:prstGeom prst="roundRect">
            <a:avLst>
              <a:gd name="adj" fmla="val 3600"/>
            </a:avLst>
          </a:prstGeom>
          <a:gradFill rotWithShape="1">
            <a:gsLst>
              <a:gs pos="0">
                <a:srgbClr val="000000">
                  <a:alpha val="68000"/>
                </a:srgbClr>
              </a:gs>
              <a:gs pos="45000">
                <a:srgbClr val="000000">
                  <a:alpha val="50000"/>
                </a:srgbClr>
              </a:gs>
              <a:gs pos="100000">
                <a:srgbClr val="000000">
                  <a:alpha val="82000"/>
                </a:srgbClr>
              </a:gs>
            </a:gsLst>
            <a:lin ang="5400000" scaled="0"/>
          </a:gradFill>
          <a:ln>
            <a:noFill/>
          </a:ln>
        </p:spPr>
        <p:txBody>
          <a:bodyPr rtlCol="0" anchor="ctr"/>
          <a:lstStyle/>
          <a:p>
            <a:pPr algn="ctr"/>
            <a:endParaRPr/>
          </a:p>
        </p:txBody>
      </p:sp>
      <p:sp>
        <p:nvSpPr>
          <p:cNvPr id="513" name="Rounded Rectangle 512"/>
          <p:cNvSpPr/>
          <p:nvPr/>
        </p:nvSpPr>
        <p:spPr>
          <a:xfrm>
            <a:off x="378600" y="378600"/>
            <a:ext cx="2900000" cy="2050000"/>
          </a:xfrm>
          <a:prstGeom prst="roundRect">
            <a:avLst>
              <a:gd name="adj" fmla="val 5000"/>
            </a:avLst>
          </a:prstGeom>
          <a:solidFill>
            <a:srgbClr val="000000">
              <a:alpha val="62000"/>
            </a:srgbClr>
          </a:solidFill>
          <a:ln>
            <a:noFill/>
          </a:ln>
        </p:spPr>
        <p:txBody>
          <a:bodyPr rtlCol="0" anchor="ctr"/>
          <a:lstStyle/>
          <a:p>
            <a:pPr algn="ctr"/>
            <a:endParaRPr/>
          </a:p>
        </p:txBody>
      </p:sp>
      <p:sp>
        <p:nvSpPr>
          <p:cNvPr id="8" name="Text Placeholder 7">
            <a:extLst>
              <a:ext uri="{FF2B5EF4-FFF2-40B4-BE49-F238E27FC236}">
                <a16:creationId xmlns:a16="http://schemas.microsoft.com/office/drawing/2014/main" id="{43A36069-C4E2-A327-FEBF-07750730ECEA}"/>
              </a:ext>
            </a:extLst>
          </p:cNvPr>
          <p:cNvSpPr>
            <a:spLocks noGrp="1"/>
          </p:cNvSpPr>
          <p:nvPr>
            <p:ph type="body" sz="quarter" idx="12"/>
          </p:nvPr>
        </p:nvSpPr>
        <p:spPr>
          <a:xfrm>
            <a:off x="508600" y="558600"/>
            <a:ext cx="2640000" cy="182880"/>
          </a:xfrm>
        </p:spPr>
        <p:txBody>
          <a:bodyPr>
            <a:noAutofit/>
          </a:bodyPr>
          <a:lstStyle/>
          <a:p>
            <a:r>
              <a:rPr lang="en-US" dirty="0">
                <a:solidFill>
                  <a:srgbClr val="0391F2"/>
                </a:solidFill>
              </a:rPr>
              <a:t>OPS PRIORITIES</a:t>
            </a:r>
          </a:p>
        </p:txBody>
      </p:sp>
      <p:sp>
        <p:nvSpPr>
          <p:cNvPr id="21" name="Title 20">
            <a:extLst>
              <a:ext uri="{FF2B5EF4-FFF2-40B4-BE49-F238E27FC236}">
                <a16:creationId xmlns:a16="http://schemas.microsoft.com/office/drawing/2014/main" id="{50CCB795-307F-C643-C7C1-507D8B5B32EB}"/>
              </a:ext>
            </a:extLst>
          </p:cNvPr>
          <p:cNvSpPr>
            <a:spLocks noGrp="1"/>
          </p:cNvSpPr>
          <p:nvPr>
            <p:ph type="title"/>
          </p:nvPr>
        </p:nvSpPr>
        <p:spPr>
          <a:xfrm>
            <a:off x="508600" y="868600"/>
            <a:ext cx="2640000" cy="2300000"/>
          </a:xfrm>
        </p:spPr>
        <p:txBody>
          <a:bodyPr>
            <a:noAutofit/>
          </a:bodyPr>
          <a:lstStyle/>
          <a:p>
            <a:r>
              <a:rPr lang="en-US" sz="2400">
                <a:solidFill>
                  <a:schemeClr val="bg1"/>
                </a:solidFill>
              </a:rPr>
              <a:t>Deal to Delivery Playbook: Update</a:t>
            </a:r>
          </a:p>
        </p:txBody>
      </p:sp>
      <p:sp>
        <p:nvSpPr>
          <p:cNvPr id="13" name="Rounded Rectangle 12">
            <a:extLst>
              <a:ext uri="{FF2B5EF4-FFF2-40B4-BE49-F238E27FC236}">
                <a16:creationId xmlns:a16="http://schemas.microsoft.com/office/drawing/2014/main" id="{5637A419-FF94-DBCB-082F-42BC6E7DAE00}"/>
              </a:ext>
            </a:extLst>
          </p:cNvPr>
          <p:cNvSpPr>
            <a:spLocks/>
          </p:cNvSpPr>
          <p:nvPr/>
        </p:nvSpPr>
        <p:spPr>
          <a:xfrm>
            <a:off x="508600" y="5340000"/>
            <a:ext cx="2640000" cy="780000"/>
          </a:xfrm>
          <a:prstGeom prst="roundRect">
            <a:avLst>
              <a:gd name="adj" fmla="val 28000"/>
            </a:avLst>
          </a:prstGeom>
          <a:solidFill>
            <a:srgbClr val="000000">
              <a:alpha val="72000"/>
            </a:srgbClr>
          </a:solidFill>
          <a:ln w="9525">
            <a:solidFill>
              <a:srgbClr val="FFFFFF">
                <a:alpha val="45000"/>
              </a:srgbClr>
            </a:solidFill>
          </a:ln>
        </p:spPr>
        <p:txBody>
          <a:bodyPr wrap="square" lIns="150000" rIns="120000" rtlCol="0" anchor="ctr">
            <a:noAutofit/>
          </a:bodyPr>
          <a:lstStyle/>
          <a:p>
            <a:r>
              <a:rPr lang="en-US" sz="1050" b="1">
                <a:solidFill>
                  <a:srgbClr val="FFFFFF"/>
                </a:solidFill>
                <a:cs typeface="+mn-cs"/>
              </a:rPr>
              <a:t>Owner(s)</a:t>
            </a:r>
          </a:p>
          <a:p>
            <a:r>
              <a:rPr lang="en-US" sz="900" i="0">
                <a:solidFill>
                  <a:srgbClr val="FFFFFF"/>
                </a:solidFill>
                <a:cs typeface="+mn-cs"/>
              </a:rPr>
              <a:t>Missy Foristall, Chris McComas</a:t>
            </a:r>
          </a:p>
        </p:txBody>
      </p:sp>
      <p:sp>
        <p:nvSpPr>
          <p:cNvPr id="508" name="Card WHAT HAS BEEN ACCOMPLISHED">
            <a:extLst>
              <a:ext uri="{FF2B5EF4-FFF2-40B4-BE49-F238E27FC236}">
                <a16:creationId xmlns:a16="http://schemas.microsoft.com/office/drawing/2014/main" id="{615D6856-4CC4-0C29-A8AF-F4BF58F532AB}"/>
              </a:ext>
            </a:extLst>
          </p:cNvPr>
          <p:cNvSpPr>
            <a:spLocks noGrp="1" noRot="1" noMove="1" noResize="1" noEditPoints="1" noAdjustHandles="1" noChangeArrowheads="1" noChangeShapeType="1"/>
          </p:cNvSpPr>
          <p:nvPr/>
        </p:nvSpPr>
        <p:spPr>
          <a:xfrm>
            <a:off x="3628600" y="228600"/>
            <a:ext cx="4092400" cy="34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35000" tIns="200000" rIns="210000" bIns="90000" rtlCol="0" anchor="t">
            <a:noAutofit/>
          </a:bodyPr>
          <a:lstStyle/>
          <a:p>
            <a:pPr>
              <a:spcAft>
                <a:spcPts val="600"/>
              </a:spcAft>
            </a:pPr>
            <a:r>
              <a:rPr lang="en-US" sz="1200" b="1" dirty="0">
                <a:solidFill>
                  <a:srgbClr val="000000"/>
                </a:solidFill>
              </a:rPr>
              <a:t>WHAT HAS BEEN ACCOMPLISHED</a:t>
            </a:r>
          </a:p>
          <a:p>
            <a:pPr marL="171450" indent="-171450">
              <a:spcAft>
                <a:spcPts val="600"/>
              </a:spcAft>
              <a:buFont typeface="Arial" panose="020B0604020202020204" pitchFamily="34" charset="0"/>
              <a:buChar char="•"/>
            </a:pPr>
            <a:r>
              <a:rPr lang="en-US" sz="1300" dirty="0"/>
              <a:t>Problem statement and recommendation drafted (Sept 16).</a:t>
            </a:r>
          </a:p>
          <a:p>
            <a:pPr marL="171450" indent="-171450">
              <a:spcAft>
                <a:spcPts val="600"/>
              </a:spcAft>
              <a:buFont typeface="Arial" panose="020B0604020202020204" pitchFamily="34" charset="0"/>
              <a:buChar char="•"/>
            </a:pPr>
            <a:r>
              <a:rPr lang="en-US" sz="1300" dirty="0"/>
              <a:t>Four model examples defined (Sept 16).</a:t>
            </a:r>
          </a:p>
          <a:p>
            <a:pPr marL="171450" indent="-171450">
              <a:spcAft>
                <a:spcPts val="600"/>
              </a:spcAft>
              <a:buFont typeface="Arial" panose="020B0604020202020204" pitchFamily="34" charset="0"/>
              <a:buChar char="•"/>
            </a:pPr>
            <a:r>
              <a:rPr lang="en-US" sz="1300" dirty="0"/>
              <a:t>Draft models gathered (Oct 16).</a:t>
            </a:r>
          </a:p>
        </p:txBody>
      </p:sp>
      <p:sp>
        <p:nvSpPr>
          <p:cNvPr id="509" name="Card NEXT MILESTONES">
            <a:extLst>
              <a:ext uri="{FF2B5EF4-FFF2-40B4-BE49-F238E27FC236}">
                <a16:creationId xmlns:a16="http://schemas.microsoft.com/office/drawing/2014/main" id="{615D6856-4CC4-0C29-A8AF-F4BF58F532AB}"/>
              </a:ext>
            </a:extLst>
          </p:cNvPr>
          <p:cNvSpPr>
            <a:spLocks noGrp="1" noRot="1" noMove="1" noResize="1" noEditPoints="1" noAdjustHandles="1" noChangeArrowheads="1" noChangeShapeType="1"/>
          </p:cNvSpPr>
          <p:nvPr/>
        </p:nvSpPr>
        <p:spPr>
          <a:xfrm>
            <a:off x="7871000" y="228600"/>
            <a:ext cx="4092400" cy="34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35000" tIns="200000" rIns="210000" bIns="90000" rtlCol="0" anchor="t">
            <a:noAutofit/>
          </a:bodyPr>
          <a:lstStyle/>
          <a:p>
            <a:pPr>
              <a:spcAft>
                <a:spcPts val="600"/>
              </a:spcAft>
            </a:pPr>
            <a:r>
              <a:rPr lang="en-US" sz="1200" b="1" dirty="0">
                <a:solidFill>
                  <a:srgbClr val="000000"/>
                </a:solidFill>
              </a:rPr>
              <a:t>NEXT MILESTONES</a:t>
            </a:r>
          </a:p>
          <a:p>
            <a:pPr marL="171450" indent="-171450">
              <a:spcAft>
                <a:spcPts val="600"/>
              </a:spcAft>
              <a:buFont typeface="Arial" panose="020B0604020202020204" pitchFamily="34" charset="0"/>
              <a:buChar char="•"/>
            </a:pPr>
            <a:r>
              <a:rPr lang="en-US" sz="1300" dirty="0"/>
              <a:t>Base Model rationalization across groups: week of Oct 26.</a:t>
            </a:r>
          </a:p>
          <a:p>
            <a:pPr marL="171450" indent="-171450">
              <a:spcAft>
                <a:spcPts val="600"/>
              </a:spcAft>
              <a:buFont typeface="Arial" panose="020B0604020202020204" pitchFamily="34" charset="0"/>
              <a:buChar char="•"/>
            </a:pPr>
            <a:r>
              <a:rPr lang="en-US" sz="1300" dirty="0"/>
              <a:t>Initial Models Well Defined: Nov 6.</a:t>
            </a:r>
          </a:p>
          <a:p>
            <a:pPr marL="171450" indent="-171450">
              <a:spcAft>
                <a:spcPts val="600"/>
              </a:spcAft>
              <a:buFont typeface="Arial" panose="020B0604020202020204" pitchFamily="34" charset="0"/>
              <a:buChar char="•"/>
            </a:pPr>
            <a:r>
              <a:rPr lang="en-US" sz="1300" dirty="0"/>
              <a:t>1st Batch of Models &amp; Program "Stack" Guidance: Nov 13.</a:t>
            </a:r>
          </a:p>
          <a:p>
            <a:pPr marL="171450" indent="-171450">
              <a:spcAft>
                <a:spcPts val="600"/>
              </a:spcAft>
              <a:buFont typeface="Arial" panose="020B0604020202020204" pitchFamily="34" charset="0"/>
              <a:buChar char="•"/>
            </a:pPr>
            <a:r>
              <a:rPr lang="en-US" sz="1300" dirty="0"/>
              <a:t>John and Chris are pulling together the problem statement, dependencies, size, and recommendation for the MVP stories. We'll review what they bring back next time.</a:t>
            </a:r>
          </a:p>
        </p:txBody>
      </p:sp>
      <p:sp>
        <p:nvSpPr>
          <p:cNvPr id="510" name="Card WHAT IS IN OUR WAY / WHAT WE NEED FROM YOU">
            <a:extLst>
              <a:ext uri="{FF2B5EF4-FFF2-40B4-BE49-F238E27FC236}">
                <a16:creationId xmlns:a16="http://schemas.microsoft.com/office/drawing/2014/main" id="{615D6856-4CC4-0C29-A8AF-F4BF58F532AB}"/>
              </a:ext>
            </a:extLst>
          </p:cNvPr>
          <p:cNvSpPr>
            <a:spLocks noGrp="1" noRot="1" noMove="1" noResize="1" noEditPoints="1" noAdjustHandles="1" noChangeArrowheads="1" noChangeShapeType="1"/>
          </p:cNvSpPr>
          <p:nvPr/>
        </p:nvSpPr>
        <p:spPr>
          <a:xfrm>
            <a:off x="3628600" y="3778600"/>
            <a:ext cx="8334800" cy="2621400"/>
          </a:xfrm>
          <a:prstGeom prst="roundRect">
            <a:avLst>
              <a:gd name="adj" fmla="val 2400"/>
            </a:avLst>
          </a:prstGeom>
          <a:solidFill>
            <a:srgbClr val="000000"/>
          </a:solidFill>
          <a:ln>
            <a:noFill/>
          </a:ln>
          <a:effectLst>
            <a:outerShdw blurRad="190500" dist="50800" dir="5400000" algn="t" rotWithShape="0">
              <a:srgbClr val="000000">
                <a:alpha val="13000"/>
              </a:srgbClr>
            </a:outerShdw>
          </a:effectLst>
        </p:spPr>
        <p:txBody>
          <a:bodyPr wrap="square" lIns="235000" tIns="200000" rIns="210000" bIns="90000" rtlCol="0" anchor="t">
            <a:noAutofit/>
          </a:bodyPr>
          <a:lstStyle/>
          <a:p>
            <a:pPr>
              <a:spcAft>
                <a:spcPts val="600"/>
              </a:spcAft>
            </a:pPr>
            <a:r>
              <a:rPr lang="en-US" sz="1200" b="1" dirty="0">
                <a:solidFill>
                  <a:srgbClr val="D6D6DF"/>
                </a:solidFill>
              </a:rPr>
              <a:t>WHAT IS IN OUR WAY / WHAT WE NEED FROM YOU</a:t>
            </a:r>
          </a:p>
          <a:p>
            <a:pPr marL="171450" indent="-171450">
              <a:spcAft>
                <a:spcPts val="600"/>
              </a:spcAft>
              <a:buFont typeface="Arial" panose="020B0604020202020204" pitchFamily="34" charset="0"/>
              <a:buChar char="•"/>
            </a:pPr>
            <a:r>
              <a:rPr lang="en-US" sz="1300" dirty="0">
                <a:solidFill>
                  <a:srgbClr val="FFFFFF"/>
                </a:solidFill>
              </a:rPr>
              <a:t>Alignment on base model set (Delivery/Ops, Legal and Finance) and on model definition.</a:t>
            </a:r>
          </a:p>
          <a:p>
            <a:pPr marL="171450" indent="-171450">
              <a:spcAft>
                <a:spcPts val="600"/>
              </a:spcAft>
              <a:buFont typeface="Arial" panose="020B0604020202020204" pitchFamily="34" charset="0"/>
              <a:buChar char="•"/>
            </a:pPr>
            <a:r>
              <a:rPr lang="en-US" sz="1300" dirty="0">
                <a:solidFill>
                  <a:srgbClr val="FFFFFF"/>
                </a:solidFill>
              </a:rPr>
              <a:t>SME feedback, and intake routing.</a:t>
            </a:r>
          </a:p>
          <a:p>
            <a:pPr marL="171450" indent="-171450">
              <a:spcAft>
                <a:spcPts val="600"/>
              </a:spcAft>
              <a:buFont typeface="Arial" panose="020B0604020202020204" pitchFamily="34" charset="0"/>
              <a:buChar char="•"/>
            </a:pPr>
            <a:r>
              <a:rPr lang="en-US" sz="1300" dirty="0">
                <a:solidFill>
                  <a:srgbClr val="FFFFFF"/>
                </a:solidFill>
              </a:rPr>
              <a:t>Top risks: missed model(s) from the assessment, poor rollout and communication, and failure to use the models.</a:t>
            </a:r>
          </a:p>
          <a:p>
            <a:pPr marL="171450" indent="-171450">
              <a:spcAft>
                <a:spcPts val="600"/>
              </a:spcAft>
              <a:buFont typeface="Arial" panose="020B0604020202020204" pitchFamily="34" charset="0"/>
              <a:buChar char="•"/>
            </a:pPr>
            <a:r>
              <a:rPr lang="en-US" sz="1300" dirty="0">
                <a:solidFill>
                  <a:srgbClr val="FFFFFF"/>
                </a:solidFill>
              </a:rPr>
              <a:t>Everyone needs to lean in, support development of, and use these models. Participate, provide insights, give feedback, and embrace this initiative.</a:t>
            </a:r>
          </a:p>
        </p:txBody>
      </p:sp>
      <p:sp>
        <p:nvSpPr>
          <p:cNvPr id="514" name="Rounded Rectangle 513"/>
          <p:cNvSpPr/>
          <p:nvPr/>
        </p:nvSpPr>
        <p:spPr>
          <a:xfrm>
            <a:off x="508600" y="4920000"/>
            <a:ext cx="2640000" cy="330000"/>
          </a:xfrm>
          <a:prstGeom prst="roundRect">
            <a:avLst>
              <a:gd name="adj" fmla="val 28000"/>
            </a:avLst>
          </a:prstGeom>
          <a:solidFill>
            <a:srgbClr val="000000">
              <a:alpha val="72000"/>
            </a:srgbClr>
          </a:solidFill>
          <a:ln w="9525">
            <a:solidFill>
              <a:srgbClr val="FFFFFF">
                <a:alpha val="45000"/>
              </a:srgbClr>
            </a:solidFill>
          </a:ln>
        </p:spPr>
        <p:txBody>
          <a:bodyPr wrap="square" lIns="150000" tIns="20000" rIns="120000" bIns="20000" rtlCol="0" anchor="ctr"/>
          <a:lstStyle/>
          <a:p>
            <a:pPr algn="l"/>
            <a:r>
              <a:rPr sz="900" b="1" i="0">
                <a:solidFill>
                  <a:srgbClr val="FFFFFF"/>
                </a:solidFill>
              </a:rPr>
              <a:t>Last updated: </a:t>
            </a:r>
            <a:r>
              <a:rPr sz="900" b="0" i="1">
                <a:solidFill>
                  <a:srgbClr val="D6D6DF"/>
                </a:solidFill>
              </a:rPr>
              <a:t>[date]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pic>
        <p:nvPicPr>
          <p:cNvPr id="5" name="Picture 4" descr="f_hero_library.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endParaRP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Images: Deal-to-Delivery Playbook</a:t>
            </a:r>
          </a:p>
        </p:txBody>
      </p:sp>
      <p:sp>
        <p:nvSpPr>
          <p:cNvPr id="4" name="Text Placeholder 3"/>
          <p:cNvSpPr>
            <a:spLocks noGrp="1"/>
          </p:cNvSpPr>
          <p:nvPr>
            <p:ph type="body" sz="quarter" idx="12"/>
          </p:nvPr>
        </p:nvSpPr>
        <p:spPr>
          <a:xfrm>
            <a:off x="457200" y="170000"/>
            <a:ext cx="8000000" cy="182880"/>
          </a:xfrm>
        </p:spPr>
        <p:txBody>
          <a:bodyPr/>
          <a:lstStyle/>
          <a:p>
            <a:r>
              <a:rPr>
                <a:solidFill>
                  <a:srgbClr val="0391F2"/>
                </a:solidFill>
              </a:rPr>
              <a:t>HIDDEN SLIDE · IMAGES FOR THIS PRIORITY</a:t>
            </a:r>
          </a:p>
        </p:txBody>
      </p:sp>
      <p:sp>
        <p:nvSpPr>
          <p:cNvPr id="7" name="TextBox 6"/>
          <p:cNvSpPr txBox="1"/>
          <p:nvPr/>
        </p:nvSpPr>
        <p:spPr>
          <a:xfrm>
            <a:off x="457200" y="1150000"/>
            <a:ext cx="11277600" cy="411480"/>
          </a:xfrm>
          <a:prstGeom prst="rect">
            <a:avLst/>
          </a:prstGeom>
          <a:noFill/>
        </p:spPr>
        <p:txBody>
          <a:bodyPr wrap="square" lIns="0" rIns="0" tIns="0" bIns="0">
            <a:spAutoFit/>
          </a:bodyPr>
          <a:lstStyle/>
          <a:p>
            <a:r>
              <a:rPr sz="1100" b="0" i="0">
                <a:solidFill>
                  <a:srgbClr val="000000"/>
                </a:solidFill>
              </a:rPr>
              <a:t>One image for this priority. Use it on every slide of the priority: the divider, the header band, the update panel, and any split image or banner in a detail slide. This slide is hidden: it does not show when presenting.</a:t>
            </a:r>
          </a:p>
        </p:txBody>
      </p:sp>
      <p:sp>
        <p:nvSpPr>
          <p:cNvPr id="8" name="TextBox 7"/>
          <p:cNvSpPr txBox="1"/>
          <p:nvPr/>
        </p:nvSpPr>
        <p:spPr>
          <a:xfrm>
            <a:off x="457200" y="1627200"/>
            <a:ext cx="3474720" cy="201168"/>
          </a:xfrm>
          <a:prstGeom prst="rect">
            <a:avLst/>
          </a:prstGeom>
          <a:noFill/>
        </p:spPr>
        <p:txBody>
          <a:bodyPr wrap="square" lIns="0" rIns="0" tIns="0" bIns="0">
            <a:spAutoFit/>
          </a:bodyPr>
          <a:lstStyle/>
          <a:p>
            <a:r>
              <a:rPr sz="850" b="1" i="0" cap="all" spc="100">
                <a:solidFill>
                  <a:srgbClr val="60607D"/>
                </a:solidFill>
              </a:rPr>
              <a:t>Source image</a:t>
            </a:r>
          </a:p>
        </p:txBody>
      </p:sp>
      <p:pic>
        <p:nvPicPr>
          <p:cNvPr id="9" name="Picture 8" descr="f_img2_d2d_Sour.jpg"/>
          <p:cNvPicPr>
            <a:picLocks noChangeAspect="1"/>
          </p:cNvPicPr>
          <p:nvPr/>
        </p:nvPicPr>
        <p:blipFill>
          <a:blip r:embed="rId7"/>
          <a:stretch>
            <a:fillRect/>
          </a:stretch>
        </p:blipFill>
        <p:spPr>
          <a:xfrm>
            <a:off x="457200" y="1864944"/>
            <a:ext cx="3017520" cy="1828800"/>
          </a:xfrm>
          <a:prstGeom prst="rect">
            <a:avLst/>
          </a:prstGeom>
        </p:spPr>
      </p:pic>
      <p:sp>
        <p:nvSpPr>
          <p:cNvPr id="10" name="TextBox 9"/>
          <p:cNvSpPr txBox="1"/>
          <p:nvPr/>
        </p:nvSpPr>
        <p:spPr>
          <a:xfrm>
            <a:off x="3794760" y="1627200"/>
            <a:ext cx="3703320" cy="201168"/>
          </a:xfrm>
          <a:prstGeom prst="rect">
            <a:avLst/>
          </a:prstGeom>
          <a:noFill/>
        </p:spPr>
        <p:txBody>
          <a:bodyPr wrap="square" lIns="0" rIns="0" tIns="0" bIns="0">
            <a:spAutoFit/>
          </a:bodyPr>
          <a:lstStyle/>
          <a:p>
            <a:r>
              <a:rPr sz="850" b="1" i="0" cap="all" spc="100">
                <a:solidFill>
                  <a:srgbClr val="60607D"/>
                </a:solidFill>
              </a:rPr>
              <a:t>Divider</a:t>
            </a:r>
          </a:p>
        </p:txBody>
      </p:sp>
      <p:pic>
        <p:nvPicPr>
          <p:cNvPr id="11" name="Picture 10" descr="image.jpg"/>
          <p:cNvPicPr>
            <a:picLocks noChangeAspect="1"/>
          </p:cNvPicPr>
          <p:nvPr/>
        </p:nvPicPr>
        <p:blipFill>
          <a:blip r:embed="rId4"/>
          <a:stretch>
            <a:fillRect/>
          </a:stretch>
        </p:blipFill>
        <p:spPr>
          <a:xfrm>
            <a:off x="3794760" y="1864944"/>
            <a:ext cx="3246120" cy="1828800"/>
          </a:xfrm>
          <a:prstGeom prst="rect">
            <a:avLst/>
          </a:prstGeom>
        </p:spPr>
      </p:pic>
      <p:sp>
        <p:nvSpPr>
          <p:cNvPr id="12" name="TextBox 11"/>
          <p:cNvSpPr txBox="1"/>
          <p:nvPr/>
        </p:nvSpPr>
        <p:spPr>
          <a:xfrm>
            <a:off x="7360920" y="1627200"/>
            <a:ext cx="1435608" cy="201168"/>
          </a:xfrm>
          <a:prstGeom prst="rect">
            <a:avLst/>
          </a:prstGeom>
          <a:noFill/>
        </p:spPr>
        <p:txBody>
          <a:bodyPr wrap="square" lIns="0" rIns="0" tIns="0" bIns="0">
            <a:spAutoFit/>
          </a:bodyPr>
          <a:lstStyle/>
          <a:p>
            <a:r>
              <a:rPr sz="850" b="1" i="0" cap="all" spc="100">
                <a:solidFill>
                  <a:srgbClr val="60607D"/>
                </a:solidFill>
              </a:rPr>
              <a:t>Split image</a:t>
            </a:r>
          </a:p>
        </p:txBody>
      </p:sp>
      <p:pic>
        <p:nvPicPr>
          <p:cNvPr id="13" name="Picture 12" descr="f_img2_d2d_Spli.jpg"/>
          <p:cNvPicPr>
            <a:picLocks noChangeAspect="1"/>
          </p:cNvPicPr>
          <p:nvPr/>
        </p:nvPicPr>
        <p:blipFill>
          <a:blip r:embed="rId8"/>
          <a:stretch>
            <a:fillRect/>
          </a:stretch>
        </p:blipFill>
        <p:spPr>
          <a:xfrm>
            <a:off x="7360920" y="1864944"/>
            <a:ext cx="978408" cy="1828800"/>
          </a:xfrm>
          <a:prstGeom prst="rect">
            <a:avLst/>
          </a:prstGeom>
        </p:spPr>
      </p:pic>
      <p:sp>
        <p:nvSpPr>
          <p:cNvPr id="14" name="TextBox 13"/>
          <p:cNvSpPr txBox="1"/>
          <p:nvPr/>
        </p:nvSpPr>
        <p:spPr>
          <a:xfrm>
            <a:off x="8659368" y="1627200"/>
            <a:ext cx="1408176" cy="201168"/>
          </a:xfrm>
          <a:prstGeom prst="rect">
            <a:avLst/>
          </a:prstGeom>
          <a:noFill/>
        </p:spPr>
        <p:txBody>
          <a:bodyPr wrap="square" lIns="0" rIns="0" tIns="0" bIns="0">
            <a:spAutoFit/>
          </a:bodyPr>
          <a:lstStyle/>
          <a:p>
            <a:r>
              <a:rPr sz="850" b="1" i="0" cap="all" spc="100">
                <a:solidFill>
                  <a:srgbClr val="60607D"/>
                </a:solidFill>
              </a:rPr>
              <a:t>Update panel</a:t>
            </a:r>
          </a:p>
        </p:txBody>
      </p:sp>
      <p:pic>
        <p:nvPicPr>
          <p:cNvPr id="15" name="Picture 14" descr="image.jpg"/>
          <p:cNvPicPr>
            <a:picLocks noChangeAspect="1"/>
          </p:cNvPicPr>
          <p:nvPr/>
        </p:nvPicPr>
        <p:blipFill>
          <a:blip r:embed="rId5"/>
          <a:stretch>
            <a:fillRect/>
          </a:stretch>
        </p:blipFill>
        <p:spPr>
          <a:xfrm>
            <a:off x="8659368" y="1864944"/>
            <a:ext cx="950976" cy="1828800"/>
          </a:xfrm>
          <a:prstGeom prst="rect">
            <a:avLst/>
          </a:prstGeom>
        </p:spPr>
      </p:pic>
      <p:sp>
        <p:nvSpPr>
          <p:cNvPr id="16" name="TextBox 15"/>
          <p:cNvSpPr txBox="1"/>
          <p:nvPr/>
        </p:nvSpPr>
        <p:spPr>
          <a:xfrm>
            <a:off x="457200" y="3922344"/>
            <a:ext cx="2743200" cy="201168"/>
          </a:xfrm>
          <a:prstGeom prst="rect">
            <a:avLst/>
          </a:prstGeom>
          <a:noFill/>
        </p:spPr>
        <p:txBody>
          <a:bodyPr wrap="square" lIns="0" rIns="0" tIns="0" bIns="0">
            <a:spAutoFit/>
          </a:bodyPr>
          <a:lstStyle/>
          <a:p>
            <a:r>
              <a:rPr sz="850" b="1" i="0" cap="all" spc="100">
                <a:solidFill>
                  <a:srgbClr val="60607D"/>
                </a:solidFill>
              </a:rPr>
              <a:t>Header band</a:t>
            </a:r>
          </a:p>
        </p:txBody>
      </p:sp>
      <p:pic>
        <p:nvPicPr>
          <p:cNvPr id="17" name="Picture 16" descr="image.jpg"/>
          <p:cNvPicPr>
            <a:picLocks noChangeAspect="1"/>
          </p:cNvPicPr>
          <p:nvPr/>
        </p:nvPicPr>
        <p:blipFill>
          <a:blip r:embed="rId6"/>
          <a:stretch>
            <a:fillRect/>
          </a:stretch>
        </p:blipFill>
        <p:spPr>
          <a:xfrm>
            <a:off x="457200" y="4160088"/>
            <a:ext cx="6035040" cy="495000"/>
          </a:xfrm>
          <a:prstGeom prst="rect">
            <a:avLst/>
          </a:prstGeom>
        </p:spPr>
      </p:pic>
      <p:sp>
        <p:nvSpPr>
          <p:cNvPr id="18" name="TextBox 17"/>
          <p:cNvSpPr txBox="1"/>
          <p:nvPr/>
        </p:nvSpPr>
        <p:spPr>
          <a:xfrm>
            <a:off x="6949440" y="3922344"/>
            <a:ext cx="2743200" cy="201168"/>
          </a:xfrm>
          <a:prstGeom prst="rect">
            <a:avLst/>
          </a:prstGeom>
          <a:noFill/>
        </p:spPr>
        <p:txBody>
          <a:bodyPr wrap="square" lIns="0" rIns="0" tIns="0" bIns="0">
            <a:spAutoFit/>
          </a:bodyPr>
          <a:lstStyle/>
          <a:p>
            <a:r>
              <a:rPr sz="850" b="1" i="0" cap="all" spc="100">
                <a:solidFill>
                  <a:srgbClr val="60607D"/>
                </a:solidFill>
              </a:rPr>
              <a:t>Banner (flow with banner)</a:t>
            </a:r>
          </a:p>
        </p:txBody>
      </p:sp>
      <p:sp>
        <p:nvSpPr>
          <p:cNvPr id="19" name="TextBox 18"/>
          <p:cNvSpPr txBox="1"/>
          <p:nvPr/>
        </p:nvSpPr>
        <p:spPr>
          <a:xfrm>
            <a:off x="457200" y="5385384"/>
            <a:ext cx="11277600" cy="548640"/>
          </a:xfrm>
          <a:prstGeom prst="rect">
            <a:avLst/>
          </a:prstGeom>
          <a:noFill/>
        </p:spPr>
        <p:txBody>
          <a:bodyPr wrap="square" lIns="0" rIns="0" tIns="0" bIns="0">
            <a:spAutoFit/>
          </a:bodyPr>
          <a:lstStyle/>
          <a:p>
            <a:r>
              <a:rPr sz="1050" b="0" i="0">
                <a:solidFill>
                  <a:srgbClr val="60607D"/>
                </a:solidFill>
              </a:rPr>
              <a:t>Split image (full height): used by Split with points, Image and two phases, Six blocks and a takeaway, and Goal and three pillars. Banner: used by Flow with banner. Divider, header band and update panel: used on every slide in this priority.</a:t>
            </a:r>
          </a:p>
        </p:txBody>
      </p:sp>
      <p:pic>
        <p:nvPicPr>
          <p:cNvPr id="20" name="Picture 19" descr="f_img2_d2d_ban.jpg"/>
          <p:cNvPicPr>
            <a:picLocks noChangeAspect="1"/>
          </p:cNvPicPr>
          <p:nvPr/>
        </p:nvPicPr>
        <p:blipFill>
          <a:blip r:embed="rId9"/>
          <a:stretch>
            <a:fillRect/>
          </a:stretch>
        </p:blipFill>
        <p:spPr>
          <a:xfrm>
            <a:off x="6949440" y="4160088"/>
            <a:ext cx="4480560" cy="9334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f_acc_div.jpg"/>
          <p:cNvPicPr>
            <a:picLocks noChangeAspect="1"/>
          </p:cNvPicPr>
          <p:nvPr/>
        </p:nvPicPr>
        <p:blipFill>
          <a:blip r:embed="rId2"/>
          <a:stretch>
            <a:fillRect/>
          </a:stretch>
        </p:blipFill>
        <p:spPr>
          <a:xfrm>
            <a:off x="0" y="0"/>
            <a:ext cx="12192000" cy="6858000"/>
          </a:xfrm>
          <a:prstGeom prst="rect">
            <a:avLst/>
          </a:prstGeom>
        </p:spPr>
      </p:pic>
      <p:sp>
        <p:nvSpPr>
          <p:cNvPr id="7" name="Rectangle 6"/>
          <p:cNvSpPr/>
          <p:nvPr/>
        </p:nvSpPr>
        <p:spPr>
          <a:xfrm>
            <a:off x="0" y="0"/>
            <a:ext cx="12192000" cy="6858000"/>
          </a:xfrm>
          <a:prstGeom prst="rect">
            <a:avLst/>
          </a:prstGeom>
          <a:gradFill rotWithShape="1">
            <a:gsLst>
              <a:gs pos="0">
                <a:srgbClr val="000000">
                  <a:alpha val="90000"/>
                </a:srgbClr>
              </a:gs>
              <a:gs pos="42000">
                <a:srgbClr val="000000">
                  <a:alpha val="58000"/>
                </a:srgbClr>
              </a:gs>
              <a:gs pos="100000">
                <a:srgbClr val="000000">
                  <a:alpha val="26000"/>
                </a:srgbClr>
              </a:gs>
            </a:gsLst>
            <a:lin ang="0" scaled="0"/>
          </a:gradFill>
          <a:ln>
            <a:noFill/>
          </a:ln>
        </p:spPr>
        <p:txBody>
          <a:bodyPr rtlCol="0" anchor="ctr"/>
          <a:lstStyle/>
          <a:p>
            <a:pPr algn="ctr"/>
          </a:p>
        </p:txBody>
      </p:sp>
      <p:sp>
        <p:nvSpPr>
          <p:cNvPr id="8" name="Rectangle 7"/>
          <p:cNvSpPr/>
          <p:nvPr/>
        </p:nvSpPr>
        <p:spPr>
          <a:xfrm>
            <a:off x="0" y="0"/>
            <a:ext cx="12192000" cy="6858000"/>
          </a:xfrm>
          <a:prstGeom prst="rect">
            <a:avLst/>
          </a:prstGeom>
          <a:gradFill rotWithShape="1">
            <a:gsLst>
              <a:gs pos="0">
                <a:srgbClr val="000000">
                  <a:alpha val="0"/>
                </a:srgbClr>
              </a:gs>
              <a:gs pos="45000">
                <a:srgbClr val="000000">
                  <a:alpha val="10000"/>
                </a:srgbClr>
              </a:gs>
              <a:gs pos="100000">
                <a:srgbClr val="000000">
                  <a:alpha val="58000"/>
                </a:srgbClr>
              </a:gs>
            </a:gsLst>
            <a:lin ang="5400000" scaled="0"/>
          </a:gradFill>
          <a:ln>
            <a:noFill/>
          </a:ln>
        </p:spPr>
        <p:txBody>
          <a:bodyPr rtlCol="0" anchor="ctr"/>
          <a:lstStyle/>
          <a:p>
            <a:pPr algn="ctr"/>
          </a:p>
        </p:txBody>
      </p:sp>
      <p:sp>
        <p:nvSpPr>
          <p:cNvPr id="5" name="Rounded Rectangle 4"/>
          <p:cNvSpPr/>
          <p:nvPr/>
        </p:nvSpPr>
        <p:spPr>
          <a:xfrm>
            <a:off x="640080" y="2710000"/>
            <a:ext cx="7300000" cy="3260000"/>
          </a:xfrm>
          <a:prstGeom prst="roundRect">
            <a:avLst>
              <a:gd name="adj" fmla="val 2500"/>
            </a:avLst>
          </a:prstGeom>
          <a:solidFill>
            <a:srgbClr val="000000">
              <a:alpha val="62000"/>
            </a:srgbClr>
          </a:solidFill>
          <a:ln>
            <a:noFill/>
          </a:ln>
        </p:spPr>
        <p:txBody>
          <a:bodyPr rtlCol="0" anchor="ctr"/>
          <a:lstStyle/>
          <a:p>
            <a:pPr algn="ctr"/>
            <a:endParaRPr/>
          </a:p>
        </p:txBody>
      </p:sp>
      <p:sp>
        <p:nvSpPr>
          <p:cNvPr id="2" name="Title 1"/>
          <p:cNvSpPr>
            <a:spLocks noGrp="1"/>
          </p:cNvSpPr>
          <p:nvPr>
            <p:ph type="title"/>
          </p:nvPr>
        </p:nvSpPr>
        <p:spPr>
          <a:xfrm>
            <a:off x="914400" y="1900000"/>
            <a:ext cx="6300000" cy="3000000"/>
          </a:xfrm>
        </p:spPr>
        <p:txBody>
          <a:bodyPr anchor="b"/>
          <a:lstStyle/>
          <a:p>
            <a:r>
              <a:t>Accountability Framework</a:t>
            </a:r>
          </a:p>
        </p:txBody>
      </p:sp>
      <p:sp>
        <p:nvSpPr>
          <p:cNvPr id="3" name="TextBox 2"/>
          <p:cNvSpPr txBox="1"/>
          <p:nvPr/>
        </p:nvSpPr>
        <p:spPr>
          <a:xfrm>
            <a:off x="914400" y="2940000"/>
            <a:ext cx="6000000" cy="260000"/>
          </a:xfrm>
          <a:prstGeom prst="rect">
            <a:avLst/>
          </a:prstGeom>
          <a:noFill/>
        </p:spPr>
        <p:txBody>
          <a:bodyPr wrap="square" lIns="0" rIns="0">
            <a:spAutoFit/>
          </a:bodyPr>
          <a:lstStyle/>
          <a:p>
            <a:pPr algn="l"/>
            <a:r>
              <a:rPr sz="1000" b="1" spc="200">
                <a:solidFill>
                  <a:srgbClr val="0391F2"/>
                </a:solidFill>
              </a:rPr>
              <a:t>CRITICAL ENABLERS</a:t>
            </a:r>
          </a:p>
        </p:txBody>
      </p:sp>
      <p:sp>
        <p:nvSpPr>
          <p:cNvPr id="4" name="TextBox 3"/>
          <p:cNvSpPr txBox="1"/>
          <p:nvPr/>
        </p:nvSpPr>
        <p:spPr>
          <a:xfrm>
            <a:off x="914400" y="5030000"/>
            <a:ext cx="6000000" cy="700000"/>
          </a:xfrm>
          <a:prstGeom prst="rect">
            <a:avLst/>
          </a:prstGeom>
          <a:noFill/>
        </p:spPr>
        <p:txBody>
          <a:bodyPr wrap="square" lIns="0" rIns="0">
            <a:spAutoFit/>
          </a:bodyPr>
          <a:lstStyle/>
          <a:p>
            <a:pPr algn="l"/>
            <a:r>
              <a:rPr sz="1000" b="1">
                <a:solidFill>
                  <a:srgbClr val="0391F2"/>
                </a:solidFill>
              </a:rPr>
              <a:t>Owner(s)</a:t>
            </a:r>
          </a:p>
          <a:p>
            <a:pPr algn="l"/>
            <a:r>
              <a:rPr sz="1400" i="0">
                <a:solidFill>
                  <a:srgbClr val="FFFFFF"/>
                </a:solidFill>
              </a:rPr>
              <a:t>Missy Foristall, John Ewen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17" name="Picture 516" descr="hero_p2.jpg"/>
          <p:cNvPicPr>
            <a:picLocks noChangeAspect="1"/>
          </p:cNvPicPr>
          <p:nvPr/>
        </p:nvPicPr>
        <p:blipFill>
          <a:blip r:embed="rId3"/>
          <a:stretch>
            <a:fillRect/>
          </a:stretch>
        </p:blipFill>
        <p:spPr>
          <a:xfrm>
            <a:off x="0" y="0"/>
            <a:ext cx="12192000" cy="1000000"/>
          </a:xfrm>
          <a:prstGeom prst="rect">
            <a:avLst/>
          </a:prstGeom>
        </p:spPr>
      </p:pic>
      <p:sp>
        <p:nvSpPr>
          <p:cNvPr id="518" name="Rectangle 517"/>
          <p:cNvSpPr/>
          <p:nvPr/>
        </p:nvSpPr>
        <p:spPr>
          <a:xfrm>
            <a:off x="0" y="0"/>
            <a:ext cx="12192000" cy="1000000"/>
          </a:xfrm>
          <a:prstGeom prst="rect">
            <a:avLst/>
          </a:prstGeom>
          <a:gradFill rotWithShape="1">
            <a:gsLst>
              <a:gs pos="0">
                <a:srgbClr val="000000">
                  <a:alpha val="88000"/>
                </a:srgbClr>
              </a:gs>
              <a:gs pos="50000">
                <a:srgbClr val="000000">
                  <a:alpha val="72000"/>
                </a:srgbClr>
              </a:gs>
              <a:gs pos="100000">
                <a:srgbClr val="000000">
                  <a:alpha val="60000"/>
                </a:srgbClr>
              </a:gs>
            </a:gsLst>
            <a:lin ang="0" scaled="0"/>
          </a:gradFill>
          <a:ln>
            <a:noFill/>
          </a:ln>
        </p:spPr>
        <p:txBody>
          <a:bodyPr rtlCol="0" anchor="ctr"/>
          <a:lstStyle/>
          <a:p>
            <a:pPr algn="ctr"/>
            <a:endParaRPr/>
          </a:p>
        </p:txBody>
      </p:sp>
      <p:sp>
        <p:nvSpPr>
          <p:cNvPr id="8" name="Text Placeholder 7">
            <a:extLst>
              <a:ext uri="{FF2B5EF4-FFF2-40B4-BE49-F238E27FC236}">
                <a16:creationId xmlns:a16="http://schemas.microsoft.com/office/drawing/2014/main" id="{43A36069-C4E2-A327-FEBF-07750730ECEA}"/>
              </a:ext>
            </a:extLst>
          </p:cNvPr>
          <p:cNvSpPr>
            <a:spLocks noGrp="1"/>
          </p:cNvSpPr>
          <p:nvPr>
            <p:ph type="body" sz="quarter" idx="12"/>
          </p:nvPr>
        </p:nvSpPr>
        <p:spPr>
          <a:xfrm>
            <a:off x="457200" y="170000"/>
            <a:ext cx="8000000" cy="182880"/>
          </a:xfrm>
        </p:spPr>
        <p:txBody>
          <a:bodyPr>
            <a:noAutofit/>
          </a:bodyPr>
          <a:lstStyle/>
          <a:p>
            <a:r>
              <a:rPr lang="en-US" dirty="0">
                <a:solidFill>
                  <a:srgbClr val="0391F2"/>
                </a:solidFill>
              </a:rPr>
              <a:t>OPS PRIORITIES · EXEC SUMMARY</a:t>
            </a:r>
          </a:p>
        </p:txBody>
      </p:sp>
      <p:sp>
        <p:nvSpPr>
          <p:cNvPr id="21" name="Title 20">
            <a:extLst>
              <a:ext uri="{FF2B5EF4-FFF2-40B4-BE49-F238E27FC236}">
                <a16:creationId xmlns:a16="http://schemas.microsoft.com/office/drawing/2014/main" id="{50CCB795-307F-C643-C7C1-507D8B5B32EB}"/>
              </a:ext>
            </a:extLst>
          </p:cNvPr>
          <p:cNvSpPr>
            <a:spLocks noGrp="1"/>
          </p:cNvSpPr>
          <p:nvPr>
            <p:ph type="title"/>
          </p:nvPr>
        </p:nvSpPr>
        <p:spPr>
          <a:xfrm>
            <a:off x="457200" y="300000"/>
            <a:ext cx="8000000" cy="560000"/>
          </a:xfrm>
        </p:spPr>
        <p:txBody>
          <a:bodyPr>
            <a:noAutofit/>
          </a:bodyPr>
          <a:lstStyle/>
          <a:p>
            <a:r>
              <a:rPr lang="en-US" sz="2800" dirty="0">
                <a:solidFill>
                  <a:schemeClr val="bg1"/>
                </a:solidFill>
              </a:rPr>
              <a:t>Accountability Framework</a:t>
            </a:r>
          </a:p>
        </p:txBody>
      </p:sp>
      <p:sp>
        <p:nvSpPr>
          <p:cNvPr id="13" name="Rounded Rectangle 12">
            <a:extLst>
              <a:ext uri="{FF2B5EF4-FFF2-40B4-BE49-F238E27FC236}">
                <a16:creationId xmlns:a16="http://schemas.microsoft.com/office/drawing/2014/main" id="{5637A419-FF94-DBCB-082F-42BC6E7DAE00}"/>
              </a:ext>
            </a:extLst>
          </p:cNvPr>
          <p:cNvSpPr>
            <a:spLocks/>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wrap="square" lIns="150000" rIns="120000" rtlCol="0" anchor="ctr">
            <a:noAutofit/>
          </a:bodyPr>
          <a:lstStyle/>
          <a:p>
            <a:r>
              <a:rPr lang="en-US" sz="1050" b="1">
                <a:solidFill>
                  <a:srgbClr val="FFFFFF"/>
                </a:solidFill>
                <a:cs typeface="+mn-cs"/>
              </a:rPr>
              <a:t>Owner(s)</a:t>
            </a:r>
          </a:p>
          <a:p>
            <a:r>
              <a:rPr lang="en-US" sz="900" i="0">
                <a:solidFill>
                  <a:srgbClr val="FFFFFF"/>
                </a:solidFill>
                <a:cs typeface="+mn-cs"/>
              </a:rPr>
              <a:t>Missy Foristall, John Ewen</a:t>
            </a:r>
          </a:p>
        </p:txBody>
      </p:sp>
      <p:sp>
        <p:nvSpPr>
          <p:cNvPr id="512" name="Takeaway">
            <a:extLst>
              <a:ext uri="{FF2B5EF4-FFF2-40B4-BE49-F238E27FC236}">
                <a16:creationId xmlns:a16="http://schemas.microsoft.com/office/drawing/2014/main" id="{615D6856-4CC4-0C29-A8AF-F4BF58F532AB}"/>
              </a:ext>
            </a:extLst>
          </p:cNvPr>
          <p:cNvSpPr>
            <a:spLocks noGrp="1" noRot="1" noMove="1" noResize="1" noEditPoints="1" noAdjustHandles="1" noChangeArrowheads="1" noChangeShapeType="1"/>
          </p:cNvSpPr>
          <p:nvPr/>
        </p:nvSpPr>
        <p:spPr>
          <a:xfrm>
            <a:off x="457200" y="5510000"/>
            <a:ext cx="11277600" cy="890000"/>
          </a:xfrm>
          <a:prstGeom prst="roundRect">
            <a:avLst>
              <a:gd name="adj" fmla="val 6000"/>
            </a:avLst>
          </a:prstGeom>
          <a:solidFill>
            <a:srgbClr val="000000"/>
          </a:solidFill>
          <a:ln>
            <a:noFill/>
          </a:ln>
          <a:effectLst>
            <a:outerShdw blurRad="190500" dist="50800" dir="5400000" algn="t" rotWithShape="0">
              <a:srgbClr val="000000">
                <a:alpha val="13000"/>
              </a:srgbClr>
            </a:outerShdw>
          </a:effectLst>
        </p:spPr>
        <p:txBody>
          <a:bodyPr wrap="square" lIns="300000" tIns="70000" rIns="300000" bIns="70000" rtlCol="0" anchor="ctr">
            <a:noAutofit/>
          </a:bodyPr>
          <a:lstStyle/>
          <a:p>
            <a:pPr>
              <a:spcAft>
                <a:spcPts val="600"/>
              </a:spcAft>
            </a:pPr>
            <a:r>
              <a:rPr lang="en-US" sz="900" b="1">
                <a:solidFill>
                  <a:srgbClr val="D6D6DF"/>
                </a:solidFill>
              </a:rPr>
              <a:t>KEY TAKEAWAY</a:t>
            </a:r>
          </a:p>
          <a:p>
            <a:pPr marL="0" indent="0">
              <a:buNone/>
            </a:pPr>
            <a:r>
              <a:rPr lang="en-US" sz="1500" b="1">
                <a:solidFill>
                  <a:srgbClr val="FFFFFF"/>
                </a:solidFill>
              </a:rPr>
              <a:t>Far too many key projects lack a shared understanding of who is accountable for the work that we do.</a:t>
            </a:r>
          </a:p>
        </p:txBody>
      </p:sp>
      <p:sp>
        <p:nvSpPr>
          <p:cNvPr id="513" name="Card 2026 GOAL">
            <a:extLst>
              <a:ext uri="{FF2B5EF4-FFF2-40B4-BE49-F238E27FC236}">
                <a16:creationId xmlns:a16="http://schemas.microsoft.com/office/drawing/2014/main" id="{615D6856-4CC4-0C29-A8AF-F4BF58F532AB}"/>
              </a:ext>
            </a:extLst>
          </p:cNvPr>
          <p:cNvSpPr>
            <a:spLocks noGrp="1" noRot="1" noMove="1" noResize="1" noEditPoints="1" noAdjustHandles="1" noChangeArrowheads="1" noChangeShapeType="1"/>
          </p:cNvSpPr>
          <p:nvPr/>
        </p:nvSpPr>
        <p:spPr>
          <a:xfrm>
            <a:off x="457200" y="1080000"/>
            <a:ext cx="5563800" cy="1950000"/>
          </a:xfrm>
          <a:prstGeom prst="roundRect">
            <a:avLst>
              <a:gd name="adj" fmla="val 3200"/>
            </a:avLst>
          </a:prstGeom>
          <a:solidFill>
            <a:srgbClr val="000000"/>
          </a:solidFill>
          <a:ln>
            <a:noFill/>
          </a:ln>
          <a:effectLst>
            <a:outerShdw blurRad="190500" dist="50800" dir="5400000" algn="t" rotWithShape="0">
              <a:srgbClr val="000000">
                <a:alpha val="13000"/>
              </a:srgbClr>
            </a:outerShdw>
          </a:effectLst>
        </p:spPr>
        <p:txBody>
          <a:bodyPr wrap="square" lIns="215000" tIns="170000" rIns="190000" bIns="60000" rtlCol="0" anchor="t">
            <a:noAutofit/>
          </a:bodyPr>
          <a:lstStyle/>
          <a:p>
            <a:pPr>
              <a:spcAft>
                <a:spcPts val="300"/>
              </a:spcAft>
            </a:pPr>
            <a:r>
              <a:rPr lang="en-US" sz="1200" b="1">
                <a:solidFill>
                  <a:srgbClr val="D6D6DF"/>
                </a:solidFill>
              </a:rPr>
              <a:t>2026 GOAL</a:t>
            </a:r>
          </a:p>
          <a:p>
            <a:pPr marL="0" indent="0">
              <a:spcAft>
                <a:spcPts val="300"/>
              </a:spcAft>
              <a:buNone/>
            </a:pPr>
            <a:r>
              <a:rPr lang="en-US" sz="1400" b="1">
                <a:solidFill>
                  <a:srgbClr val="FFFFFF"/>
                </a:solidFill>
              </a:rPr>
              <a:t>Codify and transform delivery leadership and accountability for every project, with clear delivery roles, executive sponsorship, and regular reviews that highlight high-risk projects.</a:t>
            </a:r>
          </a:p>
          <a:p>
            <a:pPr marL="171450" indent="-171450">
              <a:spcBef>
                <a:spcPts val="600"/>
              </a:spcBef>
              <a:spcAft>
                <a:spcPts val="300"/>
              </a:spcAft>
              <a:buFont typeface="Arial" panose="020B0604020202020204" pitchFamily="34" charset="0"/>
              <a:buChar char="•"/>
            </a:pPr>
            <a:r>
              <a:rPr lang="en-US" sz="1000">
                <a:solidFill>
                  <a:srgbClr val="FFFFFF"/>
                </a:solidFill>
              </a:rPr>
              <a:t>In practice: every key project has named delivery roles and an executive sponsor, multitrack projects have agreed accountability, and quarterly reviews surface high-risk projects early.</a:t>
            </a:r>
          </a:p>
        </p:txBody>
      </p:sp>
      <p:sp>
        <p:nvSpPr>
          <p:cNvPr id="514" name="Card THE PROBLEM">
            <a:extLst>
              <a:ext uri="{FF2B5EF4-FFF2-40B4-BE49-F238E27FC236}">
                <a16:creationId xmlns:a16="http://schemas.microsoft.com/office/drawing/2014/main" id="{615D6856-4CC4-0C29-A8AF-F4BF58F532AB}"/>
              </a:ext>
            </a:extLst>
          </p:cNvPr>
          <p:cNvSpPr>
            <a:spLocks noGrp="1" noRot="1" noMove="1" noResize="1" noEditPoints="1" noAdjustHandles="1" noChangeArrowheads="1" noChangeShapeType="1"/>
          </p:cNvSpPr>
          <p:nvPr/>
        </p:nvSpPr>
        <p:spPr>
          <a:xfrm>
            <a:off x="6171000" y="1080000"/>
            <a:ext cx="5563800" cy="195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5000" tIns="170000" rIns="190000" bIns="60000" rtlCol="0" anchor="t">
            <a:noAutofit/>
          </a:bodyPr>
          <a:lstStyle/>
          <a:p>
            <a:pPr>
              <a:spcAft>
                <a:spcPts val="300"/>
              </a:spcAft>
            </a:pPr>
            <a:r>
              <a:rPr lang="en-US" sz="1200" b="1">
                <a:solidFill>
                  <a:srgbClr val="000000"/>
                </a:solidFill>
              </a:rPr>
              <a:t>THE PROBLEM</a:t>
            </a:r>
          </a:p>
          <a:p>
            <a:pPr marL="171450" indent="-171450">
              <a:spcAft>
                <a:spcPts val="300"/>
              </a:spcAft>
              <a:buFont typeface="Arial" panose="020B0604020202020204" pitchFamily="34" charset="0"/>
              <a:buChar char="•"/>
            </a:pPr>
            <a:r>
              <a:rPr lang="en-US" sz="1000"/>
              <a:t>We are refining how we manage multitrack projects so project teams have precise leadership support, rather than running as one giant portfolio.</a:t>
            </a:r>
          </a:p>
          <a:p>
            <a:pPr marL="171450" indent="-171450">
              <a:spcAft>
                <a:spcPts val="300"/>
              </a:spcAft>
              <a:buFont typeface="Arial" panose="020B0604020202020204" pitchFamily="34" charset="0"/>
              <a:buChar char="•"/>
            </a:pPr>
            <a:r>
              <a:rPr lang="en-US" sz="1000"/>
              <a:t>For multitrack and multi-Delivery Center projects, alignment needs to be agreed to and enforced.</a:t>
            </a:r>
          </a:p>
          <a:p>
            <a:pPr marL="171450" indent="-171450">
              <a:spcAft>
                <a:spcPts val="300"/>
              </a:spcAft>
              <a:buFont typeface="Arial" panose="020B0604020202020204" pitchFamily="34" charset="0"/>
              <a:buChar char="•"/>
            </a:pPr>
            <a:r>
              <a:rPr lang="en-US" sz="1000"/>
              <a:t>This will inform everything from staffing to methodology to the role of escalation management and resolution.</a:t>
            </a:r>
          </a:p>
        </p:txBody>
      </p:sp>
      <p:sp>
        <p:nvSpPr>
          <p:cNvPr id="515" name="Card WHAT WE ARE CHANGING">
            <a:extLst>
              <a:ext uri="{FF2B5EF4-FFF2-40B4-BE49-F238E27FC236}">
                <a16:creationId xmlns:a16="http://schemas.microsoft.com/office/drawing/2014/main" id="{615D6856-4CC4-0C29-A8AF-F4BF58F532AB}"/>
              </a:ext>
            </a:extLst>
          </p:cNvPr>
          <p:cNvSpPr>
            <a:spLocks noGrp="1" noRot="1" noMove="1" noResize="1" noEditPoints="1" noAdjustHandles="1" noChangeArrowheads="1" noChangeShapeType="1"/>
          </p:cNvSpPr>
          <p:nvPr/>
        </p:nvSpPr>
        <p:spPr>
          <a:xfrm>
            <a:off x="457200" y="3130000"/>
            <a:ext cx="5563800" cy="22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5000" tIns="170000" rIns="190000" bIns="60000" rtlCol="0" anchor="t">
            <a:noAutofit/>
          </a:bodyPr>
          <a:lstStyle/>
          <a:p>
            <a:pPr>
              <a:spcAft>
                <a:spcPts val="300"/>
              </a:spcAft>
            </a:pPr>
            <a:r>
              <a:rPr lang="en-US" sz="1200" b="1">
                <a:solidFill>
                  <a:srgbClr val="000000"/>
                </a:solidFill>
              </a:rPr>
              <a:t>WHAT WE ARE CHANGING</a:t>
            </a:r>
          </a:p>
          <a:p>
            <a:pPr marL="171450" indent="-171450">
              <a:spcAft>
                <a:spcPts val="300"/>
              </a:spcAft>
              <a:buFont typeface="Arial" panose="020B0604020202020204" pitchFamily="34" charset="0"/>
              <a:buChar char="•"/>
            </a:pPr>
            <a:r>
              <a:rPr lang="en-US" sz="1000"/>
              <a:t>We will define accountability for every project.</a:t>
            </a:r>
          </a:p>
          <a:p>
            <a:pPr marL="171450" indent="-171450">
              <a:spcAft>
                <a:spcPts val="300"/>
              </a:spcAft>
              <a:buFont typeface="Arial" panose="020B0604020202020204" pitchFamily="34" charset="0"/>
              <a:buChar char="•"/>
            </a:pPr>
            <a:r>
              <a:rPr lang="en-US" sz="1000"/>
              <a:t>We will establish the essential delivery roles needed and clarify existing roles to avoid overlap and gaps.</a:t>
            </a:r>
          </a:p>
          <a:p>
            <a:pPr marL="171450" indent="-171450">
              <a:spcAft>
                <a:spcPts val="300"/>
              </a:spcAft>
              <a:buFont typeface="Arial" panose="020B0604020202020204" pitchFamily="34" charset="0"/>
              <a:buChar char="•"/>
            </a:pPr>
            <a:r>
              <a:rPr lang="en-US" sz="1000"/>
              <a:t>We are launching a workstream to define standard delivery roles and establish clear, supportive project-level structures across all major accounts.</a:t>
            </a:r>
          </a:p>
          <a:p>
            <a:pPr marL="171450" indent="-171450">
              <a:spcAft>
                <a:spcPts val="300"/>
              </a:spcAft>
              <a:buFont typeface="Arial" panose="020B0604020202020204" pitchFamily="34" charset="0"/>
              <a:buChar char="•"/>
            </a:pPr>
            <a:r>
              <a:rPr lang="en-US" sz="1000"/>
              <a:t>Starting in Q4, we will establish a cadence of quarterly reviews. High risk projects will be highlighted in ongoing Delivery Excellence meetings.</a:t>
            </a:r>
          </a:p>
        </p:txBody>
      </p:sp>
      <p:sp>
        <p:nvSpPr>
          <p:cNvPr id="516" name="Card WHAT THIS UNLOCKS">
            <a:extLst>
              <a:ext uri="{FF2B5EF4-FFF2-40B4-BE49-F238E27FC236}">
                <a16:creationId xmlns:a16="http://schemas.microsoft.com/office/drawing/2014/main" id="{615D6856-4CC4-0C29-A8AF-F4BF58F532AB}"/>
              </a:ext>
            </a:extLst>
          </p:cNvPr>
          <p:cNvSpPr>
            <a:spLocks noGrp="1" noRot="1" noMove="1" noResize="1" noEditPoints="1" noAdjustHandles="1" noChangeArrowheads="1" noChangeShapeType="1"/>
          </p:cNvSpPr>
          <p:nvPr/>
        </p:nvSpPr>
        <p:spPr>
          <a:xfrm>
            <a:off x="6171000" y="3130000"/>
            <a:ext cx="5563800" cy="2280000"/>
          </a:xfrm>
          <a:prstGeom prst="roundRect">
            <a:avLst>
              <a:gd name="adj" fmla="val 3200"/>
            </a:avLst>
          </a:prstGeom>
          <a:solidFill>
            <a:srgbClr val="000000"/>
          </a:solidFill>
          <a:ln>
            <a:noFill/>
          </a:ln>
          <a:effectLst>
            <a:outerShdw blurRad="190500" dist="50800" dir="5400000" algn="t" rotWithShape="0">
              <a:srgbClr val="000000">
                <a:alpha val="13000"/>
              </a:srgbClr>
            </a:outerShdw>
          </a:effectLst>
        </p:spPr>
        <p:txBody>
          <a:bodyPr wrap="square" lIns="215000" tIns="170000" rIns="190000" bIns="60000" rtlCol="0" anchor="t">
            <a:noAutofit/>
          </a:bodyPr>
          <a:lstStyle/>
          <a:p>
            <a:pPr>
              <a:spcAft>
                <a:spcPts val="300"/>
              </a:spcAft>
            </a:pPr>
            <a:r>
              <a:rPr lang="en-US" sz="1200" b="1">
                <a:solidFill>
                  <a:srgbClr val="D6D6DF"/>
                </a:solidFill>
              </a:rPr>
              <a:t>WHAT THIS UNLOCKS</a:t>
            </a:r>
          </a:p>
          <a:p>
            <a:pPr marL="171450" indent="-171450">
              <a:spcAft>
                <a:spcPts val="300"/>
              </a:spcAft>
              <a:buFont typeface="Arial" panose="020B0604020202020204" pitchFamily="34" charset="0"/>
              <a:buChar char="•"/>
            </a:pPr>
            <a:r>
              <a:rPr lang="en-US" sz="1000">
                <a:solidFill>
                  <a:srgbClr val="FFFFFF"/>
                </a:solidFill>
              </a:rPr>
              <a:t>Delivery doesn't happen in a vacuum. Successes and escalations are tightly coupled with our Client Engagement model (Client Partners, Account Management) and Executive Sponsors.</a:t>
            </a:r>
          </a:p>
          <a:p>
            <a:pPr marL="171450" indent="-171450">
              <a:spcBef>
                <a:spcPts val="500"/>
              </a:spcBef>
              <a:spcAft>
                <a:spcPts val="300"/>
              </a:spcAft>
              <a:buFont typeface="Arial" panose="020B0604020202020204" pitchFamily="34" charset="0"/>
              <a:buChar char="•"/>
            </a:pPr>
            <a:r>
              <a:rPr lang="en-US" sz="1100" b="1">
                <a:solidFill>
                  <a:srgbClr val="D6D6DF"/>
                </a:solidFill>
              </a:rPr>
              <a:t>Beyond the MVP</a:t>
            </a:r>
          </a:p>
          <a:p>
            <a:pPr marL="171450" indent="-171450">
              <a:spcAft>
                <a:spcPts val="300"/>
              </a:spcAft>
              <a:buFont typeface="Arial" panose="020B0604020202020204" pitchFamily="34" charset="0"/>
              <a:buChar char="•"/>
            </a:pPr>
            <a:r>
              <a:rPr lang="en-US" sz="1000">
                <a:solidFill>
                  <a:srgbClr val="FFFFFF"/>
                </a:solidFill>
              </a:rPr>
              <a:t>Expand quarterly reviews across the broader portfolio after the top 5 major clients per BU, and scale what works into methodology.</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17" name="Picture 516" descr="hero_p2.jpg"/>
          <p:cNvPicPr>
            <a:picLocks noChangeAspect="1"/>
          </p:cNvPicPr>
          <p:nvPr/>
        </p:nvPicPr>
        <p:blipFill>
          <a:blip r:embed="rId3"/>
          <a:stretch>
            <a:fillRect/>
          </a:stretch>
        </p:blipFill>
        <p:spPr>
          <a:xfrm>
            <a:off x="0" y="0"/>
            <a:ext cx="12192000" cy="1000000"/>
          </a:xfrm>
          <a:prstGeom prst="rect">
            <a:avLst/>
          </a:prstGeom>
        </p:spPr>
      </p:pic>
      <p:sp>
        <p:nvSpPr>
          <p:cNvPr id="518" name="Rectangle 517"/>
          <p:cNvSpPr/>
          <p:nvPr/>
        </p:nvSpPr>
        <p:spPr>
          <a:xfrm>
            <a:off x="0" y="0"/>
            <a:ext cx="12192000" cy="1000000"/>
          </a:xfrm>
          <a:prstGeom prst="rect">
            <a:avLst/>
          </a:prstGeom>
          <a:gradFill rotWithShape="1">
            <a:gsLst>
              <a:gs pos="0">
                <a:srgbClr val="000000">
                  <a:alpha val="88000"/>
                </a:srgbClr>
              </a:gs>
              <a:gs pos="50000">
                <a:srgbClr val="000000">
                  <a:alpha val="72000"/>
                </a:srgbClr>
              </a:gs>
              <a:gs pos="100000">
                <a:srgbClr val="000000">
                  <a:alpha val="60000"/>
                </a:srgbClr>
              </a:gs>
            </a:gsLst>
            <a:lin ang="0" scaled="0"/>
          </a:gradFill>
          <a:ln>
            <a:noFill/>
          </a:ln>
        </p:spPr>
        <p:txBody>
          <a:bodyPr rtlCol="0" anchor="ctr"/>
          <a:lstStyle/>
          <a:p>
            <a:pPr algn="ctr"/>
            <a:endParaRP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Why now</a:t>
            </a:r>
          </a:p>
        </p:txBody>
      </p:sp>
      <p:sp>
        <p:nvSpPr>
          <p:cNvPr id="4" name="Text Placeholder 3"/>
          <p:cNvSpPr>
            <a:spLocks noGrp="1"/>
          </p:cNvSpPr>
          <p:nvPr>
            <p:ph type="body" sz="quarter" idx="12"/>
          </p:nvPr>
        </p:nvSpPr>
        <p:spPr>
          <a:xfrm>
            <a:off x="457200" y="170000"/>
            <a:ext cx="8000000" cy="182880"/>
          </a:xfrm>
        </p:spPr>
        <p:txBody>
          <a:bodyPr/>
          <a:lstStyle/>
          <a:p>
            <a:r>
              <a:rPr>
                <a:solidFill>
                  <a:srgbClr val="0391F2"/>
                </a:solidFill>
              </a:rPr>
              <a:t>ACCOUNTABILITY FRAMEWORK · CLICK-DOWN · THE PROBLEM</a:t>
            </a:r>
          </a:p>
        </p:txBody>
      </p:sp>
      <p:sp>
        <p:nvSpPr>
          <p:cNvPr id="13" name="Rounded Rectangle 12">
            <a:extLst>
              <a:ext uri="{FF2B5EF4-FFF2-40B4-BE49-F238E27FC236}">
                <a16:creationId xmlns:a16="http://schemas.microsoft.com/office/drawing/2014/main" id="{5637A419-FF94-DBCB-082F-42BC6E7DAE00}"/>
              </a:ext>
            </a:extLst>
          </p:cNvPr>
          <p:cNvSpPr>
            <a:spLocks/>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wrap="square" lIns="150000" rIns="120000" rtlCol="0" anchor="ctr">
            <a:noAutofit/>
          </a:bodyPr>
          <a:lstStyle/>
          <a:p>
            <a:r>
              <a:rPr lang="en-US" sz="1050" b="1">
                <a:solidFill>
                  <a:srgbClr val="FFFFFF"/>
                </a:solidFill>
                <a:cs typeface="+mn-cs"/>
              </a:rPr>
              <a:t>Owner(s)</a:t>
            </a:r>
          </a:p>
          <a:p>
            <a:r>
              <a:rPr lang="en-US" sz="900" i="0">
                <a:solidFill>
                  <a:srgbClr val="FFFFFF"/>
                </a:solidFill>
                <a:cs typeface="+mn-cs"/>
              </a:rPr>
              <a:t>Missy Foristall, John Ewen</a:t>
            </a:r>
          </a:p>
        </p:txBody>
      </p:sp>
      <p:sp>
        <p:nvSpPr>
          <p:cNvPr id="519" name="Rounded Rectangle 518"/>
          <p:cNvSpPr/>
          <p:nvPr/>
        </p:nvSpPr>
        <p:spPr>
          <a:xfrm>
            <a:off x="457200" y="1170000"/>
            <a:ext cx="11277600" cy="1250000"/>
          </a:xfrm>
          <a:prstGeom prst="roundRect">
            <a:avLst>
              <a:gd name="adj" fmla="val 3200"/>
            </a:avLst>
          </a:prstGeom>
          <a:solidFill>
            <a:srgbClr val="000000"/>
          </a:solidFill>
          <a:ln>
            <a:noFill/>
          </a:ln>
          <a:effectLst>
            <a:outerShdw blurRad="190500" dist="50800" dir="5400000" algn="t" rotWithShape="0">
              <a:srgbClr val="000000">
                <a:alpha val="13000"/>
              </a:srgbClr>
            </a:outerShdw>
          </a:effectLst>
        </p:spPr>
        <p:txBody>
          <a:bodyPr wrap="square" lIns="274320" tIns="109728" rIns="274320" bIns="73152" rtlCol="0" anchor="ctr"/>
          <a:lstStyle/>
          <a:p>
            <a:pPr algn="l">
              <a:spcAft>
                <a:spcPts val="500"/>
              </a:spcAft>
            </a:pPr>
            <a:r>
              <a:rPr sz="1600" b="0" i="1">
                <a:solidFill>
                  <a:srgbClr val="D6D6DF"/>
                </a:solidFill>
              </a:rPr>
              <a:t>[Put here: one or two sentences on why now. What does waiting cost us?]</a:t>
            </a:r>
          </a:p>
        </p:txBody>
      </p:sp>
      <p:sp>
        <p:nvSpPr>
          <p:cNvPr id="520" name="Rounded Rectangle 519"/>
          <p:cNvSpPr/>
          <p:nvPr/>
        </p:nvSpPr>
        <p:spPr>
          <a:xfrm>
            <a:off x="457200" y="2570000"/>
            <a:ext cx="6541008" cy="36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dirty="0">
                <a:solidFill>
                  <a:srgbClr val="000000"/>
                </a:solidFill>
              </a:rPr>
              <a:t>What's happening today</a:t>
            </a:r>
          </a:p>
          <a:p>
            <a:pPr>
              <a:spcAft>
                <a:spcPts val="500"/>
              </a:spcAft>
            </a:pPr>
            <a:r>
              <a:rPr lang="en-US" sz="1300" i="1" dirty="0">
                <a:solidFill>
                  <a:srgbClr val="60607D"/>
                </a:solidFill>
              </a:rPr>
              <a:t>[Put here: what is going on right now that makes this urgent. One bullet per point, add as many as you need.]</a:t>
            </a:r>
          </a:p>
          <a:p>
            <a:pPr>
              <a:spcAft>
                <a:spcPts val="500"/>
              </a:spcAft>
            </a:pPr>
            <a:r>
              <a:rPr lang="en-US" sz="1300" i="1" dirty="0">
                <a:solidFill>
                  <a:srgbClr val="60607D"/>
                </a:solidFill>
              </a:rPr>
              <a:t>[Why: this is the reason to act now.]</a:t>
            </a:r>
          </a:p>
        </p:txBody>
      </p:sp>
      <p:sp>
        <p:nvSpPr>
          <p:cNvPr id="521" name="Rounded Rectangle 520"/>
          <p:cNvSpPr/>
          <p:nvPr/>
        </p:nvSpPr>
        <p:spPr>
          <a:xfrm>
            <a:off x="7148208" y="2570000"/>
            <a:ext cx="4586592" cy="3680000"/>
          </a:xfrm>
          <a:prstGeom prst="roundRect">
            <a:avLst>
              <a:gd name="adj" fmla="val 3200"/>
            </a:avLst>
          </a:prstGeom>
          <a:solidFill>
            <a:srgbClr val="000000"/>
          </a:solidFill>
          <a:ln>
            <a:no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D6D6DF"/>
                </a:solidFill>
              </a:rPr>
              <a:t>So we need</a:t>
            </a:r>
          </a:p>
          <a:p>
            <a:pPr algn="l">
              <a:spcAft>
                <a:spcPts val="500"/>
              </a:spcAft>
            </a:pPr>
            <a:r>
              <a:rPr sz="1300" b="0" i="1">
                <a:solidFill>
                  <a:srgbClr val="D6D6DF"/>
                </a:solidFill>
              </a:rPr>
              <a:t>[Put here: what has to happen or be decided. One bullet per ask.]</a:t>
            </a:r>
          </a:p>
          <a:p>
            <a:pPr algn="l">
              <a:spcAft>
                <a:spcPts val="500"/>
              </a:spcAft>
            </a:pPr>
            <a:r>
              <a:rPr sz="1300" b="0" i="1">
                <a:solidFill>
                  <a:srgbClr val="D6D6DF"/>
                </a:solidFill>
              </a:rPr>
              <a:t>[Why: this turns the worry into a clear ask.]</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17" name="Picture 516" descr="hero_p2.jpg"/>
          <p:cNvPicPr>
            <a:picLocks noChangeAspect="1"/>
          </p:cNvPicPr>
          <p:nvPr/>
        </p:nvPicPr>
        <p:blipFill>
          <a:blip r:embed="rId3"/>
          <a:stretch>
            <a:fillRect/>
          </a:stretch>
        </p:blipFill>
        <p:spPr>
          <a:xfrm>
            <a:off x="0" y="0"/>
            <a:ext cx="12192000" cy="1000000"/>
          </a:xfrm>
          <a:prstGeom prst="rect">
            <a:avLst/>
          </a:prstGeom>
        </p:spPr>
      </p:pic>
      <p:sp>
        <p:nvSpPr>
          <p:cNvPr id="518" name="Rectangle 517"/>
          <p:cNvSpPr/>
          <p:nvPr/>
        </p:nvSpPr>
        <p:spPr>
          <a:xfrm>
            <a:off x="0" y="0"/>
            <a:ext cx="12192000" cy="1000000"/>
          </a:xfrm>
          <a:prstGeom prst="rect">
            <a:avLst/>
          </a:prstGeom>
          <a:gradFill rotWithShape="1">
            <a:gsLst>
              <a:gs pos="0">
                <a:srgbClr val="000000">
                  <a:alpha val="88000"/>
                </a:srgbClr>
              </a:gs>
              <a:gs pos="50000">
                <a:srgbClr val="000000">
                  <a:alpha val="72000"/>
                </a:srgbClr>
              </a:gs>
              <a:gs pos="100000">
                <a:srgbClr val="000000">
                  <a:alpha val="60000"/>
                </a:srgbClr>
              </a:gs>
            </a:gsLst>
            <a:lin ang="0" scaled="0"/>
          </a:gradFill>
          <a:ln>
            <a:noFill/>
          </a:ln>
        </p:spPr>
        <p:txBody>
          <a:bodyPr rtlCol="0" anchor="ctr"/>
          <a:lstStyle/>
          <a:p>
            <a:pPr algn="ctr"/>
            <a:endParaRP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How we're going about it</a:t>
            </a:r>
          </a:p>
        </p:txBody>
      </p:sp>
      <p:sp>
        <p:nvSpPr>
          <p:cNvPr id="4" name="Text Placeholder 3"/>
          <p:cNvSpPr>
            <a:spLocks noGrp="1"/>
          </p:cNvSpPr>
          <p:nvPr>
            <p:ph type="body" sz="quarter" idx="12"/>
          </p:nvPr>
        </p:nvSpPr>
        <p:spPr>
          <a:xfrm>
            <a:off x="457200" y="170000"/>
            <a:ext cx="8000000" cy="182880"/>
          </a:xfrm>
        </p:spPr>
        <p:txBody>
          <a:bodyPr/>
          <a:lstStyle/>
          <a:p>
            <a:r>
              <a:rPr>
                <a:solidFill>
                  <a:srgbClr val="0391F2"/>
                </a:solidFill>
              </a:rPr>
              <a:t>ACCOUNTABILITY FRAMEWORK · CLICK-DOWN · WHAT WE ARE CHANGING</a:t>
            </a:r>
          </a:p>
        </p:txBody>
      </p:sp>
      <p:sp>
        <p:nvSpPr>
          <p:cNvPr id="13" name="Rounded Rectangle 12">
            <a:extLst>
              <a:ext uri="{FF2B5EF4-FFF2-40B4-BE49-F238E27FC236}">
                <a16:creationId xmlns:a16="http://schemas.microsoft.com/office/drawing/2014/main" id="{5637A419-FF94-DBCB-082F-42BC6E7DAE00}"/>
              </a:ext>
            </a:extLst>
          </p:cNvPr>
          <p:cNvSpPr>
            <a:spLocks/>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wrap="square" lIns="150000" rIns="120000" rtlCol="0" anchor="ctr">
            <a:noAutofit/>
          </a:bodyPr>
          <a:lstStyle/>
          <a:p>
            <a:r>
              <a:rPr lang="en-US" sz="1050" b="1">
                <a:solidFill>
                  <a:srgbClr val="FFFFFF"/>
                </a:solidFill>
                <a:cs typeface="+mn-cs"/>
              </a:rPr>
              <a:t>Owner(s)</a:t>
            </a:r>
          </a:p>
          <a:p>
            <a:r>
              <a:rPr lang="en-US" sz="900" i="0">
                <a:solidFill>
                  <a:srgbClr val="FFFFFF"/>
                </a:solidFill>
                <a:cs typeface="+mn-cs"/>
              </a:rPr>
              <a:t>Missy Foristall, John Ewen</a:t>
            </a:r>
          </a:p>
        </p:txBody>
      </p:sp>
      <p:sp>
        <p:nvSpPr>
          <p:cNvPr id="519" name="TextBox 518"/>
          <p:cNvSpPr txBox="1"/>
          <p:nvPr/>
        </p:nvSpPr>
        <p:spPr>
          <a:xfrm>
            <a:off x="457200" y="1170000"/>
            <a:ext cx="11277600" cy="457200"/>
          </a:xfrm>
          <a:prstGeom prst="rect">
            <a:avLst/>
          </a:prstGeom>
          <a:noFill/>
        </p:spPr>
        <p:txBody>
          <a:bodyPr wrap="square" lIns="0" tIns="0" rIns="0" bIns="0" anchor="t">
            <a:spAutoFit/>
          </a:bodyPr>
          <a:lstStyle/>
          <a:p>
            <a:pPr algn="l">
              <a:spcAft>
                <a:spcPts val="500"/>
              </a:spcAft>
            </a:pPr>
            <a:r>
              <a:rPr sz="1250" b="0" i="0">
                <a:solidFill>
                  <a:srgbClr val="000000"/>
                </a:solidFill>
              </a:rPr>
              <a:t>We are launching a workstream to define standard delivery roles and establish clear, supportive project-level structures across all major accounts.</a:t>
            </a:r>
          </a:p>
        </p:txBody>
      </p:sp>
      <p:sp>
        <p:nvSpPr>
          <p:cNvPr id="520" name="Rounded Rectangle 519"/>
          <p:cNvSpPr/>
          <p:nvPr/>
        </p:nvSpPr>
        <p:spPr>
          <a:xfrm>
            <a:off x="457200" y="1828368"/>
            <a:ext cx="2175520" cy="233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a:solidFill>
                  <a:srgbClr val="60607D"/>
                </a:solidFill>
              </a:rPr>
              <a:t>Step 1</a:t>
            </a:r>
          </a:p>
          <a:p>
            <a:pPr algn="l">
              <a:spcBef>
                <a:spcPts val="400"/>
              </a:spcBef>
              <a:spcAft>
                <a:spcPts val="200"/>
              </a:spcAft>
            </a:pPr>
            <a:r>
              <a:rPr sz="850" b="1" i="0">
                <a:solidFill>
                  <a:srgbClr val="000000"/>
                </a:solidFill>
              </a:rPr>
              <a:t>Accountability Clarified</a:t>
            </a:r>
          </a:p>
          <a:p>
            <a:pPr algn="l">
              <a:spcAft>
                <a:spcPts val="500"/>
              </a:spcAft>
            </a:pPr>
            <a:r>
              <a:rPr sz="850" b="0" i="0">
                <a:solidFill>
                  <a:srgbClr val="000000"/>
                </a:solidFill>
              </a:rPr>
              <a:t>We will define accountability for every project. For projects serviced by a single Delivery Center, this will be linear and familiar. For multitrack/multi-Delivery Center projects, alignment needs to be agreed to and enforced. This will inform everything from staffing to methodology to the role of escalation management and resolution.</a:t>
            </a:r>
          </a:p>
        </p:txBody>
      </p:sp>
      <p:sp>
        <p:nvSpPr>
          <p:cNvPr id="521" name="Rounded Rectangle 520"/>
          <p:cNvSpPr/>
          <p:nvPr/>
        </p:nvSpPr>
        <p:spPr>
          <a:xfrm>
            <a:off x="2732720" y="1828368"/>
            <a:ext cx="2175520" cy="233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a:solidFill>
                  <a:srgbClr val="60607D"/>
                </a:solidFill>
              </a:rPr>
              <a:t>Step 2</a:t>
            </a:r>
          </a:p>
          <a:p>
            <a:pPr algn="l">
              <a:spcBef>
                <a:spcPts val="400"/>
              </a:spcBef>
              <a:spcAft>
                <a:spcPts val="200"/>
              </a:spcAft>
            </a:pPr>
            <a:r>
              <a:rPr sz="850" b="1" i="0">
                <a:solidFill>
                  <a:srgbClr val="000000"/>
                </a:solidFill>
              </a:rPr>
              <a:t>Defining Essential Roles</a:t>
            </a:r>
          </a:p>
          <a:p>
            <a:pPr algn="l">
              <a:spcAft>
                <a:spcPts val="500"/>
              </a:spcAft>
            </a:pPr>
            <a:r>
              <a:rPr sz="850" b="0" i="0">
                <a:solidFill>
                  <a:srgbClr val="000000"/>
                </a:solidFill>
              </a:rPr>
              <a:t>As new accountability models are defined, new roles may be necessary. We will establish the essential delivery roles needed to support this model and clarify existing roles to avoid overlap and gaps.</a:t>
            </a:r>
          </a:p>
        </p:txBody>
      </p:sp>
      <p:sp>
        <p:nvSpPr>
          <p:cNvPr id="522" name="Rounded Rectangle 521"/>
          <p:cNvSpPr/>
          <p:nvPr/>
        </p:nvSpPr>
        <p:spPr>
          <a:xfrm>
            <a:off x="5008240" y="1828368"/>
            <a:ext cx="2175520" cy="233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a:solidFill>
                  <a:srgbClr val="60607D"/>
                </a:solidFill>
              </a:rPr>
              <a:t>Step 3</a:t>
            </a:r>
          </a:p>
          <a:p>
            <a:pPr algn="l">
              <a:spcBef>
                <a:spcPts val="400"/>
              </a:spcBef>
              <a:spcAft>
                <a:spcPts val="200"/>
              </a:spcAft>
            </a:pPr>
            <a:r>
              <a:rPr sz="850" b="1" i="0">
                <a:solidFill>
                  <a:srgbClr val="000000"/>
                </a:solidFill>
              </a:rPr>
              <a:t>Growth, Client Service and Executive Sponsorship</a:t>
            </a:r>
          </a:p>
          <a:p>
            <a:pPr algn="l">
              <a:spcAft>
                <a:spcPts val="500"/>
              </a:spcAft>
            </a:pPr>
            <a:r>
              <a:rPr sz="850" b="0" i="0">
                <a:solidFill>
                  <a:srgbClr val="000000"/>
                </a:solidFill>
              </a:rPr>
              <a:t>Delivery doesn’t happen in a vacuum. Successes and escalations will need to be tightly coupled with our Client Engagement model (Client Partners, Account Management) and Executive Sponsors. These partnerships will be evaluated for clarity, completeness and effectiveness with our modified delivery engine.</a:t>
            </a:r>
          </a:p>
        </p:txBody>
      </p:sp>
      <p:sp>
        <p:nvSpPr>
          <p:cNvPr id="523" name="Rounded Rectangle 522"/>
          <p:cNvSpPr/>
          <p:nvPr/>
        </p:nvSpPr>
        <p:spPr>
          <a:xfrm>
            <a:off x="7283760" y="1828368"/>
            <a:ext cx="2175520" cy="233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a:solidFill>
                  <a:srgbClr val="60607D"/>
                </a:solidFill>
              </a:rPr>
              <a:t>Step 4</a:t>
            </a:r>
          </a:p>
          <a:p>
            <a:pPr algn="l">
              <a:spcBef>
                <a:spcPts val="400"/>
              </a:spcBef>
              <a:spcAft>
                <a:spcPts val="200"/>
              </a:spcAft>
            </a:pPr>
            <a:r>
              <a:rPr sz="850" b="1" i="0">
                <a:solidFill>
                  <a:srgbClr val="000000"/>
                </a:solidFill>
              </a:rPr>
              <a:t>Change Management will be Key</a:t>
            </a:r>
          </a:p>
          <a:p>
            <a:pPr algn="l">
              <a:spcAft>
                <a:spcPts val="500"/>
              </a:spcAft>
            </a:pPr>
            <a:r>
              <a:rPr sz="850" b="0" i="0">
                <a:solidFill>
                  <a:srgbClr val="000000"/>
                </a:solidFill>
              </a:rPr>
              <a:t>These changes will represent modifications to our ways of working and new standards which we will need to taught, supported and enforced. Training and continuous improvement will be key to helping the organization embrace new structures and ensure we learn from what works.</a:t>
            </a:r>
          </a:p>
        </p:txBody>
      </p:sp>
      <p:sp>
        <p:nvSpPr>
          <p:cNvPr id="524" name="Rounded Rectangle 523"/>
          <p:cNvSpPr/>
          <p:nvPr/>
        </p:nvSpPr>
        <p:spPr>
          <a:xfrm>
            <a:off x="9559280" y="1828368"/>
            <a:ext cx="2175520" cy="233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a:solidFill>
                  <a:srgbClr val="60607D"/>
                </a:solidFill>
              </a:rPr>
              <a:t>Step 5</a:t>
            </a:r>
          </a:p>
          <a:p>
            <a:pPr algn="l">
              <a:spcBef>
                <a:spcPts val="400"/>
              </a:spcBef>
              <a:spcAft>
                <a:spcPts val="200"/>
              </a:spcAft>
            </a:pPr>
            <a:r>
              <a:rPr sz="850" b="1" i="0">
                <a:solidFill>
                  <a:srgbClr val="000000"/>
                </a:solidFill>
              </a:rPr>
              <a:t>Phased Rollout of Regular Reviews</a:t>
            </a:r>
          </a:p>
          <a:p>
            <a:pPr algn="l">
              <a:spcAft>
                <a:spcPts val="500"/>
              </a:spcAft>
            </a:pPr>
            <a:r>
              <a:rPr sz="850" b="0" i="0">
                <a:solidFill>
                  <a:srgbClr val="000000"/>
                </a:solidFill>
              </a:rPr>
              <a:t>Starting in Q4, we will establish a cadence of quarterly reviews to report on the accountability structure for multitrack programs. Each model will be assessed in terms of risk and opportunities for improvement. Additionally, high risk projects will be highlighted in ongoing Delivery Excellence meetings.</a:t>
            </a:r>
          </a:p>
        </p:txBody>
      </p:sp>
      <p:sp>
        <p:nvSpPr>
          <p:cNvPr id="525" name="Rectangle 524"/>
          <p:cNvSpPr/>
          <p:nvPr/>
        </p:nvSpPr>
        <p:spPr>
          <a:xfrm>
            <a:off x="1219885" y="4379808"/>
            <a:ext cx="9752229" cy="19050"/>
          </a:xfrm>
          <a:prstGeom prst="rect">
            <a:avLst/>
          </a:prstGeom>
          <a:solidFill>
            <a:srgbClr val="D6D6DF"/>
          </a:solidFill>
          <a:ln>
            <a:noFill/>
          </a:ln>
        </p:spPr>
        <p:txBody>
          <a:bodyPr rtlCol="0" anchor="ctr"/>
          <a:lstStyle/>
          <a:p>
            <a:pPr algn="ctr"/>
            <a:endParaRPr/>
          </a:p>
        </p:txBody>
      </p:sp>
      <p:sp>
        <p:nvSpPr>
          <p:cNvPr id="526" name="Oval 525"/>
          <p:cNvSpPr/>
          <p:nvPr/>
        </p:nvSpPr>
        <p:spPr>
          <a:xfrm>
            <a:off x="1128445" y="4288368"/>
            <a:ext cx="182880" cy="182880"/>
          </a:xfrm>
          <a:prstGeom prst="ellipse">
            <a:avLst/>
          </a:prstGeom>
          <a:solidFill>
            <a:srgbClr val="FFFFFF"/>
          </a:solidFill>
          <a:ln w="19050">
            <a:solidFill>
              <a:srgbClr val="D6D6DF"/>
            </a:solidFill>
          </a:ln>
        </p:spPr>
        <p:txBody>
          <a:bodyPr rtlCol="0" anchor="ctr"/>
          <a:lstStyle/>
          <a:p>
            <a:pPr algn="ctr"/>
            <a:endParaRPr/>
          </a:p>
        </p:txBody>
      </p:sp>
      <p:sp>
        <p:nvSpPr>
          <p:cNvPr id="527" name="Rounded Rectangle 526"/>
          <p:cNvSpPr/>
          <p:nvPr/>
        </p:nvSpPr>
        <p:spPr>
          <a:xfrm>
            <a:off x="457200" y="4562688"/>
            <a:ext cx="1525371"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Aft>
                <a:spcPts val="500"/>
              </a:spcAft>
            </a:pPr>
            <a:r>
              <a:rPr sz="1100" b="0" i="1">
                <a:solidFill>
                  <a:srgbClr val="60607D"/>
                </a:solidFill>
              </a:rPr>
              <a:t>[Date]</a:t>
            </a:r>
          </a:p>
          <a:p>
            <a:pPr algn="l">
              <a:spcAft>
                <a:spcPts val="500"/>
              </a:spcAft>
            </a:pPr>
            <a:r>
              <a:rPr sz="1100" b="0" i="1">
                <a:solidFill>
                  <a:srgbClr val="60607D"/>
                </a:solidFill>
              </a:rPr>
              <a:t>[What is done by then]</a:t>
            </a:r>
          </a:p>
        </p:txBody>
      </p:sp>
      <p:sp>
        <p:nvSpPr>
          <p:cNvPr id="528" name="Oval 527"/>
          <p:cNvSpPr/>
          <p:nvPr/>
        </p:nvSpPr>
        <p:spPr>
          <a:xfrm>
            <a:off x="2753816" y="4288368"/>
            <a:ext cx="182880" cy="182880"/>
          </a:xfrm>
          <a:prstGeom prst="ellipse">
            <a:avLst/>
          </a:prstGeom>
          <a:solidFill>
            <a:srgbClr val="FFFFFF"/>
          </a:solidFill>
          <a:ln w="19050">
            <a:solidFill>
              <a:srgbClr val="D6D6DF"/>
            </a:solidFill>
          </a:ln>
        </p:spPr>
        <p:txBody>
          <a:bodyPr rtlCol="0" anchor="ctr"/>
          <a:lstStyle/>
          <a:p>
            <a:pPr algn="ctr"/>
            <a:endParaRPr/>
          </a:p>
        </p:txBody>
      </p:sp>
      <p:sp>
        <p:nvSpPr>
          <p:cNvPr id="529" name="Rounded Rectangle 528"/>
          <p:cNvSpPr/>
          <p:nvPr/>
        </p:nvSpPr>
        <p:spPr>
          <a:xfrm>
            <a:off x="2082571" y="4562688"/>
            <a:ext cx="1525371"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Aft>
                <a:spcPts val="500"/>
              </a:spcAft>
            </a:pPr>
            <a:r>
              <a:rPr sz="1100" b="0" i="1">
                <a:solidFill>
                  <a:srgbClr val="60607D"/>
                </a:solidFill>
              </a:rPr>
              <a:t>[Date]</a:t>
            </a:r>
          </a:p>
          <a:p>
            <a:pPr algn="l">
              <a:spcAft>
                <a:spcPts val="500"/>
              </a:spcAft>
            </a:pPr>
            <a:r>
              <a:rPr sz="1100" b="0" i="1">
                <a:solidFill>
                  <a:srgbClr val="60607D"/>
                </a:solidFill>
              </a:rPr>
              <a:t>[What is done by then]</a:t>
            </a:r>
          </a:p>
        </p:txBody>
      </p:sp>
      <p:sp>
        <p:nvSpPr>
          <p:cNvPr id="530" name="Oval 529"/>
          <p:cNvSpPr/>
          <p:nvPr/>
        </p:nvSpPr>
        <p:spPr>
          <a:xfrm>
            <a:off x="4379187" y="4288368"/>
            <a:ext cx="182880" cy="182880"/>
          </a:xfrm>
          <a:prstGeom prst="ellipse">
            <a:avLst/>
          </a:prstGeom>
          <a:solidFill>
            <a:srgbClr val="FFFFFF"/>
          </a:solidFill>
          <a:ln w="19050">
            <a:solidFill>
              <a:srgbClr val="D6D6DF"/>
            </a:solidFill>
          </a:ln>
        </p:spPr>
        <p:txBody>
          <a:bodyPr rtlCol="0" anchor="ctr"/>
          <a:lstStyle/>
          <a:p>
            <a:pPr algn="ctr"/>
            <a:endParaRPr/>
          </a:p>
        </p:txBody>
      </p:sp>
      <p:sp>
        <p:nvSpPr>
          <p:cNvPr id="531" name="Rounded Rectangle 530"/>
          <p:cNvSpPr/>
          <p:nvPr/>
        </p:nvSpPr>
        <p:spPr>
          <a:xfrm>
            <a:off x="3707942" y="4562688"/>
            <a:ext cx="1525371"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Aft>
                <a:spcPts val="500"/>
              </a:spcAft>
            </a:pPr>
            <a:r>
              <a:rPr sz="1100" b="0" i="1">
                <a:solidFill>
                  <a:srgbClr val="60607D"/>
                </a:solidFill>
              </a:rPr>
              <a:t>[Date]</a:t>
            </a:r>
          </a:p>
          <a:p>
            <a:pPr algn="l">
              <a:spcAft>
                <a:spcPts val="500"/>
              </a:spcAft>
            </a:pPr>
            <a:r>
              <a:rPr sz="1100" b="0" i="1">
                <a:solidFill>
                  <a:srgbClr val="60607D"/>
                </a:solidFill>
              </a:rPr>
              <a:t>[What is done by then]</a:t>
            </a:r>
          </a:p>
        </p:txBody>
      </p:sp>
      <p:sp>
        <p:nvSpPr>
          <p:cNvPr id="532" name="Oval 531"/>
          <p:cNvSpPr/>
          <p:nvPr/>
        </p:nvSpPr>
        <p:spPr>
          <a:xfrm>
            <a:off x="6004558" y="4288368"/>
            <a:ext cx="182880" cy="182880"/>
          </a:xfrm>
          <a:prstGeom prst="ellipse">
            <a:avLst/>
          </a:prstGeom>
          <a:solidFill>
            <a:srgbClr val="FFFFFF"/>
          </a:solidFill>
          <a:ln w="19050">
            <a:solidFill>
              <a:srgbClr val="D6D6DF"/>
            </a:solidFill>
          </a:ln>
        </p:spPr>
        <p:txBody>
          <a:bodyPr rtlCol="0" anchor="ctr"/>
          <a:lstStyle/>
          <a:p>
            <a:pPr algn="ctr"/>
            <a:endParaRPr/>
          </a:p>
        </p:txBody>
      </p:sp>
      <p:sp>
        <p:nvSpPr>
          <p:cNvPr id="533" name="Rounded Rectangle 532"/>
          <p:cNvSpPr/>
          <p:nvPr/>
        </p:nvSpPr>
        <p:spPr>
          <a:xfrm>
            <a:off x="5333313" y="4562688"/>
            <a:ext cx="1525371"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Aft>
                <a:spcPts val="500"/>
              </a:spcAft>
            </a:pPr>
            <a:r>
              <a:rPr sz="1100" b="0" i="1">
                <a:solidFill>
                  <a:srgbClr val="60607D"/>
                </a:solidFill>
              </a:rPr>
              <a:t>[Date]</a:t>
            </a:r>
          </a:p>
          <a:p>
            <a:pPr algn="l">
              <a:spcAft>
                <a:spcPts val="500"/>
              </a:spcAft>
            </a:pPr>
            <a:r>
              <a:rPr sz="1100" b="0" i="1">
                <a:solidFill>
                  <a:srgbClr val="60607D"/>
                </a:solidFill>
              </a:rPr>
              <a:t>[What is done by then]</a:t>
            </a:r>
          </a:p>
        </p:txBody>
      </p:sp>
      <p:sp>
        <p:nvSpPr>
          <p:cNvPr id="534" name="Oval 533"/>
          <p:cNvSpPr/>
          <p:nvPr/>
        </p:nvSpPr>
        <p:spPr>
          <a:xfrm>
            <a:off x="7629929" y="4288368"/>
            <a:ext cx="182880" cy="182880"/>
          </a:xfrm>
          <a:prstGeom prst="ellipse">
            <a:avLst/>
          </a:prstGeom>
          <a:solidFill>
            <a:srgbClr val="FFFFFF"/>
          </a:solidFill>
          <a:ln w="19050">
            <a:solidFill>
              <a:srgbClr val="D6D6DF"/>
            </a:solidFill>
          </a:ln>
        </p:spPr>
        <p:txBody>
          <a:bodyPr rtlCol="0" anchor="ctr"/>
          <a:lstStyle/>
          <a:p>
            <a:pPr algn="ctr"/>
            <a:endParaRPr/>
          </a:p>
        </p:txBody>
      </p:sp>
      <p:sp>
        <p:nvSpPr>
          <p:cNvPr id="535" name="Rounded Rectangle 534"/>
          <p:cNvSpPr/>
          <p:nvPr/>
        </p:nvSpPr>
        <p:spPr>
          <a:xfrm>
            <a:off x="6958684" y="4562688"/>
            <a:ext cx="1525371"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Aft>
                <a:spcPts val="500"/>
              </a:spcAft>
            </a:pPr>
            <a:r>
              <a:rPr sz="1100" b="0" i="1">
                <a:solidFill>
                  <a:srgbClr val="60607D"/>
                </a:solidFill>
              </a:rPr>
              <a:t>[Date]</a:t>
            </a:r>
          </a:p>
          <a:p>
            <a:pPr algn="l">
              <a:spcAft>
                <a:spcPts val="500"/>
              </a:spcAft>
            </a:pPr>
            <a:r>
              <a:rPr sz="1100" b="0" i="1">
                <a:solidFill>
                  <a:srgbClr val="60607D"/>
                </a:solidFill>
              </a:rPr>
              <a:t>[What is done by then]</a:t>
            </a:r>
          </a:p>
        </p:txBody>
      </p:sp>
      <p:sp>
        <p:nvSpPr>
          <p:cNvPr id="536" name="Oval 535"/>
          <p:cNvSpPr/>
          <p:nvPr/>
        </p:nvSpPr>
        <p:spPr>
          <a:xfrm>
            <a:off x="9255300" y="4288368"/>
            <a:ext cx="182880" cy="182880"/>
          </a:xfrm>
          <a:prstGeom prst="ellipse">
            <a:avLst/>
          </a:prstGeom>
          <a:solidFill>
            <a:srgbClr val="FFFFFF"/>
          </a:solidFill>
          <a:ln w="19050">
            <a:solidFill>
              <a:srgbClr val="D6D6DF"/>
            </a:solidFill>
          </a:ln>
        </p:spPr>
        <p:txBody>
          <a:bodyPr rtlCol="0" anchor="ctr"/>
          <a:lstStyle/>
          <a:p>
            <a:pPr algn="ctr"/>
            <a:endParaRPr/>
          </a:p>
        </p:txBody>
      </p:sp>
      <p:sp>
        <p:nvSpPr>
          <p:cNvPr id="537" name="Rounded Rectangle 536"/>
          <p:cNvSpPr/>
          <p:nvPr/>
        </p:nvSpPr>
        <p:spPr>
          <a:xfrm>
            <a:off x="8584055" y="4562688"/>
            <a:ext cx="1525371"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Aft>
                <a:spcPts val="500"/>
              </a:spcAft>
            </a:pPr>
            <a:r>
              <a:rPr sz="1100" b="0" i="1">
                <a:solidFill>
                  <a:srgbClr val="60607D"/>
                </a:solidFill>
              </a:rPr>
              <a:t>[Date]</a:t>
            </a:r>
          </a:p>
          <a:p>
            <a:pPr algn="l">
              <a:spcAft>
                <a:spcPts val="500"/>
              </a:spcAft>
            </a:pPr>
            <a:r>
              <a:rPr sz="1100" b="0" i="1">
                <a:solidFill>
                  <a:srgbClr val="60607D"/>
                </a:solidFill>
              </a:rPr>
              <a:t>[What is done by then]</a:t>
            </a:r>
          </a:p>
        </p:txBody>
      </p:sp>
      <p:sp>
        <p:nvSpPr>
          <p:cNvPr id="538" name="Oval 537"/>
          <p:cNvSpPr/>
          <p:nvPr/>
        </p:nvSpPr>
        <p:spPr>
          <a:xfrm>
            <a:off x="10880671" y="4288368"/>
            <a:ext cx="182880" cy="182880"/>
          </a:xfrm>
          <a:prstGeom prst="ellipse">
            <a:avLst/>
          </a:prstGeom>
          <a:solidFill>
            <a:srgbClr val="FFFFFF"/>
          </a:solidFill>
          <a:ln w="19050">
            <a:solidFill>
              <a:srgbClr val="D6D6DF"/>
            </a:solidFill>
          </a:ln>
        </p:spPr>
        <p:txBody>
          <a:bodyPr rtlCol="0" anchor="ctr"/>
          <a:lstStyle/>
          <a:p>
            <a:pPr algn="ctr"/>
            <a:endParaRPr/>
          </a:p>
        </p:txBody>
      </p:sp>
      <p:sp>
        <p:nvSpPr>
          <p:cNvPr id="539" name="Rounded Rectangle 538"/>
          <p:cNvSpPr/>
          <p:nvPr/>
        </p:nvSpPr>
        <p:spPr>
          <a:xfrm>
            <a:off x="10209426" y="4562688"/>
            <a:ext cx="1525371"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Bef>
                <a:spcPts val="200"/>
              </a:spcBef>
              <a:spcAft>
                <a:spcPts val="200"/>
              </a:spcAft>
            </a:pPr>
            <a:r>
              <a:rPr sz="850" b="1" i="0" cap="all" spc="100">
                <a:solidFill>
                  <a:srgbClr val="60607D"/>
                </a:solidFill>
              </a:rPr>
              <a:t>The target</a:t>
            </a:r>
          </a:p>
          <a:p>
            <a:pPr algn="l">
              <a:spcBef>
                <a:spcPts val="400"/>
              </a:spcBef>
              <a:spcAft>
                <a:spcPts val="200"/>
              </a:spcAft>
            </a:pPr>
            <a:r>
              <a:rPr sz="850" b="1" i="0">
                <a:solidFill>
                  <a:srgbClr val="000000"/>
                </a:solidFill>
              </a:rPr>
              <a:t>MVP done</a:t>
            </a:r>
          </a:p>
          <a:p>
            <a:pPr algn="l">
              <a:spcAft>
                <a:spcPts val="500"/>
              </a:spcAft>
            </a:pPr>
            <a:r>
              <a:rPr sz="850" b="0" i="1">
                <a:solidFill>
                  <a:srgbClr val="60607D"/>
                </a:solidFill>
              </a:rPr>
              <a:t>[Date we are shooting for.]</a:t>
            </a:r>
          </a:p>
        </p:txBody>
      </p:sp>
      <p:sp>
        <p:nvSpPr>
          <p:cNvPr id="540" name="Rounded Rectangle 539"/>
          <p:cNvSpPr/>
          <p:nvPr/>
        </p:nvSpPr>
        <p:spPr>
          <a:xfrm>
            <a:off x="457200" y="5462688"/>
            <a:ext cx="5563800" cy="93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91440" rIns="182880" bIns="36576" rtlCol="0" anchor="t"/>
          <a:lstStyle/>
          <a:p>
            <a:pPr algn="l">
              <a:spcAft>
                <a:spcPts val="600"/>
              </a:spcAft>
            </a:pPr>
            <a:r>
              <a:rPr sz="1100" b="1" i="0" cap="all" spc="60">
                <a:solidFill>
                  <a:srgbClr val="000000"/>
                </a:solidFill>
              </a:rPr>
              <a:t>Team</a:t>
            </a:r>
          </a:p>
        </p:txBody>
      </p:sp>
      <p:sp>
        <p:nvSpPr>
          <p:cNvPr id="541" name="Rounded Rectangle 540"/>
          <p:cNvSpPr/>
          <p:nvPr/>
        </p:nvSpPr>
        <p:spPr>
          <a:xfrm>
            <a:off x="667512" y="5791872"/>
            <a:ext cx="636422" cy="246888"/>
          </a:xfrm>
          <a:prstGeom prst="roundRect">
            <a:avLst>
              <a:gd name="adj" fmla="val 50000"/>
            </a:avLst>
          </a:prstGeom>
          <a:solidFill>
            <a:srgbClr val="FFFFFF"/>
          </a:solidFill>
          <a:ln w="12700">
            <a:solidFill>
              <a:srgbClr val="000000"/>
            </a:solidFill>
          </a:ln>
        </p:spPr>
        <p:txBody>
          <a:bodyPr wrap="none" lIns="0" tIns="0" rIns="0" bIns="0" rtlCol="0" anchor="ctr"/>
          <a:lstStyle/>
          <a:p>
            <a:pPr algn="ctr"/>
            <a:r>
              <a:rPr sz="900" b="1" i="0">
                <a:solidFill>
                  <a:srgbClr val="000000"/>
                </a:solidFill>
              </a:rPr>
              <a:t>BU COOs</a:t>
            </a:r>
          </a:p>
        </p:txBody>
      </p:sp>
      <p:sp>
        <p:nvSpPr>
          <p:cNvPr id="542" name="Rounded Rectangle 541"/>
          <p:cNvSpPr/>
          <p:nvPr/>
        </p:nvSpPr>
        <p:spPr>
          <a:xfrm>
            <a:off x="1386230" y="5791872"/>
            <a:ext cx="1946888" cy="246888"/>
          </a:xfrm>
          <a:prstGeom prst="roundRect">
            <a:avLst>
              <a:gd name="adj" fmla="val 50000"/>
            </a:avLst>
          </a:prstGeom>
          <a:solidFill>
            <a:srgbClr val="FFFFFF"/>
          </a:solidFill>
          <a:ln w="12700">
            <a:solidFill>
              <a:srgbClr val="000000"/>
            </a:solidFill>
          </a:ln>
        </p:spPr>
        <p:txBody>
          <a:bodyPr wrap="none" lIns="0" tIns="0" rIns="0" bIns="0" rtlCol="0" anchor="ctr"/>
          <a:lstStyle/>
          <a:p>
            <a:pPr algn="ctr"/>
            <a:r>
              <a:rPr sz="900" b="1" i="0">
                <a:solidFill>
                  <a:srgbClr val="000000"/>
                </a:solidFill>
              </a:rPr>
              <a:t>Enterprise Project Management</a:t>
            </a:r>
          </a:p>
        </p:txBody>
      </p:sp>
      <p:sp>
        <p:nvSpPr>
          <p:cNvPr id="543" name="Rounded Rectangle 542"/>
          <p:cNvSpPr/>
          <p:nvPr/>
        </p:nvSpPr>
        <p:spPr>
          <a:xfrm>
            <a:off x="6171000" y="5462688"/>
            <a:ext cx="5563800" cy="93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91440" rIns="182880" bIns="36576" rtlCol="0" anchor="t"/>
          <a:lstStyle/>
          <a:p>
            <a:pPr algn="l">
              <a:spcAft>
                <a:spcPts val="600"/>
              </a:spcAft>
            </a:pPr>
            <a:r>
              <a:rPr sz="1100" b="1" i="0" cap="all" spc="60">
                <a:solidFill>
                  <a:srgbClr val="000000"/>
                </a:solidFill>
              </a:rPr>
              <a:t>Partners</a:t>
            </a:r>
          </a:p>
        </p:txBody>
      </p:sp>
      <p:sp>
        <p:nvSpPr>
          <p:cNvPr id="544" name="Rounded Rectangle 543"/>
          <p:cNvSpPr/>
          <p:nvPr/>
        </p:nvSpPr>
        <p:spPr>
          <a:xfrm>
            <a:off x="6381312" y="5791872"/>
            <a:ext cx="1291655" cy="246888"/>
          </a:xfrm>
          <a:prstGeom prst="roundRect">
            <a:avLst>
              <a:gd name="adj" fmla="val 50000"/>
            </a:avLst>
          </a:prstGeom>
          <a:solidFill>
            <a:srgbClr val="FFFFFF"/>
          </a:solidFill>
          <a:ln w="12700">
            <a:solidFill>
              <a:srgbClr val="D6D6DF"/>
            </a:solidFill>
          </a:ln>
        </p:spPr>
        <p:txBody>
          <a:bodyPr wrap="none" lIns="0" tIns="0" rIns="0" bIns="0" rtlCol="0" anchor="ctr"/>
          <a:lstStyle/>
          <a:p>
            <a:pPr algn="ctr"/>
            <a:r>
              <a:rPr sz="900" b="0" i="1">
                <a:solidFill>
                  <a:srgbClr val="60607D"/>
                </a:solidFill>
              </a:rPr>
              <a:t>[Who we work with]</a:t>
            </a:r>
          </a:p>
        </p:txBody>
      </p:sp>
      <p:sp>
        <p:nvSpPr>
          <p:cNvPr id="545" name="Rounded Rectangle 544"/>
          <p:cNvSpPr/>
          <p:nvPr/>
        </p:nvSpPr>
        <p:spPr>
          <a:xfrm>
            <a:off x="7755263" y="5791872"/>
            <a:ext cx="1291655" cy="246888"/>
          </a:xfrm>
          <a:prstGeom prst="roundRect">
            <a:avLst>
              <a:gd name="adj" fmla="val 50000"/>
            </a:avLst>
          </a:prstGeom>
          <a:solidFill>
            <a:srgbClr val="FFFFFF"/>
          </a:solidFill>
          <a:ln w="12700">
            <a:solidFill>
              <a:srgbClr val="D6D6DF"/>
            </a:solidFill>
          </a:ln>
        </p:spPr>
        <p:txBody>
          <a:bodyPr wrap="none" lIns="0" tIns="0" rIns="0" bIns="0" rtlCol="0" anchor="ctr"/>
          <a:lstStyle/>
          <a:p>
            <a:pPr algn="ctr"/>
            <a:r>
              <a:rPr sz="900" b="0" i="1">
                <a:solidFill>
                  <a:srgbClr val="60607D"/>
                </a:solidFill>
              </a:rPr>
              <a:t>[Who we work with]</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17" name="Picture 516" descr="hero_p2.jpg"/>
          <p:cNvPicPr>
            <a:picLocks noChangeAspect="1"/>
          </p:cNvPicPr>
          <p:nvPr/>
        </p:nvPicPr>
        <p:blipFill>
          <a:blip r:embed="rId3"/>
          <a:stretch>
            <a:fillRect/>
          </a:stretch>
        </p:blipFill>
        <p:spPr>
          <a:xfrm>
            <a:off x="0" y="0"/>
            <a:ext cx="12192000" cy="1000000"/>
          </a:xfrm>
          <a:prstGeom prst="rect">
            <a:avLst/>
          </a:prstGeom>
        </p:spPr>
      </p:pic>
      <p:sp>
        <p:nvSpPr>
          <p:cNvPr id="518" name="Rectangle 517"/>
          <p:cNvSpPr/>
          <p:nvPr/>
        </p:nvSpPr>
        <p:spPr>
          <a:xfrm>
            <a:off x="0" y="0"/>
            <a:ext cx="12192000" cy="1000000"/>
          </a:xfrm>
          <a:prstGeom prst="rect">
            <a:avLst/>
          </a:prstGeom>
          <a:gradFill rotWithShape="1">
            <a:gsLst>
              <a:gs pos="0">
                <a:srgbClr val="000000">
                  <a:alpha val="88000"/>
                </a:srgbClr>
              </a:gs>
              <a:gs pos="50000">
                <a:srgbClr val="000000">
                  <a:alpha val="72000"/>
                </a:srgbClr>
              </a:gs>
              <a:gs pos="100000">
                <a:srgbClr val="000000">
                  <a:alpha val="60000"/>
                </a:srgbClr>
              </a:gs>
            </a:gsLst>
            <a:lin ang="0" scaled="0"/>
          </a:gradFill>
          <a:ln>
            <a:noFill/>
          </a:ln>
        </p:spPr>
        <p:txBody>
          <a:bodyPr rtlCol="0" anchor="ctr"/>
          <a:lstStyle/>
          <a:p>
            <a:pPr algn="ctr"/>
            <a:endParaRP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Adoption &amp; change management</a:t>
            </a:r>
          </a:p>
        </p:txBody>
      </p:sp>
      <p:sp>
        <p:nvSpPr>
          <p:cNvPr id="4" name="Text Placeholder 3"/>
          <p:cNvSpPr>
            <a:spLocks noGrp="1"/>
          </p:cNvSpPr>
          <p:nvPr>
            <p:ph type="body" sz="quarter" idx="12"/>
          </p:nvPr>
        </p:nvSpPr>
        <p:spPr>
          <a:xfrm>
            <a:off x="457200" y="170000"/>
            <a:ext cx="8000000" cy="182880"/>
          </a:xfrm>
        </p:spPr>
        <p:txBody>
          <a:bodyPr/>
          <a:lstStyle/>
          <a:p>
            <a:r>
              <a:rPr>
                <a:solidFill>
                  <a:srgbClr val="0391F2"/>
                </a:solidFill>
              </a:rPr>
              <a:t>ACCOUNTABILITY FRAMEWORK · CLICK-DOWN · WHAT WE ARE CHANGING</a:t>
            </a:r>
          </a:p>
        </p:txBody>
      </p:sp>
      <p:sp>
        <p:nvSpPr>
          <p:cNvPr id="13" name="Rounded Rectangle 12">
            <a:extLst>
              <a:ext uri="{FF2B5EF4-FFF2-40B4-BE49-F238E27FC236}">
                <a16:creationId xmlns:a16="http://schemas.microsoft.com/office/drawing/2014/main" id="{5637A419-FF94-DBCB-082F-42BC6E7DAE00}"/>
              </a:ext>
            </a:extLst>
          </p:cNvPr>
          <p:cNvSpPr>
            <a:spLocks/>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wrap="square" lIns="150000" rIns="120000" rtlCol="0" anchor="ctr">
            <a:noAutofit/>
          </a:bodyPr>
          <a:lstStyle/>
          <a:p>
            <a:r>
              <a:rPr lang="en-US" sz="1050" b="1">
                <a:solidFill>
                  <a:srgbClr val="FFFFFF"/>
                </a:solidFill>
                <a:cs typeface="+mn-cs"/>
              </a:rPr>
              <a:t>Owner(s)</a:t>
            </a:r>
          </a:p>
          <a:p>
            <a:r>
              <a:rPr lang="en-US" sz="900" i="0">
                <a:solidFill>
                  <a:srgbClr val="FFFFFF"/>
                </a:solidFill>
                <a:cs typeface="+mn-cs"/>
              </a:rPr>
              <a:t>Missy Foristall, John Ewen</a:t>
            </a:r>
          </a:p>
        </p:txBody>
      </p:sp>
      <p:sp>
        <p:nvSpPr>
          <p:cNvPr id="519" name="Rounded Rectangle 518"/>
          <p:cNvSpPr/>
          <p:nvPr/>
        </p:nvSpPr>
        <p:spPr>
          <a:xfrm>
            <a:off x="457200" y="1170000"/>
            <a:ext cx="2706900" cy="50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000000"/>
                </a:solidFill>
              </a:rPr>
              <a:t>1. Strategy &amp; Alignment</a:t>
            </a:r>
          </a:p>
          <a:p>
            <a:pPr algn="l">
              <a:spcBef>
                <a:spcPts val="400"/>
              </a:spcBef>
              <a:spcAft>
                <a:spcPts val="200"/>
              </a:spcAft>
            </a:pPr>
            <a:r>
              <a:rPr sz="1300" b="1" i="0">
                <a:solidFill>
                  <a:srgbClr val="000000"/>
                </a:solidFill>
              </a:rPr>
              <a:t>The why</a:t>
            </a:r>
          </a:p>
          <a:p>
            <a:pPr algn="l">
              <a:spcAft>
                <a:spcPts val="500"/>
              </a:spcAft>
            </a:pPr>
            <a:r>
              <a:rPr sz="1300" b="0" i="1">
                <a:solidFill>
                  <a:srgbClr val="60607D"/>
                </a:solidFill>
              </a:rPr>
              <a:t>[The business reason for this change and the value it brings.]</a:t>
            </a:r>
          </a:p>
          <a:p>
            <a:pPr algn="l">
              <a:spcBef>
                <a:spcPts val="400"/>
              </a:spcBef>
              <a:spcAft>
                <a:spcPts val="200"/>
              </a:spcAft>
            </a:pPr>
            <a:r>
              <a:rPr sz="1300" b="1" i="0">
                <a:solidFill>
                  <a:srgbClr val="000000"/>
                </a:solidFill>
              </a:rPr>
              <a:t>Who is affected</a:t>
            </a:r>
          </a:p>
          <a:p>
            <a:pPr algn="l">
              <a:spcAft>
                <a:spcPts val="500"/>
              </a:spcAft>
            </a:pPr>
            <a:r>
              <a:rPr sz="1300" b="0" i="1">
                <a:solidFill>
                  <a:srgbClr val="60607D"/>
                </a:solidFill>
              </a:rPr>
              <a:t>[Who is impacted, how their day-to-day changes, and how much pushback to expect.]</a:t>
            </a:r>
          </a:p>
          <a:p>
            <a:pPr algn="l">
              <a:spcBef>
                <a:spcPts val="400"/>
              </a:spcBef>
              <a:spcAft>
                <a:spcPts val="200"/>
              </a:spcAft>
            </a:pPr>
            <a:r>
              <a:rPr sz="1300" b="1" i="0">
                <a:solidFill>
                  <a:srgbClr val="000000"/>
                </a:solidFill>
              </a:rPr>
              <a:t>Who is backing it</a:t>
            </a:r>
          </a:p>
          <a:p>
            <a:pPr algn="l">
              <a:spcAft>
                <a:spcPts val="500"/>
              </a:spcAft>
            </a:pPr>
            <a:r>
              <a:rPr sz="1300" b="0" i="1">
                <a:solidFill>
                  <a:srgbClr val="60607D"/>
                </a:solidFill>
              </a:rPr>
              <a:t>[Executive sponsors, approvers, and the champions who will drive adoption locally.]</a:t>
            </a:r>
          </a:p>
        </p:txBody>
      </p:sp>
      <p:sp>
        <p:nvSpPr>
          <p:cNvPr id="520" name="Rounded Rectangle 519"/>
          <p:cNvSpPr/>
          <p:nvPr/>
        </p:nvSpPr>
        <p:spPr>
          <a:xfrm>
            <a:off x="3314100" y="1170000"/>
            <a:ext cx="2706900" cy="50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000000"/>
                </a:solidFill>
              </a:rPr>
              <a:t>2. Communications Plan</a:t>
            </a:r>
          </a:p>
          <a:p>
            <a:pPr algn="l">
              <a:spcBef>
                <a:spcPts val="400"/>
              </a:spcBef>
              <a:spcAft>
                <a:spcPts val="200"/>
              </a:spcAft>
            </a:pPr>
            <a:r>
              <a:rPr sz="1300" b="1" i="0">
                <a:solidFill>
                  <a:srgbClr val="000000"/>
                </a:solidFill>
              </a:rPr>
              <a:t>Core messages</a:t>
            </a:r>
          </a:p>
          <a:p>
            <a:pPr algn="l">
              <a:spcAft>
                <a:spcPts val="500"/>
              </a:spcAft>
            </a:pPr>
            <a:r>
              <a:rPr sz="1300" b="0" i="1">
                <a:solidFill>
                  <a:srgbClr val="60607D"/>
                </a:solidFill>
              </a:rPr>
              <a:t>[The standard talking points, tailored for each group that is affected.]</a:t>
            </a:r>
          </a:p>
          <a:p>
            <a:pPr algn="l">
              <a:spcBef>
                <a:spcPts val="400"/>
              </a:spcBef>
              <a:spcAft>
                <a:spcPts val="200"/>
              </a:spcAft>
            </a:pPr>
            <a:r>
              <a:rPr sz="1300" b="1" i="0">
                <a:solidFill>
                  <a:srgbClr val="000000"/>
                </a:solidFill>
              </a:rPr>
              <a:t>Channels</a:t>
            </a:r>
          </a:p>
          <a:p>
            <a:pPr algn="l">
              <a:spcAft>
                <a:spcPts val="500"/>
              </a:spcAft>
            </a:pPr>
            <a:r>
              <a:rPr sz="1300" b="0" i="1">
                <a:solidFill>
                  <a:srgbClr val="60607D"/>
                </a:solidFill>
              </a:rPr>
              <a:t>[Where we will say it: all-hands, email, internal portals, team meetings.]</a:t>
            </a:r>
          </a:p>
          <a:p>
            <a:pPr algn="l">
              <a:spcBef>
                <a:spcPts val="400"/>
              </a:spcBef>
              <a:spcAft>
                <a:spcPts val="200"/>
              </a:spcAft>
            </a:pPr>
            <a:r>
              <a:rPr sz="1300" b="1" i="0">
                <a:solidFill>
                  <a:srgbClr val="000000"/>
                </a:solidFill>
              </a:rPr>
              <a:t>Timing</a:t>
            </a:r>
          </a:p>
          <a:p>
            <a:pPr algn="l">
              <a:spcAft>
                <a:spcPts val="500"/>
              </a:spcAft>
            </a:pPr>
            <a:r>
              <a:rPr sz="1300" b="0" i="1">
                <a:solidFill>
                  <a:srgbClr val="60607D"/>
                </a:solidFill>
              </a:rPr>
              <a:t>[The schedule of announcements, teasers and reminders before and after launch.]</a:t>
            </a:r>
          </a:p>
        </p:txBody>
      </p:sp>
      <p:sp>
        <p:nvSpPr>
          <p:cNvPr id="521" name="Rounded Rectangle 520"/>
          <p:cNvSpPr/>
          <p:nvPr/>
        </p:nvSpPr>
        <p:spPr>
          <a:xfrm>
            <a:off x="6171000" y="1170000"/>
            <a:ext cx="2706900" cy="50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000000"/>
                </a:solidFill>
              </a:rPr>
              <a:t>3. Enablement</a:t>
            </a:r>
          </a:p>
          <a:p>
            <a:pPr algn="l">
              <a:spcBef>
                <a:spcPts val="400"/>
              </a:spcBef>
              <a:spcAft>
                <a:spcPts val="200"/>
              </a:spcAft>
            </a:pPr>
            <a:r>
              <a:rPr sz="1300" b="1" i="0">
                <a:solidFill>
                  <a:srgbClr val="000000"/>
                </a:solidFill>
              </a:rPr>
              <a:t>Training</a:t>
            </a:r>
          </a:p>
          <a:p>
            <a:pPr algn="l">
              <a:spcAft>
                <a:spcPts val="500"/>
              </a:spcAft>
            </a:pPr>
            <a:r>
              <a:rPr sz="1300" b="0" i="1">
                <a:solidFill>
                  <a:srgbClr val="60607D"/>
                </a:solidFill>
              </a:rPr>
              <a:t>[How people will learn: live sessions, self-serve modules, documentation.]</a:t>
            </a:r>
          </a:p>
          <a:p>
            <a:pPr algn="l">
              <a:spcBef>
                <a:spcPts val="400"/>
              </a:spcBef>
              <a:spcAft>
                <a:spcPts val="200"/>
              </a:spcAft>
            </a:pPr>
            <a:r>
              <a:rPr sz="1300" b="1" i="0">
                <a:solidFill>
                  <a:srgbClr val="000000"/>
                </a:solidFill>
              </a:rPr>
              <a:t>Where to find things</a:t>
            </a:r>
          </a:p>
          <a:p>
            <a:pPr algn="l">
              <a:spcAft>
                <a:spcPts val="500"/>
              </a:spcAft>
            </a:pPr>
            <a:r>
              <a:rPr sz="1300" b="0" i="1">
                <a:solidFill>
                  <a:srgbClr val="60607D"/>
                </a:solidFill>
              </a:rPr>
              <a:t>[One place for user guides, quick reference cards and FAQs.]</a:t>
            </a:r>
          </a:p>
          <a:p>
            <a:pPr algn="l">
              <a:spcBef>
                <a:spcPts val="400"/>
              </a:spcBef>
              <a:spcAft>
                <a:spcPts val="200"/>
              </a:spcAft>
            </a:pPr>
            <a:r>
              <a:rPr sz="1300" b="1" i="0">
                <a:solidFill>
                  <a:srgbClr val="000000"/>
                </a:solidFill>
              </a:rPr>
              <a:t>Getting help</a:t>
            </a:r>
          </a:p>
          <a:p>
            <a:pPr algn="l">
              <a:spcAft>
                <a:spcPts val="500"/>
              </a:spcAft>
            </a:pPr>
            <a:r>
              <a:rPr sz="1300" b="0" i="1">
                <a:solidFill>
                  <a:srgbClr val="60607D"/>
                </a:solidFill>
              </a:rPr>
              <a:t>[Where people go when they get stuck during the rollout.]</a:t>
            </a:r>
          </a:p>
        </p:txBody>
      </p:sp>
      <p:sp>
        <p:nvSpPr>
          <p:cNvPr id="522" name="Rounded Rectangle 521"/>
          <p:cNvSpPr/>
          <p:nvPr/>
        </p:nvSpPr>
        <p:spPr>
          <a:xfrm>
            <a:off x="9027900" y="1170000"/>
            <a:ext cx="2706900" cy="50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000000"/>
                </a:solidFill>
              </a:rPr>
              <a:t>4. Measuring &amp; Sustaining</a:t>
            </a:r>
          </a:p>
          <a:p>
            <a:pPr algn="l">
              <a:spcBef>
                <a:spcPts val="400"/>
              </a:spcBef>
              <a:spcAft>
                <a:spcPts val="200"/>
              </a:spcAft>
            </a:pPr>
            <a:r>
              <a:rPr sz="1300" b="1" i="0">
                <a:solidFill>
                  <a:srgbClr val="000000"/>
                </a:solidFill>
              </a:rPr>
              <a:t>Success measures</a:t>
            </a:r>
          </a:p>
          <a:p>
            <a:pPr algn="l">
              <a:spcAft>
                <a:spcPts val="500"/>
              </a:spcAft>
            </a:pPr>
            <a:r>
              <a:rPr sz="1300" b="0" i="1">
                <a:solidFill>
                  <a:srgbClr val="60607D"/>
                </a:solidFill>
              </a:rPr>
              <a:t>[The numbers that show healthy adoption, such as login rates, task completion and drop-off from the old way.]</a:t>
            </a:r>
          </a:p>
          <a:p>
            <a:pPr algn="l">
              <a:spcBef>
                <a:spcPts val="400"/>
              </a:spcBef>
              <a:spcAft>
                <a:spcPts val="200"/>
              </a:spcAft>
            </a:pPr>
            <a:r>
              <a:rPr sz="1300" b="1" i="0">
                <a:solidFill>
                  <a:srgbClr val="000000"/>
                </a:solidFill>
              </a:rPr>
              <a:t>Feedback</a:t>
            </a:r>
          </a:p>
          <a:p>
            <a:pPr algn="l">
              <a:spcAft>
                <a:spcPts val="500"/>
              </a:spcAft>
            </a:pPr>
            <a:r>
              <a:rPr sz="1300" b="0" i="1">
                <a:solidFill>
                  <a:srgbClr val="60607D"/>
                </a:solidFill>
              </a:rPr>
              <a:t>[How we capture friction and sentiment after launch so we can fix things quickly.]</a:t>
            </a:r>
          </a:p>
          <a:p>
            <a:pPr algn="l">
              <a:spcBef>
                <a:spcPts val="400"/>
              </a:spcBef>
              <a:spcAft>
                <a:spcPts val="200"/>
              </a:spcAft>
            </a:pPr>
            <a:r>
              <a:rPr sz="1300" b="1" i="0">
                <a:solidFill>
                  <a:srgbClr val="000000"/>
                </a:solidFill>
              </a:rPr>
              <a:t>Long-term owner</a:t>
            </a:r>
          </a:p>
          <a:p>
            <a:pPr algn="l">
              <a:spcAft>
                <a:spcPts val="500"/>
              </a:spcAft>
            </a:pPr>
            <a:r>
              <a:rPr sz="1300" b="0" i="1">
                <a:solidFill>
                  <a:srgbClr val="60607D"/>
                </a:solidFill>
              </a:rPr>
              <a:t>[Who owns ongoing updates, new-hire onboarding and keeping the process current.]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21" name="Picture 520" descr="rail_p2.jpg"/>
          <p:cNvPicPr>
            <a:picLocks noChangeAspect="1"/>
          </p:cNvPicPr>
          <p:nvPr/>
        </p:nvPicPr>
        <p:blipFill>
          <a:blip r:embed="rId3"/>
          <a:stretch>
            <a:fillRect/>
          </a:stretch>
        </p:blipFill>
        <p:spPr>
          <a:xfrm>
            <a:off x="228600" y="228600"/>
            <a:ext cx="3200000" cy="6171400"/>
          </a:xfrm>
          <a:prstGeom prst="roundRect">
            <a:avLst>
              <a:gd name="adj" fmla="val 3600"/>
            </a:avLst>
          </a:prstGeom>
        </p:spPr>
      </p:pic>
      <p:sp>
        <p:nvSpPr>
          <p:cNvPr id="522" name="Rounded Rectangle 521"/>
          <p:cNvSpPr/>
          <p:nvPr/>
        </p:nvSpPr>
        <p:spPr>
          <a:xfrm>
            <a:off x="228600" y="228600"/>
            <a:ext cx="3200000" cy="6171400"/>
          </a:xfrm>
          <a:prstGeom prst="roundRect">
            <a:avLst>
              <a:gd name="adj" fmla="val 3600"/>
            </a:avLst>
          </a:prstGeom>
          <a:gradFill rotWithShape="1">
            <a:gsLst>
              <a:gs pos="0">
                <a:srgbClr val="000000">
                  <a:alpha val="68000"/>
                </a:srgbClr>
              </a:gs>
              <a:gs pos="45000">
                <a:srgbClr val="000000">
                  <a:alpha val="50000"/>
                </a:srgbClr>
              </a:gs>
              <a:gs pos="100000">
                <a:srgbClr val="000000">
                  <a:alpha val="82000"/>
                </a:srgbClr>
              </a:gs>
            </a:gsLst>
            <a:lin ang="5400000" scaled="0"/>
          </a:gradFill>
          <a:ln>
            <a:noFill/>
          </a:ln>
        </p:spPr>
        <p:txBody>
          <a:bodyPr rtlCol="0" anchor="ctr"/>
          <a:lstStyle/>
          <a:p>
            <a:pPr algn="ctr"/>
            <a:endParaRPr/>
          </a:p>
        </p:txBody>
      </p:sp>
      <p:sp>
        <p:nvSpPr>
          <p:cNvPr id="523" name="Rounded Rectangle 522"/>
          <p:cNvSpPr/>
          <p:nvPr/>
        </p:nvSpPr>
        <p:spPr>
          <a:xfrm>
            <a:off x="378600" y="378600"/>
            <a:ext cx="2900000" cy="2050000"/>
          </a:xfrm>
          <a:prstGeom prst="roundRect">
            <a:avLst>
              <a:gd name="adj" fmla="val 5000"/>
            </a:avLst>
          </a:prstGeom>
          <a:solidFill>
            <a:srgbClr val="000000">
              <a:alpha val="62000"/>
            </a:srgbClr>
          </a:solidFill>
          <a:ln>
            <a:noFill/>
          </a:ln>
        </p:spPr>
        <p:txBody>
          <a:bodyPr rtlCol="0" anchor="ctr"/>
          <a:lstStyle/>
          <a:p>
            <a:pPr algn="ctr"/>
            <a:endParaRPr/>
          </a:p>
        </p:txBody>
      </p:sp>
      <p:sp>
        <p:nvSpPr>
          <p:cNvPr id="8" name="Text Placeholder 7">
            <a:extLst>
              <a:ext uri="{FF2B5EF4-FFF2-40B4-BE49-F238E27FC236}">
                <a16:creationId xmlns:a16="http://schemas.microsoft.com/office/drawing/2014/main" id="{43A36069-C4E2-A327-FEBF-07750730ECEA}"/>
              </a:ext>
            </a:extLst>
          </p:cNvPr>
          <p:cNvSpPr>
            <a:spLocks noGrp="1"/>
          </p:cNvSpPr>
          <p:nvPr>
            <p:ph type="body" sz="quarter" idx="12"/>
          </p:nvPr>
        </p:nvSpPr>
        <p:spPr>
          <a:xfrm>
            <a:off x="508600" y="558600"/>
            <a:ext cx="2640000" cy="182880"/>
          </a:xfrm>
        </p:spPr>
        <p:txBody>
          <a:bodyPr>
            <a:noAutofit/>
          </a:bodyPr>
          <a:lstStyle/>
          <a:p>
            <a:r>
              <a:rPr lang="en-US" dirty="0">
                <a:solidFill>
                  <a:srgbClr val="0391F2"/>
                </a:solidFill>
              </a:rPr>
              <a:t>OPS PRIORITIES</a:t>
            </a:r>
          </a:p>
        </p:txBody>
      </p:sp>
      <p:sp>
        <p:nvSpPr>
          <p:cNvPr id="21" name="Title 20">
            <a:extLst>
              <a:ext uri="{FF2B5EF4-FFF2-40B4-BE49-F238E27FC236}">
                <a16:creationId xmlns:a16="http://schemas.microsoft.com/office/drawing/2014/main" id="{50CCB795-307F-C643-C7C1-507D8B5B32EB}"/>
              </a:ext>
            </a:extLst>
          </p:cNvPr>
          <p:cNvSpPr>
            <a:spLocks noGrp="1"/>
          </p:cNvSpPr>
          <p:nvPr>
            <p:ph type="title"/>
          </p:nvPr>
        </p:nvSpPr>
        <p:spPr>
          <a:xfrm>
            <a:off x="508600" y="868600"/>
            <a:ext cx="2640000" cy="2300000"/>
          </a:xfrm>
        </p:spPr>
        <p:txBody>
          <a:bodyPr>
            <a:noAutofit/>
          </a:bodyPr>
          <a:lstStyle/>
          <a:p>
            <a:r>
              <a:rPr lang="en-US" sz="2400">
                <a:solidFill>
                  <a:schemeClr val="bg1"/>
                </a:solidFill>
              </a:rPr>
              <a:t>Accountability Framework: Update</a:t>
            </a:r>
          </a:p>
        </p:txBody>
      </p:sp>
      <p:sp>
        <p:nvSpPr>
          <p:cNvPr id="13" name="Rounded Rectangle 12">
            <a:extLst>
              <a:ext uri="{FF2B5EF4-FFF2-40B4-BE49-F238E27FC236}">
                <a16:creationId xmlns:a16="http://schemas.microsoft.com/office/drawing/2014/main" id="{5637A419-FF94-DBCB-082F-42BC6E7DAE00}"/>
              </a:ext>
            </a:extLst>
          </p:cNvPr>
          <p:cNvSpPr>
            <a:spLocks/>
          </p:cNvSpPr>
          <p:nvPr/>
        </p:nvSpPr>
        <p:spPr>
          <a:xfrm>
            <a:off x="508600" y="5340000"/>
            <a:ext cx="2640000" cy="780000"/>
          </a:xfrm>
          <a:prstGeom prst="roundRect">
            <a:avLst>
              <a:gd name="adj" fmla="val 28000"/>
            </a:avLst>
          </a:prstGeom>
          <a:solidFill>
            <a:srgbClr val="000000">
              <a:alpha val="72000"/>
            </a:srgbClr>
          </a:solidFill>
          <a:ln w="9525">
            <a:solidFill>
              <a:srgbClr val="FFFFFF">
                <a:alpha val="45000"/>
              </a:srgbClr>
            </a:solidFill>
          </a:ln>
        </p:spPr>
        <p:txBody>
          <a:bodyPr wrap="square" lIns="150000" rIns="120000" rtlCol="0" anchor="ctr">
            <a:noAutofit/>
          </a:bodyPr>
          <a:lstStyle/>
          <a:p>
            <a:r>
              <a:rPr lang="en-US" sz="1050" b="1">
                <a:solidFill>
                  <a:srgbClr val="FFFFFF"/>
                </a:solidFill>
                <a:cs typeface="+mn-cs"/>
              </a:rPr>
              <a:t>Owner(s)</a:t>
            </a:r>
          </a:p>
          <a:p>
            <a:r>
              <a:rPr lang="en-US" sz="900" i="0">
                <a:solidFill>
                  <a:srgbClr val="FFFFFF"/>
                </a:solidFill>
                <a:cs typeface="+mn-cs"/>
              </a:rPr>
              <a:t>Missy Foristall, John Ewen</a:t>
            </a:r>
          </a:p>
        </p:txBody>
      </p:sp>
      <p:sp>
        <p:nvSpPr>
          <p:cNvPr id="518" name="Card WHAT HAS BEEN ACCOMPLISHED">
            <a:extLst>
              <a:ext uri="{FF2B5EF4-FFF2-40B4-BE49-F238E27FC236}">
                <a16:creationId xmlns:a16="http://schemas.microsoft.com/office/drawing/2014/main" id="{615D6856-4CC4-0C29-A8AF-F4BF58F532AB}"/>
              </a:ext>
            </a:extLst>
          </p:cNvPr>
          <p:cNvSpPr>
            <a:spLocks noGrp="1" noRot="1" noMove="1" noResize="1" noEditPoints="1" noAdjustHandles="1" noChangeArrowheads="1" noChangeShapeType="1"/>
          </p:cNvSpPr>
          <p:nvPr/>
        </p:nvSpPr>
        <p:spPr>
          <a:xfrm>
            <a:off x="3628600" y="228600"/>
            <a:ext cx="4092400" cy="34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35000" tIns="200000" rIns="210000" bIns="90000" rtlCol="0" anchor="t">
            <a:noAutofit/>
          </a:bodyPr>
          <a:lstStyle/>
          <a:p>
            <a:pPr>
              <a:spcAft>
                <a:spcPts val="600"/>
              </a:spcAft>
            </a:pPr>
            <a:r>
              <a:rPr lang="en-US" sz="1200" b="1">
                <a:solidFill>
                  <a:srgbClr val="000000"/>
                </a:solidFill>
              </a:rPr>
              <a:t>WHAT HAS BEEN ACCOMPLISHED</a:t>
            </a:r>
          </a:p>
          <a:p>
            <a:pPr marL="171450" indent="-171450">
              <a:spcAft>
                <a:spcPts val="600"/>
              </a:spcAft>
              <a:buFont typeface="Arial" panose="020B0604020202020204" pitchFamily="34" charset="0"/>
              <a:buChar char="•"/>
            </a:pPr>
            <a:r>
              <a:rPr lang="en-US" sz="1300"/>
              <a:t>Workstream launching to define standard delivery roles and project-level structures across major accounts.</a:t>
            </a:r>
          </a:p>
          <a:p>
            <a:pPr marL="171450" indent="-171450">
              <a:spcAft>
                <a:spcPts val="600"/>
              </a:spcAft>
              <a:buFont typeface="Arial" panose="020B0604020202020204" pitchFamily="34" charset="0"/>
              <a:buChar char="•"/>
            </a:pPr>
            <a:r>
              <a:rPr lang="en-US" sz="1300"/>
              <a:t>BU COOs and Enterprise Project Management are co-leading this initiative.</a:t>
            </a:r>
          </a:p>
        </p:txBody>
      </p:sp>
      <p:sp>
        <p:nvSpPr>
          <p:cNvPr id="519" name="Card NEXT MILESTONES">
            <a:extLst>
              <a:ext uri="{FF2B5EF4-FFF2-40B4-BE49-F238E27FC236}">
                <a16:creationId xmlns:a16="http://schemas.microsoft.com/office/drawing/2014/main" id="{615D6856-4CC4-0C29-A8AF-F4BF58F532AB}"/>
              </a:ext>
            </a:extLst>
          </p:cNvPr>
          <p:cNvSpPr>
            <a:spLocks noGrp="1" noRot="1" noMove="1" noResize="1" noEditPoints="1" noAdjustHandles="1" noChangeArrowheads="1" noChangeShapeType="1"/>
          </p:cNvSpPr>
          <p:nvPr/>
        </p:nvSpPr>
        <p:spPr>
          <a:xfrm>
            <a:off x="7871000" y="228600"/>
            <a:ext cx="4092400" cy="34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35000" tIns="200000" rIns="210000" bIns="90000" rtlCol="0" anchor="t">
            <a:noAutofit/>
          </a:bodyPr>
          <a:lstStyle/>
          <a:p>
            <a:pPr>
              <a:spcAft>
                <a:spcPts val="600"/>
              </a:spcAft>
            </a:pPr>
            <a:r>
              <a:rPr lang="en-US" sz="1200" b="1" dirty="0">
                <a:solidFill>
                  <a:srgbClr val="000000"/>
                </a:solidFill>
              </a:rPr>
              <a:t>NEXT MILESTONES</a:t>
            </a:r>
          </a:p>
          <a:p>
            <a:pPr marL="171450" indent="-171450">
              <a:spcAft>
                <a:spcPts val="600"/>
              </a:spcAft>
              <a:buFont typeface="Arial" panose="020B0604020202020204" pitchFamily="34" charset="0"/>
              <a:buChar char="•"/>
            </a:pPr>
            <a:r>
              <a:rPr lang="en-US" sz="1300" dirty="0"/>
              <a:t>Lock in the key accounts in each BU (top 5 major clients per BU): </a:t>
            </a:r>
            <a:r>
              <a:rPr lang="en-US" sz="1300" dirty="0">
                <a:solidFill>
                  <a:srgbClr val="000000"/>
                </a:solidFill>
                <a:highlight>
                  <a:srgbClr val="FFFF00"/>
                </a:highlight>
              </a:rPr>
              <a:t>[enter date].</a:t>
            </a:r>
          </a:p>
          <a:p>
            <a:pPr marL="171450" indent="-171450">
              <a:spcAft>
                <a:spcPts val="600"/>
              </a:spcAft>
              <a:buFont typeface="Arial" panose="020B0604020202020204" pitchFamily="34" charset="0"/>
              <a:buChar char="•"/>
            </a:pPr>
            <a:r>
              <a:rPr lang="en-US" sz="1300" dirty="0"/>
              <a:t>Define the required core roles for the Q4 launch: </a:t>
            </a:r>
            <a:r>
              <a:rPr lang="en-US" sz="1300" dirty="0">
                <a:solidFill>
                  <a:srgbClr val="000000"/>
                </a:solidFill>
                <a:highlight>
                  <a:srgbClr val="FFFF00"/>
                </a:highlight>
              </a:rPr>
              <a:t>[enter date].</a:t>
            </a:r>
          </a:p>
          <a:p>
            <a:pPr marL="171450" indent="-171450">
              <a:spcAft>
                <a:spcPts val="600"/>
              </a:spcAft>
              <a:buFont typeface="Arial" panose="020B0604020202020204" pitchFamily="34" charset="0"/>
              <a:buChar char="•"/>
            </a:pPr>
            <a:r>
              <a:rPr lang="en-US" sz="1300" dirty="0"/>
              <a:t>Start the quarterly reviews of the accountability structure for multitrack programs: Q4.</a:t>
            </a:r>
          </a:p>
        </p:txBody>
      </p:sp>
      <p:sp>
        <p:nvSpPr>
          <p:cNvPr id="520" name="Card WHAT IS IN OUR WAY / WHAT WE NEED FROM YOU">
            <a:extLst>
              <a:ext uri="{FF2B5EF4-FFF2-40B4-BE49-F238E27FC236}">
                <a16:creationId xmlns:a16="http://schemas.microsoft.com/office/drawing/2014/main" id="{615D6856-4CC4-0C29-A8AF-F4BF58F532AB}"/>
              </a:ext>
            </a:extLst>
          </p:cNvPr>
          <p:cNvSpPr>
            <a:spLocks noGrp="1" noRot="1" noMove="1" noResize="1" noEditPoints="1" noAdjustHandles="1" noChangeArrowheads="1" noChangeShapeType="1"/>
          </p:cNvSpPr>
          <p:nvPr/>
        </p:nvSpPr>
        <p:spPr>
          <a:xfrm>
            <a:off x="3628600" y="3778600"/>
            <a:ext cx="8334800" cy="2621400"/>
          </a:xfrm>
          <a:prstGeom prst="roundRect">
            <a:avLst>
              <a:gd name="adj" fmla="val 2400"/>
            </a:avLst>
          </a:prstGeom>
          <a:solidFill>
            <a:srgbClr val="000000"/>
          </a:solidFill>
          <a:ln>
            <a:noFill/>
          </a:ln>
          <a:effectLst>
            <a:outerShdw blurRad="190500" dist="50800" dir="5400000" algn="t" rotWithShape="0">
              <a:srgbClr val="000000">
                <a:alpha val="13000"/>
              </a:srgbClr>
            </a:outerShdw>
          </a:effectLst>
        </p:spPr>
        <p:txBody>
          <a:bodyPr wrap="square" lIns="235000" tIns="200000" rIns="210000" bIns="90000" rtlCol="0" anchor="t">
            <a:noAutofit/>
          </a:bodyPr>
          <a:lstStyle/>
          <a:p>
            <a:pPr>
              <a:spcAft>
                <a:spcPts val="600"/>
              </a:spcAft>
            </a:pPr>
            <a:r>
              <a:rPr lang="en-US" sz="1200" b="1" dirty="0">
                <a:solidFill>
                  <a:srgbClr val="D6D6DF"/>
                </a:solidFill>
              </a:rPr>
              <a:t>WHAT IS IN OUR WAY / WHAT WE NEED FROM YOU</a:t>
            </a:r>
          </a:p>
          <a:p>
            <a:pPr marL="171450" indent="-171450">
              <a:spcAft>
                <a:spcPts val="600"/>
              </a:spcAft>
              <a:buFont typeface="Arial" panose="020B0604020202020204" pitchFamily="34" charset="0"/>
              <a:buChar char="•"/>
            </a:pPr>
            <a:r>
              <a:rPr lang="en-US" sz="1300" dirty="0">
                <a:solidFill>
                  <a:srgbClr val="FFFFFF"/>
                </a:solidFill>
              </a:rPr>
              <a:t>Key accounts in each BU are not yet locked in, and core roles for the Q4 launch are not yet defined.</a:t>
            </a:r>
          </a:p>
          <a:p>
            <a:pPr marL="171450" indent="-171450">
              <a:spcAft>
                <a:spcPts val="600"/>
              </a:spcAft>
              <a:buFont typeface="Arial" panose="020B0604020202020204" pitchFamily="34" charset="0"/>
              <a:buChar char="•"/>
            </a:pPr>
            <a:r>
              <a:rPr lang="en-US" sz="1300" dirty="0">
                <a:solidFill>
                  <a:srgbClr val="FFFFFF"/>
                </a:solidFill>
              </a:rPr>
              <a:t>Change management will be key. These are modifications to our ways of working and new standards that we will need to teach, support, and enforce.</a:t>
            </a:r>
          </a:p>
          <a:p>
            <a:pPr marL="171450" indent="-171450">
              <a:spcAft>
                <a:spcPts val="600"/>
              </a:spcAft>
              <a:buFont typeface="Arial" panose="020B0604020202020204" pitchFamily="34" charset="0"/>
              <a:buChar char="•"/>
            </a:pPr>
            <a:r>
              <a:rPr lang="en-US" sz="1300" dirty="0">
                <a:solidFill>
                  <a:srgbClr val="FFFFFF"/>
                </a:solidFill>
              </a:rPr>
              <a:t>Training and continuous improvement will help the organization embrace new structures and ensure we learn from what works.</a:t>
            </a:r>
          </a:p>
        </p:txBody>
      </p:sp>
      <p:sp>
        <p:nvSpPr>
          <p:cNvPr id="524" name="Rounded Rectangle 523"/>
          <p:cNvSpPr/>
          <p:nvPr/>
        </p:nvSpPr>
        <p:spPr>
          <a:xfrm>
            <a:off x="508600" y="4920000"/>
            <a:ext cx="2640000" cy="330000"/>
          </a:xfrm>
          <a:prstGeom prst="roundRect">
            <a:avLst>
              <a:gd name="adj" fmla="val 28000"/>
            </a:avLst>
          </a:prstGeom>
          <a:solidFill>
            <a:srgbClr val="000000">
              <a:alpha val="72000"/>
            </a:srgbClr>
          </a:solidFill>
          <a:ln w="9525">
            <a:solidFill>
              <a:srgbClr val="FFFFFF">
                <a:alpha val="45000"/>
              </a:srgbClr>
            </a:solidFill>
          </a:ln>
        </p:spPr>
        <p:txBody>
          <a:bodyPr wrap="square" lIns="150000" tIns="20000" rIns="120000" bIns="20000" rtlCol="0" anchor="ctr"/>
          <a:lstStyle/>
          <a:p>
            <a:pPr algn="l"/>
            <a:r>
              <a:rPr sz="900" b="1" i="0">
                <a:solidFill>
                  <a:srgbClr val="FFFFFF"/>
                </a:solidFill>
              </a:rPr>
              <a:t>Last updated: </a:t>
            </a:r>
            <a:r>
              <a:rPr sz="900" b="0" i="1">
                <a:solidFill>
                  <a:srgbClr val="D6D6DF"/>
                </a:solidFill>
              </a:rPr>
              <a:t>[date]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17" name="Picture 516" descr="hero_p2.jpg"/>
          <p:cNvPicPr>
            <a:picLocks noChangeAspect="1"/>
          </p:cNvPicPr>
          <p:nvPr/>
        </p:nvPicPr>
        <p:blipFill>
          <a:blip r:embed="rId4"/>
          <a:stretch>
            <a:fillRect/>
          </a:stretch>
        </p:blipFill>
        <p:spPr>
          <a:xfrm>
            <a:off x="0" y="0"/>
            <a:ext cx="12192000" cy="1000000"/>
          </a:xfrm>
          <a:prstGeom prst="rect">
            <a:avLst/>
          </a:prstGeom>
        </p:spPr>
      </p:pic>
      <p:sp>
        <p:nvSpPr>
          <p:cNvPr id="518" name="Rectangle 517"/>
          <p:cNvSpPr/>
          <p:nvPr/>
        </p:nvSpPr>
        <p:spPr>
          <a:xfrm>
            <a:off x="0" y="0"/>
            <a:ext cx="12192000" cy="1000000"/>
          </a:xfrm>
          <a:prstGeom prst="rect">
            <a:avLst/>
          </a:prstGeom>
          <a:gradFill rotWithShape="1">
            <a:gsLst>
              <a:gs pos="0">
                <a:srgbClr val="000000">
                  <a:alpha val="88000"/>
                </a:srgbClr>
              </a:gs>
              <a:gs pos="50000">
                <a:srgbClr val="000000">
                  <a:alpha val="72000"/>
                </a:srgbClr>
              </a:gs>
              <a:gs pos="100000">
                <a:srgbClr val="000000">
                  <a:alpha val="60000"/>
                </a:srgbClr>
              </a:gs>
            </a:gsLst>
            <a:lin ang="0" scaled="0"/>
          </a:gradFill>
          <a:ln>
            <a:noFill/>
          </a:ln>
        </p:spPr>
        <p:txBody>
          <a:bodyPr rtlCol="0" anchor="ctr"/>
          <a:lstStyle/>
          <a:p>
            <a:pPr algn="ctr"/>
            <a:endParaRPr/>
          </a:p>
        </p:txBody>
      </p:sp>
      <p:pic>
        <p:nvPicPr>
          <p:cNvPr id="519" name="Picture 518" descr="f_sf_library_3474720.jpg"/>
          <p:cNvPicPr>
            <a:picLocks noChangeAspect="1"/>
          </p:cNvPicPr>
          <p:nvPr/>
        </p:nvPicPr>
        <p:blipFill>
          <a:blip r:embed="rId5"/>
          <a:stretch>
            <a:fillRect/>
          </a:stretch>
        </p:blipFill>
        <p:spPr>
          <a:xfrm>
            <a:off x="0" y="0"/>
            <a:ext cx="3474720" cy="6858000"/>
          </a:xfrm>
          <a:prstGeom prst="rect">
            <a:avLst/>
          </a:prstGeom>
        </p:spPr>
      </p:pic>
      <p:sp>
        <p:nvSpPr>
          <p:cNvPr id="520" name="Rectangle 519"/>
          <p:cNvSpPr/>
          <p:nvPr/>
        </p:nvSpPr>
        <p:spPr>
          <a:xfrm>
            <a:off x="0" y="0"/>
            <a:ext cx="3474720" cy="6858000"/>
          </a:xfrm>
          <a:prstGeom prst="rect">
            <a:avLst/>
          </a:prstGeom>
          <a:gradFill rotWithShape="1">
            <a:gsLst>
              <a:gs pos="0">
                <a:srgbClr val="000000">
                  <a:alpha val="70000"/>
                </a:srgbClr>
              </a:gs>
              <a:gs pos="50000">
                <a:srgbClr val="000000">
                  <a:alpha val="55000"/>
                </a:srgbClr>
              </a:gs>
              <a:gs pos="100000">
                <a:srgbClr val="000000">
                  <a:alpha val="85000"/>
                </a:srgbClr>
              </a:gs>
            </a:gsLst>
            <a:lin ang="5400000" scaled="0"/>
          </a:gradFill>
          <a:ln>
            <a:noFill/>
          </a:ln>
        </p:spPr>
        <p:txBody>
          <a:bodyPr rtlCol="0" anchor="ctr"/>
          <a:lstStyle/>
          <a:p>
            <a:pPr algn="ctr"/>
            <a:endParaRPr/>
          </a:p>
        </p:txBody>
      </p:sp>
      <p:sp>
        <p:nvSpPr>
          <p:cNvPr id="521" name="Rounded Rectangle 520"/>
          <p:cNvSpPr/>
          <p:nvPr/>
        </p:nvSpPr>
        <p:spPr>
          <a:xfrm>
            <a:off x="274320" y="1463040"/>
            <a:ext cx="2926080" cy="4114800"/>
          </a:xfrm>
          <a:prstGeom prst="roundRect">
            <a:avLst>
              <a:gd name="adj" fmla="val 4000"/>
            </a:avLst>
          </a:prstGeom>
          <a:solidFill>
            <a:srgbClr val="000000">
              <a:alpha val="62000"/>
            </a:srgbClr>
          </a:solidFill>
          <a:ln>
            <a:noFill/>
          </a:ln>
        </p:spPr>
        <p:txBody>
          <a:bodyPr rtlCol="0" anchor="ctr"/>
          <a:lstStyle/>
          <a:p>
            <a:pPr algn="ctr"/>
            <a:endParaRPr/>
          </a:p>
        </p:txBody>
      </p:sp>
      <p:sp>
        <p:nvSpPr>
          <p:cNvPr id="3" name="Title 2"/>
          <p:cNvSpPr>
            <a:spLocks noGrp="1"/>
          </p:cNvSpPr>
          <p:nvPr>
            <p:ph type="title"/>
          </p:nvPr>
        </p:nvSpPr>
        <p:spPr>
          <a:xfrm>
            <a:off x="3840480" y="300000"/>
            <a:ext cx="4959520" cy="560000"/>
          </a:xfrm>
        </p:spPr>
        <p:txBody>
          <a:bodyPr/>
          <a:lstStyle/>
          <a:p>
            <a:r>
              <a:rPr sz="2400">
                <a:solidFill>
                  <a:srgbClr val="FFFFFF"/>
                </a:solidFill>
              </a:rPr>
              <a:t>Accountability Framework</a:t>
            </a:r>
          </a:p>
        </p:txBody>
      </p:sp>
      <p:sp>
        <p:nvSpPr>
          <p:cNvPr id="4" name="Text Placeholder 3"/>
          <p:cNvSpPr>
            <a:spLocks noGrp="1"/>
          </p:cNvSpPr>
          <p:nvPr>
            <p:ph type="body" sz="quarter" idx="12"/>
          </p:nvPr>
        </p:nvSpPr>
        <p:spPr>
          <a:xfrm>
            <a:off x="3840480" y="170000"/>
            <a:ext cx="8000000" cy="182880"/>
          </a:xfrm>
        </p:spPr>
        <p:txBody>
          <a:bodyPr/>
          <a:lstStyle/>
          <a:p>
            <a:r>
              <a:rPr>
                <a:solidFill>
                  <a:srgbClr val="0391F2"/>
                </a:solidFill>
              </a:rPr>
              <a:t>ACCOUNTABILITY FRAMEWORK · DETAIL</a:t>
            </a:r>
          </a:p>
        </p:txBody>
      </p:sp>
      <p:sp>
        <p:nvSpPr>
          <p:cNvPr id="13" name="Rounded Rectangle 12">
            <a:extLst>
              <a:ext uri="{FF2B5EF4-FFF2-40B4-BE49-F238E27FC236}">
                <a16:creationId xmlns:a16="http://schemas.microsoft.com/office/drawing/2014/main" id="{5637A419-FF94-DBCB-082F-42BC6E7DAE00}"/>
              </a:ext>
            </a:extLst>
          </p:cNvPr>
          <p:cNvSpPr>
            <a:spLocks/>
          </p:cNvSpPr>
          <p:nvPr/>
        </p:nvSpPr>
        <p:spPr>
          <a:xfrm>
            <a:off x="8900000" y="250000"/>
            <a:ext cx="2850000" cy="450000"/>
          </a:xfrm>
          <a:prstGeom prst="roundRect">
            <a:avLst>
              <a:gd name="adj" fmla="val 28000"/>
            </a:avLst>
          </a:prstGeom>
          <a:solidFill>
            <a:srgbClr val="000000">
              <a:alpha val="72000"/>
            </a:srgbClr>
          </a:solidFill>
          <a:ln w="9525">
            <a:solidFill>
              <a:srgbClr val="FFFFFF">
                <a:alpha val="45000"/>
              </a:srgbClr>
            </a:solidFill>
          </a:ln>
        </p:spPr>
        <p:txBody>
          <a:bodyPr wrap="square" lIns="150000" rIns="120000" rtlCol="0" anchor="ctr">
            <a:noAutofit/>
          </a:bodyPr>
          <a:lstStyle/>
          <a:p>
            <a:r>
              <a:rPr lang="en-US" sz="1050" b="1">
                <a:solidFill>
                  <a:srgbClr val="FFFFFF"/>
                </a:solidFill>
                <a:cs typeface="+mn-cs"/>
              </a:rPr>
              <a:t>Owner(s)</a:t>
            </a:r>
          </a:p>
          <a:p>
            <a:r>
              <a:rPr lang="en-US" sz="900" i="0">
                <a:solidFill>
                  <a:srgbClr val="FFFFFF"/>
                </a:solidFill>
                <a:cs typeface="+mn-cs"/>
              </a:rPr>
              <a:t>Missy Foristall, John Ewen</a:t>
            </a:r>
          </a:p>
        </p:txBody>
      </p:sp>
      <p:sp>
        <p:nvSpPr>
          <p:cNvPr id="522" name="TextBox 521"/>
          <p:cNvSpPr txBox="1"/>
          <p:nvPr/>
        </p:nvSpPr>
        <p:spPr>
          <a:xfrm>
            <a:off x="502920" y="1691640"/>
            <a:ext cx="2468880" cy="228600"/>
          </a:xfrm>
          <a:prstGeom prst="rect">
            <a:avLst/>
          </a:prstGeom>
          <a:noFill/>
        </p:spPr>
        <p:txBody>
          <a:bodyPr wrap="square" lIns="0" tIns="0" rIns="0" bIns="0" anchor="t">
            <a:spAutoFit/>
          </a:bodyPr>
          <a:lstStyle/>
          <a:p>
            <a:pPr algn="l">
              <a:spcBef>
                <a:spcPts val="200"/>
              </a:spcBef>
              <a:spcAft>
                <a:spcPts val="200"/>
              </a:spcAft>
            </a:pPr>
            <a:r>
              <a:rPr sz="850" b="1" i="0" cap="all" spc="100">
                <a:solidFill>
                  <a:srgbClr val="D6D6DF"/>
                </a:solidFill>
              </a:rPr>
              <a:t>WIP</a:t>
            </a:r>
          </a:p>
        </p:txBody>
      </p:sp>
      <p:sp>
        <p:nvSpPr>
          <p:cNvPr id="523" name="TextBox 522"/>
          <p:cNvSpPr txBox="1"/>
          <p:nvPr/>
        </p:nvSpPr>
        <p:spPr>
          <a:xfrm>
            <a:off x="502920" y="2057400"/>
            <a:ext cx="2468880" cy="3383280"/>
          </a:xfrm>
          <a:prstGeom prst="rect">
            <a:avLst/>
          </a:prstGeom>
          <a:noFill/>
        </p:spPr>
        <p:txBody>
          <a:bodyPr wrap="square" lIns="0" tIns="0" rIns="0" bIns="0" anchor="t">
            <a:spAutoFit/>
          </a:bodyPr>
          <a:lstStyle/>
          <a:p>
            <a:pPr algn="l">
              <a:spcAft>
                <a:spcPts val="500"/>
              </a:spcAft>
            </a:pPr>
            <a:r>
              <a:rPr sz="1300" b="0" i="0">
                <a:solidFill>
                  <a:srgbClr val="FFFFFF"/>
                </a:solidFill>
              </a:rPr>
              <a:t>To best support our integrated business units, we are refining how we manage accounts with multiple projects or multitrack projects to ensure project teams have precise leadership support, rather than running as one giant portfolio.</a:t>
            </a:r>
          </a:p>
          <a:p>
            <a:pPr algn="l">
              <a:spcAft>
                <a:spcPts val="500"/>
              </a:spcAft>
            </a:pPr>
            <a:r>
              <a:rPr sz="1300" b="0" i="0">
                <a:solidFill>
                  <a:srgbClr val="FFFFFF"/>
                </a:solidFill>
              </a:rPr>
              <a:t>We are launching a workstream to define standard delivery roles and establish clear, supportive project-level structures across all major accounts.</a:t>
            </a:r>
          </a:p>
        </p:txBody>
      </p:sp>
      <p:sp>
        <p:nvSpPr>
          <p:cNvPr id="524" name="Rounded Rectangle 523"/>
          <p:cNvSpPr/>
          <p:nvPr/>
        </p:nvSpPr>
        <p:spPr>
          <a:xfrm>
            <a:off x="3840480" y="1170000"/>
            <a:ext cx="3872160" cy="1276666"/>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64592" tIns="91440" rIns="109728" bIns="36576" rtlCol="0" anchor="t"/>
          <a:lstStyle/>
          <a:p>
            <a:pPr algn="l">
              <a:spcAft>
                <a:spcPts val="600"/>
              </a:spcAft>
            </a:pPr>
            <a:r>
              <a:rPr sz="1100" b="1" i="0" cap="all" spc="60">
                <a:solidFill>
                  <a:srgbClr val="000000"/>
                </a:solidFill>
              </a:rPr>
              <a:t>Accountability Clarified</a:t>
            </a:r>
          </a:p>
          <a:p>
            <a:pPr algn="l">
              <a:spcAft>
                <a:spcPts val="500"/>
              </a:spcAft>
            </a:pPr>
            <a:r>
              <a:rPr sz="850" b="0" i="0">
                <a:solidFill>
                  <a:srgbClr val="000000"/>
                </a:solidFill>
              </a:rPr>
              <a:t>We will define accountability for every project. For projects serviced by a single Delivery Center, this will be linear and familiar. For multitrack/multi-Delivery Center projects, alignment needs to be agreed to and enforced. This will inform everything from staffing to methodology to the role of escalation management and resolution.</a:t>
            </a:r>
          </a:p>
        </p:txBody>
      </p:sp>
      <p:sp>
        <p:nvSpPr>
          <p:cNvPr id="525" name="Rounded Rectangle 524"/>
          <p:cNvSpPr/>
          <p:nvPr/>
        </p:nvSpPr>
        <p:spPr>
          <a:xfrm>
            <a:off x="7862640" y="1170000"/>
            <a:ext cx="3872160" cy="1276666"/>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64592" tIns="91440" rIns="109728" bIns="36576" rtlCol="0" anchor="t"/>
          <a:lstStyle/>
          <a:p>
            <a:pPr algn="l">
              <a:spcAft>
                <a:spcPts val="600"/>
              </a:spcAft>
            </a:pPr>
            <a:r>
              <a:rPr sz="1100" b="1" i="0" cap="all" spc="60">
                <a:solidFill>
                  <a:srgbClr val="000000"/>
                </a:solidFill>
              </a:rPr>
              <a:t>Defining Essential Roles</a:t>
            </a:r>
          </a:p>
          <a:p>
            <a:pPr algn="l">
              <a:spcAft>
                <a:spcPts val="500"/>
              </a:spcAft>
            </a:pPr>
            <a:r>
              <a:rPr sz="850" b="0" i="0">
                <a:solidFill>
                  <a:srgbClr val="000000"/>
                </a:solidFill>
              </a:rPr>
              <a:t>As new accountability models are defined, new roles may be necessary. We will establish the </a:t>
            </a:r>
            <a:r>
              <a:rPr sz="850" b="1" i="0">
                <a:solidFill>
                  <a:srgbClr val="000000"/>
                </a:solidFill>
              </a:rPr>
              <a:t>essential delivery roles needed to support this model</a:t>
            </a:r>
            <a:r>
              <a:rPr sz="850" b="0" i="0">
                <a:solidFill>
                  <a:srgbClr val="000000"/>
                </a:solidFill>
              </a:rPr>
              <a:t> and clarify existing roles to avoid overlap and gaps.</a:t>
            </a:r>
          </a:p>
        </p:txBody>
      </p:sp>
      <p:sp>
        <p:nvSpPr>
          <p:cNvPr id="526" name="Rounded Rectangle 525"/>
          <p:cNvSpPr/>
          <p:nvPr/>
        </p:nvSpPr>
        <p:spPr>
          <a:xfrm>
            <a:off x="3840480" y="2596666"/>
            <a:ext cx="3872160" cy="1276666"/>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64592" tIns="91440" rIns="109728" bIns="36576" rtlCol="0" anchor="t"/>
          <a:lstStyle/>
          <a:p>
            <a:pPr algn="l">
              <a:spcAft>
                <a:spcPts val="600"/>
              </a:spcAft>
            </a:pPr>
            <a:r>
              <a:rPr sz="1100" b="1" i="0" cap="all" spc="60">
                <a:solidFill>
                  <a:srgbClr val="000000"/>
                </a:solidFill>
              </a:rPr>
              <a:t>Growth, Client Service and Executive Sponsorship</a:t>
            </a:r>
          </a:p>
          <a:p>
            <a:pPr algn="l">
              <a:spcAft>
                <a:spcPts val="500"/>
              </a:spcAft>
            </a:pPr>
            <a:r>
              <a:rPr sz="850" b="0" i="0">
                <a:solidFill>
                  <a:srgbClr val="000000"/>
                </a:solidFill>
              </a:rPr>
              <a:t>Delivery doesn’t happen in a vacuum. Successes and escalations will need to be tightly coupled with our Client Engagement model (Client Partners, Account Management) and Executive Sponsors. These partnerships will be evaluated for clarity, completeness and effectiveness with our modified delivery engine.</a:t>
            </a:r>
          </a:p>
        </p:txBody>
      </p:sp>
      <p:sp>
        <p:nvSpPr>
          <p:cNvPr id="527" name="Rounded Rectangle 526"/>
          <p:cNvSpPr/>
          <p:nvPr/>
        </p:nvSpPr>
        <p:spPr>
          <a:xfrm>
            <a:off x="7862640" y="2596666"/>
            <a:ext cx="3872160" cy="1276666"/>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64592" tIns="91440" rIns="109728" bIns="36576" rtlCol="0" anchor="t"/>
          <a:lstStyle/>
          <a:p>
            <a:pPr algn="l">
              <a:spcAft>
                <a:spcPts val="600"/>
              </a:spcAft>
            </a:pPr>
            <a:r>
              <a:rPr sz="1100" b="1" i="0" cap="all" spc="60">
                <a:solidFill>
                  <a:srgbClr val="000000"/>
                </a:solidFill>
              </a:rPr>
              <a:t>Change Management will be Key</a:t>
            </a:r>
          </a:p>
          <a:p>
            <a:pPr algn="l">
              <a:spcAft>
                <a:spcPts val="500"/>
              </a:spcAft>
            </a:pPr>
            <a:r>
              <a:rPr sz="850" b="0" i="0">
                <a:solidFill>
                  <a:srgbClr val="000000"/>
                </a:solidFill>
              </a:rPr>
              <a:t>These changes will represent modifications to our ways of working and new standards which we will need to taught, supported and enforced. Training and continuous improvement will be key to helping the organization embrace new structures and ensure we learn from what works.</a:t>
            </a:r>
          </a:p>
        </p:txBody>
      </p:sp>
      <p:sp>
        <p:nvSpPr>
          <p:cNvPr id="528" name="Rounded Rectangle 527"/>
          <p:cNvSpPr/>
          <p:nvPr/>
        </p:nvSpPr>
        <p:spPr>
          <a:xfrm>
            <a:off x="3840480" y="4023332"/>
            <a:ext cx="3872160" cy="1276666"/>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64592" tIns="91440" rIns="109728" bIns="36576" rtlCol="0" anchor="t"/>
          <a:lstStyle/>
          <a:p>
            <a:pPr algn="l">
              <a:spcAft>
                <a:spcPts val="600"/>
              </a:spcAft>
            </a:pPr>
            <a:r>
              <a:rPr sz="1100" b="1" i="0" cap="all" spc="60">
                <a:solidFill>
                  <a:srgbClr val="000000"/>
                </a:solidFill>
              </a:rPr>
              <a:t>Phased Rollout of Regular Reviews</a:t>
            </a:r>
          </a:p>
          <a:p>
            <a:pPr algn="l">
              <a:spcAft>
                <a:spcPts val="500"/>
              </a:spcAft>
            </a:pPr>
            <a:r>
              <a:rPr sz="850" b="0" i="0">
                <a:solidFill>
                  <a:srgbClr val="000000"/>
                </a:solidFill>
              </a:rPr>
              <a:t>Starting in Q4, we will establish a cadence of quarterly reviews to report on the accountability structure for multitrack programs. Each model will be assessed in terms of risk and opportunities for improvement. Additionally, high risk projects will be highlighted in ongoing Delivery Excellence meetings.</a:t>
            </a:r>
          </a:p>
        </p:txBody>
      </p:sp>
      <p:sp>
        <p:nvSpPr>
          <p:cNvPr id="529" name="Rounded Rectangle 528"/>
          <p:cNvSpPr/>
          <p:nvPr/>
        </p:nvSpPr>
        <p:spPr>
          <a:xfrm>
            <a:off x="7862640" y="4023332"/>
            <a:ext cx="3872160" cy="1276666"/>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64592" tIns="91440" rIns="109728" bIns="36576" rtlCol="0" anchor="t"/>
          <a:lstStyle/>
          <a:p>
            <a:pPr algn="l">
              <a:spcAft>
                <a:spcPts val="600"/>
              </a:spcAft>
            </a:pPr>
            <a:r>
              <a:rPr sz="1100" b="1" i="0" cap="all" spc="60">
                <a:solidFill>
                  <a:srgbClr val="000000"/>
                </a:solidFill>
              </a:rPr>
              <a:t>Next Steps</a:t>
            </a:r>
          </a:p>
          <a:p>
            <a:pPr algn="l">
              <a:spcAft>
                <a:spcPts val="500"/>
              </a:spcAft>
            </a:pPr>
            <a:r>
              <a:rPr sz="850" b="0" i="0">
                <a:solidFill>
                  <a:srgbClr val="000000"/>
                </a:solidFill>
              </a:rPr>
              <a:t>BU COOs and Enterprise Project Management will co-lead this initiative, partnering to lock in the key accounts in each BU and define the required core roles for the Q4 launch.</a:t>
            </a:r>
          </a:p>
        </p:txBody>
      </p:sp>
      <p:sp>
        <p:nvSpPr>
          <p:cNvPr id="530" name="Rounded Rectangle 529"/>
          <p:cNvSpPr/>
          <p:nvPr/>
        </p:nvSpPr>
        <p:spPr>
          <a:xfrm>
            <a:off x="3840480" y="5450000"/>
            <a:ext cx="7894320" cy="800000"/>
          </a:xfrm>
          <a:prstGeom prst="roundRect">
            <a:avLst>
              <a:gd name="adj" fmla="val 6000"/>
            </a:avLst>
          </a:prstGeom>
          <a:solidFill>
            <a:srgbClr val="000000"/>
          </a:solidFill>
          <a:ln>
            <a:noFill/>
          </a:ln>
          <a:effectLst>
            <a:outerShdw blurRad="190500" dist="50800" dir="5400000" algn="t" rotWithShape="0">
              <a:srgbClr val="000000">
                <a:alpha val="13000"/>
              </a:srgbClr>
            </a:outerShdw>
          </a:effectLst>
        </p:spPr>
        <p:txBody>
          <a:bodyPr wrap="square" lIns="250000" tIns="40000" rIns="250000" bIns="40000" rtlCol="0" anchor="ctr"/>
          <a:lstStyle/>
          <a:p>
            <a:pPr algn="l"/>
            <a:r>
              <a:rPr sz="900" b="1" i="0" cap="all" spc="100">
                <a:solidFill>
                  <a:srgbClr val="D6D6DF"/>
                </a:solidFill>
              </a:rPr>
              <a:t>Key takeaway</a:t>
            </a:r>
          </a:p>
          <a:p>
            <a:pPr algn="l"/>
            <a:r>
              <a:rPr sz="1200" b="1" i="0">
                <a:solidFill>
                  <a:srgbClr val="FFFFFF"/>
                </a:solidFill>
              </a:rPr>
              <a:t>Far too many key projects lack a shared understanding of who is accountable for the work that we do. This initiative is designed to codify and transform delivery leadership and accountability for every project at Merkle.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pic>
        <p:nvPicPr>
          <p:cNvPr id="5" name="Picture 4" descr="f_hero_library.jpg"/>
          <p:cNvPicPr>
            <a:picLocks noChangeAspect="1"/>
          </p:cNvPicPr>
          <p:nvPr/>
        </p:nvPicPr>
        <p:blipFill>
          <a:blip r:embed="rId9"/>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endParaRP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Images: Accountability Framework</a:t>
            </a:r>
          </a:p>
        </p:txBody>
      </p:sp>
      <p:sp>
        <p:nvSpPr>
          <p:cNvPr id="4" name="Text Placeholder 3"/>
          <p:cNvSpPr>
            <a:spLocks noGrp="1"/>
          </p:cNvSpPr>
          <p:nvPr>
            <p:ph type="body" sz="quarter" idx="12"/>
          </p:nvPr>
        </p:nvSpPr>
        <p:spPr>
          <a:xfrm>
            <a:off x="457200" y="170000"/>
            <a:ext cx="8000000" cy="182880"/>
          </a:xfrm>
        </p:spPr>
        <p:txBody>
          <a:bodyPr/>
          <a:lstStyle/>
          <a:p>
            <a:r>
              <a:rPr>
                <a:solidFill>
                  <a:srgbClr val="0391F2"/>
                </a:solidFill>
              </a:rPr>
              <a:t>HIDDEN SLIDE · IMAGES FOR THIS PRIORITY</a:t>
            </a:r>
          </a:p>
        </p:txBody>
      </p:sp>
      <p:sp>
        <p:nvSpPr>
          <p:cNvPr id="7" name="TextBox 6"/>
          <p:cNvSpPr txBox="1"/>
          <p:nvPr/>
        </p:nvSpPr>
        <p:spPr>
          <a:xfrm>
            <a:off x="457200" y="1150000"/>
            <a:ext cx="11277600" cy="411480"/>
          </a:xfrm>
          <a:prstGeom prst="rect">
            <a:avLst/>
          </a:prstGeom>
          <a:noFill/>
        </p:spPr>
        <p:txBody>
          <a:bodyPr wrap="square" lIns="0" rIns="0" tIns="0" bIns="0">
            <a:spAutoFit/>
          </a:bodyPr>
          <a:lstStyle/>
          <a:p>
            <a:r>
              <a:rPr sz="1100" b="0" i="0">
                <a:solidFill>
                  <a:srgbClr val="000000"/>
                </a:solidFill>
              </a:rPr>
              <a:t>One image for this priority. Use it on every slide of the priority: the divider, the header band, the update panel, and any split image or banner in a detail slide. This slide is hidden: it does not show when presenting.</a:t>
            </a:r>
          </a:p>
        </p:txBody>
      </p:sp>
      <p:sp>
        <p:nvSpPr>
          <p:cNvPr id="8" name="TextBox 7"/>
          <p:cNvSpPr txBox="1"/>
          <p:nvPr/>
        </p:nvSpPr>
        <p:spPr>
          <a:xfrm>
            <a:off x="457200" y="1627200"/>
            <a:ext cx="3474720" cy="201168"/>
          </a:xfrm>
          <a:prstGeom prst="rect">
            <a:avLst/>
          </a:prstGeom>
          <a:noFill/>
        </p:spPr>
        <p:txBody>
          <a:bodyPr wrap="square" lIns="0" rIns="0" tIns="0" bIns="0">
            <a:spAutoFit/>
          </a:bodyPr>
          <a:lstStyle/>
          <a:p>
            <a:r>
              <a:rPr sz="850" b="1" i="0" cap="all" spc="100">
                <a:solidFill>
                  <a:srgbClr val="60607D"/>
                </a:solidFill>
              </a:rPr>
              <a:t>Source image</a:t>
            </a:r>
          </a:p>
        </p:txBody>
      </p:sp>
      <p:pic>
        <p:nvPicPr>
          <p:cNvPr id="9" name="Picture 8" descr="f_img2_acc_Sour.jpg"/>
          <p:cNvPicPr>
            <a:picLocks noChangeAspect="1"/>
          </p:cNvPicPr>
          <p:nvPr/>
        </p:nvPicPr>
        <p:blipFill>
          <a:blip r:embed="rId10"/>
          <a:stretch>
            <a:fillRect/>
          </a:stretch>
        </p:blipFill>
        <p:spPr>
          <a:xfrm>
            <a:off x="457200" y="1864944"/>
            <a:ext cx="3017520" cy="1828800"/>
          </a:xfrm>
          <a:prstGeom prst="rect">
            <a:avLst/>
          </a:prstGeom>
        </p:spPr>
      </p:pic>
      <p:sp>
        <p:nvSpPr>
          <p:cNvPr id="10" name="TextBox 9"/>
          <p:cNvSpPr txBox="1"/>
          <p:nvPr/>
        </p:nvSpPr>
        <p:spPr>
          <a:xfrm>
            <a:off x="3794760" y="1627200"/>
            <a:ext cx="3703320" cy="201168"/>
          </a:xfrm>
          <a:prstGeom prst="rect">
            <a:avLst/>
          </a:prstGeom>
          <a:noFill/>
        </p:spPr>
        <p:txBody>
          <a:bodyPr wrap="square" lIns="0" rIns="0" tIns="0" bIns="0">
            <a:spAutoFit/>
          </a:bodyPr>
          <a:lstStyle/>
          <a:p>
            <a:r>
              <a:rPr sz="850" b="1" i="0" cap="all" spc="100">
                <a:solidFill>
                  <a:srgbClr val="60607D"/>
                </a:solidFill>
              </a:rPr>
              <a:t>Divider</a:t>
            </a:r>
          </a:p>
        </p:txBody>
      </p:sp>
      <p:pic>
        <p:nvPicPr>
          <p:cNvPr id="11" name="Picture 10" descr="image.jpg"/>
          <p:cNvPicPr>
            <a:picLocks noChangeAspect="1"/>
          </p:cNvPicPr>
          <p:nvPr/>
        </p:nvPicPr>
        <p:blipFill>
          <a:blip r:embed="rId11"/>
          <a:stretch>
            <a:fillRect/>
          </a:stretch>
        </p:blipFill>
        <p:spPr>
          <a:xfrm>
            <a:off x="3794760" y="1864944"/>
            <a:ext cx="3246120" cy="1828800"/>
          </a:xfrm>
          <a:prstGeom prst="rect">
            <a:avLst/>
          </a:prstGeom>
        </p:spPr>
      </p:pic>
      <p:sp>
        <p:nvSpPr>
          <p:cNvPr id="12" name="TextBox 11"/>
          <p:cNvSpPr txBox="1"/>
          <p:nvPr/>
        </p:nvSpPr>
        <p:spPr>
          <a:xfrm>
            <a:off x="7360920" y="1627200"/>
            <a:ext cx="1435608" cy="201168"/>
          </a:xfrm>
          <a:prstGeom prst="rect">
            <a:avLst/>
          </a:prstGeom>
          <a:noFill/>
        </p:spPr>
        <p:txBody>
          <a:bodyPr wrap="square" lIns="0" rIns="0" tIns="0" bIns="0">
            <a:spAutoFit/>
          </a:bodyPr>
          <a:lstStyle/>
          <a:p>
            <a:r>
              <a:rPr sz="850" b="1" i="0" cap="all" spc="100">
                <a:solidFill>
                  <a:srgbClr val="60607D"/>
                </a:solidFill>
              </a:rPr>
              <a:t>Split image</a:t>
            </a:r>
          </a:p>
        </p:txBody>
      </p:sp>
      <p:pic>
        <p:nvPicPr>
          <p:cNvPr id="13" name="Picture 12" descr="image.jpg"/>
          <p:cNvPicPr>
            <a:picLocks noChangeAspect="1"/>
          </p:cNvPicPr>
          <p:nvPr/>
        </p:nvPicPr>
        <p:blipFill>
          <a:blip r:embed="rId12"/>
          <a:stretch>
            <a:fillRect/>
          </a:stretch>
        </p:blipFill>
        <p:spPr>
          <a:xfrm>
            <a:off x="7360920" y="1864944"/>
            <a:ext cx="978408" cy="1828800"/>
          </a:xfrm>
          <a:prstGeom prst="rect">
            <a:avLst/>
          </a:prstGeom>
        </p:spPr>
      </p:pic>
      <p:sp>
        <p:nvSpPr>
          <p:cNvPr id="14" name="TextBox 13"/>
          <p:cNvSpPr txBox="1"/>
          <p:nvPr/>
        </p:nvSpPr>
        <p:spPr>
          <a:xfrm>
            <a:off x="8659368" y="1627200"/>
            <a:ext cx="1408176" cy="201168"/>
          </a:xfrm>
          <a:prstGeom prst="rect">
            <a:avLst/>
          </a:prstGeom>
          <a:noFill/>
        </p:spPr>
        <p:txBody>
          <a:bodyPr wrap="square" lIns="0" rIns="0" tIns="0" bIns="0">
            <a:spAutoFit/>
          </a:bodyPr>
          <a:lstStyle/>
          <a:p>
            <a:r>
              <a:rPr sz="850" b="1" i="0" cap="all" spc="100">
                <a:solidFill>
                  <a:srgbClr val="60607D"/>
                </a:solidFill>
              </a:rPr>
              <a:t>Update panel</a:t>
            </a:r>
          </a:p>
        </p:txBody>
      </p:sp>
      <p:pic>
        <p:nvPicPr>
          <p:cNvPr id="15" name="Picture 14" descr="image.jpg"/>
          <p:cNvPicPr>
            <a:picLocks noChangeAspect="1"/>
          </p:cNvPicPr>
          <p:nvPr/>
        </p:nvPicPr>
        <p:blipFill>
          <a:blip r:embed="rId13"/>
          <a:stretch>
            <a:fillRect/>
          </a:stretch>
        </p:blipFill>
        <p:spPr>
          <a:xfrm>
            <a:off x="8659368" y="1864944"/>
            <a:ext cx="950976" cy="1828800"/>
          </a:xfrm>
          <a:prstGeom prst="rect">
            <a:avLst/>
          </a:prstGeom>
        </p:spPr>
      </p:pic>
      <p:sp>
        <p:nvSpPr>
          <p:cNvPr id="16" name="TextBox 15"/>
          <p:cNvSpPr txBox="1"/>
          <p:nvPr/>
        </p:nvSpPr>
        <p:spPr>
          <a:xfrm>
            <a:off x="457200" y="3922344"/>
            <a:ext cx="2743200" cy="201168"/>
          </a:xfrm>
          <a:prstGeom prst="rect">
            <a:avLst/>
          </a:prstGeom>
          <a:noFill/>
        </p:spPr>
        <p:txBody>
          <a:bodyPr wrap="square" lIns="0" rIns="0" tIns="0" bIns="0">
            <a:spAutoFit/>
          </a:bodyPr>
          <a:lstStyle/>
          <a:p>
            <a:r>
              <a:rPr sz="850" b="1" i="0" cap="all" spc="100">
                <a:solidFill>
                  <a:srgbClr val="60607D"/>
                </a:solidFill>
              </a:rPr>
              <a:t>Header band</a:t>
            </a:r>
          </a:p>
        </p:txBody>
      </p:sp>
      <p:pic>
        <p:nvPicPr>
          <p:cNvPr id="17" name="Picture 16" descr="image.jpg"/>
          <p:cNvPicPr>
            <a:picLocks noChangeAspect="1"/>
          </p:cNvPicPr>
          <p:nvPr/>
        </p:nvPicPr>
        <p:blipFill>
          <a:blip r:embed="rId9"/>
          <a:stretch>
            <a:fillRect/>
          </a:stretch>
        </p:blipFill>
        <p:spPr>
          <a:xfrm>
            <a:off x="457200" y="4160088"/>
            <a:ext cx="6035040" cy="495000"/>
          </a:xfrm>
          <a:prstGeom prst="rect">
            <a:avLst/>
          </a:prstGeom>
        </p:spPr>
      </p:pic>
      <p:sp>
        <p:nvSpPr>
          <p:cNvPr id="18" name="TextBox 17"/>
          <p:cNvSpPr txBox="1"/>
          <p:nvPr/>
        </p:nvSpPr>
        <p:spPr>
          <a:xfrm>
            <a:off x="6949440" y="3922344"/>
            <a:ext cx="2743200" cy="201168"/>
          </a:xfrm>
          <a:prstGeom prst="rect">
            <a:avLst/>
          </a:prstGeom>
          <a:noFill/>
        </p:spPr>
        <p:txBody>
          <a:bodyPr wrap="square" lIns="0" rIns="0" tIns="0" bIns="0">
            <a:spAutoFit/>
          </a:bodyPr>
          <a:lstStyle/>
          <a:p>
            <a:r>
              <a:rPr sz="850" b="1" i="0" cap="all" spc="100">
                <a:solidFill>
                  <a:srgbClr val="60607D"/>
                </a:solidFill>
              </a:rPr>
              <a:t>Banner (flow with banner)</a:t>
            </a:r>
          </a:p>
        </p:txBody>
      </p:sp>
      <p:sp>
        <p:nvSpPr>
          <p:cNvPr id="19" name="TextBox 18"/>
          <p:cNvSpPr txBox="1"/>
          <p:nvPr/>
        </p:nvSpPr>
        <p:spPr>
          <a:xfrm>
            <a:off x="457200" y="5385384"/>
            <a:ext cx="11277600" cy="548640"/>
          </a:xfrm>
          <a:prstGeom prst="rect">
            <a:avLst/>
          </a:prstGeom>
          <a:noFill/>
        </p:spPr>
        <p:txBody>
          <a:bodyPr wrap="square" lIns="0" rIns="0" tIns="0" bIns="0">
            <a:spAutoFit/>
          </a:bodyPr>
          <a:lstStyle/>
          <a:p>
            <a:r>
              <a:rPr sz="1050" b="0" i="0">
                <a:solidFill>
                  <a:srgbClr val="60607D"/>
                </a:solidFill>
              </a:rPr>
              <a:t>Split image (full height): used by Split with points, Image and two phases, Six blocks and a takeaway, and Goal and three pillars. Banner: used by Flow with banner. Divider, header band and update panel: used on every slide in this priority.</a:t>
            </a:r>
          </a:p>
        </p:txBody>
      </p:sp>
      <p:pic>
        <p:nvPicPr>
          <p:cNvPr id="20" name="Picture 19" descr="f_img2_acc_ban.jpg"/>
          <p:cNvPicPr>
            <a:picLocks noChangeAspect="1"/>
          </p:cNvPicPr>
          <p:nvPr/>
        </p:nvPicPr>
        <p:blipFill>
          <a:blip r:embed="rId14"/>
          <a:stretch>
            <a:fillRect/>
          </a:stretch>
        </p:blipFill>
        <p:spPr>
          <a:xfrm>
            <a:off x="6949440" y="4160088"/>
            <a:ext cx="4480560" cy="93345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f_div_dash.jpg"/>
          <p:cNvPicPr>
            <a:picLocks noChangeAspect="1"/>
          </p:cNvPicPr>
          <p:nvPr/>
        </p:nvPicPr>
        <p:blipFill>
          <a:blip r:embed="rId2"/>
          <a:stretch>
            <a:fillRect/>
          </a:stretch>
        </p:blipFill>
        <p:spPr>
          <a:xfrm>
            <a:off x="0" y="0"/>
            <a:ext cx="12192000" cy="6858000"/>
          </a:xfrm>
          <a:prstGeom prst="rect">
            <a:avLst/>
          </a:prstGeom>
        </p:spPr>
      </p:pic>
      <p:sp>
        <p:nvSpPr>
          <p:cNvPr id="5" name="Rectangle 4"/>
          <p:cNvSpPr/>
          <p:nvPr/>
        </p:nvSpPr>
        <p:spPr>
          <a:xfrm>
            <a:off x="0" y="0"/>
            <a:ext cx="12192000" cy="6858000"/>
          </a:xfrm>
          <a:prstGeom prst="rect">
            <a:avLst/>
          </a:prstGeom>
          <a:gradFill rotWithShape="1">
            <a:gsLst>
              <a:gs pos="0">
                <a:srgbClr val="000000">
                  <a:alpha val="90000"/>
                </a:srgbClr>
              </a:gs>
              <a:gs pos="42000">
                <a:srgbClr val="000000">
                  <a:alpha val="58000"/>
                </a:srgbClr>
              </a:gs>
              <a:gs pos="100000">
                <a:srgbClr val="000000">
                  <a:alpha val="26000"/>
                </a:srgbClr>
              </a:gs>
            </a:gsLst>
            <a:lin ang="0" scaled="0"/>
          </a:gradFill>
          <a:ln>
            <a:noFill/>
          </a:ln>
        </p:spPr>
        <p:txBody>
          <a:bodyPr rtlCol="0" anchor="ctr"/>
          <a:lstStyle/>
          <a:p>
            <a:pPr algn="ctr"/>
            <a:endParaRPr/>
          </a:p>
        </p:txBody>
      </p:sp>
      <p:sp>
        <p:nvSpPr>
          <p:cNvPr id="6" name="Rectangle 5"/>
          <p:cNvSpPr/>
          <p:nvPr/>
        </p:nvSpPr>
        <p:spPr>
          <a:xfrm>
            <a:off x="0" y="0"/>
            <a:ext cx="12192000" cy="6858000"/>
          </a:xfrm>
          <a:prstGeom prst="rect">
            <a:avLst/>
          </a:prstGeom>
          <a:gradFill rotWithShape="1">
            <a:gsLst>
              <a:gs pos="0">
                <a:srgbClr val="000000">
                  <a:alpha val="0"/>
                </a:srgbClr>
              </a:gs>
              <a:gs pos="45000">
                <a:srgbClr val="000000">
                  <a:alpha val="10000"/>
                </a:srgbClr>
              </a:gs>
              <a:gs pos="100000">
                <a:srgbClr val="000000">
                  <a:alpha val="58000"/>
                </a:srgbClr>
              </a:gs>
            </a:gsLst>
            <a:lin ang="5400000" scaled="0"/>
          </a:gradFill>
          <a:ln>
            <a:noFill/>
          </a:ln>
        </p:spPr>
        <p:txBody>
          <a:bodyPr rtlCol="0" anchor="ctr"/>
          <a:lstStyle/>
          <a:p>
            <a:pPr algn="ctr"/>
            <a:endParaRPr/>
          </a:p>
        </p:txBody>
      </p:sp>
      <p:sp>
        <p:nvSpPr>
          <p:cNvPr id="8" name="Rounded Rectangle 7"/>
          <p:cNvSpPr/>
          <p:nvPr/>
        </p:nvSpPr>
        <p:spPr>
          <a:xfrm>
            <a:off x="640080" y="685800"/>
            <a:ext cx="6583680" cy="3254095"/>
          </a:xfrm>
          <a:prstGeom prst="roundRect">
            <a:avLst>
              <a:gd name="adj" fmla="val 2500"/>
            </a:avLst>
          </a:prstGeom>
          <a:solidFill>
            <a:srgbClr val="000000">
              <a:alpha val="62000"/>
            </a:srgbClr>
          </a:solidFill>
          <a:ln>
            <a:noFill/>
          </a:ln>
        </p:spPr>
        <p:txBody>
          <a:bodyPr rtlCol="0" anchor="ctr"/>
          <a:lstStyle/>
          <a:p>
            <a:pPr algn="ctr"/>
            <a:endParaRPr/>
          </a:p>
        </p:txBody>
      </p:sp>
      <p:sp>
        <p:nvSpPr>
          <p:cNvPr id="2" name="Title 1"/>
          <p:cNvSpPr>
            <a:spLocks noGrp="1"/>
          </p:cNvSpPr>
          <p:nvPr>
            <p:ph type="title"/>
          </p:nvPr>
        </p:nvSpPr>
        <p:spPr>
          <a:xfrm>
            <a:off x="914400" y="1316736"/>
            <a:ext cx="6400800" cy="2194560"/>
          </a:xfrm>
        </p:spPr>
        <p:txBody>
          <a:bodyPr anchor="t"/>
          <a:lstStyle/>
          <a:p>
            <a:r>
              <a:rPr sz="5400"/>
              <a:t>Leadership Dashboards</a:t>
            </a:r>
          </a:p>
        </p:txBody>
      </p:sp>
      <p:sp>
        <p:nvSpPr>
          <p:cNvPr id="3" name="Text Placeholder 2"/>
          <p:cNvSpPr>
            <a:spLocks noGrp="1"/>
          </p:cNvSpPr>
          <p:nvPr>
            <p:ph type="body" sz="quarter" idx="15"/>
          </p:nvPr>
        </p:nvSpPr>
        <p:spPr>
          <a:xfrm>
            <a:off x="914400" y="914400"/>
            <a:ext cx="6400800" cy="292608"/>
          </a:xfrm>
        </p:spPr>
        <p:txBody>
          <a:bodyPr/>
          <a:lstStyle/>
          <a:p>
            <a:r>
              <a:t>OPS PRIORITIES</a:t>
            </a:r>
          </a:p>
        </p:txBody>
      </p:sp>
      <p:sp>
        <p:nvSpPr>
          <p:cNvPr id="7" name="TextBox 6"/>
          <p:cNvSpPr txBox="1"/>
          <p:nvPr/>
        </p:nvSpPr>
        <p:spPr>
          <a:xfrm>
            <a:off x="914400" y="3162655"/>
            <a:ext cx="5943600" cy="548640"/>
          </a:xfrm>
          <a:prstGeom prst="rect">
            <a:avLst/>
          </a:prstGeom>
          <a:noFill/>
        </p:spPr>
        <p:txBody>
          <a:bodyPr wrap="square" lIns="0" tIns="0" rIns="0" bIns="0" anchor="t">
            <a:spAutoFit/>
          </a:bodyPr>
          <a:lstStyle/>
          <a:p>
            <a:pPr algn="l">
              <a:spcBef>
                <a:spcPts val="200"/>
              </a:spcBef>
              <a:spcAft>
                <a:spcPts val="200"/>
              </a:spcAft>
            </a:pPr>
            <a:r>
              <a:rPr sz="850" b="1" i="0" cap="all" spc="100">
                <a:solidFill>
                  <a:srgbClr val="D6D6DF"/>
                </a:solidFill>
              </a:rPr>
              <a:t>Owner(s)</a:t>
            </a:r>
          </a:p>
          <a:p>
            <a:pPr algn="l">
              <a:spcAft>
                <a:spcPts val="500"/>
              </a:spcAft>
            </a:pPr>
            <a:r>
              <a:rPr sz="1400" b="0" i="0">
                <a:solidFill>
                  <a:srgbClr val="D6D6DF"/>
                </a:solidFill>
              </a:rPr>
              <a:t>Missy Foristall, Deana Derocha, Dave Brabec</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 name="Picture 4" descr="f_hero_dash.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endParaRP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Leadership Dashboards</a:t>
            </a:r>
          </a:p>
        </p:txBody>
      </p:sp>
      <p:sp>
        <p:nvSpPr>
          <p:cNvPr id="4" name="Text Placeholder 3"/>
          <p:cNvSpPr>
            <a:spLocks noGrp="1"/>
          </p:cNvSpPr>
          <p:nvPr>
            <p:ph type="body" sz="quarter" idx="12"/>
          </p:nvPr>
        </p:nvSpPr>
        <p:spPr>
          <a:xfrm>
            <a:off x="457200" y="170000"/>
            <a:ext cx="8000000" cy="182880"/>
          </a:xfrm>
        </p:spPr>
        <p:txBody>
          <a:bodyPr/>
          <a:lstStyle/>
          <a:p>
            <a:r>
              <a:rPr dirty="0">
                <a:solidFill>
                  <a:srgbClr val="0391F2"/>
                </a:solidFill>
              </a:rPr>
              <a:t>OPS PRIORITIES · EXEC SUMMARY</a:t>
            </a:r>
          </a:p>
        </p:txBody>
      </p:sp>
      <p:sp>
        <p:nvSpPr>
          <p:cNvPr id="7" name="Rounded Rectangle 6"/>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wrap="square" lIns="150000" rIns="120000" rtlCol="0" anchor="ctr"/>
          <a:lstStyle/>
          <a:p>
            <a:pPr algn="l"/>
            <a:r>
              <a:rPr sz="1050" b="1" i="0">
                <a:solidFill>
                  <a:srgbClr val="FFFFFF"/>
                </a:solidFill>
              </a:rPr>
              <a:t>Owner(s)</a:t>
            </a:r>
          </a:p>
          <a:p>
            <a:pPr algn="l"/>
            <a:r>
              <a:rPr sz="900" b="0" i="0">
                <a:solidFill>
                  <a:srgbClr val="D6D6DF"/>
                </a:solidFill>
              </a:rPr>
              <a:t>Missy Foristall, Deana Derocha, Dave Brabec</a:t>
            </a:r>
          </a:p>
        </p:txBody>
      </p:sp>
      <p:sp>
        <p:nvSpPr>
          <p:cNvPr id="8" name="Rounded Rectangle 7"/>
          <p:cNvSpPr/>
          <p:nvPr/>
        </p:nvSpPr>
        <p:spPr>
          <a:xfrm>
            <a:off x="457200" y="1080000"/>
            <a:ext cx="5563800" cy="1950000"/>
          </a:xfrm>
          <a:prstGeom prst="roundRect">
            <a:avLst>
              <a:gd name="adj" fmla="val 3200"/>
            </a:avLst>
          </a:prstGeom>
          <a:solidFill>
            <a:srgbClr val="000000"/>
          </a:solidFill>
          <a:ln>
            <a:no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D6D6DF"/>
                </a:solidFill>
              </a:rPr>
              <a:t>2026 Goal</a:t>
            </a:r>
          </a:p>
          <a:p>
            <a:pPr algn="l">
              <a:spcAft>
                <a:spcPts val="500"/>
              </a:spcAft>
            </a:pPr>
            <a:r>
              <a:rPr sz="1150" b="0" i="1">
                <a:solidFill>
                  <a:srgbClr val="D6D6DF"/>
                </a:solidFill>
              </a:rPr>
              <a:t>[Put here: the one thing we want to be true by the end of 2026.]</a:t>
            </a:r>
          </a:p>
          <a:p>
            <a:pPr algn="l">
              <a:spcAft>
                <a:spcPts val="500"/>
              </a:spcAft>
            </a:pPr>
            <a:r>
              <a:rPr sz="1150" b="0" i="1">
                <a:solidFill>
                  <a:srgbClr val="D6D6DF"/>
                </a:solidFill>
              </a:rPr>
              <a:t>[Why: everyone should know the finish line.]</a:t>
            </a:r>
          </a:p>
        </p:txBody>
      </p:sp>
      <p:sp>
        <p:nvSpPr>
          <p:cNvPr id="9" name="Rounded Rectangle 8"/>
          <p:cNvSpPr/>
          <p:nvPr/>
        </p:nvSpPr>
        <p:spPr>
          <a:xfrm>
            <a:off x="6171000" y="1080000"/>
            <a:ext cx="5563800" cy="195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000000"/>
                </a:solidFill>
              </a:rPr>
              <a:t>The problem</a:t>
            </a:r>
          </a:p>
          <a:p>
            <a:pPr algn="l">
              <a:spcAft>
                <a:spcPts val="500"/>
              </a:spcAft>
            </a:pPr>
            <a:r>
              <a:rPr sz="1150" b="0" i="0">
                <a:solidFill>
                  <a:srgbClr val="000000"/>
                </a:solidFill>
              </a:rPr>
              <a:t>We lack a singular place for leaders to go to see the health of their business.</a:t>
            </a:r>
          </a:p>
          <a:p>
            <a:pPr algn="l">
              <a:spcAft>
                <a:spcPts val="500"/>
              </a:spcAft>
            </a:pPr>
            <a:r>
              <a:rPr sz="1150" b="0" i="0">
                <a:solidFill>
                  <a:srgbClr val="000000"/>
                </a:solidFill>
              </a:rPr>
              <a:t>Resource and financial data sit in separate systems, with no rate cards applied, no burn tracking, and no cross-BU revenue visibility (see Ugam/HelloWorld).</a:t>
            </a:r>
          </a:p>
        </p:txBody>
      </p:sp>
      <p:sp>
        <p:nvSpPr>
          <p:cNvPr id="10" name="Rounded Rectangle 9"/>
          <p:cNvSpPr/>
          <p:nvPr/>
        </p:nvSpPr>
        <p:spPr>
          <a:xfrm>
            <a:off x="457200" y="3130000"/>
            <a:ext cx="5563800" cy="22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000000"/>
                </a:solidFill>
              </a:rPr>
              <a:t>What we are changing</a:t>
            </a:r>
          </a:p>
          <a:p>
            <a:pPr algn="l">
              <a:spcAft>
                <a:spcPts val="500"/>
              </a:spcAft>
            </a:pPr>
            <a:r>
              <a:rPr sz="1150" b="0" i="1">
                <a:solidFill>
                  <a:srgbClr val="60607D"/>
                </a:solidFill>
              </a:rPr>
              <a:t>[Put here: what we will do differently. Use short bullets.]</a:t>
            </a:r>
          </a:p>
          <a:p>
            <a:pPr algn="l">
              <a:spcAft>
                <a:spcPts val="500"/>
              </a:spcAft>
            </a:pPr>
            <a:r>
              <a:rPr sz="1150" b="0" i="1">
                <a:solidFill>
                  <a:srgbClr val="60607D"/>
                </a:solidFill>
              </a:rPr>
              <a:t>[Why: it shows we have a plan, not just a worry.]</a:t>
            </a:r>
          </a:p>
        </p:txBody>
      </p:sp>
      <p:sp>
        <p:nvSpPr>
          <p:cNvPr id="11" name="Rounded Rectangle 10"/>
          <p:cNvSpPr/>
          <p:nvPr/>
        </p:nvSpPr>
        <p:spPr>
          <a:xfrm>
            <a:off x="6171000" y="3130000"/>
            <a:ext cx="5563800" cy="2280000"/>
          </a:xfrm>
          <a:prstGeom prst="roundRect">
            <a:avLst>
              <a:gd name="adj" fmla="val 3200"/>
            </a:avLst>
          </a:prstGeom>
          <a:solidFill>
            <a:srgbClr val="000000"/>
          </a:solidFill>
          <a:ln>
            <a:no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D6D6DF"/>
                </a:solidFill>
              </a:rPr>
              <a:t>What this unlocks</a:t>
            </a:r>
          </a:p>
          <a:p>
            <a:pPr algn="l">
              <a:spcAft>
                <a:spcPts val="500"/>
              </a:spcAft>
            </a:pPr>
            <a:r>
              <a:rPr sz="1150" b="0" i="1">
                <a:solidFill>
                  <a:srgbClr val="D6D6DF"/>
                </a:solidFill>
              </a:rPr>
              <a:t>[Put here: what gets better once this works.]</a:t>
            </a:r>
          </a:p>
          <a:p>
            <a:pPr algn="l">
              <a:spcAft>
                <a:spcPts val="500"/>
              </a:spcAft>
            </a:pPr>
            <a:r>
              <a:rPr sz="1150" b="0" i="1">
                <a:solidFill>
                  <a:srgbClr val="D6D6DF"/>
                </a:solidFill>
              </a:rPr>
              <a:t>[Why: it is the reason the effort is worth it.]</a:t>
            </a:r>
          </a:p>
        </p:txBody>
      </p:sp>
      <p:sp>
        <p:nvSpPr>
          <p:cNvPr id="12" name="Rounded Rectangle 11"/>
          <p:cNvSpPr/>
          <p:nvPr/>
        </p:nvSpPr>
        <p:spPr>
          <a:xfrm>
            <a:off x="457200" y="5510000"/>
            <a:ext cx="11277600" cy="890000"/>
          </a:xfrm>
          <a:prstGeom prst="roundRect">
            <a:avLst>
              <a:gd name="adj" fmla="val 6000"/>
            </a:avLst>
          </a:prstGeom>
          <a:solidFill>
            <a:srgbClr val="000000"/>
          </a:solidFill>
          <a:ln>
            <a:noFill/>
          </a:ln>
          <a:effectLst>
            <a:outerShdw blurRad="190500" dist="50800" dir="5400000" algn="t" rotWithShape="0">
              <a:srgbClr val="000000">
                <a:alpha val="13000"/>
              </a:srgbClr>
            </a:outerShdw>
          </a:effectLst>
        </p:spPr>
        <p:txBody>
          <a:bodyPr wrap="square" lIns="300000" tIns="50000" rIns="300000" bIns="50000" rtlCol="0" anchor="ctr"/>
          <a:lstStyle/>
          <a:p>
            <a:pPr algn="l"/>
            <a:r>
              <a:rPr sz="900" b="1" i="0" cap="all" spc="100">
                <a:solidFill>
                  <a:srgbClr val="D6D6DF"/>
                </a:solidFill>
              </a:rPr>
              <a:t>Key takeaway</a:t>
            </a:r>
          </a:p>
          <a:p>
            <a:pPr algn="l"/>
            <a:r>
              <a:rPr sz="1400" b="1" i="0">
                <a:solidFill>
                  <a:srgbClr val="FFFFFF"/>
                </a:solidFill>
              </a:rPr>
              <a:t>One Set of Numbers: One place to see the metrics that today live in too many reports — with AI doing the reconciliation, not a person.</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 name="Picture 4" descr="f_hero_dash.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endParaRP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Why now</a:t>
            </a:r>
          </a:p>
        </p:txBody>
      </p:sp>
      <p:sp>
        <p:nvSpPr>
          <p:cNvPr id="4" name="Text Placeholder 3"/>
          <p:cNvSpPr>
            <a:spLocks noGrp="1"/>
          </p:cNvSpPr>
          <p:nvPr>
            <p:ph type="body" sz="quarter" idx="12"/>
          </p:nvPr>
        </p:nvSpPr>
        <p:spPr>
          <a:xfrm>
            <a:off x="457200" y="170000"/>
            <a:ext cx="8000000" cy="182880"/>
          </a:xfrm>
        </p:spPr>
        <p:txBody>
          <a:bodyPr/>
          <a:lstStyle/>
          <a:p>
            <a:r>
              <a:rPr>
                <a:solidFill>
                  <a:srgbClr val="0391F2"/>
                </a:solidFill>
              </a:rPr>
              <a:t>LEADERSHIP DASHBOARDS · CLICK-DOWN · THE PROBLEM</a:t>
            </a:r>
          </a:p>
        </p:txBody>
      </p:sp>
      <p:sp>
        <p:nvSpPr>
          <p:cNvPr id="7" name="Rounded Rectangle 6"/>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wrap="square" lIns="150000" rIns="120000" rtlCol="0" anchor="ctr"/>
          <a:lstStyle/>
          <a:p>
            <a:pPr algn="l"/>
            <a:r>
              <a:rPr sz="1050" b="1" i="0">
                <a:solidFill>
                  <a:srgbClr val="FFFFFF"/>
                </a:solidFill>
              </a:rPr>
              <a:t>Owner(s)</a:t>
            </a:r>
          </a:p>
          <a:p>
            <a:pPr algn="l"/>
            <a:r>
              <a:rPr sz="900" b="0" i="0">
                <a:solidFill>
                  <a:srgbClr val="D6D6DF"/>
                </a:solidFill>
              </a:rPr>
              <a:t>Missy Foristall, Deana Derocha, Dave Brabec</a:t>
            </a:r>
          </a:p>
        </p:txBody>
      </p:sp>
      <p:sp>
        <p:nvSpPr>
          <p:cNvPr id="8" name="Rounded Rectangle 7"/>
          <p:cNvSpPr/>
          <p:nvPr/>
        </p:nvSpPr>
        <p:spPr>
          <a:xfrm>
            <a:off x="457200" y="1170000"/>
            <a:ext cx="11277600" cy="1250000"/>
          </a:xfrm>
          <a:prstGeom prst="roundRect">
            <a:avLst>
              <a:gd name="adj" fmla="val 3200"/>
            </a:avLst>
          </a:prstGeom>
          <a:solidFill>
            <a:srgbClr val="000000"/>
          </a:solidFill>
          <a:ln>
            <a:noFill/>
          </a:ln>
          <a:effectLst>
            <a:outerShdw blurRad="190500" dist="50800" dir="5400000" algn="t" rotWithShape="0">
              <a:srgbClr val="000000">
                <a:alpha val="13000"/>
              </a:srgbClr>
            </a:outerShdw>
          </a:effectLst>
        </p:spPr>
        <p:txBody>
          <a:bodyPr wrap="square" lIns="274320" tIns="109728" rIns="274320" bIns="73152" rtlCol="0" anchor="ctr"/>
          <a:lstStyle/>
          <a:p>
            <a:pPr algn="l">
              <a:spcAft>
                <a:spcPts val="500"/>
              </a:spcAft>
            </a:pPr>
            <a:r>
              <a:rPr sz="1600" b="0" i="1">
                <a:solidFill>
                  <a:srgbClr val="D6D6DF"/>
                </a:solidFill>
              </a:rPr>
              <a:t>[Put here: one or two sentences on why now. What does waiting cost us?]</a:t>
            </a:r>
          </a:p>
        </p:txBody>
      </p:sp>
      <p:sp>
        <p:nvSpPr>
          <p:cNvPr id="9" name="Rounded Rectangle 8"/>
          <p:cNvSpPr/>
          <p:nvPr/>
        </p:nvSpPr>
        <p:spPr>
          <a:xfrm>
            <a:off x="457200" y="2570000"/>
            <a:ext cx="6541008" cy="36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000000"/>
                </a:solidFill>
              </a:rPr>
              <a:t>What's happening today</a:t>
            </a:r>
          </a:p>
          <a:p>
            <a:pPr marL="171450" indent="-171450" algn="l">
              <a:spcAft>
                <a:spcPts val="500"/>
              </a:spcAft>
              <a:buFont typeface="Arial"/>
              <a:buChar char="•"/>
            </a:pPr>
            <a:r>
              <a:rPr sz="1300" b="0" i="0">
                <a:solidFill>
                  <a:srgbClr val="000000"/>
                </a:solidFill>
              </a:rPr>
              <a:t>We’re running the business off lagging metrics or incomplete ones.  Example: We can see client or project margin but not practice margin. And costs live in a Finance spreadsheet that we see once a month.</a:t>
            </a:r>
          </a:p>
        </p:txBody>
      </p:sp>
      <p:sp>
        <p:nvSpPr>
          <p:cNvPr id="10" name="Rounded Rectangle 9"/>
          <p:cNvSpPr/>
          <p:nvPr/>
        </p:nvSpPr>
        <p:spPr>
          <a:xfrm>
            <a:off x="7148208" y="2570000"/>
            <a:ext cx="4586592" cy="3680000"/>
          </a:xfrm>
          <a:prstGeom prst="roundRect">
            <a:avLst>
              <a:gd name="adj" fmla="val 3200"/>
            </a:avLst>
          </a:prstGeom>
          <a:solidFill>
            <a:srgbClr val="000000"/>
          </a:solidFill>
          <a:ln>
            <a:no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D6D6DF"/>
                </a:solidFill>
              </a:rPr>
              <a:t>So we need</a:t>
            </a:r>
          </a:p>
          <a:p>
            <a:pPr marL="171450" indent="-171450" algn="l">
              <a:spcAft>
                <a:spcPts val="500"/>
              </a:spcAft>
              <a:buFont typeface="Arial"/>
              <a:buChar char="•"/>
            </a:pPr>
            <a:r>
              <a:rPr sz="1300" b="0" i="0">
                <a:solidFill>
                  <a:srgbClr val="FFFFFF"/>
                </a:solidFill>
              </a:rPr>
              <a:t>One leadership dashboard, not just a data-reconciliation project.</a:t>
            </a:r>
          </a:p>
          <a:p>
            <a:pPr marL="171450" indent="-171450" algn="l">
              <a:spcAft>
                <a:spcPts val="500"/>
              </a:spcAft>
              <a:buFont typeface="Arial"/>
              <a:buChar char="•"/>
            </a:pPr>
            <a:r>
              <a:rPr sz="1300" b="0" i="0">
                <a:solidFill>
                  <a:srgbClr val="FFFFFF"/>
                </a:solidFill>
              </a:rPr>
              <a:t>It needs to show revenue, margin, and capacity forecasts, manage rate cards and actuals-for-burn, and tie revenue recognition to operational reporting, all in a single page view.</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 name="Picture 4" descr="f_hero_dash.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endParaRP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How we're going about it</a:t>
            </a:r>
          </a:p>
        </p:txBody>
      </p:sp>
      <p:sp>
        <p:nvSpPr>
          <p:cNvPr id="4" name="Text Placeholder 3"/>
          <p:cNvSpPr>
            <a:spLocks noGrp="1"/>
          </p:cNvSpPr>
          <p:nvPr>
            <p:ph type="body" sz="quarter" idx="12"/>
          </p:nvPr>
        </p:nvSpPr>
        <p:spPr>
          <a:xfrm>
            <a:off x="457200" y="170000"/>
            <a:ext cx="8000000" cy="182880"/>
          </a:xfrm>
        </p:spPr>
        <p:txBody>
          <a:bodyPr/>
          <a:lstStyle/>
          <a:p>
            <a:r>
              <a:rPr>
                <a:solidFill>
                  <a:srgbClr val="0391F2"/>
                </a:solidFill>
              </a:rPr>
              <a:t>LEADERSHIP DASHBOARDS · CLICK-DOWN · WHAT WE ARE CHANGING</a:t>
            </a:r>
          </a:p>
        </p:txBody>
      </p:sp>
      <p:sp>
        <p:nvSpPr>
          <p:cNvPr id="7" name="Rounded Rectangle 6"/>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wrap="square" lIns="150000" rIns="120000" rtlCol="0" anchor="ctr"/>
          <a:lstStyle/>
          <a:p>
            <a:pPr algn="l"/>
            <a:r>
              <a:rPr sz="1050" b="1" i="0">
                <a:solidFill>
                  <a:srgbClr val="FFFFFF"/>
                </a:solidFill>
              </a:rPr>
              <a:t>Owner(s)</a:t>
            </a:r>
          </a:p>
          <a:p>
            <a:pPr algn="l"/>
            <a:r>
              <a:rPr sz="900" b="0" i="0">
                <a:solidFill>
                  <a:srgbClr val="D6D6DF"/>
                </a:solidFill>
              </a:rPr>
              <a:t>Missy Foristall, Deana Derocha, Dave Brabec</a:t>
            </a:r>
          </a:p>
        </p:txBody>
      </p:sp>
      <p:sp>
        <p:nvSpPr>
          <p:cNvPr id="8" name="TextBox 7"/>
          <p:cNvSpPr txBox="1"/>
          <p:nvPr/>
        </p:nvSpPr>
        <p:spPr>
          <a:xfrm>
            <a:off x="457200" y="1170000"/>
            <a:ext cx="11277600" cy="457200"/>
          </a:xfrm>
          <a:prstGeom prst="rect">
            <a:avLst/>
          </a:prstGeom>
          <a:noFill/>
        </p:spPr>
        <p:txBody>
          <a:bodyPr wrap="square" lIns="0" tIns="0" rIns="0" bIns="0" anchor="t">
            <a:spAutoFit/>
          </a:bodyPr>
          <a:lstStyle/>
          <a:p>
            <a:pPr algn="l">
              <a:spcAft>
                <a:spcPts val="500"/>
              </a:spcAft>
            </a:pPr>
            <a:r>
              <a:rPr sz="1250" b="0" i="1">
                <a:solidFill>
                  <a:srgbClr val="60607D"/>
                </a:solidFill>
              </a:rPr>
              <a:t>[Put here: one line on how we are tackling this. The steps below fill in the detail.]</a:t>
            </a:r>
          </a:p>
        </p:txBody>
      </p:sp>
      <p:sp>
        <p:nvSpPr>
          <p:cNvPr id="9" name="Rounded Rectangle 8"/>
          <p:cNvSpPr/>
          <p:nvPr/>
        </p:nvSpPr>
        <p:spPr>
          <a:xfrm>
            <a:off x="457200" y="1828368"/>
            <a:ext cx="11277600" cy="233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a:solidFill>
                  <a:srgbClr val="60607D"/>
                </a:solidFill>
              </a:rPr>
              <a:t>Step 1</a:t>
            </a:r>
          </a:p>
          <a:p>
            <a:pPr algn="l">
              <a:spcBef>
                <a:spcPts val="400"/>
              </a:spcBef>
              <a:spcAft>
                <a:spcPts val="200"/>
              </a:spcAft>
            </a:pPr>
            <a:r>
              <a:rPr sz="1150" b="1" i="0">
                <a:solidFill>
                  <a:srgbClr val="000000"/>
                </a:solidFill>
              </a:rPr>
              <a:t>Preliminary Thoughts</a:t>
            </a:r>
          </a:p>
          <a:p>
            <a:pPr marL="171450" indent="-171450" algn="l">
              <a:spcAft>
                <a:spcPts val="500"/>
              </a:spcAft>
              <a:buFont typeface="Arial"/>
              <a:buChar char="•"/>
            </a:pPr>
            <a:r>
              <a:rPr sz="1150" b="0" i="0">
                <a:solidFill>
                  <a:srgbClr val="000000"/>
                </a:solidFill>
              </a:rPr>
              <a:t>Dashboard of key metrics by BU (margin, revenue actuals compared to budget), top clients, average client margin, etc, that can be broken down by practice, L3, etc.</a:t>
            </a:r>
          </a:p>
          <a:p>
            <a:pPr marL="171450" indent="-171450" algn="l">
              <a:spcAft>
                <a:spcPts val="500"/>
              </a:spcAft>
              <a:buFont typeface="Arial"/>
              <a:buChar char="•"/>
            </a:pPr>
            <a:r>
              <a:rPr sz="1150" b="0" i="0">
                <a:solidFill>
                  <a:srgbClr val="000000"/>
                </a:solidFill>
              </a:rPr>
              <a:t>Will link out to existing reports for more details – no need to recreate the wheel for all metrics.</a:t>
            </a:r>
          </a:p>
          <a:p>
            <a:pPr marL="171450" indent="-171450" algn="l">
              <a:spcAft>
                <a:spcPts val="500"/>
              </a:spcAft>
              <a:buFont typeface="Arial"/>
              <a:buChar char="•"/>
            </a:pPr>
            <a:r>
              <a:rPr sz="1150" b="0" i="0">
                <a:solidFill>
                  <a:srgbClr val="000000"/>
                </a:solidFill>
              </a:rPr>
              <a:t>May need to be locked down to only key leaders based on what is included.</a:t>
            </a:r>
          </a:p>
        </p:txBody>
      </p:sp>
      <p:sp>
        <p:nvSpPr>
          <p:cNvPr id="10" name="Rectangle 9"/>
          <p:cNvSpPr/>
          <p:nvPr/>
        </p:nvSpPr>
        <p:spPr>
          <a:xfrm>
            <a:off x="1829400" y="4379808"/>
            <a:ext cx="8533200" cy="19050"/>
          </a:xfrm>
          <a:prstGeom prst="rect">
            <a:avLst/>
          </a:prstGeom>
          <a:solidFill>
            <a:srgbClr val="D6D6DF"/>
          </a:solidFill>
          <a:ln>
            <a:noFill/>
          </a:ln>
        </p:spPr>
        <p:txBody>
          <a:bodyPr rtlCol="0" anchor="ctr"/>
          <a:lstStyle/>
          <a:p>
            <a:pPr algn="ctr"/>
            <a:endParaRPr/>
          </a:p>
        </p:txBody>
      </p:sp>
      <p:sp>
        <p:nvSpPr>
          <p:cNvPr id="11" name="Oval 10"/>
          <p:cNvSpPr/>
          <p:nvPr/>
        </p:nvSpPr>
        <p:spPr>
          <a:xfrm>
            <a:off x="1737960" y="4288368"/>
            <a:ext cx="182880" cy="182880"/>
          </a:xfrm>
          <a:prstGeom prst="ellipse">
            <a:avLst/>
          </a:prstGeom>
          <a:solidFill>
            <a:srgbClr val="FFFFFF"/>
          </a:solidFill>
          <a:ln w="19050">
            <a:solidFill>
              <a:srgbClr val="D6D6DF"/>
            </a:solidFill>
          </a:ln>
        </p:spPr>
        <p:txBody>
          <a:bodyPr rtlCol="0" anchor="ctr"/>
          <a:lstStyle/>
          <a:p>
            <a:pPr algn="ctr"/>
            <a:endParaRPr/>
          </a:p>
        </p:txBody>
      </p:sp>
      <p:sp>
        <p:nvSpPr>
          <p:cNvPr id="12" name="Rounded Rectangle 11"/>
          <p:cNvSpPr/>
          <p:nvPr/>
        </p:nvSpPr>
        <p:spPr>
          <a:xfrm>
            <a:off x="457200" y="4562688"/>
            <a:ext cx="2744400"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Aft>
                <a:spcPts val="500"/>
              </a:spcAft>
            </a:pPr>
            <a:r>
              <a:rPr sz="1100" b="0" i="1">
                <a:solidFill>
                  <a:srgbClr val="60607D"/>
                </a:solidFill>
              </a:rPr>
              <a:t>[Date]</a:t>
            </a:r>
          </a:p>
          <a:p>
            <a:pPr algn="l">
              <a:spcAft>
                <a:spcPts val="500"/>
              </a:spcAft>
            </a:pPr>
            <a:r>
              <a:rPr sz="1100" b="0" i="1">
                <a:solidFill>
                  <a:srgbClr val="60607D"/>
                </a:solidFill>
              </a:rPr>
              <a:t>[What is done by then]</a:t>
            </a:r>
          </a:p>
        </p:txBody>
      </p:sp>
      <p:sp>
        <p:nvSpPr>
          <p:cNvPr id="13" name="Oval 12"/>
          <p:cNvSpPr/>
          <p:nvPr/>
        </p:nvSpPr>
        <p:spPr>
          <a:xfrm>
            <a:off x="4582360" y="4288368"/>
            <a:ext cx="182880" cy="182880"/>
          </a:xfrm>
          <a:prstGeom prst="ellipse">
            <a:avLst/>
          </a:prstGeom>
          <a:solidFill>
            <a:srgbClr val="FFFFFF"/>
          </a:solidFill>
          <a:ln w="19050">
            <a:solidFill>
              <a:srgbClr val="D6D6DF"/>
            </a:solidFill>
          </a:ln>
        </p:spPr>
        <p:txBody>
          <a:bodyPr rtlCol="0" anchor="ctr"/>
          <a:lstStyle/>
          <a:p>
            <a:pPr algn="ctr"/>
            <a:endParaRPr/>
          </a:p>
        </p:txBody>
      </p:sp>
      <p:sp>
        <p:nvSpPr>
          <p:cNvPr id="14" name="Rounded Rectangle 13"/>
          <p:cNvSpPr/>
          <p:nvPr/>
        </p:nvSpPr>
        <p:spPr>
          <a:xfrm>
            <a:off x="3301600" y="4562688"/>
            <a:ext cx="2744400"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Aft>
                <a:spcPts val="500"/>
              </a:spcAft>
            </a:pPr>
            <a:r>
              <a:rPr sz="1100" b="0" i="1">
                <a:solidFill>
                  <a:srgbClr val="60607D"/>
                </a:solidFill>
              </a:rPr>
              <a:t>[Date]</a:t>
            </a:r>
          </a:p>
          <a:p>
            <a:pPr algn="l">
              <a:spcAft>
                <a:spcPts val="500"/>
              </a:spcAft>
            </a:pPr>
            <a:r>
              <a:rPr sz="1100" b="0" i="1">
                <a:solidFill>
                  <a:srgbClr val="60607D"/>
                </a:solidFill>
              </a:rPr>
              <a:t>[What is done by then]</a:t>
            </a:r>
          </a:p>
        </p:txBody>
      </p:sp>
      <p:sp>
        <p:nvSpPr>
          <p:cNvPr id="15" name="Oval 14"/>
          <p:cNvSpPr/>
          <p:nvPr/>
        </p:nvSpPr>
        <p:spPr>
          <a:xfrm>
            <a:off x="7426760" y="4288368"/>
            <a:ext cx="182880" cy="182880"/>
          </a:xfrm>
          <a:prstGeom prst="ellipse">
            <a:avLst/>
          </a:prstGeom>
          <a:solidFill>
            <a:srgbClr val="FFFFFF"/>
          </a:solidFill>
          <a:ln w="19050">
            <a:solidFill>
              <a:srgbClr val="D6D6DF"/>
            </a:solidFill>
          </a:ln>
        </p:spPr>
        <p:txBody>
          <a:bodyPr rtlCol="0" anchor="ctr"/>
          <a:lstStyle/>
          <a:p>
            <a:pPr algn="ctr"/>
            <a:endParaRPr/>
          </a:p>
        </p:txBody>
      </p:sp>
      <p:sp>
        <p:nvSpPr>
          <p:cNvPr id="16" name="Rounded Rectangle 15"/>
          <p:cNvSpPr/>
          <p:nvPr/>
        </p:nvSpPr>
        <p:spPr>
          <a:xfrm>
            <a:off x="6146000" y="4562688"/>
            <a:ext cx="2744400"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Aft>
                <a:spcPts val="500"/>
              </a:spcAft>
            </a:pPr>
            <a:r>
              <a:rPr sz="1100" b="0" i="1">
                <a:solidFill>
                  <a:srgbClr val="60607D"/>
                </a:solidFill>
              </a:rPr>
              <a:t>[Date]</a:t>
            </a:r>
          </a:p>
          <a:p>
            <a:pPr algn="l">
              <a:spcAft>
                <a:spcPts val="500"/>
              </a:spcAft>
            </a:pPr>
            <a:r>
              <a:rPr sz="1100" b="0" i="1">
                <a:solidFill>
                  <a:srgbClr val="60607D"/>
                </a:solidFill>
              </a:rPr>
              <a:t>[What is done by then]</a:t>
            </a:r>
          </a:p>
        </p:txBody>
      </p:sp>
      <p:sp>
        <p:nvSpPr>
          <p:cNvPr id="17" name="Oval 16"/>
          <p:cNvSpPr/>
          <p:nvPr/>
        </p:nvSpPr>
        <p:spPr>
          <a:xfrm>
            <a:off x="10271160" y="4288368"/>
            <a:ext cx="182880" cy="182880"/>
          </a:xfrm>
          <a:prstGeom prst="ellipse">
            <a:avLst/>
          </a:prstGeom>
          <a:solidFill>
            <a:srgbClr val="FFFFFF"/>
          </a:solidFill>
          <a:ln w="19050">
            <a:solidFill>
              <a:srgbClr val="D6D6DF"/>
            </a:solidFill>
          </a:ln>
        </p:spPr>
        <p:txBody>
          <a:bodyPr rtlCol="0" anchor="ctr"/>
          <a:lstStyle/>
          <a:p>
            <a:pPr algn="ctr"/>
            <a:endParaRPr/>
          </a:p>
        </p:txBody>
      </p:sp>
      <p:sp>
        <p:nvSpPr>
          <p:cNvPr id="18" name="Rounded Rectangle 17"/>
          <p:cNvSpPr/>
          <p:nvPr/>
        </p:nvSpPr>
        <p:spPr>
          <a:xfrm>
            <a:off x="8990400" y="4562688"/>
            <a:ext cx="2744400"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Bef>
                <a:spcPts val="200"/>
              </a:spcBef>
              <a:spcAft>
                <a:spcPts val="200"/>
              </a:spcAft>
            </a:pPr>
            <a:r>
              <a:rPr sz="850" b="1" i="0" cap="all" spc="100">
                <a:solidFill>
                  <a:srgbClr val="60607D"/>
                </a:solidFill>
              </a:rPr>
              <a:t>The target</a:t>
            </a:r>
          </a:p>
          <a:p>
            <a:pPr algn="l">
              <a:spcBef>
                <a:spcPts val="400"/>
              </a:spcBef>
              <a:spcAft>
                <a:spcPts val="200"/>
              </a:spcAft>
            </a:pPr>
            <a:r>
              <a:rPr sz="1000" b="1" i="0">
                <a:solidFill>
                  <a:srgbClr val="000000"/>
                </a:solidFill>
              </a:rPr>
              <a:t>MVP done</a:t>
            </a:r>
          </a:p>
          <a:p>
            <a:pPr algn="l">
              <a:spcAft>
                <a:spcPts val="500"/>
              </a:spcAft>
            </a:pPr>
            <a:r>
              <a:rPr sz="1000" b="0" i="1">
                <a:solidFill>
                  <a:srgbClr val="60607D"/>
                </a:solidFill>
              </a:rPr>
              <a:t>[Date we are shooting for.]</a:t>
            </a:r>
          </a:p>
        </p:txBody>
      </p:sp>
      <p:sp>
        <p:nvSpPr>
          <p:cNvPr id="19" name="Rounded Rectangle 18"/>
          <p:cNvSpPr/>
          <p:nvPr/>
        </p:nvSpPr>
        <p:spPr>
          <a:xfrm>
            <a:off x="457200" y="5462688"/>
            <a:ext cx="5563800" cy="93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91440" rIns="182880" bIns="36576" rtlCol="0" anchor="t"/>
          <a:lstStyle/>
          <a:p>
            <a:pPr algn="l">
              <a:spcAft>
                <a:spcPts val="600"/>
              </a:spcAft>
            </a:pPr>
            <a:r>
              <a:rPr sz="1100" b="1" i="0" cap="all" spc="60">
                <a:solidFill>
                  <a:srgbClr val="000000"/>
                </a:solidFill>
              </a:rPr>
              <a:t>Team</a:t>
            </a:r>
          </a:p>
        </p:txBody>
      </p:sp>
      <p:sp>
        <p:nvSpPr>
          <p:cNvPr id="20" name="Rounded Rectangle 19"/>
          <p:cNvSpPr/>
          <p:nvPr/>
        </p:nvSpPr>
        <p:spPr>
          <a:xfrm>
            <a:off x="667512" y="5791872"/>
            <a:ext cx="1351221" cy="246888"/>
          </a:xfrm>
          <a:prstGeom prst="roundRect">
            <a:avLst>
              <a:gd name="adj" fmla="val 50000"/>
            </a:avLst>
          </a:prstGeom>
          <a:solidFill>
            <a:srgbClr val="FFFFFF"/>
          </a:solidFill>
          <a:ln w="12700">
            <a:solidFill>
              <a:srgbClr val="D6D6DF"/>
            </a:solidFill>
          </a:ln>
        </p:spPr>
        <p:txBody>
          <a:bodyPr wrap="none" lIns="0" tIns="0" rIns="0" bIns="0" rtlCol="0" anchor="ctr"/>
          <a:lstStyle/>
          <a:p>
            <a:pPr algn="ctr"/>
            <a:r>
              <a:rPr sz="900" b="0" i="1">
                <a:solidFill>
                  <a:srgbClr val="60607D"/>
                </a:solidFill>
              </a:rPr>
              <a:t>[Who does the work]</a:t>
            </a:r>
          </a:p>
        </p:txBody>
      </p:sp>
      <p:sp>
        <p:nvSpPr>
          <p:cNvPr id="21" name="Rounded Rectangle 20"/>
          <p:cNvSpPr/>
          <p:nvPr/>
        </p:nvSpPr>
        <p:spPr>
          <a:xfrm>
            <a:off x="2101029" y="5791872"/>
            <a:ext cx="1351221" cy="246888"/>
          </a:xfrm>
          <a:prstGeom prst="roundRect">
            <a:avLst>
              <a:gd name="adj" fmla="val 50000"/>
            </a:avLst>
          </a:prstGeom>
          <a:solidFill>
            <a:srgbClr val="FFFFFF"/>
          </a:solidFill>
          <a:ln w="12700">
            <a:solidFill>
              <a:srgbClr val="D6D6DF"/>
            </a:solidFill>
          </a:ln>
        </p:spPr>
        <p:txBody>
          <a:bodyPr wrap="none" lIns="0" tIns="0" rIns="0" bIns="0" rtlCol="0" anchor="ctr"/>
          <a:lstStyle/>
          <a:p>
            <a:pPr algn="ctr"/>
            <a:r>
              <a:rPr sz="900" b="0" i="1">
                <a:solidFill>
                  <a:srgbClr val="60607D"/>
                </a:solidFill>
              </a:rPr>
              <a:t>[Who does the work]</a:t>
            </a:r>
          </a:p>
        </p:txBody>
      </p:sp>
      <p:sp>
        <p:nvSpPr>
          <p:cNvPr id="22" name="Rounded Rectangle 21"/>
          <p:cNvSpPr/>
          <p:nvPr/>
        </p:nvSpPr>
        <p:spPr>
          <a:xfrm>
            <a:off x="6171000" y="5462688"/>
            <a:ext cx="5563800" cy="93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91440" rIns="182880" bIns="36576" rtlCol="0" anchor="t"/>
          <a:lstStyle/>
          <a:p>
            <a:pPr algn="l">
              <a:spcAft>
                <a:spcPts val="600"/>
              </a:spcAft>
            </a:pPr>
            <a:r>
              <a:rPr sz="1100" b="1" i="0" cap="all" spc="60">
                <a:solidFill>
                  <a:srgbClr val="000000"/>
                </a:solidFill>
              </a:rPr>
              <a:t>Partners</a:t>
            </a:r>
          </a:p>
        </p:txBody>
      </p:sp>
      <p:sp>
        <p:nvSpPr>
          <p:cNvPr id="23" name="Rounded Rectangle 22"/>
          <p:cNvSpPr/>
          <p:nvPr/>
        </p:nvSpPr>
        <p:spPr>
          <a:xfrm>
            <a:off x="6381312" y="5791872"/>
            <a:ext cx="1291655" cy="246888"/>
          </a:xfrm>
          <a:prstGeom prst="roundRect">
            <a:avLst>
              <a:gd name="adj" fmla="val 50000"/>
            </a:avLst>
          </a:prstGeom>
          <a:solidFill>
            <a:srgbClr val="FFFFFF"/>
          </a:solidFill>
          <a:ln w="12700">
            <a:solidFill>
              <a:srgbClr val="D6D6DF"/>
            </a:solidFill>
          </a:ln>
        </p:spPr>
        <p:txBody>
          <a:bodyPr wrap="none" lIns="0" tIns="0" rIns="0" bIns="0" rtlCol="0" anchor="ctr"/>
          <a:lstStyle/>
          <a:p>
            <a:pPr algn="ctr"/>
            <a:r>
              <a:rPr sz="900" b="0" i="1">
                <a:solidFill>
                  <a:srgbClr val="60607D"/>
                </a:solidFill>
              </a:rPr>
              <a:t>[Who we work with]</a:t>
            </a:r>
          </a:p>
        </p:txBody>
      </p:sp>
      <p:sp>
        <p:nvSpPr>
          <p:cNvPr id="24" name="Rounded Rectangle 23"/>
          <p:cNvSpPr/>
          <p:nvPr/>
        </p:nvSpPr>
        <p:spPr>
          <a:xfrm>
            <a:off x="7755263" y="5791872"/>
            <a:ext cx="1291655" cy="246888"/>
          </a:xfrm>
          <a:prstGeom prst="roundRect">
            <a:avLst>
              <a:gd name="adj" fmla="val 50000"/>
            </a:avLst>
          </a:prstGeom>
          <a:solidFill>
            <a:srgbClr val="FFFFFF"/>
          </a:solidFill>
          <a:ln w="12700">
            <a:solidFill>
              <a:srgbClr val="D6D6DF"/>
            </a:solidFill>
          </a:ln>
        </p:spPr>
        <p:txBody>
          <a:bodyPr wrap="none" lIns="0" tIns="0" rIns="0" bIns="0" rtlCol="0" anchor="ctr"/>
          <a:lstStyle/>
          <a:p>
            <a:pPr algn="ctr"/>
            <a:r>
              <a:rPr sz="900" b="0" i="1">
                <a:solidFill>
                  <a:srgbClr val="60607D"/>
                </a:solidFill>
              </a:rPr>
              <a:t>[Who we work with]</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 name="Picture 4" descr="f_hero_dash.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endParaRP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Adoption &amp; change management</a:t>
            </a:r>
          </a:p>
        </p:txBody>
      </p:sp>
      <p:sp>
        <p:nvSpPr>
          <p:cNvPr id="4" name="Text Placeholder 3"/>
          <p:cNvSpPr>
            <a:spLocks noGrp="1"/>
          </p:cNvSpPr>
          <p:nvPr>
            <p:ph type="body" sz="quarter" idx="12"/>
          </p:nvPr>
        </p:nvSpPr>
        <p:spPr>
          <a:xfrm>
            <a:off x="457200" y="170000"/>
            <a:ext cx="8000000" cy="182880"/>
          </a:xfrm>
        </p:spPr>
        <p:txBody>
          <a:bodyPr/>
          <a:lstStyle/>
          <a:p>
            <a:r>
              <a:rPr>
                <a:solidFill>
                  <a:srgbClr val="0391F2"/>
                </a:solidFill>
              </a:rPr>
              <a:t>LEADERSHIP DASHBOARDS · CLICK-DOWN · WHAT WE ARE CHANGING</a:t>
            </a:r>
          </a:p>
        </p:txBody>
      </p:sp>
      <p:sp>
        <p:nvSpPr>
          <p:cNvPr id="7" name="Rounded Rectangle 6"/>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wrap="square" lIns="150000" rIns="120000" rtlCol="0" anchor="ctr"/>
          <a:lstStyle/>
          <a:p>
            <a:pPr algn="l"/>
            <a:r>
              <a:rPr sz="1050" b="1" i="0">
                <a:solidFill>
                  <a:srgbClr val="FFFFFF"/>
                </a:solidFill>
              </a:rPr>
              <a:t>Owner(s)</a:t>
            </a:r>
          </a:p>
          <a:p>
            <a:pPr algn="l"/>
            <a:r>
              <a:rPr sz="900" b="0" i="0">
                <a:solidFill>
                  <a:srgbClr val="D6D6DF"/>
                </a:solidFill>
              </a:rPr>
              <a:t>Missy Foristall, Deana Derocha, Dave Brabec</a:t>
            </a:r>
          </a:p>
        </p:txBody>
      </p:sp>
      <p:sp>
        <p:nvSpPr>
          <p:cNvPr id="8" name="Rounded Rectangle 7"/>
          <p:cNvSpPr/>
          <p:nvPr/>
        </p:nvSpPr>
        <p:spPr>
          <a:xfrm>
            <a:off x="457200" y="1170000"/>
            <a:ext cx="2706900" cy="50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000000"/>
                </a:solidFill>
              </a:rPr>
              <a:t>1. Strategy &amp; Alignment</a:t>
            </a:r>
          </a:p>
          <a:p>
            <a:pPr algn="l">
              <a:spcBef>
                <a:spcPts val="400"/>
              </a:spcBef>
              <a:spcAft>
                <a:spcPts val="200"/>
              </a:spcAft>
            </a:pPr>
            <a:r>
              <a:rPr sz="1300" b="1" i="0">
                <a:solidFill>
                  <a:srgbClr val="000000"/>
                </a:solidFill>
              </a:rPr>
              <a:t>The why</a:t>
            </a:r>
          </a:p>
          <a:p>
            <a:pPr algn="l">
              <a:spcAft>
                <a:spcPts val="500"/>
              </a:spcAft>
            </a:pPr>
            <a:r>
              <a:rPr sz="1300" b="0" i="1">
                <a:solidFill>
                  <a:srgbClr val="60607D"/>
                </a:solidFill>
              </a:rPr>
              <a:t>[The business reason for this change and the value it brings.]</a:t>
            </a:r>
          </a:p>
          <a:p>
            <a:pPr algn="l">
              <a:spcBef>
                <a:spcPts val="400"/>
              </a:spcBef>
              <a:spcAft>
                <a:spcPts val="200"/>
              </a:spcAft>
            </a:pPr>
            <a:r>
              <a:rPr sz="1300" b="1" i="0">
                <a:solidFill>
                  <a:srgbClr val="000000"/>
                </a:solidFill>
              </a:rPr>
              <a:t>Who is affected</a:t>
            </a:r>
          </a:p>
          <a:p>
            <a:pPr algn="l">
              <a:spcAft>
                <a:spcPts val="500"/>
              </a:spcAft>
            </a:pPr>
            <a:r>
              <a:rPr sz="1300" b="0" i="1">
                <a:solidFill>
                  <a:srgbClr val="60607D"/>
                </a:solidFill>
              </a:rPr>
              <a:t>[Who is impacted, how their day-to-day changes, and how much pushback to expect.]</a:t>
            </a:r>
          </a:p>
          <a:p>
            <a:pPr algn="l">
              <a:spcBef>
                <a:spcPts val="400"/>
              </a:spcBef>
              <a:spcAft>
                <a:spcPts val="200"/>
              </a:spcAft>
            </a:pPr>
            <a:r>
              <a:rPr sz="1300" b="1" i="0">
                <a:solidFill>
                  <a:srgbClr val="000000"/>
                </a:solidFill>
              </a:rPr>
              <a:t>Who is backing it</a:t>
            </a:r>
          </a:p>
          <a:p>
            <a:pPr algn="l">
              <a:spcAft>
                <a:spcPts val="500"/>
              </a:spcAft>
            </a:pPr>
            <a:r>
              <a:rPr sz="1300" b="0" i="1">
                <a:solidFill>
                  <a:srgbClr val="60607D"/>
                </a:solidFill>
              </a:rPr>
              <a:t>[Executive sponsors, approvers, and the champions who will drive adoption locally.]</a:t>
            </a:r>
          </a:p>
        </p:txBody>
      </p:sp>
      <p:sp>
        <p:nvSpPr>
          <p:cNvPr id="9" name="Rounded Rectangle 8"/>
          <p:cNvSpPr/>
          <p:nvPr/>
        </p:nvSpPr>
        <p:spPr>
          <a:xfrm>
            <a:off x="3314100" y="1170000"/>
            <a:ext cx="2706900" cy="50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000000"/>
                </a:solidFill>
              </a:rPr>
              <a:t>2. Communications Plan</a:t>
            </a:r>
          </a:p>
          <a:p>
            <a:pPr algn="l">
              <a:spcBef>
                <a:spcPts val="400"/>
              </a:spcBef>
              <a:spcAft>
                <a:spcPts val="200"/>
              </a:spcAft>
            </a:pPr>
            <a:r>
              <a:rPr sz="1300" b="1" i="0">
                <a:solidFill>
                  <a:srgbClr val="000000"/>
                </a:solidFill>
              </a:rPr>
              <a:t>Core messages</a:t>
            </a:r>
          </a:p>
          <a:p>
            <a:pPr algn="l">
              <a:spcAft>
                <a:spcPts val="500"/>
              </a:spcAft>
            </a:pPr>
            <a:r>
              <a:rPr sz="1300" b="0" i="1">
                <a:solidFill>
                  <a:srgbClr val="60607D"/>
                </a:solidFill>
              </a:rPr>
              <a:t>[The standard talking points, tailored for each group that is affected.]</a:t>
            </a:r>
          </a:p>
          <a:p>
            <a:pPr algn="l">
              <a:spcBef>
                <a:spcPts val="400"/>
              </a:spcBef>
              <a:spcAft>
                <a:spcPts val="200"/>
              </a:spcAft>
            </a:pPr>
            <a:r>
              <a:rPr sz="1300" b="1" i="0">
                <a:solidFill>
                  <a:srgbClr val="000000"/>
                </a:solidFill>
              </a:rPr>
              <a:t>Channels</a:t>
            </a:r>
          </a:p>
          <a:p>
            <a:pPr algn="l">
              <a:spcAft>
                <a:spcPts val="500"/>
              </a:spcAft>
            </a:pPr>
            <a:r>
              <a:rPr sz="1300" b="0" i="1">
                <a:solidFill>
                  <a:srgbClr val="60607D"/>
                </a:solidFill>
              </a:rPr>
              <a:t>[Where we will say it: all-hands, email, internal portals, team meetings.]</a:t>
            </a:r>
          </a:p>
          <a:p>
            <a:pPr algn="l">
              <a:spcBef>
                <a:spcPts val="400"/>
              </a:spcBef>
              <a:spcAft>
                <a:spcPts val="200"/>
              </a:spcAft>
            </a:pPr>
            <a:r>
              <a:rPr sz="1300" b="1" i="0">
                <a:solidFill>
                  <a:srgbClr val="000000"/>
                </a:solidFill>
              </a:rPr>
              <a:t>Timing</a:t>
            </a:r>
          </a:p>
          <a:p>
            <a:pPr algn="l">
              <a:spcAft>
                <a:spcPts val="500"/>
              </a:spcAft>
            </a:pPr>
            <a:r>
              <a:rPr sz="1300" b="0" i="1">
                <a:solidFill>
                  <a:srgbClr val="60607D"/>
                </a:solidFill>
              </a:rPr>
              <a:t>[The schedule of announcements, teasers and reminders before and after launch.]</a:t>
            </a:r>
          </a:p>
        </p:txBody>
      </p:sp>
      <p:sp>
        <p:nvSpPr>
          <p:cNvPr id="10" name="Rounded Rectangle 9"/>
          <p:cNvSpPr/>
          <p:nvPr/>
        </p:nvSpPr>
        <p:spPr>
          <a:xfrm>
            <a:off x="6171000" y="1170000"/>
            <a:ext cx="2706900" cy="50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000000"/>
                </a:solidFill>
              </a:rPr>
              <a:t>3. Enablement</a:t>
            </a:r>
          </a:p>
          <a:p>
            <a:pPr algn="l">
              <a:spcBef>
                <a:spcPts val="400"/>
              </a:spcBef>
              <a:spcAft>
                <a:spcPts val="200"/>
              </a:spcAft>
            </a:pPr>
            <a:r>
              <a:rPr sz="1300" b="1" i="0">
                <a:solidFill>
                  <a:srgbClr val="000000"/>
                </a:solidFill>
              </a:rPr>
              <a:t>Training</a:t>
            </a:r>
          </a:p>
          <a:p>
            <a:pPr algn="l">
              <a:spcAft>
                <a:spcPts val="500"/>
              </a:spcAft>
            </a:pPr>
            <a:r>
              <a:rPr sz="1300" b="0" i="1">
                <a:solidFill>
                  <a:srgbClr val="60607D"/>
                </a:solidFill>
              </a:rPr>
              <a:t>[How people will learn: live sessions, self-serve modules, documentation.]</a:t>
            </a:r>
          </a:p>
          <a:p>
            <a:pPr algn="l">
              <a:spcBef>
                <a:spcPts val="400"/>
              </a:spcBef>
              <a:spcAft>
                <a:spcPts val="200"/>
              </a:spcAft>
            </a:pPr>
            <a:r>
              <a:rPr sz="1300" b="1" i="0">
                <a:solidFill>
                  <a:srgbClr val="000000"/>
                </a:solidFill>
              </a:rPr>
              <a:t>Where to find things</a:t>
            </a:r>
          </a:p>
          <a:p>
            <a:pPr algn="l">
              <a:spcAft>
                <a:spcPts val="500"/>
              </a:spcAft>
            </a:pPr>
            <a:r>
              <a:rPr sz="1300" b="0" i="1">
                <a:solidFill>
                  <a:srgbClr val="60607D"/>
                </a:solidFill>
              </a:rPr>
              <a:t>[One place for user guides, quick reference cards and FAQs.]</a:t>
            </a:r>
          </a:p>
          <a:p>
            <a:pPr algn="l">
              <a:spcBef>
                <a:spcPts val="400"/>
              </a:spcBef>
              <a:spcAft>
                <a:spcPts val="200"/>
              </a:spcAft>
            </a:pPr>
            <a:r>
              <a:rPr sz="1300" b="1" i="0">
                <a:solidFill>
                  <a:srgbClr val="000000"/>
                </a:solidFill>
              </a:rPr>
              <a:t>Getting help</a:t>
            </a:r>
          </a:p>
          <a:p>
            <a:pPr algn="l">
              <a:spcAft>
                <a:spcPts val="500"/>
              </a:spcAft>
            </a:pPr>
            <a:r>
              <a:rPr sz="1300" b="0" i="1">
                <a:solidFill>
                  <a:srgbClr val="60607D"/>
                </a:solidFill>
              </a:rPr>
              <a:t>[Where people go when they get stuck during the rollout.]</a:t>
            </a:r>
          </a:p>
        </p:txBody>
      </p:sp>
      <p:sp>
        <p:nvSpPr>
          <p:cNvPr id="11" name="Rounded Rectangle 10"/>
          <p:cNvSpPr/>
          <p:nvPr/>
        </p:nvSpPr>
        <p:spPr>
          <a:xfrm>
            <a:off x="9027900" y="1170000"/>
            <a:ext cx="2706900" cy="50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000000"/>
                </a:solidFill>
              </a:rPr>
              <a:t>4. Measuring &amp; Sustaining</a:t>
            </a:r>
          </a:p>
          <a:p>
            <a:pPr algn="l">
              <a:spcBef>
                <a:spcPts val="400"/>
              </a:spcBef>
              <a:spcAft>
                <a:spcPts val="200"/>
              </a:spcAft>
            </a:pPr>
            <a:r>
              <a:rPr sz="1300" b="1" i="0">
                <a:solidFill>
                  <a:srgbClr val="000000"/>
                </a:solidFill>
              </a:rPr>
              <a:t>Success measures</a:t>
            </a:r>
          </a:p>
          <a:p>
            <a:pPr algn="l">
              <a:spcAft>
                <a:spcPts val="500"/>
              </a:spcAft>
            </a:pPr>
            <a:r>
              <a:rPr sz="1300" b="0" i="1">
                <a:solidFill>
                  <a:srgbClr val="60607D"/>
                </a:solidFill>
              </a:rPr>
              <a:t>[The numbers that show healthy adoption, such as login rates, task completion and drop-off from the old way.]</a:t>
            </a:r>
          </a:p>
          <a:p>
            <a:pPr algn="l">
              <a:spcBef>
                <a:spcPts val="400"/>
              </a:spcBef>
              <a:spcAft>
                <a:spcPts val="200"/>
              </a:spcAft>
            </a:pPr>
            <a:r>
              <a:rPr sz="1300" b="1" i="0">
                <a:solidFill>
                  <a:srgbClr val="000000"/>
                </a:solidFill>
              </a:rPr>
              <a:t>Feedback</a:t>
            </a:r>
          </a:p>
          <a:p>
            <a:pPr algn="l">
              <a:spcAft>
                <a:spcPts val="500"/>
              </a:spcAft>
            </a:pPr>
            <a:r>
              <a:rPr sz="1300" b="0" i="1">
                <a:solidFill>
                  <a:srgbClr val="60607D"/>
                </a:solidFill>
              </a:rPr>
              <a:t>[How we capture friction and sentiment after launch so we can fix things quickly.]</a:t>
            </a:r>
          </a:p>
          <a:p>
            <a:pPr algn="l">
              <a:spcBef>
                <a:spcPts val="400"/>
              </a:spcBef>
              <a:spcAft>
                <a:spcPts val="200"/>
              </a:spcAft>
            </a:pPr>
            <a:r>
              <a:rPr sz="1300" b="1" i="0">
                <a:solidFill>
                  <a:srgbClr val="000000"/>
                </a:solidFill>
              </a:rPr>
              <a:t>Long-term owner</a:t>
            </a:r>
          </a:p>
          <a:p>
            <a:pPr algn="l">
              <a:spcAft>
                <a:spcPts val="500"/>
              </a:spcAft>
            </a:pPr>
            <a:r>
              <a:rPr sz="1300" b="0" i="1">
                <a:solidFill>
                  <a:srgbClr val="60607D"/>
                </a:solidFill>
              </a:rPr>
              <a:t>[Who owns ongoing updates, new-hire onboarding and keeping the process current.]</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 name="Picture 4" descr="f_rail_dash.jpg"/>
          <p:cNvPicPr>
            <a:picLocks noChangeAspect="1"/>
          </p:cNvPicPr>
          <p:nvPr/>
        </p:nvPicPr>
        <p:blipFill>
          <a:blip r:embed="rId2"/>
          <a:stretch>
            <a:fillRect/>
          </a:stretch>
        </p:blipFill>
        <p:spPr>
          <a:xfrm>
            <a:off x="228600" y="228600"/>
            <a:ext cx="3200000" cy="6171400"/>
          </a:xfrm>
          <a:prstGeom prst="roundRect">
            <a:avLst>
              <a:gd name="adj" fmla="val 3600"/>
            </a:avLst>
          </a:prstGeom>
        </p:spPr>
      </p:pic>
      <p:sp>
        <p:nvSpPr>
          <p:cNvPr id="6" name="Rounded Rectangle 5"/>
          <p:cNvSpPr/>
          <p:nvPr/>
        </p:nvSpPr>
        <p:spPr>
          <a:xfrm>
            <a:off x="228600" y="228600"/>
            <a:ext cx="3200000" cy="6171400"/>
          </a:xfrm>
          <a:prstGeom prst="roundRect">
            <a:avLst>
              <a:gd name="adj" fmla="val 3600"/>
            </a:avLst>
          </a:prstGeom>
          <a:gradFill rotWithShape="1">
            <a:gsLst>
              <a:gs pos="0">
                <a:srgbClr val="000000">
                  <a:alpha val="68000"/>
                </a:srgbClr>
              </a:gs>
              <a:gs pos="45000">
                <a:srgbClr val="000000">
                  <a:alpha val="50000"/>
                </a:srgbClr>
              </a:gs>
              <a:gs pos="100000">
                <a:srgbClr val="000000">
                  <a:alpha val="82000"/>
                </a:srgbClr>
              </a:gs>
            </a:gsLst>
            <a:lin ang="5400000" scaled="0"/>
          </a:gradFill>
          <a:ln>
            <a:noFill/>
          </a:ln>
        </p:spPr>
        <p:txBody>
          <a:bodyPr rtlCol="0" anchor="ctr"/>
          <a:lstStyle/>
          <a:p>
            <a:pPr algn="ctr"/>
            <a:endParaRPr/>
          </a:p>
        </p:txBody>
      </p:sp>
      <p:sp>
        <p:nvSpPr>
          <p:cNvPr id="7" name="Rounded Rectangle 6"/>
          <p:cNvSpPr/>
          <p:nvPr/>
        </p:nvSpPr>
        <p:spPr>
          <a:xfrm>
            <a:off x="378600" y="378600"/>
            <a:ext cx="2900000" cy="2050000"/>
          </a:xfrm>
          <a:prstGeom prst="roundRect">
            <a:avLst>
              <a:gd name="adj" fmla="val 5000"/>
            </a:avLst>
          </a:prstGeom>
          <a:solidFill>
            <a:srgbClr val="000000">
              <a:alpha val="62000"/>
            </a:srgbClr>
          </a:solidFill>
          <a:ln>
            <a:noFill/>
          </a:ln>
        </p:spPr>
        <p:txBody>
          <a:bodyPr rtlCol="0" anchor="ctr"/>
          <a:lstStyle/>
          <a:p>
            <a:pPr algn="ctr"/>
            <a:endParaRPr/>
          </a:p>
        </p:txBody>
      </p:sp>
      <p:sp>
        <p:nvSpPr>
          <p:cNvPr id="3" name="Title 2"/>
          <p:cNvSpPr>
            <a:spLocks noGrp="1"/>
          </p:cNvSpPr>
          <p:nvPr>
            <p:ph type="title"/>
          </p:nvPr>
        </p:nvSpPr>
        <p:spPr>
          <a:xfrm>
            <a:off x="508600" y="868600"/>
            <a:ext cx="2640000" cy="2300000"/>
          </a:xfrm>
        </p:spPr>
        <p:txBody>
          <a:bodyPr/>
          <a:lstStyle/>
          <a:p>
            <a:r>
              <a:rPr sz="2000">
                <a:solidFill>
                  <a:srgbClr val="FFFFFF"/>
                </a:solidFill>
              </a:rPr>
              <a:t>Leadership Dashboards: Update</a:t>
            </a:r>
          </a:p>
        </p:txBody>
      </p:sp>
      <p:sp>
        <p:nvSpPr>
          <p:cNvPr id="4" name="Text Placeholder 3"/>
          <p:cNvSpPr>
            <a:spLocks noGrp="1"/>
          </p:cNvSpPr>
          <p:nvPr>
            <p:ph type="body" sz="quarter" idx="12"/>
          </p:nvPr>
        </p:nvSpPr>
        <p:spPr>
          <a:xfrm>
            <a:off x="508600" y="558600"/>
            <a:ext cx="2640000" cy="182880"/>
          </a:xfrm>
        </p:spPr>
        <p:txBody>
          <a:bodyPr/>
          <a:lstStyle/>
          <a:p>
            <a:r>
              <a:rPr dirty="0">
                <a:solidFill>
                  <a:srgbClr val="0391F2"/>
                </a:solidFill>
              </a:rPr>
              <a:t>OPS PRIORITIES</a:t>
            </a:r>
          </a:p>
        </p:txBody>
      </p:sp>
      <p:sp>
        <p:nvSpPr>
          <p:cNvPr id="8" name="Rounded Rectangle 7"/>
          <p:cNvSpPr/>
          <p:nvPr/>
        </p:nvSpPr>
        <p:spPr>
          <a:xfrm>
            <a:off x="508600" y="5340000"/>
            <a:ext cx="2640000" cy="780000"/>
          </a:xfrm>
          <a:prstGeom prst="roundRect">
            <a:avLst>
              <a:gd name="adj" fmla="val 28000"/>
            </a:avLst>
          </a:prstGeom>
          <a:solidFill>
            <a:srgbClr val="000000">
              <a:alpha val="72000"/>
            </a:srgbClr>
          </a:solidFill>
          <a:ln w="9525">
            <a:solidFill>
              <a:srgbClr val="FFFFFF">
                <a:alpha val="45000"/>
              </a:srgbClr>
            </a:solidFill>
          </a:ln>
        </p:spPr>
        <p:txBody>
          <a:bodyPr wrap="square" lIns="150000" rIns="120000" rtlCol="0" anchor="ctr"/>
          <a:lstStyle/>
          <a:p>
            <a:pPr algn="l"/>
            <a:r>
              <a:rPr sz="1050" b="1" i="0">
                <a:solidFill>
                  <a:srgbClr val="FFFFFF"/>
                </a:solidFill>
              </a:rPr>
              <a:t>Owner(s)</a:t>
            </a:r>
          </a:p>
          <a:p>
            <a:pPr algn="l"/>
            <a:r>
              <a:rPr sz="900" b="0" i="0">
                <a:solidFill>
                  <a:srgbClr val="D6D6DF"/>
                </a:solidFill>
              </a:rPr>
              <a:t>Missy Foristall, Deana Derocha, Dave Brabec</a:t>
            </a:r>
          </a:p>
        </p:txBody>
      </p:sp>
      <p:sp>
        <p:nvSpPr>
          <p:cNvPr id="9" name="Rounded Rectangle 8"/>
          <p:cNvSpPr/>
          <p:nvPr/>
        </p:nvSpPr>
        <p:spPr>
          <a:xfrm>
            <a:off x="3628600" y="228600"/>
            <a:ext cx="4092400" cy="34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82880" rIns="182880" bIns="54864" rtlCol="0" anchor="t"/>
          <a:lstStyle/>
          <a:p>
            <a:pPr algn="l">
              <a:spcAft>
                <a:spcPts val="600"/>
              </a:spcAft>
            </a:pPr>
            <a:r>
              <a:rPr sz="1100" b="1" i="0" cap="all" spc="60">
                <a:solidFill>
                  <a:srgbClr val="000000"/>
                </a:solidFill>
              </a:rPr>
              <a:t>What has been accomplished</a:t>
            </a:r>
          </a:p>
          <a:p>
            <a:pPr algn="l">
              <a:spcAft>
                <a:spcPts val="500"/>
              </a:spcAft>
            </a:pPr>
            <a:r>
              <a:rPr sz="1300" b="0" i="1">
                <a:solidFill>
                  <a:srgbClr val="60607D"/>
                </a:solidFill>
              </a:rPr>
              <a:t>[Put here: what got done since last time. Use dates, not "recently". Why: shows real progress.]</a:t>
            </a:r>
          </a:p>
        </p:txBody>
      </p:sp>
      <p:sp>
        <p:nvSpPr>
          <p:cNvPr id="10" name="Rounded Rectangle 9"/>
          <p:cNvSpPr/>
          <p:nvPr/>
        </p:nvSpPr>
        <p:spPr>
          <a:xfrm>
            <a:off x="7871000" y="228600"/>
            <a:ext cx="4092400" cy="34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82880" rIns="182880" bIns="54864" rtlCol="0" anchor="t"/>
          <a:lstStyle/>
          <a:p>
            <a:pPr algn="l">
              <a:spcAft>
                <a:spcPts val="600"/>
              </a:spcAft>
            </a:pPr>
            <a:r>
              <a:rPr sz="1100" b="1" i="0" cap="all" spc="60">
                <a:solidFill>
                  <a:srgbClr val="000000"/>
                </a:solidFill>
              </a:rPr>
              <a:t>Next milestones</a:t>
            </a:r>
          </a:p>
          <a:p>
            <a:pPr algn="l">
              <a:spcAft>
                <a:spcPts val="500"/>
              </a:spcAft>
            </a:pPr>
            <a:r>
              <a:rPr sz="1300" b="0" i="1">
                <a:solidFill>
                  <a:srgbClr val="60607D"/>
                </a:solidFill>
              </a:rPr>
              <a:t>[Put here: what happens next, and by when. Why: people can hold us to it.]</a:t>
            </a:r>
          </a:p>
        </p:txBody>
      </p:sp>
      <p:sp>
        <p:nvSpPr>
          <p:cNvPr id="11" name="Rounded Rectangle 10"/>
          <p:cNvSpPr/>
          <p:nvPr/>
        </p:nvSpPr>
        <p:spPr>
          <a:xfrm>
            <a:off x="3628600" y="3778600"/>
            <a:ext cx="8334800" cy="2621400"/>
          </a:xfrm>
          <a:prstGeom prst="roundRect">
            <a:avLst>
              <a:gd name="adj" fmla="val 2400"/>
            </a:avLst>
          </a:prstGeom>
          <a:solidFill>
            <a:srgbClr val="000000"/>
          </a:solidFill>
          <a:ln>
            <a:noFill/>
          </a:ln>
          <a:effectLst>
            <a:outerShdw blurRad="190500" dist="50800" dir="5400000" algn="t" rotWithShape="0">
              <a:srgbClr val="000000">
                <a:alpha val="13000"/>
              </a:srgbClr>
            </a:outerShdw>
          </a:effectLst>
        </p:spPr>
        <p:txBody>
          <a:bodyPr wrap="square" lIns="210312" tIns="182880" rIns="182880" bIns="54864" rtlCol="0" anchor="t"/>
          <a:lstStyle/>
          <a:p>
            <a:pPr algn="l">
              <a:spcAft>
                <a:spcPts val="600"/>
              </a:spcAft>
            </a:pPr>
            <a:r>
              <a:rPr sz="1100" b="1" i="0" cap="all" spc="60">
                <a:solidFill>
                  <a:srgbClr val="D6D6DF"/>
                </a:solidFill>
              </a:rPr>
              <a:t>What is in our way / what we need from you</a:t>
            </a:r>
          </a:p>
          <a:p>
            <a:pPr algn="l">
              <a:spcAft>
                <a:spcPts val="500"/>
              </a:spcAft>
            </a:pPr>
            <a:r>
              <a:rPr sz="1300" b="0" i="1">
                <a:solidFill>
                  <a:srgbClr val="D6D6DF"/>
                </a:solidFill>
              </a:rPr>
              <a:t>[Put here: what is blocking us, and what we need from you. Say who, and by when. Why: this is how leaders can help.]</a:t>
            </a:r>
          </a:p>
        </p:txBody>
      </p:sp>
      <p:sp>
        <p:nvSpPr>
          <p:cNvPr id="12" name="Rounded Rectangle 11"/>
          <p:cNvSpPr/>
          <p:nvPr/>
        </p:nvSpPr>
        <p:spPr>
          <a:xfrm>
            <a:off x="508600" y="4920000"/>
            <a:ext cx="2640000" cy="330000"/>
          </a:xfrm>
          <a:prstGeom prst="roundRect">
            <a:avLst>
              <a:gd name="adj" fmla="val 28000"/>
            </a:avLst>
          </a:prstGeom>
          <a:solidFill>
            <a:srgbClr val="000000">
              <a:alpha val="72000"/>
            </a:srgbClr>
          </a:solidFill>
          <a:ln w="9525">
            <a:solidFill>
              <a:srgbClr val="FFFFFF">
                <a:alpha val="45000"/>
              </a:srgbClr>
            </a:solidFill>
          </a:ln>
        </p:spPr>
        <p:txBody>
          <a:bodyPr wrap="square" lIns="150000" tIns="20000" rIns="120000" bIns="20000" rtlCol="0" anchor="ctr"/>
          <a:lstStyle/>
          <a:p>
            <a:pPr algn="l"/>
            <a:r>
              <a:rPr sz="900" b="1" i="0">
                <a:solidFill>
                  <a:srgbClr val="FFFFFF"/>
                </a:solidFill>
              </a:rPr>
              <a:t>Last updated: </a:t>
            </a:r>
            <a:r>
              <a:rPr sz="900" b="0" i="1">
                <a:solidFill>
                  <a:srgbClr val="D6D6DF"/>
                </a:solidFill>
              </a:rPr>
              <a:t>[date]</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 name="Picture 4" descr="f_hero_dash.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endParaRP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Leadership Dashboards</a:t>
            </a:r>
          </a:p>
        </p:txBody>
      </p:sp>
      <p:sp>
        <p:nvSpPr>
          <p:cNvPr id="4" name="Text Placeholder 3"/>
          <p:cNvSpPr>
            <a:spLocks noGrp="1"/>
          </p:cNvSpPr>
          <p:nvPr>
            <p:ph type="body" sz="quarter" idx="12"/>
          </p:nvPr>
        </p:nvSpPr>
        <p:spPr>
          <a:xfrm>
            <a:off x="457200" y="170000"/>
            <a:ext cx="8000000" cy="182880"/>
          </a:xfrm>
        </p:spPr>
        <p:txBody>
          <a:bodyPr/>
          <a:lstStyle/>
          <a:p>
            <a:r>
              <a:rPr>
                <a:solidFill>
                  <a:srgbClr val="0391F2"/>
                </a:solidFill>
              </a:rPr>
              <a:t>LEADERSHIP DASHBOARDS · DETAIL</a:t>
            </a:r>
          </a:p>
        </p:txBody>
      </p:sp>
      <p:sp>
        <p:nvSpPr>
          <p:cNvPr id="7" name="Rounded Rectangle 6"/>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wrap="square" lIns="150000" rIns="120000" rtlCol="0" anchor="ctr"/>
          <a:lstStyle/>
          <a:p>
            <a:pPr algn="l"/>
            <a:r>
              <a:rPr sz="1050" b="1" i="0">
                <a:solidFill>
                  <a:srgbClr val="FFFFFF"/>
                </a:solidFill>
              </a:rPr>
              <a:t>Owner(s)</a:t>
            </a:r>
          </a:p>
          <a:p>
            <a:pPr algn="l"/>
            <a:r>
              <a:rPr sz="900" b="0" i="0">
                <a:solidFill>
                  <a:srgbClr val="D6D6DF"/>
                </a:solidFill>
              </a:rPr>
              <a:t>Missy Foristall, Deana Derocha, Dave Brabec</a:t>
            </a:r>
          </a:p>
        </p:txBody>
      </p:sp>
      <p:sp>
        <p:nvSpPr>
          <p:cNvPr id="8" name="TextBox 7"/>
          <p:cNvSpPr txBox="1"/>
          <p:nvPr/>
        </p:nvSpPr>
        <p:spPr>
          <a:xfrm>
            <a:off x="457200" y="1170000"/>
            <a:ext cx="11277600" cy="457200"/>
          </a:xfrm>
          <a:prstGeom prst="rect">
            <a:avLst/>
          </a:prstGeom>
          <a:noFill/>
        </p:spPr>
        <p:txBody>
          <a:bodyPr wrap="square" lIns="0" tIns="0" rIns="0" bIns="0" anchor="t">
            <a:spAutoFit/>
          </a:bodyPr>
          <a:lstStyle/>
          <a:p>
            <a:pPr algn="l">
              <a:spcAft>
                <a:spcPts val="500"/>
              </a:spcAft>
            </a:pPr>
            <a:r>
              <a:rPr sz="1300" b="1" i="0">
                <a:solidFill>
                  <a:srgbClr val="000000"/>
                </a:solidFill>
              </a:rPr>
              <a:t>One Set of Numbers: </a:t>
            </a:r>
            <a:r>
              <a:rPr sz="1300" b="0" i="0">
                <a:solidFill>
                  <a:srgbClr val="000000"/>
                </a:solidFill>
              </a:rPr>
              <a:t>One place to see the metrics that today live in too many reports — with AI doing the reconciliation, not a person.</a:t>
            </a:r>
          </a:p>
        </p:txBody>
      </p:sp>
      <p:sp>
        <p:nvSpPr>
          <p:cNvPr id="9" name="Rounded Rectangle 8"/>
          <p:cNvSpPr/>
          <p:nvPr/>
        </p:nvSpPr>
        <p:spPr>
          <a:xfrm>
            <a:off x="457200" y="1718640"/>
            <a:ext cx="3659200" cy="219068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000000"/>
                </a:solidFill>
              </a:rPr>
              <a:t>THE PROBLEM</a:t>
            </a:r>
          </a:p>
          <a:p>
            <a:pPr algn="l">
              <a:spcAft>
                <a:spcPts val="500"/>
              </a:spcAft>
            </a:pPr>
            <a:r>
              <a:rPr sz="1200" b="0" i="0">
                <a:solidFill>
                  <a:srgbClr val="000000"/>
                </a:solidFill>
              </a:rPr>
              <a:t>We lack a singular place for leaders to go to see the health of their business.</a:t>
            </a:r>
          </a:p>
          <a:p>
            <a:pPr algn="l">
              <a:spcAft>
                <a:spcPts val="500"/>
              </a:spcAft>
            </a:pPr>
            <a:r>
              <a:rPr sz="1200" b="0" i="0">
                <a:solidFill>
                  <a:srgbClr val="000000"/>
                </a:solidFill>
              </a:rPr>
              <a:t>Resource and financial data sit in separate systems, with no rate cards applied, no burn tracking, and no cross-BU revenue visibility (see Ugam/HelloWorld).</a:t>
            </a:r>
          </a:p>
        </p:txBody>
      </p:sp>
      <p:sp>
        <p:nvSpPr>
          <p:cNvPr id="10" name="Rounded Rectangle 9"/>
          <p:cNvSpPr/>
          <p:nvPr/>
        </p:nvSpPr>
        <p:spPr>
          <a:xfrm>
            <a:off x="4266400" y="1718640"/>
            <a:ext cx="3659200" cy="219068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000000"/>
                </a:solidFill>
              </a:rPr>
              <a:t>WHAT WE NEED TO SOLVE</a:t>
            </a:r>
          </a:p>
          <a:p>
            <a:pPr algn="l">
              <a:spcAft>
                <a:spcPts val="500"/>
              </a:spcAft>
            </a:pPr>
            <a:r>
              <a:rPr sz="1200" b="0" i="0">
                <a:solidFill>
                  <a:srgbClr val="000000"/>
                </a:solidFill>
              </a:rPr>
              <a:t>One leadership dashboard, not just a data-reconciliation project.</a:t>
            </a:r>
          </a:p>
          <a:p>
            <a:pPr algn="l">
              <a:spcAft>
                <a:spcPts val="500"/>
              </a:spcAft>
            </a:pPr>
            <a:r>
              <a:rPr sz="1200" b="0" i="0">
                <a:solidFill>
                  <a:srgbClr val="000000"/>
                </a:solidFill>
              </a:rPr>
              <a:t>It needs to show revenue, margin, and capacity forecasts, manage rate cards and actuals-for-burn, and tie revenue recognition to operational reporting, all in a single page view.</a:t>
            </a:r>
          </a:p>
        </p:txBody>
      </p:sp>
      <p:sp>
        <p:nvSpPr>
          <p:cNvPr id="11" name="Rounded Rectangle 10"/>
          <p:cNvSpPr/>
          <p:nvPr/>
        </p:nvSpPr>
        <p:spPr>
          <a:xfrm>
            <a:off x="8075600" y="1718640"/>
            <a:ext cx="3659200" cy="219068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000000"/>
                </a:solidFill>
              </a:rPr>
              <a:t>WHY?</a:t>
            </a:r>
          </a:p>
          <a:p>
            <a:pPr algn="l">
              <a:spcAft>
                <a:spcPts val="500"/>
              </a:spcAft>
            </a:pPr>
            <a:r>
              <a:rPr sz="1200" b="0" i="0">
                <a:solidFill>
                  <a:srgbClr val="000000"/>
                </a:solidFill>
              </a:rPr>
              <a:t>We’re running the business off lagging metrics or incomplete ones.  Example: We can see client or project margin but not practice margin. And costs live in a Finance spreadsheet that we see once a month.</a:t>
            </a:r>
          </a:p>
        </p:txBody>
      </p:sp>
      <p:sp>
        <p:nvSpPr>
          <p:cNvPr id="12" name="Rounded Rectangle 11"/>
          <p:cNvSpPr/>
          <p:nvPr/>
        </p:nvSpPr>
        <p:spPr>
          <a:xfrm>
            <a:off x="457200" y="4059320"/>
            <a:ext cx="5563800" cy="219068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000000"/>
                </a:solidFill>
              </a:rPr>
              <a:t>PRELIMINARY THOUGHTS</a:t>
            </a:r>
          </a:p>
          <a:p>
            <a:pPr marL="171450" indent="-171450" algn="l">
              <a:spcAft>
                <a:spcPts val="500"/>
              </a:spcAft>
              <a:buFont typeface="Arial"/>
              <a:buChar char="•"/>
            </a:pPr>
            <a:r>
              <a:rPr sz="1200" b="0" i="0">
                <a:solidFill>
                  <a:srgbClr val="000000"/>
                </a:solidFill>
              </a:rPr>
              <a:t>Dashboard of key metrics by BU (margin, revenue actuals compared to budget), top clients, average client margin, etc, that can be broken down by practice, L3, etc.</a:t>
            </a:r>
          </a:p>
          <a:p>
            <a:pPr marL="171450" indent="-171450" algn="l">
              <a:spcAft>
                <a:spcPts val="500"/>
              </a:spcAft>
              <a:buFont typeface="Arial"/>
              <a:buChar char="•"/>
            </a:pPr>
            <a:r>
              <a:rPr sz="1200" b="0" i="0">
                <a:solidFill>
                  <a:srgbClr val="000000"/>
                </a:solidFill>
              </a:rPr>
              <a:t>Will link out to existing reports for more details – no need to recreate the wheel for all metrics.</a:t>
            </a:r>
          </a:p>
          <a:p>
            <a:pPr marL="171450" indent="-171450" algn="l">
              <a:spcAft>
                <a:spcPts val="500"/>
              </a:spcAft>
              <a:buFont typeface="Arial"/>
              <a:buChar char="•"/>
            </a:pPr>
            <a:r>
              <a:rPr sz="1200" b="0" i="0">
                <a:solidFill>
                  <a:srgbClr val="000000"/>
                </a:solidFill>
              </a:rPr>
              <a:t>May need to be locked down to only key leaders based on what is included.</a:t>
            </a:r>
          </a:p>
        </p:txBody>
      </p:sp>
      <p:sp>
        <p:nvSpPr>
          <p:cNvPr id="13" name="Rounded Rectangle 12"/>
          <p:cNvSpPr/>
          <p:nvPr/>
        </p:nvSpPr>
        <p:spPr>
          <a:xfrm>
            <a:off x="6171000" y="4059320"/>
            <a:ext cx="5563800" cy="219068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000000"/>
                </a:solidFill>
              </a:rPr>
              <a:t>NEXT STEPS</a:t>
            </a:r>
          </a:p>
          <a:p>
            <a:pPr marL="171450" indent="-171450" algn="l">
              <a:spcAft>
                <a:spcPts val="500"/>
              </a:spcAft>
              <a:buFont typeface="Arial"/>
              <a:buChar char="•"/>
            </a:pPr>
            <a:r>
              <a:rPr sz="1200" b="0" i="0">
                <a:solidFill>
                  <a:srgbClr val="000000"/>
                </a:solidFill>
              </a:rPr>
              <a:t>Determine critical metrics for main dashboard</a:t>
            </a:r>
          </a:p>
          <a:p>
            <a:pPr marL="171450" indent="-171450" algn="l">
              <a:spcAft>
                <a:spcPts val="500"/>
              </a:spcAft>
              <a:buFont typeface="Arial"/>
              <a:buChar char="•"/>
            </a:pPr>
            <a:r>
              <a:rPr sz="1200" b="0" i="0">
                <a:solidFill>
                  <a:srgbClr val="000000"/>
                </a:solidFill>
              </a:rPr>
              <a:t>Determine what’s available now and how to access the rest</a:t>
            </a:r>
          </a:p>
          <a:p>
            <a:pPr marL="171450" indent="-171450" algn="l">
              <a:spcAft>
                <a:spcPts val="500"/>
              </a:spcAft>
              <a:buFont typeface="Arial"/>
              <a:buChar char="•"/>
            </a:pPr>
            <a:r>
              <a:rPr sz="1200" b="0" i="0">
                <a:solidFill>
                  <a:srgbClr val="000000"/>
                </a:solidFill>
              </a:rPr>
              <a:t>Create a demo view for initial phase</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pic>
        <p:nvPicPr>
          <p:cNvPr id="5" name="Picture 4" descr="f_hero_library.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endParaRP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Images: Leadership Dashboards</a:t>
            </a:r>
          </a:p>
        </p:txBody>
      </p:sp>
      <p:sp>
        <p:nvSpPr>
          <p:cNvPr id="4" name="Text Placeholder 3"/>
          <p:cNvSpPr>
            <a:spLocks noGrp="1"/>
          </p:cNvSpPr>
          <p:nvPr>
            <p:ph type="body" sz="quarter" idx="12"/>
          </p:nvPr>
        </p:nvSpPr>
        <p:spPr>
          <a:xfrm>
            <a:off x="457200" y="170000"/>
            <a:ext cx="8000000" cy="182880"/>
          </a:xfrm>
        </p:spPr>
        <p:txBody>
          <a:bodyPr/>
          <a:lstStyle/>
          <a:p>
            <a:r>
              <a:rPr>
                <a:solidFill>
                  <a:srgbClr val="0391F2"/>
                </a:solidFill>
              </a:rPr>
              <a:t>HIDDEN SLIDE · IMAGES FOR THIS PRIORITY</a:t>
            </a:r>
          </a:p>
        </p:txBody>
      </p:sp>
      <p:sp>
        <p:nvSpPr>
          <p:cNvPr id="7" name="TextBox 6"/>
          <p:cNvSpPr txBox="1"/>
          <p:nvPr/>
        </p:nvSpPr>
        <p:spPr>
          <a:xfrm>
            <a:off x="457200" y="1150000"/>
            <a:ext cx="11277600" cy="411480"/>
          </a:xfrm>
          <a:prstGeom prst="rect">
            <a:avLst/>
          </a:prstGeom>
          <a:noFill/>
        </p:spPr>
        <p:txBody>
          <a:bodyPr wrap="square" lIns="0" rIns="0" tIns="0" bIns="0">
            <a:spAutoFit/>
          </a:bodyPr>
          <a:lstStyle/>
          <a:p>
            <a:r>
              <a:rPr sz="1100" b="0" i="0">
                <a:solidFill>
                  <a:srgbClr val="000000"/>
                </a:solidFill>
              </a:rPr>
              <a:t>One image for this priority. Use it on every slide of the priority: the divider, the header band, the update panel, and any split image or banner in a detail slide. This slide is hidden: it does not show when presenting.</a:t>
            </a:r>
          </a:p>
        </p:txBody>
      </p:sp>
      <p:sp>
        <p:nvSpPr>
          <p:cNvPr id="8" name="TextBox 7"/>
          <p:cNvSpPr txBox="1"/>
          <p:nvPr/>
        </p:nvSpPr>
        <p:spPr>
          <a:xfrm>
            <a:off x="457200" y="1627200"/>
            <a:ext cx="3474720" cy="201168"/>
          </a:xfrm>
          <a:prstGeom prst="rect">
            <a:avLst/>
          </a:prstGeom>
          <a:noFill/>
        </p:spPr>
        <p:txBody>
          <a:bodyPr wrap="square" lIns="0" rIns="0" tIns="0" bIns="0">
            <a:spAutoFit/>
          </a:bodyPr>
          <a:lstStyle/>
          <a:p>
            <a:r>
              <a:rPr sz="850" b="1" i="0" cap="all" spc="100">
                <a:solidFill>
                  <a:srgbClr val="60607D"/>
                </a:solidFill>
              </a:rPr>
              <a:t>Source image</a:t>
            </a:r>
          </a:p>
        </p:txBody>
      </p:sp>
      <p:pic>
        <p:nvPicPr>
          <p:cNvPr id="9" name="Picture 8" descr="f_img2_dash_Sour.jpg"/>
          <p:cNvPicPr>
            <a:picLocks noChangeAspect="1"/>
          </p:cNvPicPr>
          <p:nvPr/>
        </p:nvPicPr>
        <p:blipFill>
          <a:blip r:embed="rId7"/>
          <a:stretch>
            <a:fillRect/>
          </a:stretch>
        </p:blipFill>
        <p:spPr>
          <a:xfrm>
            <a:off x="457200" y="1864944"/>
            <a:ext cx="3017520" cy="1828800"/>
          </a:xfrm>
          <a:prstGeom prst="rect">
            <a:avLst/>
          </a:prstGeom>
        </p:spPr>
      </p:pic>
      <p:sp>
        <p:nvSpPr>
          <p:cNvPr id="10" name="TextBox 9"/>
          <p:cNvSpPr txBox="1"/>
          <p:nvPr/>
        </p:nvSpPr>
        <p:spPr>
          <a:xfrm>
            <a:off x="3794760" y="1627200"/>
            <a:ext cx="3703320" cy="201168"/>
          </a:xfrm>
          <a:prstGeom prst="rect">
            <a:avLst/>
          </a:prstGeom>
          <a:noFill/>
        </p:spPr>
        <p:txBody>
          <a:bodyPr wrap="square" lIns="0" rIns="0" tIns="0" bIns="0">
            <a:spAutoFit/>
          </a:bodyPr>
          <a:lstStyle/>
          <a:p>
            <a:r>
              <a:rPr sz="850" b="1" i="0" cap="all" spc="100">
                <a:solidFill>
                  <a:srgbClr val="60607D"/>
                </a:solidFill>
              </a:rPr>
              <a:t>Divider</a:t>
            </a:r>
          </a:p>
        </p:txBody>
      </p:sp>
      <p:pic>
        <p:nvPicPr>
          <p:cNvPr id="11" name="Picture 10" descr="image.jpg"/>
          <p:cNvPicPr>
            <a:picLocks noChangeAspect="1"/>
          </p:cNvPicPr>
          <p:nvPr/>
        </p:nvPicPr>
        <p:blipFill>
          <a:blip r:embed="rId4"/>
          <a:stretch>
            <a:fillRect/>
          </a:stretch>
        </p:blipFill>
        <p:spPr>
          <a:xfrm>
            <a:off x="3794760" y="1864944"/>
            <a:ext cx="3246120" cy="1828800"/>
          </a:xfrm>
          <a:prstGeom prst="rect">
            <a:avLst/>
          </a:prstGeom>
        </p:spPr>
      </p:pic>
      <p:sp>
        <p:nvSpPr>
          <p:cNvPr id="12" name="TextBox 11"/>
          <p:cNvSpPr txBox="1"/>
          <p:nvPr/>
        </p:nvSpPr>
        <p:spPr>
          <a:xfrm>
            <a:off x="7360920" y="1627200"/>
            <a:ext cx="1435608" cy="201168"/>
          </a:xfrm>
          <a:prstGeom prst="rect">
            <a:avLst/>
          </a:prstGeom>
          <a:noFill/>
        </p:spPr>
        <p:txBody>
          <a:bodyPr wrap="square" lIns="0" rIns="0" tIns="0" bIns="0">
            <a:spAutoFit/>
          </a:bodyPr>
          <a:lstStyle/>
          <a:p>
            <a:r>
              <a:rPr sz="850" b="1" i="0" cap="all" spc="100">
                <a:solidFill>
                  <a:srgbClr val="60607D"/>
                </a:solidFill>
              </a:rPr>
              <a:t>Split image</a:t>
            </a:r>
          </a:p>
        </p:txBody>
      </p:sp>
      <p:pic>
        <p:nvPicPr>
          <p:cNvPr id="13" name="Picture 12" descr="f_img2_dash_Spli.jpg"/>
          <p:cNvPicPr>
            <a:picLocks noChangeAspect="1"/>
          </p:cNvPicPr>
          <p:nvPr/>
        </p:nvPicPr>
        <p:blipFill>
          <a:blip r:embed="rId8"/>
          <a:stretch>
            <a:fillRect/>
          </a:stretch>
        </p:blipFill>
        <p:spPr>
          <a:xfrm>
            <a:off x="7360920" y="1864944"/>
            <a:ext cx="978408" cy="1828800"/>
          </a:xfrm>
          <a:prstGeom prst="rect">
            <a:avLst/>
          </a:prstGeom>
        </p:spPr>
      </p:pic>
      <p:sp>
        <p:nvSpPr>
          <p:cNvPr id="14" name="TextBox 13"/>
          <p:cNvSpPr txBox="1"/>
          <p:nvPr/>
        </p:nvSpPr>
        <p:spPr>
          <a:xfrm>
            <a:off x="8659368" y="1627200"/>
            <a:ext cx="1408176" cy="201168"/>
          </a:xfrm>
          <a:prstGeom prst="rect">
            <a:avLst/>
          </a:prstGeom>
          <a:noFill/>
        </p:spPr>
        <p:txBody>
          <a:bodyPr wrap="square" lIns="0" rIns="0" tIns="0" bIns="0">
            <a:spAutoFit/>
          </a:bodyPr>
          <a:lstStyle/>
          <a:p>
            <a:r>
              <a:rPr sz="850" b="1" i="0" cap="all" spc="100">
                <a:solidFill>
                  <a:srgbClr val="60607D"/>
                </a:solidFill>
              </a:rPr>
              <a:t>Update panel</a:t>
            </a:r>
          </a:p>
        </p:txBody>
      </p:sp>
      <p:pic>
        <p:nvPicPr>
          <p:cNvPr id="15" name="Picture 14" descr="image.jpg"/>
          <p:cNvPicPr>
            <a:picLocks noChangeAspect="1"/>
          </p:cNvPicPr>
          <p:nvPr/>
        </p:nvPicPr>
        <p:blipFill>
          <a:blip r:embed="rId5"/>
          <a:stretch>
            <a:fillRect/>
          </a:stretch>
        </p:blipFill>
        <p:spPr>
          <a:xfrm>
            <a:off x="8659368" y="1864944"/>
            <a:ext cx="950976" cy="1828800"/>
          </a:xfrm>
          <a:prstGeom prst="rect">
            <a:avLst/>
          </a:prstGeom>
        </p:spPr>
      </p:pic>
      <p:sp>
        <p:nvSpPr>
          <p:cNvPr id="16" name="TextBox 15"/>
          <p:cNvSpPr txBox="1"/>
          <p:nvPr/>
        </p:nvSpPr>
        <p:spPr>
          <a:xfrm>
            <a:off x="457200" y="3922344"/>
            <a:ext cx="2743200" cy="201168"/>
          </a:xfrm>
          <a:prstGeom prst="rect">
            <a:avLst/>
          </a:prstGeom>
          <a:noFill/>
        </p:spPr>
        <p:txBody>
          <a:bodyPr wrap="square" lIns="0" rIns="0" tIns="0" bIns="0">
            <a:spAutoFit/>
          </a:bodyPr>
          <a:lstStyle/>
          <a:p>
            <a:r>
              <a:rPr sz="850" b="1" i="0" cap="all" spc="100">
                <a:solidFill>
                  <a:srgbClr val="60607D"/>
                </a:solidFill>
              </a:rPr>
              <a:t>Header band</a:t>
            </a:r>
          </a:p>
        </p:txBody>
      </p:sp>
      <p:pic>
        <p:nvPicPr>
          <p:cNvPr id="17" name="Picture 16" descr="image.jpg"/>
          <p:cNvPicPr>
            <a:picLocks noChangeAspect="1"/>
          </p:cNvPicPr>
          <p:nvPr/>
        </p:nvPicPr>
        <p:blipFill>
          <a:blip r:embed="rId9"/>
          <a:stretch>
            <a:fillRect/>
          </a:stretch>
        </p:blipFill>
        <p:spPr>
          <a:xfrm>
            <a:off x="457200" y="4160088"/>
            <a:ext cx="6035040" cy="495000"/>
          </a:xfrm>
          <a:prstGeom prst="rect">
            <a:avLst/>
          </a:prstGeom>
        </p:spPr>
      </p:pic>
      <p:sp>
        <p:nvSpPr>
          <p:cNvPr id="18" name="TextBox 17"/>
          <p:cNvSpPr txBox="1"/>
          <p:nvPr/>
        </p:nvSpPr>
        <p:spPr>
          <a:xfrm>
            <a:off x="6949440" y="3922344"/>
            <a:ext cx="2743200" cy="201168"/>
          </a:xfrm>
          <a:prstGeom prst="rect">
            <a:avLst/>
          </a:prstGeom>
          <a:noFill/>
        </p:spPr>
        <p:txBody>
          <a:bodyPr wrap="square" lIns="0" rIns="0" tIns="0" bIns="0">
            <a:spAutoFit/>
          </a:bodyPr>
          <a:lstStyle/>
          <a:p>
            <a:r>
              <a:rPr sz="850" b="1" i="0" cap="all" spc="100">
                <a:solidFill>
                  <a:srgbClr val="60607D"/>
                </a:solidFill>
              </a:rPr>
              <a:t>Banner (flow with banner)</a:t>
            </a:r>
          </a:p>
        </p:txBody>
      </p:sp>
      <p:sp>
        <p:nvSpPr>
          <p:cNvPr id="19" name="TextBox 18"/>
          <p:cNvSpPr txBox="1"/>
          <p:nvPr/>
        </p:nvSpPr>
        <p:spPr>
          <a:xfrm>
            <a:off x="457200" y="5385384"/>
            <a:ext cx="11277600" cy="548640"/>
          </a:xfrm>
          <a:prstGeom prst="rect">
            <a:avLst/>
          </a:prstGeom>
          <a:noFill/>
        </p:spPr>
        <p:txBody>
          <a:bodyPr wrap="square" lIns="0" rIns="0" tIns="0" bIns="0">
            <a:spAutoFit/>
          </a:bodyPr>
          <a:lstStyle/>
          <a:p>
            <a:r>
              <a:rPr sz="1050" b="0" i="0">
                <a:solidFill>
                  <a:srgbClr val="60607D"/>
                </a:solidFill>
              </a:rPr>
              <a:t>Split image (full height): used by Split with points, Image and two phases, Six blocks and a takeaway, and Goal and three pillars. Banner: used by Flow with banner. Divider, header band and update panel: used on every slide in this priority.</a:t>
            </a:r>
          </a:p>
        </p:txBody>
      </p:sp>
      <p:pic>
        <p:nvPicPr>
          <p:cNvPr id="20" name="Picture 19" descr="f_img2_dash_ban.jpg"/>
          <p:cNvPicPr>
            <a:picLocks noChangeAspect="1"/>
          </p:cNvPicPr>
          <p:nvPr/>
        </p:nvPicPr>
        <p:blipFill>
          <a:blip r:embed="rId10"/>
          <a:stretch>
            <a:fillRect/>
          </a:stretch>
        </p:blipFill>
        <p:spPr>
          <a:xfrm>
            <a:off x="6949440" y="4160088"/>
            <a:ext cx="4480560" cy="93345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f_div_cap.jpg"/>
          <p:cNvPicPr>
            <a:picLocks noChangeAspect="1"/>
          </p:cNvPicPr>
          <p:nvPr/>
        </p:nvPicPr>
        <p:blipFill>
          <a:blip r:embed="rId2"/>
          <a:stretch>
            <a:fillRect/>
          </a:stretch>
        </p:blipFill>
        <p:spPr>
          <a:xfrm>
            <a:off x="0" y="0"/>
            <a:ext cx="12192000" cy="6858000"/>
          </a:xfrm>
          <a:prstGeom prst="rect">
            <a:avLst/>
          </a:prstGeom>
        </p:spPr>
      </p:pic>
      <p:sp>
        <p:nvSpPr>
          <p:cNvPr id="5" name="Rectangle 4"/>
          <p:cNvSpPr/>
          <p:nvPr/>
        </p:nvSpPr>
        <p:spPr>
          <a:xfrm>
            <a:off x="0" y="0"/>
            <a:ext cx="12192000" cy="6858000"/>
          </a:xfrm>
          <a:prstGeom prst="rect">
            <a:avLst/>
          </a:prstGeom>
          <a:gradFill rotWithShape="1">
            <a:gsLst>
              <a:gs pos="0">
                <a:srgbClr val="000000">
                  <a:alpha val="90000"/>
                </a:srgbClr>
              </a:gs>
              <a:gs pos="42000">
                <a:srgbClr val="000000">
                  <a:alpha val="58000"/>
                </a:srgbClr>
              </a:gs>
              <a:gs pos="100000">
                <a:srgbClr val="000000">
                  <a:alpha val="26000"/>
                </a:srgbClr>
              </a:gs>
            </a:gsLst>
            <a:lin ang="0" scaled="0"/>
          </a:gradFill>
          <a:ln>
            <a:noFill/>
          </a:ln>
        </p:spPr>
        <p:txBody>
          <a:bodyPr rtlCol="0" anchor="ctr"/>
          <a:lstStyle/>
          <a:p>
            <a:pPr algn="ctr"/>
            <a:endParaRPr/>
          </a:p>
        </p:txBody>
      </p:sp>
      <p:sp>
        <p:nvSpPr>
          <p:cNvPr id="6" name="Rectangle 5"/>
          <p:cNvSpPr/>
          <p:nvPr/>
        </p:nvSpPr>
        <p:spPr>
          <a:xfrm>
            <a:off x="0" y="0"/>
            <a:ext cx="12192000" cy="6858000"/>
          </a:xfrm>
          <a:prstGeom prst="rect">
            <a:avLst/>
          </a:prstGeom>
          <a:gradFill rotWithShape="1">
            <a:gsLst>
              <a:gs pos="0">
                <a:srgbClr val="000000">
                  <a:alpha val="0"/>
                </a:srgbClr>
              </a:gs>
              <a:gs pos="45000">
                <a:srgbClr val="000000">
                  <a:alpha val="10000"/>
                </a:srgbClr>
              </a:gs>
              <a:gs pos="100000">
                <a:srgbClr val="000000">
                  <a:alpha val="58000"/>
                </a:srgbClr>
              </a:gs>
            </a:gsLst>
            <a:lin ang="5400000" scaled="0"/>
          </a:gradFill>
          <a:ln>
            <a:noFill/>
          </a:ln>
        </p:spPr>
        <p:txBody>
          <a:bodyPr rtlCol="0" anchor="ctr"/>
          <a:lstStyle/>
          <a:p>
            <a:pPr algn="ctr"/>
            <a:endParaRPr/>
          </a:p>
        </p:txBody>
      </p:sp>
      <p:sp>
        <p:nvSpPr>
          <p:cNvPr id="8" name="Rounded Rectangle 7"/>
          <p:cNvSpPr/>
          <p:nvPr/>
        </p:nvSpPr>
        <p:spPr>
          <a:xfrm>
            <a:off x="640080" y="685800"/>
            <a:ext cx="6583680" cy="2827376"/>
          </a:xfrm>
          <a:prstGeom prst="roundRect">
            <a:avLst>
              <a:gd name="adj" fmla="val 2500"/>
            </a:avLst>
          </a:prstGeom>
          <a:solidFill>
            <a:srgbClr val="000000">
              <a:alpha val="62000"/>
            </a:srgbClr>
          </a:solidFill>
          <a:ln>
            <a:noFill/>
          </a:ln>
        </p:spPr>
        <p:txBody>
          <a:bodyPr rtlCol="0" anchor="ctr"/>
          <a:lstStyle/>
          <a:p>
            <a:pPr algn="ctr"/>
            <a:endParaRPr/>
          </a:p>
        </p:txBody>
      </p:sp>
      <p:sp>
        <p:nvSpPr>
          <p:cNvPr id="2" name="Title 1"/>
          <p:cNvSpPr>
            <a:spLocks noGrp="1"/>
          </p:cNvSpPr>
          <p:nvPr>
            <p:ph type="title"/>
          </p:nvPr>
        </p:nvSpPr>
        <p:spPr>
          <a:xfrm>
            <a:off x="914400" y="1316736"/>
            <a:ext cx="6400800" cy="2194560"/>
          </a:xfrm>
        </p:spPr>
        <p:txBody>
          <a:bodyPr anchor="t"/>
          <a:lstStyle/>
          <a:p>
            <a:r>
              <a:rPr sz="4000"/>
              <a:t>Capacity Planning &amp; Romulus</a:t>
            </a:r>
          </a:p>
        </p:txBody>
      </p:sp>
      <p:sp>
        <p:nvSpPr>
          <p:cNvPr id="3" name="Text Placeholder 2"/>
          <p:cNvSpPr>
            <a:spLocks noGrp="1"/>
          </p:cNvSpPr>
          <p:nvPr>
            <p:ph type="body" sz="quarter" idx="15"/>
          </p:nvPr>
        </p:nvSpPr>
        <p:spPr>
          <a:xfrm>
            <a:off x="914400" y="914400"/>
            <a:ext cx="6400800" cy="292608"/>
          </a:xfrm>
        </p:spPr>
        <p:txBody>
          <a:bodyPr/>
          <a:lstStyle/>
          <a:p>
            <a:r>
              <a:t>OPS PRIORITIES</a:t>
            </a:r>
          </a:p>
        </p:txBody>
      </p:sp>
      <p:sp>
        <p:nvSpPr>
          <p:cNvPr id="7" name="TextBox 6"/>
          <p:cNvSpPr txBox="1"/>
          <p:nvPr/>
        </p:nvSpPr>
        <p:spPr>
          <a:xfrm>
            <a:off x="914400" y="2735936"/>
            <a:ext cx="5943600" cy="548640"/>
          </a:xfrm>
          <a:prstGeom prst="rect">
            <a:avLst/>
          </a:prstGeom>
          <a:noFill/>
        </p:spPr>
        <p:txBody>
          <a:bodyPr wrap="square" lIns="0" tIns="0" rIns="0" bIns="0" anchor="t">
            <a:spAutoFit/>
          </a:bodyPr>
          <a:lstStyle/>
          <a:p>
            <a:pPr algn="l">
              <a:spcBef>
                <a:spcPts val="200"/>
              </a:spcBef>
              <a:spcAft>
                <a:spcPts val="200"/>
              </a:spcAft>
            </a:pPr>
            <a:r>
              <a:rPr sz="850" b="1" i="0" cap="all" spc="100">
                <a:solidFill>
                  <a:srgbClr val="D6D6DF"/>
                </a:solidFill>
              </a:rPr>
              <a:t>Owner(s)</a:t>
            </a:r>
          </a:p>
          <a:p>
            <a:pPr algn="l">
              <a:spcAft>
                <a:spcPts val="500"/>
              </a:spcAft>
            </a:pPr>
            <a:r>
              <a:rPr sz="1400" b="0" i="0">
                <a:solidFill>
                  <a:srgbClr val="D6D6DF"/>
                </a:solidFill>
              </a:rPr>
              <a:t>Missy Foristall, Adam Organ</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 name="Picture 4" descr="f_hero_cap.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endParaRP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Capacity Planning &amp; Romulus</a:t>
            </a:r>
          </a:p>
        </p:txBody>
      </p:sp>
      <p:sp>
        <p:nvSpPr>
          <p:cNvPr id="4" name="Text Placeholder 3"/>
          <p:cNvSpPr>
            <a:spLocks noGrp="1"/>
          </p:cNvSpPr>
          <p:nvPr>
            <p:ph type="body" sz="quarter" idx="12"/>
          </p:nvPr>
        </p:nvSpPr>
        <p:spPr>
          <a:xfrm>
            <a:off x="457200" y="170000"/>
            <a:ext cx="8000000" cy="182880"/>
          </a:xfrm>
        </p:spPr>
        <p:txBody>
          <a:bodyPr/>
          <a:lstStyle/>
          <a:p>
            <a:r>
              <a:rPr>
                <a:solidFill>
                  <a:srgbClr val="0391F2"/>
                </a:solidFill>
              </a:rPr>
              <a:t>OPS PRIORITIES · EXEC SUMMARY</a:t>
            </a:r>
          </a:p>
        </p:txBody>
      </p:sp>
      <p:sp>
        <p:nvSpPr>
          <p:cNvPr id="7" name="Rounded Rectangle 6"/>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wrap="square" lIns="150000" rIns="120000" rtlCol="0" anchor="ctr"/>
          <a:lstStyle/>
          <a:p>
            <a:pPr algn="l"/>
            <a:r>
              <a:rPr sz="1050" b="1" i="0">
                <a:solidFill>
                  <a:srgbClr val="FFFFFF"/>
                </a:solidFill>
              </a:rPr>
              <a:t>Owner(s)</a:t>
            </a:r>
          </a:p>
          <a:p>
            <a:pPr algn="l"/>
            <a:r>
              <a:rPr sz="900" b="0" i="0">
                <a:solidFill>
                  <a:srgbClr val="D6D6DF"/>
                </a:solidFill>
              </a:rPr>
              <a:t>Missy Foristall, Adam Organ</a:t>
            </a:r>
          </a:p>
        </p:txBody>
      </p:sp>
      <p:sp>
        <p:nvSpPr>
          <p:cNvPr id="8" name="Rounded Rectangle 7"/>
          <p:cNvSpPr/>
          <p:nvPr/>
        </p:nvSpPr>
        <p:spPr>
          <a:xfrm>
            <a:off x="457200" y="1080000"/>
            <a:ext cx="5563800" cy="1950000"/>
          </a:xfrm>
          <a:prstGeom prst="roundRect">
            <a:avLst>
              <a:gd name="adj" fmla="val 3200"/>
            </a:avLst>
          </a:prstGeom>
          <a:solidFill>
            <a:srgbClr val="000000"/>
          </a:solidFill>
          <a:ln>
            <a:no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D6D6DF"/>
                </a:solidFill>
              </a:rPr>
              <a:t>2026 Goal</a:t>
            </a:r>
          </a:p>
          <a:p>
            <a:pPr algn="l">
              <a:spcBef>
                <a:spcPts val="400"/>
              </a:spcBef>
              <a:spcAft>
                <a:spcPts val="500"/>
              </a:spcAft>
            </a:pPr>
            <a:r>
              <a:rPr sz="1150" b="1" i="0">
                <a:solidFill>
                  <a:srgbClr val="FFFFFF"/>
                </a:solidFill>
              </a:rPr>
              <a:t>Move from insight to action: close the skills and bench visibility gap so we can staff ahead of demand.</a:t>
            </a:r>
          </a:p>
        </p:txBody>
      </p:sp>
      <p:sp>
        <p:nvSpPr>
          <p:cNvPr id="9" name="Rounded Rectangle 8"/>
          <p:cNvSpPr/>
          <p:nvPr/>
        </p:nvSpPr>
        <p:spPr>
          <a:xfrm>
            <a:off x="6171000" y="1080000"/>
            <a:ext cx="5563800" cy="195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000000"/>
                </a:solidFill>
              </a:rPr>
              <a:t>The problem</a:t>
            </a:r>
          </a:p>
          <a:p>
            <a:pPr algn="l">
              <a:spcAft>
                <a:spcPts val="500"/>
              </a:spcAft>
            </a:pPr>
            <a:r>
              <a:rPr sz="1150" b="0" i="1">
                <a:solidFill>
                  <a:srgbClr val="60607D"/>
                </a:solidFill>
              </a:rPr>
              <a:t>[Put here: what is broken today, in plain words.]</a:t>
            </a:r>
          </a:p>
          <a:p>
            <a:pPr algn="l">
              <a:spcAft>
                <a:spcPts val="500"/>
              </a:spcAft>
            </a:pPr>
            <a:r>
              <a:rPr sz="1150" b="0" i="1">
                <a:solidFill>
                  <a:srgbClr val="60607D"/>
                </a:solidFill>
              </a:rPr>
              <a:t>[Why: people only back a fix if they can feel the problem.]</a:t>
            </a:r>
          </a:p>
        </p:txBody>
      </p:sp>
      <p:sp>
        <p:nvSpPr>
          <p:cNvPr id="10" name="Rounded Rectangle 9"/>
          <p:cNvSpPr/>
          <p:nvPr/>
        </p:nvSpPr>
        <p:spPr>
          <a:xfrm>
            <a:off x="457200" y="3130000"/>
            <a:ext cx="5563800" cy="22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000000"/>
                </a:solidFill>
              </a:rPr>
              <a:t>What we are changing</a:t>
            </a:r>
          </a:p>
          <a:p>
            <a:pPr algn="l">
              <a:spcAft>
                <a:spcPts val="500"/>
              </a:spcAft>
            </a:pPr>
            <a:r>
              <a:rPr sz="1150" b="0" i="1">
                <a:solidFill>
                  <a:srgbClr val="60607D"/>
                </a:solidFill>
              </a:rPr>
              <a:t>[Put here: what we will do differently. Use short bullets.]</a:t>
            </a:r>
          </a:p>
          <a:p>
            <a:pPr algn="l">
              <a:spcAft>
                <a:spcPts val="500"/>
              </a:spcAft>
            </a:pPr>
            <a:r>
              <a:rPr sz="1150" b="0" i="1">
                <a:solidFill>
                  <a:srgbClr val="60607D"/>
                </a:solidFill>
              </a:rPr>
              <a:t>[Why: it shows we have a plan, not just a worry.]</a:t>
            </a:r>
          </a:p>
        </p:txBody>
      </p:sp>
      <p:sp>
        <p:nvSpPr>
          <p:cNvPr id="11" name="Rounded Rectangle 10"/>
          <p:cNvSpPr/>
          <p:nvPr/>
        </p:nvSpPr>
        <p:spPr>
          <a:xfrm>
            <a:off x="6171000" y="3130000"/>
            <a:ext cx="5563800" cy="2280000"/>
          </a:xfrm>
          <a:prstGeom prst="roundRect">
            <a:avLst>
              <a:gd name="adj" fmla="val 3200"/>
            </a:avLst>
          </a:prstGeom>
          <a:solidFill>
            <a:srgbClr val="000000"/>
          </a:solidFill>
          <a:ln>
            <a:no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D6D6DF"/>
                </a:solidFill>
              </a:rPr>
              <a:t>What this unlocks</a:t>
            </a:r>
          </a:p>
          <a:p>
            <a:pPr algn="l">
              <a:spcAft>
                <a:spcPts val="500"/>
              </a:spcAft>
            </a:pPr>
            <a:r>
              <a:rPr sz="1150" b="0" i="1">
                <a:solidFill>
                  <a:srgbClr val="D6D6DF"/>
                </a:solidFill>
              </a:rPr>
              <a:t>[Put here: what gets better once this works.]</a:t>
            </a:r>
          </a:p>
          <a:p>
            <a:pPr algn="l">
              <a:spcAft>
                <a:spcPts val="500"/>
              </a:spcAft>
            </a:pPr>
            <a:r>
              <a:rPr sz="1150" b="0" i="1">
                <a:solidFill>
                  <a:srgbClr val="D6D6DF"/>
                </a:solidFill>
              </a:rPr>
              <a:t>[Why: it is the reason the effort is worth it.]</a:t>
            </a:r>
          </a:p>
        </p:txBody>
      </p:sp>
      <p:sp>
        <p:nvSpPr>
          <p:cNvPr id="12" name="Rounded Rectangle 11"/>
          <p:cNvSpPr/>
          <p:nvPr/>
        </p:nvSpPr>
        <p:spPr>
          <a:xfrm>
            <a:off x="457200" y="5510000"/>
            <a:ext cx="11277600" cy="890000"/>
          </a:xfrm>
          <a:prstGeom prst="roundRect">
            <a:avLst>
              <a:gd name="adj" fmla="val 6000"/>
            </a:avLst>
          </a:prstGeom>
          <a:solidFill>
            <a:srgbClr val="000000"/>
          </a:solidFill>
          <a:ln>
            <a:noFill/>
          </a:ln>
          <a:effectLst>
            <a:outerShdw blurRad="190500" dist="50800" dir="5400000" algn="t" rotWithShape="0">
              <a:srgbClr val="000000">
                <a:alpha val="13000"/>
              </a:srgbClr>
            </a:outerShdw>
          </a:effectLst>
        </p:spPr>
        <p:txBody>
          <a:bodyPr wrap="square" lIns="300000" tIns="50000" rIns="300000" bIns="50000" rtlCol="0" anchor="ctr"/>
          <a:lstStyle/>
          <a:p>
            <a:pPr algn="l"/>
            <a:r>
              <a:rPr sz="900" b="1" i="0" cap="all" spc="100">
                <a:solidFill>
                  <a:srgbClr val="D6D6DF"/>
                </a:solidFill>
              </a:rPr>
              <a:t>Key takeaway</a:t>
            </a:r>
          </a:p>
          <a:p>
            <a:pPr algn="l"/>
            <a:r>
              <a:rPr sz="1200" b="1" i="0">
                <a:solidFill>
                  <a:srgbClr val="FFFFFF"/>
                </a:solidFill>
              </a:rPr>
              <a:t>Next, we need further definition and to identify the dependencies that could block us. The three pillars are where our stories will come from, and we will shape them together with our other priorities (Leadership Dashboards, the Accountability Framework, the Deal-to-Delivery Playbook). Still coming, with more in the coming weeks.</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 name="Picture 4" descr="f_hero_cap.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endParaRP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Why now</a:t>
            </a:r>
          </a:p>
        </p:txBody>
      </p:sp>
      <p:sp>
        <p:nvSpPr>
          <p:cNvPr id="4" name="Text Placeholder 3"/>
          <p:cNvSpPr>
            <a:spLocks noGrp="1"/>
          </p:cNvSpPr>
          <p:nvPr>
            <p:ph type="body" sz="quarter" idx="12"/>
          </p:nvPr>
        </p:nvSpPr>
        <p:spPr>
          <a:xfrm>
            <a:off x="457200" y="170000"/>
            <a:ext cx="8000000" cy="182880"/>
          </a:xfrm>
        </p:spPr>
        <p:txBody>
          <a:bodyPr/>
          <a:lstStyle/>
          <a:p>
            <a:r>
              <a:rPr>
                <a:solidFill>
                  <a:srgbClr val="0391F2"/>
                </a:solidFill>
              </a:rPr>
              <a:t>CAPACITY PLANNING &amp; ROMULUS · CLICK-DOWN · THE PROBLEM</a:t>
            </a:r>
          </a:p>
        </p:txBody>
      </p:sp>
      <p:sp>
        <p:nvSpPr>
          <p:cNvPr id="7" name="Rounded Rectangle 6"/>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wrap="square" lIns="150000" rIns="120000" rtlCol="0" anchor="ctr"/>
          <a:lstStyle/>
          <a:p>
            <a:pPr algn="l"/>
            <a:r>
              <a:rPr sz="1050" b="1" i="0">
                <a:solidFill>
                  <a:srgbClr val="FFFFFF"/>
                </a:solidFill>
              </a:rPr>
              <a:t>Owner(s)</a:t>
            </a:r>
          </a:p>
          <a:p>
            <a:pPr algn="l"/>
            <a:r>
              <a:rPr sz="900" b="0" i="0">
                <a:solidFill>
                  <a:srgbClr val="D6D6DF"/>
                </a:solidFill>
              </a:rPr>
              <a:t>Missy Foristall, Adam Organ</a:t>
            </a:r>
          </a:p>
        </p:txBody>
      </p:sp>
      <p:sp>
        <p:nvSpPr>
          <p:cNvPr id="8" name="Rounded Rectangle 7"/>
          <p:cNvSpPr/>
          <p:nvPr/>
        </p:nvSpPr>
        <p:spPr>
          <a:xfrm>
            <a:off x="457200" y="1170000"/>
            <a:ext cx="11277600" cy="1250000"/>
          </a:xfrm>
          <a:prstGeom prst="roundRect">
            <a:avLst>
              <a:gd name="adj" fmla="val 3200"/>
            </a:avLst>
          </a:prstGeom>
          <a:solidFill>
            <a:srgbClr val="000000"/>
          </a:solidFill>
          <a:ln>
            <a:noFill/>
          </a:ln>
          <a:effectLst>
            <a:outerShdw blurRad="190500" dist="50800" dir="5400000" algn="t" rotWithShape="0">
              <a:srgbClr val="000000">
                <a:alpha val="13000"/>
              </a:srgbClr>
            </a:outerShdw>
          </a:effectLst>
        </p:spPr>
        <p:txBody>
          <a:bodyPr wrap="square" lIns="274320" tIns="109728" rIns="274320" bIns="73152" rtlCol="0" anchor="ctr"/>
          <a:lstStyle/>
          <a:p>
            <a:pPr algn="l">
              <a:spcAft>
                <a:spcPts val="500"/>
              </a:spcAft>
            </a:pPr>
            <a:r>
              <a:rPr sz="1600" b="0" i="1">
                <a:solidFill>
                  <a:srgbClr val="D6D6DF"/>
                </a:solidFill>
              </a:rPr>
              <a:t>[Put here: one or two sentences on why now. What does waiting cost us?]</a:t>
            </a:r>
          </a:p>
        </p:txBody>
      </p:sp>
      <p:sp>
        <p:nvSpPr>
          <p:cNvPr id="9" name="Rounded Rectangle 8"/>
          <p:cNvSpPr/>
          <p:nvPr/>
        </p:nvSpPr>
        <p:spPr>
          <a:xfrm>
            <a:off x="457200" y="2570000"/>
            <a:ext cx="6541008" cy="36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dirty="0">
                <a:solidFill>
                  <a:srgbClr val="000000"/>
                </a:solidFill>
              </a:rPr>
              <a:t>What's happening today</a:t>
            </a:r>
          </a:p>
          <a:p>
            <a:pPr algn="l">
              <a:spcAft>
                <a:spcPts val="500"/>
              </a:spcAft>
            </a:pPr>
            <a:r>
              <a:rPr sz="1300" b="0" i="1" dirty="0">
                <a:solidFill>
                  <a:srgbClr val="60607D"/>
                </a:solidFill>
              </a:rPr>
              <a:t>[Put here: what is going on right now that makes this urgent. One bullet per point, add as many as you need.]</a:t>
            </a:r>
          </a:p>
          <a:p>
            <a:pPr algn="l">
              <a:spcAft>
                <a:spcPts val="500"/>
              </a:spcAft>
            </a:pPr>
            <a:r>
              <a:rPr sz="1300" b="0" i="1" dirty="0">
                <a:solidFill>
                  <a:srgbClr val="60607D"/>
                </a:solidFill>
              </a:rPr>
              <a:t>[Why: this is the reason to act now.]</a:t>
            </a:r>
          </a:p>
        </p:txBody>
      </p:sp>
      <p:sp>
        <p:nvSpPr>
          <p:cNvPr id="10" name="Rounded Rectangle 9"/>
          <p:cNvSpPr/>
          <p:nvPr/>
        </p:nvSpPr>
        <p:spPr>
          <a:xfrm>
            <a:off x="7148208" y="2570000"/>
            <a:ext cx="4586592" cy="3680000"/>
          </a:xfrm>
          <a:prstGeom prst="roundRect">
            <a:avLst>
              <a:gd name="adj" fmla="val 3200"/>
            </a:avLst>
          </a:prstGeom>
          <a:solidFill>
            <a:srgbClr val="000000"/>
          </a:solidFill>
          <a:ln>
            <a:no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D6D6DF"/>
                </a:solidFill>
              </a:rPr>
              <a:t>So we need</a:t>
            </a:r>
          </a:p>
          <a:p>
            <a:pPr algn="l">
              <a:spcAft>
                <a:spcPts val="500"/>
              </a:spcAft>
            </a:pPr>
            <a:r>
              <a:rPr sz="1300" b="0" i="1">
                <a:solidFill>
                  <a:srgbClr val="D6D6DF"/>
                </a:solidFill>
              </a:rPr>
              <a:t>[Put here: what has to happen or be decided. One bullet per ask.]</a:t>
            </a:r>
          </a:p>
          <a:p>
            <a:pPr algn="l">
              <a:spcAft>
                <a:spcPts val="500"/>
              </a:spcAft>
            </a:pPr>
            <a:r>
              <a:rPr sz="1300" b="0" i="1">
                <a:solidFill>
                  <a:srgbClr val="D6D6DF"/>
                </a:solidFill>
              </a:rPr>
              <a:t>[Why: this turns the worry into a clear ask.]</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 name="Picture 4" descr="f_hero_cap.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endParaRP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How we're going about it</a:t>
            </a:r>
          </a:p>
        </p:txBody>
      </p:sp>
      <p:sp>
        <p:nvSpPr>
          <p:cNvPr id="4" name="Text Placeholder 3"/>
          <p:cNvSpPr>
            <a:spLocks noGrp="1"/>
          </p:cNvSpPr>
          <p:nvPr>
            <p:ph type="body" sz="quarter" idx="12"/>
          </p:nvPr>
        </p:nvSpPr>
        <p:spPr>
          <a:xfrm>
            <a:off x="457200" y="170000"/>
            <a:ext cx="8000000" cy="182880"/>
          </a:xfrm>
        </p:spPr>
        <p:txBody>
          <a:bodyPr/>
          <a:lstStyle/>
          <a:p>
            <a:r>
              <a:rPr>
                <a:solidFill>
                  <a:srgbClr val="0391F2"/>
                </a:solidFill>
              </a:rPr>
              <a:t>CAPACITY PLANNING &amp; ROMULUS · CLICK-DOWN · WHAT WE ARE CHANGING</a:t>
            </a:r>
          </a:p>
        </p:txBody>
      </p:sp>
      <p:sp>
        <p:nvSpPr>
          <p:cNvPr id="7" name="Rounded Rectangle 6"/>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wrap="square" lIns="150000" rIns="120000" rtlCol="0" anchor="ctr"/>
          <a:lstStyle/>
          <a:p>
            <a:pPr algn="l"/>
            <a:r>
              <a:rPr sz="1050" b="1" i="0">
                <a:solidFill>
                  <a:srgbClr val="FFFFFF"/>
                </a:solidFill>
              </a:rPr>
              <a:t>Owner(s)</a:t>
            </a:r>
          </a:p>
          <a:p>
            <a:pPr algn="l"/>
            <a:r>
              <a:rPr sz="900" b="0" i="0">
                <a:solidFill>
                  <a:srgbClr val="D6D6DF"/>
                </a:solidFill>
              </a:rPr>
              <a:t>Missy Foristall, Adam Organ</a:t>
            </a:r>
          </a:p>
        </p:txBody>
      </p:sp>
      <p:sp>
        <p:nvSpPr>
          <p:cNvPr id="8" name="TextBox 7"/>
          <p:cNvSpPr txBox="1"/>
          <p:nvPr/>
        </p:nvSpPr>
        <p:spPr>
          <a:xfrm>
            <a:off x="457200" y="1170000"/>
            <a:ext cx="11277600" cy="457200"/>
          </a:xfrm>
          <a:prstGeom prst="rect">
            <a:avLst/>
          </a:prstGeom>
          <a:noFill/>
        </p:spPr>
        <p:txBody>
          <a:bodyPr wrap="square" lIns="0" tIns="0" rIns="0" bIns="0" anchor="t">
            <a:spAutoFit/>
          </a:bodyPr>
          <a:lstStyle/>
          <a:p>
            <a:pPr algn="l">
              <a:spcAft>
                <a:spcPts val="500"/>
              </a:spcAft>
            </a:pPr>
            <a:r>
              <a:rPr sz="1250" b="0" i="1">
                <a:solidFill>
                  <a:srgbClr val="60607D"/>
                </a:solidFill>
              </a:rPr>
              <a:t>[Put here: one line on how we are tackling this. The steps below fill in the detail.]</a:t>
            </a:r>
          </a:p>
        </p:txBody>
      </p:sp>
      <p:sp>
        <p:nvSpPr>
          <p:cNvPr id="9" name="Rounded Rectangle 8"/>
          <p:cNvSpPr/>
          <p:nvPr/>
        </p:nvSpPr>
        <p:spPr>
          <a:xfrm>
            <a:off x="457200" y="1828368"/>
            <a:ext cx="3692533" cy="233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a:solidFill>
                  <a:srgbClr val="60607D"/>
                </a:solidFill>
              </a:rPr>
              <a:t>Step 1</a:t>
            </a:r>
          </a:p>
          <a:p>
            <a:pPr algn="l">
              <a:spcBef>
                <a:spcPts val="400"/>
              </a:spcBef>
              <a:spcAft>
                <a:spcPts val="200"/>
              </a:spcAft>
            </a:pPr>
            <a:r>
              <a:rPr sz="900" b="1" i="0">
                <a:solidFill>
                  <a:srgbClr val="000000"/>
                </a:solidFill>
              </a:rPr>
              <a:t>Pillar 1: Know who we have</a:t>
            </a:r>
          </a:p>
          <a:p>
            <a:pPr algn="l">
              <a:spcAft>
                <a:spcPts val="500"/>
              </a:spcAft>
            </a:pPr>
            <a:r>
              <a:rPr sz="900" b="1" i="0">
                <a:solidFill>
                  <a:srgbClr val="000000"/>
                </a:solidFill>
              </a:rPr>
              <a:t>We need</a:t>
            </a:r>
            <a:r>
              <a:rPr sz="900" b="0" i="0">
                <a:solidFill>
                  <a:srgbClr val="000000"/>
                </a:solidFill>
              </a:rPr>
              <a:t> skills captured in one place we can search, </a:t>
            </a:r>
            <a:r>
              <a:rPr sz="900" b="1" i="0">
                <a:solidFill>
                  <a:srgbClr val="000000"/>
                </a:solidFill>
              </a:rPr>
              <a:t>so we can</a:t>
            </a:r>
            <a:r>
              <a:rPr sz="900" b="0" i="0">
                <a:solidFill>
                  <a:srgbClr val="000000"/>
                </a:solidFill>
              </a:rPr>
              <a:t> find the right person for a role across practices. </a:t>
            </a:r>
            <a:r>
              <a:rPr sz="900" b="1" i="0">
                <a:solidFill>
                  <a:srgbClr val="000000"/>
                </a:solidFill>
              </a:rPr>
              <a:t>The outcome:</a:t>
            </a:r>
            <a:r>
              <a:rPr sz="900" b="0" i="0">
                <a:solidFill>
                  <a:srgbClr val="000000"/>
                </a:solidFill>
              </a:rPr>
              <a:t> one trusted view of skills instead of separate sources.</a:t>
            </a:r>
          </a:p>
          <a:p>
            <a:pPr algn="l">
              <a:spcAft>
                <a:spcPts val="500"/>
              </a:spcAft>
            </a:pPr>
            <a:r>
              <a:rPr sz="900" b="0" i="0">
                <a:solidFill>
                  <a:srgbClr val="000000"/>
                </a:solidFill>
              </a:rPr>
              <a:t>A skills data pilot with about 100 opt-in people from each of two teams, on a LinkedIn skills taxonomy. We still need to define what we need from it.</a:t>
            </a:r>
          </a:p>
        </p:txBody>
      </p:sp>
      <p:sp>
        <p:nvSpPr>
          <p:cNvPr id="10" name="Rounded Rectangle 9"/>
          <p:cNvSpPr/>
          <p:nvPr/>
        </p:nvSpPr>
        <p:spPr>
          <a:xfrm>
            <a:off x="4249733" y="1828368"/>
            <a:ext cx="3692533" cy="233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a:solidFill>
                  <a:srgbClr val="60607D"/>
                </a:solidFill>
              </a:rPr>
              <a:t>Step 2</a:t>
            </a:r>
          </a:p>
          <a:p>
            <a:pPr algn="l">
              <a:spcBef>
                <a:spcPts val="400"/>
              </a:spcBef>
              <a:spcAft>
                <a:spcPts val="200"/>
              </a:spcAft>
            </a:pPr>
            <a:r>
              <a:rPr sz="900" b="1" i="0">
                <a:solidFill>
                  <a:srgbClr val="000000"/>
                </a:solidFill>
              </a:rPr>
              <a:t>Pillar 2: See what is coming</a:t>
            </a:r>
          </a:p>
          <a:p>
            <a:pPr algn="l">
              <a:spcAft>
                <a:spcPts val="500"/>
              </a:spcAft>
            </a:pPr>
            <a:r>
              <a:rPr sz="900" b="1" i="0">
                <a:solidFill>
                  <a:srgbClr val="000000"/>
                </a:solidFill>
              </a:rPr>
              <a:t>We need </a:t>
            </a:r>
            <a:r>
              <a:rPr sz="900" b="0" i="0">
                <a:solidFill>
                  <a:srgbClr val="000000"/>
                </a:solidFill>
              </a:rPr>
              <a:t>to review SF stages to see the pipeline earlier, </a:t>
            </a:r>
            <a:r>
              <a:rPr sz="900" b="1" i="0">
                <a:solidFill>
                  <a:srgbClr val="000000"/>
                </a:solidFill>
              </a:rPr>
              <a:t>so we can </a:t>
            </a:r>
            <a:r>
              <a:rPr sz="900" b="0" i="0">
                <a:solidFill>
                  <a:srgbClr val="000000"/>
                </a:solidFill>
              </a:rPr>
              <a:t>plan people around demand with RM pulled in earlier in the process, not at signature. </a:t>
            </a:r>
            <a:r>
              <a:rPr sz="900" b="1" i="0">
                <a:solidFill>
                  <a:srgbClr val="000000"/>
                </a:solidFill>
              </a:rPr>
              <a:t>The outcome: </a:t>
            </a:r>
            <a:r>
              <a:rPr sz="900" b="0" i="0">
                <a:solidFill>
                  <a:srgbClr val="000000"/>
                </a:solidFill>
              </a:rPr>
              <a:t>teams that are ready to start instead of scrambling after signing.</a:t>
            </a:r>
          </a:p>
          <a:p>
            <a:pPr algn="l">
              <a:spcAft>
                <a:spcPts val="500"/>
              </a:spcAft>
            </a:pPr>
            <a:r>
              <a:rPr sz="900" b="0" i="0">
                <a:solidFill>
                  <a:srgbClr val="000000"/>
                </a:solidFill>
              </a:rPr>
              <a:t>Smart Bench is a concept we are exploring. In plain terms: look ahead at what is likely to close, set clear rules for when we add or reduce capacity (hire, temporary help, or an outside partner), and plan how quickly people ramp on. What it means for us is still being defined.</a:t>
            </a:r>
          </a:p>
        </p:txBody>
      </p:sp>
      <p:sp>
        <p:nvSpPr>
          <p:cNvPr id="11" name="Rounded Rectangle 10"/>
          <p:cNvSpPr/>
          <p:nvPr/>
        </p:nvSpPr>
        <p:spPr>
          <a:xfrm>
            <a:off x="8042266" y="1828368"/>
            <a:ext cx="3692533" cy="233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dirty="0">
                <a:solidFill>
                  <a:srgbClr val="60607D"/>
                </a:solidFill>
              </a:rPr>
              <a:t>Step 3</a:t>
            </a:r>
          </a:p>
          <a:p>
            <a:pPr algn="l">
              <a:spcBef>
                <a:spcPts val="400"/>
              </a:spcBef>
              <a:spcAft>
                <a:spcPts val="200"/>
              </a:spcAft>
            </a:pPr>
            <a:r>
              <a:rPr sz="900" b="1" i="0" dirty="0">
                <a:solidFill>
                  <a:srgbClr val="000000"/>
                </a:solidFill>
              </a:rPr>
              <a:t>Pillar 3: One place to look</a:t>
            </a:r>
          </a:p>
          <a:p>
            <a:pPr algn="l">
              <a:spcAft>
                <a:spcPts val="500"/>
              </a:spcAft>
            </a:pPr>
            <a:r>
              <a:rPr sz="900" b="1" i="0" dirty="0">
                <a:solidFill>
                  <a:srgbClr val="000000"/>
                </a:solidFill>
              </a:rPr>
              <a:t>We need</a:t>
            </a:r>
            <a:r>
              <a:rPr sz="900" b="0" i="0" dirty="0">
                <a:solidFill>
                  <a:srgbClr val="000000"/>
                </a:solidFill>
              </a:rPr>
              <a:t> what we check today brought into one connected view, </a:t>
            </a:r>
            <a:r>
              <a:rPr sz="900" b="1" i="0" dirty="0">
                <a:solidFill>
                  <a:srgbClr val="000000"/>
                </a:solidFill>
              </a:rPr>
              <a:t>so we can</a:t>
            </a:r>
            <a:r>
              <a:rPr sz="900" b="0" i="0" dirty="0">
                <a:solidFill>
                  <a:srgbClr val="000000"/>
                </a:solidFill>
              </a:rPr>
              <a:t> move from insight to action with fewer places to look. </a:t>
            </a:r>
            <a:r>
              <a:rPr sz="900" b="1" i="0" dirty="0">
                <a:solidFill>
                  <a:srgbClr val="000000"/>
                </a:solidFill>
              </a:rPr>
              <a:t>The outcome:</a:t>
            </a:r>
            <a:r>
              <a:rPr sz="900" b="0" i="0" dirty="0">
                <a:solidFill>
                  <a:srgbClr val="000000"/>
                </a:solidFill>
              </a:rPr>
              <a:t> insight that points to the next move.</a:t>
            </a:r>
          </a:p>
          <a:p>
            <a:pPr algn="l">
              <a:spcAft>
                <a:spcPts val="500"/>
              </a:spcAft>
            </a:pPr>
            <a:r>
              <a:rPr sz="900" b="0" i="0" dirty="0">
                <a:solidFill>
                  <a:srgbClr val="000000"/>
                </a:solidFill>
              </a:rPr>
              <a:t>Today we check Salesforce, Workfront, pricing tools, spreadsheets, and SharePoint. Romulus is the tool we are building to help turn insight into action</a:t>
            </a:r>
            <a:r>
              <a:rPr lang="en-US" sz="900" b="0" i="0" dirty="0">
                <a:solidFill>
                  <a:srgbClr val="000000"/>
                </a:solidFill>
              </a:rPr>
              <a:t>. </a:t>
            </a:r>
            <a:r>
              <a:rPr sz="900" b="0" i="0" dirty="0">
                <a:solidFill>
                  <a:srgbClr val="000000"/>
                </a:solidFill>
              </a:rPr>
              <a:t>It needs more feeding from the work in the other two pillars.</a:t>
            </a:r>
          </a:p>
        </p:txBody>
      </p:sp>
      <p:sp>
        <p:nvSpPr>
          <p:cNvPr id="12" name="Rectangle 11"/>
          <p:cNvSpPr/>
          <p:nvPr/>
        </p:nvSpPr>
        <p:spPr>
          <a:xfrm>
            <a:off x="1544960" y="4379808"/>
            <a:ext cx="9102080" cy="19050"/>
          </a:xfrm>
          <a:prstGeom prst="rect">
            <a:avLst/>
          </a:prstGeom>
          <a:solidFill>
            <a:srgbClr val="D6D6DF"/>
          </a:solidFill>
          <a:ln>
            <a:noFill/>
          </a:ln>
        </p:spPr>
        <p:txBody>
          <a:bodyPr rtlCol="0" anchor="ctr"/>
          <a:lstStyle/>
          <a:p>
            <a:pPr algn="ctr"/>
            <a:endParaRPr/>
          </a:p>
        </p:txBody>
      </p:sp>
      <p:sp>
        <p:nvSpPr>
          <p:cNvPr id="13" name="Oval 12"/>
          <p:cNvSpPr/>
          <p:nvPr/>
        </p:nvSpPr>
        <p:spPr>
          <a:xfrm>
            <a:off x="1453520" y="4288368"/>
            <a:ext cx="182880" cy="182880"/>
          </a:xfrm>
          <a:prstGeom prst="ellipse">
            <a:avLst/>
          </a:prstGeom>
          <a:solidFill>
            <a:srgbClr val="FFFFFF"/>
          </a:solidFill>
          <a:ln w="19050">
            <a:solidFill>
              <a:srgbClr val="000000"/>
            </a:solidFill>
          </a:ln>
        </p:spPr>
        <p:txBody>
          <a:bodyPr rtlCol="0" anchor="ctr"/>
          <a:lstStyle/>
          <a:p>
            <a:pPr algn="ctr"/>
            <a:endParaRPr/>
          </a:p>
        </p:txBody>
      </p:sp>
      <p:sp>
        <p:nvSpPr>
          <p:cNvPr id="14" name="Rounded Rectangle 13"/>
          <p:cNvSpPr/>
          <p:nvPr/>
        </p:nvSpPr>
        <p:spPr>
          <a:xfrm>
            <a:off x="457200" y="4562688"/>
            <a:ext cx="2175520"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Bef>
                <a:spcPts val="400"/>
              </a:spcBef>
              <a:spcAft>
                <a:spcPts val="200"/>
              </a:spcAft>
            </a:pPr>
            <a:r>
              <a:rPr sz="850" b="1" i="0">
                <a:solidFill>
                  <a:srgbClr val="000000"/>
                </a:solidFill>
              </a:rPr>
              <a:t>This year</a:t>
            </a:r>
          </a:p>
          <a:p>
            <a:pPr algn="l">
              <a:spcAft>
                <a:spcPts val="500"/>
              </a:spcAft>
            </a:pPr>
            <a:r>
              <a:rPr sz="850" b="0" i="0">
                <a:solidFill>
                  <a:srgbClr val="000000"/>
                </a:solidFill>
              </a:rPr>
              <a:t>We started with resource management, then stood up capacity planning.</a:t>
            </a:r>
          </a:p>
        </p:txBody>
      </p:sp>
      <p:sp>
        <p:nvSpPr>
          <p:cNvPr id="15" name="Oval 14"/>
          <p:cNvSpPr/>
          <p:nvPr/>
        </p:nvSpPr>
        <p:spPr>
          <a:xfrm>
            <a:off x="3729040" y="4288368"/>
            <a:ext cx="182880" cy="182880"/>
          </a:xfrm>
          <a:prstGeom prst="ellipse">
            <a:avLst/>
          </a:prstGeom>
          <a:solidFill>
            <a:srgbClr val="FFFFFF"/>
          </a:solidFill>
          <a:ln w="19050">
            <a:solidFill>
              <a:srgbClr val="000000"/>
            </a:solidFill>
          </a:ln>
        </p:spPr>
        <p:txBody>
          <a:bodyPr rtlCol="0" anchor="ctr"/>
          <a:lstStyle/>
          <a:p>
            <a:pPr algn="ctr"/>
            <a:endParaRPr/>
          </a:p>
        </p:txBody>
      </p:sp>
      <p:sp>
        <p:nvSpPr>
          <p:cNvPr id="16" name="Rounded Rectangle 15"/>
          <p:cNvSpPr/>
          <p:nvPr/>
        </p:nvSpPr>
        <p:spPr>
          <a:xfrm>
            <a:off x="2732720" y="4562688"/>
            <a:ext cx="2175520"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Bef>
                <a:spcPts val="400"/>
              </a:spcBef>
              <a:spcAft>
                <a:spcPts val="200"/>
              </a:spcAft>
            </a:pPr>
            <a:r>
              <a:rPr sz="850" b="1" i="0">
                <a:solidFill>
                  <a:srgbClr val="000000"/>
                </a:solidFill>
              </a:rPr>
              <a:t>Coming weeks</a:t>
            </a:r>
          </a:p>
          <a:p>
            <a:pPr algn="l">
              <a:spcAft>
                <a:spcPts val="500"/>
              </a:spcAft>
            </a:pPr>
            <a:r>
              <a:rPr sz="850" b="0" i="0">
                <a:solidFill>
                  <a:srgbClr val="000000"/>
                </a:solidFill>
              </a:rPr>
              <a:t>Like our other ops top priorities, we will build this out as an epic with stories underneath, so we can focus and prioritize.</a:t>
            </a:r>
          </a:p>
        </p:txBody>
      </p:sp>
      <p:sp>
        <p:nvSpPr>
          <p:cNvPr id="17" name="Oval 16"/>
          <p:cNvSpPr/>
          <p:nvPr/>
        </p:nvSpPr>
        <p:spPr>
          <a:xfrm>
            <a:off x="6004560" y="4288368"/>
            <a:ext cx="182880" cy="182880"/>
          </a:xfrm>
          <a:prstGeom prst="ellipse">
            <a:avLst/>
          </a:prstGeom>
          <a:solidFill>
            <a:srgbClr val="FFFFFF"/>
          </a:solidFill>
          <a:ln w="19050">
            <a:solidFill>
              <a:srgbClr val="000000"/>
            </a:solidFill>
          </a:ln>
        </p:spPr>
        <p:txBody>
          <a:bodyPr rtlCol="0" anchor="ctr"/>
          <a:lstStyle/>
          <a:p>
            <a:pPr algn="ctr"/>
            <a:endParaRPr/>
          </a:p>
        </p:txBody>
      </p:sp>
      <p:sp>
        <p:nvSpPr>
          <p:cNvPr id="18" name="Rounded Rectangle 17"/>
          <p:cNvSpPr/>
          <p:nvPr/>
        </p:nvSpPr>
        <p:spPr>
          <a:xfrm>
            <a:off x="5008240" y="4562688"/>
            <a:ext cx="2175520"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Bef>
                <a:spcPts val="400"/>
              </a:spcBef>
              <a:spcAft>
                <a:spcPts val="200"/>
              </a:spcAft>
            </a:pPr>
            <a:r>
              <a:rPr sz="1100" b="1" i="0">
                <a:solidFill>
                  <a:srgbClr val="000000"/>
                </a:solidFill>
              </a:rPr>
              <a:t>Late October</a:t>
            </a:r>
          </a:p>
          <a:p>
            <a:pPr algn="l">
              <a:spcAft>
                <a:spcPts val="500"/>
              </a:spcAft>
            </a:pPr>
            <a:r>
              <a:rPr sz="1100" b="0" i="0">
                <a:solidFill>
                  <a:srgbClr val="000000"/>
                </a:solidFill>
              </a:rPr>
              <a:t>FIRST FEATURES GO LIVE · FULL DEMO: Next Ops Town Hall</a:t>
            </a:r>
          </a:p>
        </p:txBody>
      </p:sp>
      <p:sp>
        <p:nvSpPr>
          <p:cNvPr id="19" name="Oval 18"/>
          <p:cNvSpPr/>
          <p:nvPr/>
        </p:nvSpPr>
        <p:spPr>
          <a:xfrm>
            <a:off x="8280080" y="4288368"/>
            <a:ext cx="182880" cy="182880"/>
          </a:xfrm>
          <a:prstGeom prst="ellipse">
            <a:avLst/>
          </a:prstGeom>
          <a:solidFill>
            <a:srgbClr val="FFFFFF"/>
          </a:solidFill>
          <a:ln w="19050">
            <a:solidFill>
              <a:srgbClr val="000000"/>
            </a:solidFill>
          </a:ln>
        </p:spPr>
        <p:txBody>
          <a:bodyPr rtlCol="0" anchor="ctr"/>
          <a:lstStyle/>
          <a:p>
            <a:pPr algn="ctr"/>
            <a:endParaRPr/>
          </a:p>
        </p:txBody>
      </p:sp>
      <p:sp>
        <p:nvSpPr>
          <p:cNvPr id="20" name="Rounded Rectangle 19"/>
          <p:cNvSpPr/>
          <p:nvPr/>
        </p:nvSpPr>
        <p:spPr>
          <a:xfrm>
            <a:off x="7283760" y="4562688"/>
            <a:ext cx="2175520"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Bef>
                <a:spcPts val="400"/>
              </a:spcBef>
              <a:spcAft>
                <a:spcPts val="200"/>
              </a:spcAft>
            </a:pPr>
            <a:r>
              <a:rPr sz="850" b="1" i="0">
                <a:solidFill>
                  <a:srgbClr val="000000"/>
                </a:solidFill>
              </a:rPr>
              <a:t>Next year</a:t>
            </a:r>
          </a:p>
          <a:p>
            <a:pPr algn="l">
              <a:spcAft>
                <a:spcPts val="500"/>
              </a:spcAft>
            </a:pPr>
            <a:r>
              <a:rPr sz="850" b="0" i="0">
                <a:solidFill>
                  <a:srgbClr val="000000"/>
                </a:solidFill>
              </a:rPr>
              <a:t>Capacity planning becomes how we run things and our priority focus for enhancement, with resource management as its child.</a:t>
            </a:r>
          </a:p>
        </p:txBody>
      </p:sp>
      <p:sp>
        <p:nvSpPr>
          <p:cNvPr id="21" name="Oval 20"/>
          <p:cNvSpPr/>
          <p:nvPr/>
        </p:nvSpPr>
        <p:spPr>
          <a:xfrm>
            <a:off x="10555600" y="4288368"/>
            <a:ext cx="182880" cy="182880"/>
          </a:xfrm>
          <a:prstGeom prst="ellipse">
            <a:avLst/>
          </a:prstGeom>
          <a:solidFill>
            <a:srgbClr val="FFFFFF"/>
          </a:solidFill>
          <a:ln w="19050">
            <a:solidFill>
              <a:srgbClr val="D6D6DF"/>
            </a:solidFill>
          </a:ln>
        </p:spPr>
        <p:txBody>
          <a:bodyPr rtlCol="0" anchor="ctr"/>
          <a:lstStyle/>
          <a:p>
            <a:pPr algn="ctr"/>
            <a:endParaRPr/>
          </a:p>
        </p:txBody>
      </p:sp>
      <p:sp>
        <p:nvSpPr>
          <p:cNvPr id="22" name="Rounded Rectangle 21"/>
          <p:cNvSpPr/>
          <p:nvPr/>
        </p:nvSpPr>
        <p:spPr>
          <a:xfrm>
            <a:off x="9559280" y="4562688"/>
            <a:ext cx="2175520"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Bef>
                <a:spcPts val="200"/>
              </a:spcBef>
              <a:spcAft>
                <a:spcPts val="200"/>
              </a:spcAft>
            </a:pPr>
            <a:r>
              <a:rPr sz="850" b="1" i="0" cap="all" spc="100">
                <a:solidFill>
                  <a:srgbClr val="60607D"/>
                </a:solidFill>
              </a:rPr>
              <a:t>The target</a:t>
            </a:r>
          </a:p>
          <a:p>
            <a:pPr algn="l">
              <a:spcBef>
                <a:spcPts val="400"/>
              </a:spcBef>
              <a:spcAft>
                <a:spcPts val="200"/>
              </a:spcAft>
            </a:pPr>
            <a:r>
              <a:rPr sz="1000" b="1" i="0">
                <a:solidFill>
                  <a:srgbClr val="000000"/>
                </a:solidFill>
              </a:rPr>
              <a:t>MVP done</a:t>
            </a:r>
          </a:p>
          <a:p>
            <a:pPr algn="l">
              <a:spcAft>
                <a:spcPts val="500"/>
              </a:spcAft>
            </a:pPr>
            <a:r>
              <a:rPr sz="1000" b="0" i="1">
                <a:solidFill>
                  <a:srgbClr val="60607D"/>
                </a:solidFill>
              </a:rPr>
              <a:t>[Date we are shooting for.]</a:t>
            </a:r>
          </a:p>
        </p:txBody>
      </p:sp>
      <p:sp>
        <p:nvSpPr>
          <p:cNvPr id="23" name="Rounded Rectangle 22"/>
          <p:cNvSpPr/>
          <p:nvPr/>
        </p:nvSpPr>
        <p:spPr>
          <a:xfrm>
            <a:off x="457200" y="5462688"/>
            <a:ext cx="5563800" cy="93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91440" rIns="182880" bIns="36576" rtlCol="0" anchor="t"/>
          <a:lstStyle/>
          <a:p>
            <a:pPr algn="l">
              <a:spcAft>
                <a:spcPts val="600"/>
              </a:spcAft>
            </a:pPr>
            <a:r>
              <a:rPr sz="1100" b="1" i="0" cap="all" spc="60">
                <a:solidFill>
                  <a:srgbClr val="000000"/>
                </a:solidFill>
              </a:rPr>
              <a:t>Team</a:t>
            </a:r>
          </a:p>
        </p:txBody>
      </p:sp>
      <p:sp>
        <p:nvSpPr>
          <p:cNvPr id="24" name="Rounded Rectangle 23"/>
          <p:cNvSpPr/>
          <p:nvPr/>
        </p:nvSpPr>
        <p:spPr>
          <a:xfrm>
            <a:off x="667512" y="5791872"/>
            <a:ext cx="1351221" cy="246888"/>
          </a:xfrm>
          <a:prstGeom prst="roundRect">
            <a:avLst>
              <a:gd name="adj" fmla="val 50000"/>
            </a:avLst>
          </a:prstGeom>
          <a:solidFill>
            <a:srgbClr val="FFFFFF"/>
          </a:solidFill>
          <a:ln w="12700">
            <a:solidFill>
              <a:srgbClr val="D6D6DF"/>
            </a:solidFill>
          </a:ln>
        </p:spPr>
        <p:txBody>
          <a:bodyPr wrap="none" lIns="0" tIns="0" rIns="0" bIns="0" rtlCol="0" anchor="ctr"/>
          <a:lstStyle/>
          <a:p>
            <a:pPr algn="ctr"/>
            <a:r>
              <a:rPr sz="900" b="0" i="1">
                <a:solidFill>
                  <a:srgbClr val="60607D"/>
                </a:solidFill>
              </a:rPr>
              <a:t>[Who does the work]</a:t>
            </a:r>
          </a:p>
        </p:txBody>
      </p:sp>
      <p:sp>
        <p:nvSpPr>
          <p:cNvPr id="25" name="Rounded Rectangle 24"/>
          <p:cNvSpPr/>
          <p:nvPr/>
        </p:nvSpPr>
        <p:spPr>
          <a:xfrm>
            <a:off x="2101029" y="5791872"/>
            <a:ext cx="1351221" cy="246888"/>
          </a:xfrm>
          <a:prstGeom prst="roundRect">
            <a:avLst>
              <a:gd name="adj" fmla="val 50000"/>
            </a:avLst>
          </a:prstGeom>
          <a:solidFill>
            <a:srgbClr val="FFFFFF"/>
          </a:solidFill>
          <a:ln w="12700">
            <a:solidFill>
              <a:srgbClr val="D6D6DF"/>
            </a:solidFill>
          </a:ln>
        </p:spPr>
        <p:txBody>
          <a:bodyPr wrap="none" lIns="0" tIns="0" rIns="0" bIns="0" rtlCol="0" anchor="ctr"/>
          <a:lstStyle/>
          <a:p>
            <a:pPr algn="ctr"/>
            <a:r>
              <a:rPr sz="900" b="0" i="1">
                <a:solidFill>
                  <a:srgbClr val="60607D"/>
                </a:solidFill>
              </a:rPr>
              <a:t>[Who does the work]</a:t>
            </a:r>
          </a:p>
        </p:txBody>
      </p:sp>
      <p:sp>
        <p:nvSpPr>
          <p:cNvPr id="26" name="Rounded Rectangle 25"/>
          <p:cNvSpPr/>
          <p:nvPr/>
        </p:nvSpPr>
        <p:spPr>
          <a:xfrm>
            <a:off x="6171000" y="5462688"/>
            <a:ext cx="5563800" cy="93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91440" rIns="182880" bIns="36576" rtlCol="0" anchor="t"/>
          <a:lstStyle/>
          <a:p>
            <a:pPr algn="l">
              <a:spcAft>
                <a:spcPts val="600"/>
              </a:spcAft>
            </a:pPr>
            <a:r>
              <a:rPr sz="1100" b="1" i="0" cap="all" spc="60">
                <a:solidFill>
                  <a:srgbClr val="000000"/>
                </a:solidFill>
              </a:rPr>
              <a:t>Partners</a:t>
            </a:r>
          </a:p>
        </p:txBody>
      </p:sp>
      <p:sp>
        <p:nvSpPr>
          <p:cNvPr id="27" name="Rounded Rectangle 26"/>
          <p:cNvSpPr/>
          <p:nvPr/>
        </p:nvSpPr>
        <p:spPr>
          <a:xfrm>
            <a:off x="6381312" y="5791872"/>
            <a:ext cx="1291655" cy="246888"/>
          </a:xfrm>
          <a:prstGeom prst="roundRect">
            <a:avLst>
              <a:gd name="adj" fmla="val 50000"/>
            </a:avLst>
          </a:prstGeom>
          <a:solidFill>
            <a:srgbClr val="FFFFFF"/>
          </a:solidFill>
          <a:ln w="12700">
            <a:solidFill>
              <a:srgbClr val="D6D6DF"/>
            </a:solidFill>
          </a:ln>
        </p:spPr>
        <p:txBody>
          <a:bodyPr wrap="none" lIns="0" tIns="0" rIns="0" bIns="0" rtlCol="0" anchor="ctr"/>
          <a:lstStyle/>
          <a:p>
            <a:pPr algn="ctr"/>
            <a:r>
              <a:rPr sz="900" b="0" i="1">
                <a:solidFill>
                  <a:srgbClr val="60607D"/>
                </a:solidFill>
              </a:rPr>
              <a:t>[Who we work with]</a:t>
            </a:r>
          </a:p>
        </p:txBody>
      </p:sp>
      <p:sp>
        <p:nvSpPr>
          <p:cNvPr id="28" name="Rounded Rectangle 27"/>
          <p:cNvSpPr/>
          <p:nvPr/>
        </p:nvSpPr>
        <p:spPr>
          <a:xfrm>
            <a:off x="7755263" y="5791872"/>
            <a:ext cx="1291655" cy="246888"/>
          </a:xfrm>
          <a:prstGeom prst="roundRect">
            <a:avLst>
              <a:gd name="adj" fmla="val 50000"/>
            </a:avLst>
          </a:prstGeom>
          <a:solidFill>
            <a:srgbClr val="FFFFFF"/>
          </a:solidFill>
          <a:ln w="12700">
            <a:solidFill>
              <a:srgbClr val="D6D6DF"/>
            </a:solidFill>
          </a:ln>
        </p:spPr>
        <p:txBody>
          <a:bodyPr wrap="none" lIns="0" tIns="0" rIns="0" bIns="0" rtlCol="0" anchor="ctr"/>
          <a:lstStyle/>
          <a:p>
            <a:pPr algn="ctr"/>
            <a:r>
              <a:rPr sz="900" b="0" i="1">
                <a:solidFill>
                  <a:srgbClr val="60607D"/>
                </a:solidFill>
              </a:rPr>
              <a:t>[Who we work with]</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 name="Picture 4" descr="f_hero_cap.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endParaRP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Adoption &amp; change management</a:t>
            </a:r>
          </a:p>
        </p:txBody>
      </p:sp>
      <p:sp>
        <p:nvSpPr>
          <p:cNvPr id="4" name="Text Placeholder 3"/>
          <p:cNvSpPr>
            <a:spLocks noGrp="1"/>
          </p:cNvSpPr>
          <p:nvPr>
            <p:ph type="body" sz="quarter" idx="12"/>
          </p:nvPr>
        </p:nvSpPr>
        <p:spPr>
          <a:xfrm>
            <a:off x="457200" y="170000"/>
            <a:ext cx="8000000" cy="182880"/>
          </a:xfrm>
        </p:spPr>
        <p:txBody>
          <a:bodyPr/>
          <a:lstStyle/>
          <a:p>
            <a:r>
              <a:rPr>
                <a:solidFill>
                  <a:srgbClr val="0391F2"/>
                </a:solidFill>
              </a:rPr>
              <a:t>CAPACITY PLANNING &amp; ROMULUS · CLICK-DOWN · WHAT WE ARE CHANGING</a:t>
            </a:r>
          </a:p>
        </p:txBody>
      </p:sp>
      <p:sp>
        <p:nvSpPr>
          <p:cNvPr id="7" name="Rounded Rectangle 6"/>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wrap="square" lIns="150000" rIns="120000" rtlCol="0" anchor="ctr"/>
          <a:lstStyle/>
          <a:p>
            <a:pPr algn="l"/>
            <a:r>
              <a:rPr sz="1050" b="1" i="0">
                <a:solidFill>
                  <a:srgbClr val="FFFFFF"/>
                </a:solidFill>
              </a:rPr>
              <a:t>Owner(s)</a:t>
            </a:r>
          </a:p>
          <a:p>
            <a:pPr algn="l"/>
            <a:r>
              <a:rPr sz="900" b="0" i="0">
                <a:solidFill>
                  <a:srgbClr val="D6D6DF"/>
                </a:solidFill>
              </a:rPr>
              <a:t>Missy Foristall, Adam Organ</a:t>
            </a:r>
          </a:p>
        </p:txBody>
      </p:sp>
      <p:sp>
        <p:nvSpPr>
          <p:cNvPr id="8" name="Rounded Rectangle 7"/>
          <p:cNvSpPr/>
          <p:nvPr/>
        </p:nvSpPr>
        <p:spPr>
          <a:xfrm>
            <a:off x="457200" y="1170000"/>
            <a:ext cx="2706900" cy="50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000000"/>
                </a:solidFill>
              </a:rPr>
              <a:t>1. Strategy &amp; Alignment</a:t>
            </a:r>
          </a:p>
          <a:p>
            <a:pPr algn="l">
              <a:spcBef>
                <a:spcPts val="400"/>
              </a:spcBef>
              <a:spcAft>
                <a:spcPts val="200"/>
              </a:spcAft>
            </a:pPr>
            <a:r>
              <a:rPr sz="1300" b="1" i="0">
                <a:solidFill>
                  <a:srgbClr val="000000"/>
                </a:solidFill>
              </a:rPr>
              <a:t>The why</a:t>
            </a:r>
          </a:p>
          <a:p>
            <a:pPr algn="l">
              <a:spcAft>
                <a:spcPts val="500"/>
              </a:spcAft>
            </a:pPr>
            <a:r>
              <a:rPr sz="1300" b="0" i="1">
                <a:solidFill>
                  <a:srgbClr val="60607D"/>
                </a:solidFill>
              </a:rPr>
              <a:t>[The business reason for this change and the value it brings.]</a:t>
            </a:r>
          </a:p>
          <a:p>
            <a:pPr algn="l">
              <a:spcBef>
                <a:spcPts val="400"/>
              </a:spcBef>
              <a:spcAft>
                <a:spcPts val="200"/>
              </a:spcAft>
            </a:pPr>
            <a:r>
              <a:rPr sz="1300" b="1" i="0">
                <a:solidFill>
                  <a:srgbClr val="000000"/>
                </a:solidFill>
              </a:rPr>
              <a:t>Who is affected</a:t>
            </a:r>
          </a:p>
          <a:p>
            <a:pPr algn="l">
              <a:spcAft>
                <a:spcPts val="500"/>
              </a:spcAft>
            </a:pPr>
            <a:r>
              <a:rPr sz="1300" b="0" i="1">
                <a:solidFill>
                  <a:srgbClr val="60607D"/>
                </a:solidFill>
              </a:rPr>
              <a:t>[Who is impacted, how their day-to-day changes, and how much pushback to expect.]</a:t>
            </a:r>
          </a:p>
          <a:p>
            <a:pPr algn="l">
              <a:spcBef>
                <a:spcPts val="400"/>
              </a:spcBef>
              <a:spcAft>
                <a:spcPts val="200"/>
              </a:spcAft>
            </a:pPr>
            <a:r>
              <a:rPr sz="1300" b="1" i="0">
                <a:solidFill>
                  <a:srgbClr val="000000"/>
                </a:solidFill>
              </a:rPr>
              <a:t>Who is backing it</a:t>
            </a:r>
          </a:p>
          <a:p>
            <a:pPr algn="l">
              <a:spcAft>
                <a:spcPts val="500"/>
              </a:spcAft>
            </a:pPr>
            <a:r>
              <a:rPr sz="1300" b="0" i="1">
                <a:solidFill>
                  <a:srgbClr val="60607D"/>
                </a:solidFill>
              </a:rPr>
              <a:t>[Executive sponsors, approvers, and the champions who will drive adoption locally.]</a:t>
            </a:r>
          </a:p>
        </p:txBody>
      </p:sp>
      <p:sp>
        <p:nvSpPr>
          <p:cNvPr id="9" name="Rounded Rectangle 8"/>
          <p:cNvSpPr/>
          <p:nvPr/>
        </p:nvSpPr>
        <p:spPr>
          <a:xfrm>
            <a:off x="3314100" y="1170000"/>
            <a:ext cx="2706900" cy="50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000000"/>
                </a:solidFill>
              </a:rPr>
              <a:t>2. Communications Plan</a:t>
            </a:r>
          </a:p>
          <a:p>
            <a:pPr algn="l">
              <a:spcBef>
                <a:spcPts val="400"/>
              </a:spcBef>
              <a:spcAft>
                <a:spcPts val="200"/>
              </a:spcAft>
            </a:pPr>
            <a:r>
              <a:rPr sz="1300" b="1" i="0">
                <a:solidFill>
                  <a:srgbClr val="000000"/>
                </a:solidFill>
              </a:rPr>
              <a:t>Core messages</a:t>
            </a:r>
          </a:p>
          <a:p>
            <a:pPr algn="l">
              <a:spcAft>
                <a:spcPts val="500"/>
              </a:spcAft>
            </a:pPr>
            <a:r>
              <a:rPr sz="1300" b="0" i="1">
                <a:solidFill>
                  <a:srgbClr val="60607D"/>
                </a:solidFill>
              </a:rPr>
              <a:t>[The standard talking points, tailored for each group that is affected.]</a:t>
            </a:r>
          </a:p>
          <a:p>
            <a:pPr algn="l">
              <a:spcBef>
                <a:spcPts val="400"/>
              </a:spcBef>
              <a:spcAft>
                <a:spcPts val="200"/>
              </a:spcAft>
            </a:pPr>
            <a:r>
              <a:rPr sz="1300" b="1" i="0">
                <a:solidFill>
                  <a:srgbClr val="000000"/>
                </a:solidFill>
              </a:rPr>
              <a:t>Channels</a:t>
            </a:r>
          </a:p>
          <a:p>
            <a:pPr algn="l">
              <a:spcAft>
                <a:spcPts val="500"/>
              </a:spcAft>
            </a:pPr>
            <a:r>
              <a:rPr sz="1300" b="0" i="1">
                <a:solidFill>
                  <a:srgbClr val="60607D"/>
                </a:solidFill>
              </a:rPr>
              <a:t>[Where we will say it: all-hands, email, internal portals, team meetings.]</a:t>
            </a:r>
          </a:p>
          <a:p>
            <a:pPr algn="l">
              <a:spcBef>
                <a:spcPts val="400"/>
              </a:spcBef>
              <a:spcAft>
                <a:spcPts val="200"/>
              </a:spcAft>
            </a:pPr>
            <a:r>
              <a:rPr sz="1300" b="1" i="0">
                <a:solidFill>
                  <a:srgbClr val="000000"/>
                </a:solidFill>
              </a:rPr>
              <a:t>Timing</a:t>
            </a:r>
          </a:p>
          <a:p>
            <a:pPr algn="l">
              <a:spcAft>
                <a:spcPts val="500"/>
              </a:spcAft>
            </a:pPr>
            <a:r>
              <a:rPr sz="1300" b="0" i="1">
                <a:solidFill>
                  <a:srgbClr val="60607D"/>
                </a:solidFill>
              </a:rPr>
              <a:t>[The schedule of announcements, teasers and reminders before and after launch.]</a:t>
            </a:r>
          </a:p>
        </p:txBody>
      </p:sp>
      <p:sp>
        <p:nvSpPr>
          <p:cNvPr id="10" name="Rounded Rectangle 9"/>
          <p:cNvSpPr/>
          <p:nvPr/>
        </p:nvSpPr>
        <p:spPr>
          <a:xfrm>
            <a:off x="6171000" y="1170000"/>
            <a:ext cx="2706900" cy="50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000000"/>
                </a:solidFill>
              </a:rPr>
              <a:t>3. Enablement</a:t>
            </a:r>
          </a:p>
          <a:p>
            <a:pPr algn="l">
              <a:spcBef>
                <a:spcPts val="400"/>
              </a:spcBef>
              <a:spcAft>
                <a:spcPts val="200"/>
              </a:spcAft>
            </a:pPr>
            <a:r>
              <a:rPr sz="1300" b="1" i="0">
                <a:solidFill>
                  <a:srgbClr val="000000"/>
                </a:solidFill>
              </a:rPr>
              <a:t>Training</a:t>
            </a:r>
          </a:p>
          <a:p>
            <a:pPr algn="l">
              <a:spcAft>
                <a:spcPts val="500"/>
              </a:spcAft>
            </a:pPr>
            <a:r>
              <a:rPr sz="1300" b="0" i="1">
                <a:solidFill>
                  <a:srgbClr val="60607D"/>
                </a:solidFill>
              </a:rPr>
              <a:t>[How people will learn: live sessions, self-serve modules, documentation.]</a:t>
            </a:r>
          </a:p>
          <a:p>
            <a:pPr algn="l">
              <a:spcBef>
                <a:spcPts val="400"/>
              </a:spcBef>
              <a:spcAft>
                <a:spcPts val="200"/>
              </a:spcAft>
            </a:pPr>
            <a:r>
              <a:rPr sz="1300" b="1" i="0">
                <a:solidFill>
                  <a:srgbClr val="000000"/>
                </a:solidFill>
              </a:rPr>
              <a:t>Where to find things</a:t>
            </a:r>
          </a:p>
          <a:p>
            <a:pPr algn="l">
              <a:spcAft>
                <a:spcPts val="500"/>
              </a:spcAft>
            </a:pPr>
            <a:r>
              <a:rPr sz="1300" b="0" i="1">
                <a:solidFill>
                  <a:srgbClr val="60607D"/>
                </a:solidFill>
              </a:rPr>
              <a:t>[One place for user guides, quick reference cards and FAQs.]</a:t>
            </a:r>
          </a:p>
          <a:p>
            <a:pPr algn="l">
              <a:spcBef>
                <a:spcPts val="400"/>
              </a:spcBef>
              <a:spcAft>
                <a:spcPts val="200"/>
              </a:spcAft>
            </a:pPr>
            <a:r>
              <a:rPr sz="1300" b="1" i="0">
                <a:solidFill>
                  <a:srgbClr val="000000"/>
                </a:solidFill>
              </a:rPr>
              <a:t>Getting help</a:t>
            </a:r>
          </a:p>
          <a:p>
            <a:pPr algn="l">
              <a:spcAft>
                <a:spcPts val="500"/>
              </a:spcAft>
            </a:pPr>
            <a:r>
              <a:rPr sz="1300" b="0" i="1">
                <a:solidFill>
                  <a:srgbClr val="60607D"/>
                </a:solidFill>
              </a:rPr>
              <a:t>[Where people go when they get stuck during the rollout.]</a:t>
            </a:r>
          </a:p>
        </p:txBody>
      </p:sp>
      <p:sp>
        <p:nvSpPr>
          <p:cNvPr id="11" name="Rounded Rectangle 10"/>
          <p:cNvSpPr/>
          <p:nvPr/>
        </p:nvSpPr>
        <p:spPr>
          <a:xfrm>
            <a:off x="9027900" y="1170000"/>
            <a:ext cx="2706900" cy="50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000000"/>
                </a:solidFill>
              </a:rPr>
              <a:t>4. Measuring &amp; Sustaining</a:t>
            </a:r>
          </a:p>
          <a:p>
            <a:pPr algn="l">
              <a:spcBef>
                <a:spcPts val="400"/>
              </a:spcBef>
              <a:spcAft>
                <a:spcPts val="200"/>
              </a:spcAft>
            </a:pPr>
            <a:r>
              <a:rPr sz="1300" b="1" i="0">
                <a:solidFill>
                  <a:srgbClr val="000000"/>
                </a:solidFill>
              </a:rPr>
              <a:t>Success measures</a:t>
            </a:r>
          </a:p>
          <a:p>
            <a:pPr algn="l">
              <a:spcAft>
                <a:spcPts val="500"/>
              </a:spcAft>
            </a:pPr>
            <a:r>
              <a:rPr sz="1300" b="0" i="1">
                <a:solidFill>
                  <a:srgbClr val="60607D"/>
                </a:solidFill>
              </a:rPr>
              <a:t>[The numbers that show healthy adoption, such as login rates, task completion and drop-off from the old way.]</a:t>
            </a:r>
          </a:p>
          <a:p>
            <a:pPr algn="l">
              <a:spcBef>
                <a:spcPts val="400"/>
              </a:spcBef>
              <a:spcAft>
                <a:spcPts val="200"/>
              </a:spcAft>
            </a:pPr>
            <a:r>
              <a:rPr sz="1300" b="1" i="0">
                <a:solidFill>
                  <a:srgbClr val="000000"/>
                </a:solidFill>
              </a:rPr>
              <a:t>Feedback</a:t>
            </a:r>
          </a:p>
          <a:p>
            <a:pPr algn="l">
              <a:spcAft>
                <a:spcPts val="500"/>
              </a:spcAft>
            </a:pPr>
            <a:r>
              <a:rPr sz="1300" b="0" i="1">
                <a:solidFill>
                  <a:srgbClr val="60607D"/>
                </a:solidFill>
              </a:rPr>
              <a:t>[How we capture friction and sentiment after launch so we can fix things quickly.]</a:t>
            </a:r>
          </a:p>
          <a:p>
            <a:pPr algn="l">
              <a:spcBef>
                <a:spcPts val="400"/>
              </a:spcBef>
              <a:spcAft>
                <a:spcPts val="200"/>
              </a:spcAft>
            </a:pPr>
            <a:r>
              <a:rPr sz="1300" b="1" i="0">
                <a:solidFill>
                  <a:srgbClr val="000000"/>
                </a:solidFill>
              </a:rPr>
              <a:t>Long-term owner</a:t>
            </a:r>
          </a:p>
          <a:p>
            <a:pPr algn="l">
              <a:spcAft>
                <a:spcPts val="500"/>
              </a:spcAft>
            </a:pPr>
            <a:r>
              <a:rPr sz="1300" b="0" i="1">
                <a:solidFill>
                  <a:srgbClr val="60607D"/>
                </a:solidFill>
              </a:rPr>
              <a:t>[Who owns ongoing updates, new-hire onboarding and keeping the process current.]</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 name="Picture 4" descr="f_rail_cap.jpg"/>
          <p:cNvPicPr>
            <a:picLocks noChangeAspect="1"/>
          </p:cNvPicPr>
          <p:nvPr/>
        </p:nvPicPr>
        <p:blipFill>
          <a:blip r:embed="rId2"/>
          <a:stretch>
            <a:fillRect/>
          </a:stretch>
        </p:blipFill>
        <p:spPr>
          <a:xfrm>
            <a:off x="228600" y="228600"/>
            <a:ext cx="3200000" cy="6171400"/>
          </a:xfrm>
          <a:prstGeom prst="roundRect">
            <a:avLst>
              <a:gd name="adj" fmla="val 3600"/>
            </a:avLst>
          </a:prstGeom>
        </p:spPr>
      </p:pic>
      <p:sp>
        <p:nvSpPr>
          <p:cNvPr id="6" name="Rounded Rectangle 5"/>
          <p:cNvSpPr/>
          <p:nvPr/>
        </p:nvSpPr>
        <p:spPr>
          <a:xfrm>
            <a:off x="228600" y="228600"/>
            <a:ext cx="3200000" cy="6171400"/>
          </a:xfrm>
          <a:prstGeom prst="roundRect">
            <a:avLst>
              <a:gd name="adj" fmla="val 3600"/>
            </a:avLst>
          </a:prstGeom>
          <a:gradFill rotWithShape="1">
            <a:gsLst>
              <a:gs pos="0">
                <a:srgbClr val="000000">
                  <a:alpha val="68000"/>
                </a:srgbClr>
              </a:gs>
              <a:gs pos="45000">
                <a:srgbClr val="000000">
                  <a:alpha val="50000"/>
                </a:srgbClr>
              </a:gs>
              <a:gs pos="100000">
                <a:srgbClr val="000000">
                  <a:alpha val="82000"/>
                </a:srgbClr>
              </a:gs>
            </a:gsLst>
            <a:lin ang="5400000" scaled="0"/>
          </a:gradFill>
          <a:ln>
            <a:noFill/>
          </a:ln>
        </p:spPr>
        <p:txBody>
          <a:bodyPr rtlCol="0" anchor="ctr"/>
          <a:lstStyle/>
          <a:p>
            <a:pPr algn="ctr"/>
            <a:endParaRPr/>
          </a:p>
        </p:txBody>
      </p:sp>
      <p:sp>
        <p:nvSpPr>
          <p:cNvPr id="7" name="Rounded Rectangle 6"/>
          <p:cNvSpPr/>
          <p:nvPr/>
        </p:nvSpPr>
        <p:spPr>
          <a:xfrm>
            <a:off x="378600" y="378600"/>
            <a:ext cx="2900000" cy="2050000"/>
          </a:xfrm>
          <a:prstGeom prst="roundRect">
            <a:avLst>
              <a:gd name="adj" fmla="val 5000"/>
            </a:avLst>
          </a:prstGeom>
          <a:solidFill>
            <a:srgbClr val="000000">
              <a:alpha val="62000"/>
            </a:srgbClr>
          </a:solidFill>
          <a:ln>
            <a:noFill/>
          </a:ln>
        </p:spPr>
        <p:txBody>
          <a:bodyPr rtlCol="0" anchor="ctr"/>
          <a:lstStyle/>
          <a:p>
            <a:pPr algn="ctr"/>
            <a:endParaRPr/>
          </a:p>
        </p:txBody>
      </p:sp>
      <p:sp>
        <p:nvSpPr>
          <p:cNvPr id="3" name="Title 2"/>
          <p:cNvSpPr>
            <a:spLocks noGrp="1"/>
          </p:cNvSpPr>
          <p:nvPr>
            <p:ph type="title"/>
          </p:nvPr>
        </p:nvSpPr>
        <p:spPr>
          <a:xfrm>
            <a:off x="508600" y="868600"/>
            <a:ext cx="2640000" cy="2300000"/>
          </a:xfrm>
        </p:spPr>
        <p:txBody>
          <a:bodyPr/>
          <a:lstStyle/>
          <a:p>
            <a:r>
              <a:rPr sz="2000">
                <a:solidFill>
                  <a:srgbClr val="FFFFFF"/>
                </a:solidFill>
              </a:rPr>
              <a:t>Capacity Planning &amp; Romulus: Update</a:t>
            </a:r>
          </a:p>
        </p:txBody>
      </p:sp>
      <p:sp>
        <p:nvSpPr>
          <p:cNvPr id="4" name="Text Placeholder 3"/>
          <p:cNvSpPr>
            <a:spLocks noGrp="1"/>
          </p:cNvSpPr>
          <p:nvPr>
            <p:ph type="body" sz="quarter" idx="12"/>
          </p:nvPr>
        </p:nvSpPr>
        <p:spPr>
          <a:xfrm>
            <a:off x="508600" y="558600"/>
            <a:ext cx="2640000" cy="182880"/>
          </a:xfrm>
        </p:spPr>
        <p:txBody>
          <a:bodyPr/>
          <a:lstStyle/>
          <a:p>
            <a:r>
              <a:rPr>
                <a:solidFill>
                  <a:srgbClr val="0391F2"/>
                </a:solidFill>
              </a:rPr>
              <a:t>OPS PRIORITIES</a:t>
            </a:r>
          </a:p>
        </p:txBody>
      </p:sp>
      <p:sp>
        <p:nvSpPr>
          <p:cNvPr id="8" name="Rounded Rectangle 7"/>
          <p:cNvSpPr/>
          <p:nvPr/>
        </p:nvSpPr>
        <p:spPr>
          <a:xfrm>
            <a:off x="508600" y="5340000"/>
            <a:ext cx="2640000" cy="780000"/>
          </a:xfrm>
          <a:prstGeom prst="roundRect">
            <a:avLst>
              <a:gd name="adj" fmla="val 28000"/>
            </a:avLst>
          </a:prstGeom>
          <a:solidFill>
            <a:srgbClr val="000000">
              <a:alpha val="72000"/>
            </a:srgbClr>
          </a:solidFill>
          <a:ln w="9525">
            <a:solidFill>
              <a:srgbClr val="FFFFFF">
                <a:alpha val="45000"/>
              </a:srgbClr>
            </a:solidFill>
          </a:ln>
        </p:spPr>
        <p:txBody>
          <a:bodyPr wrap="square" lIns="150000" rIns="120000" rtlCol="0" anchor="ctr"/>
          <a:lstStyle/>
          <a:p>
            <a:pPr algn="l"/>
            <a:r>
              <a:rPr sz="1050" b="1" i="0">
                <a:solidFill>
                  <a:srgbClr val="FFFFFF"/>
                </a:solidFill>
              </a:rPr>
              <a:t>Owner(s)</a:t>
            </a:r>
          </a:p>
          <a:p>
            <a:pPr algn="l"/>
            <a:r>
              <a:rPr sz="900" b="0" i="0">
                <a:solidFill>
                  <a:srgbClr val="D6D6DF"/>
                </a:solidFill>
              </a:rPr>
              <a:t>Missy Foristall, Adam Organ</a:t>
            </a:r>
          </a:p>
        </p:txBody>
      </p:sp>
      <p:sp>
        <p:nvSpPr>
          <p:cNvPr id="9" name="Rounded Rectangle 8"/>
          <p:cNvSpPr/>
          <p:nvPr/>
        </p:nvSpPr>
        <p:spPr>
          <a:xfrm>
            <a:off x="3628600" y="228600"/>
            <a:ext cx="4092400" cy="34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82880" rIns="182880" bIns="54864" rtlCol="0" anchor="t"/>
          <a:lstStyle/>
          <a:p>
            <a:pPr algn="l">
              <a:spcAft>
                <a:spcPts val="600"/>
              </a:spcAft>
            </a:pPr>
            <a:r>
              <a:rPr sz="1100" b="1" i="0" cap="all" spc="60">
                <a:solidFill>
                  <a:srgbClr val="000000"/>
                </a:solidFill>
              </a:rPr>
              <a:t>What has been accomplished</a:t>
            </a:r>
          </a:p>
          <a:p>
            <a:pPr algn="l">
              <a:spcAft>
                <a:spcPts val="500"/>
              </a:spcAft>
            </a:pPr>
            <a:r>
              <a:rPr sz="1300" b="0" i="1">
                <a:solidFill>
                  <a:srgbClr val="60607D"/>
                </a:solidFill>
              </a:rPr>
              <a:t>[Put here: what got done since last time. Use dates, not "recently". Why: shows real progress.]</a:t>
            </a:r>
          </a:p>
        </p:txBody>
      </p:sp>
      <p:sp>
        <p:nvSpPr>
          <p:cNvPr id="10" name="Rounded Rectangle 9"/>
          <p:cNvSpPr/>
          <p:nvPr/>
        </p:nvSpPr>
        <p:spPr>
          <a:xfrm>
            <a:off x="7871000" y="228600"/>
            <a:ext cx="4092400" cy="34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82880" rIns="182880" bIns="54864" rtlCol="0" anchor="t"/>
          <a:lstStyle/>
          <a:p>
            <a:pPr algn="l">
              <a:spcAft>
                <a:spcPts val="600"/>
              </a:spcAft>
            </a:pPr>
            <a:r>
              <a:rPr sz="1100" b="1" i="0" cap="all" spc="60">
                <a:solidFill>
                  <a:srgbClr val="000000"/>
                </a:solidFill>
              </a:rPr>
              <a:t>Next milestones</a:t>
            </a:r>
          </a:p>
          <a:p>
            <a:pPr algn="l">
              <a:spcAft>
                <a:spcPts val="500"/>
              </a:spcAft>
            </a:pPr>
            <a:r>
              <a:rPr sz="1300" b="0" i="1">
                <a:solidFill>
                  <a:srgbClr val="60607D"/>
                </a:solidFill>
              </a:rPr>
              <a:t>[Put here: what happens next, and by when. Why: people can hold us to it.]</a:t>
            </a:r>
          </a:p>
        </p:txBody>
      </p:sp>
      <p:sp>
        <p:nvSpPr>
          <p:cNvPr id="11" name="Rounded Rectangle 10"/>
          <p:cNvSpPr/>
          <p:nvPr/>
        </p:nvSpPr>
        <p:spPr>
          <a:xfrm>
            <a:off x="3628600" y="3778600"/>
            <a:ext cx="8334800" cy="2621400"/>
          </a:xfrm>
          <a:prstGeom prst="roundRect">
            <a:avLst>
              <a:gd name="adj" fmla="val 2400"/>
            </a:avLst>
          </a:prstGeom>
          <a:solidFill>
            <a:srgbClr val="000000"/>
          </a:solidFill>
          <a:ln>
            <a:noFill/>
          </a:ln>
          <a:effectLst>
            <a:outerShdw blurRad="190500" dist="50800" dir="5400000" algn="t" rotWithShape="0">
              <a:srgbClr val="000000">
                <a:alpha val="13000"/>
              </a:srgbClr>
            </a:outerShdw>
          </a:effectLst>
        </p:spPr>
        <p:txBody>
          <a:bodyPr wrap="square" lIns="210312" tIns="182880" rIns="182880" bIns="54864" rtlCol="0" anchor="t"/>
          <a:lstStyle/>
          <a:p>
            <a:pPr algn="l">
              <a:spcAft>
                <a:spcPts val="600"/>
              </a:spcAft>
            </a:pPr>
            <a:r>
              <a:rPr sz="1100" b="1" i="0" cap="all" spc="60">
                <a:solidFill>
                  <a:srgbClr val="D6D6DF"/>
                </a:solidFill>
              </a:rPr>
              <a:t>What is in our way / what we need from you</a:t>
            </a:r>
          </a:p>
          <a:p>
            <a:pPr algn="l">
              <a:spcAft>
                <a:spcPts val="500"/>
              </a:spcAft>
            </a:pPr>
            <a:r>
              <a:rPr sz="1300" b="0" i="1">
                <a:solidFill>
                  <a:srgbClr val="D6D6DF"/>
                </a:solidFill>
              </a:rPr>
              <a:t>[Put here: what is blocking us, and what we need from you. Say who, and by when. Why: this is how leaders can help.]</a:t>
            </a:r>
          </a:p>
        </p:txBody>
      </p:sp>
      <p:sp>
        <p:nvSpPr>
          <p:cNvPr id="12" name="Rounded Rectangle 11"/>
          <p:cNvSpPr/>
          <p:nvPr/>
        </p:nvSpPr>
        <p:spPr>
          <a:xfrm>
            <a:off x="508600" y="4920000"/>
            <a:ext cx="2640000" cy="330000"/>
          </a:xfrm>
          <a:prstGeom prst="roundRect">
            <a:avLst>
              <a:gd name="adj" fmla="val 28000"/>
            </a:avLst>
          </a:prstGeom>
          <a:solidFill>
            <a:srgbClr val="000000">
              <a:alpha val="72000"/>
            </a:srgbClr>
          </a:solidFill>
          <a:ln w="9525">
            <a:solidFill>
              <a:srgbClr val="FFFFFF">
                <a:alpha val="45000"/>
              </a:srgbClr>
            </a:solidFill>
          </a:ln>
        </p:spPr>
        <p:txBody>
          <a:bodyPr wrap="square" lIns="150000" tIns="20000" rIns="120000" bIns="20000" rtlCol="0" anchor="ctr"/>
          <a:lstStyle/>
          <a:p>
            <a:pPr algn="l"/>
            <a:r>
              <a:rPr sz="900" b="1" i="0">
                <a:solidFill>
                  <a:srgbClr val="FFFFFF"/>
                </a:solidFill>
              </a:rPr>
              <a:t>Last updated: </a:t>
            </a:r>
            <a:r>
              <a:rPr sz="900" b="0" i="1">
                <a:solidFill>
                  <a:srgbClr val="D6D6DF"/>
                </a:solidFill>
              </a:rPr>
              <a:t>[date]</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 name="Picture 4" descr="f_hero_cap.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endParaRPr/>
          </a:p>
        </p:txBody>
      </p:sp>
      <p:pic>
        <p:nvPicPr>
          <p:cNvPr id="8" name="Picture 7" descr="f_sf_cap_3657600.jpg"/>
          <p:cNvPicPr>
            <a:picLocks noChangeAspect="1"/>
          </p:cNvPicPr>
          <p:nvPr/>
        </p:nvPicPr>
        <p:blipFill>
          <a:blip r:embed="rId3"/>
          <a:stretch>
            <a:fillRect/>
          </a:stretch>
        </p:blipFill>
        <p:spPr>
          <a:xfrm>
            <a:off x="0" y="0"/>
            <a:ext cx="3657600" cy="6858000"/>
          </a:xfrm>
          <a:prstGeom prst="rect">
            <a:avLst/>
          </a:prstGeom>
        </p:spPr>
      </p:pic>
      <p:sp>
        <p:nvSpPr>
          <p:cNvPr id="9" name="Rectangle 8"/>
          <p:cNvSpPr/>
          <p:nvPr/>
        </p:nvSpPr>
        <p:spPr>
          <a:xfrm>
            <a:off x="0" y="0"/>
            <a:ext cx="3657600" cy="6858000"/>
          </a:xfrm>
          <a:prstGeom prst="rect">
            <a:avLst/>
          </a:prstGeom>
          <a:gradFill rotWithShape="1">
            <a:gsLst>
              <a:gs pos="0">
                <a:srgbClr val="000000">
                  <a:alpha val="70000"/>
                </a:srgbClr>
              </a:gs>
              <a:gs pos="50000">
                <a:srgbClr val="000000">
                  <a:alpha val="55000"/>
                </a:srgbClr>
              </a:gs>
              <a:gs pos="100000">
                <a:srgbClr val="000000">
                  <a:alpha val="85000"/>
                </a:srgbClr>
              </a:gs>
            </a:gsLst>
            <a:lin ang="5400000" scaled="0"/>
          </a:gradFill>
          <a:ln>
            <a:noFill/>
          </a:ln>
        </p:spPr>
        <p:txBody>
          <a:bodyPr rtlCol="0" anchor="ctr"/>
          <a:lstStyle/>
          <a:p>
            <a:pPr algn="ctr"/>
            <a:endParaRPr/>
          </a:p>
        </p:txBody>
      </p:sp>
      <p:sp>
        <p:nvSpPr>
          <p:cNvPr id="10" name="Rounded Rectangle 9"/>
          <p:cNvSpPr/>
          <p:nvPr/>
        </p:nvSpPr>
        <p:spPr>
          <a:xfrm>
            <a:off x="274320" y="1371600"/>
            <a:ext cx="3108960" cy="4480560"/>
          </a:xfrm>
          <a:prstGeom prst="roundRect">
            <a:avLst>
              <a:gd name="adj" fmla="val 4000"/>
            </a:avLst>
          </a:prstGeom>
          <a:solidFill>
            <a:srgbClr val="000000">
              <a:alpha val="62000"/>
            </a:srgbClr>
          </a:solidFill>
          <a:ln>
            <a:noFill/>
          </a:ln>
        </p:spPr>
        <p:txBody>
          <a:bodyPr rtlCol="0" anchor="ctr"/>
          <a:lstStyle/>
          <a:p>
            <a:pPr algn="ctr"/>
            <a:endParaRPr/>
          </a:p>
        </p:txBody>
      </p:sp>
      <p:sp>
        <p:nvSpPr>
          <p:cNvPr id="3" name="Title 2"/>
          <p:cNvSpPr>
            <a:spLocks noGrp="1"/>
          </p:cNvSpPr>
          <p:nvPr>
            <p:ph type="title"/>
          </p:nvPr>
        </p:nvSpPr>
        <p:spPr>
          <a:xfrm>
            <a:off x="4023360" y="300000"/>
            <a:ext cx="4776640" cy="560000"/>
          </a:xfrm>
        </p:spPr>
        <p:txBody>
          <a:bodyPr/>
          <a:lstStyle/>
          <a:p>
            <a:r>
              <a:rPr sz="2400">
                <a:solidFill>
                  <a:srgbClr val="FFFFFF"/>
                </a:solidFill>
              </a:rPr>
              <a:t>Capacity Planning &amp; Romulus</a:t>
            </a:r>
          </a:p>
        </p:txBody>
      </p:sp>
      <p:sp>
        <p:nvSpPr>
          <p:cNvPr id="4" name="Text Placeholder 3"/>
          <p:cNvSpPr>
            <a:spLocks noGrp="1"/>
          </p:cNvSpPr>
          <p:nvPr>
            <p:ph type="body" sz="quarter" idx="12"/>
          </p:nvPr>
        </p:nvSpPr>
        <p:spPr>
          <a:xfrm>
            <a:off x="4023360" y="170000"/>
            <a:ext cx="8000000" cy="182880"/>
          </a:xfrm>
        </p:spPr>
        <p:txBody>
          <a:bodyPr/>
          <a:lstStyle/>
          <a:p>
            <a:r>
              <a:rPr>
                <a:solidFill>
                  <a:srgbClr val="0391F2"/>
                </a:solidFill>
              </a:rPr>
              <a:t>CAPACITY PLANNING &amp; ROMULUS · DETAIL</a:t>
            </a:r>
          </a:p>
        </p:txBody>
      </p:sp>
      <p:sp>
        <p:nvSpPr>
          <p:cNvPr id="7" name="Rounded Rectangle 6"/>
          <p:cNvSpPr/>
          <p:nvPr/>
        </p:nvSpPr>
        <p:spPr>
          <a:xfrm>
            <a:off x="8900000" y="250000"/>
            <a:ext cx="2850000" cy="450000"/>
          </a:xfrm>
          <a:prstGeom prst="roundRect">
            <a:avLst>
              <a:gd name="adj" fmla="val 28000"/>
            </a:avLst>
          </a:prstGeom>
          <a:solidFill>
            <a:srgbClr val="000000">
              <a:alpha val="72000"/>
            </a:srgbClr>
          </a:solidFill>
          <a:ln w="9525">
            <a:solidFill>
              <a:srgbClr val="FFFFFF">
                <a:alpha val="45000"/>
              </a:srgbClr>
            </a:solidFill>
          </a:ln>
        </p:spPr>
        <p:txBody>
          <a:bodyPr wrap="square" lIns="150000" rIns="120000" rtlCol="0" anchor="ctr"/>
          <a:lstStyle/>
          <a:p>
            <a:pPr algn="l"/>
            <a:r>
              <a:rPr sz="1050" b="1" i="0">
                <a:solidFill>
                  <a:srgbClr val="FFFFFF"/>
                </a:solidFill>
              </a:rPr>
              <a:t>Owner(s)</a:t>
            </a:r>
          </a:p>
          <a:p>
            <a:pPr algn="l"/>
            <a:r>
              <a:rPr sz="900" b="0" i="0">
                <a:solidFill>
                  <a:srgbClr val="D6D6DF"/>
                </a:solidFill>
              </a:rPr>
              <a:t>Missy Foristall, Adam Organ</a:t>
            </a:r>
          </a:p>
        </p:txBody>
      </p:sp>
      <p:sp>
        <p:nvSpPr>
          <p:cNvPr id="11" name="TextBox 10"/>
          <p:cNvSpPr txBox="1"/>
          <p:nvPr/>
        </p:nvSpPr>
        <p:spPr>
          <a:xfrm>
            <a:off x="502920" y="1554480"/>
            <a:ext cx="2651760" cy="228600"/>
          </a:xfrm>
          <a:prstGeom prst="rect">
            <a:avLst/>
          </a:prstGeom>
          <a:noFill/>
        </p:spPr>
        <p:txBody>
          <a:bodyPr wrap="square" lIns="0" tIns="0" rIns="0" bIns="0" anchor="t">
            <a:spAutoFit/>
          </a:bodyPr>
          <a:lstStyle/>
          <a:p>
            <a:pPr algn="l">
              <a:spcBef>
                <a:spcPts val="200"/>
              </a:spcBef>
              <a:spcAft>
                <a:spcPts val="200"/>
              </a:spcAft>
            </a:pPr>
            <a:r>
              <a:rPr sz="850" b="1" i="0" cap="all" spc="100">
                <a:solidFill>
                  <a:srgbClr val="D6D6DF"/>
                </a:solidFill>
              </a:rPr>
              <a:t>WIP</a:t>
            </a:r>
          </a:p>
        </p:txBody>
      </p:sp>
      <p:sp>
        <p:nvSpPr>
          <p:cNvPr id="12" name="Oval 11"/>
          <p:cNvSpPr/>
          <p:nvPr/>
        </p:nvSpPr>
        <p:spPr>
          <a:xfrm>
            <a:off x="502920" y="2020824"/>
            <a:ext cx="146304" cy="146304"/>
          </a:xfrm>
          <a:prstGeom prst="ellipse">
            <a:avLst/>
          </a:prstGeom>
          <a:solidFill>
            <a:srgbClr val="FFFFFF"/>
          </a:solidFill>
          <a:ln>
            <a:noFill/>
          </a:ln>
        </p:spPr>
        <p:txBody>
          <a:bodyPr rtlCol="0" anchor="ctr"/>
          <a:lstStyle/>
          <a:p>
            <a:pPr algn="ctr"/>
            <a:endParaRPr/>
          </a:p>
        </p:txBody>
      </p:sp>
      <p:sp>
        <p:nvSpPr>
          <p:cNvPr id="13" name="TextBox 12"/>
          <p:cNvSpPr txBox="1"/>
          <p:nvPr/>
        </p:nvSpPr>
        <p:spPr>
          <a:xfrm>
            <a:off x="777240" y="1965960"/>
            <a:ext cx="2377440" cy="1188720"/>
          </a:xfrm>
          <a:prstGeom prst="rect">
            <a:avLst/>
          </a:prstGeom>
          <a:noFill/>
        </p:spPr>
        <p:txBody>
          <a:bodyPr wrap="square" lIns="0" tIns="0" rIns="0" bIns="0" anchor="t">
            <a:spAutoFit/>
          </a:bodyPr>
          <a:lstStyle/>
          <a:p>
            <a:pPr algn="l">
              <a:spcBef>
                <a:spcPts val="400"/>
              </a:spcBef>
              <a:spcAft>
                <a:spcPts val="200"/>
              </a:spcAft>
            </a:pPr>
            <a:r>
              <a:rPr sz="1200" b="1" i="0">
                <a:solidFill>
                  <a:srgbClr val="FFFFFF"/>
                </a:solidFill>
              </a:rPr>
              <a:t>This year</a:t>
            </a:r>
          </a:p>
          <a:p>
            <a:pPr algn="l">
              <a:spcAft>
                <a:spcPts val="500"/>
              </a:spcAft>
            </a:pPr>
            <a:r>
              <a:rPr sz="1200" b="0" i="0">
                <a:solidFill>
                  <a:srgbClr val="FFFFFF"/>
                </a:solidFill>
              </a:rPr>
              <a:t>We started with resource management, then stood up capacity planning.</a:t>
            </a:r>
          </a:p>
        </p:txBody>
      </p:sp>
      <p:sp>
        <p:nvSpPr>
          <p:cNvPr id="14" name="Oval 13"/>
          <p:cNvSpPr/>
          <p:nvPr/>
        </p:nvSpPr>
        <p:spPr>
          <a:xfrm>
            <a:off x="502920" y="3282696"/>
            <a:ext cx="146304" cy="146304"/>
          </a:xfrm>
          <a:prstGeom prst="ellipse">
            <a:avLst/>
          </a:prstGeom>
          <a:solidFill>
            <a:srgbClr val="FFFFFF"/>
          </a:solidFill>
          <a:ln>
            <a:noFill/>
          </a:ln>
        </p:spPr>
        <p:txBody>
          <a:bodyPr rtlCol="0" anchor="ctr"/>
          <a:lstStyle/>
          <a:p>
            <a:pPr algn="ctr"/>
            <a:endParaRPr/>
          </a:p>
        </p:txBody>
      </p:sp>
      <p:sp>
        <p:nvSpPr>
          <p:cNvPr id="15" name="TextBox 14"/>
          <p:cNvSpPr txBox="1"/>
          <p:nvPr/>
        </p:nvSpPr>
        <p:spPr>
          <a:xfrm>
            <a:off x="777240" y="3227832"/>
            <a:ext cx="2377440" cy="1188720"/>
          </a:xfrm>
          <a:prstGeom prst="rect">
            <a:avLst/>
          </a:prstGeom>
          <a:noFill/>
        </p:spPr>
        <p:txBody>
          <a:bodyPr wrap="square" lIns="0" tIns="0" rIns="0" bIns="0" anchor="t">
            <a:spAutoFit/>
          </a:bodyPr>
          <a:lstStyle/>
          <a:p>
            <a:pPr algn="l">
              <a:spcBef>
                <a:spcPts val="400"/>
              </a:spcBef>
              <a:spcAft>
                <a:spcPts val="200"/>
              </a:spcAft>
            </a:pPr>
            <a:r>
              <a:rPr sz="1200" b="1" i="0">
                <a:solidFill>
                  <a:srgbClr val="FFFFFF"/>
                </a:solidFill>
              </a:rPr>
              <a:t>Next year</a:t>
            </a:r>
          </a:p>
          <a:p>
            <a:pPr algn="l">
              <a:spcAft>
                <a:spcPts val="500"/>
              </a:spcAft>
            </a:pPr>
            <a:r>
              <a:rPr sz="1200" b="0" i="0">
                <a:solidFill>
                  <a:srgbClr val="FFFFFF"/>
                </a:solidFill>
              </a:rPr>
              <a:t>Capacity planning becomes how we run things and our priority focus for enhancement, with resource management as its child.</a:t>
            </a:r>
          </a:p>
        </p:txBody>
      </p:sp>
      <p:sp>
        <p:nvSpPr>
          <p:cNvPr id="16" name="Oval 15"/>
          <p:cNvSpPr/>
          <p:nvPr/>
        </p:nvSpPr>
        <p:spPr>
          <a:xfrm>
            <a:off x="502920" y="4544568"/>
            <a:ext cx="146304" cy="146304"/>
          </a:xfrm>
          <a:prstGeom prst="ellipse">
            <a:avLst/>
          </a:prstGeom>
          <a:solidFill>
            <a:srgbClr val="FFFFFF"/>
          </a:solidFill>
          <a:ln>
            <a:noFill/>
          </a:ln>
        </p:spPr>
        <p:txBody>
          <a:bodyPr rtlCol="0" anchor="ctr"/>
          <a:lstStyle/>
          <a:p>
            <a:pPr algn="ctr"/>
            <a:endParaRPr/>
          </a:p>
        </p:txBody>
      </p:sp>
      <p:sp>
        <p:nvSpPr>
          <p:cNvPr id="17" name="TextBox 16"/>
          <p:cNvSpPr txBox="1"/>
          <p:nvPr/>
        </p:nvSpPr>
        <p:spPr>
          <a:xfrm>
            <a:off x="777240" y="4489704"/>
            <a:ext cx="2377440" cy="1188720"/>
          </a:xfrm>
          <a:prstGeom prst="rect">
            <a:avLst/>
          </a:prstGeom>
          <a:noFill/>
        </p:spPr>
        <p:txBody>
          <a:bodyPr wrap="square" lIns="0" tIns="0" rIns="0" bIns="0" anchor="t">
            <a:spAutoFit/>
          </a:bodyPr>
          <a:lstStyle/>
          <a:p>
            <a:pPr algn="l">
              <a:spcBef>
                <a:spcPts val="400"/>
              </a:spcBef>
              <a:spcAft>
                <a:spcPts val="200"/>
              </a:spcAft>
            </a:pPr>
            <a:r>
              <a:rPr sz="1200" b="1" i="0">
                <a:solidFill>
                  <a:srgbClr val="FFFFFF"/>
                </a:solidFill>
              </a:rPr>
              <a:t>Coming weeks</a:t>
            </a:r>
          </a:p>
          <a:p>
            <a:pPr algn="l">
              <a:spcAft>
                <a:spcPts val="500"/>
              </a:spcAft>
            </a:pPr>
            <a:r>
              <a:rPr sz="1200" b="0" i="0">
                <a:solidFill>
                  <a:srgbClr val="FFFFFF"/>
                </a:solidFill>
              </a:rPr>
              <a:t>Like our other ops top priorities, we will build this out as an epic with stories underneath, so we can focus and prioritize.</a:t>
            </a:r>
          </a:p>
        </p:txBody>
      </p:sp>
      <p:sp>
        <p:nvSpPr>
          <p:cNvPr id="18" name="Rounded Rectangle 17"/>
          <p:cNvSpPr/>
          <p:nvPr/>
        </p:nvSpPr>
        <p:spPr>
          <a:xfrm>
            <a:off x="4023360" y="1170000"/>
            <a:ext cx="7711440" cy="6858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28600" tIns="54864" rIns="228600" bIns="36576" rtlCol="0" anchor="ctr"/>
          <a:lstStyle/>
          <a:p>
            <a:pPr algn="l">
              <a:spcBef>
                <a:spcPts val="200"/>
              </a:spcBef>
              <a:spcAft>
                <a:spcPts val="200"/>
              </a:spcAft>
            </a:pPr>
            <a:r>
              <a:rPr sz="850" b="1" i="0" cap="all" spc="100">
                <a:solidFill>
                  <a:srgbClr val="60607D"/>
                </a:solidFill>
              </a:rPr>
              <a:t>The goal</a:t>
            </a:r>
          </a:p>
          <a:p>
            <a:pPr algn="l">
              <a:spcBef>
                <a:spcPts val="400"/>
              </a:spcBef>
              <a:spcAft>
                <a:spcPts val="500"/>
              </a:spcAft>
            </a:pPr>
            <a:r>
              <a:rPr sz="1050" b="1" i="0">
                <a:solidFill>
                  <a:srgbClr val="000000"/>
                </a:solidFill>
              </a:rPr>
              <a:t>Move from insight to action: close the skills and bench visibility gap so we can staff ahead of demand.</a:t>
            </a:r>
          </a:p>
        </p:txBody>
      </p:sp>
      <p:sp>
        <p:nvSpPr>
          <p:cNvPr id="19" name="Rounded Rectangle 18"/>
          <p:cNvSpPr/>
          <p:nvPr/>
        </p:nvSpPr>
        <p:spPr>
          <a:xfrm>
            <a:off x="4023360" y="1947240"/>
            <a:ext cx="2470480" cy="320276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46304" tIns="91440" rIns="109728" bIns="36576" rtlCol="0" anchor="t"/>
          <a:lstStyle/>
          <a:p>
            <a:pPr algn="l">
              <a:spcAft>
                <a:spcPts val="600"/>
              </a:spcAft>
            </a:pPr>
            <a:r>
              <a:rPr sz="1100" b="1" i="0" cap="all" spc="60">
                <a:solidFill>
                  <a:srgbClr val="000000"/>
                </a:solidFill>
              </a:rPr>
              <a:t>Pillar 1: Know who we have</a:t>
            </a:r>
          </a:p>
          <a:p>
            <a:pPr algn="l">
              <a:spcAft>
                <a:spcPts val="500"/>
              </a:spcAft>
            </a:pPr>
            <a:r>
              <a:rPr sz="1000" b="1" i="0">
                <a:solidFill>
                  <a:srgbClr val="000000"/>
                </a:solidFill>
              </a:rPr>
              <a:t>We need</a:t>
            </a:r>
            <a:r>
              <a:rPr sz="1000" b="0" i="0">
                <a:solidFill>
                  <a:srgbClr val="000000"/>
                </a:solidFill>
              </a:rPr>
              <a:t> skills captured in one place we can search, </a:t>
            </a:r>
            <a:r>
              <a:rPr sz="1000" b="1" i="0">
                <a:solidFill>
                  <a:srgbClr val="000000"/>
                </a:solidFill>
              </a:rPr>
              <a:t>so we can</a:t>
            </a:r>
            <a:r>
              <a:rPr sz="1000" b="0" i="0">
                <a:solidFill>
                  <a:srgbClr val="000000"/>
                </a:solidFill>
              </a:rPr>
              <a:t> find the right person for a role across practices. </a:t>
            </a:r>
            <a:r>
              <a:rPr sz="1000" b="1" i="0">
                <a:solidFill>
                  <a:srgbClr val="000000"/>
                </a:solidFill>
              </a:rPr>
              <a:t>The outcome:</a:t>
            </a:r>
            <a:r>
              <a:rPr sz="1000" b="0" i="0">
                <a:solidFill>
                  <a:srgbClr val="000000"/>
                </a:solidFill>
              </a:rPr>
              <a:t> one trusted view of skills instead of separate sources.</a:t>
            </a:r>
          </a:p>
          <a:p>
            <a:pPr algn="l">
              <a:spcBef>
                <a:spcPts val="400"/>
              </a:spcBef>
              <a:spcAft>
                <a:spcPts val="200"/>
              </a:spcAft>
            </a:pPr>
            <a:r>
              <a:rPr sz="1000" b="1" i="0">
                <a:solidFill>
                  <a:srgbClr val="000000"/>
                </a:solidFill>
              </a:rPr>
              <a:t>Underway</a:t>
            </a:r>
          </a:p>
          <a:p>
            <a:pPr algn="l">
              <a:spcAft>
                <a:spcPts val="500"/>
              </a:spcAft>
            </a:pPr>
            <a:r>
              <a:rPr sz="1000" b="0" i="0">
                <a:solidFill>
                  <a:srgbClr val="000000"/>
                </a:solidFill>
              </a:rPr>
              <a:t>A skills data pilot with about 100 opt-in people from each of two teams, on a LinkedIn skills taxonomy. We still need to define what we need from it.</a:t>
            </a:r>
          </a:p>
        </p:txBody>
      </p:sp>
      <p:sp>
        <p:nvSpPr>
          <p:cNvPr id="20" name="Rounded Rectangle 19"/>
          <p:cNvSpPr/>
          <p:nvPr/>
        </p:nvSpPr>
        <p:spPr>
          <a:xfrm>
            <a:off x="6643840" y="1947240"/>
            <a:ext cx="2470480" cy="320276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46304" tIns="91440" rIns="109728" bIns="36576" rtlCol="0" anchor="t"/>
          <a:lstStyle/>
          <a:p>
            <a:pPr algn="l">
              <a:spcAft>
                <a:spcPts val="600"/>
              </a:spcAft>
            </a:pPr>
            <a:r>
              <a:rPr sz="1100" b="1" i="0" cap="all" spc="60">
                <a:solidFill>
                  <a:srgbClr val="000000"/>
                </a:solidFill>
              </a:rPr>
              <a:t>Pillar 2: See what is coming</a:t>
            </a:r>
          </a:p>
          <a:p>
            <a:pPr algn="l">
              <a:spcAft>
                <a:spcPts val="500"/>
              </a:spcAft>
            </a:pPr>
            <a:r>
              <a:rPr sz="1000" b="1" i="0">
                <a:solidFill>
                  <a:srgbClr val="000000"/>
                </a:solidFill>
              </a:rPr>
              <a:t>We need </a:t>
            </a:r>
            <a:r>
              <a:rPr sz="1000" b="0" i="0">
                <a:solidFill>
                  <a:srgbClr val="000000"/>
                </a:solidFill>
              </a:rPr>
              <a:t>to review SF stages to see the pipeline earlier, </a:t>
            </a:r>
            <a:r>
              <a:rPr sz="1000" b="1" i="0">
                <a:solidFill>
                  <a:srgbClr val="000000"/>
                </a:solidFill>
              </a:rPr>
              <a:t>so we can </a:t>
            </a:r>
            <a:r>
              <a:rPr sz="1000" b="0" i="0">
                <a:solidFill>
                  <a:srgbClr val="000000"/>
                </a:solidFill>
              </a:rPr>
              <a:t>plan people around demand with RM pulled in earlier in the process, not at signature. </a:t>
            </a:r>
            <a:r>
              <a:rPr sz="1000" b="1" i="0">
                <a:solidFill>
                  <a:srgbClr val="000000"/>
                </a:solidFill>
              </a:rPr>
              <a:t>The outcome: </a:t>
            </a:r>
            <a:r>
              <a:rPr sz="1000" b="0" i="0">
                <a:solidFill>
                  <a:srgbClr val="000000"/>
                </a:solidFill>
              </a:rPr>
              <a:t>teams that are ready to start instead of scrambling after signing.</a:t>
            </a:r>
          </a:p>
          <a:p>
            <a:pPr algn="l">
              <a:spcBef>
                <a:spcPts val="400"/>
              </a:spcBef>
              <a:spcAft>
                <a:spcPts val="200"/>
              </a:spcAft>
            </a:pPr>
            <a:r>
              <a:rPr sz="1000" b="1" i="0">
                <a:solidFill>
                  <a:srgbClr val="000000"/>
                </a:solidFill>
              </a:rPr>
              <a:t>Exploring: Smart Bench</a:t>
            </a:r>
          </a:p>
          <a:p>
            <a:pPr algn="l">
              <a:spcAft>
                <a:spcPts val="500"/>
              </a:spcAft>
            </a:pPr>
            <a:r>
              <a:rPr sz="1000" b="0" i="0">
                <a:solidFill>
                  <a:srgbClr val="000000"/>
                </a:solidFill>
              </a:rPr>
              <a:t>Smart Bench is a concept we are exploring. In plain terms: look ahead at what is likely to close, set clear rules for when we add or reduce capacity (hire, temporary help, or an outside partner), and plan how quickly people ramp on. What it means for us is still being defined.</a:t>
            </a:r>
          </a:p>
        </p:txBody>
      </p:sp>
      <p:sp>
        <p:nvSpPr>
          <p:cNvPr id="21" name="Rounded Rectangle 20"/>
          <p:cNvSpPr/>
          <p:nvPr/>
        </p:nvSpPr>
        <p:spPr>
          <a:xfrm>
            <a:off x="9264320" y="1947240"/>
            <a:ext cx="2470480" cy="320276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46304" tIns="91440" rIns="109728" bIns="36576" rtlCol="0" anchor="t"/>
          <a:lstStyle/>
          <a:p>
            <a:pPr algn="l">
              <a:spcAft>
                <a:spcPts val="600"/>
              </a:spcAft>
            </a:pPr>
            <a:r>
              <a:rPr sz="1100" b="1" i="0" cap="all" spc="60">
                <a:solidFill>
                  <a:srgbClr val="000000"/>
                </a:solidFill>
              </a:rPr>
              <a:t>Pillar 3: One place to look</a:t>
            </a:r>
          </a:p>
          <a:p>
            <a:pPr algn="l">
              <a:spcAft>
                <a:spcPts val="500"/>
              </a:spcAft>
            </a:pPr>
            <a:r>
              <a:rPr sz="1000" b="1" i="0">
                <a:solidFill>
                  <a:srgbClr val="000000"/>
                </a:solidFill>
              </a:rPr>
              <a:t>We need</a:t>
            </a:r>
            <a:r>
              <a:rPr sz="1000" b="0" i="0">
                <a:solidFill>
                  <a:srgbClr val="000000"/>
                </a:solidFill>
              </a:rPr>
              <a:t> what we check today brought into one connected view, </a:t>
            </a:r>
            <a:r>
              <a:rPr sz="1000" b="1" i="0">
                <a:solidFill>
                  <a:srgbClr val="000000"/>
                </a:solidFill>
              </a:rPr>
              <a:t>so we can</a:t>
            </a:r>
            <a:r>
              <a:rPr sz="1000" b="0" i="0">
                <a:solidFill>
                  <a:srgbClr val="000000"/>
                </a:solidFill>
              </a:rPr>
              <a:t> move from insight to action with fewer places to look. </a:t>
            </a:r>
            <a:r>
              <a:rPr sz="1000" b="1" i="0">
                <a:solidFill>
                  <a:srgbClr val="000000"/>
                </a:solidFill>
              </a:rPr>
              <a:t>The outcome:</a:t>
            </a:r>
            <a:r>
              <a:rPr sz="1000" b="0" i="0">
                <a:solidFill>
                  <a:srgbClr val="000000"/>
                </a:solidFill>
              </a:rPr>
              <a:t> insight that points to the next move.</a:t>
            </a:r>
          </a:p>
          <a:p>
            <a:pPr algn="l">
              <a:spcBef>
                <a:spcPts val="400"/>
              </a:spcBef>
              <a:spcAft>
                <a:spcPts val="200"/>
              </a:spcAft>
            </a:pPr>
            <a:r>
              <a:rPr sz="1000" b="1" i="0">
                <a:solidFill>
                  <a:srgbClr val="000000"/>
                </a:solidFill>
              </a:rPr>
              <a:t>Being built: Romulus</a:t>
            </a:r>
          </a:p>
          <a:p>
            <a:pPr algn="l">
              <a:spcAft>
                <a:spcPts val="500"/>
              </a:spcAft>
            </a:pPr>
            <a:r>
              <a:rPr sz="1000" b="0" i="0">
                <a:solidFill>
                  <a:srgbClr val="000000"/>
                </a:solidFill>
              </a:rPr>
              <a:t>Today we check Salesforce, Workfront, pricing tools, spreadsheets, and SharePoint. Romulus is the tool we are building to help turn insight into action (next slide). It needs more feeding from the work in the other two pillars.</a:t>
            </a:r>
          </a:p>
        </p:txBody>
      </p:sp>
      <p:sp>
        <p:nvSpPr>
          <p:cNvPr id="22" name="Rounded Rectangle 21"/>
          <p:cNvSpPr/>
          <p:nvPr/>
        </p:nvSpPr>
        <p:spPr>
          <a:xfrm>
            <a:off x="4023360" y="5300000"/>
            <a:ext cx="7711440" cy="950000"/>
          </a:xfrm>
          <a:prstGeom prst="roundRect">
            <a:avLst>
              <a:gd name="adj" fmla="val 6000"/>
            </a:avLst>
          </a:prstGeom>
          <a:solidFill>
            <a:srgbClr val="000000"/>
          </a:solidFill>
          <a:ln>
            <a:noFill/>
          </a:ln>
          <a:effectLst>
            <a:outerShdw blurRad="190500" dist="50800" dir="5400000" algn="t" rotWithShape="0">
              <a:srgbClr val="000000">
                <a:alpha val="13000"/>
              </a:srgbClr>
            </a:outerShdw>
          </a:effectLst>
        </p:spPr>
        <p:txBody>
          <a:bodyPr wrap="square" lIns="250000" tIns="40000" rIns="250000" bIns="40000" rtlCol="0" anchor="ctr"/>
          <a:lstStyle/>
          <a:p>
            <a:pPr algn="l"/>
            <a:r>
              <a:rPr sz="900" b="1" i="0" cap="all" spc="100">
                <a:solidFill>
                  <a:srgbClr val="D6D6DF"/>
                </a:solidFill>
              </a:rPr>
              <a:t>Key takeaway</a:t>
            </a:r>
          </a:p>
          <a:p>
            <a:pPr algn="l"/>
            <a:r>
              <a:rPr sz="1050" b="1" i="0">
                <a:solidFill>
                  <a:srgbClr val="FFFFFF"/>
                </a:solidFill>
              </a:rPr>
              <a:t>Next, we need further definition and to identify the dependencies that could block us. The three pillars are where our stories will come from, and we will shape them together with our other priorities (Leadership Dashboards, the Accountability Framework, the Deal-to-Delivery Playbook). Still coming, with more in the coming weeks.</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a:latin typeface="+mn-lt"/>
              </a:rPr>
              <a:t>Staffing</a:t>
            </a:r>
          </a:p>
        </p:txBody>
      </p:sp>
      <p:sp>
        <p:nvSpPr>
          <p:cNvPr id="4" name="Text Placeholder 3"/>
          <p:cNvSpPr>
            <a:spLocks noGrp="1"/>
          </p:cNvSpPr>
          <p:nvPr>
            <p:ph type="body" sz="quarter" idx="12"/>
          </p:nvPr>
        </p:nvSpPr>
        <p:spPr/>
        <p:txBody>
          <a:bodyPr/>
          <a:lstStyle/>
          <a:p>
            <a:r>
              <a:t>AO · STAFFING</a:t>
            </a:r>
          </a:p>
        </p:txBody>
      </p:sp>
      <p:sp>
        <p:nvSpPr>
          <p:cNvPr id="5" name="Rounded Rectangle 4"/>
          <p:cNvSpPr/>
          <p:nvPr/>
        </p:nvSpPr>
        <p:spPr>
          <a:xfrm>
            <a:off x="530352" y="1600200"/>
            <a:ext cx="11128248" cy="1051560"/>
          </a:xfrm>
          <a:prstGeom prst="roundRect">
            <a:avLst>
              <a:gd name="adj" fmla="val 8000"/>
            </a:avLst>
          </a:prstGeom>
          <a:solidFill>
            <a:srgbClr val="000000"/>
          </a:solidFill>
          <a:ln>
            <a:noFill/>
          </a:ln>
          <a:effectLst/>
        </p:spPr>
        <p:style>
          <a:lnRef idx="1">
            <a:srgbClr val="000000"/>
          </a:lnRef>
          <a:fillRef idx="3">
            <a:srgbClr val="000000"/>
          </a:fillRef>
          <a:effectRef idx="2">
            <a:srgbClr val="000000"/>
          </a:effectRef>
          <a:fontRef idx="minor">
            <a:schemeClr val="lt1"/>
          </a:fontRef>
        </p:style>
        <p:txBody>
          <a:bodyPr rtlCol="0" anchor="ctr"/>
          <a:lstStyle/>
          <a:p>
            <a:pPr algn="ctr"/>
            <a:endParaRPr/>
          </a:p>
        </p:txBody>
      </p:sp>
      <p:sp>
        <p:nvSpPr>
          <p:cNvPr id="6" name="TextBox 5"/>
          <p:cNvSpPr txBox="1"/>
          <p:nvPr/>
        </p:nvSpPr>
        <p:spPr>
          <a:xfrm>
            <a:off x="822960" y="1737360"/>
            <a:ext cx="635751" cy="246221"/>
          </a:xfrm>
          <a:prstGeom prst="rect">
            <a:avLst/>
          </a:prstGeom>
          <a:noFill/>
        </p:spPr>
        <p:txBody>
          <a:bodyPr wrap="none" lIns="0">
            <a:spAutoFit/>
          </a:bodyPr>
          <a:lstStyle/>
          <a:p>
            <a:pPr algn="l"/>
            <a:r>
              <a:rPr lang="en-US" sz="1000" b="1" spc="150">
                <a:solidFill>
                  <a:srgbClr val="0391F2"/>
                </a:solidFill>
              </a:rPr>
              <a:t>Prompt</a:t>
            </a:r>
            <a:endParaRPr sz="1000" b="1" spc="150">
              <a:solidFill>
                <a:srgbClr val="0391F2"/>
              </a:solidFill>
            </a:endParaRPr>
          </a:p>
        </p:txBody>
      </p:sp>
      <p:sp>
        <p:nvSpPr>
          <p:cNvPr id="7" name="TextBox 6"/>
          <p:cNvSpPr txBox="1"/>
          <p:nvPr/>
        </p:nvSpPr>
        <p:spPr>
          <a:xfrm>
            <a:off x="822960" y="2011680"/>
            <a:ext cx="10515600" cy="430887"/>
          </a:xfrm>
          <a:prstGeom prst="rect">
            <a:avLst/>
          </a:prstGeom>
          <a:noFill/>
        </p:spPr>
        <p:txBody>
          <a:bodyPr wrap="square" lIns="0">
            <a:spAutoFit/>
          </a:bodyPr>
          <a:lstStyle/>
          <a:p>
            <a:r>
              <a:rPr sz="2200" b="1">
                <a:solidFill>
                  <a:srgbClr val="FFFFFF"/>
                </a:solidFill>
              </a:rPr>
              <a:t>Where are we on staffing, and where should the group step in or focus?</a:t>
            </a:r>
          </a:p>
        </p:txBody>
      </p:sp>
      <p:sp>
        <p:nvSpPr>
          <p:cNvPr id="8" name="TextBox 7"/>
          <p:cNvSpPr txBox="1"/>
          <p:nvPr/>
        </p:nvSpPr>
        <p:spPr>
          <a:xfrm>
            <a:off x="530352" y="2926080"/>
            <a:ext cx="1502976" cy="246221"/>
          </a:xfrm>
          <a:prstGeom prst="rect">
            <a:avLst/>
          </a:prstGeom>
          <a:noFill/>
        </p:spPr>
        <p:txBody>
          <a:bodyPr wrap="none" lIns="0">
            <a:spAutoFit/>
          </a:bodyPr>
          <a:lstStyle/>
          <a:p>
            <a:pPr algn="l"/>
            <a:r>
              <a:rPr sz="1000" b="1" spc="150">
                <a:solidFill>
                  <a:srgbClr val="000000"/>
                </a:solidFill>
              </a:rPr>
              <a:t>TOPICS TO COVER</a:t>
            </a:r>
          </a:p>
        </p:txBody>
      </p:sp>
      <p:sp>
        <p:nvSpPr>
          <p:cNvPr id="9" name="Rounded Rectangle 8"/>
          <p:cNvSpPr/>
          <p:nvPr/>
        </p:nvSpPr>
        <p:spPr>
          <a:xfrm>
            <a:off x="530352" y="3291840"/>
            <a:ext cx="2651760" cy="1188720"/>
          </a:xfrm>
          <a:prstGeom prst="roundRect">
            <a:avLst>
              <a:gd name="adj" fmla="val 80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ctr"/>
          <a:lstStyle/>
          <a:p>
            <a:pPr algn="ctr"/>
            <a:endParaRPr/>
          </a:p>
        </p:txBody>
      </p:sp>
      <p:sp>
        <p:nvSpPr>
          <p:cNvPr id="10" name="TextBox 9"/>
          <p:cNvSpPr txBox="1"/>
          <p:nvPr/>
        </p:nvSpPr>
        <p:spPr>
          <a:xfrm>
            <a:off x="713232" y="3419856"/>
            <a:ext cx="276679" cy="307777"/>
          </a:xfrm>
          <a:prstGeom prst="rect">
            <a:avLst/>
          </a:prstGeom>
          <a:noFill/>
        </p:spPr>
        <p:txBody>
          <a:bodyPr wrap="none" lIns="0">
            <a:spAutoFit/>
          </a:bodyPr>
          <a:lstStyle/>
          <a:p>
            <a:r>
              <a:rPr sz="1400" b="1">
                <a:solidFill>
                  <a:srgbClr val="0391F2"/>
                </a:solidFill>
              </a:rPr>
              <a:t>01</a:t>
            </a:r>
          </a:p>
        </p:txBody>
      </p:sp>
      <p:sp>
        <p:nvSpPr>
          <p:cNvPr id="11" name="TextBox 10"/>
          <p:cNvSpPr txBox="1"/>
          <p:nvPr/>
        </p:nvSpPr>
        <p:spPr>
          <a:xfrm>
            <a:off x="713232" y="3749040"/>
            <a:ext cx="2286000" cy="477054"/>
          </a:xfrm>
          <a:prstGeom prst="rect">
            <a:avLst/>
          </a:prstGeom>
          <a:noFill/>
        </p:spPr>
        <p:txBody>
          <a:bodyPr wrap="square" lIns="0" tIns="0">
            <a:spAutoFit/>
          </a:bodyPr>
          <a:lstStyle/>
          <a:p>
            <a:r>
              <a:rPr sz="1400" b="1">
                <a:solidFill>
                  <a:srgbClr val="000000"/>
                </a:solidFill>
              </a:rPr>
              <a:t>Hiring requests: a partner, not a roadblock</a:t>
            </a:r>
          </a:p>
        </p:txBody>
      </p:sp>
      <p:sp>
        <p:nvSpPr>
          <p:cNvPr id="12" name="Rounded Rectangle 11"/>
          <p:cNvSpPr/>
          <p:nvPr/>
        </p:nvSpPr>
        <p:spPr>
          <a:xfrm>
            <a:off x="3355848" y="3291840"/>
            <a:ext cx="2651760" cy="1188720"/>
          </a:xfrm>
          <a:prstGeom prst="roundRect">
            <a:avLst>
              <a:gd name="adj" fmla="val 80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ctr"/>
          <a:lstStyle/>
          <a:p>
            <a:pPr algn="ctr"/>
            <a:endParaRPr/>
          </a:p>
        </p:txBody>
      </p:sp>
      <p:sp>
        <p:nvSpPr>
          <p:cNvPr id="13" name="TextBox 12"/>
          <p:cNvSpPr txBox="1"/>
          <p:nvPr/>
        </p:nvSpPr>
        <p:spPr>
          <a:xfrm>
            <a:off x="3538728" y="3419856"/>
            <a:ext cx="310341" cy="307777"/>
          </a:xfrm>
          <a:prstGeom prst="rect">
            <a:avLst/>
          </a:prstGeom>
          <a:noFill/>
        </p:spPr>
        <p:txBody>
          <a:bodyPr wrap="none" lIns="0">
            <a:spAutoFit/>
          </a:bodyPr>
          <a:lstStyle/>
          <a:p>
            <a:r>
              <a:rPr sz="1400" b="1">
                <a:solidFill>
                  <a:srgbClr val="0391F2"/>
                </a:solidFill>
              </a:rPr>
              <a:t>02</a:t>
            </a:r>
          </a:p>
        </p:txBody>
      </p:sp>
      <p:sp>
        <p:nvSpPr>
          <p:cNvPr id="14" name="TextBox 13"/>
          <p:cNvSpPr txBox="1"/>
          <p:nvPr/>
        </p:nvSpPr>
        <p:spPr>
          <a:xfrm>
            <a:off x="3538728" y="3749040"/>
            <a:ext cx="2459736" cy="692497"/>
          </a:xfrm>
          <a:prstGeom prst="rect">
            <a:avLst/>
          </a:prstGeom>
          <a:noFill/>
        </p:spPr>
        <p:txBody>
          <a:bodyPr wrap="square" lIns="0" tIns="0">
            <a:spAutoFit/>
          </a:bodyPr>
          <a:lstStyle/>
          <a:p>
            <a:r>
              <a:rPr lang="en-US" sz="1400" b="1">
                <a:solidFill>
                  <a:srgbClr val="000000"/>
                </a:solidFill>
              </a:rPr>
              <a:t>Review SF stages to see the pipeline earlier, so RM can plan for demand sooner</a:t>
            </a:r>
            <a:endParaRPr sz="1400" b="1">
              <a:solidFill>
                <a:srgbClr val="000000"/>
              </a:solidFill>
            </a:endParaRPr>
          </a:p>
        </p:txBody>
      </p:sp>
      <p:sp>
        <p:nvSpPr>
          <p:cNvPr id="15" name="Rounded Rectangle 14"/>
          <p:cNvSpPr/>
          <p:nvPr/>
        </p:nvSpPr>
        <p:spPr>
          <a:xfrm>
            <a:off x="6181344" y="3291840"/>
            <a:ext cx="2651760" cy="1188720"/>
          </a:xfrm>
          <a:prstGeom prst="roundRect">
            <a:avLst>
              <a:gd name="adj" fmla="val 80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ctr"/>
          <a:lstStyle/>
          <a:p>
            <a:pPr algn="ctr"/>
            <a:endParaRPr/>
          </a:p>
        </p:txBody>
      </p:sp>
      <p:sp>
        <p:nvSpPr>
          <p:cNvPr id="16" name="TextBox 15"/>
          <p:cNvSpPr txBox="1"/>
          <p:nvPr/>
        </p:nvSpPr>
        <p:spPr>
          <a:xfrm>
            <a:off x="6364224" y="3419856"/>
            <a:ext cx="308739" cy="307777"/>
          </a:xfrm>
          <a:prstGeom prst="rect">
            <a:avLst/>
          </a:prstGeom>
          <a:noFill/>
        </p:spPr>
        <p:txBody>
          <a:bodyPr wrap="none" lIns="0">
            <a:spAutoFit/>
          </a:bodyPr>
          <a:lstStyle/>
          <a:p>
            <a:r>
              <a:rPr sz="1400" b="1">
                <a:solidFill>
                  <a:srgbClr val="0391F2"/>
                </a:solidFill>
              </a:rPr>
              <a:t>03</a:t>
            </a:r>
          </a:p>
        </p:txBody>
      </p:sp>
      <p:sp>
        <p:nvSpPr>
          <p:cNvPr id="17" name="TextBox 16"/>
          <p:cNvSpPr txBox="1"/>
          <p:nvPr/>
        </p:nvSpPr>
        <p:spPr>
          <a:xfrm>
            <a:off x="6364224" y="3749040"/>
            <a:ext cx="2286000" cy="692497"/>
          </a:xfrm>
          <a:prstGeom prst="rect">
            <a:avLst/>
          </a:prstGeom>
          <a:noFill/>
        </p:spPr>
        <p:txBody>
          <a:bodyPr wrap="square" lIns="0" tIns="0">
            <a:spAutoFit/>
          </a:bodyPr>
          <a:lstStyle/>
          <a:p>
            <a:r>
              <a:rPr lang="en-US" sz="1400" b="1">
                <a:solidFill>
                  <a:srgbClr val="000000"/>
                </a:solidFill>
              </a:rPr>
              <a:t>Resource managers and HR as one team for managers</a:t>
            </a:r>
          </a:p>
        </p:txBody>
      </p:sp>
      <p:sp>
        <p:nvSpPr>
          <p:cNvPr id="18" name="Rounded Rectangle 17"/>
          <p:cNvSpPr/>
          <p:nvPr/>
        </p:nvSpPr>
        <p:spPr>
          <a:xfrm>
            <a:off x="9006840" y="3291840"/>
            <a:ext cx="2651760" cy="1188720"/>
          </a:xfrm>
          <a:prstGeom prst="roundRect">
            <a:avLst>
              <a:gd name="adj" fmla="val 80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ctr"/>
          <a:lstStyle/>
          <a:p>
            <a:pPr algn="ctr"/>
            <a:endParaRPr/>
          </a:p>
        </p:txBody>
      </p:sp>
      <p:sp>
        <p:nvSpPr>
          <p:cNvPr id="19" name="TextBox 18"/>
          <p:cNvSpPr txBox="1"/>
          <p:nvPr/>
        </p:nvSpPr>
        <p:spPr>
          <a:xfrm>
            <a:off x="9189720" y="3419856"/>
            <a:ext cx="310341" cy="307777"/>
          </a:xfrm>
          <a:prstGeom prst="rect">
            <a:avLst/>
          </a:prstGeom>
          <a:noFill/>
        </p:spPr>
        <p:txBody>
          <a:bodyPr wrap="none" lIns="0">
            <a:spAutoFit/>
          </a:bodyPr>
          <a:lstStyle/>
          <a:p>
            <a:r>
              <a:rPr sz="1400" b="1">
                <a:solidFill>
                  <a:srgbClr val="0391F2"/>
                </a:solidFill>
              </a:rPr>
              <a:t>04</a:t>
            </a:r>
          </a:p>
        </p:txBody>
      </p:sp>
      <p:sp>
        <p:nvSpPr>
          <p:cNvPr id="20" name="TextBox 19"/>
          <p:cNvSpPr txBox="1"/>
          <p:nvPr/>
        </p:nvSpPr>
        <p:spPr>
          <a:xfrm>
            <a:off x="9189720" y="3749040"/>
            <a:ext cx="2286000" cy="261610"/>
          </a:xfrm>
          <a:prstGeom prst="rect">
            <a:avLst/>
          </a:prstGeom>
          <a:noFill/>
        </p:spPr>
        <p:txBody>
          <a:bodyPr wrap="square" lIns="0" tIns="0">
            <a:spAutoFit/>
          </a:bodyPr>
          <a:lstStyle/>
          <a:p>
            <a:r>
              <a:rPr sz="1400" b="1">
                <a:solidFill>
                  <a:srgbClr val="000000"/>
                </a:solidFill>
              </a:rPr>
              <a:t>Hiring ahead of need</a:t>
            </a:r>
          </a:p>
        </p:txBody>
      </p:sp>
      <p:sp>
        <p:nvSpPr>
          <p:cNvPr id="21" name="Rounded Rectangle 20"/>
          <p:cNvSpPr/>
          <p:nvPr/>
        </p:nvSpPr>
        <p:spPr>
          <a:xfrm>
            <a:off x="530352" y="4663440"/>
            <a:ext cx="2651760" cy="1188720"/>
          </a:xfrm>
          <a:prstGeom prst="roundRect">
            <a:avLst>
              <a:gd name="adj" fmla="val 80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ctr"/>
          <a:lstStyle/>
          <a:p>
            <a:pPr algn="ctr"/>
            <a:endParaRPr/>
          </a:p>
        </p:txBody>
      </p:sp>
      <p:sp>
        <p:nvSpPr>
          <p:cNvPr id="22" name="TextBox 21"/>
          <p:cNvSpPr txBox="1"/>
          <p:nvPr/>
        </p:nvSpPr>
        <p:spPr>
          <a:xfrm>
            <a:off x="713232" y="4791456"/>
            <a:ext cx="311945" cy="307777"/>
          </a:xfrm>
          <a:prstGeom prst="rect">
            <a:avLst/>
          </a:prstGeom>
          <a:noFill/>
        </p:spPr>
        <p:txBody>
          <a:bodyPr wrap="none" lIns="0">
            <a:spAutoFit/>
          </a:bodyPr>
          <a:lstStyle/>
          <a:p>
            <a:r>
              <a:rPr sz="1400" b="1">
                <a:solidFill>
                  <a:srgbClr val="0391F2"/>
                </a:solidFill>
              </a:rPr>
              <a:t>05</a:t>
            </a:r>
          </a:p>
        </p:txBody>
      </p:sp>
      <p:sp>
        <p:nvSpPr>
          <p:cNvPr id="23" name="TextBox 22"/>
          <p:cNvSpPr txBox="1"/>
          <p:nvPr/>
        </p:nvSpPr>
        <p:spPr>
          <a:xfrm>
            <a:off x="713232" y="5120640"/>
            <a:ext cx="2286000" cy="477054"/>
          </a:xfrm>
          <a:prstGeom prst="rect">
            <a:avLst/>
          </a:prstGeom>
          <a:noFill/>
        </p:spPr>
        <p:txBody>
          <a:bodyPr wrap="square" lIns="0" tIns="0">
            <a:spAutoFit/>
          </a:bodyPr>
          <a:lstStyle/>
          <a:p>
            <a:r>
              <a:rPr lang="en-US" sz="1400" b="1">
                <a:solidFill>
                  <a:srgbClr val="000000"/>
                </a:solidFill>
              </a:rPr>
              <a:t>Adobe demand as an example</a:t>
            </a:r>
          </a:p>
        </p:txBody>
      </p:sp>
      <p:sp>
        <p:nvSpPr>
          <p:cNvPr id="24" name="Rounded Rectangle 23"/>
          <p:cNvSpPr/>
          <p:nvPr/>
        </p:nvSpPr>
        <p:spPr>
          <a:xfrm>
            <a:off x="3355848" y="4663440"/>
            <a:ext cx="2651760" cy="1188720"/>
          </a:xfrm>
          <a:prstGeom prst="roundRect">
            <a:avLst>
              <a:gd name="adj" fmla="val 8000"/>
            </a:avLst>
          </a:prstGeom>
          <a:solidFill>
            <a:srgbClr val="000000"/>
          </a:solidFill>
          <a:ln w="9525">
            <a:solidFill>
              <a:srgbClr val="D6D6DF"/>
            </a:solidFill>
          </a:ln>
          <a:effectLst/>
        </p:spPr>
        <p:style>
          <a:lnRef idx="1">
            <a:srgbClr val="000000"/>
          </a:lnRef>
          <a:fillRef idx="3">
            <a:srgbClr val="000000"/>
          </a:fillRef>
          <a:effectRef idx="2">
            <a:srgbClr val="000000"/>
          </a:effectRef>
          <a:fontRef idx="minor">
            <a:schemeClr val="lt1"/>
          </a:fontRef>
        </p:style>
        <p:txBody>
          <a:bodyPr rtlCol="0" anchor="ctr"/>
          <a:lstStyle/>
          <a:p>
            <a:pPr algn="ctr"/>
            <a:endParaRPr/>
          </a:p>
        </p:txBody>
      </p:sp>
      <p:sp>
        <p:nvSpPr>
          <p:cNvPr id="25" name="TextBox 24"/>
          <p:cNvSpPr txBox="1"/>
          <p:nvPr/>
        </p:nvSpPr>
        <p:spPr>
          <a:xfrm>
            <a:off x="3538728" y="4791456"/>
            <a:ext cx="311945" cy="307777"/>
          </a:xfrm>
          <a:prstGeom prst="rect">
            <a:avLst/>
          </a:prstGeom>
          <a:noFill/>
        </p:spPr>
        <p:txBody>
          <a:bodyPr wrap="none" lIns="0">
            <a:spAutoFit/>
          </a:bodyPr>
          <a:lstStyle/>
          <a:p>
            <a:r>
              <a:rPr sz="1400" b="1">
                <a:solidFill>
                  <a:srgbClr val="0391F2"/>
                </a:solidFill>
              </a:rPr>
              <a:t>06</a:t>
            </a:r>
          </a:p>
        </p:txBody>
      </p:sp>
      <p:sp>
        <p:nvSpPr>
          <p:cNvPr id="26" name="TextBox 25"/>
          <p:cNvSpPr txBox="1"/>
          <p:nvPr/>
        </p:nvSpPr>
        <p:spPr>
          <a:xfrm>
            <a:off x="3538728" y="5120640"/>
            <a:ext cx="2286000" cy="261610"/>
          </a:xfrm>
          <a:prstGeom prst="rect">
            <a:avLst/>
          </a:prstGeom>
          <a:noFill/>
        </p:spPr>
        <p:txBody>
          <a:bodyPr wrap="square" lIns="0" tIns="0">
            <a:spAutoFit/>
          </a:bodyPr>
          <a:lstStyle/>
          <a:p>
            <a:r>
              <a:rPr sz="1400" b="1">
                <a:solidFill>
                  <a:schemeClr val="bg1"/>
                </a:solidFill>
              </a:rPr>
              <a:t>Skills data in one place</a:t>
            </a:r>
          </a:p>
        </p:txBody>
      </p:sp>
      <p:sp>
        <p:nvSpPr>
          <p:cNvPr id="27" name="Rounded Rectangle 26"/>
          <p:cNvSpPr/>
          <p:nvPr/>
        </p:nvSpPr>
        <p:spPr>
          <a:xfrm>
            <a:off x="6181344" y="4663440"/>
            <a:ext cx="2651760" cy="1188720"/>
          </a:xfrm>
          <a:prstGeom prst="roundRect">
            <a:avLst>
              <a:gd name="adj" fmla="val 8000"/>
            </a:avLst>
          </a:prstGeom>
          <a:solidFill>
            <a:srgbClr val="000000"/>
          </a:solidFill>
          <a:ln w="9525">
            <a:solidFill>
              <a:srgbClr val="D6D6DF"/>
            </a:solidFill>
          </a:ln>
          <a:effectLst/>
        </p:spPr>
        <p:style>
          <a:lnRef idx="1">
            <a:srgbClr val="000000"/>
          </a:lnRef>
          <a:fillRef idx="3">
            <a:srgbClr val="000000"/>
          </a:fillRef>
          <a:effectRef idx="2">
            <a:srgbClr val="000000"/>
          </a:effectRef>
          <a:fontRef idx="minor">
            <a:schemeClr val="lt1"/>
          </a:fontRef>
        </p:style>
        <p:txBody>
          <a:bodyPr rtlCol="0" anchor="ctr"/>
          <a:lstStyle/>
          <a:p>
            <a:pPr algn="ctr"/>
            <a:endParaRPr/>
          </a:p>
        </p:txBody>
      </p:sp>
      <p:sp>
        <p:nvSpPr>
          <p:cNvPr id="28" name="TextBox 27"/>
          <p:cNvSpPr txBox="1"/>
          <p:nvPr/>
        </p:nvSpPr>
        <p:spPr>
          <a:xfrm>
            <a:off x="6364224" y="4791456"/>
            <a:ext cx="300723" cy="307777"/>
          </a:xfrm>
          <a:prstGeom prst="rect">
            <a:avLst/>
          </a:prstGeom>
          <a:noFill/>
        </p:spPr>
        <p:txBody>
          <a:bodyPr wrap="none" lIns="0">
            <a:spAutoFit/>
          </a:bodyPr>
          <a:lstStyle/>
          <a:p>
            <a:r>
              <a:rPr sz="1400" b="1">
                <a:solidFill>
                  <a:srgbClr val="0391F2"/>
                </a:solidFill>
              </a:rPr>
              <a:t>07</a:t>
            </a:r>
          </a:p>
        </p:txBody>
      </p:sp>
      <p:sp>
        <p:nvSpPr>
          <p:cNvPr id="29" name="TextBox 28"/>
          <p:cNvSpPr txBox="1"/>
          <p:nvPr/>
        </p:nvSpPr>
        <p:spPr>
          <a:xfrm>
            <a:off x="6364224" y="5120640"/>
            <a:ext cx="2286000" cy="477054"/>
          </a:xfrm>
          <a:prstGeom prst="rect">
            <a:avLst/>
          </a:prstGeom>
          <a:noFill/>
        </p:spPr>
        <p:txBody>
          <a:bodyPr wrap="square" lIns="0" tIns="0">
            <a:spAutoFit/>
          </a:bodyPr>
          <a:lstStyle/>
          <a:p>
            <a:r>
              <a:rPr lang="en-US" sz="1400" b="1">
                <a:solidFill>
                  <a:schemeClr val="bg1"/>
                </a:solidFill>
              </a:rPr>
              <a:t>A smart bench: flexing up and down</a:t>
            </a:r>
          </a:p>
        </p:txBody>
      </p:sp>
      <p:sp>
        <p:nvSpPr>
          <p:cNvPr id="30" name="Rounded Rectangle 29"/>
          <p:cNvSpPr/>
          <p:nvPr/>
        </p:nvSpPr>
        <p:spPr>
          <a:xfrm>
            <a:off x="9006840" y="4663440"/>
            <a:ext cx="2651760" cy="1188720"/>
          </a:xfrm>
          <a:prstGeom prst="roundRect">
            <a:avLst>
              <a:gd name="adj" fmla="val 8000"/>
            </a:avLst>
          </a:prstGeom>
          <a:solidFill>
            <a:srgbClr val="000000"/>
          </a:solidFill>
          <a:ln w="9525">
            <a:solidFill>
              <a:srgbClr val="D6D6DF"/>
            </a:solidFill>
          </a:ln>
          <a:effectLst/>
        </p:spPr>
        <p:style>
          <a:lnRef idx="1">
            <a:srgbClr val="000000"/>
          </a:lnRef>
          <a:fillRef idx="3">
            <a:srgbClr val="000000"/>
          </a:fillRef>
          <a:effectRef idx="2">
            <a:srgbClr val="000000"/>
          </a:effectRef>
          <a:fontRef idx="minor">
            <a:schemeClr val="lt1"/>
          </a:fontRef>
        </p:style>
        <p:txBody>
          <a:bodyPr rtlCol="0" anchor="ctr"/>
          <a:lstStyle/>
          <a:p>
            <a:pPr algn="ctr"/>
            <a:endParaRPr/>
          </a:p>
        </p:txBody>
      </p:sp>
      <p:sp>
        <p:nvSpPr>
          <p:cNvPr id="31" name="TextBox 30"/>
          <p:cNvSpPr txBox="1"/>
          <p:nvPr/>
        </p:nvSpPr>
        <p:spPr>
          <a:xfrm>
            <a:off x="9189720" y="4791456"/>
            <a:ext cx="311945" cy="307777"/>
          </a:xfrm>
          <a:prstGeom prst="rect">
            <a:avLst/>
          </a:prstGeom>
          <a:noFill/>
        </p:spPr>
        <p:txBody>
          <a:bodyPr wrap="none" lIns="0">
            <a:spAutoFit/>
          </a:bodyPr>
          <a:lstStyle/>
          <a:p>
            <a:r>
              <a:rPr sz="1400" b="1">
                <a:solidFill>
                  <a:srgbClr val="0391F2"/>
                </a:solidFill>
              </a:rPr>
              <a:t>08</a:t>
            </a:r>
          </a:p>
        </p:txBody>
      </p:sp>
      <p:sp>
        <p:nvSpPr>
          <p:cNvPr id="32" name="TextBox 31"/>
          <p:cNvSpPr txBox="1"/>
          <p:nvPr/>
        </p:nvSpPr>
        <p:spPr>
          <a:xfrm>
            <a:off x="9189720" y="5120640"/>
            <a:ext cx="2286000" cy="477054"/>
          </a:xfrm>
          <a:prstGeom prst="rect">
            <a:avLst/>
          </a:prstGeom>
          <a:noFill/>
        </p:spPr>
        <p:txBody>
          <a:bodyPr wrap="square" lIns="0" tIns="0">
            <a:spAutoFit/>
          </a:bodyPr>
          <a:lstStyle/>
          <a:p>
            <a:r>
              <a:rPr sz="1400" b="1">
                <a:solidFill>
                  <a:schemeClr val="bg1"/>
                </a:solidFill>
              </a:rPr>
              <a:t>Romulus and supply-and-demand data</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pic>
        <p:nvPicPr>
          <p:cNvPr id="5" name="Picture 4" descr="f_hero_cap.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endParaRP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Romulus</a:t>
            </a:r>
          </a:p>
        </p:txBody>
      </p:sp>
      <p:sp>
        <p:nvSpPr>
          <p:cNvPr id="4" name="Text Placeholder 3"/>
          <p:cNvSpPr>
            <a:spLocks noGrp="1"/>
          </p:cNvSpPr>
          <p:nvPr>
            <p:ph type="body" sz="quarter" idx="12"/>
          </p:nvPr>
        </p:nvSpPr>
        <p:spPr>
          <a:xfrm>
            <a:off x="457200" y="170000"/>
            <a:ext cx="8000000" cy="182880"/>
          </a:xfrm>
        </p:spPr>
        <p:txBody>
          <a:bodyPr/>
          <a:lstStyle/>
          <a:p>
            <a:r>
              <a:rPr>
                <a:solidFill>
                  <a:srgbClr val="0391F2"/>
                </a:solidFill>
              </a:rPr>
              <a:t>CAPACITY PLANNING &amp; ROMULUS · SUPPORTING DETAIL</a:t>
            </a:r>
          </a:p>
        </p:txBody>
      </p:sp>
      <p:sp>
        <p:nvSpPr>
          <p:cNvPr id="7" name="Rounded Rectangle 6"/>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wrap="square" lIns="150000" rIns="120000" rtlCol="0" anchor="ctr"/>
          <a:lstStyle/>
          <a:p>
            <a:pPr algn="l"/>
            <a:r>
              <a:rPr sz="1050" b="1" i="0">
                <a:solidFill>
                  <a:srgbClr val="FFFFFF"/>
                </a:solidFill>
              </a:rPr>
              <a:t>Owner(s)</a:t>
            </a:r>
          </a:p>
          <a:p>
            <a:pPr algn="l"/>
            <a:r>
              <a:rPr sz="900" b="0" i="0">
                <a:solidFill>
                  <a:srgbClr val="D6D6DF"/>
                </a:solidFill>
              </a:rPr>
              <a:t>Missy Foristall, Adam Organ</a:t>
            </a:r>
          </a:p>
        </p:txBody>
      </p:sp>
      <p:sp>
        <p:nvSpPr>
          <p:cNvPr id="8" name="Rounded Rectangle 7"/>
          <p:cNvSpPr/>
          <p:nvPr/>
        </p:nvSpPr>
        <p:spPr>
          <a:xfrm>
            <a:off x="457200" y="1170000"/>
            <a:ext cx="11277600" cy="1300000"/>
          </a:xfrm>
          <a:prstGeom prst="roundRect">
            <a:avLst>
              <a:gd name="adj" fmla="val 3200"/>
            </a:avLst>
          </a:prstGeom>
          <a:solidFill>
            <a:srgbClr val="000000"/>
          </a:solidFill>
          <a:ln>
            <a:noFill/>
          </a:ln>
          <a:effectLst>
            <a:outerShdw blurRad="190500" dist="50800" dir="5400000" algn="t" rotWithShape="0">
              <a:srgbClr val="000000">
                <a:alpha val="13000"/>
              </a:srgbClr>
            </a:outerShdw>
          </a:effectLst>
        </p:spPr>
        <p:txBody>
          <a:bodyPr wrap="square" lIns="274320" tIns="109728" rIns="274320" bIns="73152" rtlCol="0" anchor="ctr"/>
          <a:lstStyle/>
          <a:p>
            <a:pPr algn="l">
              <a:spcBef>
                <a:spcPts val="400"/>
              </a:spcBef>
              <a:spcAft>
                <a:spcPts val="500"/>
              </a:spcAft>
            </a:pPr>
            <a:r>
              <a:rPr sz="1600" b="1" i="0">
                <a:solidFill>
                  <a:srgbClr val="FFFFFF"/>
                </a:solidFill>
              </a:rPr>
              <a:t>An operating system for resource management.</a:t>
            </a:r>
          </a:p>
        </p:txBody>
      </p:sp>
      <p:sp>
        <p:nvSpPr>
          <p:cNvPr id="9" name="Rounded Rectangle 8"/>
          <p:cNvSpPr/>
          <p:nvPr/>
        </p:nvSpPr>
        <p:spPr>
          <a:xfrm>
            <a:off x="457200" y="2620000"/>
            <a:ext cx="11277600" cy="173736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500"/>
              </a:spcAft>
            </a:pPr>
            <a:r>
              <a:rPr sz="1250" b="0" i="0">
                <a:solidFill>
                  <a:srgbClr val="000000"/>
                </a:solidFill>
              </a:rPr>
              <a:t>Romulus turns live demand, supply and financial data into a daily situation report — surfacing the staffing decisions a Resource Manager needs to make </a:t>
            </a:r>
            <a:r>
              <a:rPr sz="1250" b="1" i="0">
                <a:solidFill>
                  <a:srgbClr val="000000"/>
                </a:solidFill>
              </a:rPr>
              <a:t>before they're asked</a:t>
            </a:r>
            <a:r>
              <a:rPr sz="1250" b="0" i="0">
                <a:solidFill>
                  <a:srgbClr val="000000"/>
                </a:solidFill>
              </a:rPr>
              <a:t>. It's built to replace the spreadsheets, email chains, and tribal knowledge our business runs on today.</a:t>
            </a:r>
          </a:p>
          <a:p>
            <a:pPr algn="l">
              <a:spcAft>
                <a:spcPts val="400"/>
              </a:spcAft>
            </a:pPr>
            <a:r>
              <a:rPr sz="1050" b="0" i="1">
                <a:solidFill>
                  <a:srgbClr val="60607D"/>
                </a:solidFill>
              </a:rPr>
              <a:t>▲  This was the actual prompt that started it all  ▲</a:t>
            </a:r>
          </a:p>
        </p:txBody>
      </p:sp>
      <p:sp>
        <p:nvSpPr>
          <p:cNvPr id="10" name="Rounded Rectangle 9"/>
          <p:cNvSpPr/>
          <p:nvPr/>
        </p:nvSpPr>
        <p:spPr>
          <a:xfrm>
            <a:off x="457200" y="4507360"/>
            <a:ext cx="11277600" cy="640000"/>
          </a:xfrm>
          <a:prstGeom prst="roundRect">
            <a:avLst>
              <a:gd name="adj" fmla="val 6000"/>
            </a:avLst>
          </a:prstGeom>
          <a:solidFill>
            <a:srgbClr val="000000"/>
          </a:solidFill>
          <a:ln>
            <a:noFill/>
          </a:ln>
          <a:effectLst>
            <a:outerShdw blurRad="190500" dist="50800" dir="5400000" algn="t" rotWithShape="0">
              <a:srgbClr val="000000">
                <a:alpha val="13000"/>
              </a:srgbClr>
            </a:outerShdw>
          </a:effectLst>
        </p:spPr>
        <p:txBody>
          <a:bodyPr wrap="square" lIns="300000" tIns="50000" rIns="300000" bIns="50000" rtlCol="0" anchor="ctr"/>
          <a:lstStyle/>
          <a:p>
            <a:pPr algn="l"/>
            <a:r>
              <a:rPr sz="1400" b="1" i="0">
                <a:solidFill>
                  <a:srgbClr val="FFFFFF"/>
                </a:solidFill>
              </a:rPr>
              <a:t>Now here's the rest of the story….  In 3 minutes (or less)</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 name="Picture 4" descr="f_hero_cap.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endParaRPr/>
          </a:p>
        </p:txBody>
      </p:sp>
      <p:pic>
        <p:nvPicPr>
          <p:cNvPr id="8" name="Picture 7" descr="f_split_cap.jpg"/>
          <p:cNvPicPr>
            <a:picLocks noChangeAspect="1"/>
          </p:cNvPicPr>
          <p:nvPr/>
        </p:nvPicPr>
        <p:blipFill>
          <a:blip r:embed="rId3"/>
          <a:stretch>
            <a:fillRect/>
          </a:stretch>
        </p:blipFill>
        <p:spPr>
          <a:xfrm>
            <a:off x="0" y="0"/>
            <a:ext cx="4480560" cy="6858000"/>
          </a:xfrm>
          <a:prstGeom prst="rect">
            <a:avLst/>
          </a:prstGeom>
        </p:spPr>
      </p:pic>
      <p:sp>
        <p:nvSpPr>
          <p:cNvPr id="9" name="Rectangle 8"/>
          <p:cNvSpPr/>
          <p:nvPr/>
        </p:nvSpPr>
        <p:spPr>
          <a:xfrm>
            <a:off x="0" y="0"/>
            <a:ext cx="4480560" cy="6858000"/>
          </a:xfrm>
          <a:prstGeom prst="rect">
            <a:avLst/>
          </a:prstGeom>
          <a:gradFill rotWithShape="1">
            <a:gsLst>
              <a:gs pos="0">
                <a:srgbClr val="000000">
                  <a:alpha val="70000"/>
                </a:srgbClr>
              </a:gs>
              <a:gs pos="50000">
                <a:srgbClr val="000000">
                  <a:alpha val="55000"/>
                </a:srgbClr>
              </a:gs>
              <a:gs pos="100000">
                <a:srgbClr val="000000">
                  <a:alpha val="85000"/>
                </a:srgbClr>
              </a:gs>
            </a:gsLst>
            <a:lin ang="5400000" scaled="0"/>
          </a:gradFill>
          <a:ln>
            <a:noFill/>
          </a:ln>
        </p:spPr>
        <p:txBody>
          <a:bodyPr rtlCol="0" anchor="ctr"/>
          <a:lstStyle/>
          <a:p>
            <a:pPr algn="ctr"/>
            <a:endParaRPr/>
          </a:p>
        </p:txBody>
      </p:sp>
      <p:sp>
        <p:nvSpPr>
          <p:cNvPr id="10" name="Rounded Rectangle 9"/>
          <p:cNvSpPr/>
          <p:nvPr/>
        </p:nvSpPr>
        <p:spPr>
          <a:xfrm>
            <a:off x="320040" y="2377440"/>
            <a:ext cx="3840480" cy="2011680"/>
          </a:xfrm>
          <a:prstGeom prst="roundRect">
            <a:avLst>
              <a:gd name="adj" fmla="val 5000"/>
            </a:avLst>
          </a:prstGeom>
          <a:solidFill>
            <a:srgbClr val="000000">
              <a:alpha val="62000"/>
            </a:srgbClr>
          </a:solidFill>
          <a:ln>
            <a:noFill/>
          </a:ln>
        </p:spPr>
        <p:txBody>
          <a:bodyPr rtlCol="0" anchor="ctr"/>
          <a:lstStyle/>
          <a:p>
            <a:pPr algn="ctr"/>
            <a:endParaRPr/>
          </a:p>
        </p:txBody>
      </p:sp>
      <p:sp>
        <p:nvSpPr>
          <p:cNvPr id="3" name="Title 2"/>
          <p:cNvSpPr>
            <a:spLocks noGrp="1"/>
          </p:cNvSpPr>
          <p:nvPr>
            <p:ph type="title"/>
          </p:nvPr>
        </p:nvSpPr>
        <p:spPr>
          <a:xfrm>
            <a:off x="4892040" y="300000"/>
            <a:ext cx="3907960" cy="560000"/>
          </a:xfrm>
        </p:spPr>
        <p:txBody>
          <a:bodyPr/>
          <a:lstStyle/>
          <a:p>
            <a:r>
              <a:rPr sz="2400">
                <a:solidFill>
                  <a:srgbClr val="FFFFFF"/>
                </a:solidFill>
              </a:rPr>
              <a:t>What you can do with it</a:t>
            </a:r>
          </a:p>
        </p:txBody>
      </p:sp>
      <p:sp>
        <p:nvSpPr>
          <p:cNvPr id="4" name="Text Placeholder 3"/>
          <p:cNvSpPr>
            <a:spLocks noGrp="1"/>
          </p:cNvSpPr>
          <p:nvPr>
            <p:ph type="body" sz="quarter" idx="12"/>
          </p:nvPr>
        </p:nvSpPr>
        <p:spPr>
          <a:xfrm>
            <a:off x="4892040" y="170000"/>
            <a:ext cx="8000000" cy="182880"/>
          </a:xfrm>
        </p:spPr>
        <p:txBody>
          <a:bodyPr/>
          <a:lstStyle/>
          <a:p>
            <a:r>
              <a:rPr>
                <a:solidFill>
                  <a:srgbClr val="0391F2"/>
                </a:solidFill>
              </a:rPr>
              <a:t>CAPACITY PLANNING &amp; ROMULUS · DETAIL</a:t>
            </a:r>
          </a:p>
        </p:txBody>
      </p:sp>
      <p:sp>
        <p:nvSpPr>
          <p:cNvPr id="7" name="Rounded Rectangle 6"/>
          <p:cNvSpPr/>
          <p:nvPr/>
        </p:nvSpPr>
        <p:spPr>
          <a:xfrm>
            <a:off x="8900000" y="250000"/>
            <a:ext cx="2850000" cy="450000"/>
          </a:xfrm>
          <a:prstGeom prst="roundRect">
            <a:avLst>
              <a:gd name="adj" fmla="val 28000"/>
            </a:avLst>
          </a:prstGeom>
          <a:solidFill>
            <a:srgbClr val="000000">
              <a:alpha val="72000"/>
            </a:srgbClr>
          </a:solidFill>
          <a:ln w="9525">
            <a:solidFill>
              <a:srgbClr val="FFFFFF">
                <a:alpha val="45000"/>
              </a:srgbClr>
            </a:solidFill>
          </a:ln>
        </p:spPr>
        <p:txBody>
          <a:bodyPr wrap="square" lIns="150000" rIns="120000" rtlCol="0" anchor="ctr"/>
          <a:lstStyle/>
          <a:p>
            <a:pPr algn="l"/>
            <a:r>
              <a:rPr sz="1050" b="1" i="0">
                <a:solidFill>
                  <a:srgbClr val="FFFFFF"/>
                </a:solidFill>
              </a:rPr>
              <a:t>Owner(s)</a:t>
            </a:r>
          </a:p>
          <a:p>
            <a:pPr algn="l"/>
            <a:r>
              <a:rPr sz="900" b="0" i="0">
                <a:solidFill>
                  <a:srgbClr val="D6D6DF"/>
                </a:solidFill>
              </a:rPr>
              <a:t>Missy Foristall, Adam Organ</a:t>
            </a:r>
          </a:p>
        </p:txBody>
      </p:sp>
      <p:sp>
        <p:nvSpPr>
          <p:cNvPr id="11" name="TextBox 10"/>
          <p:cNvSpPr txBox="1"/>
          <p:nvPr/>
        </p:nvSpPr>
        <p:spPr>
          <a:xfrm>
            <a:off x="640080" y="2560320"/>
            <a:ext cx="3200400" cy="228600"/>
          </a:xfrm>
          <a:prstGeom prst="rect">
            <a:avLst/>
          </a:prstGeom>
          <a:noFill/>
        </p:spPr>
        <p:txBody>
          <a:bodyPr wrap="square" lIns="0" tIns="0" rIns="0" bIns="0" anchor="t">
            <a:spAutoFit/>
          </a:bodyPr>
          <a:lstStyle/>
          <a:p>
            <a:pPr algn="l">
              <a:spcBef>
                <a:spcPts val="200"/>
              </a:spcBef>
              <a:spcAft>
                <a:spcPts val="200"/>
              </a:spcAft>
            </a:pPr>
            <a:r>
              <a:rPr sz="850" b="1" i="0" cap="all" spc="100">
                <a:solidFill>
                  <a:srgbClr val="D6D6DF"/>
                </a:solidFill>
              </a:rPr>
              <a:t>RELEASE MOMENTUM</a:t>
            </a:r>
          </a:p>
        </p:txBody>
      </p:sp>
      <p:sp>
        <p:nvSpPr>
          <p:cNvPr id="12" name="TextBox 11"/>
          <p:cNvSpPr txBox="1"/>
          <p:nvPr/>
        </p:nvSpPr>
        <p:spPr>
          <a:xfrm>
            <a:off x="640080" y="2880360"/>
            <a:ext cx="3200400" cy="914400"/>
          </a:xfrm>
          <a:prstGeom prst="rect">
            <a:avLst/>
          </a:prstGeom>
          <a:noFill/>
        </p:spPr>
        <p:txBody>
          <a:bodyPr wrap="square" lIns="0" tIns="0" rIns="0" bIns="0" anchor="t">
            <a:spAutoFit/>
          </a:bodyPr>
          <a:lstStyle/>
          <a:p>
            <a:pPr algn="l">
              <a:spcBef>
                <a:spcPts val="400"/>
              </a:spcBef>
              <a:spcAft>
                <a:spcPts val="500"/>
              </a:spcAft>
            </a:pPr>
            <a:r>
              <a:rPr sz="3200" b="1" i="0">
                <a:solidFill>
                  <a:srgbClr val="FFFFFF"/>
                </a:solidFill>
              </a:rPr>
              <a:t>Mid-November</a:t>
            </a:r>
          </a:p>
        </p:txBody>
      </p:sp>
      <p:sp>
        <p:nvSpPr>
          <p:cNvPr id="13" name="TextBox 12"/>
          <p:cNvSpPr txBox="1"/>
          <p:nvPr/>
        </p:nvSpPr>
        <p:spPr>
          <a:xfrm>
            <a:off x="640080" y="3886200"/>
            <a:ext cx="3200400" cy="320040"/>
          </a:xfrm>
          <a:prstGeom prst="rect">
            <a:avLst/>
          </a:prstGeom>
          <a:noFill/>
        </p:spPr>
        <p:txBody>
          <a:bodyPr wrap="square" lIns="0" tIns="0" rIns="0" bIns="0" anchor="t">
            <a:spAutoFit/>
          </a:bodyPr>
          <a:lstStyle/>
          <a:p>
            <a:pPr algn="l">
              <a:spcBef>
                <a:spcPts val="400"/>
              </a:spcBef>
              <a:spcAft>
                <a:spcPts val="500"/>
              </a:spcAft>
            </a:pPr>
            <a:r>
              <a:rPr sz="1100" b="1" i="0">
                <a:solidFill>
                  <a:srgbClr val="FFFFFF"/>
                </a:solidFill>
              </a:rPr>
              <a:t>FIRST FEATURES GO LIVE</a:t>
            </a:r>
          </a:p>
        </p:txBody>
      </p:sp>
      <p:sp>
        <p:nvSpPr>
          <p:cNvPr id="14" name="Rounded Rectangle 13"/>
          <p:cNvSpPr/>
          <p:nvPr/>
        </p:nvSpPr>
        <p:spPr>
          <a:xfrm>
            <a:off x="4892040" y="1170000"/>
            <a:ext cx="6842760" cy="894848"/>
          </a:xfrm>
          <a:prstGeom prst="roundRect">
            <a:avLst>
              <a:gd name="adj" fmla="val 90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ctr"/>
            <a:endParaRPr/>
          </a:p>
        </p:txBody>
      </p:sp>
      <p:sp>
        <p:nvSpPr>
          <p:cNvPr id="15" name="Oval 14"/>
          <p:cNvSpPr/>
          <p:nvPr/>
        </p:nvSpPr>
        <p:spPr>
          <a:xfrm>
            <a:off x="5074920" y="1388824"/>
            <a:ext cx="457200" cy="457200"/>
          </a:xfrm>
          <a:prstGeom prst="ellipse">
            <a:avLst/>
          </a:prstGeom>
          <a:solidFill>
            <a:srgbClr val="000000"/>
          </a:solidFill>
          <a:ln>
            <a:noFill/>
          </a:ln>
        </p:spPr>
        <p:txBody>
          <a:bodyPr lIns="0" tIns="0" rIns="0" bIns="0" rtlCol="0" anchor="ctr"/>
          <a:lstStyle/>
          <a:p>
            <a:pPr algn="ctr"/>
            <a:r>
              <a:rPr sz="1400" b="1" i="0">
                <a:solidFill>
                  <a:srgbClr val="FFFFFF"/>
                </a:solidFill>
              </a:rPr>
              <a:t>1</a:t>
            </a:r>
          </a:p>
        </p:txBody>
      </p:sp>
      <p:sp>
        <p:nvSpPr>
          <p:cNvPr id="16" name="TextBox 15"/>
          <p:cNvSpPr txBox="1"/>
          <p:nvPr/>
        </p:nvSpPr>
        <p:spPr>
          <a:xfrm>
            <a:off x="5715000" y="1215720"/>
            <a:ext cx="5836920" cy="803408"/>
          </a:xfrm>
          <a:prstGeom prst="rect">
            <a:avLst/>
          </a:prstGeom>
          <a:noFill/>
        </p:spPr>
        <p:txBody>
          <a:bodyPr wrap="square" lIns="0" tIns="0" rIns="0" bIns="0" anchor="ctr">
            <a:spAutoFit/>
          </a:bodyPr>
          <a:lstStyle/>
          <a:p>
            <a:pPr algn="l">
              <a:spcBef>
                <a:spcPts val="400"/>
              </a:spcBef>
              <a:spcAft>
                <a:spcPts val="200"/>
              </a:spcAft>
            </a:pPr>
            <a:r>
              <a:rPr sz="1350" b="1" i="0">
                <a:solidFill>
                  <a:srgbClr val="000000"/>
                </a:solidFill>
              </a:rPr>
              <a:t>See today's situation</a:t>
            </a:r>
          </a:p>
          <a:p>
            <a:pPr algn="l">
              <a:spcAft>
                <a:spcPts val="500"/>
              </a:spcAft>
            </a:pPr>
            <a:r>
              <a:rPr sz="1350" b="0" i="0">
                <a:solidFill>
                  <a:srgbClr val="000000"/>
                </a:solidFill>
              </a:rPr>
              <a:t>The morning briefing — overall health, the single most important finding, and the day's top moves.</a:t>
            </a:r>
          </a:p>
        </p:txBody>
      </p:sp>
      <p:sp>
        <p:nvSpPr>
          <p:cNvPr id="17" name="Rounded Rectangle 16"/>
          <p:cNvSpPr/>
          <p:nvPr/>
        </p:nvSpPr>
        <p:spPr>
          <a:xfrm>
            <a:off x="4892040" y="2124848"/>
            <a:ext cx="6842760" cy="894848"/>
          </a:xfrm>
          <a:prstGeom prst="roundRect">
            <a:avLst>
              <a:gd name="adj" fmla="val 90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ctr"/>
            <a:endParaRPr/>
          </a:p>
        </p:txBody>
      </p:sp>
      <p:sp>
        <p:nvSpPr>
          <p:cNvPr id="18" name="Oval 17"/>
          <p:cNvSpPr/>
          <p:nvPr/>
        </p:nvSpPr>
        <p:spPr>
          <a:xfrm>
            <a:off x="5074920" y="2343672"/>
            <a:ext cx="457200" cy="457200"/>
          </a:xfrm>
          <a:prstGeom prst="ellipse">
            <a:avLst/>
          </a:prstGeom>
          <a:solidFill>
            <a:srgbClr val="000000"/>
          </a:solidFill>
          <a:ln>
            <a:noFill/>
          </a:ln>
        </p:spPr>
        <p:txBody>
          <a:bodyPr lIns="0" tIns="0" rIns="0" bIns="0" rtlCol="0" anchor="ctr"/>
          <a:lstStyle/>
          <a:p>
            <a:pPr algn="ctr"/>
            <a:r>
              <a:rPr sz="1400" b="1" i="0">
                <a:solidFill>
                  <a:srgbClr val="FFFFFF"/>
                </a:solidFill>
              </a:rPr>
              <a:t>2</a:t>
            </a:r>
          </a:p>
        </p:txBody>
      </p:sp>
      <p:sp>
        <p:nvSpPr>
          <p:cNvPr id="19" name="TextBox 18"/>
          <p:cNvSpPr txBox="1"/>
          <p:nvPr/>
        </p:nvSpPr>
        <p:spPr>
          <a:xfrm>
            <a:off x="5715000" y="2170568"/>
            <a:ext cx="5836920" cy="803408"/>
          </a:xfrm>
          <a:prstGeom prst="rect">
            <a:avLst/>
          </a:prstGeom>
          <a:noFill/>
        </p:spPr>
        <p:txBody>
          <a:bodyPr wrap="square" lIns="0" tIns="0" rIns="0" bIns="0" anchor="ctr">
            <a:spAutoFit/>
          </a:bodyPr>
          <a:lstStyle/>
          <a:p>
            <a:pPr algn="l">
              <a:spcBef>
                <a:spcPts val="400"/>
              </a:spcBef>
              <a:spcAft>
                <a:spcPts val="200"/>
              </a:spcAft>
            </a:pPr>
            <a:r>
              <a:rPr sz="1350" b="1" i="0">
                <a:solidFill>
                  <a:srgbClr val="000000"/>
                </a:solidFill>
              </a:rPr>
              <a:t>Suggest resources for open roles</a:t>
            </a:r>
          </a:p>
          <a:p>
            <a:pPr algn="l">
              <a:spcAft>
                <a:spcPts val="500"/>
              </a:spcAft>
            </a:pPr>
            <a:r>
              <a:rPr sz="1350" b="0" i="0">
                <a:solidFill>
                  <a:srgbClr val="000000"/>
                </a:solidFill>
              </a:rPr>
              <a:t>Ranked candidates with fit rationale, availability, and recent project history.</a:t>
            </a:r>
          </a:p>
        </p:txBody>
      </p:sp>
      <p:sp>
        <p:nvSpPr>
          <p:cNvPr id="20" name="Rounded Rectangle 19"/>
          <p:cNvSpPr/>
          <p:nvPr/>
        </p:nvSpPr>
        <p:spPr>
          <a:xfrm>
            <a:off x="4892040" y="3079696"/>
            <a:ext cx="6842760" cy="894848"/>
          </a:xfrm>
          <a:prstGeom prst="roundRect">
            <a:avLst>
              <a:gd name="adj" fmla="val 90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ctr"/>
            <a:endParaRPr/>
          </a:p>
        </p:txBody>
      </p:sp>
      <p:sp>
        <p:nvSpPr>
          <p:cNvPr id="21" name="Oval 20"/>
          <p:cNvSpPr/>
          <p:nvPr/>
        </p:nvSpPr>
        <p:spPr>
          <a:xfrm>
            <a:off x="5074920" y="3298520"/>
            <a:ext cx="457200" cy="457200"/>
          </a:xfrm>
          <a:prstGeom prst="ellipse">
            <a:avLst/>
          </a:prstGeom>
          <a:solidFill>
            <a:srgbClr val="000000"/>
          </a:solidFill>
          <a:ln>
            <a:noFill/>
          </a:ln>
        </p:spPr>
        <p:txBody>
          <a:bodyPr lIns="0" tIns="0" rIns="0" bIns="0" rtlCol="0" anchor="ctr"/>
          <a:lstStyle/>
          <a:p>
            <a:pPr algn="ctr"/>
            <a:r>
              <a:rPr sz="1400" b="1" i="0">
                <a:solidFill>
                  <a:srgbClr val="FFFFFF"/>
                </a:solidFill>
              </a:rPr>
              <a:t>3</a:t>
            </a:r>
          </a:p>
        </p:txBody>
      </p:sp>
      <p:sp>
        <p:nvSpPr>
          <p:cNvPr id="22" name="TextBox 21"/>
          <p:cNvSpPr txBox="1"/>
          <p:nvPr/>
        </p:nvSpPr>
        <p:spPr>
          <a:xfrm>
            <a:off x="5715000" y="3125416"/>
            <a:ext cx="5836920" cy="803408"/>
          </a:xfrm>
          <a:prstGeom prst="rect">
            <a:avLst/>
          </a:prstGeom>
          <a:noFill/>
        </p:spPr>
        <p:txBody>
          <a:bodyPr wrap="square" lIns="0" tIns="0" rIns="0" bIns="0" anchor="ctr">
            <a:spAutoFit/>
          </a:bodyPr>
          <a:lstStyle/>
          <a:p>
            <a:pPr algn="l">
              <a:spcBef>
                <a:spcPts val="400"/>
              </a:spcBef>
              <a:spcAft>
                <a:spcPts val="200"/>
              </a:spcAft>
            </a:pPr>
            <a:r>
              <a:rPr sz="1350" b="1" i="0">
                <a:solidFill>
                  <a:srgbClr val="000000"/>
                </a:solidFill>
              </a:rPr>
              <a:t>Run what-if scenarios</a:t>
            </a:r>
          </a:p>
          <a:p>
            <a:pPr algn="l">
              <a:spcAft>
                <a:spcPts val="500"/>
              </a:spcAft>
            </a:pPr>
            <a:r>
              <a:rPr sz="1350" b="0" i="0">
                <a:solidFill>
                  <a:srgbClr val="000000"/>
                </a:solidFill>
              </a:rPr>
              <a:t>Model a deal landing, a start date slipping, or filling from the bench — before committing.</a:t>
            </a:r>
          </a:p>
        </p:txBody>
      </p:sp>
      <p:sp>
        <p:nvSpPr>
          <p:cNvPr id="23" name="Rounded Rectangle 22"/>
          <p:cNvSpPr/>
          <p:nvPr/>
        </p:nvSpPr>
        <p:spPr>
          <a:xfrm>
            <a:off x="4892040" y="4034544"/>
            <a:ext cx="6842760" cy="894848"/>
          </a:xfrm>
          <a:prstGeom prst="roundRect">
            <a:avLst>
              <a:gd name="adj" fmla="val 90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ctr"/>
            <a:endParaRPr/>
          </a:p>
        </p:txBody>
      </p:sp>
      <p:sp>
        <p:nvSpPr>
          <p:cNvPr id="24" name="Oval 23"/>
          <p:cNvSpPr/>
          <p:nvPr/>
        </p:nvSpPr>
        <p:spPr>
          <a:xfrm>
            <a:off x="5074920" y="4253368"/>
            <a:ext cx="457200" cy="457200"/>
          </a:xfrm>
          <a:prstGeom prst="ellipse">
            <a:avLst/>
          </a:prstGeom>
          <a:solidFill>
            <a:srgbClr val="000000"/>
          </a:solidFill>
          <a:ln>
            <a:noFill/>
          </a:ln>
        </p:spPr>
        <p:txBody>
          <a:bodyPr lIns="0" tIns="0" rIns="0" bIns="0" rtlCol="0" anchor="ctr"/>
          <a:lstStyle/>
          <a:p>
            <a:pPr algn="ctr"/>
            <a:r>
              <a:rPr sz="1400" b="1" i="0">
                <a:solidFill>
                  <a:srgbClr val="FFFFFF"/>
                </a:solidFill>
              </a:rPr>
              <a:t>4</a:t>
            </a:r>
          </a:p>
        </p:txBody>
      </p:sp>
      <p:sp>
        <p:nvSpPr>
          <p:cNvPr id="25" name="TextBox 24"/>
          <p:cNvSpPr txBox="1"/>
          <p:nvPr/>
        </p:nvSpPr>
        <p:spPr>
          <a:xfrm>
            <a:off x="5715000" y="4080264"/>
            <a:ext cx="5836920" cy="803408"/>
          </a:xfrm>
          <a:prstGeom prst="rect">
            <a:avLst/>
          </a:prstGeom>
          <a:noFill/>
        </p:spPr>
        <p:txBody>
          <a:bodyPr wrap="square" lIns="0" tIns="0" rIns="0" bIns="0" anchor="ctr">
            <a:spAutoFit/>
          </a:bodyPr>
          <a:lstStyle/>
          <a:p>
            <a:pPr algn="l">
              <a:spcBef>
                <a:spcPts val="400"/>
              </a:spcBef>
              <a:spcAft>
                <a:spcPts val="200"/>
              </a:spcAft>
            </a:pPr>
            <a:r>
              <a:rPr sz="1350" b="1" i="0">
                <a:solidFill>
                  <a:srgbClr val="000000"/>
                </a:solidFill>
              </a:rPr>
              <a:t>Walk a decision through governance</a:t>
            </a:r>
          </a:p>
          <a:p>
            <a:pPr algn="l">
              <a:spcAft>
                <a:spcPts val="500"/>
              </a:spcAft>
            </a:pPr>
            <a:r>
              <a:rPr sz="1350" b="0" i="0">
                <a:solidFill>
                  <a:srgbClr val="000000"/>
                </a:solidFill>
              </a:rPr>
              <a:t>Approval stages with policy checks surfaced at each gate. Full audit trail.</a:t>
            </a:r>
          </a:p>
        </p:txBody>
      </p:sp>
      <p:sp>
        <p:nvSpPr>
          <p:cNvPr id="26" name="Rounded Rectangle 25"/>
          <p:cNvSpPr/>
          <p:nvPr/>
        </p:nvSpPr>
        <p:spPr>
          <a:xfrm>
            <a:off x="4892040" y="4989392"/>
            <a:ext cx="6842760" cy="894848"/>
          </a:xfrm>
          <a:prstGeom prst="roundRect">
            <a:avLst>
              <a:gd name="adj" fmla="val 90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ctr"/>
            <a:endParaRPr/>
          </a:p>
        </p:txBody>
      </p:sp>
      <p:sp>
        <p:nvSpPr>
          <p:cNvPr id="27" name="Oval 26"/>
          <p:cNvSpPr/>
          <p:nvPr/>
        </p:nvSpPr>
        <p:spPr>
          <a:xfrm>
            <a:off x="5074920" y="5208216"/>
            <a:ext cx="457200" cy="457200"/>
          </a:xfrm>
          <a:prstGeom prst="ellipse">
            <a:avLst/>
          </a:prstGeom>
          <a:solidFill>
            <a:srgbClr val="000000"/>
          </a:solidFill>
          <a:ln>
            <a:noFill/>
          </a:ln>
        </p:spPr>
        <p:txBody>
          <a:bodyPr lIns="0" tIns="0" rIns="0" bIns="0" rtlCol="0" anchor="ctr"/>
          <a:lstStyle/>
          <a:p>
            <a:pPr algn="ctr"/>
            <a:r>
              <a:rPr sz="1400" b="1" i="0">
                <a:solidFill>
                  <a:srgbClr val="FFFFFF"/>
                </a:solidFill>
              </a:rPr>
              <a:t>5</a:t>
            </a:r>
          </a:p>
        </p:txBody>
      </p:sp>
      <p:sp>
        <p:nvSpPr>
          <p:cNvPr id="28" name="TextBox 27"/>
          <p:cNvSpPr txBox="1"/>
          <p:nvPr/>
        </p:nvSpPr>
        <p:spPr>
          <a:xfrm>
            <a:off x="5715000" y="5035112"/>
            <a:ext cx="5836920" cy="803408"/>
          </a:xfrm>
          <a:prstGeom prst="rect">
            <a:avLst/>
          </a:prstGeom>
          <a:noFill/>
        </p:spPr>
        <p:txBody>
          <a:bodyPr wrap="square" lIns="0" tIns="0" rIns="0" bIns="0" anchor="ctr">
            <a:spAutoFit/>
          </a:bodyPr>
          <a:lstStyle/>
          <a:p>
            <a:pPr algn="l">
              <a:spcBef>
                <a:spcPts val="400"/>
              </a:spcBef>
              <a:spcAft>
                <a:spcPts val="200"/>
              </a:spcAft>
            </a:pPr>
            <a:r>
              <a:rPr sz="1350" b="1" i="0">
                <a:solidFill>
                  <a:srgbClr val="000000"/>
                </a:solidFill>
              </a:rPr>
              <a:t>Ask in plain language</a:t>
            </a:r>
          </a:p>
          <a:p>
            <a:pPr algn="l">
              <a:spcAft>
                <a:spcPts val="500"/>
              </a:spcAft>
            </a:pPr>
            <a:r>
              <a:rPr sz="1350" b="0" i="0">
                <a:solidFill>
                  <a:srgbClr val="000000"/>
                </a:solidFill>
              </a:rPr>
              <a:t>A conversational assistant grounded in current, real data — not general knowledge.</a:t>
            </a:r>
          </a:p>
        </p:txBody>
      </p:sp>
      <p:sp>
        <p:nvSpPr>
          <p:cNvPr id="29" name="TextBox 28"/>
          <p:cNvSpPr txBox="1"/>
          <p:nvPr/>
        </p:nvSpPr>
        <p:spPr>
          <a:xfrm>
            <a:off x="4892040" y="5975680"/>
            <a:ext cx="6842760" cy="274320"/>
          </a:xfrm>
          <a:prstGeom prst="rect">
            <a:avLst/>
          </a:prstGeom>
          <a:noFill/>
        </p:spPr>
        <p:txBody>
          <a:bodyPr wrap="square" lIns="0" tIns="0" rIns="0" bIns="0" anchor="t">
            <a:spAutoFit/>
          </a:bodyPr>
          <a:lstStyle/>
          <a:p>
            <a:pPr algn="l">
              <a:spcBef>
                <a:spcPts val="400"/>
              </a:spcBef>
              <a:spcAft>
                <a:spcPts val="500"/>
              </a:spcAft>
            </a:pPr>
            <a:r>
              <a:rPr sz="1050" b="1" i="0">
                <a:solidFill>
                  <a:srgbClr val="000000"/>
                </a:solidFill>
              </a:rPr>
              <a:t>FIVE PRACTICAL WAYS TO MOVE FROM INSIGHT TO ACTION</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 name="Picture 4" descr="f_hero_cap.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endParaRP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Capacity Planning</a:t>
            </a:r>
          </a:p>
        </p:txBody>
      </p:sp>
      <p:sp>
        <p:nvSpPr>
          <p:cNvPr id="4" name="Text Placeholder 3"/>
          <p:cNvSpPr>
            <a:spLocks noGrp="1"/>
          </p:cNvSpPr>
          <p:nvPr>
            <p:ph type="body" sz="quarter" idx="12"/>
          </p:nvPr>
        </p:nvSpPr>
        <p:spPr>
          <a:xfrm>
            <a:off x="457200" y="170000"/>
            <a:ext cx="8000000" cy="182880"/>
          </a:xfrm>
        </p:spPr>
        <p:txBody>
          <a:bodyPr/>
          <a:lstStyle/>
          <a:p>
            <a:r>
              <a:rPr>
                <a:solidFill>
                  <a:srgbClr val="0391F2"/>
                </a:solidFill>
              </a:rPr>
              <a:t>CAPACITY PLANNING &amp; ROMULUS · SUPPORTING DETAIL</a:t>
            </a:r>
          </a:p>
        </p:txBody>
      </p:sp>
      <p:sp>
        <p:nvSpPr>
          <p:cNvPr id="7" name="Rounded Rectangle 6"/>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wrap="square" lIns="150000" rIns="120000" rtlCol="0" anchor="ctr"/>
          <a:lstStyle/>
          <a:p>
            <a:pPr algn="l"/>
            <a:r>
              <a:rPr sz="1050" b="1" i="0">
                <a:solidFill>
                  <a:srgbClr val="FFFFFF"/>
                </a:solidFill>
              </a:rPr>
              <a:t>Owner(s)</a:t>
            </a:r>
          </a:p>
          <a:p>
            <a:pPr algn="l"/>
            <a:r>
              <a:rPr sz="900" b="0" i="0">
                <a:solidFill>
                  <a:srgbClr val="D6D6DF"/>
                </a:solidFill>
              </a:rPr>
              <a:t>Missy Foristall, Adam Organ</a:t>
            </a:r>
          </a:p>
        </p:txBody>
      </p:sp>
      <p:sp>
        <p:nvSpPr>
          <p:cNvPr id="8" name="Rounded Rectangle 7"/>
          <p:cNvSpPr/>
          <p:nvPr/>
        </p:nvSpPr>
        <p:spPr>
          <a:xfrm>
            <a:off x="457200" y="1170000"/>
            <a:ext cx="11277600" cy="1097280"/>
          </a:xfrm>
          <a:prstGeom prst="roundRect">
            <a:avLst>
              <a:gd name="adj" fmla="val 3200"/>
            </a:avLst>
          </a:prstGeom>
          <a:solidFill>
            <a:srgbClr val="000000"/>
          </a:solidFill>
          <a:ln>
            <a:noFill/>
          </a:ln>
          <a:effectLst>
            <a:outerShdw blurRad="190500" dist="50800" dir="5400000" algn="t" rotWithShape="0">
              <a:srgbClr val="000000">
                <a:alpha val="13000"/>
              </a:srgbClr>
            </a:outerShdw>
          </a:effectLst>
        </p:spPr>
        <p:txBody>
          <a:bodyPr wrap="square" lIns="320040" tIns="137160" rIns="274320" bIns="91440" rtlCol="0" anchor="ctr"/>
          <a:lstStyle/>
          <a:p>
            <a:pPr algn="l">
              <a:spcBef>
                <a:spcPts val="200"/>
              </a:spcBef>
              <a:spcAft>
                <a:spcPts val="200"/>
              </a:spcAft>
            </a:pPr>
            <a:r>
              <a:rPr sz="850" b="1" i="0" cap="all" spc="100">
                <a:solidFill>
                  <a:srgbClr val="D6D6DF"/>
                </a:solidFill>
              </a:rPr>
              <a:t>Prompt</a:t>
            </a:r>
          </a:p>
          <a:p>
            <a:pPr algn="l">
              <a:spcBef>
                <a:spcPts val="400"/>
              </a:spcBef>
              <a:spcAft>
                <a:spcPts val="200"/>
              </a:spcAft>
            </a:pPr>
            <a:r>
              <a:rPr sz="2200" b="1" i="0">
                <a:solidFill>
                  <a:srgbClr val="FFFFFF"/>
                </a:solidFill>
              </a:rPr>
              <a:t>Where are we on capacity planning, and where should the group step in or focus?</a:t>
            </a:r>
          </a:p>
        </p:txBody>
      </p:sp>
      <p:sp>
        <p:nvSpPr>
          <p:cNvPr id="9" name="TextBox 8"/>
          <p:cNvSpPr txBox="1"/>
          <p:nvPr/>
        </p:nvSpPr>
        <p:spPr>
          <a:xfrm>
            <a:off x="457200" y="2450160"/>
            <a:ext cx="3657600" cy="228600"/>
          </a:xfrm>
          <a:prstGeom prst="rect">
            <a:avLst/>
          </a:prstGeom>
          <a:noFill/>
        </p:spPr>
        <p:txBody>
          <a:bodyPr wrap="square" lIns="0" tIns="0" rIns="0" bIns="0" anchor="t">
            <a:spAutoFit/>
          </a:bodyPr>
          <a:lstStyle/>
          <a:p>
            <a:pPr algn="l">
              <a:spcAft>
                <a:spcPts val="600"/>
              </a:spcAft>
            </a:pPr>
            <a:r>
              <a:rPr sz="1100" b="1" i="0" cap="all" spc="60">
                <a:solidFill>
                  <a:srgbClr val="000000"/>
                </a:solidFill>
              </a:rPr>
              <a:t>TOPICS TO COVER</a:t>
            </a:r>
          </a:p>
        </p:txBody>
      </p:sp>
      <p:sp>
        <p:nvSpPr>
          <p:cNvPr id="10" name="Rounded Rectangle 9"/>
          <p:cNvSpPr/>
          <p:nvPr/>
        </p:nvSpPr>
        <p:spPr>
          <a:xfrm>
            <a:off x="457200" y="2770200"/>
            <a:ext cx="2706900" cy="16649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a:solidFill>
                  <a:srgbClr val="60607D"/>
                </a:solidFill>
              </a:rPr>
              <a:t>01</a:t>
            </a:r>
          </a:p>
          <a:p>
            <a:pPr algn="l">
              <a:spcBef>
                <a:spcPts val="400"/>
              </a:spcBef>
              <a:spcAft>
                <a:spcPts val="200"/>
              </a:spcAft>
            </a:pPr>
            <a:r>
              <a:rPr sz="1700" b="1" i="0">
                <a:solidFill>
                  <a:srgbClr val="000000"/>
                </a:solidFill>
              </a:rPr>
              <a:t>Hiring requests: a partner, not a roadblock</a:t>
            </a:r>
          </a:p>
        </p:txBody>
      </p:sp>
      <p:sp>
        <p:nvSpPr>
          <p:cNvPr id="11" name="Rounded Rectangle 10"/>
          <p:cNvSpPr/>
          <p:nvPr/>
        </p:nvSpPr>
        <p:spPr>
          <a:xfrm>
            <a:off x="3314100" y="2770200"/>
            <a:ext cx="2706900" cy="16649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a:solidFill>
                  <a:srgbClr val="60607D"/>
                </a:solidFill>
              </a:rPr>
              <a:t>02</a:t>
            </a:r>
          </a:p>
          <a:p>
            <a:pPr algn="l">
              <a:spcBef>
                <a:spcPts val="400"/>
              </a:spcBef>
              <a:spcAft>
                <a:spcPts val="200"/>
              </a:spcAft>
            </a:pPr>
            <a:r>
              <a:rPr sz="1700" b="1" i="0">
                <a:solidFill>
                  <a:srgbClr val="000000"/>
                </a:solidFill>
              </a:rPr>
              <a:t>Review SF stages to see the pipeline earlier, so RM can plan for demand sooner</a:t>
            </a:r>
          </a:p>
        </p:txBody>
      </p:sp>
      <p:sp>
        <p:nvSpPr>
          <p:cNvPr id="12" name="Rounded Rectangle 11"/>
          <p:cNvSpPr/>
          <p:nvPr/>
        </p:nvSpPr>
        <p:spPr>
          <a:xfrm>
            <a:off x="6171000" y="2770200"/>
            <a:ext cx="2706900" cy="16649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a:solidFill>
                  <a:srgbClr val="60607D"/>
                </a:solidFill>
              </a:rPr>
              <a:t>03</a:t>
            </a:r>
          </a:p>
          <a:p>
            <a:pPr algn="l">
              <a:spcBef>
                <a:spcPts val="400"/>
              </a:spcBef>
              <a:spcAft>
                <a:spcPts val="200"/>
              </a:spcAft>
            </a:pPr>
            <a:r>
              <a:rPr sz="1700" b="1" i="0">
                <a:solidFill>
                  <a:srgbClr val="000000"/>
                </a:solidFill>
              </a:rPr>
              <a:t>Resource managers and HR as one team for managers</a:t>
            </a:r>
          </a:p>
        </p:txBody>
      </p:sp>
      <p:sp>
        <p:nvSpPr>
          <p:cNvPr id="13" name="Rounded Rectangle 12"/>
          <p:cNvSpPr/>
          <p:nvPr/>
        </p:nvSpPr>
        <p:spPr>
          <a:xfrm>
            <a:off x="9027900" y="2770200"/>
            <a:ext cx="2706900" cy="16649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a:solidFill>
                  <a:srgbClr val="60607D"/>
                </a:solidFill>
              </a:rPr>
              <a:t>04</a:t>
            </a:r>
          </a:p>
          <a:p>
            <a:pPr algn="l">
              <a:spcBef>
                <a:spcPts val="400"/>
              </a:spcBef>
              <a:spcAft>
                <a:spcPts val="200"/>
              </a:spcAft>
            </a:pPr>
            <a:r>
              <a:rPr sz="1700" b="1" i="0">
                <a:solidFill>
                  <a:srgbClr val="000000"/>
                </a:solidFill>
              </a:rPr>
              <a:t>Hiring ahead of need</a:t>
            </a:r>
          </a:p>
        </p:txBody>
      </p:sp>
      <p:sp>
        <p:nvSpPr>
          <p:cNvPr id="14" name="Rounded Rectangle 13"/>
          <p:cNvSpPr/>
          <p:nvPr/>
        </p:nvSpPr>
        <p:spPr>
          <a:xfrm>
            <a:off x="457200" y="4585100"/>
            <a:ext cx="2706900" cy="16649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a:solidFill>
                  <a:srgbClr val="60607D"/>
                </a:solidFill>
              </a:rPr>
              <a:t>05</a:t>
            </a:r>
          </a:p>
          <a:p>
            <a:pPr algn="l">
              <a:spcBef>
                <a:spcPts val="400"/>
              </a:spcBef>
              <a:spcAft>
                <a:spcPts val="200"/>
              </a:spcAft>
            </a:pPr>
            <a:r>
              <a:rPr sz="1700" b="1" i="0">
                <a:solidFill>
                  <a:srgbClr val="000000"/>
                </a:solidFill>
              </a:rPr>
              <a:t>Adobe demand as an example</a:t>
            </a:r>
          </a:p>
        </p:txBody>
      </p:sp>
      <p:sp>
        <p:nvSpPr>
          <p:cNvPr id="15" name="Rounded Rectangle 14"/>
          <p:cNvSpPr/>
          <p:nvPr/>
        </p:nvSpPr>
        <p:spPr>
          <a:xfrm>
            <a:off x="3314100" y="4585100"/>
            <a:ext cx="2706900" cy="1664900"/>
          </a:xfrm>
          <a:prstGeom prst="roundRect">
            <a:avLst>
              <a:gd name="adj" fmla="val 3200"/>
            </a:avLst>
          </a:prstGeom>
          <a:solidFill>
            <a:srgbClr val="000000"/>
          </a:solidFill>
          <a:ln>
            <a:no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a:solidFill>
                  <a:srgbClr val="D6D6DF"/>
                </a:solidFill>
              </a:rPr>
              <a:t>06</a:t>
            </a:r>
          </a:p>
          <a:p>
            <a:pPr algn="l">
              <a:spcBef>
                <a:spcPts val="400"/>
              </a:spcBef>
              <a:spcAft>
                <a:spcPts val="200"/>
              </a:spcAft>
            </a:pPr>
            <a:r>
              <a:rPr sz="1700" b="1" i="0">
                <a:solidFill>
                  <a:srgbClr val="FFFFFF"/>
                </a:solidFill>
              </a:rPr>
              <a:t>Skills data in one place</a:t>
            </a:r>
          </a:p>
        </p:txBody>
      </p:sp>
      <p:sp>
        <p:nvSpPr>
          <p:cNvPr id="16" name="Rounded Rectangle 15"/>
          <p:cNvSpPr/>
          <p:nvPr/>
        </p:nvSpPr>
        <p:spPr>
          <a:xfrm>
            <a:off x="6171000" y="4585100"/>
            <a:ext cx="2706900" cy="1664900"/>
          </a:xfrm>
          <a:prstGeom prst="roundRect">
            <a:avLst>
              <a:gd name="adj" fmla="val 3200"/>
            </a:avLst>
          </a:prstGeom>
          <a:solidFill>
            <a:srgbClr val="000000"/>
          </a:solidFill>
          <a:ln>
            <a:no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a:solidFill>
                  <a:srgbClr val="D6D6DF"/>
                </a:solidFill>
              </a:rPr>
              <a:t>07</a:t>
            </a:r>
          </a:p>
          <a:p>
            <a:pPr algn="l">
              <a:spcBef>
                <a:spcPts val="400"/>
              </a:spcBef>
              <a:spcAft>
                <a:spcPts val="200"/>
              </a:spcAft>
            </a:pPr>
            <a:r>
              <a:rPr sz="1700" b="1" i="0">
                <a:solidFill>
                  <a:srgbClr val="FFFFFF"/>
                </a:solidFill>
              </a:rPr>
              <a:t>A smart bench: flexing up and down</a:t>
            </a:r>
          </a:p>
        </p:txBody>
      </p:sp>
      <p:sp>
        <p:nvSpPr>
          <p:cNvPr id="17" name="Rounded Rectangle 16"/>
          <p:cNvSpPr/>
          <p:nvPr/>
        </p:nvSpPr>
        <p:spPr>
          <a:xfrm>
            <a:off x="9027900" y="4585100"/>
            <a:ext cx="2706900" cy="1664900"/>
          </a:xfrm>
          <a:prstGeom prst="roundRect">
            <a:avLst>
              <a:gd name="adj" fmla="val 3200"/>
            </a:avLst>
          </a:prstGeom>
          <a:solidFill>
            <a:srgbClr val="000000"/>
          </a:solidFill>
          <a:ln>
            <a:no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a:solidFill>
                  <a:srgbClr val="D6D6DF"/>
                </a:solidFill>
              </a:rPr>
              <a:t>08</a:t>
            </a:r>
          </a:p>
          <a:p>
            <a:pPr algn="l">
              <a:spcBef>
                <a:spcPts val="400"/>
              </a:spcBef>
              <a:spcAft>
                <a:spcPts val="200"/>
              </a:spcAft>
            </a:pPr>
            <a:r>
              <a:rPr sz="1700" b="1" i="0">
                <a:solidFill>
                  <a:srgbClr val="FFFFFF"/>
                </a:solidFill>
              </a:rPr>
              <a:t>Romulus and supply-and-demand data</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pic>
        <p:nvPicPr>
          <p:cNvPr id="5" name="Picture 4" descr="f_hero_library.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endParaRPr/>
          </a:p>
        </p:txBody>
      </p:sp>
      <p:sp>
        <p:nvSpPr>
          <p:cNvPr id="3" name="Title 2"/>
          <p:cNvSpPr>
            <a:spLocks noGrp="1"/>
          </p:cNvSpPr>
          <p:nvPr>
            <p:ph type="title"/>
          </p:nvPr>
        </p:nvSpPr>
        <p:spPr>
          <a:xfrm>
            <a:off x="457200" y="300000"/>
            <a:ext cx="8000000" cy="560000"/>
          </a:xfrm>
        </p:spPr>
        <p:txBody>
          <a:bodyPr/>
          <a:lstStyle/>
          <a:p>
            <a:r>
              <a:rPr sz="2200">
                <a:solidFill>
                  <a:srgbClr val="FFFFFF"/>
                </a:solidFill>
              </a:rPr>
              <a:t>Images: Capacity Planning &amp; Romulus</a:t>
            </a:r>
          </a:p>
        </p:txBody>
      </p:sp>
      <p:sp>
        <p:nvSpPr>
          <p:cNvPr id="4" name="Text Placeholder 3"/>
          <p:cNvSpPr>
            <a:spLocks noGrp="1"/>
          </p:cNvSpPr>
          <p:nvPr>
            <p:ph type="body" sz="quarter" idx="12"/>
          </p:nvPr>
        </p:nvSpPr>
        <p:spPr>
          <a:xfrm>
            <a:off x="457200" y="170000"/>
            <a:ext cx="8000000" cy="182880"/>
          </a:xfrm>
        </p:spPr>
        <p:txBody>
          <a:bodyPr/>
          <a:lstStyle/>
          <a:p>
            <a:r>
              <a:rPr>
                <a:solidFill>
                  <a:srgbClr val="0391F2"/>
                </a:solidFill>
              </a:rPr>
              <a:t>HIDDEN SLIDE · IMAGES FOR THIS PRIORITY</a:t>
            </a:r>
          </a:p>
        </p:txBody>
      </p:sp>
      <p:sp>
        <p:nvSpPr>
          <p:cNvPr id="7" name="TextBox 6"/>
          <p:cNvSpPr txBox="1"/>
          <p:nvPr/>
        </p:nvSpPr>
        <p:spPr>
          <a:xfrm>
            <a:off x="457200" y="1150000"/>
            <a:ext cx="11277600" cy="411480"/>
          </a:xfrm>
          <a:prstGeom prst="rect">
            <a:avLst/>
          </a:prstGeom>
          <a:noFill/>
        </p:spPr>
        <p:txBody>
          <a:bodyPr wrap="square" lIns="0" rIns="0" tIns="0" bIns="0">
            <a:spAutoFit/>
          </a:bodyPr>
          <a:lstStyle/>
          <a:p>
            <a:r>
              <a:rPr sz="1100" b="0" i="0">
                <a:solidFill>
                  <a:srgbClr val="000000"/>
                </a:solidFill>
              </a:rPr>
              <a:t>One image for this priority. Use it on every slide of the priority: the divider, the header band, the update panel, and any split image or banner in a detail slide. This slide is hidden: it does not show when presenting.</a:t>
            </a:r>
          </a:p>
        </p:txBody>
      </p:sp>
      <p:sp>
        <p:nvSpPr>
          <p:cNvPr id="8" name="TextBox 7"/>
          <p:cNvSpPr txBox="1"/>
          <p:nvPr/>
        </p:nvSpPr>
        <p:spPr>
          <a:xfrm>
            <a:off x="457200" y="1627200"/>
            <a:ext cx="3474720" cy="201168"/>
          </a:xfrm>
          <a:prstGeom prst="rect">
            <a:avLst/>
          </a:prstGeom>
          <a:noFill/>
        </p:spPr>
        <p:txBody>
          <a:bodyPr wrap="square" lIns="0" rIns="0" tIns="0" bIns="0">
            <a:spAutoFit/>
          </a:bodyPr>
          <a:lstStyle/>
          <a:p>
            <a:r>
              <a:rPr sz="850" b="1" i="0" cap="all" spc="100">
                <a:solidFill>
                  <a:srgbClr val="60607D"/>
                </a:solidFill>
              </a:rPr>
              <a:t>Source image</a:t>
            </a:r>
          </a:p>
        </p:txBody>
      </p:sp>
      <p:pic>
        <p:nvPicPr>
          <p:cNvPr id="9" name="Picture 8" descr="f_img2_cap_Sour.jpg"/>
          <p:cNvPicPr>
            <a:picLocks noChangeAspect="1"/>
          </p:cNvPicPr>
          <p:nvPr/>
        </p:nvPicPr>
        <p:blipFill>
          <a:blip r:embed="rId7"/>
          <a:stretch>
            <a:fillRect/>
          </a:stretch>
        </p:blipFill>
        <p:spPr>
          <a:xfrm>
            <a:off x="457200" y="1864944"/>
            <a:ext cx="3017520" cy="1828800"/>
          </a:xfrm>
          <a:prstGeom prst="rect">
            <a:avLst/>
          </a:prstGeom>
        </p:spPr>
      </p:pic>
      <p:sp>
        <p:nvSpPr>
          <p:cNvPr id="10" name="TextBox 9"/>
          <p:cNvSpPr txBox="1"/>
          <p:nvPr/>
        </p:nvSpPr>
        <p:spPr>
          <a:xfrm>
            <a:off x="3794760" y="1627200"/>
            <a:ext cx="3703320" cy="201168"/>
          </a:xfrm>
          <a:prstGeom prst="rect">
            <a:avLst/>
          </a:prstGeom>
          <a:noFill/>
        </p:spPr>
        <p:txBody>
          <a:bodyPr wrap="square" lIns="0" rIns="0" tIns="0" bIns="0">
            <a:spAutoFit/>
          </a:bodyPr>
          <a:lstStyle/>
          <a:p>
            <a:r>
              <a:rPr sz="850" b="1" i="0" cap="all" spc="100">
                <a:solidFill>
                  <a:srgbClr val="60607D"/>
                </a:solidFill>
              </a:rPr>
              <a:t>Divider</a:t>
            </a:r>
          </a:p>
        </p:txBody>
      </p:sp>
      <p:pic>
        <p:nvPicPr>
          <p:cNvPr id="11" name="Picture 10" descr="image.jpg"/>
          <p:cNvPicPr>
            <a:picLocks noChangeAspect="1"/>
          </p:cNvPicPr>
          <p:nvPr/>
        </p:nvPicPr>
        <p:blipFill>
          <a:blip r:embed="rId4"/>
          <a:stretch>
            <a:fillRect/>
          </a:stretch>
        </p:blipFill>
        <p:spPr>
          <a:xfrm>
            <a:off x="3794760" y="1864944"/>
            <a:ext cx="3246120" cy="1828800"/>
          </a:xfrm>
          <a:prstGeom prst="rect">
            <a:avLst/>
          </a:prstGeom>
        </p:spPr>
      </p:pic>
      <p:sp>
        <p:nvSpPr>
          <p:cNvPr id="12" name="TextBox 11"/>
          <p:cNvSpPr txBox="1"/>
          <p:nvPr/>
        </p:nvSpPr>
        <p:spPr>
          <a:xfrm>
            <a:off x="7360920" y="1627200"/>
            <a:ext cx="1435608" cy="201168"/>
          </a:xfrm>
          <a:prstGeom prst="rect">
            <a:avLst/>
          </a:prstGeom>
          <a:noFill/>
        </p:spPr>
        <p:txBody>
          <a:bodyPr wrap="square" lIns="0" rIns="0" tIns="0" bIns="0">
            <a:spAutoFit/>
          </a:bodyPr>
          <a:lstStyle/>
          <a:p>
            <a:r>
              <a:rPr sz="850" b="1" i="0" cap="all" spc="100">
                <a:solidFill>
                  <a:srgbClr val="60607D"/>
                </a:solidFill>
              </a:rPr>
              <a:t>Split image</a:t>
            </a:r>
          </a:p>
        </p:txBody>
      </p:sp>
      <p:pic>
        <p:nvPicPr>
          <p:cNvPr id="13" name="Picture 12" descr="image.jpg"/>
          <p:cNvPicPr>
            <a:picLocks noChangeAspect="1"/>
          </p:cNvPicPr>
          <p:nvPr/>
        </p:nvPicPr>
        <p:blipFill>
          <a:blip r:embed="rId8"/>
          <a:stretch>
            <a:fillRect/>
          </a:stretch>
        </p:blipFill>
        <p:spPr>
          <a:xfrm>
            <a:off x="7360920" y="1864944"/>
            <a:ext cx="978408" cy="1828800"/>
          </a:xfrm>
          <a:prstGeom prst="rect">
            <a:avLst/>
          </a:prstGeom>
        </p:spPr>
      </p:pic>
      <p:sp>
        <p:nvSpPr>
          <p:cNvPr id="14" name="TextBox 13"/>
          <p:cNvSpPr txBox="1"/>
          <p:nvPr/>
        </p:nvSpPr>
        <p:spPr>
          <a:xfrm>
            <a:off x="8659368" y="1627200"/>
            <a:ext cx="1408176" cy="201168"/>
          </a:xfrm>
          <a:prstGeom prst="rect">
            <a:avLst/>
          </a:prstGeom>
          <a:noFill/>
        </p:spPr>
        <p:txBody>
          <a:bodyPr wrap="square" lIns="0" rIns="0" tIns="0" bIns="0">
            <a:spAutoFit/>
          </a:bodyPr>
          <a:lstStyle/>
          <a:p>
            <a:r>
              <a:rPr sz="850" b="1" i="0" cap="all" spc="100">
                <a:solidFill>
                  <a:srgbClr val="60607D"/>
                </a:solidFill>
              </a:rPr>
              <a:t>Update panel</a:t>
            </a:r>
          </a:p>
        </p:txBody>
      </p:sp>
      <p:pic>
        <p:nvPicPr>
          <p:cNvPr id="15" name="Picture 14" descr="image.jpg"/>
          <p:cNvPicPr>
            <a:picLocks noChangeAspect="1"/>
          </p:cNvPicPr>
          <p:nvPr/>
        </p:nvPicPr>
        <p:blipFill>
          <a:blip r:embed="rId5"/>
          <a:stretch>
            <a:fillRect/>
          </a:stretch>
        </p:blipFill>
        <p:spPr>
          <a:xfrm>
            <a:off x="8659368" y="1864944"/>
            <a:ext cx="950976" cy="1828800"/>
          </a:xfrm>
          <a:prstGeom prst="rect">
            <a:avLst/>
          </a:prstGeom>
        </p:spPr>
      </p:pic>
      <p:sp>
        <p:nvSpPr>
          <p:cNvPr id="16" name="TextBox 15"/>
          <p:cNvSpPr txBox="1"/>
          <p:nvPr/>
        </p:nvSpPr>
        <p:spPr>
          <a:xfrm>
            <a:off x="457200" y="3922344"/>
            <a:ext cx="2743200" cy="201168"/>
          </a:xfrm>
          <a:prstGeom prst="rect">
            <a:avLst/>
          </a:prstGeom>
          <a:noFill/>
        </p:spPr>
        <p:txBody>
          <a:bodyPr wrap="square" lIns="0" rIns="0" tIns="0" bIns="0">
            <a:spAutoFit/>
          </a:bodyPr>
          <a:lstStyle/>
          <a:p>
            <a:r>
              <a:rPr sz="850" b="1" i="0" cap="all" spc="100">
                <a:solidFill>
                  <a:srgbClr val="60607D"/>
                </a:solidFill>
              </a:rPr>
              <a:t>Header band</a:t>
            </a:r>
          </a:p>
        </p:txBody>
      </p:sp>
      <p:pic>
        <p:nvPicPr>
          <p:cNvPr id="17" name="Picture 16" descr="image.jpg"/>
          <p:cNvPicPr>
            <a:picLocks noChangeAspect="1"/>
          </p:cNvPicPr>
          <p:nvPr/>
        </p:nvPicPr>
        <p:blipFill>
          <a:blip r:embed="rId6"/>
          <a:stretch>
            <a:fillRect/>
          </a:stretch>
        </p:blipFill>
        <p:spPr>
          <a:xfrm>
            <a:off x="457200" y="4160088"/>
            <a:ext cx="6035040" cy="495000"/>
          </a:xfrm>
          <a:prstGeom prst="rect">
            <a:avLst/>
          </a:prstGeom>
        </p:spPr>
      </p:pic>
      <p:sp>
        <p:nvSpPr>
          <p:cNvPr id="18" name="TextBox 17"/>
          <p:cNvSpPr txBox="1"/>
          <p:nvPr/>
        </p:nvSpPr>
        <p:spPr>
          <a:xfrm>
            <a:off x="6949440" y="3922344"/>
            <a:ext cx="2743200" cy="201168"/>
          </a:xfrm>
          <a:prstGeom prst="rect">
            <a:avLst/>
          </a:prstGeom>
          <a:noFill/>
        </p:spPr>
        <p:txBody>
          <a:bodyPr wrap="square" lIns="0" rIns="0" tIns="0" bIns="0">
            <a:spAutoFit/>
          </a:bodyPr>
          <a:lstStyle/>
          <a:p>
            <a:r>
              <a:rPr sz="850" b="1" i="0" cap="all" spc="100">
                <a:solidFill>
                  <a:srgbClr val="60607D"/>
                </a:solidFill>
              </a:rPr>
              <a:t>Banner (flow with banner)</a:t>
            </a:r>
          </a:p>
        </p:txBody>
      </p:sp>
      <p:sp>
        <p:nvSpPr>
          <p:cNvPr id="19" name="TextBox 18"/>
          <p:cNvSpPr txBox="1"/>
          <p:nvPr/>
        </p:nvSpPr>
        <p:spPr>
          <a:xfrm>
            <a:off x="457200" y="5385384"/>
            <a:ext cx="11277600" cy="548640"/>
          </a:xfrm>
          <a:prstGeom prst="rect">
            <a:avLst/>
          </a:prstGeom>
          <a:noFill/>
        </p:spPr>
        <p:txBody>
          <a:bodyPr wrap="square" lIns="0" rIns="0" tIns="0" bIns="0">
            <a:spAutoFit/>
          </a:bodyPr>
          <a:lstStyle/>
          <a:p>
            <a:r>
              <a:rPr sz="1050" b="0" i="0">
                <a:solidFill>
                  <a:srgbClr val="60607D"/>
                </a:solidFill>
              </a:rPr>
              <a:t>Split image (full height): used by Split with points, Image and two phases, Six blocks and a takeaway, and Goal and three pillars. Banner: used by Flow with banner. Divider, header band and update panel: used on every slide in this priority.</a:t>
            </a:r>
          </a:p>
        </p:txBody>
      </p:sp>
      <p:pic>
        <p:nvPicPr>
          <p:cNvPr id="20" name="Picture 19" descr="f_img2_cap_ban.jpg"/>
          <p:cNvPicPr>
            <a:picLocks noChangeAspect="1"/>
          </p:cNvPicPr>
          <p:nvPr/>
        </p:nvPicPr>
        <p:blipFill>
          <a:blip r:embed="rId9"/>
          <a:stretch>
            <a:fillRect/>
          </a:stretch>
        </p:blipFill>
        <p:spPr>
          <a:xfrm>
            <a:off x="6949440" y="4160088"/>
            <a:ext cx="4480560" cy="933450"/>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f_div_dgs.jpg"/>
          <p:cNvPicPr>
            <a:picLocks noChangeAspect="1"/>
          </p:cNvPicPr>
          <p:nvPr/>
        </p:nvPicPr>
        <p:blipFill>
          <a:blip r:embed="rId2"/>
          <a:stretch>
            <a:fillRect/>
          </a:stretch>
        </p:blipFill>
        <p:spPr>
          <a:xfrm>
            <a:off x="0" y="0"/>
            <a:ext cx="12192000" cy="6858000"/>
          </a:xfrm>
          <a:prstGeom prst="rect">
            <a:avLst/>
          </a:prstGeom>
        </p:spPr>
      </p:pic>
      <p:sp>
        <p:nvSpPr>
          <p:cNvPr id="5" name="Rectangle 4"/>
          <p:cNvSpPr/>
          <p:nvPr/>
        </p:nvSpPr>
        <p:spPr>
          <a:xfrm>
            <a:off x="0" y="0"/>
            <a:ext cx="12192000" cy="6858000"/>
          </a:xfrm>
          <a:prstGeom prst="rect">
            <a:avLst/>
          </a:prstGeom>
          <a:gradFill rotWithShape="1">
            <a:gsLst>
              <a:gs pos="0">
                <a:srgbClr val="000000">
                  <a:alpha val="90000"/>
                </a:srgbClr>
              </a:gs>
              <a:gs pos="42000">
                <a:srgbClr val="000000">
                  <a:alpha val="58000"/>
                </a:srgbClr>
              </a:gs>
              <a:gs pos="100000">
                <a:srgbClr val="000000">
                  <a:alpha val="26000"/>
                </a:srgbClr>
              </a:gs>
            </a:gsLst>
            <a:lin ang="0" scaled="0"/>
          </a:gradFill>
          <a:ln>
            <a:noFill/>
          </a:ln>
        </p:spPr>
        <p:txBody>
          <a:bodyPr rtlCol="0" anchor="ctr"/>
          <a:lstStyle/>
          <a:p>
            <a:pPr algn="ctr"/>
            <a:endParaRPr/>
          </a:p>
        </p:txBody>
      </p:sp>
      <p:sp>
        <p:nvSpPr>
          <p:cNvPr id="6" name="Rectangle 5"/>
          <p:cNvSpPr/>
          <p:nvPr/>
        </p:nvSpPr>
        <p:spPr>
          <a:xfrm>
            <a:off x="0" y="0"/>
            <a:ext cx="12192000" cy="6858000"/>
          </a:xfrm>
          <a:prstGeom prst="rect">
            <a:avLst/>
          </a:prstGeom>
          <a:gradFill rotWithShape="1">
            <a:gsLst>
              <a:gs pos="0">
                <a:srgbClr val="000000">
                  <a:alpha val="0"/>
                </a:srgbClr>
              </a:gs>
              <a:gs pos="45000">
                <a:srgbClr val="000000">
                  <a:alpha val="10000"/>
                </a:srgbClr>
              </a:gs>
              <a:gs pos="100000">
                <a:srgbClr val="000000">
                  <a:alpha val="58000"/>
                </a:srgbClr>
              </a:gs>
            </a:gsLst>
            <a:lin ang="5400000" scaled="0"/>
          </a:gradFill>
          <a:ln>
            <a:noFill/>
          </a:ln>
        </p:spPr>
        <p:txBody>
          <a:bodyPr rtlCol="0" anchor="ctr"/>
          <a:lstStyle/>
          <a:p>
            <a:pPr algn="ctr"/>
            <a:endParaRPr/>
          </a:p>
        </p:txBody>
      </p:sp>
      <p:sp>
        <p:nvSpPr>
          <p:cNvPr id="8" name="Rounded Rectangle 7"/>
          <p:cNvSpPr/>
          <p:nvPr/>
        </p:nvSpPr>
        <p:spPr>
          <a:xfrm>
            <a:off x="640080" y="685800"/>
            <a:ext cx="6583680" cy="3254095"/>
          </a:xfrm>
          <a:prstGeom prst="roundRect">
            <a:avLst>
              <a:gd name="adj" fmla="val 2500"/>
            </a:avLst>
          </a:prstGeom>
          <a:solidFill>
            <a:srgbClr val="000000">
              <a:alpha val="62000"/>
            </a:srgbClr>
          </a:solidFill>
          <a:ln>
            <a:noFill/>
          </a:ln>
        </p:spPr>
        <p:txBody>
          <a:bodyPr rtlCol="0" anchor="ctr"/>
          <a:lstStyle/>
          <a:p>
            <a:pPr algn="ctr"/>
            <a:endParaRPr/>
          </a:p>
        </p:txBody>
      </p:sp>
      <p:sp>
        <p:nvSpPr>
          <p:cNvPr id="2" name="Title 1"/>
          <p:cNvSpPr>
            <a:spLocks noGrp="1"/>
          </p:cNvSpPr>
          <p:nvPr>
            <p:ph type="title"/>
          </p:nvPr>
        </p:nvSpPr>
        <p:spPr>
          <a:xfrm>
            <a:off x="914400" y="1316736"/>
            <a:ext cx="6400800" cy="2194560"/>
          </a:xfrm>
        </p:spPr>
        <p:txBody>
          <a:bodyPr anchor="t"/>
          <a:lstStyle/>
          <a:p>
            <a:r>
              <a:rPr sz="5400"/>
              <a:t>DGS Leadership Transition</a:t>
            </a:r>
          </a:p>
        </p:txBody>
      </p:sp>
      <p:sp>
        <p:nvSpPr>
          <p:cNvPr id="3" name="Text Placeholder 2"/>
          <p:cNvSpPr>
            <a:spLocks noGrp="1"/>
          </p:cNvSpPr>
          <p:nvPr>
            <p:ph type="body" sz="quarter" idx="15"/>
          </p:nvPr>
        </p:nvSpPr>
        <p:spPr>
          <a:xfrm>
            <a:off x="914400" y="914400"/>
            <a:ext cx="6400800" cy="292608"/>
          </a:xfrm>
        </p:spPr>
        <p:txBody>
          <a:bodyPr/>
          <a:lstStyle/>
          <a:p>
            <a:r>
              <a:t>OPS PRIORITIES</a:t>
            </a:r>
          </a:p>
        </p:txBody>
      </p:sp>
      <p:sp>
        <p:nvSpPr>
          <p:cNvPr id="7" name="TextBox 6"/>
          <p:cNvSpPr txBox="1"/>
          <p:nvPr/>
        </p:nvSpPr>
        <p:spPr>
          <a:xfrm>
            <a:off x="914400" y="3162655"/>
            <a:ext cx="5943600" cy="548640"/>
          </a:xfrm>
          <a:prstGeom prst="rect">
            <a:avLst/>
          </a:prstGeom>
          <a:noFill/>
        </p:spPr>
        <p:txBody>
          <a:bodyPr wrap="square" lIns="0" tIns="0" rIns="0" bIns="0" anchor="t">
            <a:spAutoFit/>
          </a:bodyPr>
          <a:lstStyle/>
          <a:p>
            <a:pPr algn="l">
              <a:spcBef>
                <a:spcPts val="200"/>
              </a:spcBef>
              <a:spcAft>
                <a:spcPts val="200"/>
              </a:spcAft>
            </a:pPr>
            <a:r>
              <a:rPr sz="850" b="1" i="0" cap="all" spc="100">
                <a:solidFill>
                  <a:srgbClr val="D6D6DF"/>
                </a:solidFill>
              </a:rPr>
              <a:t>Owner(s)</a:t>
            </a:r>
          </a:p>
          <a:p>
            <a:pPr algn="l">
              <a:spcAft>
                <a:spcPts val="500"/>
              </a:spcAft>
            </a:pPr>
            <a:r>
              <a:rPr sz="1400" b="0" i="0">
                <a:solidFill>
                  <a:srgbClr val="D6D6DF"/>
                </a:solidFill>
              </a:rPr>
              <a:t>Missy Foristall, Adam Organ</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 name="Picture 4" descr="f_hero_dgs.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endParaRP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DGS Leadership Transition</a:t>
            </a:r>
          </a:p>
        </p:txBody>
      </p:sp>
      <p:sp>
        <p:nvSpPr>
          <p:cNvPr id="4" name="Text Placeholder 3"/>
          <p:cNvSpPr>
            <a:spLocks noGrp="1"/>
          </p:cNvSpPr>
          <p:nvPr>
            <p:ph type="body" sz="quarter" idx="12"/>
          </p:nvPr>
        </p:nvSpPr>
        <p:spPr>
          <a:xfrm>
            <a:off x="457200" y="170000"/>
            <a:ext cx="8000000" cy="182880"/>
          </a:xfrm>
        </p:spPr>
        <p:txBody>
          <a:bodyPr/>
          <a:lstStyle/>
          <a:p>
            <a:r>
              <a:rPr>
                <a:solidFill>
                  <a:srgbClr val="0391F2"/>
                </a:solidFill>
              </a:rPr>
              <a:t>OPS PRIORITIES · EXEC SUMMARY</a:t>
            </a:r>
          </a:p>
        </p:txBody>
      </p:sp>
      <p:sp>
        <p:nvSpPr>
          <p:cNvPr id="7" name="Rounded Rectangle 6"/>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wrap="square" lIns="150000" rIns="120000" rtlCol="0" anchor="ctr"/>
          <a:lstStyle/>
          <a:p>
            <a:pPr algn="l"/>
            <a:r>
              <a:rPr sz="1050" b="1" i="0">
                <a:solidFill>
                  <a:srgbClr val="FFFFFF"/>
                </a:solidFill>
              </a:rPr>
              <a:t>Owner(s)</a:t>
            </a:r>
          </a:p>
          <a:p>
            <a:pPr algn="l"/>
            <a:r>
              <a:rPr sz="900" b="0" i="0">
                <a:solidFill>
                  <a:srgbClr val="D6D6DF"/>
                </a:solidFill>
              </a:rPr>
              <a:t>Missy Foristall, Adam Organ</a:t>
            </a:r>
          </a:p>
        </p:txBody>
      </p:sp>
      <p:sp>
        <p:nvSpPr>
          <p:cNvPr id="8" name="Rounded Rectangle 7"/>
          <p:cNvSpPr/>
          <p:nvPr/>
        </p:nvSpPr>
        <p:spPr>
          <a:xfrm>
            <a:off x="457200" y="1080000"/>
            <a:ext cx="5563800" cy="1950000"/>
          </a:xfrm>
          <a:prstGeom prst="roundRect">
            <a:avLst>
              <a:gd name="adj" fmla="val 3200"/>
            </a:avLst>
          </a:prstGeom>
          <a:solidFill>
            <a:srgbClr val="000000"/>
          </a:solidFill>
          <a:ln>
            <a:no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D6D6DF"/>
                </a:solidFill>
              </a:rPr>
              <a:t>2026 Goal</a:t>
            </a:r>
          </a:p>
          <a:p>
            <a:pPr algn="l">
              <a:spcAft>
                <a:spcPts val="500"/>
              </a:spcAft>
            </a:pPr>
            <a:r>
              <a:rPr sz="1150" b="0" i="1">
                <a:solidFill>
                  <a:srgbClr val="D6D6DF"/>
                </a:solidFill>
              </a:rPr>
              <a:t>[Put here: the one thing we want to be true by the end of 2026.]</a:t>
            </a:r>
          </a:p>
          <a:p>
            <a:pPr algn="l">
              <a:spcAft>
                <a:spcPts val="500"/>
              </a:spcAft>
            </a:pPr>
            <a:r>
              <a:rPr sz="1150" b="0" i="1">
                <a:solidFill>
                  <a:srgbClr val="D6D6DF"/>
                </a:solidFill>
              </a:rPr>
              <a:t>[Why: everyone should know the finish line.]</a:t>
            </a:r>
          </a:p>
        </p:txBody>
      </p:sp>
      <p:sp>
        <p:nvSpPr>
          <p:cNvPr id="9" name="Rounded Rectangle 8"/>
          <p:cNvSpPr/>
          <p:nvPr/>
        </p:nvSpPr>
        <p:spPr>
          <a:xfrm>
            <a:off x="6171000" y="1080000"/>
            <a:ext cx="5563800" cy="195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000000"/>
                </a:solidFill>
              </a:rPr>
              <a:t>The problem</a:t>
            </a:r>
          </a:p>
          <a:p>
            <a:pPr algn="l">
              <a:spcAft>
                <a:spcPts val="500"/>
              </a:spcAft>
            </a:pPr>
            <a:r>
              <a:rPr sz="1150" b="0" i="1">
                <a:solidFill>
                  <a:srgbClr val="60607D"/>
                </a:solidFill>
              </a:rPr>
              <a:t>[Put here: what is broken today, in plain words.]</a:t>
            </a:r>
          </a:p>
          <a:p>
            <a:pPr algn="l">
              <a:spcAft>
                <a:spcPts val="500"/>
              </a:spcAft>
            </a:pPr>
            <a:r>
              <a:rPr sz="1150" b="0" i="1">
                <a:solidFill>
                  <a:srgbClr val="60607D"/>
                </a:solidFill>
              </a:rPr>
              <a:t>[Why: people only back a fix if they can feel the problem.]</a:t>
            </a:r>
          </a:p>
        </p:txBody>
      </p:sp>
      <p:sp>
        <p:nvSpPr>
          <p:cNvPr id="10" name="Rounded Rectangle 9"/>
          <p:cNvSpPr/>
          <p:nvPr/>
        </p:nvSpPr>
        <p:spPr>
          <a:xfrm>
            <a:off x="457200" y="3130000"/>
            <a:ext cx="5563800" cy="22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000000"/>
                </a:solidFill>
              </a:rPr>
              <a:t>What we are changing</a:t>
            </a:r>
          </a:p>
          <a:p>
            <a:pPr algn="l">
              <a:spcAft>
                <a:spcPts val="500"/>
              </a:spcAft>
            </a:pPr>
            <a:r>
              <a:rPr sz="1150" b="0" i="1">
                <a:solidFill>
                  <a:srgbClr val="60607D"/>
                </a:solidFill>
              </a:rPr>
              <a:t>[Put here: what we will do differently. Use short bullets.]</a:t>
            </a:r>
          </a:p>
          <a:p>
            <a:pPr algn="l">
              <a:spcAft>
                <a:spcPts val="500"/>
              </a:spcAft>
            </a:pPr>
            <a:r>
              <a:rPr sz="1150" b="0" i="1">
                <a:solidFill>
                  <a:srgbClr val="60607D"/>
                </a:solidFill>
              </a:rPr>
              <a:t>[Why: it shows we have a plan, not just a worry.]</a:t>
            </a:r>
          </a:p>
        </p:txBody>
      </p:sp>
      <p:sp>
        <p:nvSpPr>
          <p:cNvPr id="11" name="Rounded Rectangle 10"/>
          <p:cNvSpPr/>
          <p:nvPr/>
        </p:nvSpPr>
        <p:spPr>
          <a:xfrm>
            <a:off x="6171000" y="3130000"/>
            <a:ext cx="5563800" cy="2280000"/>
          </a:xfrm>
          <a:prstGeom prst="roundRect">
            <a:avLst>
              <a:gd name="adj" fmla="val 3200"/>
            </a:avLst>
          </a:prstGeom>
          <a:solidFill>
            <a:srgbClr val="000000"/>
          </a:solidFill>
          <a:ln>
            <a:no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D6D6DF"/>
                </a:solidFill>
              </a:rPr>
              <a:t>What this unlocks</a:t>
            </a:r>
          </a:p>
          <a:p>
            <a:pPr algn="l">
              <a:spcAft>
                <a:spcPts val="500"/>
              </a:spcAft>
            </a:pPr>
            <a:r>
              <a:rPr sz="1150" b="0" i="1">
                <a:solidFill>
                  <a:srgbClr val="D6D6DF"/>
                </a:solidFill>
              </a:rPr>
              <a:t>[Put here: what gets better once this works.]</a:t>
            </a:r>
          </a:p>
          <a:p>
            <a:pPr algn="l">
              <a:spcAft>
                <a:spcPts val="500"/>
              </a:spcAft>
            </a:pPr>
            <a:r>
              <a:rPr sz="1150" b="0" i="1">
                <a:solidFill>
                  <a:srgbClr val="D6D6DF"/>
                </a:solidFill>
              </a:rPr>
              <a:t>[Why: it is the reason the effort is worth it.]</a:t>
            </a:r>
          </a:p>
        </p:txBody>
      </p:sp>
      <p:sp>
        <p:nvSpPr>
          <p:cNvPr id="12" name="Rounded Rectangle 11"/>
          <p:cNvSpPr/>
          <p:nvPr/>
        </p:nvSpPr>
        <p:spPr>
          <a:xfrm>
            <a:off x="457200" y="5510000"/>
            <a:ext cx="11277600" cy="890000"/>
          </a:xfrm>
          <a:prstGeom prst="roundRect">
            <a:avLst>
              <a:gd name="adj" fmla="val 6000"/>
            </a:avLst>
          </a:prstGeom>
          <a:solidFill>
            <a:srgbClr val="000000"/>
          </a:solidFill>
          <a:ln>
            <a:noFill/>
          </a:ln>
          <a:effectLst>
            <a:outerShdw blurRad="190500" dist="50800" dir="5400000" algn="t" rotWithShape="0">
              <a:srgbClr val="000000">
                <a:alpha val="13000"/>
              </a:srgbClr>
            </a:outerShdw>
          </a:effectLst>
        </p:spPr>
        <p:txBody>
          <a:bodyPr wrap="square" lIns="300000" tIns="50000" rIns="300000" bIns="50000" rtlCol="0" anchor="ctr"/>
          <a:lstStyle/>
          <a:p>
            <a:pPr algn="l"/>
            <a:r>
              <a:rPr sz="900" b="1" i="0" cap="all" spc="100">
                <a:solidFill>
                  <a:srgbClr val="D6D6DF"/>
                </a:solidFill>
              </a:rPr>
              <a:t>Key takeaway</a:t>
            </a:r>
          </a:p>
          <a:p>
            <a:pPr algn="l"/>
            <a:r>
              <a:rPr sz="1200" b="1" i="0">
                <a:solidFill>
                  <a:srgbClr val="FFFFFF"/>
                </a:solidFill>
              </a:rPr>
              <a:t>We have a hard deadline and a business with real complexity underneath it. This two-phase plan is how we capture the knowledge, resolve ownership, and land a clean transition by year-end.</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 name="Picture 4" descr="f_hero_dgs.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endParaRP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Why now</a:t>
            </a:r>
          </a:p>
        </p:txBody>
      </p:sp>
      <p:sp>
        <p:nvSpPr>
          <p:cNvPr id="4" name="Text Placeholder 3"/>
          <p:cNvSpPr>
            <a:spLocks noGrp="1"/>
          </p:cNvSpPr>
          <p:nvPr>
            <p:ph type="body" sz="quarter" idx="12"/>
          </p:nvPr>
        </p:nvSpPr>
        <p:spPr>
          <a:xfrm>
            <a:off x="457200" y="170000"/>
            <a:ext cx="8000000" cy="182880"/>
          </a:xfrm>
        </p:spPr>
        <p:txBody>
          <a:bodyPr/>
          <a:lstStyle/>
          <a:p>
            <a:r>
              <a:rPr>
                <a:solidFill>
                  <a:srgbClr val="0391F2"/>
                </a:solidFill>
              </a:rPr>
              <a:t>DGS LEADERSHIP TRANSITION · CLICK-DOWN · THE PROBLEM</a:t>
            </a:r>
          </a:p>
        </p:txBody>
      </p:sp>
      <p:sp>
        <p:nvSpPr>
          <p:cNvPr id="7" name="Rounded Rectangle 6"/>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wrap="square" lIns="150000" rIns="120000" rtlCol="0" anchor="ctr"/>
          <a:lstStyle/>
          <a:p>
            <a:pPr algn="l"/>
            <a:r>
              <a:rPr sz="1050" b="1" i="0">
                <a:solidFill>
                  <a:srgbClr val="FFFFFF"/>
                </a:solidFill>
              </a:rPr>
              <a:t>Owner(s)</a:t>
            </a:r>
          </a:p>
          <a:p>
            <a:pPr algn="l"/>
            <a:r>
              <a:rPr sz="900" b="0" i="0">
                <a:solidFill>
                  <a:srgbClr val="D6D6DF"/>
                </a:solidFill>
              </a:rPr>
              <a:t>Missy Foristall, Adam Organ</a:t>
            </a:r>
          </a:p>
        </p:txBody>
      </p:sp>
      <p:sp>
        <p:nvSpPr>
          <p:cNvPr id="8" name="Rounded Rectangle 7"/>
          <p:cNvSpPr/>
          <p:nvPr/>
        </p:nvSpPr>
        <p:spPr>
          <a:xfrm>
            <a:off x="457200" y="1170000"/>
            <a:ext cx="11277600" cy="1250000"/>
          </a:xfrm>
          <a:prstGeom prst="roundRect">
            <a:avLst>
              <a:gd name="adj" fmla="val 3200"/>
            </a:avLst>
          </a:prstGeom>
          <a:solidFill>
            <a:srgbClr val="000000"/>
          </a:solidFill>
          <a:ln>
            <a:noFill/>
          </a:ln>
          <a:effectLst>
            <a:outerShdw blurRad="190500" dist="50800" dir="5400000" algn="t" rotWithShape="0">
              <a:srgbClr val="000000">
                <a:alpha val="13000"/>
              </a:srgbClr>
            </a:outerShdw>
          </a:effectLst>
        </p:spPr>
        <p:txBody>
          <a:bodyPr wrap="square" lIns="274320" tIns="109728" rIns="274320" bIns="73152" rtlCol="0" anchor="ctr"/>
          <a:lstStyle/>
          <a:p>
            <a:pPr algn="l">
              <a:spcBef>
                <a:spcPts val="400"/>
              </a:spcBef>
              <a:spcAft>
                <a:spcPts val="500"/>
              </a:spcAft>
            </a:pPr>
            <a:r>
              <a:rPr sz="1550" b="1" i="0">
                <a:solidFill>
                  <a:srgbClr val="FFFFFF"/>
                </a:solidFill>
              </a:rPr>
              <a:t>Naazneen's departure on 12/31 is a fixed deadline, and her role covers more ground than any one market realizes — global delivery, market relationships, capability development, and financial oversight. This is a two-phase effort to capture what she knows and put durable ownership in place before she leaves.</a:t>
            </a:r>
          </a:p>
        </p:txBody>
      </p:sp>
      <p:sp>
        <p:nvSpPr>
          <p:cNvPr id="9" name="Rounded Rectangle 8"/>
          <p:cNvSpPr/>
          <p:nvPr/>
        </p:nvSpPr>
        <p:spPr>
          <a:xfrm>
            <a:off x="457200" y="2570000"/>
            <a:ext cx="6541008" cy="36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000000"/>
                </a:solidFill>
              </a:rPr>
              <a:t>What's happening today</a:t>
            </a:r>
          </a:p>
          <a:p>
            <a:pPr algn="l">
              <a:spcAft>
                <a:spcPts val="500"/>
              </a:spcAft>
            </a:pPr>
            <a:r>
              <a:rPr sz="1300" b="0" i="1">
                <a:solidFill>
                  <a:srgbClr val="60607D"/>
                </a:solidFill>
              </a:rPr>
              <a:t>[Put here: what is going on right now that makes this urgent. One bullet per point, add as many as you need.]</a:t>
            </a:r>
          </a:p>
          <a:p>
            <a:pPr algn="l">
              <a:spcAft>
                <a:spcPts val="500"/>
              </a:spcAft>
            </a:pPr>
            <a:r>
              <a:rPr sz="1300" b="0" i="1">
                <a:solidFill>
                  <a:srgbClr val="60607D"/>
                </a:solidFill>
              </a:rPr>
              <a:t>[Why: this is the reason to act now.]</a:t>
            </a:r>
          </a:p>
        </p:txBody>
      </p:sp>
      <p:sp>
        <p:nvSpPr>
          <p:cNvPr id="10" name="Rounded Rectangle 9"/>
          <p:cNvSpPr/>
          <p:nvPr/>
        </p:nvSpPr>
        <p:spPr>
          <a:xfrm>
            <a:off x="7148208" y="2570000"/>
            <a:ext cx="4586592" cy="3680000"/>
          </a:xfrm>
          <a:prstGeom prst="roundRect">
            <a:avLst>
              <a:gd name="adj" fmla="val 3200"/>
            </a:avLst>
          </a:prstGeom>
          <a:solidFill>
            <a:srgbClr val="000000"/>
          </a:solidFill>
          <a:ln>
            <a:no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D6D6DF"/>
                </a:solidFill>
              </a:rPr>
              <a:t>So we need</a:t>
            </a:r>
          </a:p>
          <a:p>
            <a:pPr algn="l">
              <a:spcAft>
                <a:spcPts val="500"/>
              </a:spcAft>
            </a:pPr>
            <a:r>
              <a:rPr sz="1300" b="0" i="1">
                <a:solidFill>
                  <a:srgbClr val="D6D6DF"/>
                </a:solidFill>
              </a:rPr>
              <a:t>[Put here: what has to happen or be decided. One bullet per ask.]</a:t>
            </a:r>
          </a:p>
          <a:p>
            <a:pPr algn="l">
              <a:spcAft>
                <a:spcPts val="500"/>
              </a:spcAft>
            </a:pPr>
            <a:r>
              <a:rPr sz="1300" b="0" i="1">
                <a:solidFill>
                  <a:srgbClr val="D6D6DF"/>
                </a:solidFill>
              </a:rPr>
              <a:t>[Why: this turns the worry into a clear ask.]</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 name="Picture 4" descr="f_hero_dgs.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endParaRP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How we're going about it</a:t>
            </a:r>
          </a:p>
        </p:txBody>
      </p:sp>
      <p:sp>
        <p:nvSpPr>
          <p:cNvPr id="4" name="Text Placeholder 3"/>
          <p:cNvSpPr>
            <a:spLocks noGrp="1"/>
          </p:cNvSpPr>
          <p:nvPr>
            <p:ph type="body" sz="quarter" idx="12"/>
          </p:nvPr>
        </p:nvSpPr>
        <p:spPr>
          <a:xfrm>
            <a:off x="457200" y="170000"/>
            <a:ext cx="8000000" cy="182880"/>
          </a:xfrm>
        </p:spPr>
        <p:txBody>
          <a:bodyPr/>
          <a:lstStyle/>
          <a:p>
            <a:r>
              <a:rPr>
                <a:solidFill>
                  <a:srgbClr val="0391F2"/>
                </a:solidFill>
              </a:rPr>
              <a:t>DGS LEADERSHIP TRANSITION · CLICK-DOWN · WHAT WE ARE CHANGING</a:t>
            </a:r>
          </a:p>
        </p:txBody>
      </p:sp>
      <p:sp>
        <p:nvSpPr>
          <p:cNvPr id="7" name="Rounded Rectangle 6"/>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wrap="square" lIns="150000" rIns="120000" rtlCol="0" anchor="ctr"/>
          <a:lstStyle/>
          <a:p>
            <a:pPr algn="l"/>
            <a:r>
              <a:rPr sz="1050" b="1" i="0">
                <a:solidFill>
                  <a:srgbClr val="FFFFFF"/>
                </a:solidFill>
              </a:rPr>
              <a:t>Owner(s)</a:t>
            </a:r>
          </a:p>
          <a:p>
            <a:pPr algn="l"/>
            <a:r>
              <a:rPr sz="900" b="0" i="0">
                <a:solidFill>
                  <a:srgbClr val="D6D6DF"/>
                </a:solidFill>
              </a:rPr>
              <a:t>Missy Foristall, Adam Organ</a:t>
            </a:r>
          </a:p>
        </p:txBody>
      </p:sp>
      <p:sp>
        <p:nvSpPr>
          <p:cNvPr id="8" name="TextBox 7"/>
          <p:cNvSpPr txBox="1"/>
          <p:nvPr/>
        </p:nvSpPr>
        <p:spPr>
          <a:xfrm>
            <a:off x="457200" y="1170000"/>
            <a:ext cx="11277600" cy="457200"/>
          </a:xfrm>
          <a:prstGeom prst="rect">
            <a:avLst/>
          </a:prstGeom>
          <a:noFill/>
        </p:spPr>
        <p:txBody>
          <a:bodyPr wrap="square" lIns="0" tIns="0" rIns="0" bIns="0" anchor="t">
            <a:spAutoFit/>
          </a:bodyPr>
          <a:lstStyle/>
          <a:p>
            <a:pPr algn="l">
              <a:spcAft>
                <a:spcPts val="500"/>
              </a:spcAft>
            </a:pPr>
            <a:r>
              <a:rPr sz="1250" b="0" i="1">
                <a:solidFill>
                  <a:srgbClr val="60607D"/>
                </a:solidFill>
              </a:rPr>
              <a:t>[Put here: one line on how we are tackling this. The steps below fill in the detail.]</a:t>
            </a:r>
          </a:p>
        </p:txBody>
      </p:sp>
      <p:sp>
        <p:nvSpPr>
          <p:cNvPr id="9" name="Rounded Rectangle 8"/>
          <p:cNvSpPr/>
          <p:nvPr/>
        </p:nvSpPr>
        <p:spPr>
          <a:xfrm>
            <a:off x="457200" y="1828368"/>
            <a:ext cx="3692533" cy="233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dirty="0">
                <a:solidFill>
                  <a:srgbClr val="60607D"/>
                </a:solidFill>
              </a:rPr>
              <a:t>Step 1</a:t>
            </a:r>
          </a:p>
          <a:p>
            <a:pPr algn="l">
              <a:spcBef>
                <a:spcPts val="400"/>
              </a:spcBef>
              <a:spcAft>
                <a:spcPts val="200"/>
              </a:spcAft>
            </a:pPr>
            <a:r>
              <a:rPr sz="800" b="1" i="0" dirty="0">
                <a:solidFill>
                  <a:srgbClr val="000000"/>
                </a:solidFill>
              </a:rPr>
              <a:t>PHASE 1 · Intake, Validate, Plan · Sept 14 – Oct 16</a:t>
            </a:r>
          </a:p>
          <a:p>
            <a:pPr algn="l">
              <a:spcBef>
                <a:spcPts val="400"/>
              </a:spcBef>
              <a:spcAft>
                <a:spcPts val="500"/>
              </a:spcAft>
            </a:pPr>
            <a:r>
              <a:rPr sz="800" b="1" i="0" dirty="0">
                <a:solidFill>
                  <a:srgbClr val="000000"/>
                </a:solidFill>
              </a:rPr>
              <a:t>Role &amp; Org Mapping</a:t>
            </a:r>
          </a:p>
          <a:p>
            <a:pPr algn="l">
              <a:spcAft>
                <a:spcPts val="500"/>
              </a:spcAft>
            </a:pPr>
            <a:r>
              <a:rPr sz="800" b="0" i="0" dirty="0">
                <a:solidFill>
                  <a:srgbClr val="000000"/>
                </a:solidFill>
              </a:rPr>
              <a:t>Sessions with Naazneen's team to document formal and informal responsibilities, relationships, and escalation paths.</a:t>
            </a:r>
          </a:p>
          <a:p>
            <a:pPr algn="l">
              <a:spcBef>
                <a:spcPts val="400"/>
              </a:spcBef>
              <a:spcAft>
                <a:spcPts val="500"/>
              </a:spcAft>
            </a:pPr>
            <a:r>
              <a:rPr sz="800" b="1" i="0" dirty="0">
                <a:solidFill>
                  <a:srgbClr val="000000"/>
                </a:solidFill>
              </a:rPr>
              <a:t>Coverage &amp; Role Design</a:t>
            </a:r>
          </a:p>
          <a:p>
            <a:pPr algn="l">
              <a:spcAft>
                <a:spcPts val="500"/>
              </a:spcAft>
            </a:pPr>
            <a:r>
              <a:rPr sz="800" b="0" i="0" dirty="0">
                <a:solidFill>
                  <a:srgbClr val="000000"/>
                </a:solidFill>
              </a:rPr>
              <a:t>Determine who — and # of people — are needed to take on what Naazneen has been doing. Separate the DBT-specific work from the broader set of responsibilities she carries.</a:t>
            </a:r>
          </a:p>
          <a:p>
            <a:pPr algn="l">
              <a:spcBef>
                <a:spcPts val="400"/>
              </a:spcBef>
              <a:spcAft>
                <a:spcPts val="500"/>
              </a:spcAft>
            </a:pPr>
            <a:r>
              <a:rPr sz="800" b="1" i="0" dirty="0">
                <a:solidFill>
                  <a:srgbClr val="000000"/>
                </a:solidFill>
              </a:rPr>
              <a:t>Alignment Prep</a:t>
            </a:r>
          </a:p>
          <a:p>
            <a:pPr algn="l">
              <a:spcAft>
                <a:spcPts val="500"/>
              </a:spcAft>
            </a:pPr>
            <a:r>
              <a:rPr sz="800" b="0" i="0" dirty="0">
                <a:solidFill>
                  <a:srgbClr val="000000"/>
                </a:solidFill>
              </a:rPr>
              <a:t>Establish scope, decision rights, and messaging ahead of wider stakeholder engagement.</a:t>
            </a:r>
          </a:p>
        </p:txBody>
      </p:sp>
      <p:sp>
        <p:nvSpPr>
          <p:cNvPr id="10" name="Rounded Rectangle 9"/>
          <p:cNvSpPr/>
          <p:nvPr/>
        </p:nvSpPr>
        <p:spPr>
          <a:xfrm>
            <a:off x="4249733" y="1828368"/>
            <a:ext cx="3692533" cy="233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dirty="0">
                <a:solidFill>
                  <a:srgbClr val="60607D"/>
                </a:solidFill>
              </a:rPr>
              <a:t>Step 2</a:t>
            </a:r>
          </a:p>
          <a:p>
            <a:pPr algn="l">
              <a:spcBef>
                <a:spcPts val="400"/>
              </a:spcBef>
              <a:spcAft>
                <a:spcPts val="200"/>
              </a:spcAft>
            </a:pPr>
            <a:r>
              <a:rPr sz="800" b="1" i="0" dirty="0">
                <a:solidFill>
                  <a:srgbClr val="000000"/>
                </a:solidFill>
              </a:rPr>
              <a:t>PHASE 2 · Align, Anchor, Execute · Oct 19 – Dec 20</a:t>
            </a:r>
          </a:p>
          <a:p>
            <a:pPr algn="l">
              <a:spcBef>
                <a:spcPts val="400"/>
              </a:spcBef>
              <a:spcAft>
                <a:spcPts val="500"/>
              </a:spcAft>
            </a:pPr>
            <a:r>
              <a:rPr sz="800" b="1" i="0" dirty="0">
                <a:solidFill>
                  <a:srgbClr val="000000"/>
                </a:solidFill>
              </a:rPr>
              <a:t>Operating Model Decisions</a:t>
            </a:r>
          </a:p>
          <a:p>
            <a:pPr algn="l">
              <a:spcAft>
                <a:spcPts val="500"/>
              </a:spcAft>
            </a:pPr>
            <a:r>
              <a:rPr sz="800" b="0" i="0" dirty="0">
                <a:solidFill>
                  <a:srgbClr val="000000"/>
                </a:solidFill>
              </a:rPr>
              <a:t>Finalize market vs. India ownership of delivery escalation, solutioning participation, and shared governance.</a:t>
            </a:r>
          </a:p>
          <a:p>
            <a:pPr algn="l">
              <a:spcBef>
                <a:spcPts val="400"/>
              </a:spcBef>
              <a:spcAft>
                <a:spcPts val="500"/>
              </a:spcAft>
            </a:pPr>
            <a:r>
              <a:rPr sz="800" b="1" i="0" dirty="0">
                <a:solidFill>
                  <a:srgbClr val="000000"/>
                </a:solidFill>
              </a:rPr>
              <a:t>Leadership &amp; Talent Plan</a:t>
            </a:r>
          </a:p>
          <a:p>
            <a:pPr algn="l">
              <a:spcAft>
                <a:spcPts val="500"/>
              </a:spcAft>
            </a:pPr>
            <a:r>
              <a:rPr sz="800" b="0" i="0" dirty="0">
                <a:solidFill>
                  <a:srgbClr val="000000"/>
                </a:solidFill>
              </a:rPr>
              <a:t>Confirm critical role coverage, succession, recruiting priorities, and capability gaps.</a:t>
            </a:r>
          </a:p>
          <a:p>
            <a:pPr algn="l">
              <a:spcBef>
                <a:spcPts val="400"/>
              </a:spcBef>
              <a:spcAft>
                <a:spcPts val="500"/>
              </a:spcAft>
            </a:pPr>
            <a:r>
              <a:rPr sz="800" b="1" i="0" dirty="0">
                <a:solidFill>
                  <a:srgbClr val="000000"/>
                </a:solidFill>
              </a:rPr>
              <a:t>Execution &amp; Handoff</a:t>
            </a:r>
          </a:p>
          <a:p>
            <a:pPr algn="l">
              <a:spcAft>
                <a:spcPts val="500"/>
              </a:spcAft>
            </a:pPr>
            <a:r>
              <a:rPr sz="800" b="0" i="0" dirty="0">
                <a:solidFill>
                  <a:srgbClr val="000000"/>
                </a:solidFill>
              </a:rPr>
              <a:t>Complete transition activities and communications ahead of the 12/31 departure.</a:t>
            </a:r>
          </a:p>
        </p:txBody>
      </p:sp>
      <p:sp>
        <p:nvSpPr>
          <p:cNvPr id="11" name="Rounded Rectangle 10"/>
          <p:cNvSpPr/>
          <p:nvPr/>
        </p:nvSpPr>
        <p:spPr>
          <a:xfrm>
            <a:off x="8042266" y="1828368"/>
            <a:ext cx="3692533" cy="233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a:solidFill>
                  <a:srgbClr val="60607D"/>
                </a:solidFill>
              </a:rPr>
              <a:t>Step 3</a:t>
            </a:r>
          </a:p>
          <a:p>
            <a:pPr algn="l">
              <a:spcBef>
                <a:spcPts val="400"/>
              </a:spcBef>
              <a:spcAft>
                <a:spcPts val="200"/>
              </a:spcAft>
            </a:pPr>
            <a:r>
              <a:rPr sz="800" b="1" i="0">
                <a:solidFill>
                  <a:srgbClr val="000000"/>
                </a:solidFill>
              </a:rPr>
              <a:t>Extentia's Organic Revenue</a:t>
            </a:r>
          </a:p>
          <a:p>
            <a:pPr algn="l">
              <a:spcAft>
                <a:spcPts val="500"/>
              </a:spcAft>
            </a:pPr>
            <a:r>
              <a:rPr sz="800" b="0" i="0">
                <a:solidFill>
                  <a:srgbClr val="000000"/>
                </a:solidFill>
              </a:rPr>
              <a:t>Multi-market structure (US, ANZ, India, UK) and P&amp;L ownership need to be resolved for 2027 — likely a longer runway than the core transition timeline. Tracking separately so it doesn't block Phase 1 &amp; 2 progress.</a:t>
            </a:r>
          </a:p>
        </p:txBody>
      </p:sp>
      <p:sp>
        <p:nvSpPr>
          <p:cNvPr id="12" name="Rectangle 11"/>
          <p:cNvSpPr/>
          <p:nvPr/>
        </p:nvSpPr>
        <p:spPr>
          <a:xfrm>
            <a:off x="2303466" y="4379808"/>
            <a:ext cx="7585067" cy="19050"/>
          </a:xfrm>
          <a:prstGeom prst="rect">
            <a:avLst/>
          </a:prstGeom>
          <a:solidFill>
            <a:srgbClr val="D6D6DF"/>
          </a:solidFill>
          <a:ln>
            <a:noFill/>
          </a:ln>
        </p:spPr>
        <p:txBody>
          <a:bodyPr rtlCol="0" anchor="ctr"/>
          <a:lstStyle/>
          <a:p>
            <a:pPr algn="ctr"/>
            <a:endParaRPr/>
          </a:p>
        </p:txBody>
      </p:sp>
      <p:sp>
        <p:nvSpPr>
          <p:cNvPr id="13" name="Oval 12"/>
          <p:cNvSpPr/>
          <p:nvPr/>
        </p:nvSpPr>
        <p:spPr>
          <a:xfrm>
            <a:off x="2212026" y="4288368"/>
            <a:ext cx="182880" cy="182880"/>
          </a:xfrm>
          <a:prstGeom prst="ellipse">
            <a:avLst/>
          </a:prstGeom>
          <a:solidFill>
            <a:srgbClr val="FFFFFF"/>
          </a:solidFill>
          <a:ln w="19050">
            <a:solidFill>
              <a:srgbClr val="000000"/>
            </a:solidFill>
          </a:ln>
        </p:spPr>
        <p:txBody>
          <a:bodyPr rtlCol="0" anchor="ctr"/>
          <a:lstStyle/>
          <a:p>
            <a:pPr algn="ctr"/>
            <a:endParaRPr/>
          </a:p>
        </p:txBody>
      </p:sp>
      <p:sp>
        <p:nvSpPr>
          <p:cNvPr id="14" name="Rounded Rectangle 13"/>
          <p:cNvSpPr/>
          <p:nvPr/>
        </p:nvSpPr>
        <p:spPr>
          <a:xfrm>
            <a:off x="457200" y="4562688"/>
            <a:ext cx="3692533"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Bef>
                <a:spcPts val="400"/>
              </a:spcBef>
              <a:spcAft>
                <a:spcPts val="200"/>
              </a:spcAft>
            </a:pPr>
            <a:r>
              <a:rPr sz="1100" b="1" i="0">
                <a:solidFill>
                  <a:srgbClr val="000000"/>
                </a:solidFill>
              </a:rPr>
              <a:t>Sept 14 – Oct 16</a:t>
            </a:r>
          </a:p>
          <a:p>
            <a:pPr algn="l">
              <a:spcAft>
                <a:spcPts val="500"/>
              </a:spcAft>
            </a:pPr>
            <a:r>
              <a:rPr sz="1100" b="0" i="0">
                <a:solidFill>
                  <a:srgbClr val="000000"/>
                </a:solidFill>
              </a:rPr>
              <a:t>Phase 1: Intake, Validate, Plan</a:t>
            </a:r>
          </a:p>
        </p:txBody>
      </p:sp>
      <p:sp>
        <p:nvSpPr>
          <p:cNvPr id="15" name="Oval 14"/>
          <p:cNvSpPr/>
          <p:nvPr/>
        </p:nvSpPr>
        <p:spPr>
          <a:xfrm>
            <a:off x="6004559" y="4288368"/>
            <a:ext cx="182880" cy="182880"/>
          </a:xfrm>
          <a:prstGeom prst="ellipse">
            <a:avLst/>
          </a:prstGeom>
          <a:solidFill>
            <a:srgbClr val="FFFFFF"/>
          </a:solidFill>
          <a:ln w="19050">
            <a:solidFill>
              <a:srgbClr val="000000"/>
            </a:solidFill>
          </a:ln>
        </p:spPr>
        <p:txBody>
          <a:bodyPr rtlCol="0" anchor="ctr"/>
          <a:lstStyle/>
          <a:p>
            <a:pPr algn="ctr"/>
            <a:endParaRPr/>
          </a:p>
        </p:txBody>
      </p:sp>
      <p:sp>
        <p:nvSpPr>
          <p:cNvPr id="16" name="Rounded Rectangle 15"/>
          <p:cNvSpPr/>
          <p:nvPr/>
        </p:nvSpPr>
        <p:spPr>
          <a:xfrm>
            <a:off x="4249733" y="4562688"/>
            <a:ext cx="3692533"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Bef>
                <a:spcPts val="400"/>
              </a:spcBef>
              <a:spcAft>
                <a:spcPts val="200"/>
              </a:spcAft>
            </a:pPr>
            <a:r>
              <a:rPr sz="1100" b="1" i="0">
                <a:solidFill>
                  <a:srgbClr val="000000"/>
                </a:solidFill>
              </a:rPr>
              <a:t>Oct 19 – Dec 20</a:t>
            </a:r>
          </a:p>
          <a:p>
            <a:pPr algn="l">
              <a:spcAft>
                <a:spcPts val="500"/>
              </a:spcAft>
            </a:pPr>
            <a:r>
              <a:rPr sz="1100" b="0" i="0">
                <a:solidFill>
                  <a:srgbClr val="000000"/>
                </a:solidFill>
              </a:rPr>
              <a:t>Phase 2: Align, Anchor, Execute</a:t>
            </a:r>
          </a:p>
        </p:txBody>
      </p:sp>
      <p:sp>
        <p:nvSpPr>
          <p:cNvPr id="17" name="Oval 16"/>
          <p:cNvSpPr/>
          <p:nvPr/>
        </p:nvSpPr>
        <p:spPr>
          <a:xfrm>
            <a:off x="9797092" y="4288368"/>
            <a:ext cx="182880" cy="182880"/>
          </a:xfrm>
          <a:prstGeom prst="ellipse">
            <a:avLst/>
          </a:prstGeom>
          <a:solidFill>
            <a:srgbClr val="FFFFFF"/>
          </a:solidFill>
          <a:ln w="19050">
            <a:solidFill>
              <a:srgbClr val="D6D6DF"/>
            </a:solidFill>
          </a:ln>
        </p:spPr>
        <p:txBody>
          <a:bodyPr rtlCol="0" anchor="ctr"/>
          <a:lstStyle/>
          <a:p>
            <a:pPr algn="ctr"/>
            <a:endParaRPr/>
          </a:p>
        </p:txBody>
      </p:sp>
      <p:sp>
        <p:nvSpPr>
          <p:cNvPr id="18" name="Rounded Rectangle 17"/>
          <p:cNvSpPr/>
          <p:nvPr/>
        </p:nvSpPr>
        <p:spPr>
          <a:xfrm>
            <a:off x="8042266" y="4562688"/>
            <a:ext cx="3692533"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Bef>
                <a:spcPts val="200"/>
              </a:spcBef>
              <a:spcAft>
                <a:spcPts val="200"/>
              </a:spcAft>
            </a:pPr>
            <a:r>
              <a:rPr sz="850" b="1" i="0" cap="all" spc="100">
                <a:solidFill>
                  <a:srgbClr val="60607D"/>
                </a:solidFill>
              </a:rPr>
              <a:t>The target</a:t>
            </a:r>
          </a:p>
          <a:p>
            <a:pPr algn="l">
              <a:spcBef>
                <a:spcPts val="400"/>
              </a:spcBef>
              <a:spcAft>
                <a:spcPts val="200"/>
              </a:spcAft>
            </a:pPr>
            <a:r>
              <a:rPr sz="1000" b="1" i="0">
                <a:solidFill>
                  <a:srgbClr val="000000"/>
                </a:solidFill>
              </a:rPr>
              <a:t>12/31</a:t>
            </a:r>
          </a:p>
          <a:p>
            <a:pPr algn="l">
              <a:spcAft>
                <a:spcPts val="500"/>
              </a:spcAft>
            </a:pPr>
            <a:r>
              <a:rPr sz="1000" b="0" i="1">
                <a:solidFill>
                  <a:srgbClr val="60607D"/>
                </a:solidFill>
              </a:rPr>
              <a:t>Naazneen departs.</a:t>
            </a:r>
          </a:p>
        </p:txBody>
      </p:sp>
      <p:sp>
        <p:nvSpPr>
          <p:cNvPr id="19" name="Rounded Rectangle 18"/>
          <p:cNvSpPr/>
          <p:nvPr/>
        </p:nvSpPr>
        <p:spPr>
          <a:xfrm>
            <a:off x="457200" y="5462688"/>
            <a:ext cx="5563800" cy="93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91440" rIns="182880" bIns="36576" rtlCol="0" anchor="t"/>
          <a:lstStyle/>
          <a:p>
            <a:pPr algn="l">
              <a:spcAft>
                <a:spcPts val="600"/>
              </a:spcAft>
            </a:pPr>
            <a:r>
              <a:rPr sz="1100" b="1" i="0" cap="all" spc="60">
                <a:solidFill>
                  <a:srgbClr val="000000"/>
                </a:solidFill>
              </a:rPr>
              <a:t>Team</a:t>
            </a:r>
          </a:p>
        </p:txBody>
      </p:sp>
      <p:sp>
        <p:nvSpPr>
          <p:cNvPr id="20" name="Rounded Rectangle 19"/>
          <p:cNvSpPr/>
          <p:nvPr/>
        </p:nvSpPr>
        <p:spPr>
          <a:xfrm>
            <a:off x="667512" y="5791872"/>
            <a:ext cx="1351221" cy="246888"/>
          </a:xfrm>
          <a:prstGeom prst="roundRect">
            <a:avLst>
              <a:gd name="adj" fmla="val 50000"/>
            </a:avLst>
          </a:prstGeom>
          <a:solidFill>
            <a:srgbClr val="FFFFFF"/>
          </a:solidFill>
          <a:ln w="12700">
            <a:solidFill>
              <a:srgbClr val="D6D6DF"/>
            </a:solidFill>
          </a:ln>
        </p:spPr>
        <p:txBody>
          <a:bodyPr wrap="none" lIns="0" tIns="0" rIns="0" bIns="0" rtlCol="0" anchor="ctr"/>
          <a:lstStyle/>
          <a:p>
            <a:pPr algn="ctr"/>
            <a:r>
              <a:rPr sz="900" b="0" i="1">
                <a:solidFill>
                  <a:srgbClr val="60607D"/>
                </a:solidFill>
              </a:rPr>
              <a:t>[Who does the work]</a:t>
            </a:r>
          </a:p>
        </p:txBody>
      </p:sp>
      <p:sp>
        <p:nvSpPr>
          <p:cNvPr id="21" name="Rounded Rectangle 20"/>
          <p:cNvSpPr/>
          <p:nvPr/>
        </p:nvSpPr>
        <p:spPr>
          <a:xfrm>
            <a:off x="2101029" y="5791872"/>
            <a:ext cx="1351221" cy="246888"/>
          </a:xfrm>
          <a:prstGeom prst="roundRect">
            <a:avLst>
              <a:gd name="adj" fmla="val 50000"/>
            </a:avLst>
          </a:prstGeom>
          <a:solidFill>
            <a:srgbClr val="FFFFFF"/>
          </a:solidFill>
          <a:ln w="12700">
            <a:solidFill>
              <a:srgbClr val="D6D6DF"/>
            </a:solidFill>
          </a:ln>
        </p:spPr>
        <p:txBody>
          <a:bodyPr wrap="none" lIns="0" tIns="0" rIns="0" bIns="0" rtlCol="0" anchor="ctr"/>
          <a:lstStyle/>
          <a:p>
            <a:pPr algn="ctr"/>
            <a:r>
              <a:rPr sz="900" b="0" i="1">
                <a:solidFill>
                  <a:srgbClr val="60607D"/>
                </a:solidFill>
              </a:rPr>
              <a:t>[Who does the work]</a:t>
            </a:r>
          </a:p>
        </p:txBody>
      </p:sp>
      <p:sp>
        <p:nvSpPr>
          <p:cNvPr id="22" name="Rounded Rectangle 21"/>
          <p:cNvSpPr/>
          <p:nvPr/>
        </p:nvSpPr>
        <p:spPr>
          <a:xfrm>
            <a:off x="6171000" y="5462688"/>
            <a:ext cx="5563800" cy="93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91440" rIns="182880" bIns="36576" rtlCol="0" anchor="t"/>
          <a:lstStyle/>
          <a:p>
            <a:pPr algn="l">
              <a:spcAft>
                <a:spcPts val="600"/>
              </a:spcAft>
            </a:pPr>
            <a:r>
              <a:rPr sz="1100" b="1" i="0" cap="all" spc="60">
                <a:solidFill>
                  <a:srgbClr val="000000"/>
                </a:solidFill>
              </a:rPr>
              <a:t>Partners</a:t>
            </a:r>
          </a:p>
        </p:txBody>
      </p:sp>
      <p:sp>
        <p:nvSpPr>
          <p:cNvPr id="23" name="Rounded Rectangle 22"/>
          <p:cNvSpPr/>
          <p:nvPr/>
        </p:nvSpPr>
        <p:spPr>
          <a:xfrm>
            <a:off x="6381312" y="5791872"/>
            <a:ext cx="1291655" cy="246888"/>
          </a:xfrm>
          <a:prstGeom prst="roundRect">
            <a:avLst>
              <a:gd name="adj" fmla="val 50000"/>
            </a:avLst>
          </a:prstGeom>
          <a:solidFill>
            <a:srgbClr val="FFFFFF"/>
          </a:solidFill>
          <a:ln w="12700">
            <a:solidFill>
              <a:srgbClr val="D6D6DF"/>
            </a:solidFill>
          </a:ln>
        </p:spPr>
        <p:txBody>
          <a:bodyPr wrap="none" lIns="0" tIns="0" rIns="0" bIns="0" rtlCol="0" anchor="ctr"/>
          <a:lstStyle/>
          <a:p>
            <a:pPr algn="ctr"/>
            <a:r>
              <a:rPr sz="900" b="0" i="1">
                <a:solidFill>
                  <a:srgbClr val="60607D"/>
                </a:solidFill>
              </a:rPr>
              <a:t>[Who we work with]</a:t>
            </a:r>
          </a:p>
        </p:txBody>
      </p:sp>
      <p:sp>
        <p:nvSpPr>
          <p:cNvPr id="24" name="Rounded Rectangle 23"/>
          <p:cNvSpPr/>
          <p:nvPr/>
        </p:nvSpPr>
        <p:spPr>
          <a:xfrm>
            <a:off x="7755263" y="5791872"/>
            <a:ext cx="1291655" cy="246888"/>
          </a:xfrm>
          <a:prstGeom prst="roundRect">
            <a:avLst>
              <a:gd name="adj" fmla="val 50000"/>
            </a:avLst>
          </a:prstGeom>
          <a:solidFill>
            <a:srgbClr val="FFFFFF"/>
          </a:solidFill>
          <a:ln w="12700">
            <a:solidFill>
              <a:srgbClr val="D6D6DF"/>
            </a:solidFill>
          </a:ln>
        </p:spPr>
        <p:txBody>
          <a:bodyPr wrap="none" lIns="0" tIns="0" rIns="0" bIns="0" rtlCol="0" anchor="ctr"/>
          <a:lstStyle/>
          <a:p>
            <a:pPr algn="ctr"/>
            <a:r>
              <a:rPr sz="900" b="0" i="1">
                <a:solidFill>
                  <a:srgbClr val="60607D"/>
                </a:solidFill>
              </a:rPr>
              <a:t>[Who we work with]</a:t>
            </a:r>
          </a:p>
        </p:txBody>
      </p:sp>
      <p:sp>
        <p:nvSpPr>
          <p:cNvPr id="25" name="TextBox 24">
            <a:extLst>
              <a:ext uri="{FF2B5EF4-FFF2-40B4-BE49-F238E27FC236}">
                <a16:creationId xmlns:a16="http://schemas.microsoft.com/office/drawing/2014/main" id="{FA716A34-E2E7-90B4-0330-3536E8E8B68B}"/>
              </a:ext>
            </a:extLst>
          </p:cNvPr>
          <p:cNvSpPr txBox="1"/>
          <p:nvPr/>
        </p:nvSpPr>
        <p:spPr>
          <a:xfrm>
            <a:off x="667512" y="1601392"/>
            <a:ext cx="3374136" cy="215444"/>
          </a:xfrm>
          <a:prstGeom prst="rect">
            <a:avLst/>
          </a:prstGeom>
          <a:noFill/>
        </p:spPr>
        <p:txBody>
          <a:bodyPr wrap="square">
            <a:spAutoFit/>
          </a:bodyPr>
          <a:lstStyle/>
          <a:p>
            <a:pPr algn="l">
              <a:spcAft>
                <a:spcPts val="500"/>
              </a:spcAft>
            </a:pPr>
            <a:r>
              <a:rPr lang="en-US" sz="800" b="0" i="0" dirty="0">
                <a:solidFill>
                  <a:srgbClr val="000000"/>
                </a:solidFill>
              </a:rPr>
              <a:t>Milestone: India trip Sept 25 – Oct 10 (AO)</a:t>
            </a:r>
          </a:p>
        </p:txBody>
      </p:sp>
      <p:sp>
        <p:nvSpPr>
          <p:cNvPr id="27" name="TextBox 26">
            <a:extLst>
              <a:ext uri="{FF2B5EF4-FFF2-40B4-BE49-F238E27FC236}">
                <a16:creationId xmlns:a16="http://schemas.microsoft.com/office/drawing/2014/main" id="{10051C91-CB2B-FE8D-8A88-E27B38A8EB83}"/>
              </a:ext>
            </a:extLst>
          </p:cNvPr>
          <p:cNvSpPr txBox="1"/>
          <p:nvPr/>
        </p:nvSpPr>
        <p:spPr>
          <a:xfrm>
            <a:off x="4457200" y="1601392"/>
            <a:ext cx="2913097" cy="215444"/>
          </a:xfrm>
          <a:prstGeom prst="rect">
            <a:avLst/>
          </a:prstGeom>
          <a:noFill/>
        </p:spPr>
        <p:txBody>
          <a:bodyPr wrap="square">
            <a:spAutoFit/>
          </a:bodyPr>
          <a:lstStyle/>
          <a:p>
            <a:pPr algn="l">
              <a:spcAft>
                <a:spcPts val="500"/>
              </a:spcAft>
            </a:pPr>
            <a:r>
              <a:rPr lang="en-US" sz="800" b="0" i="0" dirty="0">
                <a:solidFill>
                  <a:srgbClr val="000000"/>
                </a:solidFill>
              </a:rPr>
              <a:t>Milestone: India trip mid-Nov (AO, Missy, Eric, McComas)</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 name="Picture 4" descr="f_hero_dgs.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endParaRP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Adoption &amp; change management</a:t>
            </a:r>
          </a:p>
        </p:txBody>
      </p:sp>
      <p:sp>
        <p:nvSpPr>
          <p:cNvPr id="4" name="Text Placeholder 3"/>
          <p:cNvSpPr>
            <a:spLocks noGrp="1"/>
          </p:cNvSpPr>
          <p:nvPr>
            <p:ph type="body" sz="quarter" idx="12"/>
          </p:nvPr>
        </p:nvSpPr>
        <p:spPr>
          <a:xfrm>
            <a:off x="457200" y="170000"/>
            <a:ext cx="8000000" cy="182880"/>
          </a:xfrm>
        </p:spPr>
        <p:txBody>
          <a:bodyPr/>
          <a:lstStyle/>
          <a:p>
            <a:r>
              <a:rPr>
                <a:solidFill>
                  <a:srgbClr val="0391F2"/>
                </a:solidFill>
              </a:rPr>
              <a:t>DGS LEADERSHIP TRANSITION · CLICK-DOWN · WHAT WE ARE CHANGING</a:t>
            </a:r>
          </a:p>
        </p:txBody>
      </p:sp>
      <p:sp>
        <p:nvSpPr>
          <p:cNvPr id="7" name="Rounded Rectangle 6"/>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wrap="square" lIns="150000" rIns="120000" rtlCol="0" anchor="ctr"/>
          <a:lstStyle/>
          <a:p>
            <a:pPr algn="l"/>
            <a:r>
              <a:rPr sz="1050" b="1" i="0">
                <a:solidFill>
                  <a:srgbClr val="FFFFFF"/>
                </a:solidFill>
              </a:rPr>
              <a:t>Owner(s)</a:t>
            </a:r>
          </a:p>
          <a:p>
            <a:pPr algn="l"/>
            <a:r>
              <a:rPr sz="900" b="0" i="0">
                <a:solidFill>
                  <a:srgbClr val="D6D6DF"/>
                </a:solidFill>
              </a:rPr>
              <a:t>Missy Foristall, Adam Organ</a:t>
            </a:r>
          </a:p>
        </p:txBody>
      </p:sp>
      <p:sp>
        <p:nvSpPr>
          <p:cNvPr id="8" name="Rounded Rectangle 7"/>
          <p:cNvSpPr/>
          <p:nvPr/>
        </p:nvSpPr>
        <p:spPr>
          <a:xfrm>
            <a:off x="457200" y="1170000"/>
            <a:ext cx="2706900" cy="50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000000"/>
                </a:solidFill>
              </a:rPr>
              <a:t>1. Strategy &amp; Alignment</a:t>
            </a:r>
          </a:p>
          <a:p>
            <a:pPr algn="l">
              <a:spcBef>
                <a:spcPts val="400"/>
              </a:spcBef>
              <a:spcAft>
                <a:spcPts val="200"/>
              </a:spcAft>
            </a:pPr>
            <a:r>
              <a:rPr sz="1300" b="1" i="0">
                <a:solidFill>
                  <a:srgbClr val="000000"/>
                </a:solidFill>
              </a:rPr>
              <a:t>The why</a:t>
            </a:r>
          </a:p>
          <a:p>
            <a:pPr algn="l">
              <a:spcAft>
                <a:spcPts val="500"/>
              </a:spcAft>
            </a:pPr>
            <a:r>
              <a:rPr sz="1300" b="0" i="1">
                <a:solidFill>
                  <a:srgbClr val="60607D"/>
                </a:solidFill>
              </a:rPr>
              <a:t>[The business reason for this change and the value it brings.]</a:t>
            </a:r>
          </a:p>
          <a:p>
            <a:pPr algn="l">
              <a:spcBef>
                <a:spcPts val="400"/>
              </a:spcBef>
              <a:spcAft>
                <a:spcPts val="200"/>
              </a:spcAft>
            </a:pPr>
            <a:r>
              <a:rPr sz="1300" b="1" i="0">
                <a:solidFill>
                  <a:srgbClr val="000000"/>
                </a:solidFill>
              </a:rPr>
              <a:t>Who is affected</a:t>
            </a:r>
          </a:p>
          <a:p>
            <a:pPr algn="l">
              <a:spcAft>
                <a:spcPts val="500"/>
              </a:spcAft>
            </a:pPr>
            <a:r>
              <a:rPr sz="1300" b="0" i="1">
                <a:solidFill>
                  <a:srgbClr val="60607D"/>
                </a:solidFill>
              </a:rPr>
              <a:t>[Who is impacted, how their day-to-day changes, and how much pushback to expect.]</a:t>
            </a:r>
          </a:p>
          <a:p>
            <a:pPr algn="l">
              <a:spcBef>
                <a:spcPts val="400"/>
              </a:spcBef>
              <a:spcAft>
                <a:spcPts val="200"/>
              </a:spcAft>
            </a:pPr>
            <a:r>
              <a:rPr sz="1300" b="1" i="0">
                <a:solidFill>
                  <a:srgbClr val="000000"/>
                </a:solidFill>
              </a:rPr>
              <a:t>Who is backing it</a:t>
            </a:r>
          </a:p>
          <a:p>
            <a:pPr algn="l">
              <a:spcAft>
                <a:spcPts val="500"/>
              </a:spcAft>
            </a:pPr>
            <a:r>
              <a:rPr sz="1300" b="0" i="1">
                <a:solidFill>
                  <a:srgbClr val="60607D"/>
                </a:solidFill>
              </a:rPr>
              <a:t>[Executive sponsors, approvers, and the champions who will drive adoption locally.]</a:t>
            </a:r>
          </a:p>
        </p:txBody>
      </p:sp>
      <p:sp>
        <p:nvSpPr>
          <p:cNvPr id="9" name="Rounded Rectangle 8"/>
          <p:cNvSpPr/>
          <p:nvPr/>
        </p:nvSpPr>
        <p:spPr>
          <a:xfrm>
            <a:off x="3314100" y="1170000"/>
            <a:ext cx="2706900" cy="50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000000"/>
                </a:solidFill>
              </a:rPr>
              <a:t>2. Communications Plan</a:t>
            </a:r>
          </a:p>
          <a:p>
            <a:pPr algn="l">
              <a:spcBef>
                <a:spcPts val="400"/>
              </a:spcBef>
              <a:spcAft>
                <a:spcPts val="200"/>
              </a:spcAft>
            </a:pPr>
            <a:r>
              <a:rPr sz="1300" b="1" i="0">
                <a:solidFill>
                  <a:srgbClr val="000000"/>
                </a:solidFill>
              </a:rPr>
              <a:t>Core messages</a:t>
            </a:r>
          </a:p>
          <a:p>
            <a:pPr algn="l">
              <a:spcAft>
                <a:spcPts val="500"/>
              </a:spcAft>
            </a:pPr>
            <a:r>
              <a:rPr sz="1300" b="0" i="1">
                <a:solidFill>
                  <a:srgbClr val="60607D"/>
                </a:solidFill>
              </a:rPr>
              <a:t>[The standard talking points, tailored for each group that is affected.]</a:t>
            </a:r>
          </a:p>
          <a:p>
            <a:pPr algn="l">
              <a:spcBef>
                <a:spcPts val="400"/>
              </a:spcBef>
              <a:spcAft>
                <a:spcPts val="200"/>
              </a:spcAft>
            </a:pPr>
            <a:r>
              <a:rPr sz="1300" b="1" i="0">
                <a:solidFill>
                  <a:srgbClr val="000000"/>
                </a:solidFill>
              </a:rPr>
              <a:t>Channels</a:t>
            </a:r>
          </a:p>
          <a:p>
            <a:pPr algn="l">
              <a:spcAft>
                <a:spcPts val="500"/>
              </a:spcAft>
            </a:pPr>
            <a:r>
              <a:rPr sz="1300" b="0" i="1">
                <a:solidFill>
                  <a:srgbClr val="60607D"/>
                </a:solidFill>
              </a:rPr>
              <a:t>[Where we will say it: all-hands, email, internal portals, team meetings.]</a:t>
            </a:r>
          </a:p>
          <a:p>
            <a:pPr algn="l">
              <a:spcBef>
                <a:spcPts val="400"/>
              </a:spcBef>
              <a:spcAft>
                <a:spcPts val="200"/>
              </a:spcAft>
            </a:pPr>
            <a:r>
              <a:rPr sz="1300" b="1" i="0">
                <a:solidFill>
                  <a:srgbClr val="000000"/>
                </a:solidFill>
              </a:rPr>
              <a:t>Timing</a:t>
            </a:r>
          </a:p>
          <a:p>
            <a:pPr algn="l">
              <a:spcAft>
                <a:spcPts val="500"/>
              </a:spcAft>
            </a:pPr>
            <a:r>
              <a:rPr sz="1300" b="0" i="1">
                <a:solidFill>
                  <a:srgbClr val="60607D"/>
                </a:solidFill>
              </a:rPr>
              <a:t>[The schedule of announcements, teasers and reminders before and after launch.]</a:t>
            </a:r>
          </a:p>
        </p:txBody>
      </p:sp>
      <p:sp>
        <p:nvSpPr>
          <p:cNvPr id="10" name="Rounded Rectangle 9"/>
          <p:cNvSpPr/>
          <p:nvPr/>
        </p:nvSpPr>
        <p:spPr>
          <a:xfrm>
            <a:off x="6171000" y="1170000"/>
            <a:ext cx="2706900" cy="50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000000"/>
                </a:solidFill>
              </a:rPr>
              <a:t>3. Enablement</a:t>
            </a:r>
          </a:p>
          <a:p>
            <a:pPr algn="l">
              <a:spcBef>
                <a:spcPts val="400"/>
              </a:spcBef>
              <a:spcAft>
                <a:spcPts val="200"/>
              </a:spcAft>
            </a:pPr>
            <a:r>
              <a:rPr sz="1300" b="1" i="0">
                <a:solidFill>
                  <a:srgbClr val="000000"/>
                </a:solidFill>
              </a:rPr>
              <a:t>Training</a:t>
            </a:r>
          </a:p>
          <a:p>
            <a:pPr algn="l">
              <a:spcAft>
                <a:spcPts val="500"/>
              </a:spcAft>
            </a:pPr>
            <a:r>
              <a:rPr sz="1300" b="0" i="1">
                <a:solidFill>
                  <a:srgbClr val="60607D"/>
                </a:solidFill>
              </a:rPr>
              <a:t>[How people will learn: live sessions, self-serve modules, documentation.]</a:t>
            </a:r>
          </a:p>
          <a:p>
            <a:pPr algn="l">
              <a:spcBef>
                <a:spcPts val="400"/>
              </a:spcBef>
              <a:spcAft>
                <a:spcPts val="200"/>
              </a:spcAft>
            </a:pPr>
            <a:r>
              <a:rPr sz="1300" b="1" i="0">
                <a:solidFill>
                  <a:srgbClr val="000000"/>
                </a:solidFill>
              </a:rPr>
              <a:t>Where to find things</a:t>
            </a:r>
          </a:p>
          <a:p>
            <a:pPr algn="l">
              <a:spcAft>
                <a:spcPts val="500"/>
              </a:spcAft>
            </a:pPr>
            <a:r>
              <a:rPr sz="1300" b="0" i="1">
                <a:solidFill>
                  <a:srgbClr val="60607D"/>
                </a:solidFill>
              </a:rPr>
              <a:t>[One place for user guides, quick reference cards and FAQs.]</a:t>
            </a:r>
          </a:p>
          <a:p>
            <a:pPr algn="l">
              <a:spcBef>
                <a:spcPts val="400"/>
              </a:spcBef>
              <a:spcAft>
                <a:spcPts val="200"/>
              </a:spcAft>
            </a:pPr>
            <a:r>
              <a:rPr sz="1300" b="1" i="0">
                <a:solidFill>
                  <a:srgbClr val="000000"/>
                </a:solidFill>
              </a:rPr>
              <a:t>Getting help</a:t>
            </a:r>
          </a:p>
          <a:p>
            <a:pPr algn="l">
              <a:spcAft>
                <a:spcPts val="500"/>
              </a:spcAft>
            </a:pPr>
            <a:r>
              <a:rPr sz="1300" b="0" i="1">
                <a:solidFill>
                  <a:srgbClr val="60607D"/>
                </a:solidFill>
              </a:rPr>
              <a:t>[Where people go when they get stuck during the rollout.]</a:t>
            </a:r>
          </a:p>
        </p:txBody>
      </p:sp>
      <p:sp>
        <p:nvSpPr>
          <p:cNvPr id="11" name="Rounded Rectangle 10"/>
          <p:cNvSpPr/>
          <p:nvPr/>
        </p:nvSpPr>
        <p:spPr>
          <a:xfrm>
            <a:off x="9027900" y="1170000"/>
            <a:ext cx="2706900" cy="50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000000"/>
                </a:solidFill>
              </a:rPr>
              <a:t>4. Measuring &amp; Sustaining</a:t>
            </a:r>
          </a:p>
          <a:p>
            <a:pPr algn="l">
              <a:spcBef>
                <a:spcPts val="400"/>
              </a:spcBef>
              <a:spcAft>
                <a:spcPts val="200"/>
              </a:spcAft>
            </a:pPr>
            <a:r>
              <a:rPr sz="1300" b="1" i="0">
                <a:solidFill>
                  <a:srgbClr val="000000"/>
                </a:solidFill>
              </a:rPr>
              <a:t>Success measures</a:t>
            </a:r>
          </a:p>
          <a:p>
            <a:pPr algn="l">
              <a:spcAft>
                <a:spcPts val="500"/>
              </a:spcAft>
            </a:pPr>
            <a:r>
              <a:rPr sz="1300" b="0" i="1">
                <a:solidFill>
                  <a:srgbClr val="60607D"/>
                </a:solidFill>
              </a:rPr>
              <a:t>[The numbers that show healthy adoption, such as login rates, task completion and drop-off from the old way.]</a:t>
            </a:r>
          </a:p>
          <a:p>
            <a:pPr algn="l">
              <a:spcBef>
                <a:spcPts val="400"/>
              </a:spcBef>
              <a:spcAft>
                <a:spcPts val="200"/>
              </a:spcAft>
            </a:pPr>
            <a:r>
              <a:rPr sz="1300" b="1" i="0">
                <a:solidFill>
                  <a:srgbClr val="000000"/>
                </a:solidFill>
              </a:rPr>
              <a:t>Feedback</a:t>
            </a:r>
          </a:p>
          <a:p>
            <a:pPr algn="l">
              <a:spcAft>
                <a:spcPts val="500"/>
              </a:spcAft>
            </a:pPr>
            <a:r>
              <a:rPr sz="1300" b="0" i="1">
                <a:solidFill>
                  <a:srgbClr val="60607D"/>
                </a:solidFill>
              </a:rPr>
              <a:t>[How we capture friction and sentiment after launch so we can fix things quickly.]</a:t>
            </a:r>
          </a:p>
          <a:p>
            <a:pPr algn="l">
              <a:spcBef>
                <a:spcPts val="400"/>
              </a:spcBef>
              <a:spcAft>
                <a:spcPts val="200"/>
              </a:spcAft>
            </a:pPr>
            <a:r>
              <a:rPr sz="1300" b="1" i="0">
                <a:solidFill>
                  <a:srgbClr val="000000"/>
                </a:solidFill>
              </a:rPr>
              <a:t>Long-term owner</a:t>
            </a:r>
          </a:p>
          <a:p>
            <a:pPr algn="l">
              <a:spcAft>
                <a:spcPts val="500"/>
              </a:spcAft>
            </a:pPr>
            <a:r>
              <a:rPr sz="1300" b="0" i="1">
                <a:solidFill>
                  <a:srgbClr val="60607D"/>
                </a:solidFill>
              </a:rPr>
              <a:t>[Who owns ongoing updates, new-hire onboarding and keeping the process current.]</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 name="Picture 4" descr="f_rail_dgs.jpg"/>
          <p:cNvPicPr>
            <a:picLocks noChangeAspect="1"/>
          </p:cNvPicPr>
          <p:nvPr/>
        </p:nvPicPr>
        <p:blipFill>
          <a:blip r:embed="rId2"/>
          <a:stretch>
            <a:fillRect/>
          </a:stretch>
        </p:blipFill>
        <p:spPr>
          <a:xfrm>
            <a:off x="228600" y="228600"/>
            <a:ext cx="3200000" cy="6171400"/>
          </a:xfrm>
          <a:prstGeom prst="roundRect">
            <a:avLst>
              <a:gd name="adj" fmla="val 3600"/>
            </a:avLst>
          </a:prstGeom>
        </p:spPr>
      </p:pic>
      <p:sp>
        <p:nvSpPr>
          <p:cNvPr id="6" name="Rounded Rectangle 5"/>
          <p:cNvSpPr/>
          <p:nvPr/>
        </p:nvSpPr>
        <p:spPr>
          <a:xfrm>
            <a:off x="228600" y="228600"/>
            <a:ext cx="3200000" cy="6171400"/>
          </a:xfrm>
          <a:prstGeom prst="roundRect">
            <a:avLst>
              <a:gd name="adj" fmla="val 3600"/>
            </a:avLst>
          </a:prstGeom>
          <a:gradFill rotWithShape="1">
            <a:gsLst>
              <a:gs pos="0">
                <a:srgbClr val="000000">
                  <a:alpha val="68000"/>
                </a:srgbClr>
              </a:gs>
              <a:gs pos="45000">
                <a:srgbClr val="000000">
                  <a:alpha val="50000"/>
                </a:srgbClr>
              </a:gs>
              <a:gs pos="100000">
                <a:srgbClr val="000000">
                  <a:alpha val="82000"/>
                </a:srgbClr>
              </a:gs>
            </a:gsLst>
            <a:lin ang="5400000" scaled="0"/>
          </a:gradFill>
          <a:ln>
            <a:noFill/>
          </a:ln>
        </p:spPr>
        <p:txBody>
          <a:bodyPr rtlCol="0" anchor="ctr"/>
          <a:lstStyle/>
          <a:p>
            <a:pPr algn="ctr"/>
            <a:endParaRPr/>
          </a:p>
        </p:txBody>
      </p:sp>
      <p:sp>
        <p:nvSpPr>
          <p:cNvPr id="7" name="Rounded Rectangle 6"/>
          <p:cNvSpPr/>
          <p:nvPr/>
        </p:nvSpPr>
        <p:spPr>
          <a:xfrm>
            <a:off x="378600" y="378600"/>
            <a:ext cx="2900000" cy="2050000"/>
          </a:xfrm>
          <a:prstGeom prst="roundRect">
            <a:avLst>
              <a:gd name="adj" fmla="val 5000"/>
            </a:avLst>
          </a:prstGeom>
          <a:solidFill>
            <a:srgbClr val="000000">
              <a:alpha val="62000"/>
            </a:srgbClr>
          </a:solidFill>
          <a:ln>
            <a:noFill/>
          </a:ln>
        </p:spPr>
        <p:txBody>
          <a:bodyPr rtlCol="0" anchor="ctr"/>
          <a:lstStyle/>
          <a:p>
            <a:pPr algn="ctr"/>
            <a:endParaRPr/>
          </a:p>
        </p:txBody>
      </p:sp>
      <p:sp>
        <p:nvSpPr>
          <p:cNvPr id="3" name="Title 2"/>
          <p:cNvSpPr>
            <a:spLocks noGrp="1"/>
          </p:cNvSpPr>
          <p:nvPr>
            <p:ph type="title"/>
          </p:nvPr>
        </p:nvSpPr>
        <p:spPr>
          <a:xfrm>
            <a:off x="508600" y="868600"/>
            <a:ext cx="2640000" cy="2300000"/>
          </a:xfrm>
        </p:spPr>
        <p:txBody>
          <a:bodyPr/>
          <a:lstStyle/>
          <a:p>
            <a:r>
              <a:rPr sz="2000">
                <a:solidFill>
                  <a:srgbClr val="FFFFFF"/>
                </a:solidFill>
              </a:rPr>
              <a:t>DGS Leadership Transition: Update</a:t>
            </a:r>
          </a:p>
        </p:txBody>
      </p:sp>
      <p:sp>
        <p:nvSpPr>
          <p:cNvPr id="4" name="Text Placeholder 3"/>
          <p:cNvSpPr>
            <a:spLocks noGrp="1"/>
          </p:cNvSpPr>
          <p:nvPr>
            <p:ph type="body" sz="quarter" idx="12"/>
          </p:nvPr>
        </p:nvSpPr>
        <p:spPr>
          <a:xfrm>
            <a:off x="508600" y="558600"/>
            <a:ext cx="2640000" cy="182880"/>
          </a:xfrm>
        </p:spPr>
        <p:txBody>
          <a:bodyPr/>
          <a:lstStyle/>
          <a:p>
            <a:r>
              <a:rPr dirty="0">
                <a:solidFill>
                  <a:srgbClr val="0391F2"/>
                </a:solidFill>
              </a:rPr>
              <a:t>OPS PRIORITIES</a:t>
            </a:r>
          </a:p>
        </p:txBody>
      </p:sp>
      <p:sp>
        <p:nvSpPr>
          <p:cNvPr id="8" name="Rounded Rectangle 7"/>
          <p:cNvSpPr/>
          <p:nvPr/>
        </p:nvSpPr>
        <p:spPr>
          <a:xfrm>
            <a:off x="508600" y="5340000"/>
            <a:ext cx="2640000" cy="780000"/>
          </a:xfrm>
          <a:prstGeom prst="roundRect">
            <a:avLst>
              <a:gd name="adj" fmla="val 28000"/>
            </a:avLst>
          </a:prstGeom>
          <a:solidFill>
            <a:srgbClr val="000000">
              <a:alpha val="72000"/>
            </a:srgbClr>
          </a:solidFill>
          <a:ln w="9525">
            <a:solidFill>
              <a:srgbClr val="FFFFFF">
                <a:alpha val="45000"/>
              </a:srgbClr>
            </a:solidFill>
          </a:ln>
        </p:spPr>
        <p:txBody>
          <a:bodyPr wrap="square" lIns="150000" rIns="120000" rtlCol="0" anchor="ctr"/>
          <a:lstStyle/>
          <a:p>
            <a:pPr algn="l"/>
            <a:r>
              <a:rPr sz="1050" b="1" i="0">
                <a:solidFill>
                  <a:srgbClr val="FFFFFF"/>
                </a:solidFill>
              </a:rPr>
              <a:t>Owner(s)</a:t>
            </a:r>
          </a:p>
          <a:p>
            <a:pPr algn="l"/>
            <a:r>
              <a:rPr sz="900" b="0" i="0">
                <a:solidFill>
                  <a:srgbClr val="D6D6DF"/>
                </a:solidFill>
              </a:rPr>
              <a:t>Missy Foristall, Adam Organ</a:t>
            </a:r>
          </a:p>
        </p:txBody>
      </p:sp>
      <p:sp>
        <p:nvSpPr>
          <p:cNvPr id="9" name="Rounded Rectangle 8"/>
          <p:cNvSpPr/>
          <p:nvPr/>
        </p:nvSpPr>
        <p:spPr>
          <a:xfrm>
            <a:off x="3628600" y="228600"/>
            <a:ext cx="4092400" cy="34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82880" rIns="182880" bIns="54864" rtlCol="0" anchor="t"/>
          <a:lstStyle/>
          <a:p>
            <a:pPr algn="l">
              <a:spcAft>
                <a:spcPts val="600"/>
              </a:spcAft>
            </a:pPr>
            <a:r>
              <a:rPr sz="1100" b="1" i="0" cap="all" spc="60">
                <a:solidFill>
                  <a:srgbClr val="000000"/>
                </a:solidFill>
              </a:rPr>
              <a:t>What has been accomplished</a:t>
            </a:r>
          </a:p>
          <a:p>
            <a:pPr algn="l">
              <a:spcAft>
                <a:spcPts val="500"/>
              </a:spcAft>
            </a:pPr>
            <a:r>
              <a:rPr sz="1300" b="0" i="1">
                <a:solidFill>
                  <a:srgbClr val="60607D"/>
                </a:solidFill>
              </a:rPr>
              <a:t>[Put here: what got done since last time. Use dates, not "recently". Why: shows real progress.]</a:t>
            </a:r>
          </a:p>
        </p:txBody>
      </p:sp>
      <p:sp>
        <p:nvSpPr>
          <p:cNvPr id="10" name="Rounded Rectangle 9"/>
          <p:cNvSpPr/>
          <p:nvPr/>
        </p:nvSpPr>
        <p:spPr>
          <a:xfrm>
            <a:off x="7871000" y="228600"/>
            <a:ext cx="4092400" cy="34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82880" rIns="182880" bIns="54864" rtlCol="0" anchor="t"/>
          <a:lstStyle/>
          <a:p>
            <a:pPr algn="l">
              <a:spcAft>
                <a:spcPts val="600"/>
              </a:spcAft>
            </a:pPr>
            <a:r>
              <a:rPr sz="1100" b="1" i="0" cap="all" spc="60">
                <a:solidFill>
                  <a:srgbClr val="000000"/>
                </a:solidFill>
              </a:rPr>
              <a:t>Next milestones</a:t>
            </a:r>
          </a:p>
          <a:p>
            <a:pPr algn="l">
              <a:spcAft>
                <a:spcPts val="500"/>
              </a:spcAft>
            </a:pPr>
            <a:r>
              <a:rPr sz="1300" b="0" i="1">
                <a:solidFill>
                  <a:srgbClr val="60607D"/>
                </a:solidFill>
              </a:rPr>
              <a:t>[Put here: what happens next, and by when. Why: people can hold us to it.]</a:t>
            </a:r>
          </a:p>
        </p:txBody>
      </p:sp>
      <p:sp>
        <p:nvSpPr>
          <p:cNvPr id="11" name="Rounded Rectangle 10"/>
          <p:cNvSpPr/>
          <p:nvPr/>
        </p:nvSpPr>
        <p:spPr>
          <a:xfrm>
            <a:off x="3628600" y="3778600"/>
            <a:ext cx="8334800" cy="2621400"/>
          </a:xfrm>
          <a:prstGeom prst="roundRect">
            <a:avLst>
              <a:gd name="adj" fmla="val 2400"/>
            </a:avLst>
          </a:prstGeom>
          <a:solidFill>
            <a:srgbClr val="000000"/>
          </a:solidFill>
          <a:ln>
            <a:noFill/>
          </a:ln>
          <a:effectLst>
            <a:outerShdw blurRad="190500" dist="50800" dir="5400000" algn="t" rotWithShape="0">
              <a:srgbClr val="000000">
                <a:alpha val="13000"/>
              </a:srgbClr>
            </a:outerShdw>
          </a:effectLst>
        </p:spPr>
        <p:txBody>
          <a:bodyPr wrap="square" lIns="210312" tIns="182880" rIns="182880" bIns="54864" rtlCol="0" anchor="t"/>
          <a:lstStyle/>
          <a:p>
            <a:pPr algn="l">
              <a:spcAft>
                <a:spcPts val="600"/>
              </a:spcAft>
            </a:pPr>
            <a:r>
              <a:rPr sz="1100" b="1" i="0" cap="all" spc="60">
                <a:solidFill>
                  <a:srgbClr val="D6D6DF"/>
                </a:solidFill>
              </a:rPr>
              <a:t>What is in our way / what we need from you</a:t>
            </a:r>
          </a:p>
          <a:p>
            <a:pPr algn="l">
              <a:spcAft>
                <a:spcPts val="500"/>
              </a:spcAft>
            </a:pPr>
            <a:r>
              <a:rPr sz="1300" b="0" i="1">
                <a:solidFill>
                  <a:srgbClr val="D6D6DF"/>
                </a:solidFill>
              </a:rPr>
              <a:t>[Put here: what is blocking us, and what we need from you. Say who, and by when. Why: this is how leaders can help.]</a:t>
            </a:r>
          </a:p>
        </p:txBody>
      </p:sp>
      <p:sp>
        <p:nvSpPr>
          <p:cNvPr id="12" name="Rounded Rectangle 11"/>
          <p:cNvSpPr/>
          <p:nvPr/>
        </p:nvSpPr>
        <p:spPr>
          <a:xfrm>
            <a:off x="508600" y="4920000"/>
            <a:ext cx="2640000" cy="330000"/>
          </a:xfrm>
          <a:prstGeom prst="roundRect">
            <a:avLst>
              <a:gd name="adj" fmla="val 28000"/>
            </a:avLst>
          </a:prstGeom>
          <a:solidFill>
            <a:srgbClr val="000000">
              <a:alpha val="72000"/>
            </a:srgbClr>
          </a:solidFill>
          <a:ln w="9525">
            <a:solidFill>
              <a:srgbClr val="FFFFFF">
                <a:alpha val="45000"/>
              </a:srgbClr>
            </a:solidFill>
          </a:ln>
        </p:spPr>
        <p:txBody>
          <a:bodyPr wrap="square" lIns="150000" tIns="20000" rIns="120000" bIns="20000" rtlCol="0" anchor="ctr"/>
          <a:lstStyle/>
          <a:p>
            <a:pPr algn="l"/>
            <a:r>
              <a:rPr sz="900" b="1" i="0">
                <a:solidFill>
                  <a:srgbClr val="FFFFFF"/>
                </a:solidFill>
              </a:rPr>
              <a:t>Last updated: </a:t>
            </a:r>
            <a:r>
              <a:rPr sz="900" b="0" i="1">
                <a:solidFill>
                  <a:srgbClr val="D6D6DF"/>
                </a:solidFill>
              </a:rPr>
              <a:t>[date]</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pic>
        <p:nvPicPr>
          <p:cNvPr id="5" name="Picture 4" descr="f_hero_dgs.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endParaRP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DGS Leadership Transition</a:t>
            </a:r>
          </a:p>
        </p:txBody>
      </p:sp>
      <p:sp>
        <p:nvSpPr>
          <p:cNvPr id="4" name="Text Placeholder 3"/>
          <p:cNvSpPr>
            <a:spLocks noGrp="1"/>
          </p:cNvSpPr>
          <p:nvPr>
            <p:ph type="body" sz="quarter" idx="12"/>
          </p:nvPr>
        </p:nvSpPr>
        <p:spPr>
          <a:xfrm>
            <a:off x="457200" y="170000"/>
            <a:ext cx="8000000" cy="182880"/>
          </a:xfrm>
        </p:spPr>
        <p:txBody>
          <a:bodyPr/>
          <a:lstStyle/>
          <a:p>
            <a:r>
              <a:rPr>
                <a:solidFill>
                  <a:srgbClr val="0391F2"/>
                </a:solidFill>
              </a:rPr>
              <a:t>DGS LEADERSHIP TRANSITION · UNDERSTANDING NAAZNEEN’S ROLE AND PLANNING FOR THE FUTURE</a:t>
            </a:r>
          </a:p>
        </p:txBody>
      </p:sp>
      <p:sp>
        <p:nvSpPr>
          <p:cNvPr id="7" name="Rounded Rectangle 6"/>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wrap="square" lIns="150000" rIns="120000" rtlCol="0" anchor="ctr"/>
          <a:lstStyle/>
          <a:p>
            <a:pPr algn="l"/>
            <a:r>
              <a:rPr sz="1050" b="1" i="0">
                <a:solidFill>
                  <a:srgbClr val="FFFFFF"/>
                </a:solidFill>
              </a:rPr>
              <a:t>Owner(s)</a:t>
            </a:r>
          </a:p>
          <a:p>
            <a:pPr algn="l"/>
            <a:r>
              <a:rPr sz="900" b="0" i="0">
                <a:solidFill>
                  <a:srgbClr val="D6D6DF"/>
                </a:solidFill>
              </a:rPr>
              <a:t>Missy Foristall, Adam Organ</a:t>
            </a:r>
          </a:p>
        </p:txBody>
      </p:sp>
      <p:sp>
        <p:nvSpPr>
          <p:cNvPr id="8" name="Rounded Rectangle 7"/>
          <p:cNvSpPr/>
          <p:nvPr/>
        </p:nvSpPr>
        <p:spPr>
          <a:xfrm>
            <a:off x="457200" y="2166696"/>
            <a:ext cx="2706900" cy="3273653"/>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000000"/>
                </a:solidFill>
              </a:rPr>
              <a:t>Mapping Naazneen</a:t>
            </a:r>
          </a:p>
          <a:p>
            <a:pPr algn="l">
              <a:spcAft>
                <a:spcPts val="500"/>
              </a:spcAft>
            </a:pPr>
            <a:r>
              <a:rPr sz="1150" b="0" i="0">
                <a:solidFill>
                  <a:srgbClr val="000000"/>
                </a:solidFill>
              </a:rPr>
              <a:t>Over the course of the trip I completed more than 30 intake interviews across DGS team members.  We covered:</a:t>
            </a:r>
          </a:p>
          <a:p>
            <a:pPr marL="171450" indent="-171450" algn="l">
              <a:spcAft>
                <a:spcPts val="500"/>
              </a:spcAft>
              <a:buFont typeface="Arial"/>
              <a:buChar char="•"/>
            </a:pPr>
            <a:r>
              <a:rPr sz="1150" b="0" i="0">
                <a:solidFill>
                  <a:srgbClr val="000000"/>
                </a:solidFill>
              </a:rPr>
              <a:t>Our ways of working</a:t>
            </a:r>
          </a:p>
          <a:p>
            <a:pPr marL="171450" indent="-171450" algn="l">
              <a:spcAft>
                <a:spcPts val="500"/>
              </a:spcAft>
              <a:buFont typeface="Arial"/>
              <a:buChar char="•"/>
            </a:pPr>
            <a:r>
              <a:rPr sz="1150" b="0" i="0">
                <a:solidFill>
                  <a:srgbClr val="000000"/>
                </a:solidFill>
              </a:rPr>
              <a:t>How resources are identified</a:t>
            </a:r>
          </a:p>
          <a:p>
            <a:pPr marL="171450" indent="-171450" algn="l">
              <a:spcAft>
                <a:spcPts val="500"/>
              </a:spcAft>
              <a:buFont typeface="Arial"/>
              <a:buChar char="•"/>
            </a:pPr>
            <a:r>
              <a:rPr sz="1150" b="0" i="0">
                <a:solidFill>
                  <a:srgbClr val="000000"/>
                </a:solidFill>
              </a:rPr>
              <a:t>How the are trained and deployed</a:t>
            </a:r>
          </a:p>
          <a:p>
            <a:pPr marL="171450" indent="-171450" algn="l">
              <a:spcAft>
                <a:spcPts val="500"/>
              </a:spcAft>
              <a:buFont typeface="Arial"/>
              <a:buChar char="•"/>
            </a:pPr>
            <a:r>
              <a:rPr sz="1150" b="0" i="0">
                <a:solidFill>
                  <a:srgbClr val="000000"/>
                </a:solidFill>
              </a:rPr>
              <a:t>How the build their careers</a:t>
            </a:r>
          </a:p>
        </p:txBody>
      </p:sp>
      <p:sp>
        <p:nvSpPr>
          <p:cNvPr id="9" name="Rounded Rectangle 8"/>
          <p:cNvSpPr/>
          <p:nvPr/>
        </p:nvSpPr>
        <p:spPr>
          <a:xfrm>
            <a:off x="3314100" y="2166696"/>
            <a:ext cx="2706900" cy="3273653"/>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000000"/>
                </a:solidFill>
              </a:rPr>
              <a:t>Understanding how they support CXM</a:t>
            </a:r>
          </a:p>
          <a:p>
            <a:pPr algn="l">
              <a:spcAft>
                <a:spcPts val="500"/>
              </a:spcAft>
            </a:pPr>
            <a:r>
              <a:rPr sz="1150" b="0" i="0">
                <a:solidFill>
                  <a:srgbClr val="000000"/>
                </a:solidFill>
              </a:rPr>
              <a:t>They view the US as a market, they don’t see the business units per se.  Which lead to conversations around:</a:t>
            </a:r>
          </a:p>
          <a:p>
            <a:pPr marL="171450" indent="-171450" algn="l">
              <a:spcAft>
                <a:spcPts val="500"/>
              </a:spcAft>
              <a:buFont typeface="Arial"/>
              <a:buChar char="•"/>
            </a:pPr>
            <a:r>
              <a:rPr sz="1150" b="0" i="0">
                <a:solidFill>
                  <a:srgbClr val="000000"/>
                </a:solidFill>
              </a:rPr>
              <a:t>They other markets and how they operate.</a:t>
            </a:r>
          </a:p>
          <a:p>
            <a:pPr marL="171450" indent="-171450" algn="l">
              <a:spcAft>
                <a:spcPts val="500"/>
              </a:spcAft>
              <a:buFont typeface="Arial"/>
              <a:buChar char="•"/>
            </a:pPr>
            <a:r>
              <a:rPr sz="1150" b="0" i="0">
                <a:solidFill>
                  <a:srgbClr val="000000"/>
                </a:solidFill>
              </a:rPr>
              <a:t>Organic projects beyond the markets</a:t>
            </a:r>
          </a:p>
          <a:p>
            <a:pPr marL="171450" indent="-171450" algn="l">
              <a:spcAft>
                <a:spcPts val="500"/>
              </a:spcAft>
              <a:buFont typeface="Arial"/>
              <a:buChar char="•"/>
            </a:pPr>
            <a:r>
              <a:rPr sz="1150" b="0" i="0">
                <a:solidFill>
                  <a:srgbClr val="000000"/>
                </a:solidFill>
              </a:rPr>
              <a:t>How they create craft communities</a:t>
            </a:r>
          </a:p>
        </p:txBody>
      </p:sp>
      <p:sp>
        <p:nvSpPr>
          <p:cNvPr id="10" name="Rounded Rectangle 9"/>
          <p:cNvSpPr/>
          <p:nvPr/>
        </p:nvSpPr>
        <p:spPr>
          <a:xfrm>
            <a:off x="6171000" y="2166696"/>
            <a:ext cx="2706900" cy="3273653"/>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000000"/>
                </a:solidFill>
              </a:rPr>
              <a:t>An interim model</a:t>
            </a:r>
          </a:p>
          <a:p>
            <a:pPr algn="l">
              <a:spcAft>
                <a:spcPts val="500"/>
              </a:spcAft>
            </a:pPr>
            <a:r>
              <a:rPr sz="1150" b="0" i="0">
                <a:solidFill>
                  <a:srgbClr val="000000"/>
                </a:solidFill>
              </a:rPr>
              <a:t>Naazneen’s departure creates a sizable hole in the business, but she has a good team of lieutenants.</a:t>
            </a:r>
          </a:p>
          <a:p>
            <a:pPr marL="171450" indent="-171450" algn="l">
              <a:spcAft>
                <a:spcPts val="500"/>
              </a:spcAft>
              <a:buFont typeface="Arial"/>
              <a:buChar char="•"/>
            </a:pPr>
            <a:r>
              <a:rPr sz="1150" b="0" i="0">
                <a:solidFill>
                  <a:srgbClr val="000000"/>
                </a:solidFill>
              </a:rPr>
              <a:t>An interim model leveraging her lieutenants has been identified</a:t>
            </a:r>
          </a:p>
          <a:p>
            <a:pPr marL="171450" indent="-171450" algn="l">
              <a:spcAft>
                <a:spcPts val="500"/>
              </a:spcAft>
              <a:buFont typeface="Arial"/>
              <a:buChar char="•"/>
            </a:pPr>
            <a:r>
              <a:rPr sz="1150" b="0" i="0">
                <a:solidFill>
                  <a:srgbClr val="000000"/>
                </a:solidFill>
              </a:rPr>
              <a:t>Ongoing interviews for Naaz’s backfill.</a:t>
            </a:r>
          </a:p>
          <a:p>
            <a:pPr marL="171450" indent="-171450" algn="l">
              <a:spcAft>
                <a:spcPts val="500"/>
              </a:spcAft>
              <a:buFont typeface="Arial"/>
              <a:buChar char="•"/>
            </a:pPr>
            <a:r>
              <a:rPr sz="1150" b="0" i="0">
                <a:solidFill>
                  <a:srgbClr val="000000"/>
                </a:solidFill>
              </a:rPr>
              <a:t>Could be sometime in Q1 before the role I filled</a:t>
            </a:r>
          </a:p>
        </p:txBody>
      </p:sp>
      <p:sp>
        <p:nvSpPr>
          <p:cNvPr id="11" name="Rounded Rectangle 10"/>
          <p:cNvSpPr/>
          <p:nvPr/>
        </p:nvSpPr>
        <p:spPr>
          <a:xfrm>
            <a:off x="9027900" y="2166696"/>
            <a:ext cx="2706900" cy="3273653"/>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000000"/>
                </a:solidFill>
              </a:rPr>
              <a:t>Back to India</a:t>
            </a:r>
          </a:p>
          <a:p>
            <a:pPr algn="l">
              <a:spcAft>
                <a:spcPts val="500"/>
              </a:spcAft>
            </a:pPr>
            <a:r>
              <a:rPr sz="1150" b="0" i="0">
                <a:solidFill>
                  <a:srgbClr val="000000"/>
                </a:solidFill>
              </a:rPr>
              <a:t>In mid-November, we’ll make another trip to India.  This trip will include:</a:t>
            </a:r>
          </a:p>
          <a:p>
            <a:pPr marL="171450" indent="-171450" algn="l">
              <a:spcAft>
                <a:spcPts val="500"/>
              </a:spcAft>
              <a:buFont typeface="Arial"/>
              <a:buChar char="•"/>
            </a:pPr>
            <a:r>
              <a:rPr sz="1150" b="0" i="0">
                <a:solidFill>
                  <a:srgbClr val="000000"/>
                </a:solidFill>
              </a:rPr>
              <a:t>Key leaders from DBT, Missy and AO</a:t>
            </a:r>
          </a:p>
          <a:p>
            <a:pPr marL="171450" indent="-171450" algn="l">
              <a:spcAft>
                <a:spcPts val="500"/>
              </a:spcAft>
              <a:buFont typeface="Arial"/>
              <a:buChar char="•"/>
            </a:pPr>
            <a:r>
              <a:rPr sz="1150" b="0" i="0">
                <a:solidFill>
                  <a:srgbClr val="000000"/>
                </a:solidFill>
              </a:rPr>
              <a:t>Care and feeding of the team through the transition.</a:t>
            </a:r>
          </a:p>
          <a:p>
            <a:pPr marL="171450" indent="-171450" algn="l">
              <a:spcAft>
                <a:spcPts val="500"/>
              </a:spcAft>
              <a:buFont typeface="Arial"/>
              <a:buChar char="•"/>
            </a:pPr>
            <a:r>
              <a:rPr sz="1150" b="0" i="0">
                <a:solidFill>
                  <a:srgbClr val="000000"/>
                </a:solidFill>
              </a:rPr>
              <a:t>Building toward the future with our ways of working and staffing.</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pic>
        <p:nvPicPr>
          <p:cNvPr id="5" name="Picture 4" descr="f_hero_library.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endParaRP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Images: DGS Leadership Transition</a:t>
            </a:r>
          </a:p>
        </p:txBody>
      </p:sp>
      <p:sp>
        <p:nvSpPr>
          <p:cNvPr id="4" name="Text Placeholder 3"/>
          <p:cNvSpPr>
            <a:spLocks noGrp="1"/>
          </p:cNvSpPr>
          <p:nvPr>
            <p:ph type="body" sz="quarter" idx="12"/>
          </p:nvPr>
        </p:nvSpPr>
        <p:spPr>
          <a:xfrm>
            <a:off x="457200" y="170000"/>
            <a:ext cx="8000000" cy="182880"/>
          </a:xfrm>
        </p:spPr>
        <p:txBody>
          <a:bodyPr/>
          <a:lstStyle/>
          <a:p>
            <a:r>
              <a:rPr>
                <a:solidFill>
                  <a:srgbClr val="0391F2"/>
                </a:solidFill>
              </a:rPr>
              <a:t>HIDDEN SLIDE · IMAGES FOR THIS PRIORITY</a:t>
            </a:r>
          </a:p>
        </p:txBody>
      </p:sp>
      <p:sp>
        <p:nvSpPr>
          <p:cNvPr id="7" name="TextBox 6"/>
          <p:cNvSpPr txBox="1"/>
          <p:nvPr/>
        </p:nvSpPr>
        <p:spPr>
          <a:xfrm>
            <a:off x="457200" y="1150000"/>
            <a:ext cx="11277600" cy="411480"/>
          </a:xfrm>
          <a:prstGeom prst="rect">
            <a:avLst/>
          </a:prstGeom>
          <a:noFill/>
        </p:spPr>
        <p:txBody>
          <a:bodyPr wrap="square" lIns="0" rIns="0" tIns="0" bIns="0">
            <a:spAutoFit/>
          </a:bodyPr>
          <a:lstStyle/>
          <a:p>
            <a:r>
              <a:rPr sz="1100" b="0" i="0">
                <a:solidFill>
                  <a:srgbClr val="000000"/>
                </a:solidFill>
              </a:rPr>
              <a:t>One image for this priority. Use it on every slide of the priority: the divider, the header band, the update panel, and any split image or banner in a detail slide. This slide is hidden: it does not show when presenting.</a:t>
            </a:r>
          </a:p>
        </p:txBody>
      </p:sp>
      <p:sp>
        <p:nvSpPr>
          <p:cNvPr id="8" name="TextBox 7"/>
          <p:cNvSpPr txBox="1"/>
          <p:nvPr/>
        </p:nvSpPr>
        <p:spPr>
          <a:xfrm>
            <a:off x="457200" y="1627200"/>
            <a:ext cx="3474720" cy="201168"/>
          </a:xfrm>
          <a:prstGeom prst="rect">
            <a:avLst/>
          </a:prstGeom>
          <a:noFill/>
        </p:spPr>
        <p:txBody>
          <a:bodyPr wrap="square" lIns="0" rIns="0" tIns="0" bIns="0">
            <a:spAutoFit/>
          </a:bodyPr>
          <a:lstStyle/>
          <a:p>
            <a:r>
              <a:rPr sz="850" b="1" i="0" cap="all" spc="100">
                <a:solidFill>
                  <a:srgbClr val="60607D"/>
                </a:solidFill>
              </a:rPr>
              <a:t>Source image</a:t>
            </a:r>
          </a:p>
        </p:txBody>
      </p:sp>
      <p:pic>
        <p:nvPicPr>
          <p:cNvPr id="9" name="Picture 8" descr="f_img2_dgs_Sour.jpg"/>
          <p:cNvPicPr>
            <a:picLocks noChangeAspect="1"/>
          </p:cNvPicPr>
          <p:nvPr/>
        </p:nvPicPr>
        <p:blipFill>
          <a:blip r:embed="rId7"/>
          <a:stretch>
            <a:fillRect/>
          </a:stretch>
        </p:blipFill>
        <p:spPr>
          <a:xfrm>
            <a:off x="457200" y="1864944"/>
            <a:ext cx="3017520" cy="1828800"/>
          </a:xfrm>
          <a:prstGeom prst="rect">
            <a:avLst/>
          </a:prstGeom>
        </p:spPr>
      </p:pic>
      <p:sp>
        <p:nvSpPr>
          <p:cNvPr id="10" name="TextBox 9"/>
          <p:cNvSpPr txBox="1"/>
          <p:nvPr/>
        </p:nvSpPr>
        <p:spPr>
          <a:xfrm>
            <a:off x="3794760" y="1627200"/>
            <a:ext cx="3703320" cy="201168"/>
          </a:xfrm>
          <a:prstGeom prst="rect">
            <a:avLst/>
          </a:prstGeom>
          <a:noFill/>
        </p:spPr>
        <p:txBody>
          <a:bodyPr wrap="square" lIns="0" rIns="0" tIns="0" bIns="0">
            <a:spAutoFit/>
          </a:bodyPr>
          <a:lstStyle/>
          <a:p>
            <a:r>
              <a:rPr sz="850" b="1" i="0" cap="all" spc="100">
                <a:solidFill>
                  <a:srgbClr val="60607D"/>
                </a:solidFill>
              </a:rPr>
              <a:t>Divider</a:t>
            </a:r>
          </a:p>
        </p:txBody>
      </p:sp>
      <p:pic>
        <p:nvPicPr>
          <p:cNvPr id="11" name="Picture 10" descr="image.jpg"/>
          <p:cNvPicPr>
            <a:picLocks noChangeAspect="1"/>
          </p:cNvPicPr>
          <p:nvPr/>
        </p:nvPicPr>
        <p:blipFill>
          <a:blip r:embed="rId4"/>
          <a:stretch>
            <a:fillRect/>
          </a:stretch>
        </p:blipFill>
        <p:spPr>
          <a:xfrm>
            <a:off x="3794760" y="1864944"/>
            <a:ext cx="3246120" cy="1828800"/>
          </a:xfrm>
          <a:prstGeom prst="rect">
            <a:avLst/>
          </a:prstGeom>
        </p:spPr>
      </p:pic>
      <p:sp>
        <p:nvSpPr>
          <p:cNvPr id="12" name="TextBox 11"/>
          <p:cNvSpPr txBox="1"/>
          <p:nvPr/>
        </p:nvSpPr>
        <p:spPr>
          <a:xfrm>
            <a:off x="7360920" y="1627200"/>
            <a:ext cx="1435608" cy="201168"/>
          </a:xfrm>
          <a:prstGeom prst="rect">
            <a:avLst/>
          </a:prstGeom>
          <a:noFill/>
        </p:spPr>
        <p:txBody>
          <a:bodyPr wrap="square" lIns="0" rIns="0" tIns="0" bIns="0">
            <a:spAutoFit/>
          </a:bodyPr>
          <a:lstStyle/>
          <a:p>
            <a:r>
              <a:rPr sz="850" b="1" i="0" cap="all" spc="100">
                <a:solidFill>
                  <a:srgbClr val="60607D"/>
                </a:solidFill>
              </a:rPr>
              <a:t>Split image</a:t>
            </a:r>
          </a:p>
        </p:txBody>
      </p:sp>
      <p:pic>
        <p:nvPicPr>
          <p:cNvPr id="13" name="Picture 12" descr="f_img2_dgs_Spli.jpg"/>
          <p:cNvPicPr>
            <a:picLocks noChangeAspect="1"/>
          </p:cNvPicPr>
          <p:nvPr/>
        </p:nvPicPr>
        <p:blipFill>
          <a:blip r:embed="rId8"/>
          <a:stretch>
            <a:fillRect/>
          </a:stretch>
        </p:blipFill>
        <p:spPr>
          <a:xfrm>
            <a:off x="7360920" y="1864944"/>
            <a:ext cx="978408" cy="1828800"/>
          </a:xfrm>
          <a:prstGeom prst="rect">
            <a:avLst/>
          </a:prstGeom>
        </p:spPr>
      </p:pic>
      <p:sp>
        <p:nvSpPr>
          <p:cNvPr id="14" name="TextBox 13"/>
          <p:cNvSpPr txBox="1"/>
          <p:nvPr/>
        </p:nvSpPr>
        <p:spPr>
          <a:xfrm>
            <a:off x="8659368" y="1627200"/>
            <a:ext cx="1408176" cy="201168"/>
          </a:xfrm>
          <a:prstGeom prst="rect">
            <a:avLst/>
          </a:prstGeom>
          <a:noFill/>
        </p:spPr>
        <p:txBody>
          <a:bodyPr wrap="square" lIns="0" rIns="0" tIns="0" bIns="0">
            <a:spAutoFit/>
          </a:bodyPr>
          <a:lstStyle/>
          <a:p>
            <a:r>
              <a:rPr sz="850" b="1" i="0" cap="all" spc="100">
                <a:solidFill>
                  <a:srgbClr val="60607D"/>
                </a:solidFill>
              </a:rPr>
              <a:t>Update panel</a:t>
            </a:r>
          </a:p>
        </p:txBody>
      </p:sp>
      <p:pic>
        <p:nvPicPr>
          <p:cNvPr id="15" name="Picture 14" descr="image.jpg"/>
          <p:cNvPicPr>
            <a:picLocks noChangeAspect="1"/>
          </p:cNvPicPr>
          <p:nvPr/>
        </p:nvPicPr>
        <p:blipFill>
          <a:blip r:embed="rId5"/>
          <a:stretch>
            <a:fillRect/>
          </a:stretch>
        </p:blipFill>
        <p:spPr>
          <a:xfrm>
            <a:off x="8659368" y="1864944"/>
            <a:ext cx="950976" cy="1828800"/>
          </a:xfrm>
          <a:prstGeom prst="rect">
            <a:avLst/>
          </a:prstGeom>
        </p:spPr>
      </p:pic>
      <p:sp>
        <p:nvSpPr>
          <p:cNvPr id="16" name="TextBox 15"/>
          <p:cNvSpPr txBox="1"/>
          <p:nvPr/>
        </p:nvSpPr>
        <p:spPr>
          <a:xfrm>
            <a:off x="457200" y="3922344"/>
            <a:ext cx="2743200" cy="201168"/>
          </a:xfrm>
          <a:prstGeom prst="rect">
            <a:avLst/>
          </a:prstGeom>
          <a:noFill/>
        </p:spPr>
        <p:txBody>
          <a:bodyPr wrap="square" lIns="0" rIns="0" tIns="0" bIns="0">
            <a:spAutoFit/>
          </a:bodyPr>
          <a:lstStyle/>
          <a:p>
            <a:r>
              <a:rPr sz="850" b="1" i="0" cap="all" spc="100">
                <a:solidFill>
                  <a:srgbClr val="60607D"/>
                </a:solidFill>
              </a:rPr>
              <a:t>Header band</a:t>
            </a:r>
          </a:p>
        </p:txBody>
      </p:sp>
      <p:pic>
        <p:nvPicPr>
          <p:cNvPr id="17" name="Picture 16" descr="image.jpg"/>
          <p:cNvPicPr>
            <a:picLocks noChangeAspect="1"/>
          </p:cNvPicPr>
          <p:nvPr/>
        </p:nvPicPr>
        <p:blipFill>
          <a:blip r:embed="rId6"/>
          <a:stretch>
            <a:fillRect/>
          </a:stretch>
        </p:blipFill>
        <p:spPr>
          <a:xfrm>
            <a:off x="457200" y="4160088"/>
            <a:ext cx="6035040" cy="495000"/>
          </a:xfrm>
          <a:prstGeom prst="rect">
            <a:avLst/>
          </a:prstGeom>
        </p:spPr>
      </p:pic>
      <p:sp>
        <p:nvSpPr>
          <p:cNvPr id="18" name="TextBox 17"/>
          <p:cNvSpPr txBox="1"/>
          <p:nvPr/>
        </p:nvSpPr>
        <p:spPr>
          <a:xfrm>
            <a:off x="6949440" y="3922344"/>
            <a:ext cx="2743200" cy="201168"/>
          </a:xfrm>
          <a:prstGeom prst="rect">
            <a:avLst/>
          </a:prstGeom>
          <a:noFill/>
        </p:spPr>
        <p:txBody>
          <a:bodyPr wrap="square" lIns="0" rIns="0" tIns="0" bIns="0">
            <a:spAutoFit/>
          </a:bodyPr>
          <a:lstStyle/>
          <a:p>
            <a:r>
              <a:rPr sz="850" b="1" i="0" cap="all" spc="100">
                <a:solidFill>
                  <a:srgbClr val="60607D"/>
                </a:solidFill>
              </a:rPr>
              <a:t>Banner (flow with banner)</a:t>
            </a:r>
          </a:p>
        </p:txBody>
      </p:sp>
      <p:sp>
        <p:nvSpPr>
          <p:cNvPr id="19" name="TextBox 18"/>
          <p:cNvSpPr txBox="1"/>
          <p:nvPr/>
        </p:nvSpPr>
        <p:spPr>
          <a:xfrm>
            <a:off x="457200" y="5385384"/>
            <a:ext cx="11277600" cy="548640"/>
          </a:xfrm>
          <a:prstGeom prst="rect">
            <a:avLst/>
          </a:prstGeom>
          <a:noFill/>
        </p:spPr>
        <p:txBody>
          <a:bodyPr wrap="square" lIns="0" rIns="0" tIns="0" bIns="0">
            <a:spAutoFit/>
          </a:bodyPr>
          <a:lstStyle/>
          <a:p>
            <a:r>
              <a:rPr sz="1050" b="0" i="0">
                <a:solidFill>
                  <a:srgbClr val="60607D"/>
                </a:solidFill>
              </a:rPr>
              <a:t>Split image (full height): used by Split with points, Image and two phases, Six blocks and a takeaway, and Goal and three pillars. Banner: used by Flow with banner. Divider, header band and update panel: used on every slide in this priority.</a:t>
            </a:r>
          </a:p>
        </p:txBody>
      </p:sp>
      <p:pic>
        <p:nvPicPr>
          <p:cNvPr id="20" name="Picture 19" descr="f_img2_dgs_ban.jpg"/>
          <p:cNvPicPr>
            <a:picLocks noChangeAspect="1"/>
          </p:cNvPicPr>
          <p:nvPr/>
        </p:nvPicPr>
        <p:blipFill>
          <a:blip r:embed="rId9"/>
          <a:stretch>
            <a:fillRect/>
          </a:stretch>
        </p:blipFill>
        <p:spPr>
          <a:xfrm>
            <a:off x="6949440" y="4160088"/>
            <a:ext cx="4480560" cy="933450"/>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div_p3.jpg"/>
          <p:cNvPicPr>
            <a:picLocks noChangeAspect="1"/>
          </p:cNvPicPr>
          <p:nvPr/>
        </p:nvPicPr>
        <p:blipFill>
          <a:blip r:embed="rId2"/>
          <a:stretch>
            <a:fillRect/>
          </a:stretch>
        </p:blipFill>
        <p:spPr>
          <a:xfrm>
            <a:off x="0" y="0"/>
            <a:ext cx="12192000" cy="6858000"/>
          </a:xfrm>
          <a:prstGeom prst="rect">
            <a:avLst/>
          </a:prstGeom>
        </p:spPr>
      </p:pic>
      <p:sp>
        <p:nvSpPr>
          <p:cNvPr id="4" name="Rectangle 3"/>
          <p:cNvSpPr/>
          <p:nvPr/>
        </p:nvSpPr>
        <p:spPr>
          <a:xfrm>
            <a:off x="0" y="0"/>
            <a:ext cx="12192000" cy="6858000"/>
          </a:xfrm>
          <a:prstGeom prst="rect">
            <a:avLst/>
          </a:prstGeom>
          <a:gradFill rotWithShape="1">
            <a:gsLst>
              <a:gs pos="0">
                <a:srgbClr val="000000">
                  <a:alpha val="90000"/>
                </a:srgbClr>
              </a:gs>
              <a:gs pos="42000">
                <a:srgbClr val="000000">
                  <a:alpha val="58000"/>
                </a:srgbClr>
              </a:gs>
              <a:gs pos="100000">
                <a:srgbClr val="000000">
                  <a:alpha val="26000"/>
                </a:srgbClr>
              </a:gs>
            </a:gsLst>
            <a:lin ang="0" scaled="0"/>
          </a:gradFill>
          <a:ln>
            <a:noFill/>
          </a:ln>
        </p:spPr>
        <p:txBody>
          <a:bodyPr rtlCol="0" anchor="ctr"/>
          <a:lstStyle/>
          <a:p>
            <a:pPr algn="ctr"/>
            <a:endParaRPr/>
          </a:p>
        </p:txBody>
      </p:sp>
      <p:sp>
        <p:nvSpPr>
          <p:cNvPr id="5" name="Rectangle 4"/>
          <p:cNvSpPr/>
          <p:nvPr/>
        </p:nvSpPr>
        <p:spPr>
          <a:xfrm>
            <a:off x="0" y="0"/>
            <a:ext cx="12192000" cy="6858000"/>
          </a:xfrm>
          <a:prstGeom prst="rect">
            <a:avLst/>
          </a:prstGeom>
          <a:gradFill rotWithShape="1">
            <a:gsLst>
              <a:gs pos="0">
                <a:srgbClr val="000000">
                  <a:alpha val="0"/>
                </a:srgbClr>
              </a:gs>
              <a:gs pos="45000">
                <a:srgbClr val="000000">
                  <a:alpha val="10000"/>
                </a:srgbClr>
              </a:gs>
              <a:gs pos="100000">
                <a:srgbClr val="000000">
                  <a:alpha val="58000"/>
                </a:srgbClr>
              </a:gs>
            </a:gsLst>
            <a:lin ang="5400000" scaled="0"/>
          </a:gradFill>
          <a:ln>
            <a:noFill/>
          </a:ln>
        </p:spPr>
        <p:txBody>
          <a:bodyPr rtlCol="0" anchor="ctr"/>
          <a:lstStyle/>
          <a:p>
            <a:pPr algn="ctr"/>
            <a:endParaRPr/>
          </a:p>
        </p:txBody>
      </p:sp>
      <p:sp>
        <p:nvSpPr>
          <p:cNvPr id="8" name="Rounded Rectangle 7"/>
          <p:cNvSpPr/>
          <p:nvPr/>
        </p:nvSpPr>
        <p:spPr>
          <a:xfrm>
            <a:off x="640080" y="3510000"/>
            <a:ext cx="7300000" cy="2460000"/>
          </a:xfrm>
          <a:prstGeom prst="roundRect">
            <a:avLst>
              <a:gd name="adj" fmla="val 2500"/>
            </a:avLst>
          </a:prstGeom>
          <a:solidFill>
            <a:srgbClr val="000000">
              <a:alpha val="62000"/>
            </a:srgbClr>
          </a:solidFill>
          <a:ln>
            <a:noFill/>
          </a:ln>
        </p:spPr>
        <p:txBody>
          <a:bodyPr rtlCol="0" anchor="ctr"/>
          <a:lstStyle/>
          <a:p>
            <a:pPr algn="ctr"/>
            <a:endParaRPr/>
          </a:p>
        </p:txBody>
      </p:sp>
      <p:sp>
        <p:nvSpPr>
          <p:cNvPr id="2" name="Title 1"/>
          <p:cNvSpPr>
            <a:spLocks noGrp="1"/>
          </p:cNvSpPr>
          <p:nvPr>
            <p:ph type="title"/>
          </p:nvPr>
        </p:nvSpPr>
        <p:spPr>
          <a:xfrm>
            <a:off x="914400" y="1900000"/>
            <a:ext cx="6300000" cy="3000000"/>
          </a:xfrm>
        </p:spPr>
        <p:txBody>
          <a:bodyPr anchor="b"/>
          <a:lstStyle/>
          <a:p>
            <a:r>
              <a:rPr dirty="0"/>
              <a:t>Intake</a:t>
            </a:r>
          </a:p>
        </p:txBody>
      </p:sp>
      <p:sp>
        <p:nvSpPr>
          <p:cNvPr id="6" name="TextBox 5"/>
          <p:cNvSpPr txBox="1"/>
          <p:nvPr/>
        </p:nvSpPr>
        <p:spPr>
          <a:xfrm>
            <a:off x="914400" y="3740000"/>
            <a:ext cx="6000000" cy="260000"/>
          </a:xfrm>
          <a:prstGeom prst="rect">
            <a:avLst/>
          </a:prstGeom>
          <a:noFill/>
        </p:spPr>
        <p:txBody>
          <a:bodyPr wrap="square" lIns="0" rIns="0">
            <a:spAutoFit/>
          </a:bodyPr>
          <a:lstStyle/>
          <a:p>
            <a:pPr algn="l"/>
            <a:r>
              <a:rPr sz="1000" b="1" spc="200">
                <a:solidFill>
                  <a:srgbClr val="0391F2"/>
                </a:solidFill>
              </a:rPr>
              <a:t>CRITICAL ENABLERS</a:t>
            </a:r>
          </a:p>
        </p:txBody>
      </p:sp>
      <p:sp>
        <p:nvSpPr>
          <p:cNvPr id="7" name="TextBox 6"/>
          <p:cNvSpPr txBox="1"/>
          <p:nvPr/>
        </p:nvSpPr>
        <p:spPr>
          <a:xfrm>
            <a:off x="914400" y="5030000"/>
            <a:ext cx="6000000" cy="700000"/>
          </a:xfrm>
          <a:prstGeom prst="rect">
            <a:avLst/>
          </a:prstGeom>
          <a:noFill/>
        </p:spPr>
        <p:txBody>
          <a:bodyPr wrap="square" lIns="0" rIns="0">
            <a:spAutoFit/>
          </a:bodyPr>
          <a:lstStyle/>
          <a:p>
            <a:pPr algn="l"/>
            <a:r>
              <a:rPr sz="1000" b="1">
                <a:solidFill>
                  <a:srgbClr val="0391F2"/>
                </a:solidFill>
              </a:rPr>
              <a:t>Owner(s)</a:t>
            </a:r>
          </a:p>
          <a:p>
            <a:pPr algn="l"/>
            <a:r>
              <a:rPr sz="1400" i="0">
                <a:solidFill>
                  <a:srgbClr val="FFFFFF"/>
                </a:solidFill>
              </a:rPr>
              <a:t>Missy Foristall, Deana Derocha</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27" name="Picture 526" descr="hero_p3.jpg"/>
          <p:cNvPicPr>
            <a:picLocks noChangeAspect="1"/>
          </p:cNvPicPr>
          <p:nvPr/>
        </p:nvPicPr>
        <p:blipFill>
          <a:blip r:embed="rId2"/>
          <a:stretch>
            <a:fillRect/>
          </a:stretch>
        </p:blipFill>
        <p:spPr>
          <a:xfrm>
            <a:off x="0" y="0"/>
            <a:ext cx="12192000" cy="1000000"/>
          </a:xfrm>
          <a:prstGeom prst="rect">
            <a:avLst/>
          </a:prstGeom>
        </p:spPr>
      </p:pic>
      <p:sp>
        <p:nvSpPr>
          <p:cNvPr id="528" name="Rectangle 527"/>
          <p:cNvSpPr/>
          <p:nvPr/>
        </p:nvSpPr>
        <p:spPr>
          <a:xfrm>
            <a:off x="0" y="0"/>
            <a:ext cx="12192000" cy="1000000"/>
          </a:xfrm>
          <a:prstGeom prst="rect">
            <a:avLst/>
          </a:prstGeom>
          <a:gradFill rotWithShape="1">
            <a:gsLst>
              <a:gs pos="0">
                <a:srgbClr val="000000">
                  <a:alpha val="90000"/>
                </a:srgbClr>
              </a:gs>
              <a:gs pos="50000">
                <a:srgbClr val="000000">
                  <a:alpha val="74000"/>
                </a:srgbClr>
              </a:gs>
              <a:gs pos="100000">
                <a:srgbClr val="000000">
                  <a:alpha val="62000"/>
                </a:srgbClr>
              </a:gs>
            </a:gsLst>
            <a:lin ang="0" scaled="0"/>
          </a:gradFill>
          <a:ln>
            <a:noFill/>
          </a:ln>
        </p:spPr>
        <p:txBody>
          <a:bodyPr rtlCol="0" anchor="ctr"/>
          <a:lstStyle/>
          <a:p>
            <a:pPr algn="ctr"/>
            <a:endParaRPr/>
          </a:p>
        </p:txBody>
      </p:sp>
      <p:sp>
        <p:nvSpPr>
          <p:cNvPr id="8" name="Text Placeholder 7">
            <a:extLst>
              <a:ext uri="{FF2B5EF4-FFF2-40B4-BE49-F238E27FC236}">
                <a16:creationId xmlns:a16="http://schemas.microsoft.com/office/drawing/2014/main" id="{43A36069-C4E2-A327-FEBF-07750730ECEA}"/>
              </a:ext>
            </a:extLst>
          </p:cNvPr>
          <p:cNvSpPr>
            <a:spLocks noGrp="1"/>
          </p:cNvSpPr>
          <p:nvPr>
            <p:ph type="body" sz="quarter" idx="12"/>
          </p:nvPr>
        </p:nvSpPr>
        <p:spPr>
          <a:xfrm>
            <a:off x="457200" y="170000"/>
            <a:ext cx="8000000" cy="182880"/>
          </a:xfrm>
        </p:spPr>
        <p:txBody>
          <a:bodyPr>
            <a:noAutofit/>
          </a:bodyPr>
          <a:lstStyle/>
          <a:p>
            <a:r>
              <a:rPr lang="en-US" dirty="0">
                <a:solidFill>
                  <a:srgbClr val="0391F2"/>
                </a:solidFill>
              </a:rPr>
              <a:t>OPS PRIORITIES · EXEC SUMMARY</a:t>
            </a:r>
          </a:p>
        </p:txBody>
      </p:sp>
      <p:sp>
        <p:nvSpPr>
          <p:cNvPr id="21" name="Title 20">
            <a:extLst>
              <a:ext uri="{FF2B5EF4-FFF2-40B4-BE49-F238E27FC236}">
                <a16:creationId xmlns:a16="http://schemas.microsoft.com/office/drawing/2014/main" id="{50CCB795-307F-C643-C7C1-507D8B5B32EB}"/>
              </a:ext>
            </a:extLst>
          </p:cNvPr>
          <p:cNvSpPr>
            <a:spLocks noGrp="1"/>
          </p:cNvSpPr>
          <p:nvPr>
            <p:ph type="title"/>
          </p:nvPr>
        </p:nvSpPr>
        <p:spPr>
          <a:xfrm>
            <a:off x="457200" y="300000"/>
            <a:ext cx="8000000" cy="560000"/>
          </a:xfrm>
        </p:spPr>
        <p:txBody>
          <a:bodyPr>
            <a:noAutofit/>
          </a:bodyPr>
          <a:lstStyle/>
          <a:p>
            <a:r>
              <a:rPr lang="en-US" sz="2800" dirty="0">
                <a:solidFill>
                  <a:schemeClr val="bg1"/>
                </a:solidFill>
              </a:rPr>
              <a:t>Intake</a:t>
            </a:r>
          </a:p>
        </p:txBody>
      </p:sp>
      <p:sp>
        <p:nvSpPr>
          <p:cNvPr id="13" name="Rounded Rectangle 12">
            <a:extLst>
              <a:ext uri="{FF2B5EF4-FFF2-40B4-BE49-F238E27FC236}">
                <a16:creationId xmlns:a16="http://schemas.microsoft.com/office/drawing/2014/main" id="{5637A419-FF94-DBCB-082F-42BC6E7DAE00}"/>
              </a:ext>
            </a:extLst>
          </p:cNvPr>
          <p:cNvSpPr>
            <a:spLocks/>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wrap="square" lIns="150000" rIns="120000" rtlCol="0" anchor="ctr">
            <a:noAutofit/>
          </a:bodyPr>
          <a:lstStyle/>
          <a:p>
            <a:r>
              <a:rPr lang="en-US" sz="1050" b="1">
                <a:solidFill>
                  <a:srgbClr val="FFFFFF"/>
                </a:solidFill>
                <a:cs typeface="+mn-cs"/>
              </a:rPr>
              <a:t>Owner(s)</a:t>
            </a:r>
          </a:p>
          <a:p>
            <a:r>
              <a:rPr lang="en-US" sz="900" i="0">
                <a:solidFill>
                  <a:srgbClr val="FFFFFF"/>
                </a:solidFill>
                <a:cs typeface="+mn-cs"/>
              </a:rPr>
              <a:t>Missy Foristall, Deana Derocha</a:t>
            </a:r>
          </a:p>
        </p:txBody>
      </p:sp>
      <p:sp>
        <p:nvSpPr>
          <p:cNvPr id="522" name="Takeaway">
            <a:extLst>
              <a:ext uri="{FF2B5EF4-FFF2-40B4-BE49-F238E27FC236}">
                <a16:creationId xmlns:a16="http://schemas.microsoft.com/office/drawing/2014/main" id="{615D6856-4CC4-0C29-A8AF-F4BF58F532AB}"/>
              </a:ext>
            </a:extLst>
          </p:cNvPr>
          <p:cNvSpPr>
            <a:spLocks noGrp="1" noRot="1" noMove="1" noResize="1" noEditPoints="1" noAdjustHandles="1" noChangeArrowheads="1" noChangeShapeType="1"/>
          </p:cNvSpPr>
          <p:nvPr/>
        </p:nvSpPr>
        <p:spPr>
          <a:xfrm>
            <a:off x="457200" y="5510000"/>
            <a:ext cx="11277600" cy="890000"/>
          </a:xfrm>
          <a:prstGeom prst="roundRect">
            <a:avLst>
              <a:gd name="adj" fmla="val 6000"/>
            </a:avLst>
          </a:prstGeom>
          <a:solidFill>
            <a:srgbClr val="000000"/>
          </a:solidFill>
          <a:ln>
            <a:noFill/>
          </a:ln>
          <a:effectLst>
            <a:outerShdw blurRad="190500" dist="50800" dir="5400000" algn="t" rotWithShape="0">
              <a:srgbClr val="000000">
                <a:alpha val="13000"/>
              </a:srgbClr>
            </a:outerShdw>
          </a:effectLst>
        </p:spPr>
        <p:txBody>
          <a:bodyPr wrap="square" lIns="300000" tIns="70000" rIns="300000" bIns="70000" rtlCol="0" anchor="ctr">
            <a:noAutofit/>
          </a:bodyPr>
          <a:lstStyle/>
          <a:p>
            <a:pPr>
              <a:spcAft>
                <a:spcPts val="600"/>
              </a:spcAft>
            </a:pPr>
            <a:r>
              <a:rPr lang="en-US" sz="900" b="1">
                <a:solidFill>
                  <a:srgbClr val="D6D6DF"/>
                </a:solidFill>
              </a:rPr>
              <a:t>KEY TAKEAWAY</a:t>
            </a:r>
          </a:p>
          <a:p>
            <a:pPr marL="0" indent="0">
              <a:buNone/>
            </a:pPr>
            <a:r>
              <a:rPr lang="en-US" sz="1500" b="1">
                <a:solidFill>
                  <a:srgbClr val="FFFFFF"/>
                </a:solidFill>
              </a:rPr>
              <a:t>Upstream of Delivery Models: how a request even reaches the right people before it becomes a deal.</a:t>
            </a:r>
          </a:p>
        </p:txBody>
      </p:sp>
      <p:sp>
        <p:nvSpPr>
          <p:cNvPr id="523" name="Card 2026 GOAL">
            <a:extLst>
              <a:ext uri="{FF2B5EF4-FFF2-40B4-BE49-F238E27FC236}">
                <a16:creationId xmlns:a16="http://schemas.microsoft.com/office/drawing/2014/main" id="{615D6856-4CC4-0C29-A8AF-F4BF58F532AB}"/>
              </a:ext>
            </a:extLst>
          </p:cNvPr>
          <p:cNvSpPr>
            <a:spLocks noGrp="1" noRot="1" noMove="1" noResize="1" noEditPoints="1" noAdjustHandles="1" noChangeArrowheads="1" noChangeShapeType="1"/>
          </p:cNvSpPr>
          <p:nvPr/>
        </p:nvSpPr>
        <p:spPr>
          <a:xfrm>
            <a:off x="457200" y="1080000"/>
            <a:ext cx="5563800" cy="1950000"/>
          </a:xfrm>
          <a:prstGeom prst="roundRect">
            <a:avLst>
              <a:gd name="adj" fmla="val 3200"/>
            </a:avLst>
          </a:prstGeom>
          <a:solidFill>
            <a:srgbClr val="000000"/>
          </a:solidFill>
          <a:ln>
            <a:noFill/>
          </a:ln>
          <a:effectLst>
            <a:outerShdw blurRad="190500" dist="50800" dir="5400000" algn="t" rotWithShape="0">
              <a:srgbClr val="000000">
                <a:alpha val="13000"/>
              </a:srgbClr>
            </a:outerShdw>
          </a:effectLst>
        </p:spPr>
        <p:txBody>
          <a:bodyPr wrap="square" lIns="215000" tIns="170000" rIns="190000" bIns="60000" rtlCol="0" anchor="t">
            <a:noAutofit/>
          </a:bodyPr>
          <a:lstStyle/>
          <a:p>
            <a:pPr>
              <a:spcAft>
                <a:spcPts val="300"/>
              </a:spcAft>
            </a:pPr>
            <a:r>
              <a:rPr lang="en-US" sz="1200" b="1" dirty="0">
                <a:solidFill>
                  <a:srgbClr val="D6D6DF"/>
                </a:solidFill>
              </a:rPr>
              <a:t>2026 GOAL</a:t>
            </a:r>
          </a:p>
          <a:p>
            <a:pPr marL="0" indent="0">
              <a:spcAft>
                <a:spcPts val="300"/>
              </a:spcAft>
              <a:buNone/>
            </a:pPr>
            <a:r>
              <a:rPr lang="en-US" sz="1000" i="1" dirty="0">
                <a:solidFill>
                  <a:srgbClr val="000000"/>
                </a:solidFill>
                <a:highlight>
                  <a:srgbClr val="FFFF00"/>
                </a:highlight>
              </a:rPr>
              <a:t>[Enter 2026 goal, and what it means in practice]</a:t>
            </a:r>
          </a:p>
        </p:txBody>
      </p:sp>
      <p:sp>
        <p:nvSpPr>
          <p:cNvPr id="524" name="Card THE PROBLEM">
            <a:extLst>
              <a:ext uri="{FF2B5EF4-FFF2-40B4-BE49-F238E27FC236}">
                <a16:creationId xmlns:a16="http://schemas.microsoft.com/office/drawing/2014/main" id="{615D6856-4CC4-0C29-A8AF-F4BF58F532AB}"/>
              </a:ext>
            </a:extLst>
          </p:cNvPr>
          <p:cNvSpPr>
            <a:spLocks noGrp="1" noRot="1" noMove="1" noResize="1" noEditPoints="1" noAdjustHandles="1" noChangeArrowheads="1" noChangeShapeType="1"/>
          </p:cNvSpPr>
          <p:nvPr/>
        </p:nvSpPr>
        <p:spPr>
          <a:xfrm>
            <a:off x="6171000" y="1080000"/>
            <a:ext cx="5563800" cy="195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5000" tIns="170000" rIns="190000" bIns="60000" rtlCol="0" anchor="t">
            <a:noAutofit/>
          </a:bodyPr>
          <a:lstStyle/>
          <a:p>
            <a:pPr>
              <a:spcAft>
                <a:spcPts val="300"/>
              </a:spcAft>
            </a:pPr>
            <a:r>
              <a:rPr lang="en-US" sz="1200" b="1">
                <a:solidFill>
                  <a:srgbClr val="000000"/>
                </a:solidFill>
              </a:rPr>
              <a:t>THE PROBLEM</a:t>
            </a:r>
          </a:p>
          <a:p>
            <a:pPr marL="171450" indent="-171450">
              <a:spcAft>
                <a:spcPts val="300"/>
              </a:spcAft>
              <a:buFont typeface="Arial" panose="020B0604020202020204" pitchFamily="34" charset="0"/>
              <a:buChar char="•"/>
            </a:pPr>
            <a:r>
              <a:rPr lang="en-US" sz="1000"/>
              <a:t>Adoption has been slow: people still go to known individuals for help, cutting into BU visibility and our ability to help.</a:t>
            </a:r>
          </a:p>
          <a:p>
            <a:pPr marL="171450" indent="-171450">
              <a:spcAft>
                <a:spcPts val="300"/>
              </a:spcAft>
              <a:buFont typeface="Arial" panose="020B0604020202020204" pitchFamily="34" charset="0"/>
              <a:buChar char="•"/>
            </a:pPr>
            <a:r>
              <a:rPr lang="en-US" sz="1000"/>
              <a:t>C&amp;C has been informed of the alias and process.</a:t>
            </a:r>
          </a:p>
        </p:txBody>
      </p:sp>
      <p:sp>
        <p:nvSpPr>
          <p:cNvPr id="525" name="Card WHAT WE ARE CHANGING">
            <a:extLst>
              <a:ext uri="{FF2B5EF4-FFF2-40B4-BE49-F238E27FC236}">
                <a16:creationId xmlns:a16="http://schemas.microsoft.com/office/drawing/2014/main" id="{615D6856-4CC4-0C29-A8AF-F4BF58F532AB}"/>
              </a:ext>
            </a:extLst>
          </p:cNvPr>
          <p:cNvSpPr>
            <a:spLocks noGrp="1" noRot="1" noMove="1" noResize="1" noEditPoints="1" noAdjustHandles="1" noChangeArrowheads="1" noChangeShapeType="1"/>
          </p:cNvSpPr>
          <p:nvPr/>
        </p:nvSpPr>
        <p:spPr>
          <a:xfrm>
            <a:off x="457200" y="3130000"/>
            <a:ext cx="5563800" cy="22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5000" tIns="170000" rIns="190000" bIns="60000" rtlCol="0" anchor="t">
            <a:noAutofit/>
          </a:bodyPr>
          <a:lstStyle/>
          <a:p>
            <a:pPr>
              <a:spcAft>
                <a:spcPts val="300"/>
              </a:spcAft>
            </a:pPr>
            <a:r>
              <a:rPr lang="en-US" sz="1200" b="1">
                <a:solidFill>
                  <a:srgbClr val="000000"/>
                </a:solidFill>
              </a:rPr>
              <a:t>WHAT WE ARE CHANGING</a:t>
            </a:r>
          </a:p>
          <a:p>
            <a:pPr marL="171450" indent="-171450">
              <a:spcAft>
                <a:spcPts val="300"/>
              </a:spcAft>
              <a:buFont typeface="Arial" panose="020B0604020202020204" pitchFamily="34" charset="0"/>
              <a:buChar char="•"/>
            </a:pPr>
            <a:r>
              <a:rPr lang="en-US" sz="1000"/>
              <a:t>DDM_Opportunity and DBT_Opportunity are live, so requests reach the right BU SMEs without needing to know a matrix of names.</a:t>
            </a:r>
          </a:p>
          <a:p>
            <a:pPr marL="171450" indent="-171450">
              <a:spcAft>
                <a:spcPts val="300"/>
              </a:spcAft>
              <a:buFont typeface="Arial" panose="020B0604020202020204" pitchFamily="34" charset="0"/>
              <a:buChar char="•"/>
            </a:pPr>
            <a:r>
              <a:rPr lang="en-US" sz="1000"/>
              <a:t>Requests are reviewed and assigned to a lead within the BU. The lead gathers more info, pulls in solutioning support, and makes sure the request is handled: creds, calls, PT entry.</a:t>
            </a:r>
          </a:p>
          <a:p>
            <a:pPr marL="171450" indent="-171450">
              <a:spcAft>
                <a:spcPts val="300"/>
              </a:spcAft>
              <a:buFont typeface="Arial" panose="020B0604020202020204" pitchFamily="34" charset="0"/>
              <a:buChar char="•"/>
            </a:pPr>
            <a:r>
              <a:rPr lang="en-US" sz="1000"/>
              <a:t>SME Case Request in SF (10/16 target): covers deals under $500K, small ad-hoc projects, multi-person sprints, exec meetings, and case studies.</a:t>
            </a:r>
          </a:p>
          <a:p>
            <a:pPr marL="171450" indent="-171450">
              <a:spcAft>
                <a:spcPts val="300"/>
              </a:spcAft>
              <a:buFont typeface="Arial" panose="020B0604020202020204" pitchFamily="34" charset="0"/>
              <a:buChar char="•"/>
            </a:pPr>
            <a:r>
              <a:rPr lang="en-US" sz="1000"/>
              <a:t>RACI updates (11/1 estimated): clarify roles for everyone in intake.</a:t>
            </a:r>
          </a:p>
        </p:txBody>
      </p:sp>
      <p:sp>
        <p:nvSpPr>
          <p:cNvPr id="526" name="Card WHAT THIS UNLOCKS">
            <a:extLst>
              <a:ext uri="{FF2B5EF4-FFF2-40B4-BE49-F238E27FC236}">
                <a16:creationId xmlns:a16="http://schemas.microsoft.com/office/drawing/2014/main" id="{615D6856-4CC4-0C29-A8AF-F4BF58F532AB}"/>
              </a:ext>
            </a:extLst>
          </p:cNvPr>
          <p:cNvSpPr>
            <a:spLocks noGrp="1" noRot="1" noMove="1" noResize="1" noEditPoints="1" noAdjustHandles="1" noChangeArrowheads="1" noChangeShapeType="1"/>
          </p:cNvSpPr>
          <p:nvPr/>
        </p:nvSpPr>
        <p:spPr>
          <a:xfrm>
            <a:off x="6171000" y="3130000"/>
            <a:ext cx="5563800" cy="2280000"/>
          </a:xfrm>
          <a:prstGeom prst="roundRect">
            <a:avLst>
              <a:gd name="adj" fmla="val 3200"/>
            </a:avLst>
          </a:prstGeom>
          <a:solidFill>
            <a:srgbClr val="000000"/>
          </a:solidFill>
          <a:ln>
            <a:noFill/>
          </a:ln>
          <a:effectLst>
            <a:outerShdw blurRad="190500" dist="50800" dir="5400000" algn="t" rotWithShape="0">
              <a:srgbClr val="000000">
                <a:alpha val="13000"/>
              </a:srgbClr>
            </a:outerShdw>
          </a:effectLst>
        </p:spPr>
        <p:txBody>
          <a:bodyPr wrap="square" lIns="215000" tIns="170000" rIns="190000" bIns="60000" rtlCol="0" anchor="t">
            <a:noAutofit/>
          </a:bodyPr>
          <a:lstStyle/>
          <a:p>
            <a:pPr>
              <a:spcAft>
                <a:spcPts val="300"/>
              </a:spcAft>
            </a:pPr>
            <a:r>
              <a:rPr lang="en-US" sz="1200" b="1" dirty="0">
                <a:solidFill>
                  <a:srgbClr val="D6D6DF"/>
                </a:solidFill>
              </a:rPr>
              <a:t>WHAT THIS UNLOCKS</a:t>
            </a:r>
          </a:p>
          <a:p>
            <a:pPr marL="171450" indent="-171450">
              <a:spcAft>
                <a:spcPts val="300"/>
              </a:spcAft>
              <a:buFont typeface="Arial" panose="020B0604020202020204" pitchFamily="34" charset="0"/>
              <a:buChar char="•"/>
            </a:pPr>
            <a:r>
              <a:rPr lang="en-US" sz="1000" dirty="0">
                <a:solidFill>
                  <a:srgbClr val="FFFFFF"/>
                </a:solidFill>
              </a:rPr>
              <a:t>Requests get emailed to the right alias and land in a list for easy review and follow-up.</a:t>
            </a:r>
          </a:p>
          <a:p>
            <a:pPr marL="171450" indent="-171450">
              <a:spcAft>
                <a:spcPts val="300"/>
              </a:spcAft>
              <a:buFont typeface="Arial" panose="020B0604020202020204" pitchFamily="34" charset="0"/>
              <a:buChar char="•"/>
            </a:pPr>
            <a:r>
              <a:rPr lang="en-US" sz="1000" dirty="0">
                <a:solidFill>
                  <a:srgbClr val="FFFFFF"/>
                </a:solidFill>
              </a:rPr>
              <a:t>SME expertise comes in earlier, before the deal is shaped, which can lift our win rate on the deal volume we already capture.</a:t>
            </a:r>
          </a:p>
          <a:p>
            <a:pPr marL="171450" indent="-171450">
              <a:spcBef>
                <a:spcPts val="500"/>
              </a:spcBef>
              <a:spcAft>
                <a:spcPts val="300"/>
              </a:spcAft>
              <a:buFont typeface="Arial" panose="020B0604020202020204" pitchFamily="34" charset="0"/>
              <a:buChar char="•"/>
            </a:pPr>
            <a:r>
              <a:rPr lang="en-US" sz="1100" b="1" dirty="0">
                <a:solidFill>
                  <a:srgbClr val="D6D6DF"/>
                </a:solidFill>
              </a:rPr>
              <a:t>Beyond the MVP</a:t>
            </a:r>
          </a:p>
          <a:p>
            <a:pPr marL="0" indent="0">
              <a:spcAft>
                <a:spcPts val="300"/>
              </a:spcAft>
              <a:buNone/>
            </a:pPr>
            <a:r>
              <a:rPr lang="en-US" sz="1000" i="1" dirty="0">
                <a:solidFill>
                  <a:srgbClr val="000000"/>
                </a:solidFill>
                <a:highlight>
                  <a:srgbClr val="FFFF00"/>
                </a:highlight>
              </a:rPr>
              <a:t>[Enter what this makes possible next]</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27" name="Picture 526" descr="hero_p3.jpg"/>
          <p:cNvPicPr>
            <a:picLocks noChangeAspect="1"/>
          </p:cNvPicPr>
          <p:nvPr/>
        </p:nvPicPr>
        <p:blipFill>
          <a:blip r:embed="rId2"/>
          <a:stretch>
            <a:fillRect/>
          </a:stretch>
        </p:blipFill>
        <p:spPr>
          <a:xfrm>
            <a:off x="0" y="0"/>
            <a:ext cx="12192000" cy="1000000"/>
          </a:xfrm>
          <a:prstGeom prst="rect">
            <a:avLst/>
          </a:prstGeom>
        </p:spPr>
      </p:pic>
      <p:sp>
        <p:nvSpPr>
          <p:cNvPr id="528" name="Rectangle 527"/>
          <p:cNvSpPr/>
          <p:nvPr/>
        </p:nvSpPr>
        <p:spPr>
          <a:xfrm>
            <a:off x="0" y="0"/>
            <a:ext cx="12192000" cy="1000000"/>
          </a:xfrm>
          <a:prstGeom prst="rect">
            <a:avLst/>
          </a:prstGeom>
          <a:gradFill rotWithShape="1">
            <a:gsLst>
              <a:gs pos="0">
                <a:srgbClr val="000000">
                  <a:alpha val="90000"/>
                </a:srgbClr>
              </a:gs>
              <a:gs pos="50000">
                <a:srgbClr val="000000">
                  <a:alpha val="74000"/>
                </a:srgbClr>
              </a:gs>
              <a:gs pos="100000">
                <a:srgbClr val="000000">
                  <a:alpha val="62000"/>
                </a:srgbClr>
              </a:gs>
            </a:gsLst>
            <a:lin ang="0" scaled="0"/>
          </a:gradFill>
          <a:ln>
            <a:noFill/>
          </a:ln>
        </p:spPr>
        <p:txBody>
          <a:bodyPr rtlCol="0" anchor="ctr"/>
          <a:lstStyle/>
          <a:p>
            <a:pPr algn="ctr"/>
            <a:endParaRP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Why now</a:t>
            </a:r>
          </a:p>
        </p:txBody>
      </p:sp>
      <p:sp>
        <p:nvSpPr>
          <p:cNvPr id="4" name="Text Placeholder 3"/>
          <p:cNvSpPr>
            <a:spLocks noGrp="1"/>
          </p:cNvSpPr>
          <p:nvPr>
            <p:ph type="body" sz="quarter" idx="12"/>
          </p:nvPr>
        </p:nvSpPr>
        <p:spPr>
          <a:xfrm>
            <a:off x="457200" y="170000"/>
            <a:ext cx="8000000" cy="182880"/>
          </a:xfrm>
        </p:spPr>
        <p:txBody>
          <a:bodyPr/>
          <a:lstStyle/>
          <a:p>
            <a:r>
              <a:rPr dirty="0">
                <a:solidFill>
                  <a:srgbClr val="0391F2"/>
                </a:solidFill>
              </a:rPr>
              <a:t>INTAKE · CLICK-DOWN · THE PROBLEM</a:t>
            </a:r>
          </a:p>
        </p:txBody>
      </p:sp>
      <p:sp>
        <p:nvSpPr>
          <p:cNvPr id="13" name="Rounded Rectangle 12">
            <a:extLst>
              <a:ext uri="{FF2B5EF4-FFF2-40B4-BE49-F238E27FC236}">
                <a16:creationId xmlns:a16="http://schemas.microsoft.com/office/drawing/2014/main" id="{5637A419-FF94-DBCB-082F-42BC6E7DAE00}"/>
              </a:ext>
            </a:extLst>
          </p:cNvPr>
          <p:cNvSpPr>
            <a:spLocks/>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wrap="square" lIns="150000" rIns="120000" rtlCol="0" anchor="ctr">
            <a:noAutofit/>
          </a:bodyPr>
          <a:lstStyle/>
          <a:p>
            <a:r>
              <a:rPr lang="en-US" sz="1050" b="1">
                <a:solidFill>
                  <a:srgbClr val="FFFFFF"/>
                </a:solidFill>
                <a:cs typeface="+mn-cs"/>
              </a:rPr>
              <a:t>Owner(s)</a:t>
            </a:r>
          </a:p>
          <a:p>
            <a:r>
              <a:rPr lang="en-US" sz="900" i="0">
                <a:solidFill>
                  <a:srgbClr val="FFFFFF"/>
                </a:solidFill>
                <a:cs typeface="+mn-cs"/>
              </a:rPr>
              <a:t>Missy Foristall, Deana Derocha</a:t>
            </a:r>
          </a:p>
        </p:txBody>
      </p:sp>
      <p:sp>
        <p:nvSpPr>
          <p:cNvPr id="529" name="Rounded Rectangle 528"/>
          <p:cNvSpPr/>
          <p:nvPr/>
        </p:nvSpPr>
        <p:spPr>
          <a:xfrm>
            <a:off x="457200" y="1170000"/>
            <a:ext cx="11277600" cy="1250000"/>
          </a:xfrm>
          <a:prstGeom prst="roundRect">
            <a:avLst>
              <a:gd name="adj" fmla="val 3200"/>
            </a:avLst>
          </a:prstGeom>
          <a:solidFill>
            <a:srgbClr val="000000"/>
          </a:solidFill>
          <a:ln>
            <a:noFill/>
          </a:ln>
          <a:effectLst>
            <a:outerShdw blurRad="190500" dist="50800" dir="5400000" algn="t" rotWithShape="0">
              <a:srgbClr val="000000">
                <a:alpha val="13000"/>
              </a:srgbClr>
            </a:outerShdw>
          </a:effectLst>
        </p:spPr>
        <p:txBody>
          <a:bodyPr wrap="square" lIns="274320" tIns="109728" rIns="274320" bIns="73152" rtlCol="0" anchor="ctr"/>
          <a:lstStyle/>
          <a:p>
            <a:pPr algn="l">
              <a:spcAft>
                <a:spcPts val="500"/>
              </a:spcAft>
            </a:pPr>
            <a:r>
              <a:rPr sz="1600" b="0" i="1">
                <a:solidFill>
                  <a:srgbClr val="D6D6DF"/>
                </a:solidFill>
              </a:rPr>
              <a:t>[Put here: one or two sentences on why now. What does waiting cost us?]</a:t>
            </a:r>
          </a:p>
        </p:txBody>
      </p:sp>
      <p:sp>
        <p:nvSpPr>
          <p:cNvPr id="530" name="Rounded Rectangle 529"/>
          <p:cNvSpPr/>
          <p:nvPr/>
        </p:nvSpPr>
        <p:spPr>
          <a:xfrm>
            <a:off x="457200" y="2570000"/>
            <a:ext cx="6541008" cy="36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000000"/>
                </a:solidFill>
              </a:rPr>
              <a:t>What's happening today</a:t>
            </a:r>
          </a:p>
          <a:p>
            <a:pPr algn="l">
              <a:spcAft>
                <a:spcPts val="500"/>
              </a:spcAft>
            </a:pPr>
            <a:r>
              <a:rPr sz="1300" b="0" i="1">
                <a:solidFill>
                  <a:srgbClr val="60607D"/>
                </a:solidFill>
              </a:rPr>
              <a:t>[Put here: what is going on right now that makes this urgent. One bullet per point, add as many as you need.]</a:t>
            </a:r>
          </a:p>
          <a:p>
            <a:pPr algn="l">
              <a:spcAft>
                <a:spcPts val="500"/>
              </a:spcAft>
            </a:pPr>
            <a:r>
              <a:rPr sz="1300" b="0" i="1">
                <a:solidFill>
                  <a:srgbClr val="60607D"/>
                </a:solidFill>
              </a:rPr>
              <a:t>[Why: this is the reason to act now.]</a:t>
            </a:r>
          </a:p>
        </p:txBody>
      </p:sp>
      <p:sp>
        <p:nvSpPr>
          <p:cNvPr id="531" name="Rounded Rectangle 530"/>
          <p:cNvSpPr/>
          <p:nvPr/>
        </p:nvSpPr>
        <p:spPr>
          <a:xfrm>
            <a:off x="7148208" y="2570000"/>
            <a:ext cx="4586592" cy="3680000"/>
          </a:xfrm>
          <a:prstGeom prst="roundRect">
            <a:avLst>
              <a:gd name="adj" fmla="val 3200"/>
            </a:avLst>
          </a:prstGeom>
          <a:solidFill>
            <a:srgbClr val="000000"/>
          </a:solidFill>
          <a:ln>
            <a:no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D6D6DF"/>
                </a:solidFill>
              </a:rPr>
              <a:t>So we need</a:t>
            </a:r>
          </a:p>
          <a:p>
            <a:pPr algn="l">
              <a:spcAft>
                <a:spcPts val="500"/>
              </a:spcAft>
            </a:pPr>
            <a:r>
              <a:rPr sz="1300" b="0" i="1">
                <a:solidFill>
                  <a:srgbClr val="D6D6DF"/>
                </a:solidFill>
              </a:rPr>
              <a:t>[Put here: what has to happen or be decided. One bullet per ask.]</a:t>
            </a:r>
          </a:p>
          <a:p>
            <a:pPr algn="l">
              <a:spcAft>
                <a:spcPts val="500"/>
              </a:spcAft>
            </a:pPr>
            <a:r>
              <a:rPr sz="1300" b="0" i="1">
                <a:solidFill>
                  <a:srgbClr val="D6D6DF"/>
                </a:solidFill>
              </a:rPr>
              <a:t>[Why: this turns the worry into a clear ask.]</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27" name="Picture 526" descr="hero_p3.jpg"/>
          <p:cNvPicPr>
            <a:picLocks noChangeAspect="1"/>
          </p:cNvPicPr>
          <p:nvPr/>
        </p:nvPicPr>
        <p:blipFill>
          <a:blip r:embed="rId2"/>
          <a:stretch>
            <a:fillRect/>
          </a:stretch>
        </p:blipFill>
        <p:spPr>
          <a:xfrm>
            <a:off x="0" y="0"/>
            <a:ext cx="12192000" cy="1000000"/>
          </a:xfrm>
          <a:prstGeom prst="rect">
            <a:avLst/>
          </a:prstGeom>
        </p:spPr>
      </p:pic>
      <p:sp>
        <p:nvSpPr>
          <p:cNvPr id="528" name="Rectangle 527"/>
          <p:cNvSpPr/>
          <p:nvPr/>
        </p:nvSpPr>
        <p:spPr>
          <a:xfrm>
            <a:off x="0" y="0"/>
            <a:ext cx="12192000" cy="1000000"/>
          </a:xfrm>
          <a:prstGeom prst="rect">
            <a:avLst/>
          </a:prstGeom>
          <a:gradFill rotWithShape="1">
            <a:gsLst>
              <a:gs pos="0">
                <a:srgbClr val="000000">
                  <a:alpha val="90000"/>
                </a:srgbClr>
              </a:gs>
              <a:gs pos="50000">
                <a:srgbClr val="000000">
                  <a:alpha val="74000"/>
                </a:srgbClr>
              </a:gs>
              <a:gs pos="100000">
                <a:srgbClr val="000000">
                  <a:alpha val="62000"/>
                </a:srgbClr>
              </a:gs>
            </a:gsLst>
            <a:lin ang="0" scaled="0"/>
          </a:gradFill>
          <a:ln>
            <a:noFill/>
          </a:ln>
        </p:spPr>
        <p:txBody>
          <a:bodyPr rtlCol="0" anchor="ctr"/>
          <a:lstStyle/>
          <a:p>
            <a:pPr algn="ctr"/>
            <a:endParaRP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How we're going about it</a:t>
            </a:r>
          </a:p>
        </p:txBody>
      </p:sp>
      <p:sp>
        <p:nvSpPr>
          <p:cNvPr id="4" name="Text Placeholder 3"/>
          <p:cNvSpPr>
            <a:spLocks noGrp="1"/>
          </p:cNvSpPr>
          <p:nvPr>
            <p:ph type="body" sz="quarter" idx="12"/>
          </p:nvPr>
        </p:nvSpPr>
        <p:spPr>
          <a:xfrm>
            <a:off x="457200" y="170000"/>
            <a:ext cx="8000000" cy="182880"/>
          </a:xfrm>
        </p:spPr>
        <p:txBody>
          <a:bodyPr/>
          <a:lstStyle/>
          <a:p>
            <a:r>
              <a:rPr dirty="0">
                <a:solidFill>
                  <a:srgbClr val="0391F2"/>
                </a:solidFill>
              </a:rPr>
              <a:t>INTAKE</a:t>
            </a:r>
            <a:r>
              <a:rPr lang="en-US" dirty="0">
                <a:solidFill>
                  <a:srgbClr val="0391F2"/>
                </a:solidFill>
              </a:rPr>
              <a:t> </a:t>
            </a:r>
            <a:r>
              <a:rPr dirty="0">
                <a:solidFill>
                  <a:srgbClr val="0391F2"/>
                </a:solidFill>
              </a:rPr>
              <a:t>· CLICK-DOWN · WHAT WE ARE CHANGING</a:t>
            </a:r>
          </a:p>
        </p:txBody>
      </p:sp>
      <p:sp>
        <p:nvSpPr>
          <p:cNvPr id="13" name="Rounded Rectangle 12">
            <a:extLst>
              <a:ext uri="{FF2B5EF4-FFF2-40B4-BE49-F238E27FC236}">
                <a16:creationId xmlns:a16="http://schemas.microsoft.com/office/drawing/2014/main" id="{5637A419-FF94-DBCB-082F-42BC6E7DAE00}"/>
              </a:ext>
            </a:extLst>
          </p:cNvPr>
          <p:cNvSpPr>
            <a:spLocks/>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wrap="square" lIns="150000" rIns="120000" rtlCol="0" anchor="ctr">
            <a:noAutofit/>
          </a:bodyPr>
          <a:lstStyle/>
          <a:p>
            <a:r>
              <a:rPr lang="en-US" sz="1050" b="1">
                <a:solidFill>
                  <a:srgbClr val="FFFFFF"/>
                </a:solidFill>
                <a:cs typeface="+mn-cs"/>
              </a:rPr>
              <a:t>Owner(s)</a:t>
            </a:r>
          </a:p>
          <a:p>
            <a:r>
              <a:rPr lang="en-US" sz="900" i="0">
                <a:solidFill>
                  <a:srgbClr val="FFFFFF"/>
                </a:solidFill>
                <a:cs typeface="+mn-cs"/>
              </a:rPr>
              <a:t>Missy Foristall, Deana Derocha</a:t>
            </a:r>
          </a:p>
        </p:txBody>
      </p:sp>
      <p:sp>
        <p:nvSpPr>
          <p:cNvPr id="529" name="TextBox 528"/>
          <p:cNvSpPr txBox="1"/>
          <p:nvPr/>
        </p:nvSpPr>
        <p:spPr>
          <a:xfrm>
            <a:off x="457200" y="1170000"/>
            <a:ext cx="11277600" cy="457200"/>
          </a:xfrm>
          <a:prstGeom prst="rect">
            <a:avLst/>
          </a:prstGeom>
          <a:noFill/>
        </p:spPr>
        <p:txBody>
          <a:bodyPr wrap="square" lIns="0" tIns="0" rIns="0" bIns="0" anchor="t">
            <a:spAutoFit/>
          </a:bodyPr>
          <a:lstStyle/>
          <a:p>
            <a:pPr algn="l">
              <a:spcBef>
                <a:spcPts val="400"/>
              </a:spcBef>
              <a:spcAft>
                <a:spcPts val="500"/>
              </a:spcAft>
            </a:pPr>
            <a:r>
              <a:rPr sz="1050" b="1" i="0">
                <a:solidFill>
                  <a:srgbClr val="000000"/>
                </a:solidFill>
              </a:rPr>
              <a:t>What's behind the alias</a:t>
            </a:r>
          </a:p>
          <a:p>
            <a:pPr marL="171450" indent="-171450" algn="l">
              <a:spcAft>
                <a:spcPts val="500"/>
              </a:spcAft>
              <a:buFont typeface="Arial"/>
              <a:buChar char="•"/>
            </a:pPr>
            <a:r>
              <a:rPr sz="1050" b="0" i="0">
                <a:solidFill>
                  <a:srgbClr val="000000"/>
                </a:solidFill>
              </a:rPr>
              <a:t>Request is reviewed and assigned to a lead within the BU</a:t>
            </a:r>
          </a:p>
          <a:p>
            <a:pPr marL="171450" indent="-171450" algn="l">
              <a:spcAft>
                <a:spcPts val="500"/>
              </a:spcAft>
              <a:buFont typeface="Arial"/>
              <a:buChar char="•"/>
            </a:pPr>
            <a:r>
              <a:rPr sz="1050" b="0" i="0">
                <a:solidFill>
                  <a:srgbClr val="000000"/>
                </a:solidFill>
              </a:rPr>
              <a:t>Lead reaches out to gather more info, pulls in solutioning support, and ensures the request is handled — creds, calls, PT entry, etc.</a:t>
            </a:r>
          </a:p>
        </p:txBody>
      </p:sp>
      <p:sp>
        <p:nvSpPr>
          <p:cNvPr id="530" name="Rounded Rectangle 529"/>
          <p:cNvSpPr/>
          <p:nvPr/>
        </p:nvSpPr>
        <p:spPr>
          <a:xfrm>
            <a:off x="457200" y="2084400"/>
            <a:ext cx="2175520" cy="22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a:solidFill>
                  <a:srgbClr val="60607D"/>
                </a:solidFill>
              </a:rPr>
              <a:t>Step 1</a:t>
            </a:r>
          </a:p>
          <a:p>
            <a:pPr algn="l">
              <a:spcBef>
                <a:spcPts val="400"/>
              </a:spcBef>
              <a:spcAft>
                <a:spcPts val="200"/>
              </a:spcAft>
            </a:pPr>
            <a:r>
              <a:rPr sz="800" b="1" i="0">
                <a:solidFill>
                  <a:srgbClr val="000000"/>
                </a:solidFill>
              </a:rPr>
              <a:t>Alias Creation</a:t>
            </a:r>
          </a:p>
          <a:p>
            <a:pPr algn="l">
              <a:spcAft>
                <a:spcPts val="500"/>
              </a:spcAft>
            </a:pPr>
            <a:r>
              <a:rPr sz="800" b="1" i="0">
                <a:solidFill>
                  <a:srgbClr val="000000"/>
                </a:solidFill>
              </a:rPr>
              <a:t>DDM_Opportunity@merkle.com</a:t>
            </a:r>
            <a:r>
              <a:rPr sz="800" b="0" i="0">
                <a:solidFill>
                  <a:srgbClr val="000000"/>
                </a:solidFill>
              </a:rPr>
              <a:t> and </a:t>
            </a:r>
            <a:r>
              <a:rPr sz="800" b="1" i="0">
                <a:solidFill>
                  <a:srgbClr val="000000"/>
                </a:solidFill>
              </a:rPr>
              <a:t>DBT_Opportunity@merkle.com</a:t>
            </a:r>
            <a:r>
              <a:rPr sz="800" b="0" i="0">
                <a:solidFill>
                  <a:srgbClr val="000000"/>
                </a:solidFill>
              </a:rPr>
              <a:t> are live, so requests reach the right BU SMEs without needing to know a matrix of names.</a:t>
            </a:r>
          </a:p>
        </p:txBody>
      </p:sp>
      <p:sp>
        <p:nvSpPr>
          <p:cNvPr id="531" name="Rounded Rectangle 530"/>
          <p:cNvSpPr/>
          <p:nvPr/>
        </p:nvSpPr>
        <p:spPr>
          <a:xfrm>
            <a:off x="2732720" y="2084400"/>
            <a:ext cx="2175520" cy="22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a:solidFill>
                  <a:srgbClr val="60607D"/>
                </a:solidFill>
              </a:rPr>
              <a:t>Step 2</a:t>
            </a:r>
          </a:p>
          <a:p>
            <a:pPr algn="l">
              <a:spcBef>
                <a:spcPts val="400"/>
              </a:spcBef>
              <a:spcAft>
                <a:spcPts val="200"/>
              </a:spcAft>
            </a:pPr>
            <a:r>
              <a:rPr sz="800" b="1" i="0">
                <a:solidFill>
                  <a:srgbClr val="000000"/>
                </a:solidFill>
              </a:rPr>
              <a:t>Adoption</a:t>
            </a:r>
          </a:p>
          <a:p>
            <a:pPr marL="171450" indent="-171450" algn="l">
              <a:spcAft>
                <a:spcPts val="500"/>
              </a:spcAft>
              <a:buFont typeface="Arial"/>
              <a:buChar char="•"/>
            </a:pPr>
            <a:r>
              <a:rPr sz="800" b="0" i="0">
                <a:solidFill>
                  <a:srgbClr val="000000"/>
                </a:solidFill>
              </a:rPr>
              <a:t>C&amp;C has been informed of the alias and process</a:t>
            </a:r>
          </a:p>
          <a:p>
            <a:pPr marL="171450" indent="-171450" algn="l">
              <a:spcAft>
                <a:spcPts val="500"/>
              </a:spcAft>
              <a:buFont typeface="Arial"/>
              <a:buChar char="•"/>
            </a:pPr>
            <a:r>
              <a:rPr sz="800" b="0" i="0">
                <a:solidFill>
                  <a:srgbClr val="000000"/>
                </a:solidFill>
              </a:rPr>
              <a:t>Adoption has been slow: People still go to known individuals for help, cutting into BU visibility and ability to help</a:t>
            </a:r>
          </a:p>
        </p:txBody>
      </p:sp>
      <p:sp>
        <p:nvSpPr>
          <p:cNvPr id="532" name="Rounded Rectangle 531"/>
          <p:cNvSpPr/>
          <p:nvPr/>
        </p:nvSpPr>
        <p:spPr>
          <a:xfrm>
            <a:off x="5008240" y="2084400"/>
            <a:ext cx="2175520" cy="22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a:solidFill>
                  <a:srgbClr val="60607D"/>
                </a:solidFill>
              </a:rPr>
              <a:t>Step 3</a:t>
            </a:r>
          </a:p>
          <a:p>
            <a:pPr algn="l">
              <a:spcBef>
                <a:spcPts val="400"/>
              </a:spcBef>
              <a:spcAft>
                <a:spcPts val="200"/>
              </a:spcAft>
            </a:pPr>
            <a:r>
              <a:rPr sz="800" b="1" i="0">
                <a:solidFill>
                  <a:srgbClr val="000000"/>
                </a:solidFill>
              </a:rPr>
              <a:t>Leadership Ask</a:t>
            </a:r>
          </a:p>
          <a:p>
            <a:pPr marL="171450" indent="-171450" algn="l">
              <a:spcAft>
                <a:spcPts val="500"/>
              </a:spcAft>
              <a:buFont typeface="Arial"/>
              <a:buChar char="•"/>
            </a:pPr>
            <a:r>
              <a:rPr sz="800" b="0" i="0">
                <a:solidFill>
                  <a:srgbClr val="000000"/>
                </a:solidFill>
              </a:rPr>
              <a:t>C&amp;C leadership support in redirecting request</a:t>
            </a:r>
          </a:p>
        </p:txBody>
      </p:sp>
      <p:sp>
        <p:nvSpPr>
          <p:cNvPr id="533" name="Rounded Rectangle 532"/>
          <p:cNvSpPr/>
          <p:nvPr/>
        </p:nvSpPr>
        <p:spPr>
          <a:xfrm>
            <a:off x="7283760" y="2084400"/>
            <a:ext cx="2175520" cy="22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a:solidFill>
                  <a:srgbClr val="60607D"/>
                </a:solidFill>
              </a:rPr>
              <a:t>Step 4</a:t>
            </a:r>
          </a:p>
          <a:p>
            <a:pPr algn="l">
              <a:spcBef>
                <a:spcPts val="400"/>
              </a:spcBef>
              <a:spcAft>
                <a:spcPts val="200"/>
              </a:spcAft>
            </a:pPr>
            <a:r>
              <a:rPr sz="800" b="1" i="0">
                <a:solidFill>
                  <a:srgbClr val="000000"/>
                </a:solidFill>
              </a:rPr>
              <a:t>SME Case Request in SF</a:t>
            </a:r>
          </a:p>
          <a:p>
            <a:pPr algn="l">
              <a:spcAft>
                <a:spcPts val="500"/>
              </a:spcAft>
            </a:pPr>
            <a:r>
              <a:rPr sz="800" b="0" i="0">
                <a:solidFill>
                  <a:srgbClr val="000000"/>
                </a:solidFill>
              </a:rPr>
              <a:t>Updating the existing tool to cover more scenarios:</a:t>
            </a:r>
          </a:p>
          <a:p>
            <a:pPr marL="171450" indent="-171450" algn="l">
              <a:spcAft>
                <a:spcPts val="500"/>
              </a:spcAft>
              <a:buFont typeface="Arial"/>
              <a:buChar char="•"/>
            </a:pPr>
            <a:r>
              <a:rPr sz="800" b="0" i="0">
                <a:solidFill>
                  <a:srgbClr val="000000"/>
                </a:solidFill>
              </a:rPr>
              <a:t>New pursuit or deals under $500k</a:t>
            </a:r>
          </a:p>
          <a:p>
            <a:pPr marL="171450" indent="-171450" algn="l">
              <a:spcAft>
                <a:spcPts val="500"/>
              </a:spcAft>
              <a:buFont typeface="Arial"/>
              <a:buChar char="•"/>
            </a:pPr>
            <a:r>
              <a:rPr sz="800" b="0" i="0">
                <a:solidFill>
                  <a:srgbClr val="000000"/>
                </a:solidFill>
              </a:rPr>
              <a:t>Ad-hoc client request for a small new project</a:t>
            </a:r>
          </a:p>
          <a:p>
            <a:pPr marL="171450" indent="-171450" algn="l">
              <a:spcAft>
                <a:spcPts val="500"/>
              </a:spcAft>
              <a:buFont typeface="Arial"/>
              <a:buChar char="•"/>
            </a:pPr>
            <a:r>
              <a:rPr sz="800" b="0" i="0">
                <a:solidFill>
                  <a:srgbClr val="000000"/>
                </a:solidFill>
              </a:rPr>
              <a:t>Sprints involving multiple people</a:t>
            </a:r>
          </a:p>
          <a:p>
            <a:pPr marL="171450" indent="-171450" algn="l">
              <a:spcAft>
                <a:spcPts val="500"/>
              </a:spcAft>
              <a:buFont typeface="Arial"/>
              <a:buChar char="•"/>
            </a:pPr>
            <a:r>
              <a:rPr sz="800" b="0" i="0">
                <a:solidFill>
                  <a:srgbClr val="000000"/>
                </a:solidFill>
              </a:rPr>
              <a:t>Client exec-level meetings needing decks and materials</a:t>
            </a:r>
          </a:p>
          <a:p>
            <a:pPr marL="171450" indent="-171450" algn="l">
              <a:spcAft>
                <a:spcPts val="500"/>
              </a:spcAft>
              <a:buFont typeface="Arial"/>
              <a:buChar char="•"/>
            </a:pPr>
            <a:r>
              <a:rPr sz="800" b="0" i="0">
                <a:solidFill>
                  <a:srgbClr val="000000"/>
                </a:solidFill>
              </a:rPr>
              <a:t>Case studies, capability decks, etc.</a:t>
            </a:r>
          </a:p>
        </p:txBody>
      </p:sp>
      <p:sp>
        <p:nvSpPr>
          <p:cNvPr id="534" name="Rounded Rectangle 533"/>
          <p:cNvSpPr/>
          <p:nvPr/>
        </p:nvSpPr>
        <p:spPr>
          <a:xfrm>
            <a:off x="9559280" y="2084400"/>
            <a:ext cx="2175520" cy="22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a:solidFill>
                  <a:srgbClr val="60607D"/>
                </a:solidFill>
              </a:rPr>
              <a:t>Step 5</a:t>
            </a:r>
          </a:p>
          <a:p>
            <a:pPr algn="l">
              <a:spcBef>
                <a:spcPts val="400"/>
              </a:spcBef>
              <a:spcAft>
                <a:spcPts val="200"/>
              </a:spcAft>
            </a:pPr>
            <a:r>
              <a:rPr sz="800" b="1" i="0">
                <a:solidFill>
                  <a:srgbClr val="000000"/>
                </a:solidFill>
              </a:rPr>
              <a:t>RACI Updates</a:t>
            </a:r>
          </a:p>
          <a:p>
            <a:pPr algn="l">
              <a:spcAft>
                <a:spcPts val="500"/>
              </a:spcAft>
            </a:pPr>
            <a:r>
              <a:rPr sz="800" b="0" i="0">
                <a:solidFill>
                  <a:srgbClr val="000000"/>
                </a:solidFill>
              </a:rPr>
              <a:t>Underway, to clearly articulate roles and responsibilities for everyone involved in the intake process.</a:t>
            </a:r>
          </a:p>
        </p:txBody>
      </p:sp>
      <p:sp>
        <p:nvSpPr>
          <p:cNvPr id="535" name="Rectangle 534"/>
          <p:cNvSpPr/>
          <p:nvPr/>
        </p:nvSpPr>
        <p:spPr>
          <a:xfrm>
            <a:off x="2303466" y="4505840"/>
            <a:ext cx="7585067" cy="19050"/>
          </a:xfrm>
          <a:prstGeom prst="rect">
            <a:avLst/>
          </a:prstGeom>
          <a:solidFill>
            <a:srgbClr val="D6D6DF"/>
          </a:solidFill>
          <a:ln>
            <a:noFill/>
          </a:ln>
        </p:spPr>
        <p:txBody>
          <a:bodyPr rtlCol="0" anchor="ctr"/>
          <a:lstStyle/>
          <a:p>
            <a:pPr algn="ctr"/>
            <a:endParaRPr/>
          </a:p>
        </p:txBody>
      </p:sp>
      <p:sp>
        <p:nvSpPr>
          <p:cNvPr id="536" name="Oval 535"/>
          <p:cNvSpPr/>
          <p:nvPr/>
        </p:nvSpPr>
        <p:spPr>
          <a:xfrm>
            <a:off x="2212026" y="4414400"/>
            <a:ext cx="182880" cy="182880"/>
          </a:xfrm>
          <a:prstGeom prst="ellipse">
            <a:avLst/>
          </a:prstGeom>
          <a:solidFill>
            <a:srgbClr val="FFFFFF"/>
          </a:solidFill>
          <a:ln w="19050">
            <a:solidFill>
              <a:srgbClr val="000000"/>
            </a:solidFill>
          </a:ln>
        </p:spPr>
        <p:txBody>
          <a:bodyPr rtlCol="0" anchor="ctr"/>
          <a:lstStyle/>
          <a:p>
            <a:pPr algn="ctr"/>
            <a:endParaRPr/>
          </a:p>
        </p:txBody>
      </p:sp>
      <p:sp>
        <p:nvSpPr>
          <p:cNvPr id="537" name="Rounded Rectangle 536"/>
          <p:cNvSpPr/>
          <p:nvPr/>
        </p:nvSpPr>
        <p:spPr>
          <a:xfrm>
            <a:off x="457200" y="4688720"/>
            <a:ext cx="3692533"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Bef>
                <a:spcPts val="400"/>
              </a:spcBef>
              <a:spcAft>
                <a:spcPts val="200"/>
              </a:spcAft>
            </a:pPr>
            <a:r>
              <a:rPr sz="1100" b="1" i="0">
                <a:solidFill>
                  <a:srgbClr val="000000"/>
                </a:solidFill>
              </a:rPr>
              <a:t>10/16 target launch date</a:t>
            </a:r>
          </a:p>
          <a:p>
            <a:pPr algn="l">
              <a:spcAft>
                <a:spcPts val="500"/>
              </a:spcAft>
            </a:pPr>
            <a:r>
              <a:rPr sz="1100" b="0" i="0">
                <a:solidFill>
                  <a:srgbClr val="000000"/>
                </a:solidFill>
              </a:rPr>
              <a:t>SME Case Request in SF</a:t>
            </a:r>
          </a:p>
        </p:txBody>
      </p:sp>
      <p:sp>
        <p:nvSpPr>
          <p:cNvPr id="538" name="Oval 537"/>
          <p:cNvSpPr/>
          <p:nvPr/>
        </p:nvSpPr>
        <p:spPr>
          <a:xfrm>
            <a:off x="6004559" y="4414400"/>
            <a:ext cx="182880" cy="182880"/>
          </a:xfrm>
          <a:prstGeom prst="ellipse">
            <a:avLst/>
          </a:prstGeom>
          <a:solidFill>
            <a:srgbClr val="FFFFFF"/>
          </a:solidFill>
          <a:ln w="19050">
            <a:solidFill>
              <a:srgbClr val="000000"/>
            </a:solidFill>
          </a:ln>
        </p:spPr>
        <p:txBody>
          <a:bodyPr rtlCol="0" anchor="ctr"/>
          <a:lstStyle/>
          <a:p>
            <a:pPr algn="ctr"/>
            <a:endParaRPr/>
          </a:p>
        </p:txBody>
      </p:sp>
      <p:sp>
        <p:nvSpPr>
          <p:cNvPr id="539" name="Rounded Rectangle 538"/>
          <p:cNvSpPr/>
          <p:nvPr/>
        </p:nvSpPr>
        <p:spPr>
          <a:xfrm>
            <a:off x="4249733" y="4688720"/>
            <a:ext cx="3692533"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Bef>
                <a:spcPts val="400"/>
              </a:spcBef>
              <a:spcAft>
                <a:spcPts val="200"/>
              </a:spcAft>
            </a:pPr>
            <a:r>
              <a:rPr sz="1100" b="1" i="0">
                <a:solidFill>
                  <a:srgbClr val="000000"/>
                </a:solidFill>
              </a:rPr>
              <a:t>11/1 Estimated Rollout</a:t>
            </a:r>
          </a:p>
          <a:p>
            <a:pPr algn="l">
              <a:spcAft>
                <a:spcPts val="500"/>
              </a:spcAft>
            </a:pPr>
            <a:r>
              <a:rPr sz="1100" b="0" i="0">
                <a:solidFill>
                  <a:srgbClr val="000000"/>
                </a:solidFill>
              </a:rPr>
              <a:t>RACI Updates</a:t>
            </a:r>
          </a:p>
        </p:txBody>
      </p:sp>
      <p:sp>
        <p:nvSpPr>
          <p:cNvPr id="540" name="Oval 539"/>
          <p:cNvSpPr/>
          <p:nvPr/>
        </p:nvSpPr>
        <p:spPr>
          <a:xfrm>
            <a:off x="9797092" y="4414400"/>
            <a:ext cx="182880" cy="182880"/>
          </a:xfrm>
          <a:prstGeom prst="ellipse">
            <a:avLst/>
          </a:prstGeom>
          <a:solidFill>
            <a:srgbClr val="FFFFFF"/>
          </a:solidFill>
          <a:ln w="19050">
            <a:solidFill>
              <a:srgbClr val="D6D6DF"/>
            </a:solidFill>
          </a:ln>
        </p:spPr>
        <p:txBody>
          <a:bodyPr rtlCol="0" anchor="ctr"/>
          <a:lstStyle/>
          <a:p>
            <a:pPr algn="ctr"/>
            <a:endParaRPr/>
          </a:p>
        </p:txBody>
      </p:sp>
      <p:sp>
        <p:nvSpPr>
          <p:cNvPr id="541" name="Rounded Rectangle 540"/>
          <p:cNvSpPr/>
          <p:nvPr/>
        </p:nvSpPr>
        <p:spPr>
          <a:xfrm>
            <a:off x="8042266" y="4688720"/>
            <a:ext cx="3692533"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Bef>
                <a:spcPts val="200"/>
              </a:spcBef>
              <a:spcAft>
                <a:spcPts val="200"/>
              </a:spcAft>
            </a:pPr>
            <a:r>
              <a:rPr sz="850" b="1" i="0" cap="all" spc="100">
                <a:solidFill>
                  <a:srgbClr val="60607D"/>
                </a:solidFill>
              </a:rPr>
              <a:t>The target</a:t>
            </a:r>
          </a:p>
          <a:p>
            <a:pPr algn="l">
              <a:spcBef>
                <a:spcPts val="400"/>
              </a:spcBef>
              <a:spcAft>
                <a:spcPts val="200"/>
              </a:spcAft>
            </a:pPr>
            <a:r>
              <a:rPr sz="1000" b="1" i="0">
                <a:solidFill>
                  <a:srgbClr val="000000"/>
                </a:solidFill>
              </a:rPr>
              <a:t>MVP done</a:t>
            </a:r>
          </a:p>
          <a:p>
            <a:pPr algn="l">
              <a:spcAft>
                <a:spcPts val="500"/>
              </a:spcAft>
            </a:pPr>
            <a:r>
              <a:rPr sz="1000" b="0" i="1">
                <a:solidFill>
                  <a:srgbClr val="60607D"/>
                </a:solidFill>
              </a:rPr>
              <a:t>[Date we are shooting for.]</a:t>
            </a:r>
          </a:p>
        </p:txBody>
      </p:sp>
      <p:sp>
        <p:nvSpPr>
          <p:cNvPr id="542" name="Rounded Rectangle 541"/>
          <p:cNvSpPr/>
          <p:nvPr/>
        </p:nvSpPr>
        <p:spPr>
          <a:xfrm>
            <a:off x="457200" y="5588720"/>
            <a:ext cx="5563800" cy="93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91440" rIns="182880" bIns="36576" rtlCol="0" anchor="t"/>
          <a:lstStyle/>
          <a:p>
            <a:pPr algn="l">
              <a:spcAft>
                <a:spcPts val="600"/>
              </a:spcAft>
            </a:pPr>
            <a:r>
              <a:rPr sz="1100" b="1" i="0" cap="all" spc="60">
                <a:solidFill>
                  <a:srgbClr val="000000"/>
                </a:solidFill>
              </a:rPr>
              <a:t>Team</a:t>
            </a:r>
          </a:p>
        </p:txBody>
      </p:sp>
      <p:sp>
        <p:nvSpPr>
          <p:cNvPr id="543" name="Rounded Rectangle 542"/>
          <p:cNvSpPr/>
          <p:nvPr/>
        </p:nvSpPr>
        <p:spPr>
          <a:xfrm>
            <a:off x="667512" y="5917904"/>
            <a:ext cx="1351221" cy="246888"/>
          </a:xfrm>
          <a:prstGeom prst="roundRect">
            <a:avLst>
              <a:gd name="adj" fmla="val 50000"/>
            </a:avLst>
          </a:prstGeom>
          <a:solidFill>
            <a:srgbClr val="FFFFFF"/>
          </a:solidFill>
          <a:ln w="12700">
            <a:solidFill>
              <a:srgbClr val="D6D6DF"/>
            </a:solidFill>
          </a:ln>
        </p:spPr>
        <p:txBody>
          <a:bodyPr wrap="none" lIns="0" tIns="0" rIns="0" bIns="0" rtlCol="0" anchor="ctr"/>
          <a:lstStyle/>
          <a:p>
            <a:pPr algn="ctr"/>
            <a:r>
              <a:rPr sz="900" b="0" i="1">
                <a:solidFill>
                  <a:srgbClr val="60607D"/>
                </a:solidFill>
              </a:rPr>
              <a:t>[Who does the work]</a:t>
            </a:r>
          </a:p>
        </p:txBody>
      </p:sp>
      <p:sp>
        <p:nvSpPr>
          <p:cNvPr id="544" name="Rounded Rectangle 543"/>
          <p:cNvSpPr/>
          <p:nvPr/>
        </p:nvSpPr>
        <p:spPr>
          <a:xfrm>
            <a:off x="2101029" y="5917904"/>
            <a:ext cx="1351221" cy="246888"/>
          </a:xfrm>
          <a:prstGeom prst="roundRect">
            <a:avLst>
              <a:gd name="adj" fmla="val 50000"/>
            </a:avLst>
          </a:prstGeom>
          <a:solidFill>
            <a:srgbClr val="FFFFFF"/>
          </a:solidFill>
          <a:ln w="12700">
            <a:solidFill>
              <a:srgbClr val="D6D6DF"/>
            </a:solidFill>
          </a:ln>
        </p:spPr>
        <p:txBody>
          <a:bodyPr wrap="none" lIns="0" tIns="0" rIns="0" bIns="0" rtlCol="0" anchor="ctr"/>
          <a:lstStyle/>
          <a:p>
            <a:pPr algn="ctr"/>
            <a:r>
              <a:rPr sz="900" b="0" i="1">
                <a:solidFill>
                  <a:srgbClr val="60607D"/>
                </a:solidFill>
              </a:rPr>
              <a:t>[Who does the work]</a:t>
            </a:r>
          </a:p>
        </p:txBody>
      </p:sp>
      <p:sp>
        <p:nvSpPr>
          <p:cNvPr id="545" name="Rounded Rectangle 544"/>
          <p:cNvSpPr/>
          <p:nvPr/>
        </p:nvSpPr>
        <p:spPr>
          <a:xfrm>
            <a:off x="6171000" y="5588720"/>
            <a:ext cx="5563800" cy="93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91440" rIns="182880" bIns="36576" rtlCol="0" anchor="t"/>
          <a:lstStyle/>
          <a:p>
            <a:pPr algn="l">
              <a:spcAft>
                <a:spcPts val="600"/>
              </a:spcAft>
            </a:pPr>
            <a:r>
              <a:rPr sz="1100" b="1" i="0" cap="all" spc="60">
                <a:solidFill>
                  <a:srgbClr val="000000"/>
                </a:solidFill>
              </a:rPr>
              <a:t>Partners</a:t>
            </a:r>
          </a:p>
        </p:txBody>
      </p:sp>
      <p:sp>
        <p:nvSpPr>
          <p:cNvPr id="546" name="Rounded Rectangle 545"/>
          <p:cNvSpPr/>
          <p:nvPr/>
        </p:nvSpPr>
        <p:spPr>
          <a:xfrm>
            <a:off x="6381312" y="5917904"/>
            <a:ext cx="1291655" cy="246888"/>
          </a:xfrm>
          <a:prstGeom prst="roundRect">
            <a:avLst>
              <a:gd name="adj" fmla="val 50000"/>
            </a:avLst>
          </a:prstGeom>
          <a:solidFill>
            <a:srgbClr val="FFFFFF"/>
          </a:solidFill>
          <a:ln w="12700">
            <a:solidFill>
              <a:srgbClr val="D6D6DF"/>
            </a:solidFill>
          </a:ln>
        </p:spPr>
        <p:txBody>
          <a:bodyPr wrap="none" lIns="0" tIns="0" rIns="0" bIns="0" rtlCol="0" anchor="ctr"/>
          <a:lstStyle/>
          <a:p>
            <a:pPr algn="ctr"/>
            <a:r>
              <a:rPr sz="900" b="0" i="1">
                <a:solidFill>
                  <a:srgbClr val="60607D"/>
                </a:solidFill>
              </a:rPr>
              <a:t>[Who we work with]</a:t>
            </a:r>
          </a:p>
        </p:txBody>
      </p:sp>
      <p:sp>
        <p:nvSpPr>
          <p:cNvPr id="547" name="Rounded Rectangle 546"/>
          <p:cNvSpPr/>
          <p:nvPr/>
        </p:nvSpPr>
        <p:spPr>
          <a:xfrm>
            <a:off x="7755263" y="5917904"/>
            <a:ext cx="1291655" cy="246888"/>
          </a:xfrm>
          <a:prstGeom prst="roundRect">
            <a:avLst>
              <a:gd name="adj" fmla="val 50000"/>
            </a:avLst>
          </a:prstGeom>
          <a:solidFill>
            <a:srgbClr val="FFFFFF"/>
          </a:solidFill>
          <a:ln w="12700">
            <a:solidFill>
              <a:srgbClr val="D6D6DF"/>
            </a:solidFill>
          </a:ln>
        </p:spPr>
        <p:txBody>
          <a:bodyPr wrap="none" lIns="0" tIns="0" rIns="0" bIns="0" rtlCol="0" anchor="ctr"/>
          <a:lstStyle/>
          <a:p>
            <a:pPr algn="ctr"/>
            <a:r>
              <a:rPr sz="900" b="0" i="1">
                <a:solidFill>
                  <a:srgbClr val="60607D"/>
                </a:solidFill>
              </a:rPr>
              <a:t>[Who we work with]</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27" name="Picture 526" descr="hero_p3.jpg"/>
          <p:cNvPicPr>
            <a:picLocks noChangeAspect="1"/>
          </p:cNvPicPr>
          <p:nvPr/>
        </p:nvPicPr>
        <p:blipFill>
          <a:blip r:embed="rId2"/>
          <a:stretch>
            <a:fillRect/>
          </a:stretch>
        </p:blipFill>
        <p:spPr>
          <a:xfrm>
            <a:off x="0" y="0"/>
            <a:ext cx="12192000" cy="1000000"/>
          </a:xfrm>
          <a:prstGeom prst="rect">
            <a:avLst/>
          </a:prstGeom>
        </p:spPr>
      </p:pic>
      <p:sp>
        <p:nvSpPr>
          <p:cNvPr id="528" name="Rectangle 527"/>
          <p:cNvSpPr/>
          <p:nvPr/>
        </p:nvSpPr>
        <p:spPr>
          <a:xfrm>
            <a:off x="0" y="0"/>
            <a:ext cx="12192000" cy="1000000"/>
          </a:xfrm>
          <a:prstGeom prst="rect">
            <a:avLst/>
          </a:prstGeom>
          <a:gradFill rotWithShape="1">
            <a:gsLst>
              <a:gs pos="0">
                <a:srgbClr val="000000">
                  <a:alpha val="90000"/>
                </a:srgbClr>
              </a:gs>
              <a:gs pos="50000">
                <a:srgbClr val="000000">
                  <a:alpha val="74000"/>
                </a:srgbClr>
              </a:gs>
              <a:gs pos="100000">
                <a:srgbClr val="000000">
                  <a:alpha val="62000"/>
                </a:srgbClr>
              </a:gs>
            </a:gsLst>
            <a:lin ang="0" scaled="0"/>
          </a:gradFill>
          <a:ln>
            <a:noFill/>
          </a:ln>
        </p:spPr>
        <p:txBody>
          <a:bodyPr rtlCol="0" anchor="ctr"/>
          <a:lstStyle/>
          <a:p>
            <a:pPr algn="ctr"/>
            <a:endParaRP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Adoption &amp; change management</a:t>
            </a:r>
          </a:p>
        </p:txBody>
      </p:sp>
      <p:sp>
        <p:nvSpPr>
          <p:cNvPr id="4" name="Text Placeholder 3"/>
          <p:cNvSpPr>
            <a:spLocks noGrp="1"/>
          </p:cNvSpPr>
          <p:nvPr>
            <p:ph type="body" sz="quarter" idx="12"/>
          </p:nvPr>
        </p:nvSpPr>
        <p:spPr>
          <a:xfrm>
            <a:off x="457200" y="170000"/>
            <a:ext cx="8000000" cy="182880"/>
          </a:xfrm>
        </p:spPr>
        <p:txBody>
          <a:bodyPr/>
          <a:lstStyle/>
          <a:p>
            <a:r>
              <a:rPr dirty="0">
                <a:solidFill>
                  <a:srgbClr val="0391F2"/>
                </a:solidFill>
              </a:rPr>
              <a:t>INTAKE</a:t>
            </a:r>
            <a:r>
              <a:rPr lang="en-US" dirty="0">
                <a:solidFill>
                  <a:srgbClr val="0391F2"/>
                </a:solidFill>
              </a:rPr>
              <a:t> </a:t>
            </a:r>
            <a:r>
              <a:rPr dirty="0">
                <a:solidFill>
                  <a:srgbClr val="0391F2"/>
                </a:solidFill>
              </a:rPr>
              <a:t>· CLICK-DOWN · WHAT WE ARE CHANGING</a:t>
            </a:r>
          </a:p>
        </p:txBody>
      </p:sp>
      <p:sp>
        <p:nvSpPr>
          <p:cNvPr id="13" name="Rounded Rectangle 12">
            <a:extLst>
              <a:ext uri="{FF2B5EF4-FFF2-40B4-BE49-F238E27FC236}">
                <a16:creationId xmlns:a16="http://schemas.microsoft.com/office/drawing/2014/main" id="{5637A419-FF94-DBCB-082F-42BC6E7DAE00}"/>
              </a:ext>
            </a:extLst>
          </p:cNvPr>
          <p:cNvSpPr>
            <a:spLocks/>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wrap="square" lIns="150000" rIns="120000" rtlCol="0" anchor="ctr">
            <a:noAutofit/>
          </a:bodyPr>
          <a:lstStyle/>
          <a:p>
            <a:r>
              <a:rPr lang="en-US" sz="1050" b="1">
                <a:solidFill>
                  <a:srgbClr val="FFFFFF"/>
                </a:solidFill>
                <a:cs typeface="+mn-cs"/>
              </a:rPr>
              <a:t>Owner(s)</a:t>
            </a:r>
          </a:p>
          <a:p>
            <a:r>
              <a:rPr lang="en-US" sz="900" i="0">
                <a:solidFill>
                  <a:srgbClr val="FFFFFF"/>
                </a:solidFill>
                <a:cs typeface="+mn-cs"/>
              </a:rPr>
              <a:t>Missy Foristall, Deana Derocha</a:t>
            </a:r>
          </a:p>
        </p:txBody>
      </p:sp>
      <p:sp>
        <p:nvSpPr>
          <p:cNvPr id="529" name="Rounded Rectangle 528"/>
          <p:cNvSpPr/>
          <p:nvPr/>
        </p:nvSpPr>
        <p:spPr>
          <a:xfrm>
            <a:off x="457200" y="1170000"/>
            <a:ext cx="2706900" cy="50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000000"/>
                </a:solidFill>
              </a:rPr>
              <a:t>1. Strategy &amp; Alignment</a:t>
            </a:r>
          </a:p>
          <a:p>
            <a:pPr algn="l">
              <a:spcBef>
                <a:spcPts val="400"/>
              </a:spcBef>
              <a:spcAft>
                <a:spcPts val="200"/>
              </a:spcAft>
            </a:pPr>
            <a:r>
              <a:rPr sz="1300" b="1" i="0">
                <a:solidFill>
                  <a:srgbClr val="000000"/>
                </a:solidFill>
              </a:rPr>
              <a:t>The why</a:t>
            </a:r>
          </a:p>
          <a:p>
            <a:pPr algn="l">
              <a:spcAft>
                <a:spcPts val="500"/>
              </a:spcAft>
            </a:pPr>
            <a:r>
              <a:rPr sz="1300" b="0" i="1">
                <a:solidFill>
                  <a:srgbClr val="60607D"/>
                </a:solidFill>
              </a:rPr>
              <a:t>[The business reason for this change and the value it brings.]</a:t>
            </a:r>
          </a:p>
          <a:p>
            <a:pPr algn="l">
              <a:spcBef>
                <a:spcPts val="400"/>
              </a:spcBef>
              <a:spcAft>
                <a:spcPts val="200"/>
              </a:spcAft>
            </a:pPr>
            <a:r>
              <a:rPr sz="1300" b="1" i="0">
                <a:solidFill>
                  <a:srgbClr val="000000"/>
                </a:solidFill>
              </a:rPr>
              <a:t>Who is affected</a:t>
            </a:r>
          </a:p>
          <a:p>
            <a:pPr algn="l">
              <a:spcAft>
                <a:spcPts val="500"/>
              </a:spcAft>
            </a:pPr>
            <a:r>
              <a:rPr sz="1300" b="0" i="1">
                <a:solidFill>
                  <a:srgbClr val="60607D"/>
                </a:solidFill>
              </a:rPr>
              <a:t>[Who is impacted, how their day-to-day changes, and how much pushback to expect.]</a:t>
            </a:r>
          </a:p>
          <a:p>
            <a:pPr algn="l">
              <a:spcBef>
                <a:spcPts val="400"/>
              </a:spcBef>
              <a:spcAft>
                <a:spcPts val="200"/>
              </a:spcAft>
            </a:pPr>
            <a:r>
              <a:rPr sz="1300" b="1" i="0">
                <a:solidFill>
                  <a:srgbClr val="000000"/>
                </a:solidFill>
              </a:rPr>
              <a:t>Who is backing it</a:t>
            </a:r>
          </a:p>
          <a:p>
            <a:pPr algn="l">
              <a:spcAft>
                <a:spcPts val="500"/>
              </a:spcAft>
            </a:pPr>
            <a:r>
              <a:rPr sz="1300" b="0" i="1">
                <a:solidFill>
                  <a:srgbClr val="60607D"/>
                </a:solidFill>
              </a:rPr>
              <a:t>[Executive sponsors, approvers, and the champions who will drive adoption locally.]</a:t>
            </a:r>
          </a:p>
        </p:txBody>
      </p:sp>
      <p:sp>
        <p:nvSpPr>
          <p:cNvPr id="530" name="Rounded Rectangle 529"/>
          <p:cNvSpPr/>
          <p:nvPr/>
        </p:nvSpPr>
        <p:spPr>
          <a:xfrm>
            <a:off x="3314100" y="1170000"/>
            <a:ext cx="2706900" cy="50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000000"/>
                </a:solidFill>
              </a:rPr>
              <a:t>2. Communications Plan</a:t>
            </a:r>
          </a:p>
          <a:p>
            <a:pPr algn="l">
              <a:spcBef>
                <a:spcPts val="400"/>
              </a:spcBef>
              <a:spcAft>
                <a:spcPts val="200"/>
              </a:spcAft>
            </a:pPr>
            <a:r>
              <a:rPr sz="1300" b="1" i="0">
                <a:solidFill>
                  <a:srgbClr val="000000"/>
                </a:solidFill>
              </a:rPr>
              <a:t>Core messages</a:t>
            </a:r>
          </a:p>
          <a:p>
            <a:pPr algn="l">
              <a:spcAft>
                <a:spcPts val="500"/>
              </a:spcAft>
            </a:pPr>
            <a:r>
              <a:rPr sz="1300" b="0" i="1">
                <a:solidFill>
                  <a:srgbClr val="60607D"/>
                </a:solidFill>
              </a:rPr>
              <a:t>[The standard talking points, tailored for each group that is affected.]</a:t>
            </a:r>
          </a:p>
          <a:p>
            <a:pPr algn="l">
              <a:spcBef>
                <a:spcPts val="400"/>
              </a:spcBef>
              <a:spcAft>
                <a:spcPts val="200"/>
              </a:spcAft>
            </a:pPr>
            <a:r>
              <a:rPr sz="1300" b="1" i="0">
                <a:solidFill>
                  <a:srgbClr val="000000"/>
                </a:solidFill>
              </a:rPr>
              <a:t>Channels</a:t>
            </a:r>
          </a:p>
          <a:p>
            <a:pPr algn="l">
              <a:spcAft>
                <a:spcPts val="500"/>
              </a:spcAft>
            </a:pPr>
            <a:r>
              <a:rPr sz="1300" b="0" i="1">
                <a:solidFill>
                  <a:srgbClr val="60607D"/>
                </a:solidFill>
              </a:rPr>
              <a:t>[Where we will say it: all-hands, email, internal portals, team meetings.]</a:t>
            </a:r>
          </a:p>
          <a:p>
            <a:pPr algn="l">
              <a:spcBef>
                <a:spcPts val="400"/>
              </a:spcBef>
              <a:spcAft>
                <a:spcPts val="200"/>
              </a:spcAft>
            </a:pPr>
            <a:r>
              <a:rPr sz="1300" b="1" i="0">
                <a:solidFill>
                  <a:srgbClr val="000000"/>
                </a:solidFill>
              </a:rPr>
              <a:t>Timing</a:t>
            </a:r>
          </a:p>
          <a:p>
            <a:pPr algn="l">
              <a:spcAft>
                <a:spcPts val="500"/>
              </a:spcAft>
            </a:pPr>
            <a:r>
              <a:rPr sz="1300" b="0" i="1">
                <a:solidFill>
                  <a:srgbClr val="60607D"/>
                </a:solidFill>
              </a:rPr>
              <a:t>[The schedule of announcements, teasers and reminders before and after launch.]</a:t>
            </a:r>
          </a:p>
        </p:txBody>
      </p:sp>
      <p:sp>
        <p:nvSpPr>
          <p:cNvPr id="531" name="Rounded Rectangle 530"/>
          <p:cNvSpPr/>
          <p:nvPr/>
        </p:nvSpPr>
        <p:spPr>
          <a:xfrm>
            <a:off x="6171000" y="1170000"/>
            <a:ext cx="2706900" cy="50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000000"/>
                </a:solidFill>
              </a:rPr>
              <a:t>3. Enablement</a:t>
            </a:r>
          </a:p>
          <a:p>
            <a:pPr algn="l">
              <a:spcBef>
                <a:spcPts val="400"/>
              </a:spcBef>
              <a:spcAft>
                <a:spcPts val="200"/>
              </a:spcAft>
            </a:pPr>
            <a:r>
              <a:rPr sz="1300" b="1" i="0">
                <a:solidFill>
                  <a:srgbClr val="000000"/>
                </a:solidFill>
              </a:rPr>
              <a:t>Training</a:t>
            </a:r>
          </a:p>
          <a:p>
            <a:pPr algn="l">
              <a:spcAft>
                <a:spcPts val="500"/>
              </a:spcAft>
            </a:pPr>
            <a:r>
              <a:rPr sz="1300" b="0" i="1">
                <a:solidFill>
                  <a:srgbClr val="60607D"/>
                </a:solidFill>
              </a:rPr>
              <a:t>[How people will learn: live sessions, self-serve modules, documentation.]</a:t>
            </a:r>
          </a:p>
          <a:p>
            <a:pPr algn="l">
              <a:spcBef>
                <a:spcPts val="400"/>
              </a:spcBef>
              <a:spcAft>
                <a:spcPts val="200"/>
              </a:spcAft>
            </a:pPr>
            <a:r>
              <a:rPr sz="1300" b="1" i="0">
                <a:solidFill>
                  <a:srgbClr val="000000"/>
                </a:solidFill>
              </a:rPr>
              <a:t>Where to find things</a:t>
            </a:r>
          </a:p>
          <a:p>
            <a:pPr algn="l">
              <a:spcAft>
                <a:spcPts val="500"/>
              </a:spcAft>
            </a:pPr>
            <a:r>
              <a:rPr sz="1300" b="0" i="1">
                <a:solidFill>
                  <a:srgbClr val="60607D"/>
                </a:solidFill>
              </a:rPr>
              <a:t>[One place for user guides, quick reference cards and FAQs.]</a:t>
            </a:r>
          </a:p>
          <a:p>
            <a:pPr algn="l">
              <a:spcBef>
                <a:spcPts val="400"/>
              </a:spcBef>
              <a:spcAft>
                <a:spcPts val="200"/>
              </a:spcAft>
            </a:pPr>
            <a:r>
              <a:rPr sz="1300" b="1" i="0">
                <a:solidFill>
                  <a:srgbClr val="000000"/>
                </a:solidFill>
              </a:rPr>
              <a:t>Getting help</a:t>
            </a:r>
          </a:p>
          <a:p>
            <a:pPr algn="l">
              <a:spcAft>
                <a:spcPts val="500"/>
              </a:spcAft>
            </a:pPr>
            <a:r>
              <a:rPr sz="1300" b="0" i="1">
                <a:solidFill>
                  <a:srgbClr val="60607D"/>
                </a:solidFill>
              </a:rPr>
              <a:t>[Where people go when they get stuck during the rollout.]</a:t>
            </a:r>
          </a:p>
        </p:txBody>
      </p:sp>
      <p:sp>
        <p:nvSpPr>
          <p:cNvPr id="532" name="Rounded Rectangle 531"/>
          <p:cNvSpPr/>
          <p:nvPr/>
        </p:nvSpPr>
        <p:spPr>
          <a:xfrm>
            <a:off x="9027900" y="1170000"/>
            <a:ext cx="2706900" cy="50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000000"/>
                </a:solidFill>
              </a:rPr>
              <a:t>4. Measuring &amp; Sustaining</a:t>
            </a:r>
          </a:p>
          <a:p>
            <a:pPr algn="l">
              <a:spcBef>
                <a:spcPts val="400"/>
              </a:spcBef>
              <a:spcAft>
                <a:spcPts val="200"/>
              </a:spcAft>
            </a:pPr>
            <a:r>
              <a:rPr sz="1300" b="1" i="0">
                <a:solidFill>
                  <a:srgbClr val="000000"/>
                </a:solidFill>
              </a:rPr>
              <a:t>Success measures</a:t>
            </a:r>
          </a:p>
          <a:p>
            <a:pPr algn="l">
              <a:spcAft>
                <a:spcPts val="500"/>
              </a:spcAft>
            </a:pPr>
            <a:r>
              <a:rPr sz="1300" b="0" i="1">
                <a:solidFill>
                  <a:srgbClr val="60607D"/>
                </a:solidFill>
              </a:rPr>
              <a:t>[The numbers that show healthy adoption, such as login rates, task completion and drop-off from the old way.]</a:t>
            </a:r>
          </a:p>
          <a:p>
            <a:pPr algn="l">
              <a:spcBef>
                <a:spcPts val="400"/>
              </a:spcBef>
              <a:spcAft>
                <a:spcPts val="200"/>
              </a:spcAft>
            </a:pPr>
            <a:r>
              <a:rPr sz="1300" b="1" i="0">
                <a:solidFill>
                  <a:srgbClr val="000000"/>
                </a:solidFill>
              </a:rPr>
              <a:t>Feedback</a:t>
            </a:r>
          </a:p>
          <a:p>
            <a:pPr algn="l">
              <a:spcAft>
                <a:spcPts val="500"/>
              </a:spcAft>
            </a:pPr>
            <a:r>
              <a:rPr sz="1300" b="0" i="1">
                <a:solidFill>
                  <a:srgbClr val="60607D"/>
                </a:solidFill>
              </a:rPr>
              <a:t>[How we capture friction and sentiment after launch so we can fix things quickly.]</a:t>
            </a:r>
          </a:p>
          <a:p>
            <a:pPr algn="l">
              <a:spcBef>
                <a:spcPts val="400"/>
              </a:spcBef>
              <a:spcAft>
                <a:spcPts val="200"/>
              </a:spcAft>
            </a:pPr>
            <a:r>
              <a:rPr sz="1300" b="1" i="0">
                <a:solidFill>
                  <a:srgbClr val="000000"/>
                </a:solidFill>
              </a:rPr>
              <a:t>Long-term owner</a:t>
            </a:r>
          </a:p>
          <a:p>
            <a:pPr algn="l">
              <a:spcAft>
                <a:spcPts val="500"/>
              </a:spcAft>
            </a:pPr>
            <a:r>
              <a:rPr sz="1300" b="0" i="1">
                <a:solidFill>
                  <a:srgbClr val="60607D"/>
                </a:solidFill>
              </a:rPr>
              <a:t>[Who owns ongoing updates, new-hire onboarding and keeping the process current.]</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31" name="Picture 530" descr="rail_p3.jpg"/>
          <p:cNvPicPr>
            <a:picLocks noChangeAspect="1"/>
          </p:cNvPicPr>
          <p:nvPr/>
        </p:nvPicPr>
        <p:blipFill>
          <a:blip r:embed="rId2"/>
          <a:stretch>
            <a:fillRect/>
          </a:stretch>
        </p:blipFill>
        <p:spPr>
          <a:xfrm>
            <a:off x="228600" y="228600"/>
            <a:ext cx="3200000" cy="6171400"/>
          </a:xfrm>
          <a:prstGeom prst="roundRect">
            <a:avLst>
              <a:gd name="adj" fmla="val 3600"/>
            </a:avLst>
          </a:prstGeom>
        </p:spPr>
      </p:pic>
      <p:sp>
        <p:nvSpPr>
          <p:cNvPr id="532" name="Rounded Rectangle 531"/>
          <p:cNvSpPr/>
          <p:nvPr/>
        </p:nvSpPr>
        <p:spPr>
          <a:xfrm>
            <a:off x="228600" y="228600"/>
            <a:ext cx="3200000" cy="6171400"/>
          </a:xfrm>
          <a:prstGeom prst="roundRect">
            <a:avLst>
              <a:gd name="adj" fmla="val 3600"/>
            </a:avLst>
          </a:prstGeom>
          <a:gradFill rotWithShape="1">
            <a:gsLst>
              <a:gs pos="0">
                <a:srgbClr val="000000">
                  <a:alpha val="68000"/>
                </a:srgbClr>
              </a:gs>
              <a:gs pos="45000">
                <a:srgbClr val="000000">
                  <a:alpha val="50000"/>
                </a:srgbClr>
              </a:gs>
              <a:gs pos="100000">
                <a:srgbClr val="000000">
                  <a:alpha val="82000"/>
                </a:srgbClr>
              </a:gs>
            </a:gsLst>
            <a:lin ang="5400000" scaled="0"/>
          </a:gradFill>
          <a:ln>
            <a:noFill/>
          </a:ln>
        </p:spPr>
        <p:txBody>
          <a:bodyPr rtlCol="0" anchor="ctr"/>
          <a:lstStyle/>
          <a:p>
            <a:pPr algn="ctr"/>
            <a:endParaRPr/>
          </a:p>
        </p:txBody>
      </p:sp>
      <p:sp>
        <p:nvSpPr>
          <p:cNvPr id="533" name="Rounded Rectangle 532"/>
          <p:cNvSpPr/>
          <p:nvPr/>
        </p:nvSpPr>
        <p:spPr>
          <a:xfrm>
            <a:off x="378600" y="378600"/>
            <a:ext cx="2900000" cy="2050000"/>
          </a:xfrm>
          <a:prstGeom prst="roundRect">
            <a:avLst>
              <a:gd name="adj" fmla="val 5000"/>
            </a:avLst>
          </a:prstGeom>
          <a:solidFill>
            <a:srgbClr val="000000">
              <a:alpha val="62000"/>
            </a:srgbClr>
          </a:solidFill>
          <a:ln>
            <a:noFill/>
          </a:ln>
        </p:spPr>
        <p:txBody>
          <a:bodyPr rtlCol="0" anchor="ctr"/>
          <a:lstStyle/>
          <a:p>
            <a:pPr algn="ctr"/>
            <a:endParaRPr/>
          </a:p>
        </p:txBody>
      </p:sp>
      <p:sp>
        <p:nvSpPr>
          <p:cNvPr id="8" name="Text Placeholder 7">
            <a:extLst>
              <a:ext uri="{FF2B5EF4-FFF2-40B4-BE49-F238E27FC236}">
                <a16:creationId xmlns:a16="http://schemas.microsoft.com/office/drawing/2014/main" id="{43A36069-C4E2-A327-FEBF-07750730ECEA}"/>
              </a:ext>
            </a:extLst>
          </p:cNvPr>
          <p:cNvSpPr>
            <a:spLocks noGrp="1"/>
          </p:cNvSpPr>
          <p:nvPr>
            <p:ph type="body" sz="quarter" idx="12"/>
          </p:nvPr>
        </p:nvSpPr>
        <p:spPr>
          <a:xfrm>
            <a:off x="508600" y="558600"/>
            <a:ext cx="2640000" cy="182880"/>
          </a:xfrm>
        </p:spPr>
        <p:txBody>
          <a:bodyPr>
            <a:noAutofit/>
          </a:bodyPr>
          <a:lstStyle/>
          <a:p>
            <a:r>
              <a:rPr lang="en-US" dirty="0">
                <a:solidFill>
                  <a:srgbClr val="0391F2"/>
                </a:solidFill>
              </a:rPr>
              <a:t>OPS PRIORITIES</a:t>
            </a:r>
          </a:p>
        </p:txBody>
      </p:sp>
      <p:sp>
        <p:nvSpPr>
          <p:cNvPr id="21" name="Title 20">
            <a:extLst>
              <a:ext uri="{FF2B5EF4-FFF2-40B4-BE49-F238E27FC236}">
                <a16:creationId xmlns:a16="http://schemas.microsoft.com/office/drawing/2014/main" id="{50CCB795-307F-C643-C7C1-507D8B5B32EB}"/>
              </a:ext>
            </a:extLst>
          </p:cNvPr>
          <p:cNvSpPr>
            <a:spLocks noGrp="1"/>
          </p:cNvSpPr>
          <p:nvPr>
            <p:ph type="title"/>
          </p:nvPr>
        </p:nvSpPr>
        <p:spPr>
          <a:xfrm>
            <a:off x="508600" y="868600"/>
            <a:ext cx="2640000" cy="2300000"/>
          </a:xfrm>
        </p:spPr>
        <p:txBody>
          <a:bodyPr>
            <a:noAutofit/>
          </a:bodyPr>
          <a:lstStyle/>
          <a:p>
            <a:r>
              <a:rPr lang="en-US" sz="2400" dirty="0">
                <a:solidFill>
                  <a:schemeClr val="bg1"/>
                </a:solidFill>
              </a:rPr>
              <a:t>Intake: Update</a:t>
            </a:r>
          </a:p>
        </p:txBody>
      </p:sp>
      <p:sp>
        <p:nvSpPr>
          <p:cNvPr id="13" name="Rounded Rectangle 12">
            <a:extLst>
              <a:ext uri="{FF2B5EF4-FFF2-40B4-BE49-F238E27FC236}">
                <a16:creationId xmlns:a16="http://schemas.microsoft.com/office/drawing/2014/main" id="{5637A419-FF94-DBCB-082F-42BC6E7DAE00}"/>
              </a:ext>
            </a:extLst>
          </p:cNvPr>
          <p:cNvSpPr>
            <a:spLocks/>
          </p:cNvSpPr>
          <p:nvPr/>
        </p:nvSpPr>
        <p:spPr>
          <a:xfrm>
            <a:off x="508600" y="5340000"/>
            <a:ext cx="2640000" cy="780000"/>
          </a:xfrm>
          <a:prstGeom prst="roundRect">
            <a:avLst>
              <a:gd name="adj" fmla="val 28000"/>
            </a:avLst>
          </a:prstGeom>
          <a:solidFill>
            <a:srgbClr val="000000">
              <a:alpha val="72000"/>
            </a:srgbClr>
          </a:solidFill>
          <a:ln w="9525">
            <a:solidFill>
              <a:srgbClr val="FFFFFF">
                <a:alpha val="45000"/>
              </a:srgbClr>
            </a:solidFill>
          </a:ln>
        </p:spPr>
        <p:txBody>
          <a:bodyPr wrap="square" lIns="150000" rIns="120000" rtlCol="0" anchor="ctr">
            <a:noAutofit/>
          </a:bodyPr>
          <a:lstStyle/>
          <a:p>
            <a:r>
              <a:rPr lang="en-US" sz="1050" b="1">
                <a:solidFill>
                  <a:srgbClr val="FFFFFF"/>
                </a:solidFill>
                <a:cs typeface="+mn-cs"/>
              </a:rPr>
              <a:t>Owner(s)</a:t>
            </a:r>
          </a:p>
          <a:p>
            <a:r>
              <a:rPr lang="en-US" sz="900" i="0">
                <a:solidFill>
                  <a:srgbClr val="FFFFFF"/>
                </a:solidFill>
                <a:cs typeface="+mn-cs"/>
              </a:rPr>
              <a:t>Missy Foristall, Deana Derocha</a:t>
            </a:r>
          </a:p>
        </p:txBody>
      </p:sp>
      <p:sp>
        <p:nvSpPr>
          <p:cNvPr id="528" name="Card WHAT HAS BEEN ACCOMPLISHED">
            <a:extLst>
              <a:ext uri="{FF2B5EF4-FFF2-40B4-BE49-F238E27FC236}">
                <a16:creationId xmlns:a16="http://schemas.microsoft.com/office/drawing/2014/main" id="{615D6856-4CC4-0C29-A8AF-F4BF58F532AB}"/>
              </a:ext>
            </a:extLst>
          </p:cNvPr>
          <p:cNvSpPr>
            <a:spLocks noGrp="1" noRot="1" noMove="1" noResize="1" noEditPoints="1" noAdjustHandles="1" noChangeArrowheads="1" noChangeShapeType="1"/>
          </p:cNvSpPr>
          <p:nvPr/>
        </p:nvSpPr>
        <p:spPr>
          <a:xfrm>
            <a:off x="3628600" y="228600"/>
            <a:ext cx="4092400" cy="34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35000" tIns="200000" rIns="210000" bIns="90000" rtlCol="0" anchor="t">
            <a:noAutofit/>
          </a:bodyPr>
          <a:lstStyle/>
          <a:p>
            <a:pPr>
              <a:spcAft>
                <a:spcPts val="600"/>
              </a:spcAft>
            </a:pPr>
            <a:r>
              <a:rPr lang="en-US" sz="1200" b="1">
                <a:solidFill>
                  <a:srgbClr val="000000"/>
                </a:solidFill>
              </a:rPr>
              <a:t>WHAT HAS BEEN ACCOMPLISHED</a:t>
            </a:r>
          </a:p>
          <a:p>
            <a:pPr marL="171450" indent="-171450">
              <a:spcAft>
                <a:spcPts val="600"/>
              </a:spcAft>
              <a:buFont typeface="Arial" panose="020B0604020202020204" pitchFamily="34" charset="0"/>
              <a:buChar char="•"/>
            </a:pPr>
            <a:r>
              <a:rPr lang="en-US" sz="1300"/>
              <a:t>Alias creation complete: DDM_Opportunity and DBT_Opportunity are live.</a:t>
            </a:r>
          </a:p>
          <a:p>
            <a:pPr marL="171450" indent="-171450">
              <a:spcAft>
                <a:spcPts val="600"/>
              </a:spcAft>
              <a:buFont typeface="Arial" panose="020B0604020202020204" pitchFamily="34" charset="0"/>
              <a:buChar char="•"/>
            </a:pPr>
            <a:r>
              <a:rPr lang="en-US" sz="1300"/>
              <a:t>C&amp;C has been informed of the alias and process.</a:t>
            </a:r>
          </a:p>
        </p:txBody>
      </p:sp>
      <p:sp>
        <p:nvSpPr>
          <p:cNvPr id="529" name="Card NEXT MILESTONES">
            <a:extLst>
              <a:ext uri="{FF2B5EF4-FFF2-40B4-BE49-F238E27FC236}">
                <a16:creationId xmlns:a16="http://schemas.microsoft.com/office/drawing/2014/main" id="{615D6856-4CC4-0C29-A8AF-F4BF58F532AB}"/>
              </a:ext>
            </a:extLst>
          </p:cNvPr>
          <p:cNvSpPr>
            <a:spLocks noGrp="1" noRot="1" noMove="1" noResize="1" noEditPoints="1" noAdjustHandles="1" noChangeArrowheads="1" noChangeShapeType="1"/>
          </p:cNvSpPr>
          <p:nvPr/>
        </p:nvSpPr>
        <p:spPr>
          <a:xfrm>
            <a:off x="7871000" y="228600"/>
            <a:ext cx="4092400" cy="34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35000" tIns="200000" rIns="210000" bIns="90000" rtlCol="0" anchor="t">
            <a:noAutofit/>
          </a:bodyPr>
          <a:lstStyle/>
          <a:p>
            <a:pPr>
              <a:spcAft>
                <a:spcPts val="600"/>
              </a:spcAft>
            </a:pPr>
            <a:r>
              <a:rPr lang="en-US" sz="1200" b="1">
                <a:solidFill>
                  <a:srgbClr val="000000"/>
                </a:solidFill>
              </a:rPr>
              <a:t>NEXT MILESTONES</a:t>
            </a:r>
          </a:p>
          <a:p>
            <a:pPr marL="171450" indent="-171450">
              <a:spcAft>
                <a:spcPts val="600"/>
              </a:spcAft>
              <a:buFont typeface="Arial" panose="020B0604020202020204" pitchFamily="34" charset="0"/>
              <a:buChar char="•"/>
            </a:pPr>
            <a:r>
              <a:rPr lang="en-US" sz="1300"/>
              <a:t>SME Case Request in SF: 10/16 target launch date.</a:t>
            </a:r>
          </a:p>
          <a:p>
            <a:pPr marL="171450" indent="-171450">
              <a:spcAft>
                <a:spcPts val="600"/>
              </a:spcAft>
              <a:buFont typeface="Arial" panose="020B0604020202020204" pitchFamily="34" charset="0"/>
              <a:buChar char="•"/>
            </a:pPr>
            <a:r>
              <a:rPr lang="en-US" sz="1300"/>
              <a:t>RACI updates: 11/1 estimated rollout.</a:t>
            </a:r>
          </a:p>
        </p:txBody>
      </p:sp>
      <p:sp>
        <p:nvSpPr>
          <p:cNvPr id="530" name="Card WHAT IS IN OUR WAY / WHAT WE NEED FROM YOU">
            <a:extLst>
              <a:ext uri="{FF2B5EF4-FFF2-40B4-BE49-F238E27FC236}">
                <a16:creationId xmlns:a16="http://schemas.microsoft.com/office/drawing/2014/main" id="{615D6856-4CC4-0C29-A8AF-F4BF58F532AB}"/>
              </a:ext>
            </a:extLst>
          </p:cNvPr>
          <p:cNvSpPr>
            <a:spLocks noGrp="1" noRot="1" noMove="1" noResize="1" noEditPoints="1" noAdjustHandles="1" noChangeArrowheads="1" noChangeShapeType="1"/>
          </p:cNvSpPr>
          <p:nvPr/>
        </p:nvSpPr>
        <p:spPr>
          <a:xfrm>
            <a:off x="3628600" y="3778600"/>
            <a:ext cx="8334800" cy="2621400"/>
          </a:xfrm>
          <a:prstGeom prst="roundRect">
            <a:avLst>
              <a:gd name="adj" fmla="val 2400"/>
            </a:avLst>
          </a:prstGeom>
          <a:solidFill>
            <a:srgbClr val="000000"/>
          </a:solidFill>
          <a:ln>
            <a:noFill/>
          </a:ln>
          <a:effectLst>
            <a:outerShdw blurRad="190500" dist="50800" dir="5400000" algn="t" rotWithShape="0">
              <a:srgbClr val="000000">
                <a:alpha val="13000"/>
              </a:srgbClr>
            </a:outerShdw>
          </a:effectLst>
        </p:spPr>
        <p:txBody>
          <a:bodyPr wrap="square" lIns="235000" tIns="200000" rIns="210000" bIns="90000" rtlCol="0" anchor="t">
            <a:noAutofit/>
          </a:bodyPr>
          <a:lstStyle/>
          <a:p>
            <a:pPr>
              <a:spcAft>
                <a:spcPts val="600"/>
              </a:spcAft>
            </a:pPr>
            <a:r>
              <a:rPr lang="en-US" sz="1200" b="1" dirty="0">
                <a:solidFill>
                  <a:srgbClr val="D6D6DF"/>
                </a:solidFill>
              </a:rPr>
              <a:t>WHAT IS IN OUR WAY / WHAT WE NEED FROM YOU</a:t>
            </a:r>
          </a:p>
          <a:p>
            <a:pPr marL="171450" indent="-171450">
              <a:spcAft>
                <a:spcPts val="600"/>
              </a:spcAft>
              <a:buFont typeface="Arial" panose="020B0604020202020204" pitchFamily="34" charset="0"/>
              <a:buChar char="•"/>
            </a:pPr>
            <a:r>
              <a:rPr lang="en-US" sz="1300" dirty="0">
                <a:solidFill>
                  <a:srgbClr val="FFFFFF"/>
                </a:solidFill>
              </a:rPr>
              <a:t>Adoption has been slow: people still go to known individuals for help, cutting into BU visibility and ability to help.</a:t>
            </a:r>
          </a:p>
          <a:p>
            <a:pPr marL="171450" indent="-171450">
              <a:spcAft>
                <a:spcPts val="600"/>
              </a:spcAft>
              <a:buFont typeface="Arial" panose="020B0604020202020204" pitchFamily="34" charset="0"/>
              <a:buChar char="•"/>
            </a:pPr>
            <a:r>
              <a:rPr lang="en-US" sz="1300" dirty="0">
                <a:solidFill>
                  <a:srgbClr val="FFFFFF"/>
                </a:solidFill>
              </a:rPr>
              <a:t>Leadership ask: C&amp;C leadership support in redirecting request.</a:t>
            </a:r>
          </a:p>
        </p:txBody>
      </p:sp>
      <p:sp>
        <p:nvSpPr>
          <p:cNvPr id="534" name="Rounded Rectangle 533"/>
          <p:cNvSpPr/>
          <p:nvPr/>
        </p:nvSpPr>
        <p:spPr>
          <a:xfrm>
            <a:off x="508600" y="4920000"/>
            <a:ext cx="2640000" cy="330000"/>
          </a:xfrm>
          <a:prstGeom prst="roundRect">
            <a:avLst>
              <a:gd name="adj" fmla="val 28000"/>
            </a:avLst>
          </a:prstGeom>
          <a:solidFill>
            <a:srgbClr val="000000">
              <a:alpha val="72000"/>
            </a:srgbClr>
          </a:solidFill>
          <a:ln w="9525">
            <a:solidFill>
              <a:srgbClr val="FFFFFF">
                <a:alpha val="45000"/>
              </a:srgbClr>
            </a:solidFill>
          </a:ln>
        </p:spPr>
        <p:txBody>
          <a:bodyPr wrap="square" lIns="150000" tIns="20000" rIns="120000" bIns="20000" rtlCol="0" anchor="ctr"/>
          <a:lstStyle/>
          <a:p>
            <a:pPr algn="l"/>
            <a:r>
              <a:rPr sz="900" b="1" i="0">
                <a:solidFill>
                  <a:srgbClr val="FFFFFF"/>
                </a:solidFill>
              </a:rPr>
              <a:t>Last updated: </a:t>
            </a:r>
            <a:r>
              <a:rPr sz="900" b="0" i="1">
                <a:solidFill>
                  <a:srgbClr val="D6D6DF"/>
                </a:solidFill>
              </a:rPr>
              <a:t>[date]</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27" name="Picture 526" descr="hero_p3.jpg"/>
          <p:cNvPicPr>
            <a:picLocks noChangeAspect="1"/>
          </p:cNvPicPr>
          <p:nvPr/>
        </p:nvPicPr>
        <p:blipFill>
          <a:blip r:embed="rId2"/>
          <a:stretch>
            <a:fillRect/>
          </a:stretch>
        </p:blipFill>
        <p:spPr>
          <a:xfrm>
            <a:off x="0" y="0"/>
            <a:ext cx="12192000" cy="1000000"/>
          </a:xfrm>
          <a:prstGeom prst="rect">
            <a:avLst/>
          </a:prstGeom>
        </p:spPr>
      </p:pic>
      <p:sp>
        <p:nvSpPr>
          <p:cNvPr id="528" name="Rectangle 527"/>
          <p:cNvSpPr/>
          <p:nvPr/>
        </p:nvSpPr>
        <p:spPr>
          <a:xfrm>
            <a:off x="0" y="0"/>
            <a:ext cx="12192000" cy="1000000"/>
          </a:xfrm>
          <a:prstGeom prst="rect">
            <a:avLst/>
          </a:prstGeom>
          <a:gradFill rotWithShape="1">
            <a:gsLst>
              <a:gs pos="0">
                <a:srgbClr val="000000">
                  <a:alpha val="90000"/>
                </a:srgbClr>
              </a:gs>
              <a:gs pos="50000">
                <a:srgbClr val="000000">
                  <a:alpha val="74000"/>
                </a:srgbClr>
              </a:gs>
              <a:gs pos="100000">
                <a:srgbClr val="000000">
                  <a:alpha val="62000"/>
                </a:srgbClr>
              </a:gs>
            </a:gsLst>
            <a:lin ang="0" scaled="0"/>
          </a:gradFill>
          <a:ln>
            <a:noFill/>
          </a:ln>
        </p:spPr>
        <p:txBody>
          <a:bodyPr rtlCol="0" anchor="ctr"/>
          <a:lstStyle/>
          <a:p>
            <a:pPr algn="ctr"/>
            <a:endParaRPr/>
          </a:p>
        </p:txBody>
      </p:sp>
      <p:pic>
        <p:nvPicPr>
          <p:cNvPr id="529" name="Picture 528" descr="f_phase_intake.jpg"/>
          <p:cNvPicPr>
            <a:picLocks noChangeAspect="1"/>
          </p:cNvPicPr>
          <p:nvPr/>
        </p:nvPicPr>
        <p:blipFill>
          <a:blip r:embed="rId3"/>
          <a:stretch>
            <a:fillRect/>
          </a:stretch>
        </p:blipFill>
        <p:spPr>
          <a:xfrm>
            <a:off x="0" y="0"/>
            <a:ext cx="4480560" cy="6858000"/>
          </a:xfrm>
          <a:prstGeom prst="rect">
            <a:avLst/>
          </a:prstGeom>
        </p:spPr>
      </p:pic>
      <p:sp>
        <p:nvSpPr>
          <p:cNvPr id="530" name="Rectangle 529"/>
          <p:cNvSpPr/>
          <p:nvPr/>
        </p:nvSpPr>
        <p:spPr>
          <a:xfrm>
            <a:off x="0" y="0"/>
            <a:ext cx="4480560" cy="6858000"/>
          </a:xfrm>
          <a:prstGeom prst="rect">
            <a:avLst/>
          </a:prstGeom>
          <a:gradFill rotWithShape="1">
            <a:gsLst>
              <a:gs pos="0">
                <a:srgbClr val="000000">
                  <a:alpha val="70000"/>
                </a:srgbClr>
              </a:gs>
              <a:gs pos="50000">
                <a:srgbClr val="000000">
                  <a:alpha val="55000"/>
                </a:srgbClr>
              </a:gs>
              <a:gs pos="100000">
                <a:srgbClr val="000000">
                  <a:alpha val="85000"/>
                </a:srgbClr>
              </a:gs>
            </a:gsLst>
            <a:lin ang="5400000" scaled="0"/>
          </a:gradFill>
          <a:ln>
            <a:noFill/>
          </a:ln>
        </p:spPr>
        <p:txBody>
          <a:bodyPr rtlCol="0" anchor="ctr"/>
          <a:lstStyle/>
          <a:p>
            <a:pPr algn="ctr"/>
            <a:endParaRPr/>
          </a:p>
        </p:txBody>
      </p:sp>
      <p:sp>
        <p:nvSpPr>
          <p:cNvPr id="531" name="Rounded Rectangle 530"/>
          <p:cNvSpPr/>
          <p:nvPr/>
        </p:nvSpPr>
        <p:spPr>
          <a:xfrm>
            <a:off x="320040" y="2194560"/>
            <a:ext cx="3840480" cy="2377440"/>
          </a:xfrm>
          <a:prstGeom prst="roundRect">
            <a:avLst>
              <a:gd name="adj" fmla="val 5000"/>
            </a:avLst>
          </a:prstGeom>
          <a:solidFill>
            <a:srgbClr val="000000">
              <a:alpha val="62000"/>
            </a:srgbClr>
          </a:solidFill>
          <a:ln>
            <a:noFill/>
          </a:ln>
        </p:spPr>
        <p:txBody>
          <a:bodyPr rtlCol="0" anchor="ctr"/>
          <a:lstStyle/>
          <a:p>
            <a:pPr algn="ctr"/>
            <a:endParaRPr/>
          </a:p>
        </p:txBody>
      </p:sp>
      <p:sp>
        <p:nvSpPr>
          <p:cNvPr id="3" name="Title 2"/>
          <p:cNvSpPr>
            <a:spLocks noGrp="1"/>
          </p:cNvSpPr>
          <p:nvPr>
            <p:ph type="title"/>
          </p:nvPr>
        </p:nvSpPr>
        <p:spPr>
          <a:xfrm>
            <a:off x="4892040" y="300000"/>
            <a:ext cx="3907960" cy="560000"/>
          </a:xfrm>
        </p:spPr>
        <p:txBody>
          <a:bodyPr/>
          <a:lstStyle/>
          <a:p>
            <a:r>
              <a:rPr sz="2400">
                <a:solidFill>
                  <a:srgbClr val="FFFFFF"/>
                </a:solidFill>
              </a:rPr>
              <a:t>Intake Updates</a:t>
            </a:r>
          </a:p>
        </p:txBody>
      </p:sp>
      <p:sp>
        <p:nvSpPr>
          <p:cNvPr id="4" name="Text Placeholder 3"/>
          <p:cNvSpPr>
            <a:spLocks noGrp="1"/>
          </p:cNvSpPr>
          <p:nvPr>
            <p:ph type="body" sz="quarter" idx="12"/>
          </p:nvPr>
        </p:nvSpPr>
        <p:spPr>
          <a:xfrm>
            <a:off x="4892040" y="170000"/>
            <a:ext cx="8000000" cy="182880"/>
          </a:xfrm>
        </p:spPr>
        <p:txBody>
          <a:bodyPr/>
          <a:lstStyle/>
          <a:p>
            <a:r>
              <a:rPr>
                <a:solidFill>
                  <a:srgbClr val="0391F2"/>
                </a:solidFill>
              </a:rPr>
              <a:t>INTAKE UPDATES · DETAIL</a:t>
            </a:r>
          </a:p>
        </p:txBody>
      </p:sp>
      <p:sp>
        <p:nvSpPr>
          <p:cNvPr id="13" name="Rounded Rectangle 12">
            <a:extLst>
              <a:ext uri="{FF2B5EF4-FFF2-40B4-BE49-F238E27FC236}">
                <a16:creationId xmlns:a16="http://schemas.microsoft.com/office/drawing/2014/main" id="{5637A419-FF94-DBCB-082F-42BC6E7DAE00}"/>
              </a:ext>
            </a:extLst>
          </p:cNvPr>
          <p:cNvSpPr>
            <a:spLocks/>
          </p:cNvSpPr>
          <p:nvPr/>
        </p:nvSpPr>
        <p:spPr>
          <a:xfrm>
            <a:off x="8900000" y="250000"/>
            <a:ext cx="2850000" cy="450000"/>
          </a:xfrm>
          <a:prstGeom prst="roundRect">
            <a:avLst>
              <a:gd name="adj" fmla="val 28000"/>
            </a:avLst>
          </a:prstGeom>
          <a:solidFill>
            <a:srgbClr val="000000">
              <a:alpha val="72000"/>
            </a:srgbClr>
          </a:solidFill>
          <a:ln w="9525">
            <a:solidFill>
              <a:srgbClr val="FFFFFF">
                <a:alpha val="45000"/>
              </a:srgbClr>
            </a:solidFill>
          </a:ln>
        </p:spPr>
        <p:txBody>
          <a:bodyPr wrap="square" lIns="150000" rIns="120000" rtlCol="0" anchor="ctr">
            <a:noAutofit/>
          </a:bodyPr>
          <a:lstStyle/>
          <a:p>
            <a:r>
              <a:rPr lang="en-US" sz="1050" b="1">
                <a:solidFill>
                  <a:srgbClr val="FFFFFF"/>
                </a:solidFill>
                <a:cs typeface="+mn-cs"/>
              </a:rPr>
              <a:t>Owner(s)</a:t>
            </a:r>
          </a:p>
          <a:p>
            <a:r>
              <a:rPr lang="en-US" sz="900" i="0">
                <a:solidFill>
                  <a:srgbClr val="FFFFFF"/>
                </a:solidFill>
                <a:cs typeface="+mn-cs"/>
              </a:rPr>
              <a:t>Missy Foristall, Deana Derocha</a:t>
            </a:r>
          </a:p>
        </p:txBody>
      </p:sp>
      <p:sp>
        <p:nvSpPr>
          <p:cNvPr id="532" name="TextBox 531"/>
          <p:cNvSpPr txBox="1"/>
          <p:nvPr/>
        </p:nvSpPr>
        <p:spPr>
          <a:xfrm>
            <a:off x="640080" y="2377440"/>
            <a:ext cx="3200400" cy="228600"/>
          </a:xfrm>
          <a:prstGeom prst="rect">
            <a:avLst/>
          </a:prstGeom>
          <a:noFill/>
        </p:spPr>
        <p:txBody>
          <a:bodyPr wrap="square" lIns="0" tIns="0" rIns="0" bIns="0" anchor="t">
            <a:spAutoFit/>
          </a:bodyPr>
          <a:lstStyle/>
          <a:p>
            <a:pPr algn="l">
              <a:spcBef>
                <a:spcPts val="200"/>
              </a:spcBef>
              <a:spcAft>
                <a:spcPts val="200"/>
              </a:spcAft>
            </a:pPr>
            <a:r>
              <a:rPr sz="850" b="1" i="0" cap="all" spc="100">
                <a:solidFill>
                  <a:srgbClr val="D6D6DF"/>
                </a:solidFill>
              </a:rPr>
              <a:t>ALREADY IN MOTION</a:t>
            </a:r>
          </a:p>
        </p:txBody>
      </p:sp>
      <p:sp>
        <p:nvSpPr>
          <p:cNvPr id="533" name="TextBox 532"/>
          <p:cNvSpPr txBox="1"/>
          <p:nvPr/>
        </p:nvSpPr>
        <p:spPr>
          <a:xfrm>
            <a:off x="640080" y="2697480"/>
            <a:ext cx="3200400" cy="731520"/>
          </a:xfrm>
          <a:prstGeom prst="rect">
            <a:avLst/>
          </a:prstGeom>
          <a:noFill/>
        </p:spPr>
        <p:txBody>
          <a:bodyPr wrap="square" lIns="0" tIns="0" rIns="0" bIns="0" anchor="t">
            <a:spAutoFit/>
          </a:bodyPr>
          <a:lstStyle/>
          <a:p>
            <a:pPr algn="l">
              <a:spcBef>
                <a:spcPts val="400"/>
              </a:spcBef>
              <a:spcAft>
                <a:spcPts val="500"/>
              </a:spcAft>
            </a:pPr>
            <a:r>
              <a:rPr sz="3200" b="1" i="0">
                <a:solidFill>
                  <a:srgbClr val="FFFFFF"/>
                </a:solidFill>
              </a:rPr>
              <a:t>Intake</a:t>
            </a:r>
          </a:p>
        </p:txBody>
      </p:sp>
      <p:sp>
        <p:nvSpPr>
          <p:cNvPr id="534" name="TextBox 533"/>
          <p:cNvSpPr txBox="1"/>
          <p:nvPr/>
        </p:nvSpPr>
        <p:spPr>
          <a:xfrm>
            <a:off x="640080" y="3520440"/>
            <a:ext cx="3200400" cy="1005840"/>
          </a:xfrm>
          <a:prstGeom prst="rect">
            <a:avLst/>
          </a:prstGeom>
          <a:noFill/>
        </p:spPr>
        <p:txBody>
          <a:bodyPr wrap="square" lIns="0" tIns="0" rIns="0" bIns="0" anchor="t">
            <a:spAutoFit/>
          </a:bodyPr>
          <a:lstStyle/>
          <a:p>
            <a:pPr algn="l">
              <a:spcAft>
                <a:spcPts val="500"/>
              </a:spcAft>
            </a:pPr>
            <a:r>
              <a:rPr sz="1200" b="0" i="0">
                <a:solidFill>
                  <a:srgbClr val="FFFFFF"/>
                </a:solidFill>
              </a:rPr>
              <a:t>Upstream of Delivery Models — how a request even reaches the right people before it becomes a deal.</a:t>
            </a:r>
          </a:p>
        </p:txBody>
      </p:sp>
      <p:sp>
        <p:nvSpPr>
          <p:cNvPr id="535" name="Rounded Rectangle 534"/>
          <p:cNvSpPr/>
          <p:nvPr/>
        </p:nvSpPr>
        <p:spPr>
          <a:xfrm>
            <a:off x="4892040" y="1170000"/>
            <a:ext cx="3346380" cy="50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a:solidFill>
                  <a:srgbClr val="60607D"/>
                </a:solidFill>
              </a:rPr>
              <a:t>Phase 1</a:t>
            </a:r>
          </a:p>
          <a:p>
            <a:pPr algn="l">
              <a:spcBef>
                <a:spcPts val="400"/>
              </a:spcBef>
              <a:spcAft>
                <a:spcPts val="200"/>
              </a:spcAft>
            </a:pPr>
            <a:r>
              <a:rPr sz="1150" b="1" i="0">
                <a:solidFill>
                  <a:srgbClr val="000000"/>
                </a:solidFill>
              </a:rPr>
              <a:t>Alias Creation</a:t>
            </a:r>
          </a:p>
          <a:p>
            <a:pPr algn="l">
              <a:spcAft>
                <a:spcPts val="500"/>
              </a:spcAft>
            </a:pPr>
            <a:r>
              <a:rPr sz="1150" b="1" i="0">
                <a:solidFill>
                  <a:srgbClr val="000000"/>
                </a:solidFill>
              </a:rPr>
              <a:t>DDM_Opportunity@merkle.com</a:t>
            </a:r>
            <a:r>
              <a:rPr sz="1150" b="0" i="0">
                <a:solidFill>
                  <a:srgbClr val="000000"/>
                </a:solidFill>
              </a:rPr>
              <a:t> and </a:t>
            </a:r>
            <a:r>
              <a:rPr sz="1150" b="1" i="0">
                <a:solidFill>
                  <a:srgbClr val="000000"/>
                </a:solidFill>
              </a:rPr>
              <a:t>DBT_Opportunity@merkle.com</a:t>
            </a:r>
            <a:r>
              <a:rPr sz="1150" b="0" i="0">
                <a:solidFill>
                  <a:srgbClr val="000000"/>
                </a:solidFill>
              </a:rPr>
              <a:t> are live, so requests reach the right BU SMEs without needing to know a matrix of names.</a:t>
            </a:r>
          </a:p>
          <a:p>
            <a:pPr algn="l">
              <a:spcBef>
                <a:spcPts val="400"/>
              </a:spcBef>
              <a:spcAft>
                <a:spcPts val="500"/>
              </a:spcAft>
            </a:pPr>
            <a:r>
              <a:rPr sz="1150" b="1" i="0">
                <a:solidFill>
                  <a:srgbClr val="000000"/>
                </a:solidFill>
              </a:rPr>
              <a:t>What's behind the alias</a:t>
            </a:r>
          </a:p>
          <a:p>
            <a:pPr marL="171450" indent="-171450" algn="l">
              <a:spcAft>
                <a:spcPts val="500"/>
              </a:spcAft>
              <a:buFont typeface="Arial"/>
              <a:buChar char="•"/>
            </a:pPr>
            <a:r>
              <a:rPr sz="1150" b="0" i="0">
                <a:solidFill>
                  <a:srgbClr val="000000"/>
                </a:solidFill>
              </a:rPr>
              <a:t>Request is reviewed and assigned to a lead within the BU</a:t>
            </a:r>
          </a:p>
          <a:p>
            <a:pPr marL="171450" indent="-171450" algn="l">
              <a:spcAft>
                <a:spcPts val="500"/>
              </a:spcAft>
              <a:buFont typeface="Arial"/>
              <a:buChar char="•"/>
            </a:pPr>
            <a:r>
              <a:rPr sz="1150" b="0" i="0">
                <a:solidFill>
                  <a:srgbClr val="000000"/>
                </a:solidFill>
              </a:rPr>
              <a:t>Lead reaches out to gather more info, pulls in solutioning support, and ensures the request is handled — creds, calls, PT entry, etc.</a:t>
            </a:r>
          </a:p>
          <a:p>
            <a:pPr algn="l">
              <a:spcBef>
                <a:spcPts val="400"/>
              </a:spcBef>
              <a:spcAft>
                <a:spcPts val="200"/>
              </a:spcAft>
            </a:pPr>
            <a:r>
              <a:rPr sz="1150" b="1" i="0">
                <a:solidFill>
                  <a:srgbClr val="000000"/>
                </a:solidFill>
              </a:rPr>
              <a:t>Adoption</a:t>
            </a:r>
          </a:p>
          <a:p>
            <a:pPr marL="171450" indent="-171450" algn="l">
              <a:spcAft>
                <a:spcPts val="500"/>
              </a:spcAft>
              <a:buFont typeface="Arial"/>
              <a:buChar char="•"/>
            </a:pPr>
            <a:r>
              <a:rPr sz="1150" b="0" i="0">
                <a:solidFill>
                  <a:srgbClr val="000000"/>
                </a:solidFill>
              </a:rPr>
              <a:t>C&amp;C has been informed of the alias and process</a:t>
            </a:r>
          </a:p>
          <a:p>
            <a:pPr marL="171450" indent="-171450" algn="l">
              <a:spcAft>
                <a:spcPts val="500"/>
              </a:spcAft>
              <a:buFont typeface="Arial"/>
              <a:buChar char="•"/>
            </a:pPr>
            <a:r>
              <a:rPr sz="1150" b="0" i="0">
                <a:solidFill>
                  <a:srgbClr val="000000"/>
                </a:solidFill>
              </a:rPr>
              <a:t>Adoption has been slow: People still go to known individuals for help, cutting into BU visibility and ability to help</a:t>
            </a:r>
          </a:p>
          <a:p>
            <a:pPr algn="l">
              <a:spcBef>
                <a:spcPts val="400"/>
              </a:spcBef>
              <a:spcAft>
                <a:spcPts val="200"/>
              </a:spcAft>
            </a:pPr>
            <a:r>
              <a:rPr sz="1150" b="1" i="0">
                <a:solidFill>
                  <a:srgbClr val="000000"/>
                </a:solidFill>
              </a:rPr>
              <a:t>Leadership Ask</a:t>
            </a:r>
          </a:p>
          <a:p>
            <a:pPr marL="171450" indent="-171450" algn="l">
              <a:spcAft>
                <a:spcPts val="500"/>
              </a:spcAft>
              <a:buFont typeface="Arial"/>
              <a:buChar char="•"/>
            </a:pPr>
            <a:r>
              <a:rPr sz="1150" b="0" i="0">
                <a:solidFill>
                  <a:srgbClr val="000000"/>
                </a:solidFill>
              </a:rPr>
              <a:t>C&amp;C leadership support in redirecting request</a:t>
            </a:r>
          </a:p>
        </p:txBody>
      </p:sp>
      <p:sp>
        <p:nvSpPr>
          <p:cNvPr id="536" name="Rounded Rectangle 535"/>
          <p:cNvSpPr/>
          <p:nvPr/>
        </p:nvSpPr>
        <p:spPr>
          <a:xfrm>
            <a:off x="8388420" y="1170000"/>
            <a:ext cx="3346380" cy="50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a:solidFill>
                  <a:srgbClr val="60607D"/>
                </a:solidFill>
              </a:rPr>
              <a:t>Phase 2</a:t>
            </a:r>
          </a:p>
          <a:p>
            <a:pPr algn="l">
              <a:spcBef>
                <a:spcPts val="400"/>
              </a:spcBef>
              <a:spcAft>
                <a:spcPts val="200"/>
              </a:spcAft>
            </a:pPr>
            <a:r>
              <a:rPr sz="1150" b="1" i="0">
                <a:solidFill>
                  <a:srgbClr val="000000"/>
                </a:solidFill>
              </a:rPr>
              <a:t>SME Case Request in SF – 10/16 target launch date</a:t>
            </a:r>
          </a:p>
          <a:p>
            <a:pPr algn="l">
              <a:spcAft>
                <a:spcPts val="500"/>
              </a:spcAft>
            </a:pPr>
            <a:r>
              <a:rPr sz="1150" b="0" i="0">
                <a:solidFill>
                  <a:srgbClr val="000000"/>
                </a:solidFill>
              </a:rPr>
              <a:t>Updating the existing tool to cover more scenarios:</a:t>
            </a:r>
          </a:p>
          <a:p>
            <a:pPr marL="171450" indent="-171450" algn="l">
              <a:spcAft>
                <a:spcPts val="500"/>
              </a:spcAft>
              <a:buFont typeface="Arial"/>
              <a:buChar char="•"/>
            </a:pPr>
            <a:r>
              <a:rPr sz="1150" b="0" i="0">
                <a:solidFill>
                  <a:srgbClr val="000000"/>
                </a:solidFill>
              </a:rPr>
              <a:t>New pursuit or deals under $500k</a:t>
            </a:r>
          </a:p>
          <a:p>
            <a:pPr marL="171450" indent="-171450" algn="l">
              <a:spcAft>
                <a:spcPts val="500"/>
              </a:spcAft>
              <a:buFont typeface="Arial"/>
              <a:buChar char="•"/>
            </a:pPr>
            <a:r>
              <a:rPr sz="1150" b="0" i="0">
                <a:solidFill>
                  <a:srgbClr val="000000"/>
                </a:solidFill>
              </a:rPr>
              <a:t>Ad-hoc client request for a small new project</a:t>
            </a:r>
          </a:p>
          <a:p>
            <a:pPr marL="171450" indent="-171450" algn="l">
              <a:spcAft>
                <a:spcPts val="500"/>
              </a:spcAft>
              <a:buFont typeface="Arial"/>
              <a:buChar char="•"/>
            </a:pPr>
            <a:r>
              <a:rPr sz="1150" b="0" i="0">
                <a:solidFill>
                  <a:srgbClr val="000000"/>
                </a:solidFill>
              </a:rPr>
              <a:t>Sprints involving multiple people</a:t>
            </a:r>
          </a:p>
          <a:p>
            <a:pPr marL="171450" indent="-171450" algn="l">
              <a:spcAft>
                <a:spcPts val="500"/>
              </a:spcAft>
              <a:buFont typeface="Arial"/>
              <a:buChar char="•"/>
            </a:pPr>
            <a:r>
              <a:rPr sz="1150" b="0" i="0">
                <a:solidFill>
                  <a:srgbClr val="000000"/>
                </a:solidFill>
              </a:rPr>
              <a:t>Client exec-level meetings needing decks and materials</a:t>
            </a:r>
          </a:p>
          <a:p>
            <a:pPr marL="171450" indent="-171450" algn="l">
              <a:spcAft>
                <a:spcPts val="500"/>
              </a:spcAft>
              <a:buFont typeface="Arial"/>
              <a:buChar char="•"/>
            </a:pPr>
            <a:r>
              <a:rPr sz="1150" b="0" i="0">
                <a:solidFill>
                  <a:srgbClr val="000000"/>
                </a:solidFill>
              </a:rPr>
              <a:t>Case studies, capability decks, etc.</a:t>
            </a:r>
          </a:p>
          <a:p>
            <a:pPr algn="l">
              <a:spcAft>
                <a:spcPts val="500"/>
              </a:spcAft>
            </a:pPr>
            <a:r>
              <a:rPr sz="1150" b="0" i="0">
                <a:solidFill>
                  <a:srgbClr val="000000"/>
                </a:solidFill>
              </a:rPr>
              <a:t>Requests get emailed to the right alias AND land in a list for easy review and follow-up.</a:t>
            </a:r>
          </a:p>
          <a:p>
            <a:pPr algn="l">
              <a:spcBef>
                <a:spcPts val="400"/>
              </a:spcBef>
              <a:spcAft>
                <a:spcPts val="200"/>
              </a:spcAft>
            </a:pPr>
            <a:r>
              <a:rPr sz="1150" b="1" i="0">
                <a:solidFill>
                  <a:srgbClr val="000000"/>
                </a:solidFill>
              </a:rPr>
              <a:t>RACI Updates – 11/1 Estimated Rollout</a:t>
            </a:r>
          </a:p>
          <a:p>
            <a:pPr algn="l">
              <a:spcAft>
                <a:spcPts val="500"/>
              </a:spcAft>
            </a:pPr>
            <a:r>
              <a:rPr sz="1150" b="0" i="0">
                <a:solidFill>
                  <a:srgbClr val="000000"/>
                </a:solidFill>
              </a:rPr>
              <a:t>Underway, to clearly articulate roles and responsibilities for everyone involved in the intake process.</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pic>
        <p:nvPicPr>
          <p:cNvPr id="5" name="Picture 4" descr="f_hero_library.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endParaRP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Images: Intake Updates</a:t>
            </a:r>
          </a:p>
        </p:txBody>
      </p:sp>
      <p:sp>
        <p:nvSpPr>
          <p:cNvPr id="4" name="Text Placeholder 3"/>
          <p:cNvSpPr>
            <a:spLocks noGrp="1"/>
          </p:cNvSpPr>
          <p:nvPr>
            <p:ph type="body" sz="quarter" idx="12"/>
          </p:nvPr>
        </p:nvSpPr>
        <p:spPr>
          <a:xfrm>
            <a:off x="457200" y="170000"/>
            <a:ext cx="8000000" cy="182880"/>
          </a:xfrm>
        </p:spPr>
        <p:txBody>
          <a:bodyPr/>
          <a:lstStyle/>
          <a:p>
            <a:r>
              <a:rPr>
                <a:solidFill>
                  <a:srgbClr val="0391F2"/>
                </a:solidFill>
              </a:rPr>
              <a:t>HIDDEN SLIDE · IMAGES FOR THIS PRIORITY</a:t>
            </a:r>
          </a:p>
        </p:txBody>
      </p:sp>
      <p:sp>
        <p:nvSpPr>
          <p:cNvPr id="7" name="TextBox 6"/>
          <p:cNvSpPr txBox="1"/>
          <p:nvPr/>
        </p:nvSpPr>
        <p:spPr>
          <a:xfrm>
            <a:off x="457200" y="1150000"/>
            <a:ext cx="11277600" cy="411480"/>
          </a:xfrm>
          <a:prstGeom prst="rect">
            <a:avLst/>
          </a:prstGeom>
          <a:noFill/>
        </p:spPr>
        <p:txBody>
          <a:bodyPr wrap="square" lIns="0" rIns="0" tIns="0" bIns="0">
            <a:spAutoFit/>
          </a:bodyPr>
          <a:lstStyle/>
          <a:p>
            <a:r>
              <a:rPr sz="1100" b="0" i="0">
                <a:solidFill>
                  <a:srgbClr val="000000"/>
                </a:solidFill>
              </a:rPr>
              <a:t>One image for this priority. Use it on every slide of the priority: the divider, the header band, the update panel, and any split image or banner in a detail slide. This slide is hidden: it does not show when presenting.</a:t>
            </a:r>
          </a:p>
        </p:txBody>
      </p:sp>
      <p:sp>
        <p:nvSpPr>
          <p:cNvPr id="8" name="TextBox 7"/>
          <p:cNvSpPr txBox="1"/>
          <p:nvPr/>
        </p:nvSpPr>
        <p:spPr>
          <a:xfrm>
            <a:off x="457200" y="1627200"/>
            <a:ext cx="3474720" cy="201168"/>
          </a:xfrm>
          <a:prstGeom prst="rect">
            <a:avLst/>
          </a:prstGeom>
          <a:noFill/>
        </p:spPr>
        <p:txBody>
          <a:bodyPr wrap="square" lIns="0" rIns="0" tIns="0" bIns="0">
            <a:spAutoFit/>
          </a:bodyPr>
          <a:lstStyle/>
          <a:p>
            <a:r>
              <a:rPr sz="850" b="1" i="0" cap="all" spc="100">
                <a:solidFill>
                  <a:srgbClr val="60607D"/>
                </a:solidFill>
              </a:rPr>
              <a:t>Source image</a:t>
            </a:r>
          </a:p>
        </p:txBody>
      </p:sp>
      <p:pic>
        <p:nvPicPr>
          <p:cNvPr id="9" name="Picture 8" descr="f_img2_intake_Sour.jpg"/>
          <p:cNvPicPr>
            <a:picLocks noChangeAspect="1"/>
          </p:cNvPicPr>
          <p:nvPr/>
        </p:nvPicPr>
        <p:blipFill>
          <a:blip r:embed="rId7"/>
          <a:stretch>
            <a:fillRect/>
          </a:stretch>
        </p:blipFill>
        <p:spPr>
          <a:xfrm>
            <a:off x="457200" y="1864944"/>
            <a:ext cx="3017520" cy="1828800"/>
          </a:xfrm>
          <a:prstGeom prst="rect">
            <a:avLst/>
          </a:prstGeom>
        </p:spPr>
      </p:pic>
      <p:sp>
        <p:nvSpPr>
          <p:cNvPr id="10" name="TextBox 9"/>
          <p:cNvSpPr txBox="1"/>
          <p:nvPr/>
        </p:nvSpPr>
        <p:spPr>
          <a:xfrm>
            <a:off x="3794760" y="1627200"/>
            <a:ext cx="3703320" cy="201168"/>
          </a:xfrm>
          <a:prstGeom prst="rect">
            <a:avLst/>
          </a:prstGeom>
          <a:noFill/>
        </p:spPr>
        <p:txBody>
          <a:bodyPr wrap="square" lIns="0" rIns="0" tIns="0" bIns="0">
            <a:spAutoFit/>
          </a:bodyPr>
          <a:lstStyle/>
          <a:p>
            <a:r>
              <a:rPr sz="850" b="1" i="0" cap="all" spc="100">
                <a:solidFill>
                  <a:srgbClr val="60607D"/>
                </a:solidFill>
              </a:rPr>
              <a:t>Divider</a:t>
            </a:r>
          </a:p>
        </p:txBody>
      </p:sp>
      <p:pic>
        <p:nvPicPr>
          <p:cNvPr id="11" name="Picture 10" descr="image.jpg"/>
          <p:cNvPicPr>
            <a:picLocks noChangeAspect="1"/>
          </p:cNvPicPr>
          <p:nvPr/>
        </p:nvPicPr>
        <p:blipFill>
          <a:blip r:embed="rId4"/>
          <a:stretch>
            <a:fillRect/>
          </a:stretch>
        </p:blipFill>
        <p:spPr>
          <a:xfrm>
            <a:off x="3794760" y="1864944"/>
            <a:ext cx="3246120" cy="1828800"/>
          </a:xfrm>
          <a:prstGeom prst="rect">
            <a:avLst/>
          </a:prstGeom>
        </p:spPr>
      </p:pic>
      <p:sp>
        <p:nvSpPr>
          <p:cNvPr id="12" name="TextBox 11"/>
          <p:cNvSpPr txBox="1"/>
          <p:nvPr/>
        </p:nvSpPr>
        <p:spPr>
          <a:xfrm>
            <a:off x="7360920" y="1627200"/>
            <a:ext cx="1435608" cy="201168"/>
          </a:xfrm>
          <a:prstGeom prst="rect">
            <a:avLst/>
          </a:prstGeom>
          <a:noFill/>
        </p:spPr>
        <p:txBody>
          <a:bodyPr wrap="square" lIns="0" rIns="0" tIns="0" bIns="0">
            <a:spAutoFit/>
          </a:bodyPr>
          <a:lstStyle/>
          <a:p>
            <a:r>
              <a:rPr sz="850" b="1" i="0" cap="all" spc="100">
                <a:solidFill>
                  <a:srgbClr val="60607D"/>
                </a:solidFill>
              </a:rPr>
              <a:t>Split image</a:t>
            </a:r>
          </a:p>
        </p:txBody>
      </p:sp>
      <p:pic>
        <p:nvPicPr>
          <p:cNvPr id="13" name="Picture 12" descr="f_img2_intake_Spli.jpg"/>
          <p:cNvPicPr>
            <a:picLocks noChangeAspect="1"/>
          </p:cNvPicPr>
          <p:nvPr/>
        </p:nvPicPr>
        <p:blipFill>
          <a:blip r:embed="rId8"/>
          <a:stretch>
            <a:fillRect/>
          </a:stretch>
        </p:blipFill>
        <p:spPr>
          <a:xfrm>
            <a:off x="7360920" y="1864944"/>
            <a:ext cx="978408" cy="1828800"/>
          </a:xfrm>
          <a:prstGeom prst="rect">
            <a:avLst/>
          </a:prstGeom>
        </p:spPr>
      </p:pic>
      <p:sp>
        <p:nvSpPr>
          <p:cNvPr id="14" name="TextBox 13"/>
          <p:cNvSpPr txBox="1"/>
          <p:nvPr/>
        </p:nvSpPr>
        <p:spPr>
          <a:xfrm>
            <a:off x="8659368" y="1627200"/>
            <a:ext cx="1408176" cy="201168"/>
          </a:xfrm>
          <a:prstGeom prst="rect">
            <a:avLst/>
          </a:prstGeom>
          <a:noFill/>
        </p:spPr>
        <p:txBody>
          <a:bodyPr wrap="square" lIns="0" rIns="0" tIns="0" bIns="0">
            <a:spAutoFit/>
          </a:bodyPr>
          <a:lstStyle/>
          <a:p>
            <a:r>
              <a:rPr sz="850" b="1" i="0" cap="all" spc="100">
                <a:solidFill>
                  <a:srgbClr val="60607D"/>
                </a:solidFill>
              </a:rPr>
              <a:t>Update panel</a:t>
            </a:r>
          </a:p>
        </p:txBody>
      </p:sp>
      <p:pic>
        <p:nvPicPr>
          <p:cNvPr id="15" name="Picture 14" descr="image.jpg"/>
          <p:cNvPicPr>
            <a:picLocks noChangeAspect="1"/>
          </p:cNvPicPr>
          <p:nvPr/>
        </p:nvPicPr>
        <p:blipFill>
          <a:blip r:embed="rId5"/>
          <a:stretch>
            <a:fillRect/>
          </a:stretch>
        </p:blipFill>
        <p:spPr>
          <a:xfrm>
            <a:off x="8659368" y="1864944"/>
            <a:ext cx="950976" cy="1828800"/>
          </a:xfrm>
          <a:prstGeom prst="rect">
            <a:avLst/>
          </a:prstGeom>
        </p:spPr>
      </p:pic>
      <p:sp>
        <p:nvSpPr>
          <p:cNvPr id="16" name="TextBox 15"/>
          <p:cNvSpPr txBox="1"/>
          <p:nvPr/>
        </p:nvSpPr>
        <p:spPr>
          <a:xfrm>
            <a:off x="457200" y="3922344"/>
            <a:ext cx="2743200" cy="201168"/>
          </a:xfrm>
          <a:prstGeom prst="rect">
            <a:avLst/>
          </a:prstGeom>
          <a:noFill/>
        </p:spPr>
        <p:txBody>
          <a:bodyPr wrap="square" lIns="0" rIns="0" tIns="0" bIns="0">
            <a:spAutoFit/>
          </a:bodyPr>
          <a:lstStyle/>
          <a:p>
            <a:r>
              <a:rPr sz="850" b="1" i="0" cap="all" spc="100">
                <a:solidFill>
                  <a:srgbClr val="60607D"/>
                </a:solidFill>
              </a:rPr>
              <a:t>Header band</a:t>
            </a:r>
          </a:p>
        </p:txBody>
      </p:sp>
      <p:pic>
        <p:nvPicPr>
          <p:cNvPr id="17" name="Picture 16" descr="image.jpg"/>
          <p:cNvPicPr>
            <a:picLocks noChangeAspect="1"/>
          </p:cNvPicPr>
          <p:nvPr/>
        </p:nvPicPr>
        <p:blipFill>
          <a:blip r:embed="rId6"/>
          <a:stretch>
            <a:fillRect/>
          </a:stretch>
        </p:blipFill>
        <p:spPr>
          <a:xfrm>
            <a:off x="457200" y="4160088"/>
            <a:ext cx="6035040" cy="495000"/>
          </a:xfrm>
          <a:prstGeom prst="rect">
            <a:avLst/>
          </a:prstGeom>
        </p:spPr>
      </p:pic>
      <p:sp>
        <p:nvSpPr>
          <p:cNvPr id="18" name="TextBox 17"/>
          <p:cNvSpPr txBox="1"/>
          <p:nvPr/>
        </p:nvSpPr>
        <p:spPr>
          <a:xfrm>
            <a:off x="6949440" y="3922344"/>
            <a:ext cx="2743200" cy="201168"/>
          </a:xfrm>
          <a:prstGeom prst="rect">
            <a:avLst/>
          </a:prstGeom>
          <a:noFill/>
        </p:spPr>
        <p:txBody>
          <a:bodyPr wrap="square" lIns="0" rIns="0" tIns="0" bIns="0">
            <a:spAutoFit/>
          </a:bodyPr>
          <a:lstStyle/>
          <a:p>
            <a:r>
              <a:rPr sz="850" b="1" i="0" cap="all" spc="100">
                <a:solidFill>
                  <a:srgbClr val="60607D"/>
                </a:solidFill>
              </a:rPr>
              <a:t>Banner (flow with banner)</a:t>
            </a:r>
          </a:p>
        </p:txBody>
      </p:sp>
      <p:sp>
        <p:nvSpPr>
          <p:cNvPr id="19" name="TextBox 18"/>
          <p:cNvSpPr txBox="1"/>
          <p:nvPr/>
        </p:nvSpPr>
        <p:spPr>
          <a:xfrm>
            <a:off x="457200" y="5385384"/>
            <a:ext cx="11277600" cy="548640"/>
          </a:xfrm>
          <a:prstGeom prst="rect">
            <a:avLst/>
          </a:prstGeom>
          <a:noFill/>
        </p:spPr>
        <p:txBody>
          <a:bodyPr wrap="square" lIns="0" rIns="0" tIns="0" bIns="0">
            <a:spAutoFit/>
          </a:bodyPr>
          <a:lstStyle/>
          <a:p>
            <a:r>
              <a:rPr sz="1050" b="0" i="0">
                <a:solidFill>
                  <a:srgbClr val="60607D"/>
                </a:solidFill>
              </a:rPr>
              <a:t>Split image (full height): used by Split with points, Image and two phases, Six blocks and a takeaway, and Goal and three pillars. Banner: used by Flow with banner. Divider, header band and update panel: used on every slide in this priority.</a:t>
            </a:r>
          </a:p>
        </p:txBody>
      </p:sp>
      <p:pic>
        <p:nvPicPr>
          <p:cNvPr id="20" name="Picture 19" descr="f_img2_intake_ban.jpg"/>
          <p:cNvPicPr>
            <a:picLocks noChangeAspect="1"/>
          </p:cNvPicPr>
          <p:nvPr/>
        </p:nvPicPr>
        <p:blipFill>
          <a:blip r:embed="rId9"/>
          <a:stretch>
            <a:fillRect/>
          </a:stretch>
        </p:blipFill>
        <p:spPr>
          <a:xfrm>
            <a:off x="6949440" y="4160088"/>
            <a:ext cx="4480560" cy="933450"/>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f_div_ops.jpg"/>
          <p:cNvPicPr>
            <a:picLocks noChangeAspect="1"/>
          </p:cNvPicPr>
          <p:nvPr/>
        </p:nvPicPr>
        <p:blipFill>
          <a:blip r:embed="rId2"/>
          <a:stretch>
            <a:fillRect/>
          </a:stretch>
        </p:blipFill>
        <p:spPr>
          <a:xfrm>
            <a:off x="0" y="0"/>
            <a:ext cx="12192000" cy="6858000"/>
          </a:xfrm>
          <a:prstGeom prst="rect">
            <a:avLst/>
          </a:prstGeom>
        </p:spPr>
      </p:pic>
      <p:sp>
        <p:nvSpPr>
          <p:cNvPr id="5" name="Rectangle 4"/>
          <p:cNvSpPr/>
          <p:nvPr/>
        </p:nvSpPr>
        <p:spPr>
          <a:xfrm>
            <a:off x="0" y="0"/>
            <a:ext cx="12192000" cy="6858000"/>
          </a:xfrm>
          <a:prstGeom prst="rect">
            <a:avLst/>
          </a:prstGeom>
          <a:gradFill rotWithShape="1">
            <a:gsLst>
              <a:gs pos="0">
                <a:srgbClr val="000000">
                  <a:alpha val="90000"/>
                </a:srgbClr>
              </a:gs>
              <a:gs pos="42000">
                <a:srgbClr val="000000">
                  <a:alpha val="58000"/>
                </a:srgbClr>
              </a:gs>
              <a:gs pos="100000">
                <a:srgbClr val="000000">
                  <a:alpha val="26000"/>
                </a:srgbClr>
              </a:gs>
            </a:gsLst>
            <a:lin ang="0" scaled="0"/>
          </a:gradFill>
          <a:ln>
            <a:noFill/>
          </a:ln>
        </p:spPr>
        <p:txBody>
          <a:bodyPr rtlCol="0" anchor="ctr"/>
          <a:lstStyle/>
          <a:p>
            <a:pPr algn="ctr"/>
            <a:endParaRPr/>
          </a:p>
        </p:txBody>
      </p:sp>
      <p:sp>
        <p:nvSpPr>
          <p:cNvPr id="6" name="Rectangle 5"/>
          <p:cNvSpPr/>
          <p:nvPr/>
        </p:nvSpPr>
        <p:spPr>
          <a:xfrm>
            <a:off x="0" y="0"/>
            <a:ext cx="12192000" cy="6858000"/>
          </a:xfrm>
          <a:prstGeom prst="rect">
            <a:avLst/>
          </a:prstGeom>
          <a:gradFill rotWithShape="1">
            <a:gsLst>
              <a:gs pos="0">
                <a:srgbClr val="000000">
                  <a:alpha val="0"/>
                </a:srgbClr>
              </a:gs>
              <a:gs pos="45000">
                <a:srgbClr val="000000">
                  <a:alpha val="10000"/>
                </a:srgbClr>
              </a:gs>
              <a:gs pos="100000">
                <a:srgbClr val="000000">
                  <a:alpha val="58000"/>
                </a:srgbClr>
              </a:gs>
            </a:gsLst>
            <a:lin ang="5400000" scaled="0"/>
          </a:gradFill>
          <a:ln>
            <a:noFill/>
          </a:ln>
        </p:spPr>
        <p:txBody>
          <a:bodyPr rtlCol="0" anchor="ctr"/>
          <a:lstStyle/>
          <a:p>
            <a:pPr algn="ctr"/>
            <a:endParaRPr/>
          </a:p>
        </p:txBody>
      </p:sp>
      <p:sp>
        <p:nvSpPr>
          <p:cNvPr id="8" name="Rounded Rectangle 7"/>
          <p:cNvSpPr/>
          <p:nvPr/>
        </p:nvSpPr>
        <p:spPr>
          <a:xfrm>
            <a:off x="640080" y="685800"/>
            <a:ext cx="6583680" cy="2827376"/>
          </a:xfrm>
          <a:prstGeom prst="roundRect">
            <a:avLst>
              <a:gd name="adj" fmla="val 2500"/>
            </a:avLst>
          </a:prstGeom>
          <a:solidFill>
            <a:srgbClr val="000000">
              <a:alpha val="62000"/>
            </a:srgbClr>
          </a:solidFill>
          <a:ln>
            <a:noFill/>
          </a:ln>
        </p:spPr>
        <p:txBody>
          <a:bodyPr rtlCol="0" anchor="ctr"/>
          <a:lstStyle/>
          <a:p>
            <a:pPr algn="ctr"/>
            <a:endParaRPr/>
          </a:p>
        </p:txBody>
      </p:sp>
      <p:sp>
        <p:nvSpPr>
          <p:cNvPr id="2" name="Title 1"/>
          <p:cNvSpPr>
            <a:spLocks noGrp="1"/>
          </p:cNvSpPr>
          <p:nvPr>
            <p:ph type="title"/>
          </p:nvPr>
        </p:nvSpPr>
        <p:spPr>
          <a:xfrm>
            <a:off x="914400" y="1316736"/>
            <a:ext cx="6400800" cy="2194560"/>
          </a:xfrm>
        </p:spPr>
        <p:txBody>
          <a:bodyPr anchor="t"/>
          <a:lstStyle/>
          <a:p>
            <a:r>
              <a:rPr sz="4000"/>
              <a:t>Ops Transformation: Rebuild Scoping &amp; Staffing</a:t>
            </a:r>
          </a:p>
        </p:txBody>
      </p:sp>
      <p:sp>
        <p:nvSpPr>
          <p:cNvPr id="3" name="Text Placeholder 2"/>
          <p:cNvSpPr>
            <a:spLocks noGrp="1"/>
          </p:cNvSpPr>
          <p:nvPr>
            <p:ph type="body" sz="quarter" idx="15"/>
          </p:nvPr>
        </p:nvSpPr>
        <p:spPr>
          <a:xfrm>
            <a:off x="914400" y="914400"/>
            <a:ext cx="6400800" cy="292608"/>
          </a:xfrm>
        </p:spPr>
        <p:txBody>
          <a:bodyPr/>
          <a:lstStyle/>
          <a:p>
            <a:r>
              <a:t>OPS PRIORITIES</a:t>
            </a:r>
          </a:p>
        </p:txBody>
      </p:sp>
      <p:sp>
        <p:nvSpPr>
          <p:cNvPr id="7" name="TextBox 6"/>
          <p:cNvSpPr txBox="1"/>
          <p:nvPr/>
        </p:nvSpPr>
        <p:spPr>
          <a:xfrm>
            <a:off x="914400" y="2735936"/>
            <a:ext cx="5943600" cy="548640"/>
          </a:xfrm>
          <a:prstGeom prst="rect">
            <a:avLst/>
          </a:prstGeom>
          <a:noFill/>
        </p:spPr>
        <p:txBody>
          <a:bodyPr wrap="square" lIns="0" tIns="0" rIns="0" bIns="0" anchor="t">
            <a:spAutoFit/>
          </a:bodyPr>
          <a:lstStyle/>
          <a:p>
            <a:pPr algn="l">
              <a:spcBef>
                <a:spcPts val="200"/>
              </a:spcBef>
              <a:spcAft>
                <a:spcPts val="200"/>
              </a:spcAft>
            </a:pPr>
            <a:r>
              <a:rPr sz="850" b="1" i="0" cap="all" spc="100">
                <a:solidFill>
                  <a:srgbClr val="D6D6DF"/>
                </a:solidFill>
              </a:rPr>
              <a:t>Owner(s)</a:t>
            </a:r>
          </a:p>
          <a:p>
            <a:pPr algn="l">
              <a:spcAft>
                <a:spcPts val="500"/>
              </a:spcAft>
            </a:pPr>
            <a:r>
              <a:rPr sz="1400" b="0" i="0">
                <a:solidFill>
                  <a:srgbClr val="D6D6DF"/>
                </a:solidFill>
              </a:rPr>
              <a:t>Missy Foristall, Dave Brabec</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 name="Picture 4" descr="f_hero_ops.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endParaRPr/>
          </a:p>
        </p:txBody>
      </p:sp>
      <p:sp>
        <p:nvSpPr>
          <p:cNvPr id="3" name="Title 2"/>
          <p:cNvSpPr>
            <a:spLocks noGrp="1"/>
          </p:cNvSpPr>
          <p:nvPr>
            <p:ph type="title"/>
          </p:nvPr>
        </p:nvSpPr>
        <p:spPr>
          <a:xfrm>
            <a:off x="457200" y="300000"/>
            <a:ext cx="8000000" cy="560000"/>
          </a:xfrm>
        </p:spPr>
        <p:txBody>
          <a:bodyPr/>
          <a:lstStyle/>
          <a:p>
            <a:r>
              <a:rPr sz="2200">
                <a:solidFill>
                  <a:srgbClr val="FFFFFF"/>
                </a:solidFill>
              </a:rPr>
              <a:t>Ops Transformation: Rebuild Scoping &amp; Staffing</a:t>
            </a:r>
          </a:p>
        </p:txBody>
      </p:sp>
      <p:sp>
        <p:nvSpPr>
          <p:cNvPr id="4" name="Text Placeholder 3"/>
          <p:cNvSpPr>
            <a:spLocks noGrp="1"/>
          </p:cNvSpPr>
          <p:nvPr>
            <p:ph type="body" sz="quarter" idx="12"/>
          </p:nvPr>
        </p:nvSpPr>
        <p:spPr>
          <a:xfrm>
            <a:off x="457200" y="170000"/>
            <a:ext cx="8000000" cy="182880"/>
          </a:xfrm>
        </p:spPr>
        <p:txBody>
          <a:bodyPr/>
          <a:lstStyle/>
          <a:p>
            <a:r>
              <a:rPr>
                <a:solidFill>
                  <a:srgbClr val="0391F2"/>
                </a:solidFill>
              </a:rPr>
              <a:t>OPS PRIORITIES · EXEC SUMMARY</a:t>
            </a:r>
          </a:p>
        </p:txBody>
      </p:sp>
      <p:sp>
        <p:nvSpPr>
          <p:cNvPr id="7" name="Rounded Rectangle 6"/>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wrap="square" lIns="150000" rIns="120000" rtlCol="0" anchor="ctr"/>
          <a:lstStyle/>
          <a:p>
            <a:pPr algn="l"/>
            <a:r>
              <a:rPr sz="1050" b="1" i="0">
                <a:solidFill>
                  <a:srgbClr val="FFFFFF"/>
                </a:solidFill>
              </a:rPr>
              <a:t>Owner(s)</a:t>
            </a:r>
          </a:p>
          <a:p>
            <a:pPr algn="l"/>
            <a:r>
              <a:rPr sz="900" b="0" i="0">
                <a:solidFill>
                  <a:srgbClr val="D6D6DF"/>
                </a:solidFill>
              </a:rPr>
              <a:t>Missy Foristall, Dave Brabec</a:t>
            </a:r>
          </a:p>
        </p:txBody>
      </p:sp>
      <p:sp>
        <p:nvSpPr>
          <p:cNvPr id="8" name="Rounded Rectangle 7"/>
          <p:cNvSpPr/>
          <p:nvPr/>
        </p:nvSpPr>
        <p:spPr>
          <a:xfrm>
            <a:off x="457200" y="1080000"/>
            <a:ext cx="5563800" cy="1950000"/>
          </a:xfrm>
          <a:prstGeom prst="roundRect">
            <a:avLst>
              <a:gd name="adj" fmla="val 3200"/>
            </a:avLst>
          </a:prstGeom>
          <a:solidFill>
            <a:srgbClr val="000000"/>
          </a:solidFill>
          <a:ln>
            <a:no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D6D6DF"/>
                </a:solidFill>
              </a:rPr>
              <a:t>2026 Goal</a:t>
            </a:r>
          </a:p>
          <a:p>
            <a:pPr algn="l">
              <a:spcAft>
                <a:spcPts val="500"/>
              </a:spcAft>
            </a:pPr>
            <a:r>
              <a:rPr sz="1150" b="0" i="1">
                <a:solidFill>
                  <a:srgbClr val="D6D6DF"/>
                </a:solidFill>
              </a:rPr>
              <a:t>[Put here: the one thing we want to be true by the end of 2026.]</a:t>
            </a:r>
          </a:p>
          <a:p>
            <a:pPr algn="l">
              <a:spcAft>
                <a:spcPts val="500"/>
              </a:spcAft>
            </a:pPr>
            <a:r>
              <a:rPr sz="1150" b="0" i="1">
                <a:solidFill>
                  <a:srgbClr val="D6D6DF"/>
                </a:solidFill>
              </a:rPr>
              <a:t>[Why: everyone should know the finish line.]</a:t>
            </a:r>
          </a:p>
        </p:txBody>
      </p:sp>
      <p:sp>
        <p:nvSpPr>
          <p:cNvPr id="9" name="Rounded Rectangle 8"/>
          <p:cNvSpPr/>
          <p:nvPr/>
        </p:nvSpPr>
        <p:spPr>
          <a:xfrm>
            <a:off x="6171000" y="1080000"/>
            <a:ext cx="5563800" cy="195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000000"/>
                </a:solidFill>
              </a:rPr>
              <a:t>The problem</a:t>
            </a:r>
          </a:p>
          <a:p>
            <a:pPr algn="l">
              <a:spcAft>
                <a:spcPts val="500"/>
              </a:spcAft>
            </a:pPr>
            <a:r>
              <a:rPr sz="1150" b="0" i="1">
                <a:solidFill>
                  <a:srgbClr val="60607D"/>
                </a:solidFill>
              </a:rPr>
              <a:t>[Put here: what is broken today, in plain words.]</a:t>
            </a:r>
          </a:p>
          <a:p>
            <a:pPr algn="l">
              <a:spcAft>
                <a:spcPts val="500"/>
              </a:spcAft>
            </a:pPr>
            <a:r>
              <a:rPr sz="1150" b="0" i="1">
                <a:solidFill>
                  <a:srgbClr val="60607D"/>
                </a:solidFill>
              </a:rPr>
              <a:t>[Why: people only back a fix if they can feel the problem.]</a:t>
            </a:r>
          </a:p>
        </p:txBody>
      </p:sp>
      <p:sp>
        <p:nvSpPr>
          <p:cNvPr id="10" name="Rounded Rectangle 9"/>
          <p:cNvSpPr/>
          <p:nvPr/>
        </p:nvSpPr>
        <p:spPr>
          <a:xfrm>
            <a:off x="457200" y="3130000"/>
            <a:ext cx="5563800" cy="22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000000"/>
                </a:solidFill>
              </a:rPr>
              <a:t>What we are changing</a:t>
            </a:r>
          </a:p>
          <a:p>
            <a:pPr algn="l">
              <a:spcAft>
                <a:spcPts val="500"/>
              </a:spcAft>
            </a:pPr>
            <a:r>
              <a:rPr sz="1150" b="0" i="1">
                <a:solidFill>
                  <a:srgbClr val="60607D"/>
                </a:solidFill>
              </a:rPr>
              <a:t>[Put here: what we will do differently. Use short bullets.]</a:t>
            </a:r>
          </a:p>
          <a:p>
            <a:pPr algn="l">
              <a:spcAft>
                <a:spcPts val="500"/>
              </a:spcAft>
            </a:pPr>
            <a:r>
              <a:rPr sz="1150" b="0" i="1">
                <a:solidFill>
                  <a:srgbClr val="60607D"/>
                </a:solidFill>
              </a:rPr>
              <a:t>[Why: it shows we have a plan, not just a worry.]</a:t>
            </a:r>
          </a:p>
        </p:txBody>
      </p:sp>
      <p:sp>
        <p:nvSpPr>
          <p:cNvPr id="11" name="Rounded Rectangle 10"/>
          <p:cNvSpPr/>
          <p:nvPr/>
        </p:nvSpPr>
        <p:spPr>
          <a:xfrm>
            <a:off x="6171000" y="3130000"/>
            <a:ext cx="5563800" cy="2280000"/>
          </a:xfrm>
          <a:prstGeom prst="roundRect">
            <a:avLst>
              <a:gd name="adj" fmla="val 3200"/>
            </a:avLst>
          </a:prstGeom>
          <a:solidFill>
            <a:srgbClr val="000000"/>
          </a:solidFill>
          <a:ln>
            <a:no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D6D6DF"/>
                </a:solidFill>
              </a:rPr>
              <a:t>What this unlocks</a:t>
            </a:r>
          </a:p>
          <a:p>
            <a:pPr algn="l">
              <a:spcAft>
                <a:spcPts val="500"/>
              </a:spcAft>
            </a:pPr>
            <a:r>
              <a:rPr sz="1150" b="0" i="1">
                <a:solidFill>
                  <a:srgbClr val="D6D6DF"/>
                </a:solidFill>
              </a:rPr>
              <a:t>[Put here: what gets better once this works.]</a:t>
            </a:r>
          </a:p>
          <a:p>
            <a:pPr algn="l">
              <a:spcAft>
                <a:spcPts val="500"/>
              </a:spcAft>
            </a:pPr>
            <a:r>
              <a:rPr sz="1150" b="0" i="1">
                <a:solidFill>
                  <a:srgbClr val="D6D6DF"/>
                </a:solidFill>
              </a:rPr>
              <a:t>[Why: it is the reason the effort is worth it.]</a:t>
            </a:r>
          </a:p>
        </p:txBody>
      </p:sp>
      <p:sp>
        <p:nvSpPr>
          <p:cNvPr id="12" name="Rounded Rectangle 11"/>
          <p:cNvSpPr/>
          <p:nvPr/>
        </p:nvSpPr>
        <p:spPr>
          <a:xfrm>
            <a:off x="457200" y="5510000"/>
            <a:ext cx="11277600" cy="890000"/>
          </a:xfrm>
          <a:prstGeom prst="roundRect">
            <a:avLst>
              <a:gd name="adj" fmla="val 6000"/>
            </a:avLst>
          </a:prstGeom>
          <a:solidFill>
            <a:srgbClr val="000000"/>
          </a:solidFill>
          <a:ln>
            <a:noFill/>
          </a:ln>
          <a:effectLst>
            <a:outerShdw blurRad="190500" dist="50800" dir="5400000" algn="t" rotWithShape="0">
              <a:srgbClr val="000000">
                <a:alpha val="13000"/>
              </a:srgbClr>
            </a:outerShdw>
          </a:effectLst>
        </p:spPr>
        <p:txBody>
          <a:bodyPr wrap="square" lIns="300000" tIns="50000" rIns="300000" bIns="50000" rtlCol="0" anchor="ctr"/>
          <a:lstStyle/>
          <a:p>
            <a:pPr algn="l"/>
            <a:r>
              <a:rPr sz="900" b="1" i="0" cap="all" spc="100">
                <a:solidFill>
                  <a:srgbClr val="D6D6DF"/>
                </a:solidFill>
              </a:rPr>
              <a:t>Key takeaway</a:t>
            </a:r>
          </a:p>
          <a:p>
            <a:pPr algn="l"/>
            <a:r>
              <a:rPr sz="1200" b="1" i="0">
                <a:solidFill>
                  <a:srgbClr val="FFFFFF"/>
                </a:solidFill>
              </a:rPr>
              <a:t>Deliverables go in, and a timeline and staffing plan come out. AI does the real work of generating the plan, and gets smarter from what we actually deliver.</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 name="Picture 4" descr="f_hero_ops.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endParaRP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Why now</a:t>
            </a:r>
          </a:p>
        </p:txBody>
      </p:sp>
      <p:sp>
        <p:nvSpPr>
          <p:cNvPr id="4" name="Text Placeholder 3"/>
          <p:cNvSpPr>
            <a:spLocks noGrp="1"/>
          </p:cNvSpPr>
          <p:nvPr>
            <p:ph type="body" sz="quarter" idx="12"/>
          </p:nvPr>
        </p:nvSpPr>
        <p:spPr>
          <a:xfrm>
            <a:off x="457200" y="170000"/>
            <a:ext cx="8000000" cy="182880"/>
          </a:xfrm>
        </p:spPr>
        <p:txBody>
          <a:bodyPr/>
          <a:lstStyle/>
          <a:p>
            <a:r>
              <a:rPr>
                <a:solidFill>
                  <a:srgbClr val="0391F2"/>
                </a:solidFill>
              </a:rPr>
              <a:t>OPS TRANSFORMATION: REBUILD SCOPING &amp; STAFFING · CLICK-DOWN · THE PROBLEM</a:t>
            </a:r>
          </a:p>
        </p:txBody>
      </p:sp>
      <p:sp>
        <p:nvSpPr>
          <p:cNvPr id="7" name="Rounded Rectangle 6"/>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wrap="square" lIns="150000" rIns="120000" rtlCol="0" anchor="ctr"/>
          <a:lstStyle/>
          <a:p>
            <a:pPr algn="l"/>
            <a:r>
              <a:rPr sz="1050" b="1" i="0">
                <a:solidFill>
                  <a:srgbClr val="FFFFFF"/>
                </a:solidFill>
              </a:rPr>
              <a:t>Owner(s)</a:t>
            </a:r>
          </a:p>
          <a:p>
            <a:pPr algn="l"/>
            <a:r>
              <a:rPr sz="900" b="0" i="0">
                <a:solidFill>
                  <a:srgbClr val="D6D6DF"/>
                </a:solidFill>
              </a:rPr>
              <a:t>Missy Foristall, Dave Brabec</a:t>
            </a:r>
          </a:p>
        </p:txBody>
      </p:sp>
      <p:sp>
        <p:nvSpPr>
          <p:cNvPr id="8" name="Rounded Rectangle 7"/>
          <p:cNvSpPr/>
          <p:nvPr/>
        </p:nvSpPr>
        <p:spPr>
          <a:xfrm>
            <a:off x="457200" y="1170000"/>
            <a:ext cx="11277600" cy="1250000"/>
          </a:xfrm>
          <a:prstGeom prst="roundRect">
            <a:avLst>
              <a:gd name="adj" fmla="val 3200"/>
            </a:avLst>
          </a:prstGeom>
          <a:solidFill>
            <a:srgbClr val="000000"/>
          </a:solidFill>
          <a:ln>
            <a:noFill/>
          </a:ln>
          <a:effectLst>
            <a:outerShdw blurRad="190500" dist="50800" dir="5400000" algn="t" rotWithShape="0">
              <a:srgbClr val="000000">
                <a:alpha val="13000"/>
              </a:srgbClr>
            </a:outerShdw>
          </a:effectLst>
        </p:spPr>
        <p:txBody>
          <a:bodyPr wrap="square" lIns="274320" tIns="109728" rIns="274320" bIns="73152" rtlCol="0" anchor="ctr"/>
          <a:lstStyle/>
          <a:p>
            <a:pPr algn="l">
              <a:spcAft>
                <a:spcPts val="500"/>
              </a:spcAft>
            </a:pPr>
            <a:r>
              <a:rPr sz="1600" b="0" i="1">
                <a:solidFill>
                  <a:srgbClr val="D6D6DF"/>
                </a:solidFill>
              </a:rPr>
              <a:t>[Put here: one or two sentences on why now. What does waiting cost us?]</a:t>
            </a:r>
          </a:p>
        </p:txBody>
      </p:sp>
      <p:sp>
        <p:nvSpPr>
          <p:cNvPr id="9" name="Rounded Rectangle 8"/>
          <p:cNvSpPr/>
          <p:nvPr/>
        </p:nvSpPr>
        <p:spPr>
          <a:xfrm>
            <a:off x="457200" y="2570000"/>
            <a:ext cx="6541008" cy="36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000000"/>
                </a:solidFill>
              </a:rPr>
              <a:t>What's happening today</a:t>
            </a:r>
          </a:p>
          <a:p>
            <a:pPr algn="l">
              <a:spcAft>
                <a:spcPts val="500"/>
              </a:spcAft>
            </a:pPr>
            <a:r>
              <a:rPr sz="1300" b="0" i="1">
                <a:solidFill>
                  <a:srgbClr val="60607D"/>
                </a:solidFill>
              </a:rPr>
              <a:t>[Put here: what is going on right now that makes this urgent. One bullet per point, add as many as you need.]</a:t>
            </a:r>
          </a:p>
          <a:p>
            <a:pPr algn="l">
              <a:spcAft>
                <a:spcPts val="500"/>
              </a:spcAft>
            </a:pPr>
            <a:r>
              <a:rPr sz="1300" b="0" i="1">
                <a:solidFill>
                  <a:srgbClr val="60607D"/>
                </a:solidFill>
              </a:rPr>
              <a:t>[Why: this is the reason to act now.]</a:t>
            </a:r>
          </a:p>
        </p:txBody>
      </p:sp>
      <p:sp>
        <p:nvSpPr>
          <p:cNvPr id="10" name="Rounded Rectangle 9"/>
          <p:cNvSpPr/>
          <p:nvPr/>
        </p:nvSpPr>
        <p:spPr>
          <a:xfrm>
            <a:off x="7148208" y="2570000"/>
            <a:ext cx="4586592" cy="3680000"/>
          </a:xfrm>
          <a:prstGeom prst="roundRect">
            <a:avLst>
              <a:gd name="adj" fmla="val 3200"/>
            </a:avLst>
          </a:prstGeom>
          <a:solidFill>
            <a:srgbClr val="000000"/>
          </a:solidFill>
          <a:ln>
            <a:no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D6D6DF"/>
                </a:solidFill>
              </a:rPr>
              <a:t>So we need</a:t>
            </a:r>
          </a:p>
          <a:p>
            <a:pPr algn="l">
              <a:spcAft>
                <a:spcPts val="500"/>
              </a:spcAft>
            </a:pPr>
            <a:r>
              <a:rPr sz="1300" b="0" i="1">
                <a:solidFill>
                  <a:srgbClr val="D6D6DF"/>
                </a:solidFill>
              </a:rPr>
              <a:t>[Put here: what has to happen or be decided. One bullet per ask.]</a:t>
            </a:r>
          </a:p>
          <a:p>
            <a:pPr algn="l">
              <a:spcAft>
                <a:spcPts val="500"/>
              </a:spcAft>
            </a:pPr>
            <a:r>
              <a:rPr sz="1300" b="0" i="1">
                <a:solidFill>
                  <a:srgbClr val="D6D6DF"/>
                </a:solidFill>
              </a:rPr>
              <a:t>[Why: this turns the worry into a clear ask.]</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 name="Picture 4" descr="f_hero_ops.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endParaRP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How we're going about it</a:t>
            </a:r>
          </a:p>
        </p:txBody>
      </p:sp>
      <p:sp>
        <p:nvSpPr>
          <p:cNvPr id="4" name="Text Placeholder 3"/>
          <p:cNvSpPr>
            <a:spLocks noGrp="1"/>
          </p:cNvSpPr>
          <p:nvPr>
            <p:ph type="body" sz="quarter" idx="12"/>
          </p:nvPr>
        </p:nvSpPr>
        <p:spPr>
          <a:xfrm>
            <a:off x="457200" y="170000"/>
            <a:ext cx="8000000" cy="182880"/>
          </a:xfrm>
        </p:spPr>
        <p:txBody>
          <a:bodyPr/>
          <a:lstStyle/>
          <a:p>
            <a:r>
              <a:rPr>
                <a:solidFill>
                  <a:srgbClr val="0391F2"/>
                </a:solidFill>
              </a:rPr>
              <a:t>OPS TRANSFORMATION: REBUILD SCOPING &amp; STAFFING · CLICK-DOWN · WHAT WE ARE CHANGING</a:t>
            </a:r>
          </a:p>
        </p:txBody>
      </p:sp>
      <p:sp>
        <p:nvSpPr>
          <p:cNvPr id="7" name="Rounded Rectangle 6"/>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wrap="square" lIns="150000" rIns="120000" rtlCol="0" anchor="ctr"/>
          <a:lstStyle/>
          <a:p>
            <a:pPr algn="l"/>
            <a:r>
              <a:rPr sz="1050" b="1" i="0">
                <a:solidFill>
                  <a:srgbClr val="FFFFFF"/>
                </a:solidFill>
              </a:rPr>
              <a:t>Owner(s)</a:t>
            </a:r>
          </a:p>
          <a:p>
            <a:pPr algn="l"/>
            <a:r>
              <a:rPr sz="900" b="0" i="0">
                <a:solidFill>
                  <a:srgbClr val="D6D6DF"/>
                </a:solidFill>
              </a:rPr>
              <a:t>Missy Foristall, Dave Brabec</a:t>
            </a:r>
          </a:p>
        </p:txBody>
      </p:sp>
      <p:sp>
        <p:nvSpPr>
          <p:cNvPr id="8" name="TextBox 7"/>
          <p:cNvSpPr txBox="1"/>
          <p:nvPr/>
        </p:nvSpPr>
        <p:spPr>
          <a:xfrm>
            <a:off x="457200" y="1170000"/>
            <a:ext cx="11277600" cy="457200"/>
          </a:xfrm>
          <a:prstGeom prst="rect">
            <a:avLst/>
          </a:prstGeom>
          <a:noFill/>
        </p:spPr>
        <p:txBody>
          <a:bodyPr wrap="square" lIns="0" tIns="0" rIns="0" bIns="0" anchor="t">
            <a:spAutoFit/>
          </a:bodyPr>
          <a:lstStyle/>
          <a:p>
            <a:pPr algn="l">
              <a:spcAft>
                <a:spcPts val="500"/>
              </a:spcAft>
            </a:pPr>
            <a:r>
              <a:rPr sz="1250" b="0" i="0">
                <a:solidFill>
                  <a:srgbClr val="000000"/>
                </a:solidFill>
              </a:rPr>
              <a:t>This is a new ask, and we are still working through it. More to come.</a:t>
            </a:r>
          </a:p>
        </p:txBody>
      </p:sp>
      <p:sp>
        <p:nvSpPr>
          <p:cNvPr id="9" name="Rounded Rectangle 8"/>
          <p:cNvSpPr/>
          <p:nvPr/>
        </p:nvSpPr>
        <p:spPr>
          <a:xfrm>
            <a:off x="457200" y="1828368"/>
            <a:ext cx="3692533" cy="233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a:solidFill>
                  <a:srgbClr val="60607D"/>
                </a:solidFill>
              </a:rPr>
              <a:t>Step 1</a:t>
            </a:r>
          </a:p>
          <a:p>
            <a:pPr algn="l">
              <a:spcBef>
                <a:spcPts val="400"/>
              </a:spcBef>
              <a:spcAft>
                <a:spcPts val="200"/>
              </a:spcAft>
            </a:pPr>
            <a:r>
              <a:rPr sz="1150" b="1" i="0">
                <a:solidFill>
                  <a:srgbClr val="000000"/>
                </a:solidFill>
              </a:rPr>
              <a:t>Goes In</a:t>
            </a:r>
          </a:p>
          <a:p>
            <a:pPr algn="l">
              <a:spcBef>
                <a:spcPts val="400"/>
              </a:spcBef>
              <a:spcAft>
                <a:spcPts val="500"/>
              </a:spcAft>
            </a:pPr>
            <a:r>
              <a:rPr sz="1150" b="1" i="0">
                <a:solidFill>
                  <a:srgbClr val="000000"/>
                </a:solidFill>
              </a:rPr>
              <a:t>Deliverables</a:t>
            </a:r>
          </a:p>
        </p:txBody>
      </p:sp>
      <p:sp>
        <p:nvSpPr>
          <p:cNvPr id="10" name="Rounded Rectangle 9"/>
          <p:cNvSpPr/>
          <p:nvPr/>
        </p:nvSpPr>
        <p:spPr>
          <a:xfrm>
            <a:off x="4249733" y="1828368"/>
            <a:ext cx="3692533" cy="233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a:solidFill>
                  <a:srgbClr val="60607D"/>
                </a:solidFill>
              </a:rPr>
              <a:t>Step 2</a:t>
            </a:r>
          </a:p>
          <a:p>
            <a:pPr algn="l">
              <a:spcBef>
                <a:spcPts val="400"/>
              </a:spcBef>
              <a:spcAft>
                <a:spcPts val="200"/>
              </a:spcAft>
            </a:pPr>
            <a:r>
              <a:rPr sz="1150" b="1" i="0">
                <a:solidFill>
                  <a:srgbClr val="000000"/>
                </a:solidFill>
              </a:rPr>
              <a:t>Ai Does The Real Work</a:t>
            </a:r>
          </a:p>
          <a:p>
            <a:pPr algn="l">
              <a:spcBef>
                <a:spcPts val="400"/>
              </a:spcBef>
              <a:spcAft>
                <a:spcPts val="500"/>
              </a:spcAft>
            </a:pPr>
            <a:r>
              <a:rPr sz="1150" b="1" i="0">
                <a:solidFill>
                  <a:srgbClr val="000000"/>
                </a:solidFill>
              </a:rPr>
              <a:t>Generating the plan</a:t>
            </a:r>
          </a:p>
        </p:txBody>
      </p:sp>
      <p:sp>
        <p:nvSpPr>
          <p:cNvPr id="11" name="Rounded Rectangle 10"/>
          <p:cNvSpPr/>
          <p:nvPr/>
        </p:nvSpPr>
        <p:spPr>
          <a:xfrm>
            <a:off x="8042266" y="1828368"/>
            <a:ext cx="3692533" cy="233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a:solidFill>
                  <a:srgbClr val="60607D"/>
                </a:solidFill>
              </a:rPr>
              <a:t>Step 3</a:t>
            </a:r>
          </a:p>
          <a:p>
            <a:pPr algn="l">
              <a:spcBef>
                <a:spcPts val="400"/>
              </a:spcBef>
              <a:spcAft>
                <a:spcPts val="200"/>
              </a:spcAft>
            </a:pPr>
            <a:r>
              <a:rPr sz="1150" b="1" i="0">
                <a:solidFill>
                  <a:srgbClr val="000000"/>
                </a:solidFill>
              </a:rPr>
              <a:t>Comes Out</a:t>
            </a:r>
          </a:p>
          <a:p>
            <a:pPr algn="l">
              <a:spcBef>
                <a:spcPts val="400"/>
              </a:spcBef>
              <a:spcAft>
                <a:spcPts val="500"/>
              </a:spcAft>
            </a:pPr>
            <a:r>
              <a:rPr sz="1150" b="1" i="0">
                <a:solidFill>
                  <a:srgbClr val="000000"/>
                </a:solidFill>
              </a:rPr>
              <a:t>Timeline + staffing plan</a:t>
            </a:r>
          </a:p>
        </p:txBody>
      </p:sp>
      <p:sp>
        <p:nvSpPr>
          <p:cNvPr id="12" name="Rectangle 11"/>
          <p:cNvSpPr/>
          <p:nvPr/>
        </p:nvSpPr>
        <p:spPr>
          <a:xfrm>
            <a:off x="1219885" y="4379808"/>
            <a:ext cx="9752229" cy="19050"/>
          </a:xfrm>
          <a:prstGeom prst="rect">
            <a:avLst/>
          </a:prstGeom>
          <a:solidFill>
            <a:srgbClr val="D6D6DF"/>
          </a:solidFill>
          <a:ln>
            <a:noFill/>
          </a:ln>
        </p:spPr>
        <p:txBody>
          <a:bodyPr rtlCol="0" anchor="ctr"/>
          <a:lstStyle/>
          <a:p>
            <a:pPr algn="ctr"/>
            <a:endParaRPr/>
          </a:p>
        </p:txBody>
      </p:sp>
      <p:sp>
        <p:nvSpPr>
          <p:cNvPr id="13" name="Oval 12"/>
          <p:cNvSpPr/>
          <p:nvPr/>
        </p:nvSpPr>
        <p:spPr>
          <a:xfrm>
            <a:off x="1128445" y="4288368"/>
            <a:ext cx="182880" cy="182880"/>
          </a:xfrm>
          <a:prstGeom prst="ellipse">
            <a:avLst/>
          </a:prstGeom>
          <a:solidFill>
            <a:srgbClr val="FFFFFF"/>
          </a:solidFill>
          <a:ln w="19050">
            <a:solidFill>
              <a:srgbClr val="D6D6DF"/>
            </a:solidFill>
          </a:ln>
        </p:spPr>
        <p:txBody>
          <a:bodyPr rtlCol="0" anchor="ctr"/>
          <a:lstStyle/>
          <a:p>
            <a:pPr algn="ctr"/>
            <a:endParaRPr/>
          </a:p>
        </p:txBody>
      </p:sp>
      <p:sp>
        <p:nvSpPr>
          <p:cNvPr id="14" name="Rounded Rectangle 13"/>
          <p:cNvSpPr/>
          <p:nvPr/>
        </p:nvSpPr>
        <p:spPr>
          <a:xfrm>
            <a:off x="457200" y="4562688"/>
            <a:ext cx="1525371"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Aft>
                <a:spcPts val="500"/>
              </a:spcAft>
            </a:pPr>
            <a:r>
              <a:rPr sz="1100" b="0" i="1">
                <a:solidFill>
                  <a:srgbClr val="60607D"/>
                </a:solidFill>
              </a:rPr>
              <a:t>[Date]</a:t>
            </a:r>
          </a:p>
          <a:p>
            <a:pPr algn="l">
              <a:spcAft>
                <a:spcPts val="500"/>
              </a:spcAft>
            </a:pPr>
            <a:r>
              <a:rPr sz="1100" b="0" i="1">
                <a:solidFill>
                  <a:srgbClr val="60607D"/>
                </a:solidFill>
              </a:rPr>
              <a:t>[What is done by then]</a:t>
            </a:r>
          </a:p>
        </p:txBody>
      </p:sp>
      <p:sp>
        <p:nvSpPr>
          <p:cNvPr id="15" name="Oval 14"/>
          <p:cNvSpPr/>
          <p:nvPr/>
        </p:nvSpPr>
        <p:spPr>
          <a:xfrm>
            <a:off x="2753816" y="4288368"/>
            <a:ext cx="182880" cy="182880"/>
          </a:xfrm>
          <a:prstGeom prst="ellipse">
            <a:avLst/>
          </a:prstGeom>
          <a:solidFill>
            <a:srgbClr val="FFFFFF"/>
          </a:solidFill>
          <a:ln w="19050">
            <a:solidFill>
              <a:srgbClr val="D6D6DF"/>
            </a:solidFill>
          </a:ln>
        </p:spPr>
        <p:txBody>
          <a:bodyPr rtlCol="0" anchor="ctr"/>
          <a:lstStyle/>
          <a:p>
            <a:pPr algn="ctr"/>
            <a:endParaRPr/>
          </a:p>
        </p:txBody>
      </p:sp>
      <p:sp>
        <p:nvSpPr>
          <p:cNvPr id="16" name="Rounded Rectangle 15"/>
          <p:cNvSpPr/>
          <p:nvPr/>
        </p:nvSpPr>
        <p:spPr>
          <a:xfrm>
            <a:off x="2082571" y="4562688"/>
            <a:ext cx="1525371"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Aft>
                <a:spcPts val="500"/>
              </a:spcAft>
            </a:pPr>
            <a:r>
              <a:rPr sz="1100" b="0" i="1">
                <a:solidFill>
                  <a:srgbClr val="60607D"/>
                </a:solidFill>
              </a:rPr>
              <a:t>[Date]</a:t>
            </a:r>
          </a:p>
          <a:p>
            <a:pPr algn="l">
              <a:spcAft>
                <a:spcPts val="500"/>
              </a:spcAft>
            </a:pPr>
            <a:r>
              <a:rPr sz="1100" b="0" i="1">
                <a:solidFill>
                  <a:srgbClr val="60607D"/>
                </a:solidFill>
              </a:rPr>
              <a:t>[What is done by then]</a:t>
            </a:r>
          </a:p>
        </p:txBody>
      </p:sp>
      <p:sp>
        <p:nvSpPr>
          <p:cNvPr id="17" name="Oval 16"/>
          <p:cNvSpPr/>
          <p:nvPr/>
        </p:nvSpPr>
        <p:spPr>
          <a:xfrm>
            <a:off x="4379187" y="4288368"/>
            <a:ext cx="182880" cy="182880"/>
          </a:xfrm>
          <a:prstGeom prst="ellipse">
            <a:avLst/>
          </a:prstGeom>
          <a:solidFill>
            <a:srgbClr val="FFFFFF"/>
          </a:solidFill>
          <a:ln w="19050">
            <a:solidFill>
              <a:srgbClr val="D6D6DF"/>
            </a:solidFill>
          </a:ln>
        </p:spPr>
        <p:txBody>
          <a:bodyPr rtlCol="0" anchor="ctr"/>
          <a:lstStyle/>
          <a:p>
            <a:pPr algn="ctr"/>
            <a:endParaRPr/>
          </a:p>
        </p:txBody>
      </p:sp>
      <p:sp>
        <p:nvSpPr>
          <p:cNvPr id="18" name="Rounded Rectangle 17"/>
          <p:cNvSpPr/>
          <p:nvPr/>
        </p:nvSpPr>
        <p:spPr>
          <a:xfrm>
            <a:off x="3707942" y="4562688"/>
            <a:ext cx="1525371"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Aft>
                <a:spcPts val="500"/>
              </a:spcAft>
            </a:pPr>
            <a:r>
              <a:rPr sz="1100" b="0" i="1">
                <a:solidFill>
                  <a:srgbClr val="60607D"/>
                </a:solidFill>
              </a:rPr>
              <a:t>[Date]</a:t>
            </a:r>
          </a:p>
          <a:p>
            <a:pPr algn="l">
              <a:spcAft>
                <a:spcPts val="500"/>
              </a:spcAft>
            </a:pPr>
            <a:r>
              <a:rPr sz="1100" b="0" i="1">
                <a:solidFill>
                  <a:srgbClr val="60607D"/>
                </a:solidFill>
              </a:rPr>
              <a:t>[What is done by then]</a:t>
            </a:r>
          </a:p>
        </p:txBody>
      </p:sp>
      <p:sp>
        <p:nvSpPr>
          <p:cNvPr id="19" name="Oval 18"/>
          <p:cNvSpPr/>
          <p:nvPr/>
        </p:nvSpPr>
        <p:spPr>
          <a:xfrm>
            <a:off x="6004558" y="4288368"/>
            <a:ext cx="182880" cy="182880"/>
          </a:xfrm>
          <a:prstGeom prst="ellipse">
            <a:avLst/>
          </a:prstGeom>
          <a:solidFill>
            <a:srgbClr val="FFFFFF"/>
          </a:solidFill>
          <a:ln w="19050">
            <a:solidFill>
              <a:srgbClr val="D6D6DF"/>
            </a:solidFill>
          </a:ln>
        </p:spPr>
        <p:txBody>
          <a:bodyPr rtlCol="0" anchor="ctr"/>
          <a:lstStyle/>
          <a:p>
            <a:pPr algn="ctr"/>
            <a:endParaRPr/>
          </a:p>
        </p:txBody>
      </p:sp>
      <p:sp>
        <p:nvSpPr>
          <p:cNvPr id="20" name="Rounded Rectangle 19"/>
          <p:cNvSpPr/>
          <p:nvPr/>
        </p:nvSpPr>
        <p:spPr>
          <a:xfrm>
            <a:off x="5333313" y="4562688"/>
            <a:ext cx="1525371"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Aft>
                <a:spcPts val="500"/>
              </a:spcAft>
            </a:pPr>
            <a:r>
              <a:rPr sz="1100" b="0" i="1">
                <a:solidFill>
                  <a:srgbClr val="60607D"/>
                </a:solidFill>
              </a:rPr>
              <a:t>[Date]</a:t>
            </a:r>
          </a:p>
          <a:p>
            <a:pPr algn="l">
              <a:spcAft>
                <a:spcPts val="500"/>
              </a:spcAft>
            </a:pPr>
            <a:r>
              <a:rPr sz="1100" b="0" i="1">
                <a:solidFill>
                  <a:srgbClr val="60607D"/>
                </a:solidFill>
              </a:rPr>
              <a:t>[What is done by then]</a:t>
            </a:r>
          </a:p>
        </p:txBody>
      </p:sp>
      <p:sp>
        <p:nvSpPr>
          <p:cNvPr id="21" name="Oval 20"/>
          <p:cNvSpPr/>
          <p:nvPr/>
        </p:nvSpPr>
        <p:spPr>
          <a:xfrm>
            <a:off x="7629929" y="4288368"/>
            <a:ext cx="182880" cy="182880"/>
          </a:xfrm>
          <a:prstGeom prst="ellipse">
            <a:avLst/>
          </a:prstGeom>
          <a:solidFill>
            <a:srgbClr val="FFFFFF"/>
          </a:solidFill>
          <a:ln w="19050">
            <a:solidFill>
              <a:srgbClr val="D6D6DF"/>
            </a:solidFill>
          </a:ln>
        </p:spPr>
        <p:txBody>
          <a:bodyPr rtlCol="0" anchor="ctr"/>
          <a:lstStyle/>
          <a:p>
            <a:pPr algn="ctr"/>
            <a:endParaRPr/>
          </a:p>
        </p:txBody>
      </p:sp>
      <p:sp>
        <p:nvSpPr>
          <p:cNvPr id="22" name="Rounded Rectangle 21"/>
          <p:cNvSpPr/>
          <p:nvPr/>
        </p:nvSpPr>
        <p:spPr>
          <a:xfrm>
            <a:off x="6958684" y="4562688"/>
            <a:ext cx="1525371"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Aft>
                <a:spcPts val="500"/>
              </a:spcAft>
            </a:pPr>
            <a:r>
              <a:rPr sz="1100" b="0" i="1">
                <a:solidFill>
                  <a:srgbClr val="60607D"/>
                </a:solidFill>
              </a:rPr>
              <a:t>[Date]</a:t>
            </a:r>
          </a:p>
          <a:p>
            <a:pPr algn="l">
              <a:spcAft>
                <a:spcPts val="500"/>
              </a:spcAft>
            </a:pPr>
            <a:r>
              <a:rPr sz="1100" b="0" i="1">
                <a:solidFill>
                  <a:srgbClr val="60607D"/>
                </a:solidFill>
              </a:rPr>
              <a:t>[What is done by then]</a:t>
            </a:r>
          </a:p>
        </p:txBody>
      </p:sp>
      <p:sp>
        <p:nvSpPr>
          <p:cNvPr id="23" name="Oval 22"/>
          <p:cNvSpPr/>
          <p:nvPr/>
        </p:nvSpPr>
        <p:spPr>
          <a:xfrm>
            <a:off x="9255300" y="4288368"/>
            <a:ext cx="182880" cy="182880"/>
          </a:xfrm>
          <a:prstGeom prst="ellipse">
            <a:avLst/>
          </a:prstGeom>
          <a:solidFill>
            <a:srgbClr val="FFFFFF"/>
          </a:solidFill>
          <a:ln w="19050">
            <a:solidFill>
              <a:srgbClr val="D6D6DF"/>
            </a:solidFill>
          </a:ln>
        </p:spPr>
        <p:txBody>
          <a:bodyPr rtlCol="0" anchor="ctr"/>
          <a:lstStyle/>
          <a:p>
            <a:pPr algn="ctr"/>
            <a:endParaRPr/>
          </a:p>
        </p:txBody>
      </p:sp>
      <p:sp>
        <p:nvSpPr>
          <p:cNvPr id="24" name="Rounded Rectangle 23"/>
          <p:cNvSpPr/>
          <p:nvPr/>
        </p:nvSpPr>
        <p:spPr>
          <a:xfrm>
            <a:off x="8584055" y="4562688"/>
            <a:ext cx="1525371"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Aft>
                <a:spcPts val="500"/>
              </a:spcAft>
            </a:pPr>
            <a:r>
              <a:rPr sz="1100" b="0" i="1">
                <a:solidFill>
                  <a:srgbClr val="60607D"/>
                </a:solidFill>
              </a:rPr>
              <a:t>[Date]</a:t>
            </a:r>
          </a:p>
          <a:p>
            <a:pPr algn="l">
              <a:spcAft>
                <a:spcPts val="500"/>
              </a:spcAft>
            </a:pPr>
            <a:r>
              <a:rPr sz="1100" b="0" i="1">
                <a:solidFill>
                  <a:srgbClr val="60607D"/>
                </a:solidFill>
              </a:rPr>
              <a:t>[What is done by then]</a:t>
            </a:r>
          </a:p>
        </p:txBody>
      </p:sp>
      <p:sp>
        <p:nvSpPr>
          <p:cNvPr id="25" name="Oval 24"/>
          <p:cNvSpPr/>
          <p:nvPr/>
        </p:nvSpPr>
        <p:spPr>
          <a:xfrm>
            <a:off x="10880671" y="4288368"/>
            <a:ext cx="182880" cy="182880"/>
          </a:xfrm>
          <a:prstGeom prst="ellipse">
            <a:avLst/>
          </a:prstGeom>
          <a:solidFill>
            <a:srgbClr val="FFFFFF"/>
          </a:solidFill>
          <a:ln w="19050">
            <a:solidFill>
              <a:srgbClr val="D6D6DF"/>
            </a:solidFill>
          </a:ln>
        </p:spPr>
        <p:txBody>
          <a:bodyPr rtlCol="0" anchor="ctr"/>
          <a:lstStyle/>
          <a:p>
            <a:pPr algn="ctr"/>
            <a:endParaRPr/>
          </a:p>
        </p:txBody>
      </p:sp>
      <p:sp>
        <p:nvSpPr>
          <p:cNvPr id="26" name="Rounded Rectangle 25"/>
          <p:cNvSpPr/>
          <p:nvPr/>
        </p:nvSpPr>
        <p:spPr>
          <a:xfrm>
            <a:off x="10209426" y="4562688"/>
            <a:ext cx="1525371"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Bef>
                <a:spcPts val="200"/>
              </a:spcBef>
              <a:spcAft>
                <a:spcPts val="200"/>
              </a:spcAft>
            </a:pPr>
            <a:r>
              <a:rPr sz="850" b="1" i="0" cap="all" spc="100">
                <a:solidFill>
                  <a:srgbClr val="60607D"/>
                </a:solidFill>
              </a:rPr>
              <a:t>The target</a:t>
            </a:r>
          </a:p>
          <a:p>
            <a:pPr algn="l">
              <a:spcBef>
                <a:spcPts val="400"/>
              </a:spcBef>
              <a:spcAft>
                <a:spcPts val="200"/>
              </a:spcAft>
            </a:pPr>
            <a:r>
              <a:rPr sz="850" b="1" i="0">
                <a:solidFill>
                  <a:srgbClr val="000000"/>
                </a:solidFill>
              </a:rPr>
              <a:t>MVP done</a:t>
            </a:r>
          </a:p>
          <a:p>
            <a:pPr algn="l">
              <a:spcAft>
                <a:spcPts val="500"/>
              </a:spcAft>
            </a:pPr>
            <a:r>
              <a:rPr sz="850" b="0" i="1">
                <a:solidFill>
                  <a:srgbClr val="60607D"/>
                </a:solidFill>
              </a:rPr>
              <a:t>[Date we are shooting for.]</a:t>
            </a:r>
          </a:p>
        </p:txBody>
      </p:sp>
      <p:sp>
        <p:nvSpPr>
          <p:cNvPr id="27" name="Rounded Rectangle 26"/>
          <p:cNvSpPr/>
          <p:nvPr/>
        </p:nvSpPr>
        <p:spPr>
          <a:xfrm>
            <a:off x="457200" y="5462688"/>
            <a:ext cx="5563800" cy="93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91440" rIns="182880" bIns="36576" rtlCol="0" anchor="t"/>
          <a:lstStyle/>
          <a:p>
            <a:pPr algn="l">
              <a:spcAft>
                <a:spcPts val="600"/>
              </a:spcAft>
            </a:pPr>
            <a:r>
              <a:rPr sz="1100" b="1" i="0" cap="all" spc="60">
                <a:solidFill>
                  <a:srgbClr val="000000"/>
                </a:solidFill>
              </a:rPr>
              <a:t>Team</a:t>
            </a:r>
          </a:p>
        </p:txBody>
      </p:sp>
      <p:sp>
        <p:nvSpPr>
          <p:cNvPr id="28" name="Rounded Rectangle 27"/>
          <p:cNvSpPr/>
          <p:nvPr/>
        </p:nvSpPr>
        <p:spPr>
          <a:xfrm>
            <a:off x="667512" y="5791872"/>
            <a:ext cx="1351221" cy="246888"/>
          </a:xfrm>
          <a:prstGeom prst="roundRect">
            <a:avLst>
              <a:gd name="adj" fmla="val 50000"/>
            </a:avLst>
          </a:prstGeom>
          <a:solidFill>
            <a:srgbClr val="FFFFFF"/>
          </a:solidFill>
          <a:ln w="12700">
            <a:solidFill>
              <a:srgbClr val="D6D6DF"/>
            </a:solidFill>
          </a:ln>
        </p:spPr>
        <p:txBody>
          <a:bodyPr wrap="none" lIns="0" tIns="0" rIns="0" bIns="0" rtlCol="0" anchor="ctr"/>
          <a:lstStyle/>
          <a:p>
            <a:pPr algn="ctr"/>
            <a:r>
              <a:rPr sz="900" b="0" i="1">
                <a:solidFill>
                  <a:srgbClr val="60607D"/>
                </a:solidFill>
              </a:rPr>
              <a:t>[Who does the work]</a:t>
            </a:r>
          </a:p>
        </p:txBody>
      </p:sp>
      <p:sp>
        <p:nvSpPr>
          <p:cNvPr id="29" name="Rounded Rectangle 28"/>
          <p:cNvSpPr/>
          <p:nvPr/>
        </p:nvSpPr>
        <p:spPr>
          <a:xfrm>
            <a:off x="2101029" y="5791872"/>
            <a:ext cx="1351221" cy="246888"/>
          </a:xfrm>
          <a:prstGeom prst="roundRect">
            <a:avLst>
              <a:gd name="adj" fmla="val 50000"/>
            </a:avLst>
          </a:prstGeom>
          <a:solidFill>
            <a:srgbClr val="FFFFFF"/>
          </a:solidFill>
          <a:ln w="12700">
            <a:solidFill>
              <a:srgbClr val="D6D6DF"/>
            </a:solidFill>
          </a:ln>
        </p:spPr>
        <p:txBody>
          <a:bodyPr wrap="none" lIns="0" tIns="0" rIns="0" bIns="0" rtlCol="0" anchor="ctr"/>
          <a:lstStyle/>
          <a:p>
            <a:pPr algn="ctr"/>
            <a:r>
              <a:rPr sz="900" b="0" i="1">
                <a:solidFill>
                  <a:srgbClr val="60607D"/>
                </a:solidFill>
              </a:rPr>
              <a:t>[Who does the work]</a:t>
            </a:r>
          </a:p>
        </p:txBody>
      </p:sp>
      <p:sp>
        <p:nvSpPr>
          <p:cNvPr id="30" name="Rounded Rectangle 29"/>
          <p:cNvSpPr/>
          <p:nvPr/>
        </p:nvSpPr>
        <p:spPr>
          <a:xfrm>
            <a:off x="6171000" y="5462688"/>
            <a:ext cx="5563800" cy="93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91440" rIns="182880" bIns="36576" rtlCol="0" anchor="t"/>
          <a:lstStyle/>
          <a:p>
            <a:pPr algn="l">
              <a:spcAft>
                <a:spcPts val="600"/>
              </a:spcAft>
            </a:pPr>
            <a:r>
              <a:rPr sz="1100" b="1" i="0" cap="all" spc="60">
                <a:solidFill>
                  <a:srgbClr val="000000"/>
                </a:solidFill>
              </a:rPr>
              <a:t>Partners</a:t>
            </a:r>
          </a:p>
        </p:txBody>
      </p:sp>
      <p:sp>
        <p:nvSpPr>
          <p:cNvPr id="31" name="Rounded Rectangle 30"/>
          <p:cNvSpPr/>
          <p:nvPr/>
        </p:nvSpPr>
        <p:spPr>
          <a:xfrm>
            <a:off x="6381312" y="5791872"/>
            <a:ext cx="1291655" cy="246888"/>
          </a:xfrm>
          <a:prstGeom prst="roundRect">
            <a:avLst>
              <a:gd name="adj" fmla="val 50000"/>
            </a:avLst>
          </a:prstGeom>
          <a:solidFill>
            <a:srgbClr val="FFFFFF"/>
          </a:solidFill>
          <a:ln w="12700">
            <a:solidFill>
              <a:srgbClr val="D6D6DF"/>
            </a:solidFill>
          </a:ln>
        </p:spPr>
        <p:txBody>
          <a:bodyPr wrap="none" lIns="0" tIns="0" rIns="0" bIns="0" rtlCol="0" anchor="ctr"/>
          <a:lstStyle/>
          <a:p>
            <a:pPr algn="ctr"/>
            <a:r>
              <a:rPr sz="900" b="0" i="1">
                <a:solidFill>
                  <a:srgbClr val="60607D"/>
                </a:solidFill>
              </a:rPr>
              <a:t>[Who we work with]</a:t>
            </a:r>
          </a:p>
        </p:txBody>
      </p:sp>
      <p:sp>
        <p:nvSpPr>
          <p:cNvPr id="32" name="Rounded Rectangle 31"/>
          <p:cNvSpPr/>
          <p:nvPr/>
        </p:nvSpPr>
        <p:spPr>
          <a:xfrm>
            <a:off x="7755263" y="5791872"/>
            <a:ext cx="1291655" cy="246888"/>
          </a:xfrm>
          <a:prstGeom prst="roundRect">
            <a:avLst>
              <a:gd name="adj" fmla="val 50000"/>
            </a:avLst>
          </a:prstGeom>
          <a:solidFill>
            <a:srgbClr val="FFFFFF"/>
          </a:solidFill>
          <a:ln w="12700">
            <a:solidFill>
              <a:srgbClr val="D6D6DF"/>
            </a:solidFill>
          </a:ln>
        </p:spPr>
        <p:txBody>
          <a:bodyPr wrap="none" lIns="0" tIns="0" rIns="0" bIns="0" rtlCol="0" anchor="ctr"/>
          <a:lstStyle/>
          <a:p>
            <a:pPr algn="ctr"/>
            <a:r>
              <a:rPr sz="900" b="0" i="1">
                <a:solidFill>
                  <a:srgbClr val="60607D"/>
                </a:solidFill>
              </a:rPr>
              <a:t>[Who we work with]</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 name="Picture 4" descr="f_hero_ops.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endParaRP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Adoption &amp; change management</a:t>
            </a:r>
          </a:p>
        </p:txBody>
      </p:sp>
      <p:sp>
        <p:nvSpPr>
          <p:cNvPr id="4" name="Text Placeholder 3"/>
          <p:cNvSpPr>
            <a:spLocks noGrp="1"/>
          </p:cNvSpPr>
          <p:nvPr>
            <p:ph type="body" sz="quarter" idx="12"/>
          </p:nvPr>
        </p:nvSpPr>
        <p:spPr>
          <a:xfrm>
            <a:off x="457200" y="170000"/>
            <a:ext cx="8000000" cy="182880"/>
          </a:xfrm>
        </p:spPr>
        <p:txBody>
          <a:bodyPr/>
          <a:lstStyle/>
          <a:p>
            <a:r>
              <a:rPr>
                <a:solidFill>
                  <a:srgbClr val="0391F2"/>
                </a:solidFill>
              </a:rPr>
              <a:t>OPS TRANSFORMATION: REBUILD SCOPING &amp; STAFFING · CLICK-DOWN · WHAT WE ARE CHANGING</a:t>
            </a:r>
          </a:p>
        </p:txBody>
      </p:sp>
      <p:sp>
        <p:nvSpPr>
          <p:cNvPr id="7" name="Rounded Rectangle 6"/>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wrap="square" lIns="150000" rIns="120000" rtlCol="0" anchor="ctr"/>
          <a:lstStyle/>
          <a:p>
            <a:pPr algn="l"/>
            <a:r>
              <a:rPr sz="1050" b="1" i="0">
                <a:solidFill>
                  <a:srgbClr val="FFFFFF"/>
                </a:solidFill>
              </a:rPr>
              <a:t>Owner(s)</a:t>
            </a:r>
          </a:p>
          <a:p>
            <a:pPr algn="l"/>
            <a:r>
              <a:rPr sz="900" b="0" i="0">
                <a:solidFill>
                  <a:srgbClr val="D6D6DF"/>
                </a:solidFill>
              </a:rPr>
              <a:t>Missy Foristall, Dave Brabec</a:t>
            </a:r>
          </a:p>
        </p:txBody>
      </p:sp>
      <p:sp>
        <p:nvSpPr>
          <p:cNvPr id="8" name="Rounded Rectangle 7"/>
          <p:cNvSpPr/>
          <p:nvPr/>
        </p:nvSpPr>
        <p:spPr>
          <a:xfrm>
            <a:off x="457200" y="1170000"/>
            <a:ext cx="2706900" cy="50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000000"/>
                </a:solidFill>
              </a:rPr>
              <a:t>1. Strategy &amp; Alignment</a:t>
            </a:r>
          </a:p>
          <a:p>
            <a:pPr algn="l">
              <a:spcBef>
                <a:spcPts val="400"/>
              </a:spcBef>
              <a:spcAft>
                <a:spcPts val="200"/>
              </a:spcAft>
            </a:pPr>
            <a:r>
              <a:rPr sz="1300" b="1" i="0">
                <a:solidFill>
                  <a:srgbClr val="000000"/>
                </a:solidFill>
              </a:rPr>
              <a:t>The why</a:t>
            </a:r>
          </a:p>
          <a:p>
            <a:pPr algn="l">
              <a:spcAft>
                <a:spcPts val="500"/>
              </a:spcAft>
            </a:pPr>
            <a:r>
              <a:rPr sz="1300" b="0" i="1">
                <a:solidFill>
                  <a:srgbClr val="60607D"/>
                </a:solidFill>
              </a:rPr>
              <a:t>[The business reason for this change and the value it brings.]</a:t>
            </a:r>
          </a:p>
          <a:p>
            <a:pPr algn="l">
              <a:spcBef>
                <a:spcPts val="400"/>
              </a:spcBef>
              <a:spcAft>
                <a:spcPts val="200"/>
              </a:spcAft>
            </a:pPr>
            <a:r>
              <a:rPr sz="1300" b="1" i="0">
                <a:solidFill>
                  <a:srgbClr val="000000"/>
                </a:solidFill>
              </a:rPr>
              <a:t>Who is affected</a:t>
            </a:r>
          </a:p>
          <a:p>
            <a:pPr algn="l">
              <a:spcAft>
                <a:spcPts val="500"/>
              </a:spcAft>
            </a:pPr>
            <a:r>
              <a:rPr sz="1300" b="0" i="1">
                <a:solidFill>
                  <a:srgbClr val="60607D"/>
                </a:solidFill>
              </a:rPr>
              <a:t>[Who is impacted, how their day-to-day changes, and how much pushback to expect.]</a:t>
            </a:r>
          </a:p>
          <a:p>
            <a:pPr algn="l">
              <a:spcBef>
                <a:spcPts val="400"/>
              </a:spcBef>
              <a:spcAft>
                <a:spcPts val="200"/>
              </a:spcAft>
            </a:pPr>
            <a:r>
              <a:rPr sz="1300" b="1" i="0">
                <a:solidFill>
                  <a:srgbClr val="000000"/>
                </a:solidFill>
              </a:rPr>
              <a:t>Who is backing it</a:t>
            </a:r>
          </a:p>
          <a:p>
            <a:pPr algn="l">
              <a:spcAft>
                <a:spcPts val="500"/>
              </a:spcAft>
            </a:pPr>
            <a:r>
              <a:rPr sz="1300" b="0" i="1">
                <a:solidFill>
                  <a:srgbClr val="60607D"/>
                </a:solidFill>
              </a:rPr>
              <a:t>[Executive sponsors, approvers, and the champions who will drive adoption locally.]</a:t>
            </a:r>
          </a:p>
        </p:txBody>
      </p:sp>
      <p:sp>
        <p:nvSpPr>
          <p:cNvPr id="9" name="Rounded Rectangle 8"/>
          <p:cNvSpPr/>
          <p:nvPr/>
        </p:nvSpPr>
        <p:spPr>
          <a:xfrm>
            <a:off x="3314100" y="1170000"/>
            <a:ext cx="2706900" cy="50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000000"/>
                </a:solidFill>
              </a:rPr>
              <a:t>2. Communications Plan</a:t>
            </a:r>
          </a:p>
          <a:p>
            <a:pPr algn="l">
              <a:spcBef>
                <a:spcPts val="400"/>
              </a:spcBef>
              <a:spcAft>
                <a:spcPts val="200"/>
              </a:spcAft>
            </a:pPr>
            <a:r>
              <a:rPr sz="1300" b="1" i="0">
                <a:solidFill>
                  <a:srgbClr val="000000"/>
                </a:solidFill>
              </a:rPr>
              <a:t>Core messages</a:t>
            </a:r>
          </a:p>
          <a:p>
            <a:pPr algn="l">
              <a:spcAft>
                <a:spcPts val="500"/>
              </a:spcAft>
            </a:pPr>
            <a:r>
              <a:rPr sz="1300" b="0" i="1">
                <a:solidFill>
                  <a:srgbClr val="60607D"/>
                </a:solidFill>
              </a:rPr>
              <a:t>[The standard talking points, tailored for each group that is affected.]</a:t>
            </a:r>
          </a:p>
          <a:p>
            <a:pPr algn="l">
              <a:spcBef>
                <a:spcPts val="400"/>
              </a:spcBef>
              <a:spcAft>
                <a:spcPts val="200"/>
              </a:spcAft>
            </a:pPr>
            <a:r>
              <a:rPr sz="1300" b="1" i="0">
                <a:solidFill>
                  <a:srgbClr val="000000"/>
                </a:solidFill>
              </a:rPr>
              <a:t>Channels</a:t>
            </a:r>
          </a:p>
          <a:p>
            <a:pPr algn="l">
              <a:spcAft>
                <a:spcPts val="500"/>
              </a:spcAft>
            </a:pPr>
            <a:r>
              <a:rPr sz="1300" b="0" i="1">
                <a:solidFill>
                  <a:srgbClr val="60607D"/>
                </a:solidFill>
              </a:rPr>
              <a:t>[Where we will say it: all-hands, email, internal portals, team meetings.]</a:t>
            </a:r>
          </a:p>
          <a:p>
            <a:pPr algn="l">
              <a:spcBef>
                <a:spcPts val="400"/>
              </a:spcBef>
              <a:spcAft>
                <a:spcPts val="200"/>
              </a:spcAft>
            </a:pPr>
            <a:r>
              <a:rPr sz="1300" b="1" i="0">
                <a:solidFill>
                  <a:srgbClr val="000000"/>
                </a:solidFill>
              </a:rPr>
              <a:t>Timing</a:t>
            </a:r>
          </a:p>
          <a:p>
            <a:pPr algn="l">
              <a:spcAft>
                <a:spcPts val="500"/>
              </a:spcAft>
            </a:pPr>
            <a:r>
              <a:rPr sz="1300" b="0" i="1">
                <a:solidFill>
                  <a:srgbClr val="60607D"/>
                </a:solidFill>
              </a:rPr>
              <a:t>[The schedule of announcements, teasers and reminders before and after launch.]</a:t>
            </a:r>
          </a:p>
        </p:txBody>
      </p:sp>
      <p:sp>
        <p:nvSpPr>
          <p:cNvPr id="10" name="Rounded Rectangle 9"/>
          <p:cNvSpPr/>
          <p:nvPr/>
        </p:nvSpPr>
        <p:spPr>
          <a:xfrm>
            <a:off x="6171000" y="1170000"/>
            <a:ext cx="2706900" cy="50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000000"/>
                </a:solidFill>
              </a:rPr>
              <a:t>3. Enablement</a:t>
            </a:r>
          </a:p>
          <a:p>
            <a:pPr algn="l">
              <a:spcBef>
                <a:spcPts val="400"/>
              </a:spcBef>
              <a:spcAft>
                <a:spcPts val="200"/>
              </a:spcAft>
            </a:pPr>
            <a:r>
              <a:rPr sz="1300" b="1" i="0">
                <a:solidFill>
                  <a:srgbClr val="000000"/>
                </a:solidFill>
              </a:rPr>
              <a:t>Training</a:t>
            </a:r>
          </a:p>
          <a:p>
            <a:pPr algn="l">
              <a:spcAft>
                <a:spcPts val="500"/>
              </a:spcAft>
            </a:pPr>
            <a:r>
              <a:rPr sz="1300" b="0" i="1">
                <a:solidFill>
                  <a:srgbClr val="60607D"/>
                </a:solidFill>
              </a:rPr>
              <a:t>[How people will learn: live sessions, self-serve modules, documentation.]</a:t>
            </a:r>
          </a:p>
          <a:p>
            <a:pPr algn="l">
              <a:spcBef>
                <a:spcPts val="400"/>
              </a:spcBef>
              <a:spcAft>
                <a:spcPts val="200"/>
              </a:spcAft>
            </a:pPr>
            <a:r>
              <a:rPr sz="1300" b="1" i="0">
                <a:solidFill>
                  <a:srgbClr val="000000"/>
                </a:solidFill>
              </a:rPr>
              <a:t>Where to find things</a:t>
            </a:r>
          </a:p>
          <a:p>
            <a:pPr algn="l">
              <a:spcAft>
                <a:spcPts val="500"/>
              </a:spcAft>
            </a:pPr>
            <a:r>
              <a:rPr sz="1300" b="0" i="1">
                <a:solidFill>
                  <a:srgbClr val="60607D"/>
                </a:solidFill>
              </a:rPr>
              <a:t>[One place for user guides, quick reference cards and FAQs.]</a:t>
            </a:r>
          </a:p>
          <a:p>
            <a:pPr algn="l">
              <a:spcBef>
                <a:spcPts val="400"/>
              </a:spcBef>
              <a:spcAft>
                <a:spcPts val="200"/>
              </a:spcAft>
            </a:pPr>
            <a:r>
              <a:rPr sz="1300" b="1" i="0">
                <a:solidFill>
                  <a:srgbClr val="000000"/>
                </a:solidFill>
              </a:rPr>
              <a:t>Getting help</a:t>
            </a:r>
          </a:p>
          <a:p>
            <a:pPr algn="l">
              <a:spcAft>
                <a:spcPts val="500"/>
              </a:spcAft>
            </a:pPr>
            <a:r>
              <a:rPr sz="1300" b="0" i="1">
                <a:solidFill>
                  <a:srgbClr val="60607D"/>
                </a:solidFill>
              </a:rPr>
              <a:t>[Where people go when they get stuck during the rollout.]</a:t>
            </a:r>
          </a:p>
        </p:txBody>
      </p:sp>
      <p:sp>
        <p:nvSpPr>
          <p:cNvPr id="11" name="Rounded Rectangle 10"/>
          <p:cNvSpPr/>
          <p:nvPr/>
        </p:nvSpPr>
        <p:spPr>
          <a:xfrm>
            <a:off x="9027900" y="1170000"/>
            <a:ext cx="2706900" cy="50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000000"/>
                </a:solidFill>
              </a:rPr>
              <a:t>4. Measuring &amp; Sustaining</a:t>
            </a:r>
          </a:p>
          <a:p>
            <a:pPr algn="l">
              <a:spcBef>
                <a:spcPts val="400"/>
              </a:spcBef>
              <a:spcAft>
                <a:spcPts val="200"/>
              </a:spcAft>
            </a:pPr>
            <a:r>
              <a:rPr sz="1300" b="1" i="0">
                <a:solidFill>
                  <a:srgbClr val="000000"/>
                </a:solidFill>
              </a:rPr>
              <a:t>Success measures</a:t>
            </a:r>
          </a:p>
          <a:p>
            <a:pPr algn="l">
              <a:spcAft>
                <a:spcPts val="500"/>
              </a:spcAft>
            </a:pPr>
            <a:r>
              <a:rPr sz="1300" b="0" i="1">
                <a:solidFill>
                  <a:srgbClr val="60607D"/>
                </a:solidFill>
              </a:rPr>
              <a:t>[The numbers that show healthy adoption, such as login rates, task completion and drop-off from the old way.]</a:t>
            </a:r>
          </a:p>
          <a:p>
            <a:pPr algn="l">
              <a:spcBef>
                <a:spcPts val="400"/>
              </a:spcBef>
              <a:spcAft>
                <a:spcPts val="200"/>
              </a:spcAft>
            </a:pPr>
            <a:r>
              <a:rPr sz="1300" b="1" i="0">
                <a:solidFill>
                  <a:srgbClr val="000000"/>
                </a:solidFill>
              </a:rPr>
              <a:t>Feedback</a:t>
            </a:r>
          </a:p>
          <a:p>
            <a:pPr algn="l">
              <a:spcAft>
                <a:spcPts val="500"/>
              </a:spcAft>
            </a:pPr>
            <a:r>
              <a:rPr sz="1300" b="0" i="1">
                <a:solidFill>
                  <a:srgbClr val="60607D"/>
                </a:solidFill>
              </a:rPr>
              <a:t>[How we capture friction and sentiment after launch so we can fix things quickly.]</a:t>
            </a:r>
          </a:p>
          <a:p>
            <a:pPr algn="l">
              <a:spcBef>
                <a:spcPts val="400"/>
              </a:spcBef>
              <a:spcAft>
                <a:spcPts val="200"/>
              </a:spcAft>
            </a:pPr>
            <a:r>
              <a:rPr sz="1300" b="1" i="0">
                <a:solidFill>
                  <a:srgbClr val="000000"/>
                </a:solidFill>
              </a:rPr>
              <a:t>Long-term owner</a:t>
            </a:r>
          </a:p>
          <a:p>
            <a:pPr algn="l">
              <a:spcAft>
                <a:spcPts val="500"/>
              </a:spcAft>
            </a:pPr>
            <a:r>
              <a:rPr sz="1300" b="0" i="1">
                <a:solidFill>
                  <a:srgbClr val="60607D"/>
                </a:solidFill>
              </a:rPr>
              <a:t>[Who owns ongoing updates, new-hire onboarding and keeping the process current.]</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 name="Picture 4" descr="f_rail_ops.jpg"/>
          <p:cNvPicPr>
            <a:picLocks noChangeAspect="1"/>
          </p:cNvPicPr>
          <p:nvPr/>
        </p:nvPicPr>
        <p:blipFill>
          <a:blip r:embed="rId2"/>
          <a:stretch>
            <a:fillRect/>
          </a:stretch>
        </p:blipFill>
        <p:spPr>
          <a:xfrm>
            <a:off x="228600" y="228600"/>
            <a:ext cx="3200000" cy="6171400"/>
          </a:xfrm>
          <a:prstGeom prst="roundRect">
            <a:avLst>
              <a:gd name="adj" fmla="val 3600"/>
            </a:avLst>
          </a:prstGeom>
        </p:spPr>
      </p:pic>
      <p:sp>
        <p:nvSpPr>
          <p:cNvPr id="6" name="Rounded Rectangle 5"/>
          <p:cNvSpPr/>
          <p:nvPr/>
        </p:nvSpPr>
        <p:spPr>
          <a:xfrm>
            <a:off x="228600" y="228600"/>
            <a:ext cx="3200000" cy="6171400"/>
          </a:xfrm>
          <a:prstGeom prst="roundRect">
            <a:avLst>
              <a:gd name="adj" fmla="val 3600"/>
            </a:avLst>
          </a:prstGeom>
          <a:gradFill rotWithShape="1">
            <a:gsLst>
              <a:gs pos="0">
                <a:srgbClr val="000000">
                  <a:alpha val="68000"/>
                </a:srgbClr>
              </a:gs>
              <a:gs pos="45000">
                <a:srgbClr val="000000">
                  <a:alpha val="50000"/>
                </a:srgbClr>
              </a:gs>
              <a:gs pos="100000">
                <a:srgbClr val="000000">
                  <a:alpha val="82000"/>
                </a:srgbClr>
              </a:gs>
            </a:gsLst>
            <a:lin ang="5400000" scaled="0"/>
          </a:gradFill>
          <a:ln>
            <a:noFill/>
          </a:ln>
        </p:spPr>
        <p:txBody>
          <a:bodyPr rtlCol="0" anchor="ctr"/>
          <a:lstStyle/>
          <a:p>
            <a:pPr algn="ctr"/>
            <a:endParaRPr/>
          </a:p>
        </p:txBody>
      </p:sp>
      <p:sp>
        <p:nvSpPr>
          <p:cNvPr id="7" name="Rounded Rectangle 6"/>
          <p:cNvSpPr/>
          <p:nvPr/>
        </p:nvSpPr>
        <p:spPr>
          <a:xfrm>
            <a:off x="378600" y="378600"/>
            <a:ext cx="2900000" cy="2050000"/>
          </a:xfrm>
          <a:prstGeom prst="roundRect">
            <a:avLst>
              <a:gd name="adj" fmla="val 5000"/>
            </a:avLst>
          </a:prstGeom>
          <a:solidFill>
            <a:srgbClr val="000000">
              <a:alpha val="62000"/>
            </a:srgbClr>
          </a:solidFill>
          <a:ln>
            <a:noFill/>
          </a:ln>
        </p:spPr>
        <p:txBody>
          <a:bodyPr rtlCol="0" anchor="ctr"/>
          <a:lstStyle/>
          <a:p>
            <a:pPr algn="ctr"/>
            <a:endParaRPr/>
          </a:p>
        </p:txBody>
      </p:sp>
      <p:sp>
        <p:nvSpPr>
          <p:cNvPr id="3" name="Title 2"/>
          <p:cNvSpPr>
            <a:spLocks noGrp="1"/>
          </p:cNvSpPr>
          <p:nvPr>
            <p:ph type="title"/>
          </p:nvPr>
        </p:nvSpPr>
        <p:spPr>
          <a:xfrm>
            <a:off x="508600" y="868600"/>
            <a:ext cx="2640000" cy="2300000"/>
          </a:xfrm>
        </p:spPr>
        <p:txBody>
          <a:bodyPr/>
          <a:lstStyle/>
          <a:p>
            <a:r>
              <a:rPr sz="2000">
                <a:solidFill>
                  <a:srgbClr val="FFFFFF"/>
                </a:solidFill>
              </a:rPr>
              <a:t>Ops Transformation: Rebuild Scoping &amp; Staffing: Update</a:t>
            </a:r>
          </a:p>
        </p:txBody>
      </p:sp>
      <p:sp>
        <p:nvSpPr>
          <p:cNvPr id="4" name="Text Placeholder 3"/>
          <p:cNvSpPr>
            <a:spLocks noGrp="1"/>
          </p:cNvSpPr>
          <p:nvPr>
            <p:ph type="body" sz="quarter" idx="12"/>
          </p:nvPr>
        </p:nvSpPr>
        <p:spPr>
          <a:xfrm>
            <a:off x="508600" y="558600"/>
            <a:ext cx="2640000" cy="182880"/>
          </a:xfrm>
        </p:spPr>
        <p:txBody>
          <a:bodyPr/>
          <a:lstStyle/>
          <a:p>
            <a:r>
              <a:rPr>
                <a:solidFill>
                  <a:srgbClr val="0391F2"/>
                </a:solidFill>
              </a:rPr>
              <a:t>OPS PRIORITIES</a:t>
            </a:r>
          </a:p>
        </p:txBody>
      </p:sp>
      <p:sp>
        <p:nvSpPr>
          <p:cNvPr id="8" name="Rounded Rectangle 7"/>
          <p:cNvSpPr/>
          <p:nvPr/>
        </p:nvSpPr>
        <p:spPr>
          <a:xfrm>
            <a:off x="508600" y="5340000"/>
            <a:ext cx="2640000" cy="780000"/>
          </a:xfrm>
          <a:prstGeom prst="roundRect">
            <a:avLst>
              <a:gd name="adj" fmla="val 28000"/>
            </a:avLst>
          </a:prstGeom>
          <a:solidFill>
            <a:srgbClr val="000000">
              <a:alpha val="72000"/>
            </a:srgbClr>
          </a:solidFill>
          <a:ln w="9525">
            <a:solidFill>
              <a:srgbClr val="FFFFFF">
                <a:alpha val="45000"/>
              </a:srgbClr>
            </a:solidFill>
          </a:ln>
        </p:spPr>
        <p:txBody>
          <a:bodyPr wrap="square" lIns="150000" rIns="120000" rtlCol="0" anchor="ctr"/>
          <a:lstStyle/>
          <a:p>
            <a:pPr algn="l"/>
            <a:r>
              <a:rPr sz="1050" b="1" i="0">
                <a:solidFill>
                  <a:srgbClr val="FFFFFF"/>
                </a:solidFill>
              </a:rPr>
              <a:t>Owner(s)</a:t>
            </a:r>
          </a:p>
          <a:p>
            <a:pPr algn="l"/>
            <a:r>
              <a:rPr sz="900" b="0" i="0">
                <a:solidFill>
                  <a:srgbClr val="D6D6DF"/>
                </a:solidFill>
              </a:rPr>
              <a:t>Missy Foristall, Dave Brabec</a:t>
            </a:r>
          </a:p>
        </p:txBody>
      </p:sp>
      <p:sp>
        <p:nvSpPr>
          <p:cNvPr id="9" name="Rounded Rectangle 8"/>
          <p:cNvSpPr/>
          <p:nvPr/>
        </p:nvSpPr>
        <p:spPr>
          <a:xfrm>
            <a:off x="3628600" y="228600"/>
            <a:ext cx="4092400" cy="34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82880" rIns="182880" bIns="54864" rtlCol="0" anchor="t"/>
          <a:lstStyle/>
          <a:p>
            <a:pPr algn="l">
              <a:spcAft>
                <a:spcPts val="600"/>
              </a:spcAft>
            </a:pPr>
            <a:r>
              <a:rPr sz="1100" b="1" i="0" cap="all" spc="60">
                <a:solidFill>
                  <a:srgbClr val="000000"/>
                </a:solidFill>
              </a:rPr>
              <a:t>What has been accomplished</a:t>
            </a:r>
          </a:p>
          <a:p>
            <a:pPr algn="l">
              <a:spcAft>
                <a:spcPts val="500"/>
              </a:spcAft>
            </a:pPr>
            <a:r>
              <a:rPr sz="1300" b="0" i="1">
                <a:solidFill>
                  <a:srgbClr val="60607D"/>
                </a:solidFill>
              </a:rPr>
              <a:t>[Put here: what got done since last time. Use dates, not "recently". Why: shows real progress.]</a:t>
            </a:r>
          </a:p>
        </p:txBody>
      </p:sp>
      <p:sp>
        <p:nvSpPr>
          <p:cNvPr id="10" name="Rounded Rectangle 9"/>
          <p:cNvSpPr/>
          <p:nvPr/>
        </p:nvSpPr>
        <p:spPr>
          <a:xfrm>
            <a:off x="7871000" y="228600"/>
            <a:ext cx="4092400" cy="34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82880" rIns="182880" bIns="54864" rtlCol="0" anchor="t"/>
          <a:lstStyle/>
          <a:p>
            <a:pPr algn="l">
              <a:spcAft>
                <a:spcPts val="600"/>
              </a:spcAft>
            </a:pPr>
            <a:r>
              <a:rPr sz="1100" b="1" i="0" cap="all" spc="60">
                <a:solidFill>
                  <a:srgbClr val="000000"/>
                </a:solidFill>
              </a:rPr>
              <a:t>Next milestones</a:t>
            </a:r>
          </a:p>
          <a:p>
            <a:pPr algn="l">
              <a:spcAft>
                <a:spcPts val="500"/>
              </a:spcAft>
            </a:pPr>
            <a:r>
              <a:rPr sz="1300" b="0" i="1">
                <a:solidFill>
                  <a:srgbClr val="60607D"/>
                </a:solidFill>
              </a:rPr>
              <a:t>[Put here: what happens next, and by when. Why: people can hold us to it.]</a:t>
            </a:r>
          </a:p>
        </p:txBody>
      </p:sp>
      <p:sp>
        <p:nvSpPr>
          <p:cNvPr id="11" name="Rounded Rectangle 10"/>
          <p:cNvSpPr/>
          <p:nvPr/>
        </p:nvSpPr>
        <p:spPr>
          <a:xfrm>
            <a:off x="3628600" y="3778600"/>
            <a:ext cx="8334800" cy="2621400"/>
          </a:xfrm>
          <a:prstGeom prst="roundRect">
            <a:avLst>
              <a:gd name="adj" fmla="val 2400"/>
            </a:avLst>
          </a:prstGeom>
          <a:solidFill>
            <a:srgbClr val="000000"/>
          </a:solidFill>
          <a:ln>
            <a:noFill/>
          </a:ln>
          <a:effectLst>
            <a:outerShdw blurRad="190500" dist="50800" dir="5400000" algn="t" rotWithShape="0">
              <a:srgbClr val="000000">
                <a:alpha val="13000"/>
              </a:srgbClr>
            </a:outerShdw>
          </a:effectLst>
        </p:spPr>
        <p:txBody>
          <a:bodyPr wrap="square" lIns="210312" tIns="182880" rIns="182880" bIns="54864" rtlCol="0" anchor="t"/>
          <a:lstStyle/>
          <a:p>
            <a:pPr algn="l">
              <a:spcAft>
                <a:spcPts val="600"/>
              </a:spcAft>
            </a:pPr>
            <a:r>
              <a:rPr sz="1100" b="1" i="0" cap="all" spc="60">
                <a:solidFill>
                  <a:srgbClr val="D6D6DF"/>
                </a:solidFill>
              </a:rPr>
              <a:t>What is in our way / what we need from you</a:t>
            </a:r>
          </a:p>
          <a:p>
            <a:pPr algn="l">
              <a:spcAft>
                <a:spcPts val="500"/>
              </a:spcAft>
            </a:pPr>
            <a:r>
              <a:rPr sz="1300" b="0" i="1">
                <a:solidFill>
                  <a:srgbClr val="D6D6DF"/>
                </a:solidFill>
              </a:rPr>
              <a:t>[Put here: what is blocking us, and what we need from you. Say who, and by when. Why: this is how leaders can help.]</a:t>
            </a:r>
          </a:p>
        </p:txBody>
      </p:sp>
      <p:sp>
        <p:nvSpPr>
          <p:cNvPr id="12" name="Rounded Rectangle 11"/>
          <p:cNvSpPr/>
          <p:nvPr/>
        </p:nvSpPr>
        <p:spPr>
          <a:xfrm>
            <a:off x="508600" y="4920000"/>
            <a:ext cx="2640000" cy="330000"/>
          </a:xfrm>
          <a:prstGeom prst="roundRect">
            <a:avLst>
              <a:gd name="adj" fmla="val 28000"/>
            </a:avLst>
          </a:prstGeom>
          <a:solidFill>
            <a:srgbClr val="000000">
              <a:alpha val="72000"/>
            </a:srgbClr>
          </a:solidFill>
          <a:ln w="9525">
            <a:solidFill>
              <a:srgbClr val="FFFFFF">
                <a:alpha val="45000"/>
              </a:srgbClr>
            </a:solidFill>
          </a:ln>
        </p:spPr>
        <p:txBody>
          <a:bodyPr wrap="square" lIns="150000" tIns="20000" rIns="120000" bIns="20000" rtlCol="0" anchor="ctr"/>
          <a:lstStyle/>
          <a:p>
            <a:pPr algn="l"/>
            <a:r>
              <a:rPr sz="900" b="1" i="0">
                <a:solidFill>
                  <a:srgbClr val="FFFFFF"/>
                </a:solidFill>
              </a:rPr>
              <a:t>Last updated: </a:t>
            </a:r>
            <a:r>
              <a:rPr sz="900" b="0" i="1">
                <a:solidFill>
                  <a:srgbClr val="D6D6DF"/>
                </a:solidFill>
              </a:rPr>
              <a:t>[date]</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 name="Picture 4" descr="f_hero_ops.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endParaRPr/>
          </a:p>
        </p:txBody>
      </p:sp>
      <p:sp>
        <p:nvSpPr>
          <p:cNvPr id="3" name="Title 2"/>
          <p:cNvSpPr>
            <a:spLocks noGrp="1"/>
          </p:cNvSpPr>
          <p:nvPr>
            <p:ph type="title"/>
          </p:nvPr>
        </p:nvSpPr>
        <p:spPr>
          <a:xfrm>
            <a:off x="457200" y="300000"/>
            <a:ext cx="8000000" cy="560000"/>
          </a:xfrm>
        </p:spPr>
        <p:txBody>
          <a:bodyPr/>
          <a:lstStyle/>
          <a:p>
            <a:r>
              <a:rPr sz="2200">
                <a:solidFill>
                  <a:srgbClr val="FFFFFF"/>
                </a:solidFill>
              </a:rPr>
              <a:t>Ops Transformation: Rebuild Scoping &amp; Staffing</a:t>
            </a:r>
          </a:p>
        </p:txBody>
      </p:sp>
      <p:sp>
        <p:nvSpPr>
          <p:cNvPr id="4" name="Text Placeholder 3"/>
          <p:cNvSpPr>
            <a:spLocks noGrp="1"/>
          </p:cNvSpPr>
          <p:nvPr>
            <p:ph type="body" sz="quarter" idx="12"/>
          </p:nvPr>
        </p:nvSpPr>
        <p:spPr>
          <a:xfrm>
            <a:off x="457200" y="170000"/>
            <a:ext cx="8000000" cy="182880"/>
          </a:xfrm>
        </p:spPr>
        <p:txBody>
          <a:bodyPr/>
          <a:lstStyle/>
          <a:p>
            <a:r>
              <a:rPr>
                <a:solidFill>
                  <a:srgbClr val="0391F2"/>
                </a:solidFill>
              </a:rPr>
              <a:t>OPS TRANSFORMATION · SUPPORTING DETAIL</a:t>
            </a:r>
          </a:p>
        </p:txBody>
      </p:sp>
      <p:sp>
        <p:nvSpPr>
          <p:cNvPr id="7" name="Rounded Rectangle 6"/>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wrap="square" lIns="150000" rIns="120000" rtlCol="0" anchor="ctr"/>
          <a:lstStyle/>
          <a:p>
            <a:pPr algn="l"/>
            <a:r>
              <a:rPr sz="1050" b="1" i="0">
                <a:solidFill>
                  <a:srgbClr val="FFFFFF"/>
                </a:solidFill>
              </a:rPr>
              <a:t>Owner(s)</a:t>
            </a:r>
          </a:p>
          <a:p>
            <a:pPr algn="l"/>
            <a:r>
              <a:rPr sz="900" b="0" i="0">
                <a:solidFill>
                  <a:srgbClr val="D6D6DF"/>
                </a:solidFill>
              </a:rPr>
              <a:t>Missy Foristall, Dave Brabec</a:t>
            </a:r>
          </a:p>
        </p:txBody>
      </p:sp>
      <p:sp>
        <p:nvSpPr>
          <p:cNvPr id="8" name="TextBox 7"/>
          <p:cNvSpPr txBox="1"/>
          <p:nvPr/>
        </p:nvSpPr>
        <p:spPr>
          <a:xfrm>
            <a:off x="457200" y="1170000"/>
            <a:ext cx="11277600" cy="731520"/>
          </a:xfrm>
          <a:prstGeom prst="rect">
            <a:avLst/>
          </a:prstGeom>
          <a:noFill/>
        </p:spPr>
        <p:txBody>
          <a:bodyPr wrap="square" lIns="0" tIns="0" rIns="0" bIns="0" anchor="t">
            <a:spAutoFit/>
          </a:bodyPr>
          <a:lstStyle/>
          <a:p>
            <a:pPr algn="l">
              <a:spcAft>
                <a:spcPts val="500"/>
              </a:spcAft>
            </a:pPr>
            <a:r>
              <a:rPr sz="1600" b="0" i="0">
                <a:solidFill>
                  <a:srgbClr val="000000"/>
                </a:solidFill>
              </a:rPr>
              <a:t>Deliverables go in, and a timeline and staffing plan come out. AI does the real work of generating the plan, and gets smarter from what we actually deliver.</a:t>
            </a:r>
          </a:p>
        </p:txBody>
      </p:sp>
      <p:sp>
        <p:nvSpPr>
          <p:cNvPr id="9" name="Rounded Rectangle 8"/>
          <p:cNvSpPr/>
          <p:nvPr/>
        </p:nvSpPr>
        <p:spPr>
          <a:xfrm>
            <a:off x="457200" y="2038680"/>
            <a:ext cx="3312533" cy="155448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74320" tIns="274320" rIns="182880" bIns="91440" rtlCol="0" anchor="t"/>
          <a:lstStyle/>
          <a:p>
            <a:pPr algn="l">
              <a:spcBef>
                <a:spcPts val="200"/>
              </a:spcBef>
              <a:spcAft>
                <a:spcPts val="200"/>
              </a:spcAft>
            </a:pPr>
            <a:r>
              <a:rPr sz="850" b="1" i="0" cap="all" spc="100">
                <a:solidFill>
                  <a:srgbClr val="60607D"/>
                </a:solidFill>
              </a:rPr>
              <a:t>GOES IN</a:t>
            </a:r>
          </a:p>
          <a:p>
            <a:pPr algn="l">
              <a:spcBef>
                <a:spcPts val="400"/>
              </a:spcBef>
              <a:spcAft>
                <a:spcPts val="200"/>
              </a:spcAft>
            </a:pPr>
            <a:r>
              <a:rPr sz="2200" b="1" i="0">
                <a:solidFill>
                  <a:srgbClr val="000000"/>
                </a:solidFill>
              </a:rPr>
              <a:t>Deliverables</a:t>
            </a:r>
          </a:p>
        </p:txBody>
      </p:sp>
      <p:sp>
        <p:nvSpPr>
          <p:cNvPr id="10" name="Right Arrow 9"/>
          <p:cNvSpPr/>
          <p:nvPr/>
        </p:nvSpPr>
        <p:spPr>
          <a:xfrm>
            <a:off x="3844733" y="2675920"/>
            <a:ext cx="520000" cy="280000"/>
          </a:xfrm>
          <a:prstGeom prst="rightArrow">
            <a:avLst/>
          </a:prstGeom>
          <a:solidFill>
            <a:srgbClr val="D6D6DF"/>
          </a:solidFill>
          <a:ln>
            <a:noFill/>
          </a:ln>
        </p:spPr>
        <p:txBody>
          <a:bodyPr rtlCol="0" anchor="ctr"/>
          <a:lstStyle/>
          <a:p>
            <a:pPr algn="ctr"/>
            <a:endParaRPr/>
          </a:p>
        </p:txBody>
      </p:sp>
      <p:sp>
        <p:nvSpPr>
          <p:cNvPr id="11" name="Rounded Rectangle 10"/>
          <p:cNvSpPr/>
          <p:nvPr/>
        </p:nvSpPr>
        <p:spPr>
          <a:xfrm>
            <a:off x="4439733" y="2038680"/>
            <a:ext cx="3312533" cy="1554480"/>
          </a:xfrm>
          <a:prstGeom prst="roundRect">
            <a:avLst>
              <a:gd name="adj" fmla="val 3200"/>
            </a:avLst>
          </a:prstGeom>
          <a:solidFill>
            <a:srgbClr val="000000"/>
          </a:solidFill>
          <a:ln>
            <a:noFill/>
          </a:ln>
          <a:effectLst>
            <a:outerShdw blurRad="190500" dist="50800" dir="5400000" algn="t" rotWithShape="0">
              <a:srgbClr val="000000">
                <a:alpha val="13000"/>
              </a:srgbClr>
            </a:outerShdw>
          </a:effectLst>
        </p:spPr>
        <p:txBody>
          <a:bodyPr wrap="square" lIns="274320" tIns="274320" rIns="182880" bIns="91440" rtlCol="0" anchor="t"/>
          <a:lstStyle/>
          <a:p>
            <a:pPr algn="l">
              <a:spcBef>
                <a:spcPts val="200"/>
              </a:spcBef>
              <a:spcAft>
                <a:spcPts val="200"/>
              </a:spcAft>
            </a:pPr>
            <a:r>
              <a:rPr sz="850" b="1" i="0" cap="all" spc="100">
                <a:solidFill>
                  <a:srgbClr val="D6D6DF"/>
                </a:solidFill>
              </a:rPr>
              <a:t>AI DOES THE REAL WORK</a:t>
            </a:r>
          </a:p>
          <a:p>
            <a:pPr algn="l">
              <a:spcBef>
                <a:spcPts val="400"/>
              </a:spcBef>
              <a:spcAft>
                <a:spcPts val="200"/>
              </a:spcAft>
            </a:pPr>
            <a:r>
              <a:rPr sz="2200" b="1" i="0">
                <a:solidFill>
                  <a:srgbClr val="FFFFFF"/>
                </a:solidFill>
              </a:rPr>
              <a:t>Generating the plan</a:t>
            </a:r>
          </a:p>
        </p:txBody>
      </p:sp>
      <p:sp>
        <p:nvSpPr>
          <p:cNvPr id="12" name="Right Arrow 11"/>
          <p:cNvSpPr/>
          <p:nvPr/>
        </p:nvSpPr>
        <p:spPr>
          <a:xfrm>
            <a:off x="7827266" y="2675920"/>
            <a:ext cx="520000" cy="280000"/>
          </a:xfrm>
          <a:prstGeom prst="rightArrow">
            <a:avLst/>
          </a:prstGeom>
          <a:solidFill>
            <a:srgbClr val="D6D6DF"/>
          </a:solidFill>
          <a:ln>
            <a:noFill/>
          </a:ln>
        </p:spPr>
        <p:txBody>
          <a:bodyPr rtlCol="0" anchor="ctr"/>
          <a:lstStyle/>
          <a:p>
            <a:pPr algn="ctr"/>
            <a:endParaRPr/>
          </a:p>
        </p:txBody>
      </p:sp>
      <p:sp>
        <p:nvSpPr>
          <p:cNvPr id="13" name="Rounded Rectangle 12"/>
          <p:cNvSpPr/>
          <p:nvPr/>
        </p:nvSpPr>
        <p:spPr>
          <a:xfrm>
            <a:off x="8422266" y="2038680"/>
            <a:ext cx="3312533" cy="155448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74320" tIns="274320" rIns="182880" bIns="91440" rtlCol="0" anchor="t"/>
          <a:lstStyle/>
          <a:p>
            <a:pPr algn="l">
              <a:spcBef>
                <a:spcPts val="200"/>
              </a:spcBef>
              <a:spcAft>
                <a:spcPts val="200"/>
              </a:spcAft>
            </a:pPr>
            <a:r>
              <a:rPr sz="850" b="1" i="0" cap="all" spc="100">
                <a:solidFill>
                  <a:srgbClr val="60607D"/>
                </a:solidFill>
              </a:rPr>
              <a:t>COMES OUT</a:t>
            </a:r>
          </a:p>
          <a:p>
            <a:pPr algn="l">
              <a:spcBef>
                <a:spcPts val="400"/>
              </a:spcBef>
              <a:spcAft>
                <a:spcPts val="200"/>
              </a:spcAft>
            </a:pPr>
            <a:r>
              <a:rPr sz="2200" b="1" i="0">
                <a:solidFill>
                  <a:srgbClr val="000000"/>
                </a:solidFill>
              </a:rPr>
              <a:t>Timeline + staffing plan</a:t>
            </a:r>
          </a:p>
        </p:txBody>
      </p:sp>
      <p:pic>
        <p:nvPicPr>
          <p:cNvPr id="14" name="Picture 13" descr="f_band_ops.jpg"/>
          <p:cNvPicPr>
            <a:picLocks noChangeAspect="1"/>
          </p:cNvPicPr>
          <p:nvPr/>
        </p:nvPicPr>
        <p:blipFill>
          <a:blip r:embed="rId3"/>
          <a:stretch>
            <a:fillRect/>
          </a:stretch>
        </p:blipFill>
        <p:spPr>
          <a:xfrm>
            <a:off x="457200" y="3893160"/>
            <a:ext cx="11277600" cy="2356840"/>
          </a:xfrm>
          <a:prstGeom prst="roundRect">
            <a:avLst>
              <a:gd name="adj" fmla="val 6000"/>
            </a:avLst>
          </a:prstGeom>
        </p:spPr>
      </p:pic>
      <p:sp>
        <p:nvSpPr>
          <p:cNvPr id="15" name="Rounded Rectangle 14"/>
          <p:cNvSpPr/>
          <p:nvPr/>
        </p:nvSpPr>
        <p:spPr>
          <a:xfrm>
            <a:off x="457200" y="3893160"/>
            <a:ext cx="11277600" cy="2356840"/>
          </a:xfrm>
          <a:prstGeom prst="roundRect">
            <a:avLst>
              <a:gd name="adj" fmla="val 6000"/>
            </a:avLst>
          </a:prstGeom>
          <a:solidFill>
            <a:srgbClr val="000000">
              <a:alpha val="72000"/>
            </a:srgbClr>
          </a:solidFill>
          <a:ln>
            <a:noFill/>
          </a:ln>
        </p:spPr>
        <p:txBody>
          <a:bodyPr rtlCol="0" anchor="ctr"/>
          <a:lstStyle/>
          <a:p>
            <a:pPr algn="ctr"/>
            <a:endParaRPr/>
          </a:p>
        </p:txBody>
      </p:sp>
      <p:sp>
        <p:nvSpPr>
          <p:cNvPr id="16" name="TextBox 15"/>
          <p:cNvSpPr txBox="1"/>
          <p:nvPr/>
        </p:nvSpPr>
        <p:spPr>
          <a:xfrm>
            <a:off x="914400" y="4030320"/>
            <a:ext cx="5120640" cy="2082520"/>
          </a:xfrm>
          <a:prstGeom prst="rect">
            <a:avLst/>
          </a:prstGeom>
          <a:noFill/>
        </p:spPr>
        <p:txBody>
          <a:bodyPr wrap="square" lIns="0" tIns="0" rIns="0" bIns="0" anchor="ctr">
            <a:spAutoFit/>
          </a:bodyPr>
          <a:lstStyle/>
          <a:p>
            <a:pPr algn="l">
              <a:spcBef>
                <a:spcPts val="400"/>
              </a:spcBef>
              <a:spcAft>
                <a:spcPts val="500"/>
              </a:spcAft>
            </a:pPr>
            <a:r>
              <a:rPr sz="4000" b="1" i="0">
                <a:solidFill>
                  <a:srgbClr val="FFFFFF"/>
                </a:solidFill>
              </a:rPr>
              <a:t>Coming soon</a:t>
            </a:r>
          </a:p>
        </p:txBody>
      </p:sp>
      <p:sp>
        <p:nvSpPr>
          <p:cNvPr id="17" name="TextBox 16"/>
          <p:cNvSpPr txBox="1"/>
          <p:nvPr/>
        </p:nvSpPr>
        <p:spPr>
          <a:xfrm>
            <a:off x="6492240" y="4030320"/>
            <a:ext cx="4785360" cy="2082520"/>
          </a:xfrm>
          <a:prstGeom prst="rect">
            <a:avLst/>
          </a:prstGeom>
          <a:noFill/>
        </p:spPr>
        <p:txBody>
          <a:bodyPr wrap="square" lIns="0" tIns="0" rIns="0" bIns="0" anchor="ctr">
            <a:spAutoFit/>
          </a:bodyPr>
          <a:lstStyle/>
          <a:p>
            <a:pPr algn="l">
              <a:spcAft>
                <a:spcPts val="500"/>
              </a:spcAft>
            </a:pPr>
            <a:r>
              <a:rPr sz="1800" b="0" i="0">
                <a:solidFill>
                  <a:srgbClr val="FFFFFF"/>
                </a:solidFill>
              </a:rPr>
              <a:t>This is a new ask, and we are still working through it. More to come.</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pic>
        <p:nvPicPr>
          <p:cNvPr id="5" name="Picture 4" descr="f_hero_library.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endParaRPr/>
          </a:p>
        </p:txBody>
      </p:sp>
      <p:sp>
        <p:nvSpPr>
          <p:cNvPr id="3" name="Title 2"/>
          <p:cNvSpPr>
            <a:spLocks noGrp="1"/>
          </p:cNvSpPr>
          <p:nvPr>
            <p:ph type="title"/>
          </p:nvPr>
        </p:nvSpPr>
        <p:spPr>
          <a:xfrm>
            <a:off x="457200" y="300000"/>
            <a:ext cx="8000000" cy="560000"/>
          </a:xfrm>
        </p:spPr>
        <p:txBody>
          <a:bodyPr/>
          <a:lstStyle/>
          <a:p>
            <a:r>
              <a:rPr sz="2200">
                <a:solidFill>
                  <a:srgbClr val="FFFFFF"/>
                </a:solidFill>
              </a:rPr>
              <a:t>Images: Ops Transformation: Rebuild Scoping &amp; Staffing</a:t>
            </a:r>
          </a:p>
        </p:txBody>
      </p:sp>
      <p:sp>
        <p:nvSpPr>
          <p:cNvPr id="4" name="Text Placeholder 3"/>
          <p:cNvSpPr>
            <a:spLocks noGrp="1"/>
          </p:cNvSpPr>
          <p:nvPr>
            <p:ph type="body" sz="quarter" idx="12"/>
          </p:nvPr>
        </p:nvSpPr>
        <p:spPr>
          <a:xfrm>
            <a:off x="457200" y="170000"/>
            <a:ext cx="8000000" cy="182880"/>
          </a:xfrm>
        </p:spPr>
        <p:txBody>
          <a:bodyPr/>
          <a:lstStyle/>
          <a:p>
            <a:r>
              <a:rPr>
                <a:solidFill>
                  <a:srgbClr val="0391F2"/>
                </a:solidFill>
              </a:rPr>
              <a:t>HIDDEN SLIDE · IMAGES FOR THIS PRIORITY</a:t>
            </a:r>
          </a:p>
        </p:txBody>
      </p:sp>
      <p:sp>
        <p:nvSpPr>
          <p:cNvPr id="7" name="TextBox 6"/>
          <p:cNvSpPr txBox="1"/>
          <p:nvPr/>
        </p:nvSpPr>
        <p:spPr>
          <a:xfrm>
            <a:off x="457200" y="1150000"/>
            <a:ext cx="11277600" cy="411480"/>
          </a:xfrm>
          <a:prstGeom prst="rect">
            <a:avLst/>
          </a:prstGeom>
          <a:noFill/>
        </p:spPr>
        <p:txBody>
          <a:bodyPr wrap="square" lIns="0" rIns="0" tIns="0" bIns="0">
            <a:spAutoFit/>
          </a:bodyPr>
          <a:lstStyle/>
          <a:p>
            <a:r>
              <a:rPr sz="1100" b="0" i="0">
                <a:solidFill>
                  <a:srgbClr val="000000"/>
                </a:solidFill>
              </a:rPr>
              <a:t>One image for this priority. Use it on every slide of the priority: the divider, the header band, the update panel, and any split image or banner in a detail slide. This slide is hidden: it does not show when presenting.</a:t>
            </a:r>
          </a:p>
        </p:txBody>
      </p:sp>
      <p:sp>
        <p:nvSpPr>
          <p:cNvPr id="8" name="TextBox 7"/>
          <p:cNvSpPr txBox="1"/>
          <p:nvPr/>
        </p:nvSpPr>
        <p:spPr>
          <a:xfrm>
            <a:off x="457200" y="1627200"/>
            <a:ext cx="3474720" cy="201168"/>
          </a:xfrm>
          <a:prstGeom prst="rect">
            <a:avLst/>
          </a:prstGeom>
          <a:noFill/>
        </p:spPr>
        <p:txBody>
          <a:bodyPr wrap="square" lIns="0" rIns="0" tIns="0" bIns="0">
            <a:spAutoFit/>
          </a:bodyPr>
          <a:lstStyle/>
          <a:p>
            <a:r>
              <a:rPr sz="850" b="1" i="0" cap="all" spc="100">
                <a:solidFill>
                  <a:srgbClr val="60607D"/>
                </a:solidFill>
              </a:rPr>
              <a:t>Source image</a:t>
            </a:r>
          </a:p>
        </p:txBody>
      </p:sp>
      <p:pic>
        <p:nvPicPr>
          <p:cNvPr id="9" name="Picture 8" descr="f_img2_ops_Sour.jpg"/>
          <p:cNvPicPr>
            <a:picLocks noChangeAspect="1"/>
          </p:cNvPicPr>
          <p:nvPr/>
        </p:nvPicPr>
        <p:blipFill>
          <a:blip r:embed="rId7"/>
          <a:stretch>
            <a:fillRect/>
          </a:stretch>
        </p:blipFill>
        <p:spPr>
          <a:xfrm>
            <a:off x="457200" y="1864944"/>
            <a:ext cx="3017520" cy="1828800"/>
          </a:xfrm>
          <a:prstGeom prst="rect">
            <a:avLst/>
          </a:prstGeom>
        </p:spPr>
      </p:pic>
      <p:sp>
        <p:nvSpPr>
          <p:cNvPr id="10" name="TextBox 9"/>
          <p:cNvSpPr txBox="1"/>
          <p:nvPr/>
        </p:nvSpPr>
        <p:spPr>
          <a:xfrm>
            <a:off x="3794760" y="1627200"/>
            <a:ext cx="3703320" cy="201168"/>
          </a:xfrm>
          <a:prstGeom prst="rect">
            <a:avLst/>
          </a:prstGeom>
          <a:noFill/>
        </p:spPr>
        <p:txBody>
          <a:bodyPr wrap="square" lIns="0" rIns="0" tIns="0" bIns="0">
            <a:spAutoFit/>
          </a:bodyPr>
          <a:lstStyle/>
          <a:p>
            <a:r>
              <a:rPr sz="850" b="1" i="0" cap="all" spc="100">
                <a:solidFill>
                  <a:srgbClr val="60607D"/>
                </a:solidFill>
              </a:rPr>
              <a:t>Divider</a:t>
            </a:r>
          </a:p>
        </p:txBody>
      </p:sp>
      <p:pic>
        <p:nvPicPr>
          <p:cNvPr id="11" name="Picture 10" descr="image.jpg"/>
          <p:cNvPicPr>
            <a:picLocks noChangeAspect="1"/>
          </p:cNvPicPr>
          <p:nvPr/>
        </p:nvPicPr>
        <p:blipFill>
          <a:blip r:embed="rId4"/>
          <a:stretch>
            <a:fillRect/>
          </a:stretch>
        </p:blipFill>
        <p:spPr>
          <a:xfrm>
            <a:off x="3794760" y="1864944"/>
            <a:ext cx="3246120" cy="1828800"/>
          </a:xfrm>
          <a:prstGeom prst="rect">
            <a:avLst/>
          </a:prstGeom>
        </p:spPr>
      </p:pic>
      <p:sp>
        <p:nvSpPr>
          <p:cNvPr id="12" name="TextBox 11"/>
          <p:cNvSpPr txBox="1"/>
          <p:nvPr/>
        </p:nvSpPr>
        <p:spPr>
          <a:xfrm>
            <a:off x="7360920" y="1627200"/>
            <a:ext cx="1435608" cy="201168"/>
          </a:xfrm>
          <a:prstGeom prst="rect">
            <a:avLst/>
          </a:prstGeom>
          <a:noFill/>
        </p:spPr>
        <p:txBody>
          <a:bodyPr wrap="square" lIns="0" rIns="0" tIns="0" bIns="0">
            <a:spAutoFit/>
          </a:bodyPr>
          <a:lstStyle/>
          <a:p>
            <a:r>
              <a:rPr sz="850" b="1" i="0" cap="all" spc="100">
                <a:solidFill>
                  <a:srgbClr val="60607D"/>
                </a:solidFill>
              </a:rPr>
              <a:t>Split image</a:t>
            </a:r>
          </a:p>
        </p:txBody>
      </p:sp>
      <p:pic>
        <p:nvPicPr>
          <p:cNvPr id="13" name="Picture 12" descr="f_img2_ops_Spli.jpg"/>
          <p:cNvPicPr>
            <a:picLocks noChangeAspect="1"/>
          </p:cNvPicPr>
          <p:nvPr/>
        </p:nvPicPr>
        <p:blipFill>
          <a:blip r:embed="rId8"/>
          <a:stretch>
            <a:fillRect/>
          </a:stretch>
        </p:blipFill>
        <p:spPr>
          <a:xfrm>
            <a:off x="7360920" y="1864944"/>
            <a:ext cx="978408" cy="1828800"/>
          </a:xfrm>
          <a:prstGeom prst="rect">
            <a:avLst/>
          </a:prstGeom>
        </p:spPr>
      </p:pic>
      <p:sp>
        <p:nvSpPr>
          <p:cNvPr id="14" name="TextBox 13"/>
          <p:cNvSpPr txBox="1"/>
          <p:nvPr/>
        </p:nvSpPr>
        <p:spPr>
          <a:xfrm>
            <a:off x="8659368" y="1627200"/>
            <a:ext cx="1408176" cy="201168"/>
          </a:xfrm>
          <a:prstGeom prst="rect">
            <a:avLst/>
          </a:prstGeom>
          <a:noFill/>
        </p:spPr>
        <p:txBody>
          <a:bodyPr wrap="square" lIns="0" rIns="0" tIns="0" bIns="0">
            <a:spAutoFit/>
          </a:bodyPr>
          <a:lstStyle/>
          <a:p>
            <a:r>
              <a:rPr sz="850" b="1" i="0" cap="all" spc="100">
                <a:solidFill>
                  <a:srgbClr val="60607D"/>
                </a:solidFill>
              </a:rPr>
              <a:t>Update panel</a:t>
            </a:r>
          </a:p>
        </p:txBody>
      </p:sp>
      <p:pic>
        <p:nvPicPr>
          <p:cNvPr id="15" name="Picture 14" descr="image.jpg"/>
          <p:cNvPicPr>
            <a:picLocks noChangeAspect="1"/>
          </p:cNvPicPr>
          <p:nvPr/>
        </p:nvPicPr>
        <p:blipFill>
          <a:blip r:embed="rId5"/>
          <a:stretch>
            <a:fillRect/>
          </a:stretch>
        </p:blipFill>
        <p:spPr>
          <a:xfrm>
            <a:off x="8659368" y="1864944"/>
            <a:ext cx="950976" cy="1828800"/>
          </a:xfrm>
          <a:prstGeom prst="rect">
            <a:avLst/>
          </a:prstGeom>
        </p:spPr>
      </p:pic>
      <p:sp>
        <p:nvSpPr>
          <p:cNvPr id="16" name="TextBox 15"/>
          <p:cNvSpPr txBox="1"/>
          <p:nvPr/>
        </p:nvSpPr>
        <p:spPr>
          <a:xfrm>
            <a:off x="457200" y="3922344"/>
            <a:ext cx="2743200" cy="201168"/>
          </a:xfrm>
          <a:prstGeom prst="rect">
            <a:avLst/>
          </a:prstGeom>
          <a:noFill/>
        </p:spPr>
        <p:txBody>
          <a:bodyPr wrap="square" lIns="0" rIns="0" tIns="0" bIns="0">
            <a:spAutoFit/>
          </a:bodyPr>
          <a:lstStyle/>
          <a:p>
            <a:r>
              <a:rPr sz="850" b="1" i="0" cap="all" spc="100">
                <a:solidFill>
                  <a:srgbClr val="60607D"/>
                </a:solidFill>
              </a:rPr>
              <a:t>Header band</a:t>
            </a:r>
          </a:p>
        </p:txBody>
      </p:sp>
      <p:pic>
        <p:nvPicPr>
          <p:cNvPr id="17" name="Picture 16" descr="image.jpg"/>
          <p:cNvPicPr>
            <a:picLocks noChangeAspect="1"/>
          </p:cNvPicPr>
          <p:nvPr/>
        </p:nvPicPr>
        <p:blipFill>
          <a:blip r:embed="rId6"/>
          <a:stretch>
            <a:fillRect/>
          </a:stretch>
        </p:blipFill>
        <p:spPr>
          <a:xfrm>
            <a:off x="457200" y="4160088"/>
            <a:ext cx="6035040" cy="495000"/>
          </a:xfrm>
          <a:prstGeom prst="rect">
            <a:avLst/>
          </a:prstGeom>
        </p:spPr>
      </p:pic>
      <p:sp>
        <p:nvSpPr>
          <p:cNvPr id="18" name="TextBox 17"/>
          <p:cNvSpPr txBox="1"/>
          <p:nvPr/>
        </p:nvSpPr>
        <p:spPr>
          <a:xfrm>
            <a:off x="6949440" y="3922344"/>
            <a:ext cx="2743200" cy="201168"/>
          </a:xfrm>
          <a:prstGeom prst="rect">
            <a:avLst/>
          </a:prstGeom>
          <a:noFill/>
        </p:spPr>
        <p:txBody>
          <a:bodyPr wrap="square" lIns="0" rIns="0" tIns="0" bIns="0">
            <a:spAutoFit/>
          </a:bodyPr>
          <a:lstStyle/>
          <a:p>
            <a:r>
              <a:rPr sz="850" b="1" i="0" cap="all" spc="100">
                <a:solidFill>
                  <a:srgbClr val="60607D"/>
                </a:solidFill>
              </a:rPr>
              <a:t>Banner (flow with banner)</a:t>
            </a:r>
          </a:p>
        </p:txBody>
      </p:sp>
      <p:sp>
        <p:nvSpPr>
          <p:cNvPr id="19" name="TextBox 18"/>
          <p:cNvSpPr txBox="1"/>
          <p:nvPr/>
        </p:nvSpPr>
        <p:spPr>
          <a:xfrm>
            <a:off x="457200" y="5385384"/>
            <a:ext cx="11277600" cy="548640"/>
          </a:xfrm>
          <a:prstGeom prst="rect">
            <a:avLst/>
          </a:prstGeom>
          <a:noFill/>
        </p:spPr>
        <p:txBody>
          <a:bodyPr wrap="square" lIns="0" rIns="0" tIns="0" bIns="0">
            <a:spAutoFit/>
          </a:bodyPr>
          <a:lstStyle/>
          <a:p>
            <a:r>
              <a:rPr sz="1050" b="0" i="0">
                <a:solidFill>
                  <a:srgbClr val="60607D"/>
                </a:solidFill>
              </a:rPr>
              <a:t>Split image (full height): used by Split with points, Image and two phases, Six blocks and a takeaway, and Goal and three pillars. Banner: used by Flow with banner. Divider, header band and update panel: used on every slide in this priority.</a:t>
            </a:r>
          </a:p>
        </p:txBody>
      </p:sp>
      <p:pic>
        <p:nvPicPr>
          <p:cNvPr id="20" name="Picture 19" descr="f_img2_ops_ban.jpg"/>
          <p:cNvPicPr>
            <a:picLocks noChangeAspect="1"/>
          </p:cNvPicPr>
          <p:nvPr/>
        </p:nvPicPr>
        <p:blipFill>
          <a:blip r:embed="rId9"/>
          <a:stretch>
            <a:fillRect/>
          </a:stretch>
        </p:blipFill>
        <p:spPr>
          <a:xfrm>
            <a:off x="6949440" y="4160088"/>
            <a:ext cx="4480560" cy="933450"/>
          </a:xfrm>
          <a:prstGeom prst="rect">
            <a:avLst/>
          </a:prstGeom>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f_div_early.jpg"/>
          <p:cNvPicPr>
            <a:picLocks noChangeAspect="1"/>
          </p:cNvPicPr>
          <p:nvPr/>
        </p:nvPicPr>
        <p:blipFill>
          <a:blip r:embed="rId2"/>
          <a:stretch>
            <a:fillRect/>
          </a:stretch>
        </p:blipFill>
        <p:spPr>
          <a:xfrm>
            <a:off x="0" y="0"/>
            <a:ext cx="12192000" cy="6858000"/>
          </a:xfrm>
          <a:prstGeom prst="rect">
            <a:avLst/>
          </a:prstGeom>
        </p:spPr>
      </p:pic>
      <p:sp>
        <p:nvSpPr>
          <p:cNvPr id="5" name="Rectangle 4"/>
          <p:cNvSpPr/>
          <p:nvPr/>
        </p:nvSpPr>
        <p:spPr>
          <a:xfrm>
            <a:off x="0" y="0"/>
            <a:ext cx="12192000" cy="6858000"/>
          </a:xfrm>
          <a:prstGeom prst="rect">
            <a:avLst/>
          </a:prstGeom>
          <a:gradFill rotWithShape="1">
            <a:gsLst>
              <a:gs pos="0">
                <a:srgbClr val="000000">
                  <a:alpha val="90000"/>
                </a:srgbClr>
              </a:gs>
              <a:gs pos="42000">
                <a:srgbClr val="000000">
                  <a:alpha val="58000"/>
                </a:srgbClr>
              </a:gs>
              <a:gs pos="100000">
                <a:srgbClr val="000000">
                  <a:alpha val="26000"/>
                </a:srgbClr>
              </a:gs>
            </a:gsLst>
            <a:lin ang="0" scaled="0"/>
          </a:gradFill>
          <a:ln>
            <a:noFill/>
          </a:ln>
        </p:spPr>
        <p:txBody>
          <a:bodyPr rtlCol="0" anchor="ctr"/>
          <a:lstStyle/>
          <a:p>
            <a:pPr algn="ctr"/>
            <a:endParaRPr/>
          </a:p>
        </p:txBody>
      </p:sp>
      <p:sp>
        <p:nvSpPr>
          <p:cNvPr id="6" name="Rectangle 5"/>
          <p:cNvSpPr/>
          <p:nvPr/>
        </p:nvSpPr>
        <p:spPr>
          <a:xfrm>
            <a:off x="0" y="0"/>
            <a:ext cx="12192000" cy="6858000"/>
          </a:xfrm>
          <a:prstGeom prst="rect">
            <a:avLst/>
          </a:prstGeom>
          <a:gradFill rotWithShape="1">
            <a:gsLst>
              <a:gs pos="0">
                <a:srgbClr val="000000">
                  <a:alpha val="0"/>
                </a:srgbClr>
              </a:gs>
              <a:gs pos="45000">
                <a:srgbClr val="000000">
                  <a:alpha val="10000"/>
                </a:srgbClr>
              </a:gs>
              <a:gs pos="100000">
                <a:srgbClr val="000000">
                  <a:alpha val="58000"/>
                </a:srgbClr>
              </a:gs>
            </a:gsLst>
            <a:lin ang="5400000" scaled="0"/>
          </a:gradFill>
          <a:ln>
            <a:noFill/>
          </a:ln>
        </p:spPr>
        <p:txBody>
          <a:bodyPr rtlCol="0" anchor="ctr"/>
          <a:lstStyle/>
          <a:p>
            <a:pPr algn="ctr"/>
            <a:endParaRPr/>
          </a:p>
        </p:txBody>
      </p:sp>
      <p:sp>
        <p:nvSpPr>
          <p:cNvPr id="8" name="Rounded Rectangle 7"/>
          <p:cNvSpPr/>
          <p:nvPr/>
        </p:nvSpPr>
        <p:spPr>
          <a:xfrm>
            <a:off x="640080" y="685800"/>
            <a:ext cx="6583680" cy="2827376"/>
          </a:xfrm>
          <a:prstGeom prst="roundRect">
            <a:avLst>
              <a:gd name="adj" fmla="val 2500"/>
            </a:avLst>
          </a:prstGeom>
          <a:solidFill>
            <a:srgbClr val="000000">
              <a:alpha val="62000"/>
            </a:srgbClr>
          </a:solidFill>
          <a:ln>
            <a:noFill/>
          </a:ln>
        </p:spPr>
        <p:txBody>
          <a:bodyPr rtlCol="0" anchor="ctr"/>
          <a:lstStyle/>
          <a:p>
            <a:pPr algn="ctr"/>
            <a:endParaRPr/>
          </a:p>
        </p:txBody>
      </p:sp>
      <p:sp>
        <p:nvSpPr>
          <p:cNvPr id="2" name="Title 1"/>
          <p:cNvSpPr>
            <a:spLocks noGrp="1"/>
          </p:cNvSpPr>
          <p:nvPr>
            <p:ph type="title"/>
          </p:nvPr>
        </p:nvSpPr>
        <p:spPr>
          <a:xfrm>
            <a:off x="914400" y="1316736"/>
            <a:ext cx="6400800" cy="2194560"/>
          </a:xfrm>
        </p:spPr>
        <p:txBody>
          <a:bodyPr anchor="t"/>
          <a:lstStyle/>
          <a:p>
            <a:r>
              <a:rPr sz="4000"/>
              <a:t>Earlier Delivery &amp; Talent in Pursuits</a:t>
            </a:r>
          </a:p>
        </p:txBody>
      </p:sp>
      <p:sp>
        <p:nvSpPr>
          <p:cNvPr id="3" name="Text Placeholder 2"/>
          <p:cNvSpPr>
            <a:spLocks noGrp="1"/>
          </p:cNvSpPr>
          <p:nvPr>
            <p:ph type="body" sz="quarter" idx="15"/>
          </p:nvPr>
        </p:nvSpPr>
        <p:spPr>
          <a:xfrm>
            <a:off x="914400" y="914400"/>
            <a:ext cx="6400800" cy="292608"/>
          </a:xfrm>
        </p:spPr>
        <p:txBody>
          <a:bodyPr/>
          <a:lstStyle/>
          <a:p>
            <a:r>
              <a:t>OPS PRIORITIES</a:t>
            </a:r>
          </a:p>
        </p:txBody>
      </p:sp>
      <p:sp>
        <p:nvSpPr>
          <p:cNvPr id="7" name="TextBox 6"/>
          <p:cNvSpPr txBox="1"/>
          <p:nvPr/>
        </p:nvSpPr>
        <p:spPr>
          <a:xfrm>
            <a:off x="914400" y="2735936"/>
            <a:ext cx="5943600" cy="548640"/>
          </a:xfrm>
          <a:prstGeom prst="rect">
            <a:avLst/>
          </a:prstGeom>
          <a:noFill/>
        </p:spPr>
        <p:txBody>
          <a:bodyPr wrap="square" lIns="0" tIns="0" rIns="0" bIns="0" anchor="t">
            <a:spAutoFit/>
          </a:bodyPr>
          <a:lstStyle/>
          <a:p>
            <a:pPr algn="l">
              <a:spcBef>
                <a:spcPts val="200"/>
              </a:spcBef>
              <a:spcAft>
                <a:spcPts val="200"/>
              </a:spcAft>
            </a:pPr>
            <a:r>
              <a:rPr sz="850" b="1" i="0" cap="all" spc="100">
                <a:solidFill>
                  <a:srgbClr val="D6D6DF"/>
                </a:solidFill>
              </a:rPr>
              <a:t>Owner(s)</a:t>
            </a:r>
          </a:p>
          <a:p>
            <a:pPr algn="l">
              <a:spcAft>
                <a:spcPts val="500"/>
              </a:spcAft>
            </a:pPr>
            <a:r>
              <a:rPr sz="1400" b="0" i="0">
                <a:solidFill>
                  <a:srgbClr val="D6D6DF"/>
                </a:solidFill>
              </a:rPr>
              <a:t>Missy Foristall, Deana Derocha</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 name="Picture 4" descr="f_hero_early.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endParaRPr/>
          </a:p>
        </p:txBody>
      </p:sp>
      <p:sp>
        <p:nvSpPr>
          <p:cNvPr id="3" name="Title 2"/>
          <p:cNvSpPr>
            <a:spLocks noGrp="1"/>
          </p:cNvSpPr>
          <p:nvPr>
            <p:ph type="title"/>
          </p:nvPr>
        </p:nvSpPr>
        <p:spPr>
          <a:xfrm>
            <a:off x="457200" y="300000"/>
            <a:ext cx="8000000" cy="560000"/>
          </a:xfrm>
        </p:spPr>
        <p:txBody>
          <a:bodyPr/>
          <a:lstStyle/>
          <a:p>
            <a:r>
              <a:rPr sz="2200">
                <a:solidFill>
                  <a:srgbClr val="FFFFFF"/>
                </a:solidFill>
              </a:rPr>
              <a:t>Earlier Delivery &amp; Talent in Pursuits</a:t>
            </a:r>
          </a:p>
        </p:txBody>
      </p:sp>
      <p:sp>
        <p:nvSpPr>
          <p:cNvPr id="4" name="Text Placeholder 3"/>
          <p:cNvSpPr>
            <a:spLocks noGrp="1"/>
          </p:cNvSpPr>
          <p:nvPr>
            <p:ph type="body" sz="quarter" idx="12"/>
          </p:nvPr>
        </p:nvSpPr>
        <p:spPr>
          <a:xfrm>
            <a:off x="457200" y="170000"/>
            <a:ext cx="8000000" cy="182880"/>
          </a:xfrm>
        </p:spPr>
        <p:txBody>
          <a:bodyPr/>
          <a:lstStyle/>
          <a:p>
            <a:r>
              <a:rPr>
                <a:solidFill>
                  <a:srgbClr val="0391F2"/>
                </a:solidFill>
              </a:rPr>
              <a:t>OPS PRIORITIES · EXEC SUMMARY</a:t>
            </a:r>
          </a:p>
        </p:txBody>
      </p:sp>
      <p:sp>
        <p:nvSpPr>
          <p:cNvPr id="7" name="Rounded Rectangle 6"/>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wrap="square" lIns="150000" rIns="120000" rtlCol="0" anchor="ctr"/>
          <a:lstStyle/>
          <a:p>
            <a:pPr algn="l"/>
            <a:r>
              <a:rPr sz="1050" b="1" i="0">
                <a:solidFill>
                  <a:srgbClr val="FFFFFF"/>
                </a:solidFill>
              </a:rPr>
              <a:t>Owner(s)</a:t>
            </a:r>
          </a:p>
          <a:p>
            <a:pPr algn="l"/>
            <a:r>
              <a:rPr sz="900" b="0" i="0">
                <a:solidFill>
                  <a:srgbClr val="D6D6DF"/>
                </a:solidFill>
              </a:rPr>
              <a:t>Missy Foristall, Deana Derocha</a:t>
            </a:r>
          </a:p>
        </p:txBody>
      </p:sp>
      <p:sp>
        <p:nvSpPr>
          <p:cNvPr id="8" name="Rounded Rectangle 7"/>
          <p:cNvSpPr/>
          <p:nvPr/>
        </p:nvSpPr>
        <p:spPr>
          <a:xfrm>
            <a:off x="457200" y="1080000"/>
            <a:ext cx="5563800" cy="1950000"/>
          </a:xfrm>
          <a:prstGeom prst="roundRect">
            <a:avLst>
              <a:gd name="adj" fmla="val 3200"/>
            </a:avLst>
          </a:prstGeom>
          <a:solidFill>
            <a:srgbClr val="000000"/>
          </a:solidFill>
          <a:ln>
            <a:no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D6D6DF"/>
                </a:solidFill>
              </a:rPr>
              <a:t>2026 Goal</a:t>
            </a:r>
          </a:p>
          <a:p>
            <a:pPr algn="l">
              <a:spcAft>
                <a:spcPts val="500"/>
              </a:spcAft>
            </a:pPr>
            <a:r>
              <a:rPr sz="1150" b="0" i="1">
                <a:solidFill>
                  <a:srgbClr val="D6D6DF"/>
                </a:solidFill>
              </a:rPr>
              <a:t>[Put here: the one thing we want to be true by the end of 2026.]</a:t>
            </a:r>
          </a:p>
          <a:p>
            <a:pPr algn="l">
              <a:spcAft>
                <a:spcPts val="500"/>
              </a:spcAft>
            </a:pPr>
            <a:r>
              <a:rPr sz="1150" b="0" i="1">
                <a:solidFill>
                  <a:srgbClr val="D6D6DF"/>
                </a:solidFill>
              </a:rPr>
              <a:t>[Why: everyone should know the finish line.]</a:t>
            </a:r>
          </a:p>
        </p:txBody>
      </p:sp>
      <p:sp>
        <p:nvSpPr>
          <p:cNvPr id="9" name="Rounded Rectangle 8"/>
          <p:cNvSpPr/>
          <p:nvPr/>
        </p:nvSpPr>
        <p:spPr>
          <a:xfrm>
            <a:off x="6171000" y="1080000"/>
            <a:ext cx="5563800" cy="195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000000"/>
                </a:solidFill>
              </a:rPr>
              <a:t>The problem</a:t>
            </a:r>
          </a:p>
          <a:p>
            <a:pPr algn="l">
              <a:spcAft>
                <a:spcPts val="500"/>
              </a:spcAft>
            </a:pPr>
            <a:r>
              <a:rPr sz="1150" b="0" i="1">
                <a:solidFill>
                  <a:srgbClr val="60607D"/>
                </a:solidFill>
              </a:rPr>
              <a:t>[Put here: what is broken today, in plain words.]</a:t>
            </a:r>
          </a:p>
          <a:p>
            <a:pPr algn="l">
              <a:spcAft>
                <a:spcPts val="500"/>
              </a:spcAft>
            </a:pPr>
            <a:r>
              <a:rPr sz="1150" b="0" i="1">
                <a:solidFill>
                  <a:srgbClr val="60607D"/>
                </a:solidFill>
              </a:rPr>
              <a:t>[Why: people only back a fix if they can feel the problem.]</a:t>
            </a:r>
          </a:p>
        </p:txBody>
      </p:sp>
      <p:sp>
        <p:nvSpPr>
          <p:cNvPr id="10" name="Rounded Rectangle 9"/>
          <p:cNvSpPr/>
          <p:nvPr/>
        </p:nvSpPr>
        <p:spPr>
          <a:xfrm>
            <a:off x="457200" y="3130000"/>
            <a:ext cx="5563800" cy="22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000000"/>
                </a:solidFill>
              </a:rPr>
              <a:t>What we are changing</a:t>
            </a:r>
          </a:p>
          <a:p>
            <a:pPr algn="l">
              <a:spcAft>
                <a:spcPts val="500"/>
              </a:spcAft>
            </a:pPr>
            <a:r>
              <a:rPr sz="1150" b="0" i="1">
                <a:solidFill>
                  <a:srgbClr val="60607D"/>
                </a:solidFill>
              </a:rPr>
              <a:t>[Put here: what we will do differently. Use short bullets.]</a:t>
            </a:r>
          </a:p>
          <a:p>
            <a:pPr algn="l">
              <a:spcAft>
                <a:spcPts val="500"/>
              </a:spcAft>
            </a:pPr>
            <a:r>
              <a:rPr sz="1150" b="0" i="1">
                <a:solidFill>
                  <a:srgbClr val="60607D"/>
                </a:solidFill>
              </a:rPr>
              <a:t>[Why: it shows we have a plan, not just a worry.]</a:t>
            </a:r>
          </a:p>
        </p:txBody>
      </p:sp>
      <p:sp>
        <p:nvSpPr>
          <p:cNvPr id="11" name="Rounded Rectangle 10"/>
          <p:cNvSpPr/>
          <p:nvPr/>
        </p:nvSpPr>
        <p:spPr>
          <a:xfrm>
            <a:off x="6171000" y="3130000"/>
            <a:ext cx="5563800" cy="2280000"/>
          </a:xfrm>
          <a:prstGeom prst="roundRect">
            <a:avLst>
              <a:gd name="adj" fmla="val 3200"/>
            </a:avLst>
          </a:prstGeom>
          <a:solidFill>
            <a:srgbClr val="000000"/>
          </a:solidFill>
          <a:ln>
            <a:no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D6D6DF"/>
                </a:solidFill>
              </a:rPr>
              <a:t>What this unlocks</a:t>
            </a:r>
          </a:p>
          <a:p>
            <a:pPr algn="l">
              <a:spcAft>
                <a:spcPts val="500"/>
              </a:spcAft>
            </a:pPr>
            <a:r>
              <a:rPr sz="1150" b="0" i="1">
                <a:solidFill>
                  <a:srgbClr val="D6D6DF"/>
                </a:solidFill>
              </a:rPr>
              <a:t>[Put here: what gets better once this works.]</a:t>
            </a:r>
          </a:p>
          <a:p>
            <a:pPr algn="l">
              <a:spcAft>
                <a:spcPts val="500"/>
              </a:spcAft>
            </a:pPr>
            <a:r>
              <a:rPr sz="1150" b="0" i="1">
                <a:solidFill>
                  <a:srgbClr val="D6D6DF"/>
                </a:solidFill>
              </a:rPr>
              <a:t>[Why: it is the reason the effort is worth it.]</a:t>
            </a:r>
          </a:p>
        </p:txBody>
      </p:sp>
      <p:sp>
        <p:nvSpPr>
          <p:cNvPr id="12" name="Rounded Rectangle 11"/>
          <p:cNvSpPr/>
          <p:nvPr/>
        </p:nvSpPr>
        <p:spPr>
          <a:xfrm>
            <a:off x="457200" y="5510000"/>
            <a:ext cx="11277600" cy="890000"/>
          </a:xfrm>
          <a:prstGeom prst="roundRect">
            <a:avLst>
              <a:gd name="adj" fmla="val 6000"/>
            </a:avLst>
          </a:prstGeom>
          <a:solidFill>
            <a:srgbClr val="000000"/>
          </a:solidFill>
          <a:ln>
            <a:noFill/>
          </a:ln>
          <a:effectLst>
            <a:outerShdw blurRad="190500" dist="50800" dir="5400000" algn="t" rotWithShape="0">
              <a:srgbClr val="000000">
                <a:alpha val="13000"/>
              </a:srgbClr>
            </a:outerShdw>
          </a:effectLst>
        </p:spPr>
        <p:txBody>
          <a:bodyPr wrap="square" lIns="300000" tIns="50000" rIns="300000" bIns="50000" rtlCol="0" anchor="ctr"/>
          <a:lstStyle/>
          <a:p>
            <a:pPr algn="l"/>
            <a:r>
              <a:rPr sz="900" b="1" i="0" cap="all" spc="100">
                <a:solidFill>
                  <a:srgbClr val="D6D6DF"/>
                </a:solidFill>
              </a:rPr>
              <a:t>Key takeaway</a:t>
            </a:r>
          </a:p>
          <a:p>
            <a:pPr algn="l"/>
            <a:r>
              <a:rPr sz="1200" b="1" i="0">
                <a:solidFill>
                  <a:srgbClr val="FFFFFF"/>
                </a:solidFill>
              </a:rPr>
              <a:t>Without clear roles tied to supporting pitch and pursuit, we continue to pull delivery resources that are fully allocated into conversations that they can't give the appropriate attention to. This will continue to be a problem until we get the right skillsets with the right availability identified and in place.</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 name="Picture 4" descr="f_hero_early.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endParaRP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Why now</a:t>
            </a:r>
          </a:p>
        </p:txBody>
      </p:sp>
      <p:sp>
        <p:nvSpPr>
          <p:cNvPr id="4" name="Text Placeholder 3"/>
          <p:cNvSpPr>
            <a:spLocks noGrp="1"/>
          </p:cNvSpPr>
          <p:nvPr>
            <p:ph type="body" sz="quarter" idx="12"/>
          </p:nvPr>
        </p:nvSpPr>
        <p:spPr>
          <a:xfrm>
            <a:off x="457200" y="170000"/>
            <a:ext cx="8000000" cy="182880"/>
          </a:xfrm>
        </p:spPr>
        <p:txBody>
          <a:bodyPr/>
          <a:lstStyle/>
          <a:p>
            <a:r>
              <a:rPr>
                <a:solidFill>
                  <a:srgbClr val="0391F2"/>
                </a:solidFill>
              </a:rPr>
              <a:t>EARLIER DELIVERY &amp; TALENT IN PURSUITS · CLICK-DOWN · THE PROBLEM</a:t>
            </a:r>
          </a:p>
        </p:txBody>
      </p:sp>
      <p:sp>
        <p:nvSpPr>
          <p:cNvPr id="7" name="Rounded Rectangle 6"/>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wrap="square" lIns="150000" rIns="120000" rtlCol="0" anchor="ctr"/>
          <a:lstStyle/>
          <a:p>
            <a:pPr algn="l"/>
            <a:r>
              <a:rPr sz="1050" b="1" i="0">
                <a:solidFill>
                  <a:srgbClr val="FFFFFF"/>
                </a:solidFill>
              </a:rPr>
              <a:t>Owner(s)</a:t>
            </a:r>
          </a:p>
          <a:p>
            <a:pPr algn="l"/>
            <a:r>
              <a:rPr sz="900" b="0" i="0">
                <a:solidFill>
                  <a:srgbClr val="D6D6DF"/>
                </a:solidFill>
              </a:rPr>
              <a:t>Missy Foristall, Deana Derocha</a:t>
            </a:r>
          </a:p>
        </p:txBody>
      </p:sp>
      <p:sp>
        <p:nvSpPr>
          <p:cNvPr id="8" name="Rounded Rectangle 7"/>
          <p:cNvSpPr/>
          <p:nvPr/>
        </p:nvSpPr>
        <p:spPr>
          <a:xfrm>
            <a:off x="457200" y="1170000"/>
            <a:ext cx="11277600" cy="1250000"/>
          </a:xfrm>
          <a:prstGeom prst="roundRect">
            <a:avLst>
              <a:gd name="adj" fmla="val 3200"/>
            </a:avLst>
          </a:prstGeom>
          <a:solidFill>
            <a:srgbClr val="000000"/>
          </a:solidFill>
          <a:ln>
            <a:noFill/>
          </a:ln>
          <a:effectLst>
            <a:outerShdw blurRad="190500" dist="50800" dir="5400000" algn="t" rotWithShape="0">
              <a:srgbClr val="000000">
                <a:alpha val="13000"/>
              </a:srgbClr>
            </a:outerShdw>
          </a:effectLst>
        </p:spPr>
        <p:txBody>
          <a:bodyPr wrap="square" lIns="274320" tIns="109728" rIns="274320" bIns="73152" rtlCol="0" anchor="ctr"/>
          <a:lstStyle/>
          <a:p>
            <a:pPr algn="l">
              <a:spcBef>
                <a:spcPts val="400"/>
              </a:spcBef>
              <a:spcAft>
                <a:spcPts val="500"/>
              </a:spcAft>
            </a:pPr>
            <a:r>
              <a:rPr sz="1600" b="1" i="0">
                <a:solidFill>
                  <a:srgbClr val="FFFFFF"/>
                </a:solidFill>
              </a:rPr>
              <a:t>By bringing SME expertise into upfront deal evaluation, we can increase our win rate on the deal volume we're already capturing. Quick execution is essential to drive Q4 and 2027 revenue.</a:t>
            </a:r>
          </a:p>
        </p:txBody>
      </p:sp>
      <p:sp>
        <p:nvSpPr>
          <p:cNvPr id="9" name="Rounded Rectangle 8"/>
          <p:cNvSpPr/>
          <p:nvPr/>
        </p:nvSpPr>
        <p:spPr>
          <a:xfrm>
            <a:off x="457200" y="2570000"/>
            <a:ext cx="6541008" cy="36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000000"/>
                </a:solidFill>
              </a:rPr>
              <a:t>What's happening today</a:t>
            </a:r>
          </a:p>
          <a:p>
            <a:pPr algn="l">
              <a:spcAft>
                <a:spcPts val="500"/>
              </a:spcAft>
            </a:pPr>
            <a:r>
              <a:rPr sz="1300" b="0" i="1">
                <a:solidFill>
                  <a:srgbClr val="60607D"/>
                </a:solidFill>
              </a:rPr>
              <a:t>[Put here: what is going on right now that makes this urgent. One bullet per point, add as many as you need.]</a:t>
            </a:r>
          </a:p>
          <a:p>
            <a:pPr algn="l">
              <a:spcAft>
                <a:spcPts val="500"/>
              </a:spcAft>
            </a:pPr>
            <a:r>
              <a:rPr sz="1300" b="0" i="1">
                <a:solidFill>
                  <a:srgbClr val="60607D"/>
                </a:solidFill>
              </a:rPr>
              <a:t>[Why: this is the reason to act now.]</a:t>
            </a:r>
          </a:p>
        </p:txBody>
      </p:sp>
      <p:sp>
        <p:nvSpPr>
          <p:cNvPr id="10" name="Rounded Rectangle 9"/>
          <p:cNvSpPr/>
          <p:nvPr/>
        </p:nvSpPr>
        <p:spPr>
          <a:xfrm>
            <a:off x="7148208" y="2570000"/>
            <a:ext cx="4586592" cy="3680000"/>
          </a:xfrm>
          <a:prstGeom prst="roundRect">
            <a:avLst>
              <a:gd name="adj" fmla="val 3200"/>
            </a:avLst>
          </a:prstGeom>
          <a:solidFill>
            <a:srgbClr val="000000"/>
          </a:solidFill>
          <a:ln>
            <a:no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D6D6DF"/>
                </a:solidFill>
              </a:rPr>
              <a:t>So we need</a:t>
            </a:r>
          </a:p>
          <a:p>
            <a:pPr algn="l">
              <a:spcAft>
                <a:spcPts val="500"/>
              </a:spcAft>
            </a:pPr>
            <a:r>
              <a:rPr sz="1300" b="0" i="1">
                <a:solidFill>
                  <a:srgbClr val="D6D6DF"/>
                </a:solidFill>
              </a:rPr>
              <a:t>[Put here: what has to happen or be decided. One bullet per ask.]</a:t>
            </a:r>
          </a:p>
          <a:p>
            <a:pPr algn="l">
              <a:spcAft>
                <a:spcPts val="500"/>
              </a:spcAft>
            </a:pPr>
            <a:r>
              <a:rPr sz="1300" b="0" i="1">
                <a:solidFill>
                  <a:srgbClr val="D6D6DF"/>
                </a:solidFill>
              </a:rPr>
              <a:t>[Why: this turns the worry into a clear ask.]</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 name="Picture 4" descr="f_hero_early.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endParaRP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How we're going about it</a:t>
            </a:r>
          </a:p>
        </p:txBody>
      </p:sp>
      <p:sp>
        <p:nvSpPr>
          <p:cNvPr id="4" name="Text Placeholder 3"/>
          <p:cNvSpPr>
            <a:spLocks noGrp="1"/>
          </p:cNvSpPr>
          <p:nvPr>
            <p:ph type="body" sz="quarter" idx="12"/>
          </p:nvPr>
        </p:nvSpPr>
        <p:spPr>
          <a:xfrm>
            <a:off x="457200" y="170000"/>
            <a:ext cx="8000000" cy="182880"/>
          </a:xfrm>
        </p:spPr>
        <p:txBody>
          <a:bodyPr/>
          <a:lstStyle/>
          <a:p>
            <a:r>
              <a:rPr>
                <a:solidFill>
                  <a:srgbClr val="0391F2"/>
                </a:solidFill>
              </a:rPr>
              <a:t>EARLIER DELIVERY &amp; TALENT IN PURSUITS · CLICK-DOWN · WHAT WE ARE CHANGING</a:t>
            </a:r>
          </a:p>
        </p:txBody>
      </p:sp>
      <p:sp>
        <p:nvSpPr>
          <p:cNvPr id="7" name="Rounded Rectangle 6"/>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wrap="square" lIns="150000" rIns="120000" rtlCol="0" anchor="ctr"/>
          <a:lstStyle/>
          <a:p>
            <a:pPr algn="l"/>
            <a:r>
              <a:rPr sz="1050" b="1" i="0">
                <a:solidFill>
                  <a:srgbClr val="FFFFFF"/>
                </a:solidFill>
              </a:rPr>
              <a:t>Owner(s)</a:t>
            </a:r>
          </a:p>
          <a:p>
            <a:pPr algn="l"/>
            <a:r>
              <a:rPr sz="900" b="0" i="0">
                <a:solidFill>
                  <a:srgbClr val="D6D6DF"/>
                </a:solidFill>
              </a:rPr>
              <a:t>Missy Foristall, Deana Derocha</a:t>
            </a:r>
          </a:p>
        </p:txBody>
      </p:sp>
      <p:sp>
        <p:nvSpPr>
          <p:cNvPr id="8" name="TextBox 7"/>
          <p:cNvSpPr txBox="1"/>
          <p:nvPr/>
        </p:nvSpPr>
        <p:spPr>
          <a:xfrm>
            <a:off x="457200" y="1170000"/>
            <a:ext cx="11277600" cy="457200"/>
          </a:xfrm>
          <a:prstGeom prst="rect">
            <a:avLst/>
          </a:prstGeom>
          <a:noFill/>
        </p:spPr>
        <p:txBody>
          <a:bodyPr wrap="square" lIns="0" tIns="0" rIns="0" bIns="0" anchor="t">
            <a:spAutoFit/>
          </a:bodyPr>
          <a:lstStyle/>
          <a:p>
            <a:pPr algn="l">
              <a:spcAft>
                <a:spcPts val="500"/>
              </a:spcAft>
            </a:pPr>
            <a:r>
              <a:rPr sz="1250" b="0" i="1">
                <a:solidFill>
                  <a:srgbClr val="60607D"/>
                </a:solidFill>
              </a:rPr>
              <a:t>[Put here: one line on how we are tackling this. The steps below fill in the detail.]</a:t>
            </a:r>
          </a:p>
        </p:txBody>
      </p:sp>
      <p:sp>
        <p:nvSpPr>
          <p:cNvPr id="9" name="Rounded Rectangle 8"/>
          <p:cNvSpPr/>
          <p:nvPr/>
        </p:nvSpPr>
        <p:spPr>
          <a:xfrm>
            <a:off x="457200" y="1828368"/>
            <a:ext cx="5588800" cy="233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a:solidFill>
                  <a:srgbClr val="60607D"/>
                </a:solidFill>
              </a:rPr>
              <a:t>Step 1</a:t>
            </a:r>
          </a:p>
          <a:p>
            <a:pPr algn="l">
              <a:spcBef>
                <a:spcPts val="400"/>
              </a:spcBef>
              <a:spcAft>
                <a:spcPts val="200"/>
              </a:spcAft>
            </a:pPr>
            <a:r>
              <a:rPr sz="850" b="1" i="0">
                <a:solidFill>
                  <a:srgbClr val="000000"/>
                </a:solidFill>
              </a:rPr>
              <a:t>PHASE 1 · Planning and Discovery: Now – 10/30</a:t>
            </a:r>
          </a:p>
          <a:p>
            <a:pPr algn="l">
              <a:spcBef>
                <a:spcPts val="400"/>
              </a:spcBef>
              <a:spcAft>
                <a:spcPts val="500"/>
              </a:spcAft>
            </a:pPr>
            <a:r>
              <a:rPr sz="850" b="1" i="0">
                <a:solidFill>
                  <a:srgbClr val="000000"/>
                </a:solidFill>
              </a:rPr>
              <a:t>Define Roles Needed</a:t>
            </a:r>
          </a:p>
          <a:p>
            <a:pPr algn="l">
              <a:spcAft>
                <a:spcPts val="500"/>
              </a:spcAft>
            </a:pPr>
            <a:r>
              <a:rPr sz="850" b="0" i="0">
                <a:solidFill>
                  <a:srgbClr val="000000"/>
                </a:solidFill>
              </a:rPr>
              <a:t>Determine the specific roles need for pursuit support (alliance partner, skillset) along with allocations, roles and responsibilities</a:t>
            </a:r>
          </a:p>
          <a:p>
            <a:pPr algn="l">
              <a:spcBef>
                <a:spcPts val="400"/>
              </a:spcBef>
              <a:spcAft>
                <a:spcPts val="500"/>
              </a:spcAft>
            </a:pPr>
            <a:r>
              <a:rPr sz="850" b="1" i="0">
                <a:solidFill>
                  <a:srgbClr val="000000"/>
                </a:solidFill>
              </a:rPr>
              <a:t>Clarify if Internal or External Moves</a:t>
            </a:r>
          </a:p>
          <a:p>
            <a:pPr algn="l">
              <a:spcAft>
                <a:spcPts val="500"/>
              </a:spcAft>
            </a:pPr>
            <a:r>
              <a:rPr sz="850" b="0" i="0">
                <a:solidFill>
                  <a:srgbClr val="000000"/>
                </a:solidFill>
              </a:rPr>
              <a:t>Review existing team roster to see who can move to these new roles and where we need to hire</a:t>
            </a:r>
          </a:p>
          <a:p>
            <a:pPr algn="l">
              <a:spcBef>
                <a:spcPts val="400"/>
              </a:spcBef>
              <a:spcAft>
                <a:spcPts val="500"/>
              </a:spcAft>
            </a:pPr>
            <a:r>
              <a:rPr sz="850" b="1" i="0">
                <a:solidFill>
                  <a:srgbClr val="000000"/>
                </a:solidFill>
              </a:rPr>
              <a:t>Update Existing Org Structure</a:t>
            </a:r>
          </a:p>
          <a:p>
            <a:pPr algn="l">
              <a:spcAft>
                <a:spcPts val="500"/>
              </a:spcAft>
            </a:pPr>
            <a:r>
              <a:rPr sz="850" b="0" i="0">
                <a:solidFill>
                  <a:srgbClr val="000000"/>
                </a:solidFill>
              </a:rPr>
              <a:t>Update the existing org structure (as needed) to best support these roles and the pursuits</a:t>
            </a:r>
          </a:p>
        </p:txBody>
      </p:sp>
      <p:sp>
        <p:nvSpPr>
          <p:cNvPr id="10" name="Rounded Rectangle 9"/>
          <p:cNvSpPr/>
          <p:nvPr/>
        </p:nvSpPr>
        <p:spPr>
          <a:xfrm>
            <a:off x="6146000" y="1828368"/>
            <a:ext cx="5588800" cy="233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a:solidFill>
                  <a:srgbClr val="60607D"/>
                </a:solidFill>
              </a:rPr>
              <a:t>Step 2</a:t>
            </a:r>
          </a:p>
          <a:p>
            <a:pPr algn="l">
              <a:spcBef>
                <a:spcPts val="400"/>
              </a:spcBef>
              <a:spcAft>
                <a:spcPts val="200"/>
              </a:spcAft>
            </a:pPr>
            <a:r>
              <a:rPr sz="850" b="1" i="0">
                <a:solidFill>
                  <a:srgbClr val="000000"/>
                </a:solidFill>
              </a:rPr>
              <a:t>PHASE 2 · Execution on Changes: 11/2 – 12/24</a:t>
            </a:r>
          </a:p>
          <a:p>
            <a:pPr algn="l">
              <a:spcBef>
                <a:spcPts val="400"/>
              </a:spcBef>
              <a:spcAft>
                <a:spcPts val="500"/>
              </a:spcAft>
            </a:pPr>
            <a:r>
              <a:rPr sz="850" b="1" i="0">
                <a:solidFill>
                  <a:srgbClr val="000000"/>
                </a:solidFill>
              </a:rPr>
              <a:t>Open Reqs</a:t>
            </a:r>
          </a:p>
          <a:p>
            <a:pPr algn="l">
              <a:spcAft>
                <a:spcPts val="500"/>
              </a:spcAft>
            </a:pPr>
            <a:r>
              <a:rPr sz="850" b="0" i="0">
                <a:solidFill>
                  <a:srgbClr val="000000"/>
                </a:solidFill>
              </a:rPr>
              <a:t>Once aligned on the needs, prioritize needs and open reqs for the first set of new roles (or for backfills, if moving existing people into the new roles)</a:t>
            </a:r>
          </a:p>
          <a:p>
            <a:pPr algn="l">
              <a:spcBef>
                <a:spcPts val="400"/>
              </a:spcBef>
              <a:spcAft>
                <a:spcPts val="500"/>
              </a:spcAft>
            </a:pPr>
            <a:r>
              <a:rPr sz="850" b="1" i="0">
                <a:solidFill>
                  <a:srgbClr val="000000"/>
                </a:solidFill>
              </a:rPr>
              <a:t>Create Transition Plan</a:t>
            </a:r>
          </a:p>
          <a:p>
            <a:pPr algn="l">
              <a:spcAft>
                <a:spcPts val="500"/>
              </a:spcAft>
            </a:pPr>
            <a:r>
              <a:rPr sz="850" b="0" i="0">
                <a:solidFill>
                  <a:srgbClr val="000000"/>
                </a:solidFill>
              </a:rPr>
              <a:t>Identify any accounts that need to move to allow people to switch to a new role and create a 30/60 day transition plan</a:t>
            </a:r>
          </a:p>
        </p:txBody>
      </p:sp>
      <p:sp>
        <p:nvSpPr>
          <p:cNvPr id="11" name="Rectangle 10"/>
          <p:cNvSpPr/>
          <p:nvPr/>
        </p:nvSpPr>
        <p:spPr>
          <a:xfrm>
            <a:off x="2303466" y="4379808"/>
            <a:ext cx="7585067" cy="19050"/>
          </a:xfrm>
          <a:prstGeom prst="rect">
            <a:avLst/>
          </a:prstGeom>
          <a:solidFill>
            <a:srgbClr val="D6D6DF"/>
          </a:solidFill>
          <a:ln>
            <a:noFill/>
          </a:ln>
        </p:spPr>
        <p:txBody>
          <a:bodyPr rtlCol="0" anchor="ctr"/>
          <a:lstStyle/>
          <a:p>
            <a:pPr algn="ctr"/>
            <a:endParaRPr/>
          </a:p>
        </p:txBody>
      </p:sp>
      <p:sp>
        <p:nvSpPr>
          <p:cNvPr id="12" name="Oval 11"/>
          <p:cNvSpPr/>
          <p:nvPr/>
        </p:nvSpPr>
        <p:spPr>
          <a:xfrm>
            <a:off x="2212026" y="4288368"/>
            <a:ext cx="182880" cy="182880"/>
          </a:xfrm>
          <a:prstGeom prst="ellipse">
            <a:avLst/>
          </a:prstGeom>
          <a:solidFill>
            <a:srgbClr val="FFFFFF"/>
          </a:solidFill>
          <a:ln w="19050">
            <a:solidFill>
              <a:srgbClr val="000000"/>
            </a:solidFill>
          </a:ln>
        </p:spPr>
        <p:txBody>
          <a:bodyPr rtlCol="0" anchor="ctr"/>
          <a:lstStyle/>
          <a:p>
            <a:pPr algn="ctr"/>
            <a:endParaRPr/>
          </a:p>
        </p:txBody>
      </p:sp>
      <p:sp>
        <p:nvSpPr>
          <p:cNvPr id="13" name="Rounded Rectangle 12"/>
          <p:cNvSpPr/>
          <p:nvPr/>
        </p:nvSpPr>
        <p:spPr>
          <a:xfrm>
            <a:off x="457200" y="4562688"/>
            <a:ext cx="3692533"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Bef>
                <a:spcPts val="400"/>
              </a:spcBef>
              <a:spcAft>
                <a:spcPts val="200"/>
              </a:spcAft>
            </a:pPr>
            <a:r>
              <a:rPr sz="1100" b="1" i="0">
                <a:solidFill>
                  <a:srgbClr val="000000"/>
                </a:solidFill>
              </a:rPr>
              <a:t>Now – 10/30</a:t>
            </a:r>
          </a:p>
          <a:p>
            <a:pPr algn="l">
              <a:spcAft>
                <a:spcPts val="500"/>
              </a:spcAft>
            </a:pPr>
            <a:r>
              <a:rPr sz="1100" b="0" i="0">
                <a:solidFill>
                  <a:srgbClr val="000000"/>
                </a:solidFill>
              </a:rPr>
              <a:t>Planning and Discovery</a:t>
            </a:r>
          </a:p>
        </p:txBody>
      </p:sp>
      <p:sp>
        <p:nvSpPr>
          <p:cNvPr id="14" name="Oval 13"/>
          <p:cNvSpPr/>
          <p:nvPr/>
        </p:nvSpPr>
        <p:spPr>
          <a:xfrm>
            <a:off x="6004559" y="4288368"/>
            <a:ext cx="182880" cy="182880"/>
          </a:xfrm>
          <a:prstGeom prst="ellipse">
            <a:avLst/>
          </a:prstGeom>
          <a:solidFill>
            <a:srgbClr val="FFFFFF"/>
          </a:solidFill>
          <a:ln w="19050">
            <a:solidFill>
              <a:srgbClr val="000000"/>
            </a:solidFill>
          </a:ln>
        </p:spPr>
        <p:txBody>
          <a:bodyPr rtlCol="0" anchor="ctr"/>
          <a:lstStyle/>
          <a:p>
            <a:pPr algn="ctr"/>
            <a:endParaRPr/>
          </a:p>
        </p:txBody>
      </p:sp>
      <p:sp>
        <p:nvSpPr>
          <p:cNvPr id="15" name="Rounded Rectangle 14"/>
          <p:cNvSpPr/>
          <p:nvPr/>
        </p:nvSpPr>
        <p:spPr>
          <a:xfrm>
            <a:off x="4249733" y="4562688"/>
            <a:ext cx="3692533"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Bef>
                <a:spcPts val="400"/>
              </a:spcBef>
              <a:spcAft>
                <a:spcPts val="200"/>
              </a:spcAft>
            </a:pPr>
            <a:r>
              <a:rPr sz="1100" b="1" i="0">
                <a:solidFill>
                  <a:srgbClr val="000000"/>
                </a:solidFill>
              </a:rPr>
              <a:t>11/2 – 12/24</a:t>
            </a:r>
          </a:p>
          <a:p>
            <a:pPr algn="l">
              <a:spcAft>
                <a:spcPts val="500"/>
              </a:spcAft>
            </a:pPr>
            <a:r>
              <a:rPr sz="1100" b="0" i="0">
                <a:solidFill>
                  <a:srgbClr val="000000"/>
                </a:solidFill>
              </a:rPr>
              <a:t>Execution on Changes</a:t>
            </a:r>
          </a:p>
        </p:txBody>
      </p:sp>
      <p:sp>
        <p:nvSpPr>
          <p:cNvPr id="16" name="Oval 15"/>
          <p:cNvSpPr/>
          <p:nvPr/>
        </p:nvSpPr>
        <p:spPr>
          <a:xfrm>
            <a:off x="9797092" y="4288368"/>
            <a:ext cx="182880" cy="182880"/>
          </a:xfrm>
          <a:prstGeom prst="ellipse">
            <a:avLst/>
          </a:prstGeom>
          <a:solidFill>
            <a:srgbClr val="FFFFFF"/>
          </a:solidFill>
          <a:ln w="19050">
            <a:solidFill>
              <a:srgbClr val="D6D6DF"/>
            </a:solidFill>
          </a:ln>
        </p:spPr>
        <p:txBody>
          <a:bodyPr rtlCol="0" anchor="ctr"/>
          <a:lstStyle/>
          <a:p>
            <a:pPr algn="ctr"/>
            <a:endParaRPr/>
          </a:p>
        </p:txBody>
      </p:sp>
      <p:sp>
        <p:nvSpPr>
          <p:cNvPr id="17" name="Rounded Rectangle 16"/>
          <p:cNvSpPr/>
          <p:nvPr/>
        </p:nvSpPr>
        <p:spPr>
          <a:xfrm>
            <a:off x="8042266" y="4562688"/>
            <a:ext cx="3692533"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Bef>
                <a:spcPts val="200"/>
              </a:spcBef>
              <a:spcAft>
                <a:spcPts val="200"/>
              </a:spcAft>
            </a:pPr>
            <a:r>
              <a:rPr sz="850" b="1" i="0" cap="all" spc="100">
                <a:solidFill>
                  <a:srgbClr val="60607D"/>
                </a:solidFill>
              </a:rPr>
              <a:t>The target</a:t>
            </a:r>
          </a:p>
          <a:p>
            <a:pPr algn="l">
              <a:spcBef>
                <a:spcPts val="400"/>
              </a:spcBef>
              <a:spcAft>
                <a:spcPts val="200"/>
              </a:spcAft>
            </a:pPr>
            <a:r>
              <a:rPr sz="1000" b="1" i="0">
                <a:solidFill>
                  <a:srgbClr val="000000"/>
                </a:solidFill>
              </a:rPr>
              <a:t>MVP done</a:t>
            </a:r>
          </a:p>
          <a:p>
            <a:pPr algn="l">
              <a:spcAft>
                <a:spcPts val="500"/>
              </a:spcAft>
            </a:pPr>
            <a:r>
              <a:rPr sz="1000" b="0" i="1">
                <a:solidFill>
                  <a:srgbClr val="60607D"/>
                </a:solidFill>
              </a:rPr>
              <a:t>[Date we are shooting for.]</a:t>
            </a:r>
          </a:p>
        </p:txBody>
      </p:sp>
      <p:sp>
        <p:nvSpPr>
          <p:cNvPr id="18" name="Rounded Rectangle 17"/>
          <p:cNvSpPr/>
          <p:nvPr/>
        </p:nvSpPr>
        <p:spPr>
          <a:xfrm>
            <a:off x="457200" y="5462688"/>
            <a:ext cx="5563800" cy="93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91440" rIns="182880" bIns="36576" rtlCol="0" anchor="t"/>
          <a:lstStyle/>
          <a:p>
            <a:pPr algn="l">
              <a:spcAft>
                <a:spcPts val="600"/>
              </a:spcAft>
            </a:pPr>
            <a:r>
              <a:rPr sz="1100" b="1" i="0" cap="all" spc="60">
                <a:solidFill>
                  <a:srgbClr val="000000"/>
                </a:solidFill>
              </a:rPr>
              <a:t>Team</a:t>
            </a:r>
          </a:p>
        </p:txBody>
      </p:sp>
      <p:sp>
        <p:nvSpPr>
          <p:cNvPr id="19" name="Rounded Rectangle 18"/>
          <p:cNvSpPr/>
          <p:nvPr/>
        </p:nvSpPr>
        <p:spPr>
          <a:xfrm>
            <a:off x="667512" y="5791872"/>
            <a:ext cx="1351221" cy="246888"/>
          </a:xfrm>
          <a:prstGeom prst="roundRect">
            <a:avLst>
              <a:gd name="adj" fmla="val 50000"/>
            </a:avLst>
          </a:prstGeom>
          <a:solidFill>
            <a:srgbClr val="FFFFFF"/>
          </a:solidFill>
          <a:ln w="12700">
            <a:solidFill>
              <a:srgbClr val="D6D6DF"/>
            </a:solidFill>
          </a:ln>
        </p:spPr>
        <p:txBody>
          <a:bodyPr wrap="none" lIns="0" tIns="0" rIns="0" bIns="0" rtlCol="0" anchor="ctr"/>
          <a:lstStyle/>
          <a:p>
            <a:pPr algn="ctr"/>
            <a:r>
              <a:rPr sz="900" b="0" i="1">
                <a:solidFill>
                  <a:srgbClr val="60607D"/>
                </a:solidFill>
              </a:rPr>
              <a:t>[Who does the work]</a:t>
            </a:r>
          </a:p>
        </p:txBody>
      </p:sp>
      <p:sp>
        <p:nvSpPr>
          <p:cNvPr id="20" name="Rounded Rectangle 19"/>
          <p:cNvSpPr/>
          <p:nvPr/>
        </p:nvSpPr>
        <p:spPr>
          <a:xfrm>
            <a:off x="2101029" y="5791872"/>
            <a:ext cx="1351221" cy="246888"/>
          </a:xfrm>
          <a:prstGeom prst="roundRect">
            <a:avLst>
              <a:gd name="adj" fmla="val 50000"/>
            </a:avLst>
          </a:prstGeom>
          <a:solidFill>
            <a:srgbClr val="FFFFFF"/>
          </a:solidFill>
          <a:ln w="12700">
            <a:solidFill>
              <a:srgbClr val="D6D6DF"/>
            </a:solidFill>
          </a:ln>
        </p:spPr>
        <p:txBody>
          <a:bodyPr wrap="none" lIns="0" tIns="0" rIns="0" bIns="0" rtlCol="0" anchor="ctr"/>
          <a:lstStyle/>
          <a:p>
            <a:pPr algn="ctr"/>
            <a:r>
              <a:rPr sz="900" b="0" i="1">
                <a:solidFill>
                  <a:srgbClr val="60607D"/>
                </a:solidFill>
              </a:rPr>
              <a:t>[Who does the work]</a:t>
            </a:r>
          </a:p>
        </p:txBody>
      </p:sp>
      <p:sp>
        <p:nvSpPr>
          <p:cNvPr id="21" name="Rounded Rectangle 20"/>
          <p:cNvSpPr/>
          <p:nvPr/>
        </p:nvSpPr>
        <p:spPr>
          <a:xfrm>
            <a:off x="6171000" y="5462688"/>
            <a:ext cx="5563800" cy="93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91440" rIns="182880" bIns="36576" rtlCol="0" anchor="t"/>
          <a:lstStyle/>
          <a:p>
            <a:pPr algn="l">
              <a:spcAft>
                <a:spcPts val="600"/>
              </a:spcAft>
            </a:pPr>
            <a:r>
              <a:rPr sz="1100" b="1" i="0" cap="all" spc="60">
                <a:solidFill>
                  <a:srgbClr val="000000"/>
                </a:solidFill>
              </a:rPr>
              <a:t>Partners</a:t>
            </a:r>
          </a:p>
        </p:txBody>
      </p:sp>
      <p:sp>
        <p:nvSpPr>
          <p:cNvPr id="22" name="Rounded Rectangle 21"/>
          <p:cNvSpPr/>
          <p:nvPr/>
        </p:nvSpPr>
        <p:spPr>
          <a:xfrm>
            <a:off x="6381312" y="5791872"/>
            <a:ext cx="1291655" cy="246888"/>
          </a:xfrm>
          <a:prstGeom prst="roundRect">
            <a:avLst>
              <a:gd name="adj" fmla="val 50000"/>
            </a:avLst>
          </a:prstGeom>
          <a:solidFill>
            <a:srgbClr val="FFFFFF"/>
          </a:solidFill>
          <a:ln w="12700">
            <a:solidFill>
              <a:srgbClr val="D6D6DF"/>
            </a:solidFill>
          </a:ln>
        </p:spPr>
        <p:txBody>
          <a:bodyPr wrap="none" lIns="0" tIns="0" rIns="0" bIns="0" rtlCol="0" anchor="ctr"/>
          <a:lstStyle/>
          <a:p>
            <a:pPr algn="ctr"/>
            <a:r>
              <a:rPr sz="900" b="0" i="1">
                <a:solidFill>
                  <a:srgbClr val="60607D"/>
                </a:solidFill>
              </a:rPr>
              <a:t>[Who we work with]</a:t>
            </a:r>
          </a:p>
        </p:txBody>
      </p:sp>
      <p:sp>
        <p:nvSpPr>
          <p:cNvPr id="23" name="Rounded Rectangle 22"/>
          <p:cNvSpPr/>
          <p:nvPr/>
        </p:nvSpPr>
        <p:spPr>
          <a:xfrm>
            <a:off x="7755263" y="5791872"/>
            <a:ext cx="1291655" cy="246888"/>
          </a:xfrm>
          <a:prstGeom prst="roundRect">
            <a:avLst>
              <a:gd name="adj" fmla="val 50000"/>
            </a:avLst>
          </a:prstGeom>
          <a:solidFill>
            <a:srgbClr val="FFFFFF"/>
          </a:solidFill>
          <a:ln w="12700">
            <a:solidFill>
              <a:srgbClr val="D6D6DF"/>
            </a:solidFill>
          </a:ln>
        </p:spPr>
        <p:txBody>
          <a:bodyPr wrap="none" lIns="0" tIns="0" rIns="0" bIns="0" rtlCol="0" anchor="ctr"/>
          <a:lstStyle/>
          <a:p>
            <a:pPr algn="ctr"/>
            <a:r>
              <a:rPr sz="900" b="0" i="1">
                <a:solidFill>
                  <a:srgbClr val="60607D"/>
                </a:solidFill>
              </a:rPr>
              <a:t>[Who we work with]</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 name="Picture 4" descr="f_hero_early.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endParaRP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Adoption &amp; change management</a:t>
            </a:r>
          </a:p>
        </p:txBody>
      </p:sp>
      <p:sp>
        <p:nvSpPr>
          <p:cNvPr id="4" name="Text Placeholder 3"/>
          <p:cNvSpPr>
            <a:spLocks noGrp="1"/>
          </p:cNvSpPr>
          <p:nvPr>
            <p:ph type="body" sz="quarter" idx="12"/>
          </p:nvPr>
        </p:nvSpPr>
        <p:spPr>
          <a:xfrm>
            <a:off x="457200" y="170000"/>
            <a:ext cx="8000000" cy="182880"/>
          </a:xfrm>
        </p:spPr>
        <p:txBody>
          <a:bodyPr/>
          <a:lstStyle/>
          <a:p>
            <a:r>
              <a:rPr>
                <a:solidFill>
                  <a:srgbClr val="0391F2"/>
                </a:solidFill>
              </a:rPr>
              <a:t>EARLIER DELIVERY &amp; TALENT IN PURSUITS · CLICK-DOWN · WHAT WE ARE CHANGING</a:t>
            </a:r>
          </a:p>
        </p:txBody>
      </p:sp>
      <p:sp>
        <p:nvSpPr>
          <p:cNvPr id="7" name="Rounded Rectangle 6"/>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wrap="square" lIns="150000" rIns="120000" rtlCol="0" anchor="ctr"/>
          <a:lstStyle/>
          <a:p>
            <a:pPr algn="l"/>
            <a:r>
              <a:rPr sz="1050" b="1" i="0">
                <a:solidFill>
                  <a:srgbClr val="FFFFFF"/>
                </a:solidFill>
              </a:rPr>
              <a:t>Owner(s)</a:t>
            </a:r>
          </a:p>
          <a:p>
            <a:pPr algn="l"/>
            <a:r>
              <a:rPr sz="900" b="0" i="0">
                <a:solidFill>
                  <a:srgbClr val="D6D6DF"/>
                </a:solidFill>
              </a:rPr>
              <a:t>Missy Foristall, Deana Derocha</a:t>
            </a:r>
          </a:p>
        </p:txBody>
      </p:sp>
      <p:sp>
        <p:nvSpPr>
          <p:cNvPr id="8" name="Rounded Rectangle 7"/>
          <p:cNvSpPr/>
          <p:nvPr/>
        </p:nvSpPr>
        <p:spPr>
          <a:xfrm>
            <a:off x="457200" y="1170000"/>
            <a:ext cx="2706900" cy="50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000000"/>
                </a:solidFill>
              </a:rPr>
              <a:t>1. Strategy &amp; Alignment</a:t>
            </a:r>
          </a:p>
          <a:p>
            <a:pPr algn="l">
              <a:spcBef>
                <a:spcPts val="400"/>
              </a:spcBef>
              <a:spcAft>
                <a:spcPts val="200"/>
              </a:spcAft>
            </a:pPr>
            <a:r>
              <a:rPr sz="1300" b="1" i="0">
                <a:solidFill>
                  <a:srgbClr val="000000"/>
                </a:solidFill>
              </a:rPr>
              <a:t>The why</a:t>
            </a:r>
          </a:p>
          <a:p>
            <a:pPr algn="l">
              <a:spcAft>
                <a:spcPts val="500"/>
              </a:spcAft>
            </a:pPr>
            <a:r>
              <a:rPr sz="1300" b="0" i="1">
                <a:solidFill>
                  <a:srgbClr val="60607D"/>
                </a:solidFill>
              </a:rPr>
              <a:t>[The business reason for this change and the value it brings.]</a:t>
            </a:r>
          </a:p>
          <a:p>
            <a:pPr algn="l">
              <a:spcBef>
                <a:spcPts val="400"/>
              </a:spcBef>
              <a:spcAft>
                <a:spcPts val="200"/>
              </a:spcAft>
            </a:pPr>
            <a:r>
              <a:rPr sz="1300" b="1" i="0">
                <a:solidFill>
                  <a:srgbClr val="000000"/>
                </a:solidFill>
              </a:rPr>
              <a:t>Who is affected</a:t>
            </a:r>
          </a:p>
          <a:p>
            <a:pPr algn="l">
              <a:spcAft>
                <a:spcPts val="500"/>
              </a:spcAft>
            </a:pPr>
            <a:r>
              <a:rPr sz="1300" b="0" i="1">
                <a:solidFill>
                  <a:srgbClr val="60607D"/>
                </a:solidFill>
              </a:rPr>
              <a:t>[Who is impacted, how their day-to-day changes, and how much pushback to expect.]</a:t>
            </a:r>
          </a:p>
          <a:p>
            <a:pPr algn="l">
              <a:spcBef>
                <a:spcPts val="400"/>
              </a:spcBef>
              <a:spcAft>
                <a:spcPts val="200"/>
              </a:spcAft>
            </a:pPr>
            <a:r>
              <a:rPr sz="1300" b="1" i="0">
                <a:solidFill>
                  <a:srgbClr val="000000"/>
                </a:solidFill>
              </a:rPr>
              <a:t>Who is backing it</a:t>
            </a:r>
          </a:p>
          <a:p>
            <a:pPr algn="l">
              <a:spcAft>
                <a:spcPts val="500"/>
              </a:spcAft>
            </a:pPr>
            <a:r>
              <a:rPr sz="1300" b="0" i="1">
                <a:solidFill>
                  <a:srgbClr val="60607D"/>
                </a:solidFill>
              </a:rPr>
              <a:t>[Executive sponsors, approvers, and the champions who will drive adoption locally.]</a:t>
            </a:r>
          </a:p>
        </p:txBody>
      </p:sp>
      <p:sp>
        <p:nvSpPr>
          <p:cNvPr id="9" name="Rounded Rectangle 8"/>
          <p:cNvSpPr/>
          <p:nvPr/>
        </p:nvSpPr>
        <p:spPr>
          <a:xfrm>
            <a:off x="3314100" y="1170000"/>
            <a:ext cx="2706900" cy="50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000000"/>
                </a:solidFill>
              </a:rPr>
              <a:t>2. Communications Plan</a:t>
            </a:r>
          </a:p>
          <a:p>
            <a:pPr algn="l">
              <a:spcBef>
                <a:spcPts val="400"/>
              </a:spcBef>
              <a:spcAft>
                <a:spcPts val="200"/>
              </a:spcAft>
            </a:pPr>
            <a:r>
              <a:rPr sz="1300" b="1" i="0">
                <a:solidFill>
                  <a:srgbClr val="000000"/>
                </a:solidFill>
              </a:rPr>
              <a:t>Core messages</a:t>
            </a:r>
          </a:p>
          <a:p>
            <a:pPr algn="l">
              <a:spcAft>
                <a:spcPts val="500"/>
              </a:spcAft>
            </a:pPr>
            <a:r>
              <a:rPr sz="1300" b="0" i="1">
                <a:solidFill>
                  <a:srgbClr val="60607D"/>
                </a:solidFill>
              </a:rPr>
              <a:t>[The standard talking points, tailored for each group that is affected.]</a:t>
            </a:r>
          </a:p>
          <a:p>
            <a:pPr algn="l">
              <a:spcBef>
                <a:spcPts val="400"/>
              </a:spcBef>
              <a:spcAft>
                <a:spcPts val="200"/>
              </a:spcAft>
            </a:pPr>
            <a:r>
              <a:rPr sz="1300" b="1" i="0">
                <a:solidFill>
                  <a:srgbClr val="000000"/>
                </a:solidFill>
              </a:rPr>
              <a:t>Channels</a:t>
            </a:r>
          </a:p>
          <a:p>
            <a:pPr algn="l">
              <a:spcAft>
                <a:spcPts val="500"/>
              </a:spcAft>
            </a:pPr>
            <a:r>
              <a:rPr sz="1300" b="0" i="1">
                <a:solidFill>
                  <a:srgbClr val="60607D"/>
                </a:solidFill>
              </a:rPr>
              <a:t>[Where we will say it: all-hands, email, internal portals, team meetings.]</a:t>
            </a:r>
          </a:p>
          <a:p>
            <a:pPr algn="l">
              <a:spcBef>
                <a:spcPts val="400"/>
              </a:spcBef>
              <a:spcAft>
                <a:spcPts val="200"/>
              </a:spcAft>
            </a:pPr>
            <a:r>
              <a:rPr sz="1300" b="1" i="0">
                <a:solidFill>
                  <a:srgbClr val="000000"/>
                </a:solidFill>
              </a:rPr>
              <a:t>Timing</a:t>
            </a:r>
          </a:p>
          <a:p>
            <a:pPr algn="l">
              <a:spcAft>
                <a:spcPts val="500"/>
              </a:spcAft>
            </a:pPr>
            <a:r>
              <a:rPr sz="1300" b="0" i="1">
                <a:solidFill>
                  <a:srgbClr val="60607D"/>
                </a:solidFill>
              </a:rPr>
              <a:t>[The schedule of announcements, teasers and reminders before and after launch.]</a:t>
            </a:r>
          </a:p>
        </p:txBody>
      </p:sp>
      <p:sp>
        <p:nvSpPr>
          <p:cNvPr id="10" name="Rounded Rectangle 9"/>
          <p:cNvSpPr/>
          <p:nvPr/>
        </p:nvSpPr>
        <p:spPr>
          <a:xfrm>
            <a:off x="6171000" y="1170000"/>
            <a:ext cx="2706900" cy="50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000000"/>
                </a:solidFill>
              </a:rPr>
              <a:t>3. Enablement</a:t>
            </a:r>
          </a:p>
          <a:p>
            <a:pPr algn="l">
              <a:spcBef>
                <a:spcPts val="400"/>
              </a:spcBef>
              <a:spcAft>
                <a:spcPts val="200"/>
              </a:spcAft>
            </a:pPr>
            <a:r>
              <a:rPr sz="1300" b="1" i="0">
                <a:solidFill>
                  <a:srgbClr val="000000"/>
                </a:solidFill>
              </a:rPr>
              <a:t>Training</a:t>
            </a:r>
          </a:p>
          <a:p>
            <a:pPr algn="l">
              <a:spcAft>
                <a:spcPts val="500"/>
              </a:spcAft>
            </a:pPr>
            <a:r>
              <a:rPr sz="1300" b="0" i="1">
                <a:solidFill>
                  <a:srgbClr val="60607D"/>
                </a:solidFill>
              </a:rPr>
              <a:t>[How people will learn: live sessions, self-serve modules, documentation.]</a:t>
            </a:r>
          </a:p>
          <a:p>
            <a:pPr algn="l">
              <a:spcBef>
                <a:spcPts val="400"/>
              </a:spcBef>
              <a:spcAft>
                <a:spcPts val="200"/>
              </a:spcAft>
            </a:pPr>
            <a:r>
              <a:rPr sz="1300" b="1" i="0">
                <a:solidFill>
                  <a:srgbClr val="000000"/>
                </a:solidFill>
              </a:rPr>
              <a:t>Where to find things</a:t>
            </a:r>
          </a:p>
          <a:p>
            <a:pPr algn="l">
              <a:spcAft>
                <a:spcPts val="500"/>
              </a:spcAft>
            </a:pPr>
            <a:r>
              <a:rPr sz="1300" b="0" i="1">
                <a:solidFill>
                  <a:srgbClr val="60607D"/>
                </a:solidFill>
              </a:rPr>
              <a:t>[One place for user guides, quick reference cards and FAQs.]</a:t>
            </a:r>
          </a:p>
          <a:p>
            <a:pPr algn="l">
              <a:spcBef>
                <a:spcPts val="400"/>
              </a:spcBef>
              <a:spcAft>
                <a:spcPts val="200"/>
              </a:spcAft>
            </a:pPr>
            <a:r>
              <a:rPr sz="1300" b="1" i="0">
                <a:solidFill>
                  <a:srgbClr val="000000"/>
                </a:solidFill>
              </a:rPr>
              <a:t>Getting help</a:t>
            </a:r>
          </a:p>
          <a:p>
            <a:pPr algn="l">
              <a:spcAft>
                <a:spcPts val="500"/>
              </a:spcAft>
            </a:pPr>
            <a:r>
              <a:rPr sz="1300" b="0" i="1">
                <a:solidFill>
                  <a:srgbClr val="60607D"/>
                </a:solidFill>
              </a:rPr>
              <a:t>[Where people go when they get stuck during the rollout.]</a:t>
            </a:r>
          </a:p>
        </p:txBody>
      </p:sp>
      <p:sp>
        <p:nvSpPr>
          <p:cNvPr id="11" name="Rounded Rectangle 10"/>
          <p:cNvSpPr/>
          <p:nvPr/>
        </p:nvSpPr>
        <p:spPr>
          <a:xfrm>
            <a:off x="9027900" y="1170000"/>
            <a:ext cx="2706900" cy="50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000000"/>
                </a:solidFill>
              </a:rPr>
              <a:t>4. Measuring &amp; Sustaining</a:t>
            </a:r>
          </a:p>
          <a:p>
            <a:pPr algn="l">
              <a:spcBef>
                <a:spcPts val="400"/>
              </a:spcBef>
              <a:spcAft>
                <a:spcPts val="200"/>
              </a:spcAft>
            </a:pPr>
            <a:r>
              <a:rPr sz="1300" b="1" i="0">
                <a:solidFill>
                  <a:srgbClr val="000000"/>
                </a:solidFill>
              </a:rPr>
              <a:t>Success measures</a:t>
            </a:r>
          </a:p>
          <a:p>
            <a:pPr algn="l">
              <a:spcAft>
                <a:spcPts val="500"/>
              </a:spcAft>
            </a:pPr>
            <a:r>
              <a:rPr sz="1300" b="0" i="1">
                <a:solidFill>
                  <a:srgbClr val="60607D"/>
                </a:solidFill>
              </a:rPr>
              <a:t>[The numbers that show healthy adoption, such as login rates, task completion and drop-off from the old way.]</a:t>
            </a:r>
          </a:p>
          <a:p>
            <a:pPr algn="l">
              <a:spcBef>
                <a:spcPts val="400"/>
              </a:spcBef>
              <a:spcAft>
                <a:spcPts val="200"/>
              </a:spcAft>
            </a:pPr>
            <a:r>
              <a:rPr sz="1300" b="1" i="0">
                <a:solidFill>
                  <a:srgbClr val="000000"/>
                </a:solidFill>
              </a:rPr>
              <a:t>Feedback</a:t>
            </a:r>
          </a:p>
          <a:p>
            <a:pPr algn="l">
              <a:spcAft>
                <a:spcPts val="500"/>
              </a:spcAft>
            </a:pPr>
            <a:r>
              <a:rPr sz="1300" b="0" i="1">
                <a:solidFill>
                  <a:srgbClr val="60607D"/>
                </a:solidFill>
              </a:rPr>
              <a:t>[How we capture friction and sentiment after launch so we can fix things quickly.]</a:t>
            </a:r>
          </a:p>
          <a:p>
            <a:pPr algn="l">
              <a:spcBef>
                <a:spcPts val="400"/>
              </a:spcBef>
              <a:spcAft>
                <a:spcPts val="200"/>
              </a:spcAft>
            </a:pPr>
            <a:r>
              <a:rPr sz="1300" b="1" i="0">
                <a:solidFill>
                  <a:srgbClr val="000000"/>
                </a:solidFill>
              </a:rPr>
              <a:t>Long-term owner</a:t>
            </a:r>
          </a:p>
          <a:p>
            <a:pPr algn="l">
              <a:spcAft>
                <a:spcPts val="500"/>
              </a:spcAft>
            </a:pPr>
            <a:r>
              <a:rPr sz="1300" b="0" i="1">
                <a:solidFill>
                  <a:srgbClr val="60607D"/>
                </a:solidFill>
              </a:rPr>
              <a:t>[Who owns ongoing updates, new-hire onboarding and keeping the process current.]</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 name="Picture 4" descr="f_rail_early.jpg"/>
          <p:cNvPicPr>
            <a:picLocks noChangeAspect="1"/>
          </p:cNvPicPr>
          <p:nvPr/>
        </p:nvPicPr>
        <p:blipFill>
          <a:blip r:embed="rId2"/>
          <a:stretch>
            <a:fillRect/>
          </a:stretch>
        </p:blipFill>
        <p:spPr>
          <a:xfrm>
            <a:off x="228600" y="228600"/>
            <a:ext cx="3200000" cy="6171400"/>
          </a:xfrm>
          <a:prstGeom prst="roundRect">
            <a:avLst>
              <a:gd name="adj" fmla="val 3600"/>
            </a:avLst>
          </a:prstGeom>
        </p:spPr>
      </p:pic>
      <p:sp>
        <p:nvSpPr>
          <p:cNvPr id="6" name="Rounded Rectangle 5"/>
          <p:cNvSpPr/>
          <p:nvPr/>
        </p:nvSpPr>
        <p:spPr>
          <a:xfrm>
            <a:off x="228600" y="228600"/>
            <a:ext cx="3200000" cy="6171400"/>
          </a:xfrm>
          <a:prstGeom prst="roundRect">
            <a:avLst>
              <a:gd name="adj" fmla="val 3600"/>
            </a:avLst>
          </a:prstGeom>
          <a:gradFill rotWithShape="1">
            <a:gsLst>
              <a:gs pos="0">
                <a:srgbClr val="000000">
                  <a:alpha val="68000"/>
                </a:srgbClr>
              </a:gs>
              <a:gs pos="45000">
                <a:srgbClr val="000000">
                  <a:alpha val="50000"/>
                </a:srgbClr>
              </a:gs>
              <a:gs pos="100000">
                <a:srgbClr val="000000">
                  <a:alpha val="82000"/>
                </a:srgbClr>
              </a:gs>
            </a:gsLst>
            <a:lin ang="5400000" scaled="0"/>
          </a:gradFill>
          <a:ln>
            <a:noFill/>
          </a:ln>
        </p:spPr>
        <p:txBody>
          <a:bodyPr rtlCol="0" anchor="ctr"/>
          <a:lstStyle/>
          <a:p>
            <a:pPr algn="ctr"/>
            <a:endParaRPr/>
          </a:p>
        </p:txBody>
      </p:sp>
      <p:sp>
        <p:nvSpPr>
          <p:cNvPr id="7" name="Rounded Rectangle 6"/>
          <p:cNvSpPr/>
          <p:nvPr/>
        </p:nvSpPr>
        <p:spPr>
          <a:xfrm>
            <a:off x="378600" y="378600"/>
            <a:ext cx="2900000" cy="2050000"/>
          </a:xfrm>
          <a:prstGeom prst="roundRect">
            <a:avLst>
              <a:gd name="adj" fmla="val 5000"/>
            </a:avLst>
          </a:prstGeom>
          <a:solidFill>
            <a:srgbClr val="000000">
              <a:alpha val="62000"/>
            </a:srgbClr>
          </a:solidFill>
          <a:ln>
            <a:noFill/>
          </a:ln>
        </p:spPr>
        <p:txBody>
          <a:bodyPr rtlCol="0" anchor="ctr"/>
          <a:lstStyle/>
          <a:p>
            <a:pPr algn="ctr"/>
            <a:endParaRPr/>
          </a:p>
        </p:txBody>
      </p:sp>
      <p:sp>
        <p:nvSpPr>
          <p:cNvPr id="3" name="Title 2"/>
          <p:cNvSpPr>
            <a:spLocks noGrp="1"/>
          </p:cNvSpPr>
          <p:nvPr>
            <p:ph type="title"/>
          </p:nvPr>
        </p:nvSpPr>
        <p:spPr>
          <a:xfrm>
            <a:off x="508600" y="868600"/>
            <a:ext cx="2640000" cy="2300000"/>
          </a:xfrm>
        </p:spPr>
        <p:txBody>
          <a:bodyPr/>
          <a:lstStyle/>
          <a:p>
            <a:r>
              <a:rPr sz="2000">
                <a:solidFill>
                  <a:srgbClr val="FFFFFF"/>
                </a:solidFill>
              </a:rPr>
              <a:t>Earlier Delivery &amp; Talent in Pursuits: Update</a:t>
            </a:r>
          </a:p>
        </p:txBody>
      </p:sp>
      <p:sp>
        <p:nvSpPr>
          <p:cNvPr id="4" name="Text Placeholder 3"/>
          <p:cNvSpPr>
            <a:spLocks noGrp="1"/>
          </p:cNvSpPr>
          <p:nvPr>
            <p:ph type="body" sz="quarter" idx="12"/>
          </p:nvPr>
        </p:nvSpPr>
        <p:spPr>
          <a:xfrm>
            <a:off x="508600" y="558600"/>
            <a:ext cx="2640000" cy="182880"/>
          </a:xfrm>
        </p:spPr>
        <p:txBody>
          <a:bodyPr/>
          <a:lstStyle/>
          <a:p>
            <a:r>
              <a:rPr>
                <a:solidFill>
                  <a:srgbClr val="0391F2"/>
                </a:solidFill>
              </a:rPr>
              <a:t>OPS PRIORITIES</a:t>
            </a:r>
          </a:p>
        </p:txBody>
      </p:sp>
      <p:sp>
        <p:nvSpPr>
          <p:cNvPr id="8" name="Rounded Rectangle 7"/>
          <p:cNvSpPr/>
          <p:nvPr/>
        </p:nvSpPr>
        <p:spPr>
          <a:xfrm>
            <a:off x="508600" y="5340000"/>
            <a:ext cx="2640000" cy="780000"/>
          </a:xfrm>
          <a:prstGeom prst="roundRect">
            <a:avLst>
              <a:gd name="adj" fmla="val 28000"/>
            </a:avLst>
          </a:prstGeom>
          <a:solidFill>
            <a:srgbClr val="000000">
              <a:alpha val="72000"/>
            </a:srgbClr>
          </a:solidFill>
          <a:ln w="9525">
            <a:solidFill>
              <a:srgbClr val="FFFFFF">
                <a:alpha val="45000"/>
              </a:srgbClr>
            </a:solidFill>
          </a:ln>
        </p:spPr>
        <p:txBody>
          <a:bodyPr wrap="square" lIns="150000" rIns="120000" rtlCol="0" anchor="ctr"/>
          <a:lstStyle/>
          <a:p>
            <a:pPr algn="l"/>
            <a:r>
              <a:rPr sz="1050" b="1" i="0">
                <a:solidFill>
                  <a:srgbClr val="FFFFFF"/>
                </a:solidFill>
              </a:rPr>
              <a:t>Owner(s)</a:t>
            </a:r>
          </a:p>
          <a:p>
            <a:pPr algn="l"/>
            <a:r>
              <a:rPr sz="900" b="0" i="0">
                <a:solidFill>
                  <a:srgbClr val="D6D6DF"/>
                </a:solidFill>
              </a:rPr>
              <a:t>Missy Foristall, Deana Derocha</a:t>
            </a:r>
          </a:p>
        </p:txBody>
      </p:sp>
      <p:sp>
        <p:nvSpPr>
          <p:cNvPr id="9" name="Rounded Rectangle 8"/>
          <p:cNvSpPr/>
          <p:nvPr/>
        </p:nvSpPr>
        <p:spPr>
          <a:xfrm>
            <a:off x="3628600" y="228600"/>
            <a:ext cx="4092400" cy="34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82880" rIns="182880" bIns="54864" rtlCol="0" anchor="t"/>
          <a:lstStyle/>
          <a:p>
            <a:pPr algn="l">
              <a:spcAft>
                <a:spcPts val="600"/>
              </a:spcAft>
            </a:pPr>
            <a:r>
              <a:rPr sz="1100" b="1" i="0" cap="all" spc="60">
                <a:solidFill>
                  <a:srgbClr val="000000"/>
                </a:solidFill>
              </a:rPr>
              <a:t>What has been accomplished</a:t>
            </a:r>
          </a:p>
          <a:p>
            <a:pPr algn="l">
              <a:spcAft>
                <a:spcPts val="500"/>
              </a:spcAft>
            </a:pPr>
            <a:r>
              <a:rPr sz="1300" b="0" i="1">
                <a:solidFill>
                  <a:srgbClr val="60607D"/>
                </a:solidFill>
              </a:rPr>
              <a:t>[Put here: what got done since last time. Use dates, not "recently". Why: shows real progress.]</a:t>
            </a:r>
          </a:p>
        </p:txBody>
      </p:sp>
      <p:sp>
        <p:nvSpPr>
          <p:cNvPr id="10" name="Rounded Rectangle 9"/>
          <p:cNvSpPr/>
          <p:nvPr/>
        </p:nvSpPr>
        <p:spPr>
          <a:xfrm>
            <a:off x="7871000" y="228600"/>
            <a:ext cx="4092400" cy="34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82880" rIns="182880" bIns="54864" rtlCol="0" anchor="t"/>
          <a:lstStyle/>
          <a:p>
            <a:pPr algn="l">
              <a:spcAft>
                <a:spcPts val="600"/>
              </a:spcAft>
            </a:pPr>
            <a:r>
              <a:rPr sz="1100" b="1" i="0" cap="all" spc="60">
                <a:solidFill>
                  <a:srgbClr val="000000"/>
                </a:solidFill>
              </a:rPr>
              <a:t>Next milestones</a:t>
            </a:r>
          </a:p>
          <a:p>
            <a:pPr algn="l">
              <a:spcAft>
                <a:spcPts val="500"/>
              </a:spcAft>
            </a:pPr>
            <a:r>
              <a:rPr sz="1300" b="0" i="1">
                <a:solidFill>
                  <a:srgbClr val="60607D"/>
                </a:solidFill>
              </a:rPr>
              <a:t>[Put here: what happens next, and by when. Why: people can hold us to it.]</a:t>
            </a:r>
          </a:p>
        </p:txBody>
      </p:sp>
      <p:sp>
        <p:nvSpPr>
          <p:cNvPr id="11" name="Rounded Rectangle 10"/>
          <p:cNvSpPr/>
          <p:nvPr/>
        </p:nvSpPr>
        <p:spPr>
          <a:xfrm>
            <a:off x="3628600" y="3778600"/>
            <a:ext cx="8334800" cy="2621400"/>
          </a:xfrm>
          <a:prstGeom prst="roundRect">
            <a:avLst>
              <a:gd name="adj" fmla="val 2400"/>
            </a:avLst>
          </a:prstGeom>
          <a:solidFill>
            <a:srgbClr val="000000"/>
          </a:solidFill>
          <a:ln>
            <a:noFill/>
          </a:ln>
          <a:effectLst>
            <a:outerShdw blurRad="190500" dist="50800" dir="5400000" algn="t" rotWithShape="0">
              <a:srgbClr val="000000">
                <a:alpha val="13000"/>
              </a:srgbClr>
            </a:outerShdw>
          </a:effectLst>
        </p:spPr>
        <p:txBody>
          <a:bodyPr wrap="square" lIns="210312" tIns="182880" rIns="182880" bIns="54864" rtlCol="0" anchor="t"/>
          <a:lstStyle/>
          <a:p>
            <a:pPr algn="l">
              <a:spcAft>
                <a:spcPts val="600"/>
              </a:spcAft>
            </a:pPr>
            <a:r>
              <a:rPr sz="1100" b="1" i="0" cap="all" spc="60">
                <a:solidFill>
                  <a:srgbClr val="D6D6DF"/>
                </a:solidFill>
              </a:rPr>
              <a:t>What is in our way / what we need from you</a:t>
            </a:r>
          </a:p>
          <a:p>
            <a:pPr algn="l">
              <a:spcAft>
                <a:spcPts val="500"/>
              </a:spcAft>
            </a:pPr>
            <a:r>
              <a:rPr sz="1300" b="0" i="1">
                <a:solidFill>
                  <a:srgbClr val="D6D6DF"/>
                </a:solidFill>
              </a:rPr>
              <a:t>[Put here: what is blocking us, and what we need from you. Say who, and by when. Why: this is how leaders can help.]</a:t>
            </a:r>
          </a:p>
        </p:txBody>
      </p:sp>
      <p:sp>
        <p:nvSpPr>
          <p:cNvPr id="12" name="Rounded Rectangle 11"/>
          <p:cNvSpPr/>
          <p:nvPr/>
        </p:nvSpPr>
        <p:spPr>
          <a:xfrm>
            <a:off x="508600" y="4920000"/>
            <a:ext cx="2640000" cy="330000"/>
          </a:xfrm>
          <a:prstGeom prst="roundRect">
            <a:avLst>
              <a:gd name="adj" fmla="val 28000"/>
            </a:avLst>
          </a:prstGeom>
          <a:solidFill>
            <a:srgbClr val="000000">
              <a:alpha val="72000"/>
            </a:srgbClr>
          </a:solidFill>
          <a:ln w="9525">
            <a:solidFill>
              <a:srgbClr val="FFFFFF">
                <a:alpha val="45000"/>
              </a:srgbClr>
            </a:solidFill>
          </a:ln>
        </p:spPr>
        <p:txBody>
          <a:bodyPr wrap="square" lIns="150000" tIns="20000" rIns="120000" bIns="20000" rtlCol="0" anchor="ctr"/>
          <a:lstStyle/>
          <a:p>
            <a:pPr algn="l"/>
            <a:r>
              <a:rPr sz="900" b="1" i="0">
                <a:solidFill>
                  <a:srgbClr val="FFFFFF"/>
                </a:solidFill>
              </a:rPr>
              <a:t>Last updated: </a:t>
            </a:r>
            <a:r>
              <a:rPr sz="900" b="0" i="1">
                <a:solidFill>
                  <a:srgbClr val="D6D6DF"/>
                </a:solidFill>
              </a:rPr>
              <a:t>[date]</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43C9840D-5936-48AC-86A6-02101B2FBECD}"/>
            </a:ext>
          </a:extLst>
        </p:cNvPr>
        <p:cNvGrpSpPr/>
        <p:nvPr/>
      </p:nvGrpSpPr>
      <p:grpSpPr>
        <a:xfrm>
          <a:off x="0" y="0"/>
          <a:ext cx="0" cy="0"/>
          <a:chOff x="0" y="0"/>
          <a:chExt cx="0" cy="0"/>
        </a:xfrm>
      </p:grpSpPr>
      <p:pic>
        <p:nvPicPr>
          <p:cNvPr id="5" name="Picture 4" descr="f_hero_early.jpg">
            <a:extLst>
              <a:ext uri="{FF2B5EF4-FFF2-40B4-BE49-F238E27FC236}">
                <a16:creationId xmlns:a16="http://schemas.microsoft.com/office/drawing/2014/main" id="{FAA0FAEC-088A-B55A-A662-6FB5D9F34344}"/>
              </a:ext>
            </a:extLst>
          </p:cNvPr>
          <p:cNvPicPr>
            <a:picLocks noChangeAspect="1"/>
          </p:cNvPicPr>
          <p:nvPr/>
        </p:nvPicPr>
        <p:blipFill>
          <a:blip r:embed="rId2"/>
          <a:stretch>
            <a:fillRect/>
          </a:stretch>
        </p:blipFill>
        <p:spPr>
          <a:xfrm>
            <a:off x="0" y="0"/>
            <a:ext cx="12192000" cy="1000000"/>
          </a:xfrm>
          <a:prstGeom prst="rect">
            <a:avLst/>
          </a:prstGeom>
        </p:spPr>
      </p:pic>
      <p:sp>
        <p:nvSpPr>
          <p:cNvPr id="6" name="Rectangle 5">
            <a:extLst>
              <a:ext uri="{FF2B5EF4-FFF2-40B4-BE49-F238E27FC236}">
                <a16:creationId xmlns:a16="http://schemas.microsoft.com/office/drawing/2014/main" id="{6ED3FAFD-EE86-7DEA-DCC8-B18B3CEC5CEC}"/>
              </a:ext>
            </a:extLst>
          </p:cNvPr>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endParaRPr/>
          </a:p>
        </p:txBody>
      </p:sp>
      <p:sp>
        <p:nvSpPr>
          <p:cNvPr id="3" name="Title 2">
            <a:extLst>
              <a:ext uri="{FF2B5EF4-FFF2-40B4-BE49-F238E27FC236}">
                <a16:creationId xmlns:a16="http://schemas.microsoft.com/office/drawing/2014/main" id="{F411430D-B029-7959-1CBC-A05591D68C38}"/>
              </a:ext>
            </a:extLst>
          </p:cNvPr>
          <p:cNvSpPr>
            <a:spLocks noGrp="1"/>
          </p:cNvSpPr>
          <p:nvPr>
            <p:ph type="title"/>
          </p:nvPr>
        </p:nvSpPr>
        <p:spPr>
          <a:xfrm>
            <a:off x="457200" y="300000"/>
            <a:ext cx="8000000" cy="560000"/>
          </a:xfrm>
        </p:spPr>
        <p:txBody>
          <a:bodyPr/>
          <a:lstStyle/>
          <a:p>
            <a:r>
              <a:rPr lang="en-US" dirty="0">
                <a:solidFill>
                  <a:srgbClr val="FFFFFF"/>
                </a:solidFill>
              </a:rPr>
              <a:t>Earlier delivery and talent involvement in major pursuits</a:t>
            </a:r>
            <a:endParaRPr dirty="0">
              <a:solidFill>
                <a:srgbClr val="FFFFFF"/>
              </a:solidFill>
            </a:endParaRPr>
          </a:p>
        </p:txBody>
      </p:sp>
      <p:sp>
        <p:nvSpPr>
          <p:cNvPr id="4" name="Text Placeholder 3">
            <a:extLst>
              <a:ext uri="{FF2B5EF4-FFF2-40B4-BE49-F238E27FC236}">
                <a16:creationId xmlns:a16="http://schemas.microsoft.com/office/drawing/2014/main" id="{D55D9DF1-E2AD-BCA7-F5D5-C56BEA580771}"/>
              </a:ext>
            </a:extLst>
          </p:cNvPr>
          <p:cNvSpPr>
            <a:spLocks noGrp="1"/>
          </p:cNvSpPr>
          <p:nvPr>
            <p:ph type="body" sz="quarter" idx="12"/>
          </p:nvPr>
        </p:nvSpPr>
        <p:spPr>
          <a:xfrm>
            <a:off x="457200" y="170000"/>
            <a:ext cx="8000000" cy="182880"/>
          </a:xfrm>
        </p:spPr>
        <p:txBody>
          <a:bodyPr/>
          <a:lstStyle/>
          <a:p>
            <a:r>
              <a:rPr dirty="0">
                <a:solidFill>
                  <a:srgbClr val="0391F2"/>
                </a:solidFill>
              </a:rPr>
              <a:t>EARLIER DELIVERY &amp; TALENT IN PURSUITS · </a:t>
            </a:r>
            <a:r>
              <a:rPr lang="en-US" dirty="0">
                <a:solidFill>
                  <a:srgbClr val="0391F2"/>
                </a:solidFill>
              </a:rPr>
              <a:t>Detail</a:t>
            </a:r>
            <a:r>
              <a:rPr dirty="0">
                <a:solidFill>
                  <a:srgbClr val="0391F2"/>
                </a:solidFill>
              </a:rPr>
              <a:t> · </a:t>
            </a:r>
            <a:r>
              <a:rPr lang="en-US" dirty="0">
                <a:solidFill>
                  <a:srgbClr val="0391F2"/>
                </a:solidFill>
              </a:rPr>
              <a:t>DDM Quick Win Example</a:t>
            </a:r>
            <a:endParaRPr dirty="0">
              <a:solidFill>
                <a:srgbClr val="0391F2"/>
              </a:solidFill>
            </a:endParaRPr>
          </a:p>
        </p:txBody>
      </p:sp>
      <p:sp>
        <p:nvSpPr>
          <p:cNvPr id="7" name="Rounded Rectangle 6">
            <a:extLst>
              <a:ext uri="{FF2B5EF4-FFF2-40B4-BE49-F238E27FC236}">
                <a16:creationId xmlns:a16="http://schemas.microsoft.com/office/drawing/2014/main" id="{BAA306E4-A28E-11BC-7135-464BBDD7C970}"/>
              </a:ext>
            </a:extLst>
          </p:cNvPr>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wrap="square" lIns="150000" rIns="120000" rtlCol="0" anchor="ctr"/>
          <a:lstStyle/>
          <a:p>
            <a:pPr algn="l"/>
            <a:r>
              <a:rPr sz="1050" b="1" i="0">
                <a:solidFill>
                  <a:srgbClr val="FFFFFF"/>
                </a:solidFill>
              </a:rPr>
              <a:t>Owner(s)</a:t>
            </a:r>
          </a:p>
          <a:p>
            <a:pPr algn="l"/>
            <a:r>
              <a:rPr sz="900" b="0" i="0">
                <a:solidFill>
                  <a:srgbClr val="D6D6DF"/>
                </a:solidFill>
              </a:rPr>
              <a:t>Missy Foristall, Deana Derocha</a:t>
            </a:r>
          </a:p>
        </p:txBody>
      </p:sp>
      <p:sp>
        <p:nvSpPr>
          <p:cNvPr id="12" name="Intro">
            <a:extLst>
              <a:ext uri="{FF2B5EF4-FFF2-40B4-BE49-F238E27FC236}">
                <a16:creationId xmlns:a16="http://schemas.microsoft.com/office/drawing/2014/main" id="{B3C1F864-0D60-3B89-9619-0258C0D9E2DA}"/>
              </a:ext>
            </a:extLst>
          </p:cNvPr>
          <p:cNvSpPr txBox="1"/>
          <p:nvPr/>
        </p:nvSpPr>
        <p:spPr>
          <a:xfrm>
            <a:off x="531876" y="1130000"/>
            <a:ext cx="11128248" cy="566928"/>
          </a:xfrm>
          <a:prstGeom prst="rect">
            <a:avLst/>
          </a:prstGeom>
          <a:noFill/>
          <a:ln/>
        </p:spPr>
        <p:txBody>
          <a:bodyPr wrap="square" lIns="0" tIns="0" rIns="0" bIns="0" rtlCol="0" anchor="t"/>
          <a:lstStyle/>
          <a:p>
            <a:pPr marL="0" indent="0">
              <a:buNone/>
            </a:pPr>
            <a:r>
              <a:rPr lang="en-US" sz="1150" b="1">
                <a:solidFill>
                  <a:srgbClr val="000000"/>
                </a:solidFill>
                <a:ea typeface="Proxima Nova" pitchFamily="34" charset="-122"/>
                <a:cs typeface="Proxima Nova" pitchFamily="34" charset="-120"/>
              </a:rPr>
              <a:t>Why this one, now:</a:t>
            </a:r>
            <a:r>
              <a:rPr lang="en-US" sz="1150">
                <a:solidFill>
                  <a:srgbClr val="000000"/>
                </a:solidFill>
                <a:ea typeface="Proxima Nova" pitchFamily="34" charset="-122"/>
                <a:cs typeface="Proxima Nova" pitchFamily="34" charset="-120"/>
              </a:rPr>
              <a:t> By bringing SME expertise into upfront deal evaluation, we can increase our win rate on the deal volume we're already capturing. Quick execution is essential to drive Q4 and 2027 revenue.</a:t>
            </a:r>
            <a:endParaRPr lang="en-US" sz="1150">
              <a:solidFill>
                <a:srgbClr val="000000"/>
              </a:solidFill>
            </a:endParaRPr>
          </a:p>
        </p:txBody>
      </p:sp>
      <p:sp>
        <p:nvSpPr>
          <p:cNvPr id="14" name="PHASE 1 container">
            <a:extLst>
              <a:ext uri="{FF2B5EF4-FFF2-40B4-BE49-F238E27FC236}">
                <a16:creationId xmlns:a16="http://schemas.microsoft.com/office/drawing/2014/main" id="{96A56492-5046-1397-B6BC-81762F78E8E4}"/>
              </a:ext>
            </a:extLst>
          </p:cNvPr>
          <p:cNvSpPr/>
          <p:nvPr/>
        </p:nvSpPr>
        <p:spPr>
          <a:xfrm>
            <a:off x="531876" y="1788368"/>
            <a:ext cx="11128248" cy="1600200"/>
          </a:xfrm>
          <a:prstGeom prst="roundRect">
            <a:avLst>
              <a:gd name="adj" fmla="val 5714"/>
            </a:avLst>
          </a:prstGeom>
          <a:solidFill>
            <a:srgbClr val="D6D6DF"/>
          </a:solidFill>
          <a:ln>
            <a:noFill/>
          </a:ln>
        </p:spPr>
        <p:txBody>
          <a:bodyPr/>
          <a:lstStyle/>
          <a:p>
            <a:endParaRPr lang="en-US">
              <a:solidFill>
                <a:srgbClr val="000000"/>
              </a:solidFill>
            </a:endParaRPr>
          </a:p>
        </p:txBody>
      </p:sp>
      <p:sp>
        <p:nvSpPr>
          <p:cNvPr id="16" name="Pill PHASE 1">
            <a:extLst>
              <a:ext uri="{FF2B5EF4-FFF2-40B4-BE49-F238E27FC236}">
                <a16:creationId xmlns:a16="http://schemas.microsoft.com/office/drawing/2014/main" id="{4DFB43C3-7B46-7ECE-8EBE-D3B14D89C52A}"/>
              </a:ext>
            </a:extLst>
          </p:cNvPr>
          <p:cNvSpPr/>
          <p:nvPr/>
        </p:nvSpPr>
        <p:spPr>
          <a:xfrm>
            <a:off x="714756" y="1898096"/>
            <a:ext cx="1097280" cy="274320"/>
          </a:xfrm>
          <a:prstGeom prst="roundRect">
            <a:avLst>
              <a:gd name="adj" fmla="val 50000"/>
            </a:avLst>
          </a:prstGeom>
          <a:solidFill>
            <a:srgbClr val="000000"/>
          </a:solidFill>
          <a:ln/>
        </p:spPr>
        <p:txBody>
          <a:bodyPr/>
          <a:lstStyle/>
          <a:p>
            <a:endParaRPr lang="en-US">
              <a:solidFill>
                <a:srgbClr val="000000"/>
              </a:solidFill>
            </a:endParaRPr>
          </a:p>
        </p:txBody>
      </p:sp>
      <p:sp>
        <p:nvSpPr>
          <p:cNvPr id="18" name="Pill text">
            <a:extLst>
              <a:ext uri="{FF2B5EF4-FFF2-40B4-BE49-F238E27FC236}">
                <a16:creationId xmlns:a16="http://schemas.microsoft.com/office/drawing/2014/main" id="{6D39D60F-CF91-DD3E-0CF3-3DB115BF1F37}"/>
              </a:ext>
            </a:extLst>
          </p:cNvPr>
          <p:cNvSpPr txBox="1"/>
          <p:nvPr/>
        </p:nvSpPr>
        <p:spPr>
          <a:xfrm>
            <a:off x="714756" y="1898096"/>
            <a:ext cx="1097280" cy="274320"/>
          </a:xfrm>
          <a:prstGeom prst="rect">
            <a:avLst/>
          </a:prstGeom>
          <a:noFill/>
          <a:ln/>
        </p:spPr>
        <p:txBody>
          <a:bodyPr wrap="square" lIns="0" tIns="0" rIns="0" bIns="0" rtlCol="0" anchor="ctr"/>
          <a:lstStyle/>
          <a:p>
            <a:pPr marL="0" indent="0" algn="ctr">
              <a:buNone/>
            </a:pPr>
            <a:r>
              <a:rPr lang="en-US" sz="1000" b="1">
                <a:solidFill>
                  <a:srgbClr val="FFFFFF"/>
                </a:solidFill>
              </a:rPr>
              <a:t>PHASE 1</a:t>
            </a:r>
            <a:endParaRPr lang="en-US" sz="1000">
              <a:solidFill>
                <a:srgbClr val="000000"/>
              </a:solidFill>
            </a:endParaRPr>
          </a:p>
        </p:txBody>
      </p:sp>
      <p:sp>
        <p:nvSpPr>
          <p:cNvPr id="20" name="Phase title">
            <a:extLst>
              <a:ext uri="{FF2B5EF4-FFF2-40B4-BE49-F238E27FC236}">
                <a16:creationId xmlns:a16="http://schemas.microsoft.com/office/drawing/2014/main" id="{B0A0D345-EB7E-D2AB-38A9-ED3B8409EE60}"/>
              </a:ext>
            </a:extLst>
          </p:cNvPr>
          <p:cNvSpPr txBox="1"/>
          <p:nvPr/>
        </p:nvSpPr>
        <p:spPr>
          <a:xfrm>
            <a:off x="1967484" y="1879808"/>
            <a:ext cx="8686800" cy="310896"/>
          </a:xfrm>
          <a:prstGeom prst="rect">
            <a:avLst/>
          </a:prstGeom>
          <a:noFill/>
          <a:ln/>
        </p:spPr>
        <p:txBody>
          <a:bodyPr wrap="square" lIns="0" tIns="0" rIns="0" bIns="0" rtlCol="0" anchor="ctr"/>
          <a:lstStyle/>
          <a:p>
            <a:pPr marL="0" indent="0">
              <a:buNone/>
            </a:pPr>
            <a:r>
              <a:rPr lang="en-US" sz="1150" i="1">
                <a:solidFill>
                  <a:srgbClr val="000000"/>
                </a:solidFill>
              </a:rPr>
              <a:t>Planning and Discovery: Now – 10/30</a:t>
            </a:r>
            <a:endParaRPr lang="en-US" sz="1150">
              <a:solidFill>
                <a:srgbClr val="000000"/>
              </a:solidFill>
            </a:endParaRPr>
          </a:p>
        </p:txBody>
      </p:sp>
      <p:sp>
        <p:nvSpPr>
          <p:cNvPr id="22" name="Mini card Define Roles Needed">
            <a:extLst>
              <a:ext uri="{FF2B5EF4-FFF2-40B4-BE49-F238E27FC236}">
                <a16:creationId xmlns:a16="http://schemas.microsoft.com/office/drawing/2014/main" id="{F9714AFE-5FA2-19E1-A2C0-A77F9462767C}"/>
              </a:ext>
            </a:extLst>
          </p:cNvPr>
          <p:cNvSpPr/>
          <p:nvPr/>
        </p:nvSpPr>
        <p:spPr>
          <a:xfrm>
            <a:off x="714756" y="2291288"/>
            <a:ext cx="3496056" cy="960120"/>
          </a:xfrm>
          <a:prstGeom prst="roundRect">
            <a:avLst>
              <a:gd name="adj" fmla="val 7619"/>
            </a:avLst>
          </a:prstGeom>
          <a:solidFill>
            <a:srgbClr val="FFFFFF"/>
          </a:solidFill>
          <a:ln w="9525">
            <a:solidFill>
              <a:srgbClr val="D6D6DF"/>
            </a:solidFill>
          </a:ln>
          <a:effectLst>
            <a:outerShdw blurRad="190500" dist="50800" dir="5400000" algn="t" rotWithShape="0">
              <a:srgbClr val="000000">
                <a:alpha val="13000"/>
              </a:srgbClr>
            </a:outerShdw>
          </a:effectLst>
        </p:spPr>
        <p:txBody>
          <a:bodyPr/>
          <a:lstStyle/>
          <a:p>
            <a:endParaRPr lang="en-US">
              <a:solidFill>
                <a:srgbClr val="000000"/>
              </a:solidFill>
            </a:endParaRPr>
          </a:p>
        </p:txBody>
      </p:sp>
      <p:sp>
        <p:nvSpPr>
          <p:cNvPr id="24" name="Mini card title">
            <a:extLst>
              <a:ext uri="{FF2B5EF4-FFF2-40B4-BE49-F238E27FC236}">
                <a16:creationId xmlns:a16="http://schemas.microsoft.com/office/drawing/2014/main" id="{47123237-DB6B-1A3F-65B6-0CECABA0ADD3}"/>
              </a:ext>
            </a:extLst>
          </p:cNvPr>
          <p:cNvSpPr txBox="1"/>
          <p:nvPr/>
        </p:nvSpPr>
        <p:spPr>
          <a:xfrm>
            <a:off x="851916" y="2364440"/>
            <a:ext cx="3221736" cy="256032"/>
          </a:xfrm>
          <a:prstGeom prst="rect">
            <a:avLst/>
          </a:prstGeom>
          <a:noFill/>
          <a:ln/>
        </p:spPr>
        <p:txBody>
          <a:bodyPr wrap="square" lIns="0" tIns="0" rIns="0" bIns="0" rtlCol="0" anchor="t"/>
          <a:lstStyle/>
          <a:p>
            <a:pPr marL="0" indent="0">
              <a:buNone/>
            </a:pPr>
            <a:r>
              <a:rPr lang="en-US" sz="1200" b="1">
                <a:solidFill>
                  <a:srgbClr val="000000"/>
                </a:solidFill>
              </a:rPr>
              <a:t>Define Roles Needed</a:t>
            </a:r>
            <a:endParaRPr lang="en-US" sz="1200">
              <a:solidFill>
                <a:srgbClr val="000000"/>
              </a:solidFill>
            </a:endParaRPr>
          </a:p>
        </p:txBody>
      </p:sp>
      <p:sp>
        <p:nvSpPr>
          <p:cNvPr id="26" name="Mini card copy">
            <a:extLst>
              <a:ext uri="{FF2B5EF4-FFF2-40B4-BE49-F238E27FC236}">
                <a16:creationId xmlns:a16="http://schemas.microsoft.com/office/drawing/2014/main" id="{FF48DB7B-CB33-A084-67E2-FBF4AA329C61}"/>
              </a:ext>
            </a:extLst>
          </p:cNvPr>
          <p:cNvSpPr txBox="1"/>
          <p:nvPr/>
        </p:nvSpPr>
        <p:spPr>
          <a:xfrm>
            <a:off x="851916" y="2657048"/>
            <a:ext cx="3221736" cy="548640"/>
          </a:xfrm>
          <a:prstGeom prst="rect">
            <a:avLst/>
          </a:prstGeom>
          <a:noFill/>
          <a:ln/>
        </p:spPr>
        <p:txBody>
          <a:bodyPr wrap="square" lIns="0" tIns="0" rIns="0" bIns="0" rtlCol="0" anchor="t"/>
          <a:lstStyle/>
          <a:p>
            <a:pPr marL="0" indent="0">
              <a:buNone/>
            </a:pPr>
            <a:r>
              <a:rPr lang="en-US" sz="1050">
                <a:solidFill>
                  <a:srgbClr val="60607D"/>
                </a:solidFill>
              </a:rPr>
              <a:t>Determine the specific roles need for pursuit support (alliance partner, skillset) along with allocations, roles and responsibilities</a:t>
            </a:r>
            <a:endParaRPr lang="en-US" sz="1050">
              <a:solidFill>
                <a:srgbClr val="000000"/>
              </a:solidFill>
            </a:endParaRPr>
          </a:p>
        </p:txBody>
      </p:sp>
      <p:sp>
        <p:nvSpPr>
          <p:cNvPr id="28" name="Mini card Clarify if Internal or External Moves">
            <a:extLst>
              <a:ext uri="{FF2B5EF4-FFF2-40B4-BE49-F238E27FC236}">
                <a16:creationId xmlns:a16="http://schemas.microsoft.com/office/drawing/2014/main" id="{1AC41777-1D16-C47A-8685-6562BE8CBFFD}"/>
              </a:ext>
            </a:extLst>
          </p:cNvPr>
          <p:cNvSpPr/>
          <p:nvPr/>
        </p:nvSpPr>
        <p:spPr>
          <a:xfrm>
            <a:off x="4347972" y="2291288"/>
            <a:ext cx="3496056" cy="960120"/>
          </a:xfrm>
          <a:prstGeom prst="roundRect">
            <a:avLst>
              <a:gd name="adj" fmla="val 7619"/>
            </a:avLst>
          </a:prstGeom>
          <a:solidFill>
            <a:srgbClr val="FFFFFF"/>
          </a:solidFill>
          <a:ln w="9525">
            <a:solidFill>
              <a:srgbClr val="D6D6DF"/>
            </a:solidFill>
          </a:ln>
          <a:effectLst>
            <a:outerShdw blurRad="190500" dist="50800" dir="5400000" algn="t" rotWithShape="0">
              <a:srgbClr val="000000">
                <a:alpha val="13000"/>
              </a:srgbClr>
            </a:outerShdw>
          </a:effectLst>
        </p:spPr>
        <p:txBody>
          <a:bodyPr/>
          <a:lstStyle/>
          <a:p>
            <a:endParaRPr lang="en-US">
              <a:solidFill>
                <a:srgbClr val="000000"/>
              </a:solidFill>
            </a:endParaRPr>
          </a:p>
        </p:txBody>
      </p:sp>
      <p:sp>
        <p:nvSpPr>
          <p:cNvPr id="30" name="Mini card title">
            <a:extLst>
              <a:ext uri="{FF2B5EF4-FFF2-40B4-BE49-F238E27FC236}">
                <a16:creationId xmlns:a16="http://schemas.microsoft.com/office/drawing/2014/main" id="{41CAFCB1-FD49-C354-9FF8-8F704020BAA7}"/>
              </a:ext>
            </a:extLst>
          </p:cNvPr>
          <p:cNvSpPr txBox="1"/>
          <p:nvPr/>
        </p:nvSpPr>
        <p:spPr>
          <a:xfrm>
            <a:off x="4485132" y="2364440"/>
            <a:ext cx="3221736" cy="256032"/>
          </a:xfrm>
          <a:prstGeom prst="rect">
            <a:avLst/>
          </a:prstGeom>
          <a:noFill/>
          <a:ln/>
        </p:spPr>
        <p:txBody>
          <a:bodyPr wrap="square" lIns="0" tIns="0" rIns="0" bIns="0" rtlCol="0" anchor="t"/>
          <a:lstStyle/>
          <a:p>
            <a:pPr marL="0" indent="0">
              <a:buNone/>
            </a:pPr>
            <a:r>
              <a:rPr lang="en-US" sz="1200" b="1">
                <a:solidFill>
                  <a:srgbClr val="000000"/>
                </a:solidFill>
              </a:rPr>
              <a:t>Clarify if Internal or External Moves</a:t>
            </a:r>
            <a:endParaRPr lang="en-US" sz="1200">
              <a:solidFill>
                <a:srgbClr val="000000"/>
              </a:solidFill>
            </a:endParaRPr>
          </a:p>
        </p:txBody>
      </p:sp>
      <p:sp>
        <p:nvSpPr>
          <p:cNvPr id="32" name="Mini card copy">
            <a:extLst>
              <a:ext uri="{FF2B5EF4-FFF2-40B4-BE49-F238E27FC236}">
                <a16:creationId xmlns:a16="http://schemas.microsoft.com/office/drawing/2014/main" id="{C6C44C68-7B18-B0A1-3057-ED91DD42DCA8}"/>
              </a:ext>
            </a:extLst>
          </p:cNvPr>
          <p:cNvSpPr txBox="1"/>
          <p:nvPr/>
        </p:nvSpPr>
        <p:spPr>
          <a:xfrm>
            <a:off x="4485132" y="2657048"/>
            <a:ext cx="3221736" cy="548640"/>
          </a:xfrm>
          <a:prstGeom prst="rect">
            <a:avLst/>
          </a:prstGeom>
          <a:noFill/>
          <a:ln/>
        </p:spPr>
        <p:txBody>
          <a:bodyPr wrap="square" lIns="0" tIns="0" rIns="0" bIns="0" rtlCol="0" anchor="t"/>
          <a:lstStyle/>
          <a:p>
            <a:pPr marL="0" indent="0">
              <a:buNone/>
            </a:pPr>
            <a:r>
              <a:rPr lang="en-US" sz="1050">
                <a:solidFill>
                  <a:srgbClr val="60607D"/>
                </a:solidFill>
              </a:rPr>
              <a:t>Review existing team roster to see who can move to these new roles and where we need to hire</a:t>
            </a:r>
            <a:endParaRPr lang="en-US" sz="1050">
              <a:solidFill>
                <a:srgbClr val="000000"/>
              </a:solidFill>
            </a:endParaRPr>
          </a:p>
        </p:txBody>
      </p:sp>
      <p:sp>
        <p:nvSpPr>
          <p:cNvPr id="34" name="Mini card Update Existing Org Structure">
            <a:extLst>
              <a:ext uri="{FF2B5EF4-FFF2-40B4-BE49-F238E27FC236}">
                <a16:creationId xmlns:a16="http://schemas.microsoft.com/office/drawing/2014/main" id="{AC045B71-D7E2-0F91-187D-A2C1AEB5C91B}"/>
              </a:ext>
            </a:extLst>
          </p:cNvPr>
          <p:cNvSpPr/>
          <p:nvPr/>
        </p:nvSpPr>
        <p:spPr>
          <a:xfrm>
            <a:off x="7981188" y="2291288"/>
            <a:ext cx="3496056" cy="960120"/>
          </a:xfrm>
          <a:prstGeom prst="roundRect">
            <a:avLst>
              <a:gd name="adj" fmla="val 7619"/>
            </a:avLst>
          </a:prstGeom>
          <a:solidFill>
            <a:srgbClr val="FFFFFF"/>
          </a:solidFill>
          <a:ln w="9525">
            <a:solidFill>
              <a:srgbClr val="D6D6DF"/>
            </a:solidFill>
          </a:ln>
          <a:effectLst>
            <a:outerShdw blurRad="190500" dist="50800" dir="5400000" algn="t" rotWithShape="0">
              <a:srgbClr val="000000">
                <a:alpha val="13000"/>
              </a:srgbClr>
            </a:outerShdw>
          </a:effectLst>
        </p:spPr>
        <p:txBody>
          <a:bodyPr/>
          <a:lstStyle/>
          <a:p>
            <a:endParaRPr lang="en-US">
              <a:solidFill>
                <a:srgbClr val="000000"/>
              </a:solidFill>
            </a:endParaRPr>
          </a:p>
        </p:txBody>
      </p:sp>
      <p:sp>
        <p:nvSpPr>
          <p:cNvPr id="36" name="Mini card title">
            <a:extLst>
              <a:ext uri="{FF2B5EF4-FFF2-40B4-BE49-F238E27FC236}">
                <a16:creationId xmlns:a16="http://schemas.microsoft.com/office/drawing/2014/main" id="{8EE43C6C-8510-D18F-DC6B-0CDD88D03062}"/>
              </a:ext>
            </a:extLst>
          </p:cNvPr>
          <p:cNvSpPr txBox="1"/>
          <p:nvPr/>
        </p:nvSpPr>
        <p:spPr>
          <a:xfrm>
            <a:off x="8118348" y="2364440"/>
            <a:ext cx="3221736" cy="256032"/>
          </a:xfrm>
          <a:prstGeom prst="rect">
            <a:avLst/>
          </a:prstGeom>
          <a:noFill/>
          <a:ln/>
        </p:spPr>
        <p:txBody>
          <a:bodyPr wrap="square" lIns="0" tIns="0" rIns="0" bIns="0" rtlCol="0" anchor="t"/>
          <a:lstStyle/>
          <a:p>
            <a:pPr marL="0" indent="0">
              <a:buNone/>
            </a:pPr>
            <a:r>
              <a:rPr lang="en-US" sz="1200" b="1">
                <a:solidFill>
                  <a:srgbClr val="000000"/>
                </a:solidFill>
              </a:rPr>
              <a:t>Update Existing Org Structure</a:t>
            </a:r>
            <a:endParaRPr lang="en-US" sz="1200">
              <a:solidFill>
                <a:srgbClr val="000000"/>
              </a:solidFill>
            </a:endParaRPr>
          </a:p>
        </p:txBody>
      </p:sp>
      <p:sp>
        <p:nvSpPr>
          <p:cNvPr id="38" name="Mini card copy">
            <a:extLst>
              <a:ext uri="{FF2B5EF4-FFF2-40B4-BE49-F238E27FC236}">
                <a16:creationId xmlns:a16="http://schemas.microsoft.com/office/drawing/2014/main" id="{1A915109-976C-A471-02CD-DB5E1647F7E5}"/>
              </a:ext>
            </a:extLst>
          </p:cNvPr>
          <p:cNvSpPr txBox="1"/>
          <p:nvPr/>
        </p:nvSpPr>
        <p:spPr>
          <a:xfrm>
            <a:off x="8118348" y="2657048"/>
            <a:ext cx="3221736" cy="548640"/>
          </a:xfrm>
          <a:prstGeom prst="rect">
            <a:avLst/>
          </a:prstGeom>
          <a:noFill/>
          <a:ln/>
        </p:spPr>
        <p:txBody>
          <a:bodyPr wrap="square" lIns="0" tIns="0" rIns="0" bIns="0" rtlCol="0" anchor="t"/>
          <a:lstStyle/>
          <a:p>
            <a:pPr marL="0" indent="0">
              <a:buNone/>
            </a:pPr>
            <a:r>
              <a:rPr lang="en-US" sz="1050">
                <a:solidFill>
                  <a:srgbClr val="60607D"/>
                </a:solidFill>
              </a:rPr>
              <a:t>Update the existing org structure (as needed) to best support these roles and the pursuits</a:t>
            </a:r>
            <a:endParaRPr lang="en-US" sz="1050">
              <a:solidFill>
                <a:srgbClr val="000000"/>
              </a:solidFill>
            </a:endParaRPr>
          </a:p>
        </p:txBody>
      </p:sp>
      <p:sp>
        <p:nvSpPr>
          <p:cNvPr id="40" name="PHASE 2 container">
            <a:extLst>
              <a:ext uri="{FF2B5EF4-FFF2-40B4-BE49-F238E27FC236}">
                <a16:creationId xmlns:a16="http://schemas.microsoft.com/office/drawing/2014/main" id="{DA4FA586-E79A-4337-9606-B4D02C3C5413}"/>
              </a:ext>
            </a:extLst>
          </p:cNvPr>
          <p:cNvSpPr/>
          <p:nvPr/>
        </p:nvSpPr>
        <p:spPr>
          <a:xfrm>
            <a:off x="531876" y="3571448"/>
            <a:ext cx="11128248" cy="1508760"/>
          </a:xfrm>
          <a:prstGeom prst="roundRect">
            <a:avLst>
              <a:gd name="adj" fmla="val 6061"/>
            </a:avLst>
          </a:prstGeom>
          <a:solidFill>
            <a:srgbClr val="D6D6DF"/>
          </a:solidFill>
          <a:ln>
            <a:noFill/>
          </a:ln>
        </p:spPr>
        <p:txBody>
          <a:bodyPr/>
          <a:lstStyle/>
          <a:p>
            <a:endParaRPr lang="en-US">
              <a:solidFill>
                <a:srgbClr val="000000"/>
              </a:solidFill>
            </a:endParaRPr>
          </a:p>
        </p:txBody>
      </p:sp>
      <p:sp>
        <p:nvSpPr>
          <p:cNvPr id="42" name="Pill PHASE 2">
            <a:extLst>
              <a:ext uri="{FF2B5EF4-FFF2-40B4-BE49-F238E27FC236}">
                <a16:creationId xmlns:a16="http://schemas.microsoft.com/office/drawing/2014/main" id="{596E0DBE-FEBF-B509-4253-7691E30652E4}"/>
              </a:ext>
            </a:extLst>
          </p:cNvPr>
          <p:cNvSpPr/>
          <p:nvPr/>
        </p:nvSpPr>
        <p:spPr>
          <a:xfrm>
            <a:off x="714756" y="3681176"/>
            <a:ext cx="1097280" cy="274320"/>
          </a:xfrm>
          <a:prstGeom prst="roundRect">
            <a:avLst>
              <a:gd name="adj" fmla="val 50000"/>
            </a:avLst>
          </a:prstGeom>
          <a:solidFill>
            <a:srgbClr val="0391F2"/>
          </a:solidFill>
          <a:ln/>
        </p:spPr>
        <p:txBody>
          <a:bodyPr/>
          <a:lstStyle/>
          <a:p>
            <a:endParaRPr lang="en-US">
              <a:solidFill>
                <a:srgbClr val="000000"/>
              </a:solidFill>
            </a:endParaRPr>
          </a:p>
        </p:txBody>
      </p:sp>
      <p:sp>
        <p:nvSpPr>
          <p:cNvPr id="44" name="Pill text">
            <a:extLst>
              <a:ext uri="{FF2B5EF4-FFF2-40B4-BE49-F238E27FC236}">
                <a16:creationId xmlns:a16="http://schemas.microsoft.com/office/drawing/2014/main" id="{4E368858-6D3C-FFAE-436C-BF0FC70E000C}"/>
              </a:ext>
            </a:extLst>
          </p:cNvPr>
          <p:cNvSpPr txBox="1"/>
          <p:nvPr/>
        </p:nvSpPr>
        <p:spPr>
          <a:xfrm>
            <a:off x="714756" y="3681176"/>
            <a:ext cx="1097280" cy="274320"/>
          </a:xfrm>
          <a:prstGeom prst="rect">
            <a:avLst/>
          </a:prstGeom>
          <a:noFill/>
          <a:ln/>
        </p:spPr>
        <p:txBody>
          <a:bodyPr wrap="square" lIns="0" tIns="0" rIns="0" bIns="0" rtlCol="0" anchor="ctr"/>
          <a:lstStyle/>
          <a:p>
            <a:pPr marL="0" indent="0" algn="ctr">
              <a:buNone/>
            </a:pPr>
            <a:r>
              <a:rPr lang="en-US" sz="1000" b="1">
                <a:solidFill>
                  <a:srgbClr val="FFFFFF"/>
                </a:solidFill>
              </a:rPr>
              <a:t>PHASE 2</a:t>
            </a:r>
            <a:endParaRPr lang="en-US" sz="1000">
              <a:solidFill>
                <a:srgbClr val="000000"/>
              </a:solidFill>
            </a:endParaRPr>
          </a:p>
        </p:txBody>
      </p:sp>
      <p:sp>
        <p:nvSpPr>
          <p:cNvPr id="46" name="Phase title">
            <a:extLst>
              <a:ext uri="{FF2B5EF4-FFF2-40B4-BE49-F238E27FC236}">
                <a16:creationId xmlns:a16="http://schemas.microsoft.com/office/drawing/2014/main" id="{E8DDB32C-C949-8499-2BA2-40C72CD9D56F}"/>
              </a:ext>
            </a:extLst>
          </p:cNvPr>
          <p:cNvSpPr txBox="1"/>
          <p:nvPr/>
        </p:nvSpPr>
        <p:spPr>
          <a:xfrm>
            <a:off x="1967484" y="3662888"/>
            <a:ext cx="8686800" cy="310896"/>
          </a:xfrm>
          <a:prstGeom prst="rect">
            <a:avLst/>
          </a:prstGeom>
          <a:noFill/>
          <a:ln/>
        </p:spPr>
        <p:txBody>
          <a:bodyPr wrap="square" lIns="0" tIns="0" rIns="0" bIns="0" rtlCol="0" anchor="ctr"/>
          <a:lstStyle/>
          <a:p>
            <a:pPr marL="0" indent="0">
              <a:buNone/>
            </a:pPr>
            <a:r>
              <a:rPr lang="en-US" sz="1150" i="1">
                <a:solidFill>
                  <a:srgbClr val="0328D1"/>
                </a:solidFill>
              </a:rPr>
              <a:t>Execution on Changes: 11/2 – 12/24</a:t>
            </a:r>
            <a:endParaRPr lang="en-US" sz="1150">
              <a:solidFill>
                <a:srgbClr val="000000"/>
              </a:solidFill>
            </a:endParaRPr>
          </a:p>
        </p:txBody>
      </p:sp>
      <p:sp>
        <p:nvSpPr>
          <p:cNvPr id="48" name="Mini card Open Reqs">
            <a:extLst>
              <a:ext uri="{FF2B5EF4-FFF2-40B4-BE49-F238E27FC236}">
                <a16:creationId xmlns:a16="http://schemas.microsoft.com/office/drawing/2014/main" id="{DCD793D4-D8EB-85B2-8760-7A0569E08345}"/>
              </a:ext>
            </a:extLst>
          </p:cNvPr>
          <p:cNvSpPr/>
          <p:nvPr/>
        </p:nvSpPr>
        <p:spPr>
          <a:xfrm>
            <a:off x="714756" y="4074368"/>
            <a:ext cx="3496056" cy="868680"/>
          </a:xfrm>
          <a:prstGeom prst="roundRect">
            <a:avLst>
              <a:gd name="adj" fmla="val 8421"/>
            </a:avLst>
          </a:prstGeom>
          <a:solidFill>
            <a:srgbClr val="FFFFFF"/>
          </a:solidFill>
          <a:ln w="9525">
            <a:solidFill>
              <a:srgbClr val="D6D6DF"/>
            </a:solidFill>
          </a:ln>
          <a:effectLst>
            <a:outerShdw blurRad="190500" dist="50800" dir="5400000" algn="t" rotWithShape="0">
              <a:srgbClr val="000000">
                <a:alpha val="13000"/>
              </a:srgbClr>
            </a:outerShdw>
          </a:effectLst>
        </p:spPr>
        <p:txBody>
          <a:bodyPr/>
          <a:lstStyle/>
          <a:p>
            <a:endParaRPr lang="en-US">
              <a:solidFill>
                <a:srgbClr val="000000"/>
              </a:solidFill>
            </a:endParaRPr>
          </a:p>
        </p:txBody>
      </p:sp>
      <p:sp>
        <p:nvSpPr>
          <p:cNvPr id="50" name="Mini card title">
            <a:extLst>
              <a:ext uri="{FF2B5EF4-FFF2-40B4-BE49-F238E27FC236}">
                <a16:creationId xmlns:a16="http://schemas.microsoft.com/office/drawing/2014/main" id="{7F849520-948A-BF67-DE00-F78554623205}"/>
              </a:ext>
            </a:extLst>
          </p:cNvPr>
          <p:cNvSpPr txBox="1"/>
          <p:nvPr/>
        </p:nvSpPr>
        <p:spPr>
          <a:xfrm>
            <a:off x="851916" y="4147520"/>
            <a:ext cx="3221736" cy="256032"/>
          </a:xfrm>
          <a:prstGeom prst="rect">
            <a:avLst/>
          </a:prstGeom>
          <a:noFill/>
          <a:ln/>
        </p:spPr>
        <p:txBody>
          <a:bodyPr wrap="square" lIns="0" tIns="0" rIns="0" bIns="0" rtlCol="0" anchor="t"/>
          <a:lstStyle/>
          <a:p>
            <a:pPr marL="0" indent="0">
              <a:buNone/>
            </a:pPr>
            <a:r>
              <a:rPr lang="en-US" sz="1200" b="1">
                <a:solidFill>
                  <a:srgbClr val="000000"/>
                </a:solidFill>
              </a:rPr>
              <a:t>Open </a:t>
            </a:r>
            <a:r>
              <a:rPr lang="en-US" sz="1200" b="1" err="1">
                <a:solidFill>
                  <a:srgbClr val="000000"/>
                </a:solidFill>
              </a:rPr>
              <a:t>Reqs</a:t>
            </a:r>
            <a:endParaRPr lang="en-US" sz="1200">
              <a:solidFill>
                <a:srgbClr val="000000"/>
              </a:solidFill>
            </a:endParaRPr>
          </a:p>
        </p:txBody>
      </p:sp>
      <p:sp>
        <p:nvSpPr>
          <p:cNvPr id="52" name="Mini card copy">
            <a:extLst>
              <a:ext uri="{FF2B5EF4-FFF2-40B4-BE49-F238E27FC236}">
                <a16:creationId xmlns:a16="http://schemas.microsoft.com/office/drawing/2014/main" id="{AD51B235-1793-800F-6E6A-735E20A63D16}"/>
              </a:ext>
            </a:extLst>
          </p:cNvPr>
          <p:cNvSpPr txBox="1"/>
          <p:nvPr/>
        </p:nvSpPr>
        <p:spPr>
          <a:xfrm>
            <a:off x="851916" y="4440128"/>
            <a:ext cx="3221736" cy="457200"/>
          </a:xfrm>
          <a:prstGeom prst="rect">
            <a:avLst/>
          </a:prstGeom>
          <a:noFill/>
          <a:ln/>
        </p:spPr>
        <p:txBody>
          <a:bodyPr wrap="square" lIns="0" tIns="0" rIns="0" bIns="0" rtlCol="0" anchor="t"/>
          <a:lstStyle/>
          <a:p>
            <a:pPr marL="0" indent="0">
              <a:buNone/>
            </a:pPr>
            <a:r>
              <a:rPr lang="en-US" sz="1050">
                <a:solidFill>
                  <a:srgbClr val="60607D"/>
                </a:solidFill>
              </a:rPr>
              <a:t>Once aligned on the needs, prioritize needs and open </a:t>
            </a:r>
            <a:r>
              <a:rPr lang="en-US" sz="1050" err="1">
                <a:solidFill>
                  <a:srgbClr val="60607D"/>
                </a:solidFill>
              </a:rPr>
              <a:t>reqs</a:t>
            </a:r>
            <a:r>
              <a:rPr lang="en-US" sz="1050">
                <a:solidFill>
                  <a:srgbClr val="60607D"/>
                </a:solidFill>
              </a:rPr>
              <a:t> for the first set of new roles (or for backfills, if moving existing people into the new roles)</a:t>
            </a:r>
            <a:endParaRPr lang="en-US" sz="1050">
              <a:solidFill>
                <a:srgbClr val="000000"/>
              </a:solidFill>
            </a:endParaRPr>
          </a:p>
        </p:txBody>
      </p:sp>
      <p:sp>
        <p:nvSpPr>
          <p:cNvPr id="54" name="Mini card Create Transition Plan">
            <a:extLst>
              <a:ext uri="{FF2B5EF4-FFF2-40B4-BE49-F238E27FC236}">
                <a16:creationId xmlns:a16="http://schemas.microsoft.com/office/drawing/2014/main" id="{F2EF16A2-8BEA-3C41-6362-858299A12898}"/>
              </a:ext>
            </a:extLst>
          </p:cNvPr>
          <p:cNvSpPr/>
          <p:nvPr/>
        </p:nvSpPr>
        <p:spPr>
          <a:xfrm>
            <a:off x="4347972" y="4074368"/>
            <a:ext cx="3496056" cy="868680"/>
          </a:xfrm>
          <a:prstGeom prst="roundRect">
            <a:avLst>
              <a:gd name="adj" fmla="val 8421"/>
            </a:avLst>
          </a:prstGeom>
          <a:solidFill>
            <a:srgbClr val="FFFFFF"/>
          </a:solidFill>
          <a:ln w="9525">
            <a:solidFill>
              <a:srgbClr val="D6D6DF"/>
            </a:solidFill>
          </a:ln>
          <a:effectLst>
            <a:outerShdw blurRad="190500" dist="50800" dir="5400000" algn="t" rotWithShape="0">
              <a:srgbClr val="000000">
                <a:alpha val="13000"/>
              </a:srgbClr>
            </a:outerShdw>
          </a:effectLst>
        </p:spPr>
        <p:txBody>
          <a:bodyPr/>
          <a:lstStyle/>
          <a:p>
            <a:endParaRPr lang="en-US">
              <a:solidFill>
                <a:srgbClr val="000000"/>
              </a:solidFill>
            </a:endParaRPr>
          </a:p>
        </p:txBody>
      </p:sp>
      <p:sp>
        <p:nvSpPr>
          <p:cNvPr id="56" name="Mini card title">
            <a:extLst>
              <a:ext uri="{FF2B5EF4-FFF2-40B4-BE49-F238E27FC236}">
                <a16:creationId xmlns:a16="http://schemas.microsoft.com/office/drawing/2014/main" id="{6AA312AD-CA39-3AF9-3B2A-88B22D62A70F}"/>
              </a:ext>
            </a:extLst>
          </p:cNvPr>
          <p:cNvSpPr txBox="1"/>
          <p:nvPr/>
        </p:nvSpPr>
        <p:spPr>
          <a:xfrm>
            <a:off x="4485132" y="4147520"/>
            <a:ext cx="3221736" cy="256032"/>
          </a:xfrm>
          <a:prstGeom prst="rect">
            <a:avLst/>
          </a:prstGeom>
          <a:noFill/>
          <a:ln/>
        </p:spPr>
        <p:txBody>
          <a:bodyPr wrap="square" lIns="0" tIns="0" rIns="0" bIns="0" rtlCol="0" anchor="t"/>
          <a:lstStyle/>
          <a:p>
            <a:pPr marL="0" indent="0">
              <a:buNone/>
            </a:pPr>
            <a:r>
              <a:rPr lang="en-US" sz="1200" b="1">
                <a:solidFill>
                  <a:srgbClr val="000000"/>
                </a:solidFill>
              </a:rPr>
              <a:t>Create Transition Plan</a:t>
            </a:r>
            <a:endParaRPr lang="en-US" sz="1200">
              <a:solidFill>
                <a:srgbClr val="000000"/>
              </a:solidFill>
            </a:endParaRPr>
          </a:p>
        </p:txBody>
      </p:sp>
      <p:sp>
        <p:nvSpPr>
          <p:cNvPr id="58" name="Mini card copy">
            <a:extLst>
              <a:ext uri="{FF2B5EF4-FFF2-40B4-BE49-F238E27FC236}">
                <a16:creationId xmlns:a16="http://schemas.microsoft.com/office/drawing/2014/main" id="{396EF6F8-D00F-6CCC-13A6-071E81BAD2BF}"/>
              </a:ext>
            </a:extLst>
          </p:cNvPr>
          <p:cNvSpPr txBox="1"/>
          <p:nvPr/>
        </p:nvSpPr>
        <p:spPr>
          <a:xfrm>
            <a:off x="4485132" y="4440128"/>
            <a:ext cx="3221736" cy="457200"/>
          </a:xfrm>
          <a:prstGeom prst="rect">
            <a:avLst/>
          </a:prstGeom>
          <a:noFill/>
          <a:ln/>
        </p:spPr>
        <p:txBody>
          <a:bodyPr wrap="square" lIns="0" tIns="0" rIns="0" bIns="0" rtlCol="0" anchor="t"/>
          <a:lstStyle/>
          <a:p>
            <a:pPr marL="0" indent="0">
              <a:buNone/>
            </a:pPr>
            <a:r>
              <a:rPr lang="en-US" sz="1050">
                <a:solidFill>
                  <a:srgbClr val="60607D"/>
                </a:solidFill>
              </a:rPr>
              <a:t>Identify any accounts that need to move to allow people to switch to a new role and create a 30/60 day transition plan</a:t>
            </a:r>
            <a:endParaRPr lang="en-US" sz="1050">
              <a:solidFill>
                <a:srgbClr val="000000"/>
              </a:solidFill>
            </a:endParaRPr>
          </a:p>
        </p:txBody>
      </p:sp>
      <p:sp>
        <p:nvSpPr>
          <p:cNvPr id="60" name="Key takeaway box">
            <a:extLst>
              <a:ext uri="{FF2B5EF4-FFF2-40B4-BE49-F238E27FC236}">
                <a16:creationId xmlns:a16="http://schemas.microsoft.com/office/drawing/2014/main" id="{A7D29A7C-D852-F3C0-D663-B87DF414991C}"/>
              </a:ext>
            </a:extLst>
          </p:cNvPr>
          <p:cNvSpPr/>
          <p:nvPr/>
        </p:nvSpPr>
        <p:spPr>
          <a:xfrm>
            <a:off x="531876" y="5217368"/>
            <a:ext cx="11128248" cy="822960"/>
          </a:xfrm>
          <a:prstGeom prst="roundRect">
            <a:avLst>
              <a:gd name="adj" fmla="val 11111"/>
            </a:avLst>
          </a:prstGeom>
          <a:solidFill>
            <a:srgbClr val="000000"/>
          </a:solidFill>
          <a:ln/>
        </p:spPr>
        <p:txBody>
          <a:bodyPr/>
          <a:lstStyle/>
          <a:p>
            <a:endParaRPr lang="en-US">
              <a:solidFill>
                <a:srgbClr val="000000"/>
              </a:solidFill>
            </a:endParaRPr>
          </a:p>
        </p:txBody>
      </p:sp>
      <p:sp>
        <p:nvSpPr>
          <p:cNvPr id="62" name="Key takeaway">
            <a:extLst>
              <a:ext uri="{FF2B5EF4-FFF2-40B4-BE49-F238E27FC236}">
                <a16:creationId xmlns:a16="http://schemas.microsoft.com/office/drawing/2014/main" id="{B54D5A8B-1B96-C5F5-30B5-D3781036AA33}"/>
              </a:ext>
            </a:extLst>
          </p:cNvPr>
          <p:cNvSpPr txBox="1"/>
          <p:nvPr/>
        </p:nvSpPr>
        <p:spPr>
          <a:xfrm>
            <a:off x="760476" y="5217368"/>
            <a:ext cx="10671048" cy="822960"/>
          </a:xfrm>
          <a:prstGeom prst="rect">
            <a:avLst/>
          </a:prstGeom>
          <a:noFill/>
          <a:ln/>
        </p:spPr>
        <p:txBody>
          <a:bodyPr wrap="square" lIns="0" tIns="0" rIns="0" bIns="0" rtlCol="0" anchor="ctr"/>
          <a:lstStyle/>
          <a:p>
            <a:pPr marL="0" indent="0">
              <a:buNone/>
            </a:pPr>
            <a:r>
              <a:rPr lang="en-US" sz="1100" b="1">
                <a:solidFill>
                  <a:srgbClr val="0391F2"/>
                </a:solidFill>
                <a:ea typeface="Proxima Nova" pitchFamily="34" charset="-122"/>
                <a:cs typeface="Proxima Nova" pitchFamily="34" charset="-120"/>
              </a:rPr>
              <a:t>The Key Takeaway: </a:t>
            </a:r>
            <a:r>
              <a:rPr lang="en-US" sz="1100">
                <a:solidFill>
                  <a:srgbClr val="FFFFFF"/>
                </a:solidFill>
                <a:ea typeface="Proxima Nova" pitchFamily="34" charset="-122"/>
                <a:cs typeface="Proxima Nova" pitchFamily="34" charset="-120"/>
              </a:rPr>
              <a:t>Without clear roles tied to supporting pitch and pursuit, we continue to pull delivery resources that are fully allocated into conversations that they can't give the appropriate attention to. This will continue to be a problem until we get the right skillsets with the right availability identified and in place.</a:t>
            </a:r>
            <a:endParaRPr lang="en-US" sz="1100">
              <a:solidFill>
                <a:srgbClr val="000000"/>
              </a:solidFill>
            </a:endParaRPr>
          </a:p>
        </p:txBody>
      </p:sp>
    </p:spTree>
    <p:extLst>
      <p:ext uri="{BB962C8B-B14F-4D97-AF65-F5344CB8AC3E}">
        <p14:creationId xmlns:p14="http://schemas.microsoft.com/office/powerpoint/2010/main" val="19050986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pic>
        <p:nvPicPr>
          <p:cNvPr id="5" name="Picture 4" descr="f_hero_library.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endParaRPr/>
          </a:p>
        </p:txBody>
      </p:sp>
      <p:sp>
        <p:nvSpPr>
          <p:cNvPr id="3" name="Title 2"/>
          <p:cNvSpPr>
            <a:spLocks noGrp="1"/>
          </p:cNvSpPr>
          <p:nvPr>
            <p:ph type="title"/>
          </p:nvPr>
        </p:nvSpPr>
        <p:spPr>
          <a:xfrm>
            <a:off x="457200" y="300000"/>
            <a:ext cx="8000000" cy="560000"/>
          </a:xfrm>
        </p:spPr>
        <p:txBody>
          <a:bodyPr/>
          <a:lstStyle/>
          <a:p>
            <a:r>
              <a:rPr sz="2200">
                <a:solidFill>
                  <a:srgbClr val="FFFFFF"/>
                </a:solidFill>
              </a:rPr>
              <a:t>Images: Earlier Delivery &amp; Talent in Pursuits</a:t>
            </a:r>
          </a:p>
        </p:txBody>
      </p:sp>
      <p:sp>
        <p:nvSpPr>
          <p:cNvPr id="4" name="Text Placeholder 3"/>
          <p:cNvSpPr>
            <a:spLocks noGrp="1"/>
          </p:cNvSpPr>
          <p:nvPr>
            <p:ph type="body" sz="quarter" idx="12"/>
          </p:nvPr>
        </p:nvSpPr>
        <p:spPr>
          <a:xfrm>
            <a:off x="457200" y="170000"/>
            <a:ext cx="8000000" cy="182880"/>
          </a:xfrm>
        </p:spPr>
        <p:txBody>
          <a:bodyPr/>
          <a:lstStyle/>
          <a:p>
            <a:r>
              <a:rPr>
                <a:solidFill>
                  <a:srgbClr val="0391F2"/>
                </a:solidFill>
              </a:rPr>
              <a:t>HIDDEN SLIDE · IMAGES FOR THIS PRIORITY</a:t>
            </a:r>
          </a:p>
        </p:txBody>
      </p:sp>
      <p:sp>
        <p:nvSpPr>
          <p:cNvPr id="7" name="TextBox 6"/>
          <p:cNvSpPr txBox="1"/>
          <p:nvPr/>
        </p:nvSpPr>
        <p:spPr>
          <a:xfrm>
            <a:off x="457200" y="1150000"/>
            <a:ext cx="11277600" cy="411480"/>
          </a:xfrm>
          <a:prstGeom prst="rect">
            <a:avLst/>
          </a:prstGeom>
          <a:noFill/>
        </p:spPr>
        <p:txBody>
          <a:bodyPr wrap="square" lIns="0" rIns="0" tIns="0" bIns="0">
            <a:spAutoFit/>
          </a:bodyPr>
          <a:lstStyle/>
          <a:p>
            <a:r>
              <a:rPr sz="1100" b="0" i="0">
                <a:solidFill>
                  <a:srgbClr val="000000"/>
                </a:solidFill>
              </a:rPr>
              <a:t>One image for this priority. Use it on every slide of the priority: the divider, the header band, the update panel, and any split image or banner in a detail slide. This slide is hidden: it does not show when presenting.</a:t>
            </a:r>
          </a:p>
        </p:txBody>
      </p:sp>
      <p:sp>
        <p:nvSpPr>
          <p:cNvPr id="8" name="TextBox 7"/>
          <p:cNvSpPr txBox="1"/>
          <p:nvPr/>
        </p:nvSpPr>
        <p:spPr>
          <a:xfrm>
            <a:off x="457200" y="1627200"/>
            <a:ext cx="3474720" cy="201168"/>
          </a:xfrm>
          <a:prstGeom prst="rect">
            <a:avLst/>
          </a:prstGeom>
          <a:noFill/>
        </p:spPr>
        <p:txBody>
          <a:bodyPr wrap="square" lIns="0" rIns="0" tIns="0" bIns="0">
            <a:spAutoFit/>
          </a:bodyPr>
          <a:lstStyle/>
          <a:p>
            <a:r>
              <a:rPr sz="850" b="1" i="0" cap="all" spc="100">
                <a:solidFill>
                  <a:srgbClr val="60607D"/>
                </a:solidFill>
              </a:rPr>
              <a:t>Source image</a:t>
            </a:r>
          </a:p>
        </p:txBody>
      </p:sp>
      <p:pic>
        <p:nvPicPr>
          <p:cNvPr id="9" name="Picture 8" descr="f_img2_early_Sour.jpg"/>
          <p:cNvPicPr>
            <a:picLocks noChangeAspect="1"/>
          </p:cNvPicPr>
          <p:nvPr/>
        </p:nvPicPr>
        <p:blipFill>
          <a:blip r:embed="rId7"/>
          <a:stretch>
            <a:fillRect/>
          </a:stretch>
        </p:blipFill>
        <p:spPr>
          <a:xfrm>
            <a:off x="457200" y="1864944"/>
            <a:ext cx="3017520" cy="1828800"/>
          </a:xfrm>
          <a:prstGeom prst="rect">
            <a:avLst/>
          </a:prstGeom>
        </p:spPr>
      </p:pic>
      <p:sp>
        <p:nvSpPr>
          <p:cNvPr id="10" name="TextBox 9"/>
          <p:cNvSpPr txBox="1"/>
          <p:nvPr/>
        </p:nvSpPr>
        <p:spPr>
          <a:xfrm>
            <a:off x="3794760" y="1627200"/>
            <a:ext cx="3703320" cy="201168"/>
          </a:xfrm>
          <a:prstGeom prst="rect">
            <a:avLst/>
          </a:prstGeom>
          <a:noFill/>
        </p:spPr>
        <p:txBody>
          <a:bodyPr wrap="square" lIns="0" rIns="0" tIns="0" bIns="0">
            <a:spAutoFit/>
          </a:bodyPr>
          <a:lstStyle/>
          <a:p>
            <a:r>
              <a:rPr sz="850" b="1" i="0" cap="all" spc="100">
                <a:solidFill>
                  <a:srgbClr val="60607D"/>
                </a:solidFill>
              </a:rPr>
              <a:t>Divider</a:t>
            </a:r>
          </a:p>
        </p:txBody>
      </p:sp>
      <p:pic>
        <p:nvPicPr>
          <p:cNvPr id="11" name="Picture 10" descr="image.jpg"/>
          <p:cNvPicPr>
            <a:picLocks noChangeAspect="1"/>
          </p:cNvPicPr>
          <p:nvPr/>
        </p:nvPicPr>
        <p:blipFill>
          <a:blip r:embed="rId4"/>
          <a:stretch>
            <a:fillRect/>
          </a:stretch>
        </p:blipFill>
        <p:spPr>
          <a:xfrm>
            <a:off x="3794760" y="1864944"/>
            <a:ext cx="3246120" cy="1828800"/>
          </a:xfrm>
          <a:prstGeom prst="rect">
            <a:avLst/>
          </a:prstGeom>
        </p:spPr>
      </p:pic>
      <p:sp>
        <p:nvSpPr>
          <p:cNvPr id="12" name="TextBox 11"/>
          <p:cNvSpPr txBox="1"/>
          <p:nvPr/>
        </p:nvSpPr>
        <p:spPr>
          <a:xfrm>
            <a:off x="7360920" y="1627200"/>
            <a:ext cx="1435608" cy="201168"/>
          </a:xfrm>
          <a:prstGeom prst="rect">
            <a:avLst/>
          </a:prstGeom>
          <a:noFill/>
        </p:spPr>
        <p:txBody>
          <a:bodyPr wrap="square" lIns="0" rIns="0" tIns="0" bIns="0">
            <a:spAutoFit/>
          </a:bodyPr>
          <a:lstStyle/>
          <a:p>
            <a:r>
              <a:rPr sz="850" b="1" i="0" cap="all" spc="100">
                <a:solidFill>
                  <a:srgbClr val="60607D"/>
                </a:solidFill>
              </a:rPr>
              <a:t>Split image</a:t>
            </a:r>
          </a:p>
        </p:txBody>
      </p:sp>
      <p:pic>
        <p:nvPicPr>
          <p:cNvPr id="13" name="Picture 12" descr="f_img2_early_Spli.jpg"/>
          <p:cNvPicPr>
            <a:picLocks noChangeAspect="1"/>
          </p:cNvPicPr>
          <p:nvPr/>
        </p:nvPicPr>
        <p:blipFill>
          <a:blip r:embed="rId8"/>
          <a:stretch>
            <a:fillRect/>
          </a:stretch>
        </p:blipFill>
        <p:spPr>
          <a:xfrm>
            <a:off x="7360920" y="1864944"/>
            <a:ext cx="978408" cy="1828800"/>
          </a:xfrm>
          <a:prstGeom prst="rect">
            <a:avLst/>
          </a:prstGeom>
        </p:spPr>
      </p:pic>
      <p:sp>
        <p:nvSpPr>
          <p:cNvPr id="14" name="TextBox 13"/>
          <p:cNvSpPr txBox="1"/>
          <p:nvPr/>
        </p:nvSpPr>
        <p:spPr>
          <a:xfrm>
            <a:off x="8659368" y="1627200"/>
            <a:ext cx="1408176" cy="201168"/>
          </a:xfrm>
          <a:prstGeom prst="rect">
            <a:avLst/>
          </a:prstGeom>
          <a:noFill/>
        </p:spPr>
        <p:txBody>
          <a:bodyPr wrap="square" lIns="0" rIns="0" tIns="0" bIns="0">
            <a:spAutoFit/>
          </a:bodyPr>
          <a:lstStyle/>
          <a:p>
            <a:r>
              <a:rPr sz="850" b="1" i="0" cap="all" spc="100">
                <a:solidFill>
                  <a:srgbClr val="60607D"/>
                </a:solidFill>
              </a:rPr>
              <a:t>Update panel</a:t>
            </a:r>
          </a:p>
        </p:txBody>
      </p:sp>
      <p:pic>
        <p:nvPicPr>
          <p:cNvPr id="15" name="Picture 14" descr="image.jpg"/>
          <p:cNvPicPr>
            <a:picLocks noChangeAspect="1"/>
          </p:cNvPicPr>
          <p:nvPr/>
        </p:nvPicPr>
        <p:blipFill>
          <a:blip r:embed="rId5"/>
          <a:stretch>
            <a:fillRect/>
          </a:stretch>
        </p:blipFill>
        <p:spPr>
          <a:xfrm>
            <a:off x="8659368" y="1864944"/>
            <a:ext cx="950976" cy="1828800"/>
          </a:xfrm>
          <a:prstGeom prst="rect">
            <a:avLst/>
          </a:prstGeom>
        </p:spPr>
      </p:pic>
      <p:sp>
        <p:nvSpPr>
          <p:cNvPr id="16" name="TextBox 15"/>
          <p:cNvSpPr txBox="1"/>
          <p:nvPr/>
        </p:nvSpPr>
        <p:spPr>
          <a:xfrm>
            <a:off x="457200" y="3922344"/>
            <a:ext cx="2743200" cy="201168"/>
          </a:xfrm>
          <a:prstGeom prst="rect">
            <a:avLst/>
          </a:prstGeom>
          <a:noFill/>
        </p:spPr>
        <p:txBody>
          <a:bodyPr wrap="square" lIns="0" rIns="0" tIns="0" bIns="0">
            <a:spAutoFit/>
          </a:bodyPr>
          <a:lstStyle/>
          <a:p>
            <a:r>
              <a:rPr sz="850" b="1" i="0" cap="all" spc="100">
                <a:solidFill>
                  <a:srgbClr val="60607D"/>
                </a:solidFill>
              </a:rPr>
              <a:t>Header band</a:t>
            </a:r>
          </a:p>
        </p:txBody>
      </p:sp>
      <p:pic>
        <p:nvPicPr>
          <p:cNvPr id="17" name="Picture 16" descr="image.jpg"/>
          <p:cNvPicPr>
            <a:picLocks noChangeAspect="1"/>
          </p:cNvPicPr>
          <p:nvPr/>
        </p:nvPicPr>
        <p:blipFill>
          <a:blip r:embed="rId6"/>
          <a:stretch>
            <a:fillRect/>
          </a:stretch>
        </p:blipFill>
        <p:spPr>
          <a:xfrm>
            <a:off x="457200" y="4160088"/>
            <a:ext cx="6035040" cy="495000"/>
          </a:xfrm>
          <a:prstGeom prst="rect">
            <a:avLst/>
          </a:prstGeom>
        </p:spPr>
      </p:pic>
      <p:sp>
        <p:nvSpPr>
          <p:cNvPr id="18" name="TextBox 17"/>
          <p:cNvSpPr txBox="1"/>
          <p:nvPr/>
        </p:nvSpPr>
        <p:spPr>
          <a:xfrm>
            <a:off x="6949440" y="3922344"/>
            <a:ext cx="2743200" cy="201168"/>
          </a:xfrm>
          <a:prstGeom prst="rect">
            <a:avLst/>
          </a:prstGeom>
          <a:noFill/>
        </p:spPr>
        <p:txBody>
          <a:bodyPr wrap="square" lIns="0" rIns="0" tIns="0" bIns="0">
            <a:spAutoFit/>
          </a:bodyPr>
          <a:lstStyle/>
          <a:p>
            <a:r>
              <a:rPr sz="850" b="1" i="0" cap="all" spc="100">
                <a:solidFill>
                  <a:srgbClr val="60607D"/>
                </a:solidFill>
              </a:rPr>
              <a:t>Banner (flow with banner)</a:t>
            </a:r>
          </a:p>
        </p:txBody>
      </p:sp>
      <p:sp>
        <p:nvSpPr>
          <p:cNvPr id="19" name="TextBox 18"/>
          <p:cNvSpPr txBox="1"/>
          <p:nvPr/>
        </p:nvSpPr>
        <p:spPr>
          <a:xfrm>
            <a:off x="457200" y="5385384"/>
            <a:ext cx="11277600" cy="548640"/>
          </a:xfrm>
          <a:prstGeom prst="rect">
            <a:avLst/>
          </a:prstGeom>
          <a:noFill/>
        </p:spPr>
        <p:txBody>
          <a:bodyPr wrap="square" lIns="0" rIns="0" tIns="0" bIns="0">
            <a:spAutoFit/>
          </a:bodyPr>
          <a:lstStyle/>
          <a:p>
            <a:r>
              <a:rPr sz="1050" b="0" i="0">
                <a:solidFill>
                  <a:srgbClr val="60607D"/>
                </a:solidFill>
              </a:rPr>
              <a:t>Split image (full height): used by Split with points, Image and two phases, Six blocks and a takeaway, and Goal and three pillars. Banner: used by Flow with banner. Divider, header band and update panel: used on every slide in this priority.</a:t>
            </a:r>
          </a:p>
        </p:txBody>
      </p:sp>
      <p:pic>
        <p:nvPicPr>
          <p:cNvPr id="20" name="Picture 19" descr="f_img2_early_ban.jpg"/>
          <p:cNvPicPr>
            <a:picLocks noChangeAspect="1"/>
          </p:cNvPicPr>
          <p:nvPr/>
        </p:nvPicPr>
        <p:blipFill>
          <a:blip r:embed="rId9"/>
          <a:stretch>
            <a:fillRect/>
          </a:stretch>
        </p:blipFill>
        <p:spPr>
          <a:xfrm>
            <a:off x="6949440" y="4160088"/>
            <a:ext cx="4480560" cy="933450"/>
          </a:xfrm>
          <a:prstGeom prst="rect">
            <a:avLst/>
          </a:prstGeom>
        </p:spPr>
      </p:pic>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icture 3" descr="f_imgs_acc_Div.jpg"/>
          <p:cNvPicPr>
            <a:picLocks noChangeAspect="1"/>
          </p:cNvPicPr>
          <p:nvPr/>
        </p:nvPicPr>
        <p:blipFill>
          <a:blip r:embed="rId2"/>
          <a:stretch>
            <a:fillRect/>
          </a:stretch>
        </p:blipFill>
        <p:spPr>
          <a:xfrm>
            <a:off x="0" y="0"/>
            <a:ext cx="12192000" cy="6858000"/>
          </a:xfrm>
          <a:prstGeom prst="rect">
            <a:avLst/>
          </a:prstGeom>
        </p:spPr>
      </p:pic>
      <p:sp>
        <p:nvSpPr>
          <p:cNvPr id="5" name="Rectangle 4"/>
          <p:cNvSpPr/>
          <p:nvPr/>
        </p:nvSpPr>
        <p:spPr>
          <a:xfrm>
            <a:off x="0" y="0"/>
            <a:ext cx="12192000" cy="6858000"/>
          </a:xfrm>
          <a:prstGeom prst="rect">
            <a:avLst/>
          </a:prstGeom>
          <a:gradFill rotWithShape="1">
            <a:gsLst>
              <a:gs pos="0">
                <a:srgbClr val="000000">
                  <a:alpha val="90000"/>
                </a:srgbClr>
              </a:gs>
              <a:gs pos="42000">
                <a:srgbClr val="000000">
                  <a:alpha val="58000"/>
                </a:srgbClr>
              </a:gs>
              <a:gs pos="100000">
                <a:srgbClr val="000000">
                  <a:alpha val="26000"/>
                </a:srgbClr>
              </a:gs>
            </a:gsLst>
            <a:lin ang="0" scaled="0"/>
          </a:gradFill>
          <a:ln>
            <a:noFill/>
          </a:ln>
        </p:spPr>
        <p:txBody>
          <a:bodyPr rtlCol="0" anchor="ctr"/>
          <a:lstStyle/>
          <a:p>
            <a:pPr algn="ctr"/>
          </a:p>
        </p:txBody>
      </p:sp>
      <p:sp>
        <p:nvSpPr>
          <p:cNvPr id="6" name="Rectangle 5"/>
          <p:cNvSpPr/>
          <p:nvPr/>
        </p:nvSpPr>
        <p:spPr>
          <a:xfrm>
            <a:off x="0" y="0"/>
            <a:ext cx="12192000" cy="6858000"/>
          </a:xfrm>
          <a:prstGeom prst="rect">
            <a:avLst/>
          </a:prstGeom>
          <a:gradFill rotWithShape="1">
            <a:gsLst>
              <a:gs pos="0">
                <a:srgbClr val="000000">
                  <a:alpha val="0"/>
                </a:srgbClr>
              </a:gs>
              <a:gs pos="45000">
                <a:srgbClr val="000000">
                  <a:alpha val="10000"/>
                </a:srgbClr>
              </a:gs>
              <a:gs pos="100000">
                <a:srgbClr val="000000">
                  <a:alpha val="58000"/>
                </a:srgbClr>
              </a:gs>
            </a:gsLst>
            <a:lin ang="5400000" scaled="0"/>
          </a:gradFill>
          <a:ln>
            <a:noFill/>
          </a:ln>
        </p:spPr>
        <p:txBody>
          <a:bodyPr rtlCol="0" anchor="ctr"/>
          <a:lstStyle/>
          <a:p>
            <a:pPr algn="ctr"/>
          </a:p>
        </p:txBody>
      </p:sp>
      <p:sp>
        <p:nvSpPr>
          <p:cNvPr id="8" name="Rounded Rectangle 7"/>
          <p:cNvSpPr/>
          <p:nvPr/>
        </p:nvSpPr>
        <p:spPr>
          <a:xfrm>
            <a:off x="640080" y="685800"/>
            <a:ext cx="6583680" cy="2431135"/>
          </a:xfrm>
          <a:prstGeom prst="roundRect">
            <a:avLst>
              <a:gd name="adj" fmla="val 2500"/>
            </a:avLst>
          </a:prstGeom>
          <a:solidFill>
            <a:srgbClr val="000000">
              <a:alpha val="62000"/>
            </a:srgbClr>
          </a:solidFill>
          <a:ln>
            <a:noFill/>
          </a:ln>
        </p:spPr>
        <p:txBody>
          <a:bodyPr rtlCol="0" anchor="ctr"/>
          <a:lstStyle/>
          <a:p>
            <a:pPr algn="ctr"/>
          </a:p>
        </p:txBody>
      </p:sp>
      <p:sp>
        <p:nvSpPr>
          <p:cNvPr id="2" name="Title 1"/>
          <p:cNvSpPr>
            <a:spLocks noGrp="1"/>
          </p:cNvSpPr>
          <p:nvPr>
            <p:ph type="title"/>
          </p:nvPr>
        </p:nvSpPr>
        <p:spPr>
          <a:xfrm>
            <a:off x="914400" y="1316736"/>
            <a:ext cx="6400800" cy="2194560"/>
          </a:xfrm>
        </p:spPr>
        <p:txBody>
          <a:bodyPr anchor="t"/>
          <a:lstStyle/>
          <a:p>
            <a:r>
              <a:rPr sz="5400"/>
              <a:t>[Priority name]</a:t>
            </a:r>
          </a:p>
        </p:txBody>
      </p:sp>
      <p:sp>
        <p:nvSpPr>
          <p:cNvPr id="3" name="Text Placeholder 2"/>
          <p:cNvSpPr>
            <a:spLocks noGrp="1"/>
          </p:cNvSpPr>
          <p:nvPr>
            <p:ph type="body" idx="15" sz="quarter"/>
          </p:nvPr>
        </p:nvSpPr>
        <p:spPr>
          <a:xfrm>
            <a:off x="914400" y="914400"/>
            <a:ext cx="6400800" cy="292608"/>
          </a:xfrm>
        </p:spPr>
        <p:txBody>
          <a:bodyPr/>
          <a:lstStyle/>
          <a:p>
            <a:r>
              <a:t>OPS PRIORITIES</a:t>
            </a:r>
          </a:p>
        </p:txBody>
      </p:sp>
      <p:sp>
        <p:nvSpPr>
          <p:cNvPr id="7" name="TextBox 6"/>
          <p:cNvSpPr txBox="1"/>
          <p:nvPr/>
        </p:nvSpPr>
        <p:spPr>
          <a:xfrm>
            <a:off x="914400" y="2339695"/>
            <a:ext cx="5943600" cy="548640"/>
          </a:xfrm>
          <a:prstGeom prst="rect">
            <a:avLst/>
          </a:prstGeom>
          <a:noFill/>
        </p:spPr>
        <p:txBody>
          <a:bodyPr wrap="square" lIns="0" rIns="0" tIns="0" bIns="0" anchor="t">
            <a:spAutoFit/>
          </a:bodyPr>
          <a:lstStyle/>
          <a:p>
            <a:pPr algn="l">
              <a:spcBef>
                <a:spcPts val="200"/>
              </a:spcBef>
              <a:spcAft>
                <a:spcPts val="200"/>
              </a:spcAft>
            </a:pPr>
            <a:r>
              <a:rPr sz="850" b="1" i="0" cap="all" spc="100">
                <a:solidFill>
                  <a:srgbClr val="D6D6DF"/>
                </a:solidFill>
              </a:rPr>
              <a:t>Owner(s)</a:t>
            </a:r>
          </a:p>
          <a:p>
            <a:pPr algn="l">
              <a:spcAft>
                <a:spcPts val="500"/>
              </a:spcAft>
            </a:pPr>
            <a:r>
              <a:rPr sz="1400" b="0" i="1">
                <a:solidFill>
                  <a:srgbClr val="D6D6DF"/>
                </a:solidFill>
              </a:rPr>
              <a:t>[Names]</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5" name="Picture 4" descr="f_hero_library.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[Priority name]</a:t>
            </a:r>
          </a:p>
        </p:txBody>
      </p:sp>
      <p:sp>
        <p:nvSpPr>
          <p:cNvPr id="4" name="Text Placeholder 3"/>
          <p:cNvSpPr>
            <a:spLocks noGrp="1"/>
          </p:cNvSpPr>
          <p:nvPr>
            <p:ph type="body" idx="12" sz="quarter"/>
          </p:nvPr>
        </p:nvSpPr>
        <p:spPr>
          <a:xfrm>
            <a:off x="457200" y="170000"/>
            <a:ext cx="8000000" cy="182880"/>
          </a:xfrm>
        </p:spPr>
        <p:txBody>
          <a:bodyPr/>
          <a:lstStyle/>
          <a:p>
            <a:r>
              <a:rPr>
                <a:solidFill>
                  <a:srgbClr val="0391F2"/>
                </a:solidFill>
              </a:rPr>
              <a:t>OPS PRIORITIES · EXEC SUMMARY</a:t>
            </a:r>
          </a:p>
        </p:txBody>
      </p:sp>
      <p:sp>
        <p:nvSpPr>
          <p:cNvPr id="7" name="Rounded Rectangle 6"/>
          <p:cNvSpPr/>
          <p:nvPr/>
        </p:nvSpPr>
        <p:spPr>
          <a:xfrm>
            <a:off x="457200" y="1080000"/>
            <a:ext cx="5563800" cy="1950000"/>
          </a:xfrm>
          <a:prstGeom prst="roundRect">
            <a:avLst>
              <a:gd name="adj" fmla="val 3200"/>
            </a:avLst>
          </a:prstGeom>
          <a:solidFill>
            <a:srgbClr val="000000"/>
          </a:solidFill>
          <a:ln>
            <a:noFill/>
          </a:ln>
          <a:effectLst>
            <a:outerShdw blurRad="190500" dist="50800" dir="5400000" algn="t" rotWithShape="0">
              <a:srgbClr val="000000">
                <a:alpha val="13000"/>
              </a:srgbClr>
            </a:outerShdw>
          </a:effectLst>
        </p:spPr>
        <p:txBody>
          <a:bodyPr rtlCol="0" anchor="t" wrap="square" lIns="210312" tIns="155448" rIns="182880" bIns="73152"/>
          <a:lstStyle/>
          <a:p>
            <a:pPr algn="l">
              <a:spcAft>
                <a:spcPts val="600"/>
              </a:spcAft>
            </a:pPr>
            <a:r>
              <a:rPr sz="1100" b="1" i="0" cap="all" spc="60">
                <a:solidFill>
                  <a:srgbClr val="D6D6DF"/>
                </a:solidFill>
              </a:rPr>
              <a:t>2026 Goal</a:t>
            </a:r>
          </a:p>
          <a:p>
            <a:pPr algn="l">
              <a:spcAft>
                <a:spcPts val="500"/>
              </a:spcAft>
            </a:pPr>
            <a:r>
              <a:rPr sz="1150" b="0" i="1">
                <a:solidFill>
                  <a:srgbClr val="D6D6DF"/>
                </a:solidFill>
              </a:rPr>
              <a:t>[Put here: the one thing we want to be true by the end of 2026.]</a:t>
            </a:r>
          </a:p>
          <a:p>
            <a:pPr algn="l">
              <a:spcAft>
                <a:spcPts val="500"/>
              </a:spcAft>
            </a:pPr>
            <a:r>
              <a:rPr sz="1150" b="0" i="1">
                <a:solidFill>
                  <a:srgbClr val="D6D6DF"/>
                </a:solidFill>
              </a:rPr>
              <a:t>[Why: everyone should know the finish line.]</a:t>
            </a:r>
          </a:p>
        </p:txBody>
      </p:sp>
      <p:sp>
        <p:nvSpPr>
          <p:cNvPr id="8" name="Rounded Rectangle 7"/>
          <p:cNvSpPr/>
          <p:nvPr/>
        </p:nvSpPr>
        <p:spPr>
          <a:xfrm>
            <a:off x="6171000" y="1080000"/>
            <a:ext cx="5563800" cy="195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Aft>
                <a:spcPts val="600"/>
              </a:spcAft>
            </a:pPr>
            <a:r>
              <a:rPr sz="1100" b="1" i="0" cap="all" spc="60">
                <a:solidFill>
                  <a:srgbClr val="000000"/>
                </a:solidFill>
              </a:rPr>
              <a:t>The problem</a:t>
            </a:r>
          </a:p>
          <a:p>
            <a:pPr algn="l">
              <a:spcAft>
                <a:spcPts val="500"/>
              </a:spcAft>
            </a:pPr>
            <a:r>
              <a:rPr sz="1150" b="0" i="1">
                <a:solidFill>
                  <a:srgbClr val="60607D"/>
                </a:solidFill>
              </a:rPr>
              <a:t>[Put here: what is broken today, in plain words.]</a:t>
            </a:r>
          </a:p>
          <a:p>
            <a:pPr algn="l">
              <a:spcAft>
                <a:spcPts val="500"/>
              </a:spcAft>
            </a:pPr>
            <a:r>
              <a:rPr sz="1150" b="0" i="1">
                <a:solidFill>
                  <a:srgbClr val="60607D"/>
                </a:solidFill>
              </a:rPr>
              <a:t>[Why: people only back a fix if they can feel the problem.]</a:t>
            </a:r>
          </a:p>
        </p:txBody>
      </p:sp>
      <p:sp>
        <p:nvSpPr>
          <p:cNvPr id="9" name="Rounded Rectangle 8"/>
          <p:cNvSpPr/>
          <p:nvPr/>
        </p:nvSpPr>
        <p:spPr>
          <a:xfrm>
            <a:off x="457200" y="3130000"/>
            <a:ext cx="5563800" cy="22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Aft>
                <a:spcPts val="600"/>
              </a:spcAft>
            </a:pPr>
            <a:r>
              <a:rPr sz="1100" b="1" i="0" cap="all" spc="60">
                <a:solidFill>
                  <a:srgbClr val="000000"/>
                </a:solidFill>
              </a:rPr>
              <a:t>What we are changing</a:t>
            </a:r>
          </a:p>
          <a:p>
            <a:pPr algn="l">
              <a:spcAft>
                <a:spcPts val="500"/>
              </a:spcAft>
            </a:pPr>
            <a:r>
              <a:rPr sz="1150" b="0" i="1">
                <a:solidFill>
                  <a:srgbClr val="60607D"/>
                </a:solidFill>
              </a:rPr>
              <a:t>[Put here: what we will do differently. Use short bullets.]</a:t>
            </a:r>
          </a:p>
          <a:p>
            <a:pPr algn="l">
              <a:spcAft>
                <a:spcPts val="500"/>
              </a:spcAft>
            </a:pPr>
            <a:r>
              <a:rPr sz="1150" b="0" i="1">
                <a:solidFill>
                  <a:srgbClr val="60607D"/>
                </a:solidFill>
              </a:rPr>
              <a:t>[Why: it shows we have a plan, not just a worry.]</a:t>
            </a:r>
          </a:p>
        </p:txBody>
      </p:sp>
      <p:sp>
        <p:nvSpPr>
          <p:cNvPr id="10" name="Rounded Rectangle 9"/>
          <p:cNvSpPr/>
          <p:nvPr/>
        </p:nvSpPr>
        <p:spPr>
          <a:xfrm>
            <a:off x="6171000" y="3130000"/>
            <a:ext cx="5563800" cy="2280000"/>
          </a:xfrm>
          <a:prstGeom prst="roundRect">
            <a:avLst>
              <a:gd name="adj" fmla="val 3200"/>
            </a:avLst>
          </a:prstGeom>
          <a:solidFill>
            <a:srgbClr val="000000"/>
          </a:solidFill>
          <a:ln>
            <a:noFill/>
          </a:ln>
          <a:effectLst>
            <a:outerShdw blurRad="190500" dist="50800" dir="5400000" algn="t" rotWithShape="0">
              <a:srgbClr val="000000">
                <a:alpha val="13000"/>
              </a:srgbClr>
            </a:outerShdw>
          </a:effectLst>
        </p:spPr>
        <p:txBody>
          <a:bodyPr rtlCol="0" anchor="t" wrap="square" lIns="210312" tIns="155448" rIns="182880" bIns="73152"/>
          <a:lstStyle/>
          <a:p>
            <a:pPr algn="l">
              <a:spcAft>
                <a:spcPts val="600"/>
              </a:spcAft>
            </a:pPr>
            <a:r>
              <a:rPr sz="1100" b="1" i="0" cap="all" spc="60">
                <a:solidFill>
                  <a:srgbClr val="D6D6DF"/>
                </a:solidFill>
              </a:rPr>
              <a:t>What this unlocks</a:t>
            </a:r>
          </a:p>
          <a:p>
            <a:pPr algn="l">
              <a:spcAft>
                <a:spcPts val="500"/>
              </a:spcAft>
            </a:pPr>
            <a:r>
              <a:rPr sz="1150" b="0" i="1">
                <a:solidFill>
                  <a:srgbClr val="D6D6DF"/>
                </a:solidFill>
              </a:rPr>
              <a:t>[Put here: what gets better once this works.]</a:t>
            </a:r>
          </a:p>
          <a:p>
            <a:pPr algn="l">
              <a:spcAft>
                <a:spcPts val="500"/>
              </a:spcAft>
            </a:pPr>
            <a:r>
              <a:rPr sz="1150" b="0" i="1">
                <a:solidFill>
                  <a:srgbClr val="D6D6DF"/>
                </a:solidFill>
              </a:rPr>
              <a:t>[Why: it is the reason the effort is worth it.]</a:t>
            </a:r>
          </a:p>
        </p:txBody>
      </p:sp>
      <p:sp>
        <p:nvSpPr>
          <p:cNvPr id="11" name="Rounded Rectangle 10"/>
          <p:cNvSpPr/>
          <p:nvPr/>
        </p:nvSpPr>
        <p:spPr>
          <a:xfrm>
            <a:off x="457200" y="5510000"/>
            <a:ext cx="11277600" cy="890000"/>
          </a:xfrm>
          <a:prstGeom prst="roundRect">
            <a:avLst>
              <a:gd name="adj" fmla="val 6000"/>
            </a:avLst>
          </a:prstGeom>
          <a:solidFill>
            <a:srgbClr val="000000"/>
          </a:solidFill>
          <a:ln>
            <a:noFill/>
          </a:ln>
          <a:effectLst>
            <a:outerShdw blurRad="190500" dist="50800" dir="5400000" algn="t" rotWithShape="0">
              <a:srgbClr val="000000">
                <a:alpha val="13000"/>
              </a:srgbClr>
            </a:outerShdw>
          </a:effectLst>
        </p:spPr>
        <p:txBody>
          <a:bodyPr rtlCol="0" anchor="ctr" wrap="square" lIns="300000" rIns="300000" tIns="50000" bIns="50000"/>
          <a:lstStyle/>
          <a:p>
            <a:pPr algn="l"/>
            <a:r>
              <a:rPr sz="900" b="1" i="0" cap="all" spc="100">
                <a:solidFill>
                  <a:srgbClr val="D6D6DF"/>
                </a:solidFill>
              </a:rPr>
              <a:t>Key takeaway</a:t>
            </a:r>
          </a:p>
          <a:p>
            <a:pPr algn="l"/>
            <a:r>
              <a:rPr sz="1400" b="0" i="1">
                <a:solidFill>
                  <a:srgbClr val="D6D6DF"/>
                </a:solidFill>
              </a:rPr>
              <a:t>[One sentence. If people remember only this, what should it be?]</a:t>
            </a:r>
          </a:p>
        </p:txBody>
      </p:sp>
      <p:sp>
        <p:nvSpPr>
          <p:cNvPr id="12" name="Rounded Rectangle 11"/>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rtlCol="0" anchor="ctr" wrap="square" lIns="150000" rIns="120000"/>
          <a:lstStyle/>
          <a:p>
            <a:pPr algn="l"/>
            <a:r>
              <a:rPr sz="1050" b="1" i="0">
                <a:solidFill>
                  <a:srgbClr val="FFFFFF"/>
                </a:solidFill>
              </a:rPr>
              <a:t>Owner(s)</a:t>
            </a:r>
          </a:p>
          <a:p>
            <a:pPr algn="l"/>
            <a:r>
              <a:rPr sz="900" b="0" i="1">
                <a:solidFill>
                  <a:srgbClr val="D6D6DF"/>
                </a:solidFill>
              </a:rPr>
              <a:t>[Names]</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5" name="Picture 4" descr="f_hero_library.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Why now</a:t>
            </a:r>
          </a:p>
        </p:txBody>
      </p:sp>
      <p:sp>
        <p:nvSpPr>
          <p:cNvPr id="4" name="Text Placeholder 3"/>
          <p:cNvSpPr>
            <a:spLocks noGrp="1"/>
          </p:cNvSpPr>
          <p:nvPr>
            <p:ph type="body" idx="12" sz="quarter"/>
          </p:nvPr>
        </p:nvSpPr>
        <p:spPr>
          <a:xfrm>
            <a:off x="457200" y="170000"/>
            <a:ext cx="8000000" cy="182880"/>
          </a:xfrm>
        </p:spPr>
        <p:txBody>
          <a:bodyPr/>
          <a:lstStyle/>
          <a:p>
            <a:r>
              <a:rPr>
                <a:solidFill>
                  <a:srgbClr val="0391F2"/>
                </a:solidFill>
              </a:rPr>
              <a:t>[PRIORITY NAME] · CLICK-DOWN · THE PROBLEM</a:t>
            </a:r>
          </a:p>
        </p:txBody>
      </p:sp>
      <p:sp>
        <p:nvSpPr>
          <p:cNvPr id="7" name="Rounded Rectangle 6"/>
          <p:cNvSpPr/>
          <p:nvPr/>
        </p:nvSpPr>
        <p:spPr>
          <a:xfrm>
            <a:off x="457200" y="1170000"/>
            <a:ext cx="11277600" cy="1250000"/>
          </a:xfrm>
          <a:prstGeom prst="roundRect">
            <a:avLst>
              <a:gd name="adj" fmla="val 3200"/>
            </a:avLst>
          </a:prstGeom>
          <a:solidFill>
            <a:srgbClr val="000000"/>
          </a:solidFill>
          <a:ln>
            <a:noFill/>
          </a:ln>
          <a:effectLst>
            <a:outerShdw blurRad="190500" dist="50800" dir="5400000" algn="t" rotWithShape="0">
              <a:srgbClr val="000000">
                <a:alpha val="13000"/>
              </a:srgbClr>
            </a:outerShdw>
          </a:effectLst>
        </p:spPr>
        <p:txBody>
          <a:bodyPr rtlCol="0" anchor="ctr" wrap="square" lIns="274320" tIns="109728" rIns="274320" bIns="73152"/>
          <a:lstStyle/>
          <a:p>
            <a:pPr algn="l">
              <a:spcAft>
                <a:spcPts val="500"/>
              </a:spcAft>
            </a:pPr>
            <a:r>
              <a:rPr sz="1600" b="0" i="1">
                <a:solidFill>
                  <a:srgbClr val="D6D6DF"/>
                </a:solidFill>
              </a:rPr>
              <a:t>[Put here: one or two sentences on why now. What does waiting cost us?]</a:t>
            </a:r>
          </a:p>
        </p:txBody>
      </p:sp>
      <p:sp>
        <p:nvSpPr>
          <p:cNvPr id="8" name="Rounded Rectangle 7"/>
          <p:cNvSpPr/>
          <p:nvPr/>
        </p:nvSpPr>
        <p:spPr>
          <a:xfrm>
            <a:off x="457200" y="2570000"/>
            <a:ext cx="6541008" cy="36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Aft>
                <a:spcPts val="600"/>
              </a:spcAft>
            </a:pPr>
            <a:r>
              <a:rPr sz="1100" b="1" i="0" cap="all" spc="60">
                <a:solidFill>
                  <a:srgbClr val="000000"/>
                </a:solidFill>
              </a:rPr>
              <a:t>What's happening today</a:t>
            </a:r>
          </a:p>
          <a:p>
            <a:pPr algn="l">
              <a:spcAft>
                <a:spcPts val="500"/>
              </a:spcAft>
            </a:pPr>
            <a:r>
              <a:rPr sz="1300" b="0" i="1">
                <a:solidFill>
                  <a:srgbClr val="60607D"/>
                </a:solidFill>
              </a:rPr>
              <a:t>[Put here: what is going on right now that makes this urgent. One bullet per point, add as many as you need.]</a:t>
            </a:r>
          </a:p>
          <a:p>
            <a:pPr algn="l">
              <a:spcAft>
                <a:spcPts val="500"/>
              </a:spcAft>
            </a:pPr>
            <a:r>
              <a:rPr sz="1300" b="0" i="1">
                <a:solidFill>
                  <a:srgbClr val="60607D"/>
                </a:solidFill>
              </a:rPr>
              <a:t>[Why: this is the reason to act now.]</a:t>
            </a:r>
          </a:p>
        </p:txBody>
      </p:sp>
      <p:sp>
        <p:nvSpPr>
          <p:cNvPr id="9" name="Rounded Rectangle 8"/>
          <p:cNvSpPr/>
          <p:nvPr/>
        </p:nvSpPr>
        <p:spPr>
          <a:xfrm>
            <a:off x="7148208" y="2570000"/>
            <a:ext cx="4586592" cy="3680000"/>
          </a:xfrm>
          <a:prstGeom prst="roundRect">
            <a:avLst>
              <a:gd name="adj" fmla="val 3200"/>
            </a:avLst>
          </a:prstGeom>
          <a:solidFill>
            <a:srgbClr val="000000"/>
          </a:solidFill>
          <a:ln>
            <a:noFill/>
          </a:ln>
          <a:effectLst>
            <a:outerShdw blurRad="190500" dist="50800" dir="5400000" algn="t" rotWithShape="0">
              <a:srgbClr val="000000">
                <a:alpha val="13000"/>
              </a:srgbClr>
            </a:outerShdw>
          </a:effectLst>
        </p:spPr>
        <p:txBody>
          <a:bodyPr rtlCol="0" anchor="t" wrap="square" lIns="210312" tIns="155448" rIns="182880" bIns="73152"/>
          <a:lstStyle/>
          <a:p>
            <a:pPr algn="l">
              <a:spcAft>
                <a:spcPts val="600"/>
              </a:spcAft>
            </a:pPr>
            <a:r>
              <a:rPr sz="1100" b="1" i="0" cap="all" spc="60">
                <a:solidFill>
                  <a:srgbClr val="D6D6DF"/>
                </a:solidFill>
              </a:rPr>
              <a:t>So we need</a:t>
            </a:r>
          </a:p>
          <a:p>
            <a:pPr algn="l">
              <a:spcAft>
                <a:spcPts val="500"/>
              </a:spcAft>
            </a:pPr>
            <a:r>
              <a:rPr sz="1300" b="0" i="1">
                <a:solidFill>
                  <a:srgbClr val="D6D6DF"/>
                </a:solidFill>
              </a:rPr>
              <a:t>[Put here: what has to happen or be decided. One bullet per ask.]</a:t>
            </a:r>
          </a:p>
          <a:p>
            <a:pPr algn="l">
              <a:spcAft>
                <a:spcPts val="500"/>
              </a:spcAft>
            </a:pPr>
            <a:r>
              <a:rPr sz="1300" b="0" i="1">
                <a:solidFill>
                  <a:srgbClr val="D6D6DF"/>
                </a:solidFill>
              </a:rPr>
              <a:t>[Why: this turns the worry into a clear ask.]</a:t>
            </a:r>
          </a:p>
        </p:txBody>
      </p:sp>
      <p:sp>
        <p:nvSpPr>
          <p:cNvPr id="10" name="Rounded Rectangle 9"/>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rtlCol="0" anchor="ctr" wrap="square" lIns="150000" rIns="120000"/>
          <a:lstStyle/>
          <a:p>
            <a:pPr algn="l"/>
            <a:r>
              <a:rPr sz="1050" b="1" i="0">
                <a:solidFill>
                  <a:srgbClr val="FFFFFF"/>
                </a:solidFill>
              </a:rPr>
              <a:t>Owner(s)</a:t>
            </a:r>
          </a:p>
          <a:p>
            <a:pPr algn="l"/>
            <a:r>
              <a:rPr sz="900" b="0" i="1">
                <a:solidFill>
                  <a:srgbClr val="D6D6DF"/>
                </a:solidFill>
              </a:rPr>
              <a:t>[Names]</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5" name="Picture 4" descr="f_hero_library.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Adoption &amp; change management</a:t>
            </a:r>
          </a:p>
        </p:txBody>
      </p:sp>
      <p:sp>
        <p:nvSpPr>
          <p:cNvPr id="4" name="Text Placeholder 3"/>
          <p:cNvSpPr>
            <a:spLocks noGrp="1"/>
          </p:cNvSpPr>
          <p:nvPr>
            <p:ph type="body" idx="12" sz="quarter"/>
          </p:nvPr>
        </p:nvSpPr>
        <p:spPr>
          <a:xfrm>
            <a:off x="457200" y="170000"/>
            <a:ext cx="8000000" cy="182880"/>
          </a:xfrm>
        </p:spPr>
        <p:txBody>
          <a:bodyPr/>
          <a:lstStyle/>
          <a:p>
            <a:r>
              <a:rPr>
                <a:solidFill>
                  <a:srgbClr val="0391F2"/>
                </a:solidFill>
              </a:rPr>
              <a:t>[PRIORITY NAME] · CLICK-DOWN · WHAT WE ARE CHANGING</a:t>
            </a:r>
          </a:p>
        </p:txBody>
      </p:sp>
      <p:sp>
        <p:nvSpPr>
          <p:cNvPr id="7" name="Rounded Rectangle 6"/>
          <p:cNvSpPr/>
          <p:nvPr/>
        </p:nvSpPr>
        <p:spPr>
          <a:xfrm>
            <a:off x="457200" y="1170000"/>
            <a:ext cx="2706900" cy="50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Aft>
                <a:spcPts val="600"/>
              </a:spcAft>
            </a:pPr>
            <a:r>
              <a:rPr sz="1100" b="1" i="0" cap="all" spc="60">
                <a:solidFill>
                  <a:srgbClr val="000000"/>
                </a:solidFill>
              </a:rPr>
              <a:t>1. Strategy &amp; Alignment</a:t>
            </a:r>
          </a:p>
          <a:p>
            <a:pPr algn="l">
              <a:spcBef>
                <a:spcPts val="400"/>
              </a:spcBef>
              <a:spcAft>
                <a:spcPts val="200"/>
              </a:spcAft>
            </a:pPr>
            <a:r>
              <a:rPr sz="1300" b="1" i="0">
                <a:solidFill>
                  <a:srgbClr val="000000"/>
                </a:solidFill>
              </a:rPr>
              <a:t>The why</a:t>
            </a:r>
          </a:p>
          <a:p>
            <a:pPr algn="l">
              <a:spcAft>
                <a:spcPts val="500"/>
              </a:spcAft>
            </a:pPr>
            <a:r>
              <a:rPr sz="1300" b="0" i="1">
                <a:solidFill>
                  <a:srgbClr val="60607D"/>
                </a:solidFill>
              </a:rPr>
              <a:t>[The business reason for this change and the value it brings.]</a:t>
            </a:r>
          </a:p>
          <a:p>
            <a:pPr algn="l">
              <a:spcBef>
                <a:spcPts val="400"/>
              </a:spcBef>
              <a:spcAft>
                <a:spcPts val="200"/>
              </a:spcAft>
            </a:pPr>
            <a:r>
              <a:rPr sz="1300" b="1" i="0">
                <a:solidFill>
                  <a:srgbClr val="000000"/>
                </a:solidFill>
              </a:rPr>
              <a:t>Who is affected</a:t>
            </a:r>
          </a:p>
          <a:p>
            <a:pPr algn="l">
              <a:spcAft>
                <a:spcPts val="500"/>
              </a:spcAft>
            </a:pPr>
            <a:r>
              <a:rPr sz="1300" b="0" i="1">
                <a:solidFill>
                  <a:srgbClr val="60607D"/>
                </a:solidFill>
              </a:rPr>
              <a:t>[Who is impacted, how their day-to-day changes, and how much pushback to expect.]</a:t>
            </a:r>
          </a:p>
          <a:p>
            <a:pPr algn="l">
              <a:spcBef>
                <a:spcPts val="400"/>
              </a:spcBef>
              <a:spcAft>
                <a:spcPts val="200"/>
              </a:spcAft>
            </a:pPr>
            <a:r>
              <a:rPr sz="1300" b="1" i="0">
                <a:solidFill>
                  <a:srgbClr val="000000"/>
                </a:solidFill>
              </a:rPr>
              <a:t>Who is backing it</a:t>
            </a:r>
          </a:p>
          <a:p>
            <a:pPr algn="l">
              <a:spcAft>
                <a:spcPts val="500"/>
              </a:spcAft>
            </a:pPr>
            <a:r>
              <a:rPr sz="1300" b="0" i="1">
                <a:solidFill>
                  <a:srgbClr val="60607D"/>
                </a:solidFill>
              </a:rPr>
              <a:t>[Executive sponsors, approvers, and the champions who will drive adoption locally.]</a:t>
            </a:r>
          </a:p>
        </p:txBody>
      </p:sp>
      <p:sp>
        <p:nvSpPr>
          <p:cNvPr id="8" name="Rounded Rectangle 7"/>
          <p:cNvSpPr/>
          <p:nvPr/>
        </p:nvSpPr>
        <p:spPr>
          <a:xfrm>
            <a:off x="3314100" y="1170000"/>
            <a:ext cx="2706900" cy="50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Aft>
                <a:spcPts val="600"/>
              </a:spcAft>
            </a:pPr>
            <a:r>
              <a:rPr sz="1100" b="1" i="0" cap="all" spc="60">
                <a:solidFill>
                  <a:srgbClr val="000000"/>
                </a:solidFill>
              </a:rPr>
              <a:t>2. Communications Plan</a:t>
            </a:r>
          </a:p>
          <a:p>
            <a:pPr algn="l">
              <a:spcBef>
                <a:spcPts val="400"/>
              </a:spcBef>
              <a:spcAft>
                <a:spcPts val="200"/>
              </a:spcAft>
            </a:pPr>
            <a:r>
              <a:rPr sz="1300" b="1" i="0">
                <a:solidFill>
                  <a:srgbClr val="000000"/>
                </a:solidFill>
              </a:rPr>
              <a:t>Core messages</a:t>
            </a:r>
          </a:p>
          <a:p>
            <a:pPr algn="l">
              <a:spcAft>
                <a:spcPts val="500"/>
              </a:spcAft>
            </a:pPr>
            <a:r>
              <a:rPr sz="1300" b="0" i="1">
                <a:solidFill>
                  <a:srgbClr val="60607D"/>
                </a:solidFill>
              </a:rPr>
              <a:t>[The standard talking points, tailored for each group that is affected.]</a:t>
            </a:r>
          </a:p>
          <a:p>
            <a:pPr algn="l">
              <a:spcBef>
                <a:spcPts val="400"/>
              </a:spcBef>
              <a:spcAft>
                <a:spcPts val="200"/>
              </a:spcAft>
            </a:pPr>
            <a:r>
              <a:rPr sz="1300" b="1" i="0">
                <a:solidFill>
                  <a:srgbClr val="000000"/>
                </a:solidFill>
              </a:rPr>
              <a:t>Channels</a:t>
            </a:r>
          </a:p>
          <a:p>
            <a:pPr algn="l">
              <a:spcAft>
                <a:spcPts val="500"/>
              </a:spcAft>
            </a:pPr>
            <a:r>
              <a:rPr sz="1300" b="0" i="1">
                <a:solidFill>
                  <a:srgbClr val="60607D"/>
                </a:solidFill>
              </a:rPr>
              <a:t>[Where we will say it: all-hands, email, internal portals, team meetings.]</a:t>
            </a:r>
          </a:p>
          <a:p>
            <a:pPr algn="l">
              <a:spcBef>
                <a:spcPts val="400"/>
              </a:spcBef>
              <a:spcAft>
                <a:spcPts val="200"/>
              </a:spcAft>
            </a:pPr>
            <a:r>
              <a:rPr sz="1300" b="1" i="0">
                <a:solidFill>
                  <a:srgbClr val="000000"/>
                </a:solidFill>
              </a:rPr>
              <a:t>Timing</a:t>
            </a:r>
          </a:p>
          <a:p>
            <a:pPr algn="l">
              <a:spcAft>
                <a:spcPts val="500"/>
              </a:spcAft>
            </a:pPr>
            <a:r>
              <a:rPr sz="1300" b="0" i="1">
                <a:solidFill>
                  <a:srgbClr val="60607D"/>
                </a:solidFill>
              </a:rPr>
              <a:t>[The schedule of announcements, teasers and reminders before and after launch.]</a:t>
            </a:r>
          </a:p>
        </p:txBody>
      </p:sp>
      <p:sp>
        <p:nvSpPr>
          <p:cNvPr id="9" name="Rounded Rectangle 8"/>
          <p:cNvSpPr/>
          <p:nvPr/>
        </p:nvSpPr>
        <p:spPr>
          <a:xfrm>
            <a:off x="6171000" y="1170000"/>
            <a:ext cx="2706900" cy="50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Aft>
                <a:spcPts val="600"/>
              </a:spcAft>
            </a:pPr>
            <a:r>
              <a:rPr sz="1100" b="1" i="0" cap="all" spc="60">
                <a:solidFill>
                  <a:srgbClr val="000000"/>
                </a:solidFill>
              </a:rPr>
              <a:t>3. Enablement</a:t>
            </a:r>
          </a:p>
          <a:p>
            <a:pPr algn="l">
              <a:spcBef>
                <a:spcPts val="400"/>
              </a:spcBef>
              <a:spcAft>
                <a:spcPts val="200"/>
              </a:spcAft>
            </a:pPr>
            <a:r>
              <a:rPr sz="1300" b="1" i="0">
                <a:solidFill>
                  <a:srgbClr val="000000"/>
                </a:solidFill>
              </a:rPr>
              <a:t>Training</a:t>
            </a:r>
          </a:p>
          <a:p>
            <a:pPr algn="l">
              <a:spcAft>
                <a:spcPts val="500"/>
              </a:spcAft>
            </a:pPr>
            <a:r>
              <a:rPr sz="1300" b="0" i="1">
                <a:solidFill>
                  <a:srgbClr val="60607D"/>
                </a:solidFill>
              </a:rPr>
              <a:t>[How people will learn: live sessions, self-serve modules, documentation.]</a:t>
            </a:r>
          </a:p>
          <a:p>
            <a:pPr algn="l">
              <a:spcBef>
                <a:spcPts val="400"/>
              </a:spcBef>
              <a:spcAft>
                <a:spcPts val="200"/>
              </a:spcAft>
            </a:pPr>
            <a:r>
              <a:rPr sz="1300" b="1" i="0">
                <a:solidFill>
                  <a:srgbClr val="000000"/>
                </a:solidFill>
              </a:rPr>
              <a:t>Where to find things</a:t>
            </a:r>
          </a:p>
          <a:p>
            <a:pPr algn="l">
              <a:spcAft>
                <a:spcPts val="500"/>
              </a:spcAft>
            </a:pPr>
            <a:r>
              <a:rPr sz="1300" b="0" i="1">
                <a:solidFill>
                  <a:srgbClr val="60607D"/>
                </a:solidFill>
              </a:rPr>
              <a:t>[One place for user guides, quick reference cards and FAQs.]</a:t>
            </a:r>
          </a:p>
          <a:p>
            <a:pPr algn="l">
              <a:spcBef>
                <a:spcPts val="400"/>
              </a:spcBef>
              <a:spcAft>
                <a:spcPts val="200"/>
              </a:spcAft>
            </a:pPr>
            <a:r>
              <a:rPr sz="1300" b="1" i="0">
                <a:solidFill>
                  <a:srgbClr val="000000"/>
                </a:solidFill>
              </a:rPr>
              <a:t>Getting help</a:t>
            </a:r>
          </a:p>
          <a:p>
            <a:pPr algn="l">
              <a:spcAft>
                <a:spcPts val="500"/>
              </a:spcAft>
            </a:pPr>
            <a:r>
              <a:rPr sz="1300" b="0" i="1">
                <a:solidFill>
                  <a:srgbClr val="60607D"/>
                </a:solidFill>
              </a:rPr>
              <a:t>[Where people go when they get stuck during the rollout.]</a:t>
            </a:r>
          </a:p>
        </p:txBody>
      </p:sp>
      <p:sp>
        <p:nvSpPr>
          <p:cNvPr id="10" name="Rounded Rectangle 9"/>
          <p:cNvSpPr/>
          <p:nvPr/>
        </p:nvSpPr>
        <p:spPr>
          <a:xfrm>
            <a:off x="9027900" y="1170000"/>
            <a:ext cx="2706900" cy="50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Aft>
                <a:spcPts val="600"/>
              </a:spcAft>
            </a:pPr>
            <a:r>
              <a:rPr sz="1100" b="1" i="0" cap="all" spc="60">
                <a:solidFill>
                  <a:srgbClr val="000000"/>
                </a:solidFill>
              </a:rPr>
              <a:t>4. Measuring &amp; Sustaining</a:t>
            </a:r>
          </a:p>
          <a:p>
            <a:pPr algn="l">
              <a:spcBef>
                <a:spcPts val="400"/>
              </a:spcBef>
              <a:spcAft>
                <a:spcPts val="200"/>
              </a:spcAft>
            </a:pPr>
            <a:r>
              <a:rPr sz="1300" b="1" i="0">
                <a:solidFill>
                  <a:srgbClr val="000000"/>
                </a:solidFill>
              </a:rPr>
              <a:t>Success measures</a:t>
            </a:r>
          </a:p>
          <a:p>
            <a:pPr algn="l">
              <a:spcAft>
                <a:spcPts val="500"/>
              </a:spcAft>
            </a:pPr>
            <a:r>
              <a:rPr sz="1300" b="0" i="1">
                <a:solidFill>
                  <a:srgbClr val="60607D"/>
                </a:solidFill>
              </a:rPr>
              <a:t>[The numbers that show healthy adoption, such as login rates, task completion and drop-off from the old way.]</a:t>
            </a:r>
          </a:p>
          <a:p>
            <a:pPr algn="l">
              <a:spcBef>
                <a:spcPts val="400"/>
              </a:spcBef>
              <a:spcAft>
                <a:spcPts val="200"/>
              </a:spcAft>
            </a:pPr>
            <a:r>
              <a:rPr sz="1300" b="1" i="0">
                <a:solidFill>
                  <a:srgbClr val="000000"/>
                </a:solidFill>
              </a:rPr>
              <a:t>Feedback</a:t>
            </a:r>
          </a:p>
          <a:p>
            <a:pPr algn="l">
              <a:spcAft>
                <a:spcPts val="500"/>
              </a:spcAft>
            </a:pPr>
            <a:r>
              <a:rPr sz="1300" b="0" i="1">
                <a:solidFill>
                  <a:srgbClr val="60607D"/>
                </a:solidFill>
              </a:rPr>
              <a:t>[How we capture friction and sentiment after launch so we can fix things quickly.]</a:t>
            </a:r>
          </a:p>
          <a:p>
            <a:pPr algn="l">
              <a:spcBef>
                <a:spcPts val="400"/>
              </a:spcBef>
              <a:spcAft>
                <a:spcPts val="200"/>
              </a:spcAft>
            </a:pPr>
            <a:r>
              <a:rPr sz="1300" b="1" i="0">
                <a:solidFill>
                  <a:srgbClr val="000000"/>
                </a:solidFill>
              </a:rPr>
              <a:t>Long-term owner</a:t>
            </a:r>
          </a:p>
          <a:p>
            <a:pPr algn="l">
              <a:spcAft>
                <a:spcPts val="500"/>
              </a:spcAft>
            </a:pPr>
            <a:r>
              <a:rPr sz="1300" b="0" i="1">
                <a:solidFill>
                  <a:srgbClr val="60607D"/>
                </a:solidFill>
              </a:rPr>
              <a:t>[Who owns ongoing updates, new-hire onboarding and keeping the process current.]</a:t>
            </a:r>
          </a:p>
        </p:txBody>
      </p:sp>
      <p:sp>
        <p:nvSpPr>
          <p:cNvPr id="11" name="Rounded Rectangle 10"/>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rtlCol="0" anchor="ctr" wrap="square" lIns="150000" rIns="120000"/>
          <a:lstStyle/>
          <a:p>
            <a:pPr algn="l"/>
            <a:r>
              <a:rPr sz="1050" b="1" i="0">
                <a:solidFill>
                  <a:srgbClr val="FFFFFF"/>
                </a:solidFill>
              </a:rPr>
              <a:t>Owner(s)</a:t>
            </a:r>
          </a:p>
          <a:p>
            <a:pPr algn="l"/>
            <a:r>
              <a:rPr sz="900" b="0" i="1">
                <a:solidFill>
                  <a:srgbClr val="D6D6DF"/>
                </a:solidFill>
              </a:rPr>
              <a:t>[Names]</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5" name="Picture 4" descr="f_imgs_acc_Upd.jpg"/>
          <p:cNvPicPr>
            <a:picLocks noChangeAspect="1"/>
          </p:cNvPicPr>
          <p:nvPr/>
        </p:nvPicPr>
        <p:blipFill>
          <a:blip r:embed="rId2"/>
          <a:stretch>
            <a:fillRect/>
          </a:stretch>
        </p:blipFill>
        <p:spPr>
          <a:xfrm>
            <a:off x="228600" y="228600"/>
            <a:ext cx="3200000" cy="6171400"/>
          </a:xfrm>
          <a:prstGeom prst="roundRect">
            <a:avLst>
              <a:gd name="adj" fmla="val 3600"/>
            </a:avLst>
          </a:prstGeom>
        </p:spPr>
      </p:pic>
      <p:sp>
        <p:nvSpPr>
          <p:cNvPr id="6" name="Rounded Rectangle 5"/>
          <p:cNvSpPr/>
          <p:nvPr/>
        </p:nvSpPr>
        <p:spPr>
          <a:xfrm>
            <a:off x="228600" y="228600"/>
            <a:ext cx="3200000" cy="6171400"/>
          </a:xfrm>
          <a:prstGeom prst="roundRect">
            <a:avLst>
              <a:gd name="adj" fmla="val 3600"/>
            </a:avLst>
          </a:prstGeom>
          <a:gradFill rotWithShape="1">
            <a:gsLst>
              <a:gs pos="0">
                <a:srgbClr val="000000">
                  <a:alpha val="68000"/>
                </a:srgbClr>
              </a:gs>
              <a:gs pos="45000">
                <a:srgbClr val="000000">
                  <a:alpha val="50000"/>
                </a:srgbClr>
              </a:gs>
              <a:gs pos="100000">
                <a:srgbClr val="000000">
                  <a:alpha val="82000"/>
                </a:srgbClr>
              </a:gs>
            </a:gsLst>
            <a:lin ang="5400000" scaled="0"/>
          </a:gradFill>
          <a:ln>
            <a:noFill/>
          </a:ln>
        </p:spPr>
        <p:txBody>
          <a:bodyPr rtlCol="0" anchor="ctr"/>
          <a:lstStyle/>
          <a:p>
            <a:pPr algn="ctr"/>
          </a:p>
        </p:txBody>
      </p:sp>
      <p:sp>
        <p:nvSpPr>
          <p:cNvPr id="7" name="Rounded Rectangle 6"/>
          <p:cNvSpPr/>
          <p:nvPr/>
        </p:nvSpPr>
        <p:spPr>
          <a:xfrm>
            <a:off x="378600" y="378600"/>
            <a:ext cx="2900000" cy="2050000"/>
          </a:xfrm>
          <a:prstGeom prst="roundRect">
            <a:avLst>
              <a:gd name="adj" fmla="val 5000"/>
            </a:avLst>
          </a:prstGeom>
          <a:solidFill>
            <a:srgbClr val="000000">
              <a:alpha val="62000"/>
            </a:srgbClr>
          </a:solidFill>
          <a:ln>
            <a:noFill/>
          </a:ln>
        </p:spPr>
        <p:txBody>
          <a:bodyPr rtlCol="0" anchor="ctr"/>
          <a:lstStyle/>
          <a:p>
            <a:pPr algn="ctr"/>
          </a:p>
        </p:txBody>
      </p:sp>
      <p:sp>
        <p:nvSpPr>
          <p:cNvPr id="3" name="Title 2"/>
          <p:cNvSpPr>
            <a:spLocks noGrp="1"/>
          </p:cNvSpPr>
          <p:nvPr>
            <p:ph type="title"/>
          </p:nvPr>
        </p:nvSpPr>
        <p:spPr>
          <a:xfrm>
            <a:off x="508600" y="868600"/>
            <a:ext cx="2640000" cy="2300000"/>
          </a:xfrm>
        </p:spPr>
        <p:txBody>
          <a:bodyPr/>
          <a:lstStyle/>
          <a:p>
            <a:r>
              <a:rPr sz="2400">
                <a:solidFill>
                  <a:srgbClr val="FFFFFF"/>
                </a:solidFill>
              </a:rPr>
              <a:t>[Priority name]: Update</a:t>
            </a:r>
          </a:p>
        </p:txBody>
      </p:sp>
      <p:sp>
        <p:nvSpPr>
          <p:cNvPr id="4" name="Text Placeholder 3"/>
          <p:cNvSpPr>
            <a:spLocks noGrp="1"/>
          </p:cNvSpPr>
          <p:nvPr>
            <p:ph type="body" idx="12" sz="quarter"/>
          </p:nvPr>
        </p:nvSpPr>
        <p:spPr>
          <a:xfrm>
            <a:off x="508600" y="558600"/>
            <a:ext cx="2640000" cy="182880"/>
          </a:xfrm>
        </p:spPr>
        <p:txBody>
          <a:bodyPr/>
          <a:lstStyle/>
          <a:p>
            <a:r>
              <a:rPr>
                <a:solidFill>
                  <a:srgbClr val="0391F2"/>
                </a:solidFill>
              </a:rPr>
              <a:t>OPS PRIORITIES</a:t>
            </a:r>
          </a:p>
        </p:txBody>
      </p:sp>
      <p:sp>
        <p:nvSpPr>
          <p:cNvPr id="8" name="Rounded Rectangle 7"/>
          <p:cNvSpPr/>
          <p:nvPr/>
        </p:nvSpPr>
        <p:spPr>
          <a:xfrm>
            <a:off x="508600" y="5340000"/>
            <a:ext cx="2640000" cy="780000"/>
          </a:xfrm>
          <a:prstGeom prst="roundRect">
            <a:avLst>
              <a:gd name="adj" fmla="val 28000"/>
            </a:avLst>
          </a:prstGeom>
          <a:solidFill>
            <a:srgbClr val="000000">
              <a:alpha val="72000"/>
            </a:srgbClr>
          </a:solidFill>
          <a:ln w="9525">
            <a:solidFill>
              <a:srgbClr val="FFFFFF">
                <a:alpha val="45000"/>
              </a:srgbClr>
            </a:solidFill>
          </a:ln>
        </p:spPr>
        <p:txBody>
          <a:bodyPr rtlCol="0" anchor="ctr" wrap="square" lIns="150000" rIns="120000"/>
          <a:lstStyle/>
          <a:p>
            <a:pPr algn="l"/>
            <a:r>
              <a:rPr sz="1050" b="1" i="0">
                <a:solidFill>
                  <a:srgbClr val="FFFFFF"/>
                </a:solidFill>
              </a:rPr>
              <a:t>Owner(s)</a:t>
            </a:r>
          </a:p>
          <a:p>
            <a:pPr algn="l"/>
            <a:r>
              <a:rPr sz="900" b="0" i="1">
                <a:solidFill>
                  <a:srgbClr val="D6D6DF"/>
                </a:solidFill>
              </a:rPr>
              <a:t>[Names]</a:t>
            </a:r>
          </a:p>
        </p:txBody>
      </p:sp>
      <p:sp>
        <p:nvSpPr>
          <p:cNvPr id="9" name="Rounded Rectangle 8"/>
          <p:cNvSpPr/>
          <p:nvPr/>
        </p:nvSpPr>
        <p:spPr>
          <a:xfrm>
            <a:off x="3628600" y="228600"/>
            <a:ext cx="4092400" cy="34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82880" rIns="182880" bIns="54864"/>
          <a:lstStyle/>
          <a:p>
            <a:pPr algn="l">
              <a:spcAft>
                <a:spcPts val="600"/>
              </a:spcAft>
            </a:pPr>
            <a:r>
              <a:rPr sz="1100" b="1" i="0" cap="all" spc="60">
                <a:solidFill>
                  <a:srgbClr val="000000"/>
                </a:solidFill>
              </a:rPr>
              <a:t>What has been accomplished</a:t>
            </a:r>
          </a:p>
          <a:p>
            <a:pPr algn="l">
              <a:spcAft>
                <a:spcPts val="500"/>
              </a:spcAft>
            </a:pPr>
            <a:r>
              <a:rPr sz="1300" b="0" i="1">
                <a:solidFill>
                  <a:srgbClr val="60607D"/>
                </a:solidFill>
              </a:rPr>
              <a:t>[Put here: what got done since last time. Use dates, not "recently". Why: shows real progress.]</a:t>
            </a:r>
          </a:p>
        </p:txBody>
      </p:sp>
      <p:sp>
        <p:nvSpPr>
          <p:cNvPr id="10" name="Rounded Rectangle 9"/>
          <p:cNvSpPr/>
          <p:nvPr/>
        </p:nvSpPr>
        <p:spPr>
          <a:xfrm>
            <a:off x="7871000" y="228600"/>
            <a:ext cx="4092400" cy="34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82880" rIns="182880" bIns="54864"/>
          <a:lstStyle/>
          <a:p>
            <a:pPr algn="l">
              <a:spcAft>
                <a:spcPts val="600"/>
              </a:spcAft>
            </a:pPr>
            <a:r>
              <a:rPr sz="1100" b="1" i="0" cap="all" spc="60">
                <a:solidFill>
                  <a:srgbClr val="000000"/>
                </a:solidFill>
              </a:rPr>
              <a:t>Next milestones</a:t>
            </a:r>
          </a:p>
          <a:p>
            <a:pPr algn="l">
              <a:spcAft>
                <a:spcPts val="500"/>
              </a:spcAft>
            </a:pPr>
            <a:r>
              <a:rPr sz="1300" b="0" i="1">
                <a:solidFill>
                  <a:srgbClr val="60607D"/>
                </a:solidFill>
              </a:rPr>
              <a:t>[Put here: what happens next, and by when. Why: people can hold us to it.]</a:t>
            </a:r>
          </a:p>
        </p:txBody>
      </p:sp>
      <p:sp>
        <p:nvSpPr>
          <p:cNvPr id="11" name="Rounded Rectangle 10"/>
          <p:cNvSpPr/>
          <p:nvPr/>
        </p:nvSpPr>
        <p:spPr>
          <a:xfrm>
            <a:off x="3628600" y="3778600"/>
            <a:ext cx="8334800" cy="2621400"/>
          </a:xfrm>
          <a:prstGeom prst="roundRect">
            <a:avLst>
              <a:gd name="adj" fmla="val 2400"/>
            </a:avLst>
          </a:prstGeom>
          <a:solidFill>
            <a:srgbClr val="000000"/>
          </a:solidFill>
          <a:ln>
            <a:noFill/>
          </a:ln>
          <a:effectLst>
            <a:outerShdw blurRad="190500" dist="50800" dir="5400000" algn="t" rotWithShape="0">
              <a:srgbClr val="000000">
                <a:alpha val="13000"/>
              </a:srgbClr>
            </a:outerShdw>
          </a:effectLst>
        </p:spPr>
        <p:txBody>
          <a:bodyPr rtlCol="0" anchor="t" wrap="square" lIns="210312" tIns="182880" rIns="182880" bIns="54864"/>
          <a:lstStyle/>
          <a:p>
            <a:pPr algn="l">
              <a:spcAft>
                <a:spcPts val="600"/>
              </a:spcAft>
            </a:pPr>
            <a:r>
              <a:rPr sz="1100" b="1" i="0" cap="all" spc="60">
                <a:solidFill>
                  <a:srgbClr val="D6D6DF"/>
                </a:solidFill>
              </a:rPr>
              <a:t>What is in our way / what we need from you</a:t>
            </a:r>
          </a:p>
          <a:p>
            <a:pPr algn="l">
              <a:spcAft>
                <a:spcPts val="500"/>
              </a:spcAft>
            </a:pPr>
            <a:r>
              <a:rPr sz="1300" b="0" i="1">
                <a:solidFill>
                  <a:srgbClr val="D6D6DF"/>
                </a:solidFill>
              </a:rPr>
              <a:t>[Put here: what is blocking us, and what we need from you. Say who, and by when. Why: this is how leaders can help.]</a:t>
            </a:r>
          </a:p>
        </p:txBody>
      </p:sp>
      <p:sp>
        <p:nvSpPr>
          <p:cNvPr id="12" name="Rounded Rectangle 11"/>
          <p:cNvSpPr/>
          <p:nvPr/>
        </p:nvSpPr>
        <p:spPr>
          <a:xfrm>
            <a:off x="508600" y="4920000"/>
            <a:ext cx="2640000" cy="330000"/>
          </a:xfrm>
          <a:prstGeom prst="roundRect">
            <a:avLst>
              <a:gd name="adj" fmla="val 28000"/>
            </a:avLst>
          </a:prstGeom>
          <a:solidFill>
            <a:srgbClr val="000000">
              <a:alpha val="72000"/>
            </a:srgbClr>
          </a:solidFill>
          <a:ln w="9525">
            <a:solidFill>
              <a:srgbClr val="FFFFFF">
                <a:alpha val="45000"/>
              </a:srgbClr>
            </a:solidFill>
          </a:ln>
        </p:spPr>
        <p:txBody>
          <a:bodyPr rtlCol="0" anchor="ctr" wrap="square" lIns="150000" rIns="120000" tIns="20000" bIns="20000"/>
          <a:lstStyle/>
          <a:p>
            <a:pPr algn="l"/>
            <a:r>
              <a:rPr sz="900" b="1" i="0">
                <a:solidFill>
                  <a:srgbClr val="FFFFFF"/>
                </a:solidFill>
              </a:rPr>
              <a:t>Last updated: </a:t>
            </a:r>
            <a:r>
              <a:rPr sz="900" b="0" i="1">
                <a:solidFill>
                  <a:srgbClr val="D6D6DF"/>
                </a:solidFill>
              </a:rPr>
              <a:t>[date]</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 name="Picture 4" descr="f_hero_library.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endParaRP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How we're going about it</a:t>
            </a:r>
          </a:p>
        </p:txBody>
      </p:sp>
      <p:sp>
        <p:nvSpPr>
          <p:cNvPr id="4" name="Text Placeholder 3"/>
          <p:cNvSpPr>
            <a:spLocks noGrp="1"/>
          </p:cNvSpPr>
          <p:nvPr>
            <p:ph type="body" sz="quarter" idx="12"/>
          </p:nvPr>
        </p:nvSpPr>
        <p:spPr>
          <a:xfrm>
            <a:off x="457200" y="170000"/>
            <a:ext cx="8000000" cy="182880"/>
          </a:xfrm>
        </p:spPr>
        <p:txBody>
          <a:bodyPr/>
          <a:lstStyle/>
          <a:p>
            <a:r>
              <a:rPr>
                <a:solidFill>
                  <a:srgbClr val="0391F2"/>
                </a:solidFill>
              </a:rPr>
              <a:t>TEMPLATE · 1 STEP · CLICK-DOWN · WHAT WE ARE CHANGING</a:t>
            </a:r>
          </a:p>
        </p:txBody>
      </p:sp>
      <p:sp>
        <p:nvSpPr>
          <p:cNvPr id="7" name="TextBox 6"/>
          <p:cNvSpPr txBox="1"/>
          <p:nvPr/>
        </p:nvSpPr>
        <p:spPr>
          <a:xfrm>
            <a:off x="457200" y="1170000"/>
            <a:ext cx="11277600" cy="457200"/>
          </a:xfrm>
          <a:prstGeom prst="rect">
            <a:avLst/>
          </a:prstGeom>
          <a:noFill/>
        </p:spPr>
        <p:txBody>
          <a:bodyPr wrap="square" lIns="0" tIns="0" rIns="0" bIns="0" anchor="t">
            <a:spAutoFit/>
          </a:bodyPr>
          <a:lstStyle/>
          <a:p>
            <a:pPr algn="l">
              <a:spcAft>
                <a:spcPts val="500"/>
              </a:spcAft>
            </a:pPr>
            <a:r>
              <a:rPr sz="1250" b="0" i="1">
                <a:solidFill>
                  <a:srgbClr val="60607D"/>
                </a:solidFill>
              </a:rPr>
              <a:t>[Put here: one line on how we are tackling this. The steps below fill in the detail.]</a:t>
            </a:r>
          </a:p>
        </p:txBody>
      </p:sp>
      <p:sp>
        <p:nvSpPr>
          <p:cNvPr id="8" name="Rounded Rectangle 7"/>
          <p:cNvSpPr/>
          <p:nvPr/>
        </p:nvSpPr>
        <p:spPr>
          <a:xfrm>
            <a:off x="457200" y="1828368"/>
            <a:ext cx="11277600" cy="233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a:solidFill>
                  <a:srgbClr val="60607D"/>
                </a:solidFill>
              </a:rPr>
              <a:t>Step 1</a:t>
            </a:r>
          </a:p>
          <a:p>
            <a:pPr algn="l">
              <a:spcAft>
                <a:spcPts val="500"/>
              </a:spcAft>
            </a:pPr>
            <a:r>
              <a:rPr sz="1150" b="0" i="1">
                <a:solidFill>
                  <a:srgbClr val="60607D"/>
                </a:solidFill>
              </a:rPr>
              <a:t>[Step or story name]</a:t>
            </a:r>
          </a:p>
          <a:p>
            <a:pPr algn="l">
              <a:spcAft>
                <a:spcPts val="500"/>
              </a:spcAft>
            </a:pPr>
            <a:r>
              <a:rPr sz="1150" b="0" i="1">
                <a:solidFill>
                  <a:srgbClr val="60607D"/>
                </a:solidFill>
              </a:rPr>
              <a:t>[Put here: what we do in this step, in a sentence or two.]</a:t>
            </a:r>
          </a:p>
        </p:txBody>
      </p:sp>
      <p:sp>
        <p:nvSpPr>
          <p:cNvPr id="9" name="Rectangle 8"/>
          <p:cNvSpPr/>
          <p:nvPr/>
        </p:nvSpPr>
        <p:spPr>
          <a:xfrm>
            <a:off x="1219885" y="4379808"/>
            <a:ext cx="9752229" cy="19050"/>
          </a:xfrm>
          <a:prstGeom prst="rect">
            <a:avLst/>
          </a:prstGeom>
          <a:solidFill>
            <a:srgbClr val="D6D6DF"/>
          </a:solidFill>
          <a:ln>
            <a:noFill/>
          </a:ln>
        </p:spPr>
        <p:txBody>
          <a:bodyPr rtlCol="0" anchor="ctr"/>
          <a:lstStyle/>
          <a:p>
            <a:pPr algn="ctr"/>
            <a:endParaRPr/>
          </a:p>
        </p:txBody>
      </p:sp>
      <p:sp>
        <p:nvSpPr>
          <p:cNvPr id="10" name="Oval 9"/>
          <p:cNvSpPr/>
          <p:nvPr/>
        </p:nvSpPr>
        <p:spPr>
          <a:xfrm>
            <a:off x="1128445" y="4288368"/>
            <a:ext cx="182880" cy="182880"/>
          </a:xfrm>
          <a:prstGeom prst="ellipse">
            <a:avLst/>
          </a:prstGeom>
          <a:solidFill>
            <a:srgbClr val="FFFFFF"/>
          </a:solidFill>
          <a:ln w="19050">
            <a:solidFill>
              <a:srgbClr val="D6D6DF"/>
            </a:solidFill>
          </a:ln>
        </p:spPr>
        <p:txBody>
          <a:bodyPr rtlCol="0" anchor="ctr"/>
          <a:lstStyle/>
          <a:p>
            <a:pPr algn="ctr"/>
            <a:endParaRPr/>
          </a:p>
        </p:txBody>
      </p:sp>
      <p:sp>
        <p:nvSpPr>
          <p:cNvPr id="11" name="Rounded Rectangle 10"/>
          <p:cNvSpPr/>
          <p:nvPr/>
        </p:nvSpPr>
        <p:spPr>
          <a:xfrm>
            <a:off x="457200" y="4562688"/>
            <a:ext cx="1525371"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Aft>
                <a:spcPts val="500"/>
              </a:spcAft>
            </a:pPr>
            <a:r>
              <a:rPr sz="1100" b="0" i="1">
                <a:solidFill>
                  <a:srgbClr val="60607D"/>
                </a:solidFill>
              </a:rPr>
              <a:t>[Date]</a:t>
            </a:r>
          </a:p>
          <a:p>
            <a:pPr algn="l">
              <a:spcAft>
                <a:spcPts val="500"/>
              </a:spcAft>
            </a:pPr>
            <a:r>
              <a:rPr sz="1100" b="0" i="1">
                <a:solidFill>
                  <a:srgbClr val="60607D"/>
                </a:solidFill>
              </a:rPr>
              <a:t>[What is done by then]</a:t>
            </a:r>
          </a:p>
        </p:txBody>
      </p:sp>
      <p:sp>
        <p:nvSpPr>
          <p:cNvPr id="12" name="Oval 11"/>
          <p:cNvSpPr/>
          <p:nvPr/>
        </p:nvSpPr>
        <p:spPr>
          <a:xfrm>
            <a:off x="2753816" y="4288368"/>
            <a:ext cx="182880" cy="182880"/>
          </a:xfrm>
          <a:prstGeom prst="ellipse">
            <a:avLst/>
          </a:prstGeom>
          <a:solidFill>
            <a:srgbClr val="FFFFFF"/>
          </a:solidFill>
          <a:ln w="19050">
            <a:solidFill>
              <a:srgbClr val="D6D6DF"/>
            </a:solidFill>
          </a:ln>
        </p:spPr>
        <p:txBody>
          <a:bodyPr rtlCol="0" anchor="ctr"/>
          <a:lstStyle/>
          <a:p>
            <a:pPr algn="ctr"/>
            <a:endParaRPr/>
          </a:p>
        </p:txBody>
      </p:sp>
      <p:sp>
        <p:nvSpPr>
          <p:cNvPr id="13" name="Rounded Rectangle 12"/>
          <p:cNvSpPr/>
          <p:nvPr/>
        </p:nvSpPr>
        <p:spPr>
          <a:xfrm>
            <a:off x="2082571" y="4562688"/>
            <a:ext cx="1525371"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Aft>
                <a:spcPts val="500"/>
              </a:spcAft>
            </a:pPr>
            <a:r>
              <a:rPr sz="1100" b="0" i="1">
                <a:solidFill>
                  <a:srgbClr val="60607D"/>
                </a:solidFill>
              </a:rPr>
              <a:t>[Date]</a:t>
            </a:r>
          </a:p>
          <a:p>
            <a:pPr algn="l">
              <a:spcAft>
                <a:spcPts val="500"/>
              </a:spcAft>
            </a:pPr>
            <a:r>
              <a:rPr sz="1100" b="0" i="1">
                <a:solidFill>
                  <a:srgbClr val="60607D"/>
                </a:solidFill>
              </a:rPr>
              <a:t>[What is done by then]</a:t>
            </a:r>
          </a:p>
        </p:txBody>
      </p:sp>
      <p:sp>
        <p:nvSpPr>
          <p:cNvPr id="14" name="Oval 13"/>
          <p:cNvSpPr/>
          <p:nvPr/>
        </p:nvSpPr>
        <p:spPr>
          <a:xfrm>
            <a:off x="4379187" y="4288368"/>
            <a:ext cx="182880" cy="182880"/>
          </a:xfrm>
          <a:prstGeom prst="ellipse">
            <a:avLst/>
          </a:prstGeom>
          <a:solidFill>
            <a:srgbClr val="FFFFFF"/>
          </a:solidFill>
          <a:ln w="19050">
            <a:solidFill>
              <a:srgbClr val="D6D6DF"/>
            </a:solidFill>
          </a:ln>
        </p:spPr>
        <p:txBody>
          <a:bodyPr rtlCol="0" anchor="ctr"/>
          <a:lstStyle/>
          <a:p>
            <a:pPr algn="ctr"/>
            <a:endParaRPr/>
          </a:p>
        </p:txBody>
      </p:sp>
      <p:sp>
        <p:nvSpPr>
          <p:cNvPr id="15" name="Rounded Rectangle 14"/>
          <p:cNvSpPr/>
          <p:nvPr/>
        </p:nvSpPr>
        <p:spPr>
          <a:xfrm>
            <a:off x="3707942" y="4562688"/>
            <a:ext cx="1525371"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Aft>
                <a:spcPts val="500"/>
              </a:spcAft>
            </a:pPr>
            <a:r>
              <a:rPr sz="1100" b="0" i="1">
                <a:solidFill>
                  <a:srgbClr val="60607D"/>
                </a:solidFill>
              </a:rPr>
              <a:t>[Date]</a:t>
            </a:r>
          </a:p>
          <a:p>
            <a:pPr algn="l">
              <a:spcAft>
                <a:spcPts val="500"/>
              </a:spcAft>
            </a:pPr>
            <a:r>
              <a:rPr sz="1100" b="0" i="1">
                <a:solidFill>
                  <a:srgbClr val="60607D"/>
                </a:solidFill>
              </a:rPr>
              <a:t>[What is done by then]</a:t>
            </a:r>
          </a:p>
        </p:txBody>
      </p:sp>
      <p:sp>
        <p:nvSpPr>
          <p:cNvPr id="16" name="Oval 15"/>
          <p:cNvSpPr/>
          <p:nvPr/>
        </p:nvSpPr>
        <p:spPr>
          <a:xfrm>
            <a:off x="6004558" y="4288368"/>
            <a:ext cx="182880" cy="182880"/>
          </a:xfrm>
          <a:prstGeom prst="ellipse">
            <a:avLst/>
          </a:prstGeom>
          <a:solidFill>
            <a:srgbClr val="FFFFFF"/>
          </a:solidFill>
          <a:ln w="19050">
            <a:solidFill>
              <a:srgbClr val="D6D6DF"/>
            </a:solidFill>
          </a:ln>
        </p:spPr>
        <p:txBody>
          <a:bodyPr rtlCol="0" anchor="ctr"/>
          <a:lstStyle/>
          <a:p>
            <a:pPr algn="ctr"/>
            <a:endParaRPr/>
          </a:p>
        </p:txBody>
      </p:sp>
      <p:sp>
        <p:nvSpPr>
          <p:cNvPr id="17" name="Rounded Rectangle 16"/>
          <p:cNvSpPr/>
          <p:nvPr/>
        </p:nvSpPr>
        <p:spPr>
          <a:xfrm>
            <a:off x="5333313" y="4562688"/>
            <a:ext cx="1525371"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Aft>
                <a:spcPts val="500"/>
              </a:spcAft>
            </a:pPr>
            <a:r>
              <a:rPr sz="1100" b="0" i="1">
                <a:solidFill>
                  <a:srgbClr val="60607D"/>
                </a:solidFill>
              </a:rPr>
              <a:t>[Date]</a:t>
            </a:r>
          </a:p>
          <a:p>
            <a:pPr algn="l">
              <a:spcAft>
                <a:spcPts val="500"/>
              </a:spcAft>
            </a:pPr>
            <a:r>
              <a:rPr sz="1100" b="0" i="1">
                <a:solidFill>
                  <a:srgbClr val="60607D"/>
                </a:solidFill>
              </a:rPr>
              <a:t>[What is done by then]</a:t>
            </a:r>
          </a:p>
        </p:txBody>
      </p:sp>
      <p:sp>
        <p:nvSpPr>
          <p:cNvPr id="18" name="Oval 17"/>
          <p:cNvSpPr/>
          <p:nvPr/>
        </p:nvSpPr>
        <p:spPr>
          <a:xfrm>
            <a:off x="7629929" y="4288368"/>
            <a:ext cx="182880" cy="182880"/>
          </a:xfrm>
          <a:prstGeom prst="ellipse">
            <a:avLst/>
          </a:prstGeom>
          <a:solidFill>
            <a:srgbClr val="FFFFFF"/>
          </a:solidFill>
          <a:ln w="19050">
            <a:solidFill>
              <a:srgbClr val="D6D6DF"/>
            </a:solidFill>
          </a:ln>
        </p:spPr>
        <p:txBody>
          <a:bodyPr rtlCol="0" anchor="ctr"/>
          <a:lstStyle/>
          <a:p>
            <a:pPr algn="ctr"/>
            <a:endParaRPr/>
          </a:p>
        </p:txBody>
      </p:sp>
      <p:sp>
        <p:nvSpPr>
          <p:cNvPr id="19" name="Rounded Rectangle 18"/>
          <p:cNvSpPr/>
          <p:nvPr/>
        </p:nvSpPr>
        <p:spPr>
          <a:xfrm>
            <a:off x="6958684" y="4562688"/>
            <a:ext cx="1525371"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Aft>
                <a:spcPts val="500"/>
              </a:spcAft>
            </a:pPr>
            <a:r>
              <a:rPr sz="1100" b="0" i="1">
                <a:solidFill>
                  <a:srgbClr val="60607D"/>
                </a:solidFill>
              </a:rPr>
              <a:t>[Date]</a:t>
            </a:r>
          </a:p>
          <a:p>
            <a:pPr algn="l">
              <a:spcAft>
                <a:spcPts val="500"/>
              </a:spcAft>
            </a:pPr>
            <a:r>
              <a:rPr sz="1100" b="0" i="1">
                <a:solidFill>
                  <a:srgbClr val="60607D"/>
                </a:solidFill>
              </a:rPr>
              <a:t>[What is done by then]</a:t>
            </a:r>
          </a:p>
        </p:txBody>
      </p:sp>
      <p:sp>
        <p:nvSpPr>
          <p:cNvPr id="20" name="Oval 19"/>
          <p:cNvSpPr/>
          <p:nvPr/>
        </p:nvSpPr>
        <p:spPr>
          <a:xfrm>
            <a:off x="9255300" y="4288368"/>
            <a:ext cx="182880" cy="182880"/>
          </a:xfrm>
          <a:prstGeom prst="ellipse">
            <a:avLst/>
          </a:prstGeom>
          <a:solidFill>
            <a:srgbClr val="FFFFFF"/>
          </a:solidFill>
          <a:ln w="19050">
            <a:solidFill>
              <a:srgbClr val="D6D6DF"/>
            </a:solidFill>
          </a:ln>
        </p:spPr>
        <p:txBody>
          <a:bodyPr rtlCol="0" anchor="ctr"/>
          <a:lstStyle/>
          <a:p>
            <a:pPr algn="ctr"/>
            <a:endParaRPr/>
          </a:p>
        </p:txBody>
      </p:sp>
      <p:sp>
        <p:nvSpPr>
          <p:cNvPr id="21" name="Rounded Rectangle 20"/>
          <p:cNvSpPr/>
          <p:nvPr/>
        </p:nvSpPr>
        <p:spPr>
          <a:xfrm>
            <a:off x="8584055" y="4562688"/>
            <a:ext cx="1525371"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Aft>
                <a:spcPts val="500"/>
              </a:spcAft>
            </a:pPr>
            <a:r>
              <a:rPr sz="1100" b="0" i="1">
                <a:solidFill>
                  <a:srgbClr val="60607D"/>
                </a:solidFill>
              </a:rPr>
              <a:t>[Date]</a:t>
            </a:r>
          </a:p>
          <a:p>
            <a:pPr algn="l">
              <a:spcAft>
                <a:spcPts val="500"/>
              </a:spcAft>
            </a:pPr>
            <a:r>
              <a:rPr sz="1100" b="0" i="1">
                <a:solidFill>
                  <a:srgbClr val="60607D"/>
                </a:solidFill>
              </a:rPr>
              <a:t>[What is done by then]</a:t>
            </a:r>
          </a:p>
        </p:txBody>
      </p:sp>
      <p:sp>
        <p:nvSpPr>
          <p:cNvPr id="22" name="Oval 21"/>
          <p:cNvSpPr/>
          <p:nvPr/>
        </p:nvSpPr>
        <p:spPr>
          <a:xfrm>
            <a:off x="10880671" y="4288368"/>
            <a:ext cx="182880" cy="182880"/>
          </a:xfrm>
          <a:prstGeom prst="ellipse">
            <a:avLst/>
          </a:prstGeom>
          <a:solidFill>
            <a:srgbClr val="FFFFFF"/>
          </a:solidFill>
          <a:ln w="19050">
            <a:solidFill>
              <a:srgbClr val="D6D6DF"/>
            </a:solidFill>
          </a:ln>
        </p:spPr>
        <p:txBody>
          <a:bodyPr rtlCol="0" anchor="ctr"/>
          <a:lstStyle/>
          <a:p>
            <a:pPr algn="ctr"/>
            <a:endParaRPr/>
          </a:p>
        </p:txBody>
      </p:sp>
      <p:sp>
        <p:nvSpPr>
          <p:cNvPr id="23" name="Rounded Rectangle 22"/>
          <p:cNvSpPr/>
          <p:nvPr/>
        </p:nvSpPr>
        <p:spPr>
          <a:xfrm>
            <a:off x="10209426" y="4562688"/>
            <a:ext cx="1525371"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Bef>
                <a:spcPts val="200"/>
              </a:spcBef>
              <a:spcAft>
                <a:spcPts val="200"/>
              </a:spcAft>
            </a:pPr>
            <a:r>
              <a:rPr sz="850" b="1" i="0" cap="all" spc="100">
                <a:solidFill>
                  <a:srgbClr val="60607D"/>
                </a:solidFill>
              </a:rPr>
              <a:t>The target</a:t>
            </a:r>
          </a:p>
          <a:p>
            <a:pPr algn="l">
              <a:spcBef>
                <a:spcPts val="400"/>
              </a:spcBef>
              <a:spcAft>
                <a:spcPts val="200"/>
              </a:spcAft>
            </a:pPr>
            <a:r>
              <a:rPr sz="850" b="1" i="0">
                <a:solidFill>
                  <a:srgbClr val="000000"/>
                </a:solidFill>
              </a:rPr>
              <a:t>MVP done</a:t>
            </a:r>
          </a:p>
          <a:p>
            <a:pPr algn="l">
              <a:spcAft>
                <a:spcPts val="500"/>
              </a:spcAft>
            </a:pPr>
            <a:r>
              <a:rPr sz="850" b="0" i="1">
                <a:solidFill>
                  <a:srgbClr val="60607D"/>
                </a:solidFill>
              </a:rPr>
              <a:t>[Date we are shooting for.]</a:t>
            </a:r>
          </a:p>
        </p:txBody>
      </p:sp>
      <p:sp>
        <p:nvSpPr>
          <p:cNvPr id="24" name="Rounded Rectangle 23"/>
          <p:cNvSpPr/>
          <p:nvPr/>
        </p:nvSpPr>
        <p:spPr>
          <a:xfrm>
            <a:off x="457200" y="5462688"/>
            <a:ext cx="5563800" cy="93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91440" rIns="182880" bIns="36576" rtlCol="0" anchor="t"/>
          <a:lstStyle/>
          <a:p>
            <a:pPr algn="l">
              <a:spcAft>
                <a:spcPts val="600"/>
              </a:spcAft>
            </a:pPr>
            <a:r>
              <a:rPr sz="1100" b="1" i="0" cap="all" spc="60">
                <a:solidFill>
                  <a:srgbClr val="000000"/>
                </a:solidFill>
              </a:rPr>
              <a:t>Team</a:t>
            </a:r>
          </a:p>
        </p:txBody>
      </p:sp>
      <p:sp>
        <p:nvSpPr>
          <p:cNvPr id="25" name="Rounded Rectangle 24"/>
          <p:cNvSpPr/>
          <p:nvPr/>
        </p:nvSpPr>
        <p:spPr>
          <a:xfrm>
            <a:off x="667512" y="5791872"/>
            <a:ext cx="1351221" cy="246888"/>
          </a:xfrm>
          <a:prstGeom prst="roundRect">
            <a:avLst>
              <a:gd name="adj" fmla="val 50000"/>
            </a:avLst>
          </a:prstGeom>
          <a:solidFill>
            <a:srgbClr val="FFFFFF"/>
          </a:solidFill>
          <a:ln w="12700">
            <a:solidFill>
              <a:srgbClr val="D6D6DF"/>
            </a:solidFill>
          </a:ln>
        </p:spPr>
        <p:txBody>
          <a:bodyPr wrap="none" lIns="0" tIns="0" rIns="0" bIns="0" rtlCol="0" anchor="ctr"/>
          <a:lstStyle/>
          <a:p>
            <a:pPr algn="ctr"/>
            <a:r>
              <a:rPr sz="900" b="0" i="1">
                <a:solidFill>
                  <a:srgbClr val="60607D"/>
                </a:solidFill>
              </a:rPr>
              <a:t>[Who does the work]</a:t>
            </a:r>
          </a:p>
        </p:txBody>
      </p:sp>
      <p:sp>
        <p:nvSpPr>
          <p:cNvPr id="26" name="Rounded Rectangle 25"/>
          <p:cNvSpPr/>
          <p:nvPr/>
        </p:nvSpPr>
        <p:spPr>
          <a:xfrm>
            <a:off x="2101029" y="5791872"/>
            <a:ext cx="1351221" cy="246888"/>
          </a:xfrm>
          <a:prstGeom prst="roundRect">
            <a:avLst>
              <a:gd name="adj" fmla="val 50000"/>
            </a:avLst>
          </a:prstGeom>
          <a:solidFill>
            <a:srgbClr val="FFFFFF"/>
          </a:solidFill>
          <a:ln w="12700">
            <a:solidFill>
              <a:srgbClr val="D6D6DF"/>
            </a:solidFill>
          </a:ln>
        </p:spPr>
        <p:txBody>
          <a:bodyPr wrap="none" lIns="0" tIns="0" rIns="0" bIns="0" rtlCol="0" anchor="ctr"/>
          <a:lstStyle/>
          <a:p>
            <a:pPr algn="ctr"/>
            <a:r>
              <a:rPr sz="900" b="0" i="1">
                <a:solidFill>
                  <a:srgbClr val="60607D"/>
                </a:solidFill>
              </a:rPr>
              <a:t>[Who does the work]</a:t>
            </a:r>
          </a:p>
        </p:txBody>
      </p:sp>
      <p:sp>
        <p:nvSpPr>
          <p:cNvPr id="27" name="Rounded Rectangle 26"/>
          <p:cNvSpPr/>
          <p:nvPr/>
        </p:nvSpPr>
        <p:spPr>
          <a:xfrm>
            <a:off x="6171000" y="5462688"/>
            <a:ext cx="5563800" cy="93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91440" rIns="182880" bIns="36576" rtlCol="0" anchor="t"/>
          <a:lstStyle/>
          <a:p>
            <a:pPr algn="l">
              <a:spcAft>
                <a:spcPts val="600"/>
              </a:spcAft>
            </a:pPr>
            <a:r>
              <a:rPr sz="1100" b="1" i="0" cap="all" spc="60">
                <a:solidFill>
                  <a:srgbClr val="000000"/>
                </a:solidFill>
              </a:rPr>
              <a:t>Partners</a:t>
            </a:r>
          </a:p>
        </p:txBody>
      </p:sp>
      <p:sp>
        <p:nvSpPr>
          <p:cNvPr id="28" name="Rounded Rectangle 27"/>
          <p:cNvSpPr/>
          <p:nvPr/>
        </p:nvSpPr>
        <p:spPr>
          <a:xfrm>
            <a:off x="6381312" y="5791872"/>
            <a:ext cx="1291655" cy="246888"/>
          </a:xfrm>
          <a:prstGeom prst="roundRect">
            <a:avLst>
              <a:gd name="adj" fmla="val 50000"/>
            </a:avLst>
          </a:prstGeom>
          <a:solidFill>
            <a:srgbClr val="FFFFFF"/>
          </a:solidFill>
          <a:ln w="12700">
            <a:solidFill>
              <a:srgbClr val="D6D6DF"/>
            </a:solidFill>
          </a:ln>
        </p:spPr>
        <p:txBody>
          <a:bodyPr wrap="none" lIns="0" tIns="0" rIns="0" bIns="0" rtlCol="0" anchor="ctr"/>
          <a:lstStyle/>
          <a:p>
            <a:pPr algn="ctr"/>
            <a:r>
              <a:rPr sz="900" b="0" i="1">
                <a:solidFill>
                  <a:srgbClr val="60607D"/>
                </a:solidFill>
              </a:rPr>
              <a:t>[Who we work with]</a:t>
            </a:r>
          </a:p>
        </p:txBody>
      </p:sp>
      <p:sp>
        <p:nvSpPr>
          <p:cNvPr id="29" name="Rounded Rectangle 28"/>
          <p:cNvSpPr/>
          <p:nvPr/>
        </p:nvSpPr>
        <p:spPr>
          <a:xfrm>
            <a:off x="7755263" y="5791872"/>
            <a:ext cx="1291655" cy="246888"/>
          </a:xfrm>
          <a:prstGeom prst="roundRect">
            <a:avLst>
              <a:gd name="adj" fmla="val 50000"/>
            </a:avLst>
          </a:prstGeom>
          <a:solidFill>
            <a:srgbClr val="FFFFFF"/>
          </a:solidFill>
          <a:ln w="12700">
            <a:solidFill>
              <a:srgbClr val="D6D6DF"/>
            </a:solidFill>
          </a:ln>
        </p:spPr>
        <p:txBody>
          <a:bodyPr wrap="none" lIns="0" tIns="0" rIns="0" bIns="0" rtlCol="0" anchor="ctr"/>
          <a:lstStyle/>
          <a:p>
            <a:pPr algn="ctr"/>
            <a:r>
              <a:rPr sz="900" b="0" i="1">
                <a:solidFill>
                  <a:srgbClr val="60607D"/>
                </a:solidFill>
              </a:rPr>
              <a:t>[Who we work with]</a:t>
            </a:r>
          </a:p>
        </p:txBody>
      </p:sp>
      <p:sp>
        <p:nvSpPr>
          <p:cNvPr id="30" name="Rounded Rectangle 29"/>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wrap="square" lIns="150000" rIns="120000" rtlCol="0" anchor="ctr"/>
          <a:lstStyle/>
          <a:p>
            <a:pPr algn="l"/>
            <a:r>
              <a:rPr sz="1050" b="1" i="0">
                <a:solidFill>
                  <a:srgbClr val="FFFFFF"/>
                </a:solidFill>
              </a:rPr>
              <a:t>Owner(s)</a:t>
            </a:r>
          </a:p>
          <a:p>
            <a:pPr algn="l"/>
            <a:r>
              <a:rPr sz="900" b="0" i="1">
                <a:solidFill>
                  <a:srgbClr val="D6D6DF"/>
                </a:solidFill>
              </a:rPr>
              <a:t>[Names]</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 name="Picture 4" descr="f_hero_library.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endParaRP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How we're going about it</a:t>
            </a:r>
          </a:p>
        </p:txBody>
      </p:sp>
      <p:sp>
        <p:nvSpPr>
          <p:cNvPr id="4" name="Text Placeholder 3"/>
          <p:cNvSpPr>
            <a:spLocks noGrp="1"/>
          </p:cNvSpPr>
          <p:nvPr>
            <p:ph type="body" sz="quarter" idx="12"/>
          </p:nvPr>
        </p:nvSpPr>
        <p:spPr>
          <a:xfrm>
            <a:off x="457200" y="170000"/>
            <a:ext cx="8000000" cy="182880"/>
          </a:xfrm>
        </p:spPr>
        <p:txBody>
          <a:bodyPr/>
          <a:lstStyle/>
          <a:p>
            <a:r>
              <a:rPr>
                <a:solidFill>
                  <a:srgbClr val="0391F2"/>
                </a:solidFill>
              </a:rPr>
              <a:t>TEMPLATE · 2 STEPS · CLICK-DOWN · WHAT WE ARE CHANGING</a:t>
            </a:r>
          </a:p>
        </p:txBody>
      </p:sp>
      <p:sp>
        <p:nvSpPr>
          <p:cNvPr id="7" name="TextBox 6"/>
          <p:cNvSpPr txBox="1"/>
          <p:nvPr/>
        </p:nvSpPr>
        <p:spPr>
          <a:xfrm>
            <a:off x="457200" y="1170000"/>
            <a:ext cx="11277600" cy="457200"/>
          </a:xfrm>
          <a:prstGeom prst="rect">
            <a:avLst/>
          </a:prstGeom>
          <a:noFill/>
        </p:spPr>
        <p:txBody>
          <a:bodyPr wrap="square" lIns="0" tIns="0" rIns="0" bIns="0" anchor="t">
            <a:spAutoFit/>
          </a:bodyPr>
          <a:lstStyle/>
          <a:p>
            <a:pPr algn="l">
              <a:spcAft>
                <a:spcPts val="500"/>
              </a:spcAft>
            </a:pPr>
            <a:r>
              <a:rPr sz="1250" b="0" i="1">
                <a:solidFill>
                  <a:srgbClr val="60607D"/>
                </a:solidFill>
              </a:rPr>
              <a:t>[Put here: one line on how we are tackling this. The steps below fill in the detail.]</a:t>
            </a:r>
          </a:p>
        </p:txBody>
      </p:sp>
      <p:sp>
        <p:nvSpPr>
          <p:cNvPr id="8" name="Rounded Rectangle 7"/>
          <p:cNvSpPr/>
          <p:nvPr/>
        </p:nvSpPr>
        <p:spPr>
          <a:xfrm>
            <a:off x="457200" y="1828368"/>
            <a:ext cx="5588800" cy="233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a:solidFill>
                  <a:srgbClr val="60607D"/>
                </a:solidFill>
              </a:rPr>
              <a:t>Step 1</a:t>
            </a:r>
          </a:p>
          <a:p>
            <a:pPr algn="l">
              <a:spcAft>
                <a:spcPts val="500"/>
              </a:spcAft>
            </a:pPr>
            <a:r>
              <a:rPr sz="1150" b="0" i="1">
                <a:solidFill>
                  <a:srgbClr val="60607D"/>
                </a:solidFill>
              </a:rPr>
              <a:t>[Step or story name]</a:t>
            </a:r>
          </a:p>
          <a:p>
            <a:pPr algn="l">
              <a:spcAft>
                <a:spcPts val="500"/>
              </a:spcAft>
            </a:pPr>
            <a:r>
              <a:rPr sz="1150" b="0" i="1">
                <a:solidFill>
                  <a:srgbClr val="60607D"/>
                </a:solidFill>
              </a:rPr>
              <a:t>[Put here: what we do in this step, in a sentence or two.]</a:t>
            </a:r>
          </a:p>
        </p:txBody>
      </p:sp>
      <p:sp>
        <p:nvSpPr>
          <p:cNvPr id="9" name="Rounded Rectangle 8"/>
          <p:cNvSpPr/>
          <p:nvPr/>
        </p:nvSpPr>
        <p:spPr>
          <a:xfrm>
            <a:off x="6146000" y="1828368"/>
            <a:ext cx="5588800" cy="233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a:solidFill>
                  <a:srgbClr val="60607D"/>
                </a:solidFill>
              </a:rPr>
              <a:t>Step 2</a:t>
            </a:r>
          </a:p>
          <a:p>
            <a:pPr algn="l">
              <a:spcAft>
                <a:spcPts val="500"/>
              </a:spcAft>
            </a:pPr>
            <a:r>
              <a:rPr sz="1150" b="0" i="1">
                <a:solidFill>
                  <a:srgbClr val="60607D"/>
                </a:solidFill>
              </a:rPr>
              <a:t>[Step or story name]</a:t>
            </a:r>
          </a:p>
          <a:p>
            <a:pPr algn="l">
              <a:spcAft>
                <a:spcPts val="500"/>
              </a:spcAft>
            </a:pPr>
            <a:r>
              <a:rPr sz="1150" b="0" i="1">
                <a:solidFill>
                  <a:srgbClr val="60607D"/>
                </a:solidFill>
              </a:rPr>
              <a:t>[Put here: what we do in this step, in a sentence or two.]</a:t>
            </a:r>
          </a:p>
        </p:txBody>
      </p:sp>
      <p:sp>
        <p:nvSpPr>
          <p:cNvPr id="10" name="Rectangle 9"/>
          <p:cNvSpPr/>
          <p:nvPr/>
        </p:nvSpPr>
        <p:spPr>
          <a:xfrm>
            <a:off x="1219885" y="4379808"/>
            <a:ext cx="9752229" cy="19050"/>
          </a:xfrm>
          <a:prstGeom prst="rect">
            <a:avLst/>
          </a:prstGeom>
          <a:solidFill>
            <a:srgbClr val="D6D6DF"/>
          </a:solidFill>
          <a:ln>
            <a:noFill/>
          </a:ln>
        </p:spPr>
        <p:txBody>
          <a:bodyPr rtlCol="0" anchor="ctr"/>
          <a:lstStyle/>
          <a:p>
            <a:pPr algn="ctr"/>
            <a:endParaRPr/>
          </a:p>
        </p:txBody>
      </p:sp>
      <p:sp>
        <p:nvSpPr>
          <p:cNvPr id="11" name="Oval 10"/>
          <p:cNvSpPr/>
          <p:nvPr/>
        </p:nvSpPr>
        <p:spPr>
          <a:xfrm>
            <a:off x="1128445" y="4288368"/>
            <a:ext cx="182880" cy="182880"/>
          </a:xfrm>
          <a:prstGeom prst="ellipse">
            <a:avLst/>
          </a:prstGeom>
          <a:solidFill>
            <a:srgbClr val="FFFFFF"/>
          </a:solidFill>
          <a:ln w="19050">
            <a:solidFill>
              <a:srgbClr val="D6D6DF"/>
            </a:solidFill>
          </a:ln>
        </p:spPr>
        <p:txBody>
          <a:bodyPr rtlCol="0" anchor="ctr"/>
          <a:lstStyle/>
          <a:p>
            <a:pPr algn="ctr"/>
            <a:endParaRPr/>
          </a:p>
        </p:txBody>
      </p:sp>
      <p:sp>
        <p:nvSpPr>
          <p:cNvPr id="12" name="Rounded Rectangle 11"/>
          <p:cNvSpPr/>
          <p:nvPr/>
        </p:nvSpPr>
        <p:spPr>
          <a:xfrm>
            <a:off x="457200" y="4562688"/>
            <a:ext cx="1525371"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Aft>
                <a:spcPts val="500"/>
              </a:spcAft>
            </a:pPr>
            <a:r>
              <a:rPr sz="1100" b="0" i="1">
                <a:solidFill>
                  <a:srgbClr val="60607D"/>
                </a:solidFill>
              </a:rPr>
              <a:t>[Date]</a:t>
            </a:r>
          </a:p>
          <a:p>
            <a:pPr algn="l">
              <a:spcAft>
                <a:spcPts val="500"/>
              </a:spcAft>
            </a:pPr>
            <a:r>
              <a:rPr sz="1100" b="0" i="1">
                <a:solidFill>
                  <a:srgbClr val="60607D"/>
                </a:solidFill>
              </a:rPr>
              <a:t>[What is done by then]</a:t>
            </a:r>
          </a:p>
        </p:txBody>
      </p:sp>
      <p:sp>
        <p:nvSpPr>
          <p:cNvPr id="13" name="Oval 12"/>
          <p:cNvSpPr/>
          <p:nvPr/>
        </p:nvSpPr>
        <p:spPr>
          <a:xfrm>
            <a:off x="2753816" y="4288368"/>
            <a:ext cx="182880" cy="182880"/>
          </a:xfrm>
          <a:prstGeom prst="ellipse">
            <a:avLst/>
          </a:prstGeom>
          <a:solidFill>
            <a:srgbClr val="FFFFFF"/>
          </a:solidFill>
          <a:ln w="19050">
            <a:solidFill>
              <a:srgbClr val="D6D6DF"/>
            </a:solidFill>
          </a:ln>
        </p:spPr>
        <p:txBody>
          <a:bodyPr rtlCol="0" anchor="ctr"/>
          <a:lstStyle/>
          <a:p>
            <a:pPr algn="ctr"/>
            <a:endParaRPr/>
          </a:p>
        </p:txBody>
      </p:sp>
      <p:sp>
        <p:nvSpPr>
          <p:cNvPr id="14" name="Rounded Rectangle 13"/>
          <p:cNvSpPr/>
          <p:nvPr/>
        </p:nvSpPr>
        <p:spPr>
          <a:xfrm>
            <a:off x="2082571" y="4562688"/>
            <a:ext cx="1525371"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Aft>
                <a:spcPts val="500"/>
              </a:spcAft>
            </a:pPr>
            <a:r>
              <a:rPr sz="1100" b="0" i="1">
                <a:solidFill>
                  <a:srgbClr val="60607D"/>
                </a:solidFill>
              </a:rPr>
              <a:t>[Date]</a:t>
            </a:r>
          </a:p>
          <a:p>
            <a:pPr algn="l">
              <a:spcAft>
                <a:spcPts val="500"/>
              </a:spcAft>
            </a:pPr>
            <a:r>
              <a:rPr sz="1100" b="0" i="1">
                <a:solidFill>
                  <a:srgbClr val="60607D"/>
                </a:solidFill>
              </a:rPr>
              <a:t>[What is done by then]</a:t>
            </a:r>
          </a:p>
        </p:txBody>
      </p:sp>
      <p:sp>
        <p:nvSpPr>
          <p:cNvPr id="15" name="Oval 14"/>
          <p:cNvSpPr/>
          <p:nvPr/>
        </p:nvSpPr>
        <p:spPr>
          <a:xfrm>
            <a:off x="4379187" y="4288368"/>
            <a:ext cx="182880" cy="182880"/>
          </a:xfrm>
          <a:prstGeom prst="ellipse">
            <a:avLst/>
          </a:prstGeom>
          <a:solidFill>
            <a:srgbClr val="FFFFFF"/>
          </a:solidFill>
          <a:ln w="19050">
            <a:solidFill>
              <a:srgbClr val="D6D6DF"/>
            </a:solidFill>
          </a:ln>
        </p:spPr>
        <p:txBody>
          <a:bodyPr rtlCol="0" anchor="ctr"/>
          <a:lstStyle/>
          <a:p>
            <a:pPr algn="ctr"/>
            <a:endParaRPr/>
          </a:p>
        </p:txBody>
      </p:sp>
      <p:sp>
        <p:nvSpPr>
          <p:cNvPr id="16" name="Rounded Rectangle 15"/>
          <p:cNvSpPr/>
          <p:nvPr/>
        </p:nvSpPr>
        <p:spPr>
          <a:xfrm>
            <a:off x="3707942" y="4562688"/>
            <a:ext cx="1525371"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Aft>
                <a:spcPts val="500"/>
              </a:spcAft>
            </a:pPr>
            <a:r>
              <a:rPr sz="1100" b="0" i="1">
                <a:solidFill>
                  <a:srgbClr val="60607D"/>
                </a:solidFill>
              </a:rPr>
              <a:t>[Date]</a:t>
            </a:r>
          </a:p>
          <a:p>
            <a:pPr algn="l">
              <a:spcAft>
                <a:spcPts val="500"/>
              </a:spcAft>
            </a:pPr>
            <a:r>
              <a:rPr sz="1100" b="0" i="1">
                <a:solidFill>
                  <a:srgbClr val="60607D"/>
                </a:solidFill>
              </a:rPr>
              <a:t>[What is done by then]</a:t>
            </a:r>
          </a:p>
        </p:txBody>
      </p:sp>
      <p:sp>
        <p:nvSpPr>
          <p:cNvPr id="17" name="Oval 16"/>
          <p:cNvSpPr/>
          <p:nvPr/>
        </p:nvSpPr>
        <p:spPr>
          <a:xfrm>
            <a:off x="6004558" y="4288368"/>
            <a:ext cx="182880" cy="182880"/>
          </a:xfrm>
          <a:prstGeom prst="ellipse">
            <a:avLst/>
          </a:prstGeom>
          <a:solidFill>
            <a:srgbClr val="FFFFFF"/>
          </a:solidFill>
          <a:ln w="19050">
            <a:solidFill>
              <a:srgbClr val="D6D6DF"/>
            </a:solidFill>
          </a:ln>
        </p:spPr>
        <p:txBody>
          <a:bodyPr rtlCol="0" anchor="ctr"/>
          <a:lstStyle/>
          <a:p>
            <a:pPr algn="ctr"/>
            <a:endParaRPr/>
          </a:p>
        </p:txBody>
      </p:sp>
      <p:sp>
        <p:nvSpPr>
          <p:cNvPr id="18" name="Rounded Rectangle 17"/>
          <p:cNvSpPr/>
          <p:nvPr/>
        </p:nvSpPr>
        <p:spPr>
          <a:xfrm>
            <a:off x="5333313" y="4562688"/>
            <a:ext cx="1525371"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Aft>
                <a:spcPts val="500"/>
              </a:spcAft>
            </a:pPr>
            <a:r>
              <a:rPr sz="1100" b="0" i="1">
                <a:solidFill>
                  <a:srgbClr val="60607D"/>
                </a:solidFill>
              </a:rPr>
              <a:t>[Date]</a:t>
            </a:r>
          </a:p>
          <a:p>
            <a:pPr algn="l">
              <a:spcAft>
                <a:spcPts val="500"/>
              </a:spcAft>
            </a:pPr>
            <a:r>
              <a:rPr sz="1100" b="0" i="1">
                <a:solidFill>
                  <a:srgbClr val="60607D"/>
                </a:solidFill>
              </a:rPr>
              <a:t>[What is done by then]</a:t>
            </a:r>
          </a:p>
        </p:txBody>
      </p:sp>
      <p:sp>
        <p:nvSpPr>
          <p:cNvPr id="19" name="Oval 18"/>
          <p:cNvSpPr/>
          <p:nvPr/>
        </p:nvSpPr>
        <p:spPr>
          <a:xfrm>
            <a:off x="7629929" y="4288368"/>
            <a:ext cx="182880" cy="182880"/>
          </a:xfrm>
          <a:prstGeom prst="ellipse">
            <a:avLst/>
          </a:prstGeom>
          <a:solidFill>
            <a:srgbClr val="FFFFFF"/>
          </a:solidFill>
          <a:ln w="19050">
            <a:solidFill>
              <a:srgbClr val="D6D6DF"/>
            </a:solidFill>
          </a:ln>
        </p:spPr>
        <p:txBody>
          <a:bodyPr rtlCol="0" anchor="ctr"/>
          <a:lstStyle/>
          <a:p>
            <a:pPr algn="ctr"/>
            <a:endParaRPr/>
          </a:p>
        </p:txBody>
      </p:sp>
      <p:sp>
        <p:nvSpPr>
          <p:cNvPr id="20" name="Rounded Rectangle 19"/>
          <p:cNvSpPr/>
          <p:nvPr/>
        </p:nvSpPr>
        <p:spPr>
          <a:xfrm>
            <a:off x="6958684" y="4562688"/>
            <a:ext cx="1525371"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Aft>
                <a:spcPts val="500"/>
              </a:spcAft>
            </a:pPr>
            <a:r>
              <a:rPr sz="1100" b="0" i="1">
                <a:solidFill>
                  <a:srgbClr val="60607D"/>
                </a:solidFill>
              </a:rPr>
              <a:t>[Date]</a:t>
            </a:r>
          </a:p>
          <a:p>
            <a:pPr algn="l">
              <a:spcAft>
                <a:spcPts val="500"/>
              </a:spcAft>
            </a:pPr>
            <a:r>
              <a:rPr sz="1100" b="0" i="1">
                <a:solidFill>
                  <a:srgbClr val="60607D"/>
                </a:solidFill>
              </a:rPr>
              <a:t>[What is done by then]</a:t>
            </a:r>
          </a:p>
        </p:txBody>
      </p:sp>
      <p:sp>
        <p:nvSpPr>
          <p:cNvPr id="21" name="Oval 20"/>
          <p:cNvSpPr/>
          <p:nvPr/>
        </p:nvSpPr>
        <p:spPr>
          <a:xfrm>
            <a:off x="9255300" y="4288368"/>
            <a:ext cx="182880" cy="182880"/>
          </a:xfrm>
          <a:prstGeom prst="ellipse">
            <a:avLst/>
          </a:prstGeom>
          <a:solidFill>
            <a:srgbClr val="FFFFFF"/>
          </a:solidFill>
          <a:ln w="19050">
            <a:solidFill>
              <a:srgbClr val="D6D6DF"/>
            </a:solidFill>
          </a:ln>
        </p:spPr>
        <p:txBody>
          <a:bodyPr rtlCol="0" anchor="ctr"/>
          <a:lstStyle/>
          <a:p>
            <a:pPr algn="ctr"/>
            <a:endParaRPr/>
          </a:p>
        </p:txBody>
      </p:sp>
      <p:sp>
        <p:nvSpPr>
          <p:cNvPr id="22" name="Rounded Rectangle 21"/>
          <p:cNvSpPr/>
          <p:nvPr/>
        </p:nvSpPr>
        <p:spPr>
          <a:xfrm>
            <a:off x="8584055" y="4562688"/>
            <a:ext cx="1525371"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Aft>
                <a:spcPts val="500"/>
              </a:spcAft>
            </a:pPr>
            <a:r>
              <a:rPr sz="1100" b="0" i="1">
                <a:solidFill>
                  <a:srgbClr val="60607D"/>
                </a:solidFill>
              </a:rPr>
              <a:t>[Date]</a:t>
            </a:r>
          </a:p>
          <a:p>
            <a:pPr algn="l">
              <a:spcAft>
                <a:spcPts val="500"/>
              </a:spcAft>
            </a:pPr>
            <a:r>
              <a:rPr sz="1100" b="0" i="1">
                <a:solidFill>
                  <a:srgbClr val="60607D"/>
                </a:solidFill>
              </a:rPr>
              <a:t>[What is done by then]</a:t>
            </a:r>
          </a:p>
        </p:txBody>
      </p:sp>
      <p:sp>
        <p:nvSpPr>
          <p:cNvPr id="23" name="Oval 22"/>
          <p:cNvSpPr/>
          <p:nvPr/>
        </p:nvSpPr>
        <p:spPr>
          <a:xfrm>
            <a:off x="10880671" y="4288368"/>
            <a:ext cx="182880" cy="182880"/>
          </a:xfrm>
          <a:prstGeom prst="ellipse">
            <a:avLst/>
          </a:prstGeom>
          <a:solidFill>
            <a:srgbClr val="FFFFFF"/>
          </a:solidFill>
          <a:ln w="19050">
            <a:solidFill>
              <a:srgbClr val="D6D6DF"/>
            </a:solidFill>
          </a:ln>
        </p:spPr>
        <p:txBody>
          <a:bodyPr rtlCol="0" anchor="ctr"/>
          <a:lstStyle/>
          <a:p>
            <a:pPr algn="ctr"/>
            <a:endParaRPr/>
          </a:p>
        </p:txBody>
      </p:sp>
      <p:sp>
        <p:nvSpPr>
          <p:cNvPr id="24" name="Rounded Rectangle 23"/>
          <p:cNvSpPr/>
          <p:nvPr/>
        </p:nvSpPr>
        <p:spPr>
          <a:xfrm>
            <a:off x="10209426" y="4562688"/>
            <a:ext cx="1525371"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Bef>
                <a:spcPts val="200"/>
              </a:spcBef>
              <a:spcAft>
                <a:spcPts val="200"/>
              </a:spcAft>
            </a:pPr>
            <a:r>
              <a:rPr sz="850" b="1" i="0" cap="all" spc="100">
                <a:solidFill>
                  <a:srgbClr val="60607D"/>
                </a:solidFill>
              </a:rPr>
              <a:t>The target</a:t>
            </a:r>
          </a:p>
          <a:p>
            <a:pPr algn="l">
              <a:spcBef>
                <a:spcPts val="400"/>
              </a:spcBef>
              <a:spcAft>
                <a:spcPts val="200"/>
              </a:spcAft>
            </a:pPr>
            <a:r>
              <a:rPr sz="850" b="1" i="0">
                <a:solidFill>
                  <a:srgbClr val="000000"/>
                </a:solidFill>
              </a:rPr>
              <a:t>MVP done</a:t>
            </a:r>
          </a:p>
          <a:p>
            <a:pPr algn="l">
              <a:spcAft>
                <a:spcPts val="500"/>
              </a:spcAft>
            </a:pPr>
            <a:r>
              <a:rPr sz="850" b="0" i="1">
                <a:solidFill>
                  <a:srgbClr val="60607D"/>
                </a:solidFill>
              </a:rPr>
              <a:t>[Date we are shooting for.]</a:t>
            </a:r>
          </a:p>
        </p:txBody>
      </p:sp>
      <p:sp>
        <p:nvSpPr>
          <p:cNvPr id="25" name="Rounded Rectangle 24"/>
          <p:cNvSpPr/>
          <p:nvPr/>
        </p:nvSpPr>
        <p:spPr>
          <a:xfrm>
            <a:off x="457200" y="5462688"/>
            <a:ext cx="5563800" cy="93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91440" rIns="182880" bIns="36576" rtlCol="0" anchor="t"/>
          <a:lstStyle/>
          <a:p>
            <a:pPr algn="l">
              <a:spcAft>
                <a:spcPts val="600"/>
              </a:spcAft>
            </a:pPr>
            <a:r>
              <a:rPr sz="1100" b="1" i="0" cap="all" spc="60">
                <a:solidFill>
                  <a:srgbClr val="000000"/>
                </a:solidFill>
              </a:rPr>
              <a:t>Team</a:t>
            </a:r>
          </a:p>
        </p:txBody>
      </p:sp>
      <p:sp>
        <p:nvSpPr>
          <p:cNvPr id="26" name="Rounded Rectangle 25"/>
          <p:cNvSpPr/>
          <p:nvPr/>
        </p:nvSpPr>
        <p:spPr>
          <a:xfrm>
            <a:off x="667512" y="5791872"/>
            <a:ext cx="1351221" cy="246888"/>
          </a:xfrm>
          <a:prstGeom prst="roundRect">
            <a:avLst>
              <a:gd name="adj" fmla="val 50000"/>
            </a:avLst>
          </a:prstGeom>
          <a:solidFill>
            <a:srgbClr val="FFFFFF"/>
          </a:solidFill>
          <a:ln w="12700">
            <a:solidFill>
              <a:srgbClr val="D6D6DF"/>
            </a:solidFill>
          </a:ln>
        </p:spPr>
        <p:txBody>
          <a:bodyPr wrap="none" lIns="0" tIns="0" rIns="0" bIns="0" rtlCol="0" anchor="ctr"/>
          <a:lstStyle/>
          <a:p>
            <a:pPr algn="ctr"/>
            <a:r>
              <a:rPr sz="900" b="0" i="1">
                <a:solidFill>
                  <a:srgbClr val="60607D"/>
                </a:solidFill>
              </a:rPr>
              <a:t>[Who does the work]</a:t>
            </a:r>
          </a:p>
        </p:txBody>
      </p:sp>
      <p:sp>
        <p:nvSpPr>
          <p:cNvPr id="27" name="Rounded Rectangle 26"/>
          <p:cNvSpPr/>
          <p:nvPr/>
        </p:nvSpPr>
        <p:spPr>
          <a:xfrm>
            <a:off x="2101029" y="5791872"/>
            <a:ext cx="1351221" cy="246888"/>
          </a:xfrm>
          <a:prstGeom prst="roundRect">
            <a:avLst>
              <a:gd name="adj" fmla="val 50000"/>
            </a:avLst>
          </a:prstGeom>
          <a:solidFill>
            <a:srgbClr val="FFFFFF"/>
          </a:solidFill>
          <a:ln w="12700">
            <a:solidFill>
              <a:srgbClr val="D6D6DF"/>
            </a:solidFill>
          </a:ln>
        </p:spPr>
        <p:txBody>
          <a:bodyPr wrap="none" lIns="0" tIns="0" rIns="0" bIns="0" rtlCol="0" anchor="ctr"/>
          <a:lstStyle/>
          <a:p>
            <a:pPr algn="ctr"/>
            <a:r>
              <a:rPr sz="900" b="0" i="1">
                <a:solidFill>
                  <a:srgbClr val="60607D"/>
                </a:solidFill>
              </a:rPr>
              <a:t>[Who does the work]</a:t>
            </a:r>
          </a:p>
        </p:txBody>
      </p:sp>
      <p:sp>
        <p:nvSpPr>
          <p:cNvPr id="28" name="Rounded Rectangle 27"/>
          <p:cNvSpPr/>
          <p:nvPr/>
        </p:nvSpPr>
        <p:spPr>
          <a:xfrm>
            <a:off x="6171000" y="5462688"/>
            <a:ext cx="5563800" cy="93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91440" rIns="182880" bIns="36576" rtlCol="0" anchor="t"/>
          <a:lstStyle/>
          <a:p>
            <a:pPr algn="l">
              <a:spcAft>
                <a:spcPts val="600"/>
              </a:spcAft>
            </a:pPr>
            <a:r>
              <a:rPr sz="1100" b="1" i="0" cap="all" spc="60">
                <a:solidFill>
                  <a:srgbClr val="000000"/>
                </a:solidFill>
              </a:rPr>
              <a:t>Partners</a:t>
            </a:r>
          </a:p>
        </p:txBody>
      </p:sp>
      <p:sp>
        <p:nvSpPr>
          <p:cNvPr id="29" name="Rounded Rectangle 28"/>
          <p:cNvSpPr/>
          <p:nvPr/>
        </p:nvSpPr>
        <p:spPr>
          <a:xfrm>
            <a:off x="6381312" y="5791872"/>
            <a:ext cx="1291655" cy="246888"/>
          </a:xfrm>
          <a:prstGeom prst="roundRect">
            <a:avLst>
              <a:gd name="adj" fmla="val 50000"/>
            </a:avLst>
          </a:prstGeom>
          <a:solidFill>
            <a:srgbClr val="FFFFFF"/>
          </a:solidFill>
          <a:ln w="12700">
            <a:solidFill>
              <a:srgbClr val="D6D6DF"/>
            </a:solidFill>
          </a:ln>
        </p:spPr>
        <p:txBody>
          <a:bodyPr wrap="none" lIns="0" tIns="0" rIns="0" bIns="0" rtlCol="0" anchor="ctr"/>
          <a:lstStyle/>
          <a:p>
            <a:pPr algn="ctr"/>
            <a:r>
              <a:rPr sz="900" b="0" i="1">
                <a:solidFill>
                  <a:srgbClr val="60607D"/>
                </a:solidFill>
              </a:rPr>
              <a:t>[Who we work with]</a:t>
            </a:r>
          </a:p>
        </p:txBody>
      </p:sp>
      <p:sp>
        <p:nvSpPr>
          <p:cNvPr id="30" name="Rounded Rectangle 29"/>
          <p:cNvSpPr/>
          <p:nvPr/>
        </p:nvSpPr>
        <p:spPr>
          <a:xfrm>
            <a:off x="7755263" y="5791872"/>
            <a:ext cx="1291655" cy="246888"/>
          </a:xfrm>
          <a:prstGeom prst="roundRect">
            <a:avLst>
              <a:gd name="adj" fmla="val 50000"/>
            </a:avLst>
          </a:prstGeom>
          <a:solidFill>
            <a:srgbClr val="FFFFFF"/>
          </a:solidFill>
          <a:ln w="12700">
            <a:solidFill>
              <a:srgbClr val="D6D6DF"/>
            </a:solidFill>
          </a:ln>
        </p:spPr>
        <p:txBody>
          <a:bodyPr wrap="none" lIns="0" tIns="0" rIns="0" bIns="0" rtlCol="0" anchor="ctr"/>
          <a:lstStyle/>
          <a:p>
            <a:pPr algn="ctr"/>
            <a:r>
              <a:rPr sz="900" b="0" i="1">
                <a:solidFill>
                  <a:srgbClr val="60607D"/>
                </a:solidFill>
              </a:rPr>
              <a:t>[Who we work with]</a:t>
            </a:r>
          </a:p>
        </p:txBody>
      </p:sp>
      <p:sp>
        <p:nvSpPr>
          <p:cNvPr id="31" name="Rounded Rectangle 30"/>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wrap="square" lIns="150000" rIns="120000" rtlCol="0" anchor="ctr"/>
          <a:lstStyle/>
          <a:p>
            <a:pPr algn="l"/>
            <a:r>
              <a:rPr sz="1050" b="1" i="0">
                <a:solidFill>
                  <a:srgbClr val="FFFFFF"/>
                </a:solidFill>
              </a:rPr>
              <a:t>Owner(s)</a:t>
            </a:r>
          </a:p>
          <a:p>
            <a:pPr algn="l"/>
            <a:r>
              <a:rPr sz="900" b="0" i="1">
                <a:solidFill>
                  <a:srgbClr val="D6D6DF"/>
                </a:solidFill>
              </a:rPr>
              <a:t>[Names]</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 name="Picture 4" descr="f_hero_library.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endParaRP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How we're going about it</a:t>
            </a:r>
          </a:p>
        </p:txBody>
      </p:sp>
      <p:sp>
        <p:nvSpPr>
          <p:cNvPr id="4" name="Text Placeholder 3"/>
          <p:cNvSpPr>
            <a:spLocks noGrp="1"/>
          </p:cNvSpPr>
          <p:nvPr>
            <p:ph type="body" sz="quarter" idx="12"/>
          </p:nvPr>
        </p:nvSpPr>
        <p:spPr>
          <a:xfrm>
            <a:off x="457200" y="170000"/>
            <a:ext cx="8000000" cy="182880"/>
          </a:xfrm>
        </p:spPr>
        <p:txBody>
          <a:bodyPr/>
          <a:lstStyle/>
          <a:p>
            <a:r>
              <a:rPr>
                <a:solidFill>
                  <a:srgbClr val="0391F2"/>
                </a:solidFill>
              </a:rPr>
              <a:t>TEMPLATE · 3 STEPS · CLICK-DOWN · WHAT WE ARE CHANGING</a:t>
            </a:r>
          </a:p>
        </p:txBody>
      </p:sp>
      <p:sp>
        <p:nvSpPr>
          <p:cNvPr id="7" name="TextBox 6"/>
          <p:cNvSpPr txBox="1"/>
          <p:nvPr/>
        </p:nvSpPr>
        <p:spPr>
          <a:xfrm>
            <a:off x="457200" y="1170000"/>
            <a:ext cx="11277600" cy="457200"/>
          </a:xfrm>
          <a:prstGeom prst="rect">
            <a:avLst/>
          </a:prstGeom>
          <a:noFill/>
        </p:spPr>
        <p:txBody>
          <a:bodyPr wrap="square" lIns="0" tIns="0" rIns="0" bIns="0" anchor="t">
            <a:spAutoFit/>
          </a:bodyPr>
          <a:lstStyle/>
          <a:p>
            <a:pPr algn="l">
              <a:spcAft>
                <a:spcPts val="500"/>
              </a:spcAft>
            </a:pPr>
            <a:r>
              <a:rPr sz="1250" b="0" i="1">
                <a:solidFill>
                  <a:srgbClr val="60607D"/>
                </a:solidFill>
              </a:rPr>
              <a:t>[Put here: one line on how we are tackling this. The steps below fill in the detail.]</a:t>
            </a:r>
          </a:p>
        </p:txBody>
      </p:sp>
      <p:sp>
        <p:nvSpPr>
          <p:cNvPr id="8" name="Rounded Rectangle 7"/>
          <p:cNvSpPr/>
          <p:nvPr/>
        </p:nvSpPr>
        <p:spPr>
          <a:xfrm>
            <a:off x="457200" y="1828368"/>
            <a:ext cx="3692533" cy="233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a:solidFill>
                  <a:srgbClr val="60607D"/>
                </a:solidFill>
              </a:rPr>
              <a:t>Step 1</a:t>
            </a:r>
          </a:p>
          <a:p>
            <a:pPr algn="l">
              <a:spcAft>
                <a:spcPts val="500"/>
              </a:spcAft>
            </a:pPr>
            <a:r>
              <a:rPr sz="1150" b="0" i="1">
                <a:solidFill>
                  <a:srgbClr val="60607D"/>
                </a:solidFill>
              </a:rPr>
              <a:t>[Step or story name]</a:t>
            </a:r>
          </a:p>
          <a:p>
            <a:pPr algn="l">
              <a:spcAft>
                <a:spcPts val="500"/>
              </a:spcAft>
            </a:pPr>
            <a:r>
              <a:rPr sz="1150" b="0" i="1">
                <a:solidFill>
                  <a:srgbClr val="60607D"/>
                </a:solidFill>
              </a:rPr>
              <a:t>[Put here: what we do in this step, in a sentence or two.]</a:t>
            </a:r>
          </a:p>
        </p:txBody>
      </p:sp>
      <p:sp>
        <p:nvSpPr>
          <p:cNvPr id="9" name="Rounded Rectangle 8"/>
          <p:cNvSpPr/>
          <p:nvPr/>
        </p:nvSpPr>
        <p:spPr>
          <a:xfrm>
            <a:off x="4249733" y="1828368"/>
            <a:ext cx="3692533" cy="233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a:solidFill>
                  <a:srgbClr val="60607D"/>
                </a:solidFill>
              </a:rPr>
              <a:t>Step 2</a:t>
            </a:r>
          </a:p>
          <a:p>
            <a:pPr algn="l">
              <a:spcAft>
                <a:spcPts val="500"/>
              </a:spcAft>
            </a:pPr>
            <a:r>
              <a:rPr sz="1150" b="0" i="1">
                <a:solidFill>
                  <a:srgbClr val="60607D"/>
                </a:solidFill>
              </a:rPr>
              <a:t>[Step or story name]</a:t>
            </a:r>
          </a:p>
          <a:p>
            <a:pPr algn="l">
              <a:spcAft>
                <a:spcPts val="500"/>
              </a:spcAft>
            </a:pPr>
            <a:r>
              <a:rPr sz="1150" b="0" i="1">
                <a:solidFill>
                  <a:srgbClr val="60607D"/>
                </a:solidFill>
              </a:rPr>
              <a:t>[Put here: what we do in this step, in a sentence or two.]</a:t>
            </a:r>
          </a:p>
        </p:txBody>
      </p:sp>
      <p:sp>
        <p:nvSpPr>
          <p:cNvPr id="10" name="Rounded Rectangle 9"/>
          <p:cNvSpPr/>
          <p:nvPr/>
        </p:nvSpPr>
        <p:spPr>
          <a:xfrm>
            <a:off x="8042266" y="1828368"/>
            <a:ext cx="3692533" cy="233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a:solidFill>
                  <a:srgbClr val="60607D"/>
                </a:solidFill>
              </a:rPr>
              <a:t>Step 3</a:t>
            </a:r>
          </a:p>
          <a:p>
            <a:pPr algn="l">
              <a:spcAft>
                <a:spcPts val="500"/>
              </a:spcAft>
            </a:pPr>
            <a:r>
              <a:rPr sz="1150" b="0" i="1">
                <a:solidFill>
                  <a:srgbClr val="60607D"/>
                </a:solidFill>
              </a:rPr>
              <a:t>[Step or story name]</a:t>
            </a:r>
          </a:p>
          <a:p>
            <a:pPr algn="l">
              <a:spcAft>
                <a:spcPts val="500"/>
              </a:spcAft>
            </a:pPr>
            <a:r>
              <a:rPr sz="1150" b="0" i="1">
                <a:solidFill>
                  <a:srgbClr val="60607D"/>
                </a:solidFill>
              </a:rPr>
              <a:t>[Put here: what we do in this step, in a sentence or two.]</a:t>
            </a:r>
          </a:p>
        </p:txBody>
      </p:sp>
      <p:sp>
        <p:nvSpPr>
          <p:cNvPr id="11" name="Rectangle 10"/>
          <p:cNvSpPr/>
          <p:nvPr/>
        </p:nvSpPr>
        <p:spPr>
          <a:xfrm>
            <a:off x="1219885" y="4379808"/>
            <a:ext cx="9752229" cy="19050"/>
          </a:xfrm>
          <a:prstGeom prst="rect">
            <a:avLst/>
          </a:prstGeom>
          <a:solidFill>
            <a:srgbClr val="D6D6DF"/>
          </a:solidFill>
          <a:ln>
            <a:noFill/>
          </a:ln>
        </p:spPr>
        <p:txBody>
          <a:bodyPr rtlCol="0" anchor="ctr"/>
          <a:lstStyle/>
          <a:p>
            <a:pPr algn="ctr"/>
            <a:endParaRPr/>
          </a:p>
        </p:txBody>
      </p:sp>
      <p:sp>
        <p:nvSpPr>
          <p:cNvPr id="12" name="Oval 11"/>
          <p:cNvSpPr/>
          <p:nvPr/>
        </p:nvSpPr>
        <p:spPr>
          <a:xfrm>
            <a:off x="1128445" y="4288368"/>
            <a:ext cx="182880" cy="182880"/>
          </a:xfrm>
          <a:prstGeom prst="ellipse">
            <a:avLst/>
          </a:prstGeom>
          <a:solidFill>
            <a:srgbClr val="FFFFFF"/>
          </a:solidFill>
          <a:ln w="19050">
            <a:solidFill>
              <a:srgbClr val="D6D6DF"/>
            </a:solidFill>
          </a:ln>
        </p:spPr>
        <p:txBody>
          <a:bodyPr rtlCol="0" anchor="ctr"/>
          <a:lstStyle/>
          <a:p>
            <a:pPr algn="ctr"/>
            <a:endParaRPr/>
          </a:p>
        </p:txBody>
      </p:sp>
      <p:sp>
        <p:nvSpPr>
          <p:cNvPr id="13" name="Rounded Rectangle 12"/>
          <p:cNvSpPr/>
          <p:nvPr/>
        </p:nvSpPr>
        <p:spPr>
          <a:xfrm>
            <a:off x="457200" y="4562688"/>
            <a:ext cx="1525371"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Aft>
                <a:spcPts val="500"/>
              </a:spcAft>
            </a:pPr>
            <a:r>
              <a:rPr sz="1100" b="0" i="1">
                <a:solidFill>
                  <a:srgbClr val="60607D"/>
                </a:solidFill>
              </a:rPr>
              <a:t>[Date]</a:t>
            </a:r>
          </a:p>
          <a:p>
            <a:pPr algn="l">
              <a:spcAft>
                <a:spcPts val="500"/>
              </a:spcAft>
            </a:pPr>
            <a:r>
              <a:rPr sz="1100" b="0" i="1">
                <a:solidFill>
                  <a:srgbClr val="60607D"/>
                </a:solidFill>
              </a:rPr>
              <a:t>[What is done by then]</a:t>
            </a:r>
          </a:p>
        </p:txBody>
      </p:sp>
      <p:sp>
        <p:nvSpPr>
          <p:cNvPr id="14" name="Oval 13"/>
          <p:cNvSpPr/>
          <p:nvPr/>
        </p:nvSpPr>
        <p:spPr>
          <a:xfrm>
            <a:off x="2753816" y="4288368"/>
            <a:ext cx="182880" cy="182880"/>
          </a:xfrm>
          <a:prstGeom prst="ellipse">
            <a:avLst/>
          </a:prstGeom>
          <a:solidFill>
            <a:srgbClr val="FFFFFF"/>
          </a:solidFill>
          <a:ln w="19050">
            <a:solidFill>
              <a:srgbClr val="D6D6DF"/>
            </a:solidFill>
          </a:ln>
        </p:spPr>
        <p:txBody>
          <a:bodyPr rtlCol="0" anchor="ctr"/>
          <a:lstStyle/>
          <a:p>
            <a:pPr algn="ctr"/>
            <a:endParaRPr/>
          </a:p>
        </p:txBody>
      </p:sp>
      <p:sp>
        <p:nvSpPr>
          <p:cNvPr id="15" name="Rounded Rectangle 14"/>
          <p:cNvSpPr/>
          <p:nvPr/>
        </p:nvSpPr>
        <p:spPr>
          <a:xfrm>
            <a:off x="2082571" y="4562688"/>
            <a:ext cx="1525371"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Aft>
                <a:spcPts val="500"/>
              </a:spcAft>
            </a:pPr>
            <a:r>
              <a:rPr sz="1100" b="0" i="1">
                <a:solidFill>
                  <a:srgbClr val="60607D"/>
                </a:solidFill>
              </a:rPr>
              <a:t>[Date]</a:t>
            </a:r>
          </a:p>
          <a:p>
            <a:pPr algn="l">
              <a:spcAft>
                <a:spcPts val="500"/>
              </a:spcAft>
            </a:pPr>
            <a:r>
              <a:rPr sz="1100" b="0" i="1">
                <a:solidFill>
                  <a:srgbClr val="60607D"/>
                </a:solidFill>
              </a:rPr>
              <a:t>[What is done by then]</a:t>
            </a:r>
          </a:p>
        </p:txBody>
      </p:sp>
      <p:sp>
        <p:nvSpPr>
          <p:cNvPr id="16" name="Oval 15"/>
          <p:cNvSpPr/>
          <p:nvPr/>
        </p:nvSpPr>
        <p:spPr>
          <a:xfrm>
            <a:off x="4379187" y="4288368"/>
            <a:ext cx="182880" cy="182880"/>
          </a:xfrm>
          <a:prstGeom prst="ellipse">
            <a:avLst/>
          </a:prstGeom>
          <a:solidFill>
            <a:srgbClr val="FFFFFF"/>
          </a:solidFill>
          <a:ln w="19050">
            <a:solidFill>
              <a:srgbClr val="D6D6DF"/>
            </a:solidFill>
          </a:ln>
        </p:spPr>
        <p:txBody>
          <a:bodyPr rtlCol="0" anchor="ctr"/>
          <a:lstStyle/>
          <a:p>
            <a:pPr algn="ctr"/>
            <a:endParaRPr/>
          </a:p>
        </p:txBody>
      </p:sp>
      <p:sp>
        <p:nvSpPr>
          <p:cNvPr id="17" name="Rounded Rectangle 16"/>
          <p:cNvSpPr/>
          <p:nvPr/>
        </p:nvSpPr>
        <p:spPr>
          <a:xfrm>
            <a:off x="3707942" y="4562688"/>
            <a:ext cx="1525371"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Aft>
                <a:spcPts val="500"/>
              </a:spcAft>
            </a:pPr>
            <a:r>
              <a:rPr sz="1100" b="0" i="1">
                <a:solidFill>
                  <a:srgbClr val="60607D"/>
                </a:solidFill>
              </a:rPr>
              <a:t>[Date]</a:t>
            </a:r>
          </a:p>
          <a:p>
            <a:pPr algn="l">
              <a:spcAft>
                <a:spcPts val="500"/>
              </a:spcAft>
            </a:pPr>
            <a:r>
              <a:rPr sz="1100" b="0" i="1">
                <a:solidFill>
                  <a:srgbClr val="60607D"/>
                </a:solidFill>
              </a:rPr>
              <a:t>[What is done by then]</a:t>
            </a:r>
          </a:p>
        </p:txBody>
      </p:sp>
      <p:sp>
        <p:nvSpPr>
          <p:cNvPr id="18" name="Oval 17"/>
          <p:cNvSpPr/>
          <p:nvPr/>
        </p:nvSpPr>
        <p:spPr>
          <a:xfrm>
            <a:off x="6004558" y="4288368"/>
            <a:ext cx="182880" cy="182880"/>
          </a:xfrm>
          <a:prstGeom prst="ellipse">
            <a:avLst/>
          </a:prstGeom>
          <a:solidFill>
            <a:srgbClr val="FFFFFF"/>
          </a:solidFill>
          <a:ln w="19050">
            <a:solidFill>
              <a:srgbClr val="D6D6DF"/>
            </a:solidFill>
          </a:ln>
        </p:spPr>
        <p:txBody>
          <a:bodyPr rtlCol="0" anchor="ctr"/>
          <a:lstStyle/>
          <a:p>
            <a:pPr algn="ctr"/>
            <a:endParaRPr/>
          </a:p>
        </p:txBody>
      </p:sp>
      <p:sp>
        <p:nvSpPr>
          <p:cNvPr id="19" name="Rounded Rectangle 18"/>
          <p:cNvSpPr/>
          <p:nvPr/>
        </p:nvSpPr>
        <p:spPr>
          <a:xfrm>
            <a:off x="5333313" y="4562688"/>
            <a:ext cx="1525371"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Aft>
                <a:spcPts val="500"/>
              </a:spcAft>
            </a:pPr>
            <a:r>
              <a:rPr sz="1100" b="0" i="1">
                <a:solidFill>
                  <a:srgbClr val="60607D"/>
                </a:solidFill>
              </a:rPr>
              <a:t>[Date]</a:t>
            </a:r>
          </a:p>
          <a:p>
            <a:pPr algn="l">
              <a:spcAft>
                <a:spcPts val="500"/>
              </a:spcAft>
            </a:pPr>
            <a:r>
              <a:rPr sz="1100" b="0" i="1">
                <a:solidFill>
                  <a:srgbClr val="60607D"/>
                </a:solidFill>
              </a:rPr>
              <a:t>[What is done by then]</a:t>
            </a:r>
          </a:p>
        </p:txBody>
      </p:sp>
      <p:sp>
        <p:nvSpPr>
          <p:cNvPr id="20" name="Oval 19"/>
          <p:cNvSpPr/>
          <p:nvPr/>
        </p:nvSpPr>
        <p:spPr>
          <a:xfrm>
            <a:off x="7629929" y="4288368"/>
            <a:ext cx="182880" cy="182880"/>
          </a:xfrm>
          <a:prstGeom prst="ellipse">
            <a:avLst/>
          </a:prstGeom>
          <a:solidFill>
            <a:srgbClr val="FFFFFF"/>
          </a:solidFill>
          <a:ln w="19050">
            <a:solidFill>
              <a:srgbClr val="D6D6DF"/>
            </a:solidFill>
          </a:ln>
        </p:spPr>
        <p:txBody>
          <a:bodyPr rtlCol="0" anchor="ctr"/>
          <a:lstStyle/>
          <a:p>
            <a:pPr algn="ctr"/>
            <a:endParaRPr/>
          </a:p>
        </p:txBody>
      </p:sp>
      <p:sp>
        <p:nvSpPr>
          <p:cNvPr id="21" name="Rounded Rectangle 20"/>
          <p:cNvSpPr/>
          <p:nvPr/>
        </p:nvSpPr>
        <p:spPr>
          <a:xfrm>
            <a:off x="6958684" y="4562688"/>
            <a:ext cx="1525371"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Aft>
                <a:spcPts val="500"/>
              </a:spcAft>
            </a:pPr>
            <a:r>
              <a:rPr sz="1100" b="0" i="1">
                <a:solidFill>
                  <a:srgbClr val="60607D"/>
                </a:solidFill>
              </a:rPr>
              <a:t>[Date]</a:t>
            </a:r>
          </a:p>
          <a:p>
            <a:pPr algn="l">
              <a:spcAft>
                <a:spcPts val="500"/>
              </a:spcAft>
            </a:pPr>
            <a:r>
              <a:rPr sz="1100" b="0" i="1">
                <a:solidFill>
                  <a:srgbClr val="60607D"/>
                </a:solidFill>
              </a:rPr>
              <a:t>[What is done by then]</a:t>
            </a:r>
          </a:p>
        </p:txBody>
      </p:sp>
      <p:sp>
        <p:nvSpPr>
          <p:cNvPr id="22" name="Oval 21"/>
          <p:cNvSpPr/>
          <p:nvPr/>
        </p:nvSpPr>
        <p:spPr>
          <a:xfrm>
            <a:off x="9255300" y="4288368"/>
            <a:ext cx="182880" cy="182880"/>
          </a:xfrm>
          <a:prstGeom prst="ellipse">
            <a:avLst/>
          </a:prstGeom>
          <a:solidFill>
            <a:srgbClr val="FFFFFF"/>
          </a:solidFill>
          <a:ln w="19050">
            <a:solidFill>
              <a:srgbClr val="D6D6DF"/>
            </a:solidFill>
          </a:ln>
        </p:spPr>
        <p:txBody>
          <a:bodyPr rtlCol="0" anchor="ctr"/>
          <a:lstStyle/>
          <a:p>
            <a:pPr algn="ctr"/>
            <a:endParaRPr/>
          </a:p>
        </p:txBody>
      </p:sp>
      <p:sp>
        <p:nvSpPr>
          <p:cNvPr id="23" name="Rounded Rectangle 22"/>
          <p:cNvSpPr/>
          <p:nvPr/>
        </p:nvSpPr>
        <p:spPr>
          <a:xfrm>
            <a:off x="8584055" y="4562688"/>
            <a:ext cx="1525371"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Aft>
                <a:spcPts val="500"/>
              </a:spcAft>
            </a:pPr>
            <a:r>
              <a:rPr sz="1100" b="0" i="1">
                <a:solidFill>
                  <a:srgbClr val="60607D"/>
                </a:solidFill>
              </a:rPr>
              <a:t>[Date]</a:t>
            </a:r>
          </a:p>
          <a:p>
            <a:pPr algn="l">
              <a:spcAft>
                <a:spcPts val="500"/>
              </a:spcAft>
            </a:pPr>
            <a:r>
              <a:rPr sz="1100" b="0" i="1">
                <a:solidFill>
                  <a:srgbClr val="60607D"/>
                </a:solidFill>
              </a:rPr>
              <a:t>[What is done by then]</a:t>
            </a:r>
          </a:p>
        </p:txBody>
      </p:sp>
      <p:sp>
        <p:nvSpPr>
          <p:cNvPr id="24" name="Oval 23"/>
          <p:cNvSpPr/>
          <p:nvPr/>
        </p:nvSpPr>
        <p:spPr>
          <a:xfrm>
            <a:off x="10880671" y="4288368"/>
            <a:ext cx="182880" cy="182880"/>
          </a:xfrm>
          <a:prstGeom prst="ellipse">
            <a:avLst/>
          </a:prstGeom>
          <a:solidFill>
            <a:srgbClr val="FFFFFF"/>
          </a:solidFill>
          <a:ln w="19050">
            <a:solidFill>
              <a:srgbClr val="D6D6DF"/>
            </a:solidFill>
          </a:ln>
        </p:spPr>
        <p:txBody>
          <a:bodyPr rtlCol="0" anchor="ctr"/>
          <a:lstStyle/>
          <a:p>
            <a:pPr algn="ctr"/>
            <a:endParaRPr/>
          </a:p>
        </p:txBody>
      </p:sp>
      <p:sp>
        <p:nvSpPr>
          <p:cNvPr id="25" name="Rounded Rectangle 24"/>
          <p:cNvSpPr/>
          <p:nvPr/>
        </p:nvSpPr>
        <p:spPr>
          <a:xfrm>
            <a:off x="10209426" y="4562688"/>
            <a:ext cx="1525371"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Bef>
                <a:spcPts val="200"/>
              </a:spcBef>
              <a:spcAft>
                <a:spcPts val="200"/>
              </a:spcAft>
            </a:pPr>
            <a:r>
              <a:rPr sz="850" b="1" i="0" cap="all" spc="100">
                <a:solidFill>
                  <a:srgbClr val="60607D"/>
                </a:solidFill>
              </a:rPr>
              <a:t>The target</a:t>
            </a:r>
          </a:p>
          <a:p>
            <a:pPr algn="l">
              <a:spcBef>
                <a:spcPts val="400"/>
              </a:spcBef>
              <a:spcAft>
                <a:spcPts val="200"/>
              </a:spcAft>
            </a:pPr>
            <a:r>
              <a:rPr sz="850" b="1" i="0">
                <a:solidFill>
                  <a:srgbClr val="000000"/>
                </a:solidFill>
              </a:rPr>
              <a:t>MVP done</a:t>
            </a:r>
          </a:p>
          <a:p>
            <a:pPr algn="l">
              <a:spcAft>
                <a:spcPts val="500"/>
              </a:spcAft>
            </a:pPr>
            <a:r>
              <a:rPr sz="850" b="0" i="1">
                <a:solidFill>
                  <a:srgbClr val="60607D"/>
                </a:solidFill>
              </a:rPr>
              <a:t>[Date we are shooting for.]</a:t>
            </a:r>
          </a:p>
        </p:txBody>
      </p:sp>
      <p:sp>
        <p:nvSpPr>
          <p:cNvPr id="26" name="Rounded Rectangle 25"/>
          <p:cNvSpPr/>
          <p:nvPr/>
        </p:nvSpPr>
        <p:spPr>
          <a:xfrm>
            <a:off x="457200" y="5462688"/>
            <a:ext cx="5563800" cy="93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91440" rIns="182880" bIns="36576" rtlCol="0" anchor="t"/>
          <a:lstStyle/>
          <a:p>
            <a:pPr algn="l">
              <a:spcAft>
                <a:spcPts val="600"/>
              </a:spcAft>
            </a:pPr>
            <a:r>
              <a:rPr sz="1100" b="1" i="0" cap="all" spc="60">
                <a:solidFill>
                  <a:srgbClr val="000000"/>
                </a:solidFill>
              </a:rPr>
              <a:t>Team</a:t>
            </a:r>
          </a:p>
        </p:txBody>
      </p:sp>
      <p:sp>
        <p:nvSpPr>
          <p:cNvPr id="27" name="Rounded Rectangle 26"/>
          <p:cNvSpPr/>
          <p:nvPr/>
        </p:nvSpPr>
        <p:spPr>
          <a:xfrm>
            <a:off x="667512" y="5791872"/>
            <a:ext cx="1351221" cy="246888"/>
          </a:xfrm>
          <a:prstGeom prst="roundRect">
            <a:avLst>
              <a:gd name="adj" fmla="val 50000"/>
            </a:avLst>
          </a:prstGeom>
          <a:solidFill>
            <a:srgbClr val="FFFFFF"/>
          </a:solidFill>
          <a:ln w="12700">
            <a:solidFill>
              <a:srgbClr val="D6D6DF"/>
            </a:solidFill>
          </a:ln>
        </p:spPr>
        <p:txBody>
          <a:bodyPr wrap="none" lIns="0" tIns="0" rIns="0" bIns="0" rtlCol="0" anchor="ctr"/>
          <a:lstStyle/>
          <a:p>
            <a:pPr algn="ctr"/>
            <a:r>
              <a:rPr sz="900" b="0" i="1">
                <a:solidFill>
                  <a:srgbClr val="60607D"/>
                </a:solidFill>
              </a:rPr>
              <a:t>[Who does the work]</a:t>
            </a:r>
          </a:p>
        </p:txBody>
      </p:sp>
      <p:sp>
        <p:nvSpPr>
          <p:cNvPr id="28" name="Rounded Rectangle 27"/>
          <p:cNvSpPr/>
          <p:nvPr/>
        </p:nvSpPr>
        <p:spPr>
          <a:xfrm>
            <a:off x="2101029" y="5791872"/>
            <a:ext cx="1351221" cy="246888"/>
          </a:xfrm>
          <a:prstGeom prst="roundRect">
            <a:avLst>
              <a:gd name="adj" fmla="val 50000"/>
            </a:avLst>
          </a:prstGeom>
          <a:solidFill>
            <a:srgbClr val="FFFFFF"/>
          </a:solidFill>
          <a:ln w="12700">
            <a:solidFill>
              <a:srgbClr val="D6D6DF"/>
            </a:solidFill>
          </a:ln>
        </p:spPr>
        <p:txBody>
          <a:bodyPr wrap="none" lIns="0" tIns="0" rIns="0" bIns="0" rtlCol="0" anchor="ctr"/>
          <a:lstStyle/>
          <a:p>
            <a:pPr algn="ctr"/>
            <a:r>
              <a:rPr sz="900" b="0" i="1">
                <a:solidFill>
                  <a:srgbClr val="60607D"/>
                </a:solidFill>
              </a:rPr>
              <a:t>[Who does the work]</a:t>
            </a:r>
          </a:p>
        </p:txBody>
      </p:sp>
      <p:sp>
        <p:nvSpPr>
          <p:cNvPr id="29" name="Rounded Rectangle 28"/>
          <p:cNvSpPr/>
          <p:nvPr/>
        </p:nvSpPr>
        <p:spPr>
          <a:xfrm>
            <a:off x="6171000" y="5462688"/>
            <a:ext cx="5563800" cy="93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91440" rIns="182880" bIns="36576" rtlCol="0" anchor="t"/>
          <a:lstStyle/>
          <a:p>
            <a:pPr algn="l">
              <a:spcAft>
                <a:spcPts val="600"/>
              </a:spcAft>
            </a:pPr>
            <a:r>
              <a:rPr sz="1100" b="1" i="0" cap="all" spc="60">
                <a:solidFill>
                  <a:srgbClr val="000000"/>
                </a:solidFill>
              </a:rPr>
              <a:t>Partners</a:t>
            </a:r>
          </a:p>
        </p:txBody>
      </p:sp>
      <p:sp>
        <p:nvSpPr>
          <p:cNvPr id="30" name="Rounded Rectangle 29"/>
          <p:cNvSpPr/>
          <p:nvPr/>
        </p:nvSpPr>
        <p:spPr>
          <a:xfrm>
            <a:off x="6381312" y="5791872"/>
            <a:ext cx="1291655" cy="246888"/>
          </a:xfrm>
          <a:prstGeom prst="roundRect">
            <a:avLst>
              <a:gd name="adj" fmla="val 50000"/>
            </a:avLst>
          </a:prstGeom>
          <a:solidFill>
            <a:srgbClr val="FFFFFF"/>
          </a:solidFill>
          <a:ln w="12700">
            <a:solidFill>
              <a:srgbClr val="D6D6DF"/>
            </a:solidFill>
          </a:ln>
        </p:spPr>
        <p:txBody>
          <a:bodyPr wrap="none" lIns="0" tIns="0" rIns="0" bIns="0" rtlCol="0" anchor="ctr"/>
          <a:lstStyle/>
          <a:p>
            <a:pPr algn="ctr"/>
            <a:r>
              <a:rPr sz="900" b="0" i="1">
                <a:solidFill>
                  <a:srgbClr val="60607D"/>
                </a:solidFill>
              </a:rPr>
              <a:t>[Who we work with]</a:t>
            </a:r>
          </a:p>
        </p:txBody>
      </p:sp>
      <p:sp>
        <p:nvSpPr>
          <p:cNvPr id="31" name="Rounded Rectangle 30"/>
          <p:cNvSpPr/>
          <p:nvPr/>
        </p:nvSpPr>
        <p:spPr>
          <a:xfrm>
            <a:off x="7755263" y="5791872"/>
            <a:ext cx="1291655" cy="246888"/>
          </a:xfrm>
          <a:prstGeom prst="roundRect">
            <a:avLst>
              <a:gd name="adj" fmla="val 50000"/>
            </a:avLst>
          </a:prstGeom>
          <a:solidFill>
            <a:srgbClr val="FFFFFF"/>
          </a:solidFill>
          <a:ln w="12700">
            <a:solidFill>
              <a:srgbClr val="D6D6DF"/>
            </a:solidFill>
          </a:ln>
        </p:spPr>
        <p:txBody>
          <a:bodyPr wrap="none" lIns="0" tIns="0" rIns="0" bIns="0" rtlCol="0" anchor="ctr"/>
          <a:lstStyle/>
          <a:p>
            <a:pPr algn="ctr"/>
            <a:r>
              <a:rPr sz="900" b="0" i="1">
                <a:solidFill>
                  <a:srgbClr val="60607D"/>
                </a:solidFill>
              </a:rPr>
              <a:t>[Who we work with]</a:t>
            </a:r>
          </a:p>
        </p:txBody>
      </p:sp>
      <p:sp>
        <p:nvSpPr>
          <p:cNvPr id="32" name="Rounded Rectangle 31"/>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wrap="square" lIns="150000" rIns="120000" rtlCol="0" anchor="ctr"/>
          <a:lstStyle/>
          <a:p>
            <a:pPr algn="l"/>
            <a:r>
              <a:rPr sz="1050" b="1" i="0">
                <a:solidFill>
                  <a:srgbClr val="FFFFFF"/>
                </a:solidFill>
              </a:rPr>
              <a:t>Owner(s)</a:t>
            </a:r>
          </a:p>
          <a:p>
            <a:pPr algn="l"/>
            <a:r>
              <a:rPr sz="900" b="0" i="1">
                <a:solidFill>
                  <a:srgbClr val="D6D6DF"/>
                </a:solidFill>
              </a:rPr>
              <a:t>[Names]</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 name="Picture 4" descr="f_hero_library.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endParaRP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How we're going about it</a:t>
            </a:r>
          </a:p>
        </p:txBody>
      </p:sp>
      <p:sp>
        <p:nvSpPr>
          <p:cNvPr id="4" name="Text Placeholder 3"/>
          <p:cNvSpPr>
            <a:spLocks noGrp="1"/>
          </p:cNvSpPr>
          <p:nvPr>
            <p:ph type="body" sz="quarter" idx="12"/>
          </p:nvPr>
        </p:nvSpPr>
        <p:spPr>
          <a:xfrm>
            <a:off x="457200" y="170000"/>
            <a:ext cx="8000000" cy="182880"/>
          </a:xfrm>
        </p:spPr>
        <p:txBody>
          <a:bodyPr/>
          <a:lstStyle/>
          <a:p>
            <a:r>
              <a:rPr>
                <a:solidFill>
                  <a:srgbClr val="0391F2"/>
                </a:solidFill>
              </a:rPr>
              <a:t>TEMPLATE · 4 STEPS · CLICK-DOWN · WHAT WE ARE CHANGING</a:t>
            </a:r>
          </a:p>
        </p:txBody>
      </p:sp>
      <p:sp>
        <p:nvSpPr>
          <p:cNvPr id="7" name="TextBox 6"/>
          <p:cNvSpPr txBox="1"/>
          <p:nvPr/>
        </p:nvSpPr>
        <p:spPr>
          <a:xfrm>
            <a:off x="457200" y="1170000"/>
            <a:ext cx="11277600" cy="457200"/>
          </a:xfrm>
          <a:prstGeom prst="rect">
            <a:avLst/>
          </a:prstGeom>
          <a:noFill/>
        </p:spPr>
        <p:txBody>
          <a:bodyPr wrap="square" lIns="0" tIns="0" rIns="0" bIns="0" anchor="t">
            <a:spAutoFit/>
          </a:bodyPr>
          <a:lstStyle/>
          <a:p>
            <a:pPr algn="l">
              <a:spcAft>
                <a:spcPts val="500"/>
              </a:spcAft>
            </a:pPr>
            <a:r>
              <a:rPr sz="1250" b="0" i="1">
                <a:solidFill>
                  <a:srgbClr val="60607D"/>
                </a:solidFill>
              </a:rPr>
              <a:t>[Put here: one line on how we are tackling this. The steps below fill in the detail.]</a:t>
            </a:r>
          </a:p>
        </p:txBody>
      </p:sp>
      <p:sp>
        <p:nvSpPr>
          <p:cNvPr id="8" name="Rounded Rectangle 7"/>
          <p:cNvSpPr/>
          <p:nvPr/>
        </p:nvSpPr>
        <p:spPr>
          <a:xfrm>
            <a:off x="457200" y="1828368"/>
            <a:ext cx="2744400" cy="233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a:solidFill>
                  <a:srgbClr val="60607D"/>
                </a:solidFill>
              </a:rPr>
              <a:t>Step 1</a:t>
            </a:r>
          </a:p>
          <a:p>
            <a:pPr algn="l">
              <a:spcAft>
                <a:spcPts val="500"/>
              </a:spcAft>
            </a:pPr>
            <a:r>
              <a:rPr sz="1150" b="0" i="1">
                <a:solidFill>
                  <a:srgbClr val="60607D"/>
                </a:solidFill>
              </a:rPr>
              <a:t>[Step or story name]</a:t>
            </a:r>
          </a:p>
          <a:p>
            <a:pPr algn="l">
              <a:spcAft>
                <a:spcPts val="500"/>
              </a:spcAft>
            </a:pPr>
            <a:r>
              <a:rPr sz="1150" b="0" i="1">
                <a:solidFill>
                  <a:srgbClr val="60607D"/>
                </a:solidFill>
              </a:rPr>
              <a:t>[Put here: what we do in this step, in a sentence or two.]</a:t>
            </a:r>
          </a:p>
        </p:txBody>
      </p:sp>
      <p:sp>
        <p:nvSpPr>
          <p:cNvPr id="9" name="Rounded Rectangle 8"/>
          <p:cNvSpPr/>
          <p:nvPr/>
        </p:nvSpPr>
        <p:spPr>
          <a:xfrm>
            <a:off x="3301600" y="1828368"/>
            <a:ext cx="2744400" cy="233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a:solidFill>
                  <a:srgbClr val="60607D"/>
                </a:solidFill>
              </a:rPr>
              <a:t>Step 2</a:t>
            </a:r>
          </a:p>
          <a:p>
            <a:pPr algn="l">
              <a:spcAft>
                <a:spcPts val="500"/>
              </a:spcAft>
            </a:pPr>
            <a:r>
              <a:rPr sz="1150" b="0" i="1">
                <a:solidFill>
                  <a:srgbClr val="60607D"/>
                </a:solidFill>
              </a:rPr>
              <a:t>[Step or story name]</a:t>
            </a:r>
          </a:p>
          <a:p>
            <a:pPr algn="l">
              <a:spcAft>
                <a:spcPts val="500"/>
              </a:spcAft>
            </a:pPr>
            <a:r>
              <a:rPr sz="1150" b="0" i="1">
                <a:solidFill>
                  <a:srgbClr val="60607D"/>
                </a:solidFill>
              </a:rPr>
              <a:t>[Put here: what we do in this step, in a sentence or two.]</a:t>
            </a:r>
          </a:p>
        </p:txBody>
      </p:sp>
      <p:sp>
        <p:nvSpPr>
          <p:cNvPr id="10" name="Rounded Rectangle 9"/>
          <p:cNvSpPr/>
          <p:nvPr/>
        </p:nvSpPr>
        <p:spPr>
          <a:xfrm>
            <a:off x="6146000" y="1828368"/>
            <a:ext cx="2744400" cy="233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a:solidFill>
                  <a:srgbClr val="60607D"/>
                </a:solidFill>
              </a:rPr>
              <a:t>Step 3</a:t>
            </a:r>
          </a:p>
          <a:p>
            <a:pPr algn="l">
              <a:spcAft>
                <a:spcPts val="500"/>
              </a:spcAft>
            </a:pPr>
            <a:r>
              <a:rPr sz="1150" b="0" i="1">
                <a:solidFill>
                  <a:srgbClr val="60607D"/>
                </a:solidFill>
              </a:rPr>
              <a:t>[Step or story name]</a:t>
            </a:r>
          </a:p>
          <a:p>
            <a:pPr algn="l">
              <a:spcAft>
                <a:spcPts val="500"/>
              </a:spcAft>
            </a:pPr>
            <a:r>
              <a:rPr sz="1150" b="0" i="1">
                <a:solidFill>
                  <a:srgbClr val="60607D"/>
                </a:solidFill>
              </a:rPr>
              <a:t>[Put here: what we do in this step, in a sentence or two.]</a:t>
            </a:r>
          </a:p>
        </p:txBody>
      </p:sp>
      <p:sp>
        <p:nvSpPr>
          <p:cNvPr id="11" name="Rounded Rectangle 10"/>
          <p:cNvSpPr/>
          <p:nvPr/>
        </p:nvSpPr>
        <p:spPr>
          <a:xfrm>
            <a:off x="8990400" y="1828368"/>
            <a:ext cx="2744400" cy="233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a:solidFill>
                  <a:srgbClr val="60607D"/>
                </a:solidFill>
              </a:rPr>
              <a:t>Step 4</a:t>
            </a:r>
          </a:p>
          <a:p>
            <a:pPr algn="l">
              <a:spcAft>
                <a:spcPts val="500"/>
              </a:spcAft>
            </a:pPr>
            <a:r>
              <a:rPr sz="1150" b="0" i="1">
                <a:solidFill>
                  <a:srgbClr val="60607D"/>
                </a:solidFill>
              </a:rPr>
              <a:t>[Step or story name]</a:t>
            </a:r>
          </a:p>
          <a:p>
            <a:pPr algn="l">
              <a:spcAft>
                <a:spcPts val="500"/>
              </a:spcAft>
            </a:pPr>
            <a:r>
              <a:rPr sz="1150" b="0" i="1">
                <a:solidFill>
                  <a:srgbClr val="60607D"/>
                </a:solidFill>
              </a:rPr>
              <a:t>[Put here: what we do in this step, in a sentence or two.]</a:t>
            </a:r>
          </a:p>
        </p:txBody>
      </p:sp>
      <p:sp>
        <p:nvSpPr>
          <p:cNvPr id="12" name="Rectangle 11"/>
          <p:cNvSpPr/>
          <p:nvPr/>
        </p:nvSpPr>
        <p:spPr>
          <a:xfrm>
            <a:off x="1219885" y="4379808"/>
            <a:ext cx="9752229" cy="19050"/>
          </a:xfrm>
          <a:prstGeom prst="rect">
            <a:avLst/>
          </a:prstGeom>
          <a:solidFill>
            <a:srgbClr val="D6D6DF"/>
          </a:solidFill>
          <a:ln>
            <a:noFill/>
          </a:ln>
        </p:spPr>
        <p:txBody>
          <a:bodyPr rtlCol="0" anchor="ctr"/>
          <a:lstStyle/>
          <a:p>
            <a:pPr algn="ctr"/>
            <a:endParaRPr/>
          </a:p>
        </p:txBody>
      </p:sp>
      <p:sp>
        <p:nvSpPr>
          <p:cNvPr id="13" name="Oval 12"/>
          <p:cNvSpPr/>
          <p:nvPr/>
        </p:nvSpPr>
        <p:spPr>
          <a:xfrm>
            <a:off x="1128445" y="4288368"/>
            <a:ext cx="182880" cy="182880"/>
          </a:xfrm>
          <a:prstGeom prst="ellipse">
            <a:avLst/>
          </a:prstGeom>
          <a:solidFill>
            <a:srgbClr val="FFFFFF"/>
          </a:solidFill>
          <a:ln w="19050">
            <a:solidFill>
              <a:srgbClr val="D6D6DF"/>
            </a:solidFill>
          </a:ln>
        </p:spPr>
        <p:txBody>
          <a:bodyPr rtlCol="0" anchor="ctr"/>
          <a:lstStyle/>
          <a:p>
            <a:pPr algn="ctr"/>
            <a:endParaRPr/>
          </a:p>
        </p:txBody>
      </p:sp>
      <p:sp>
        <p:nvSpPr>
          <p:cNvPr id="14" name="Rounded Rectangle 13"/>
          <p:cNvSpPr/>
          <p:nvPr/>
        </p:nvSpPr>
        <p:spPr>
          <a:xfrm>
            <a:off x="457200" y="4562688"/>
            <a:ext cx="1525371"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Aft>
                <a:spcPts val="500"/>
              </a:spcAft>
            </a:pPr>
            <a:r>
              <a:rPr sz="1100" b="0" i="1">
                <a:solidFill>
                  <a:srgbClr val="60607D"/>
                </a:solidFill>
              </a:rPr>
              <a:t>[Date]</a:t>
            </a:r>
          </a:p>
          <a:p>
            <a:pPr algn="l">
              <a:spcAft>
                <a:spcPts val="500"/>
              </a:spcAft>
            </a:pPr>
            <a:r>
              <a:rPr sz="1100" b="0" i="1">
                <a:solidFill>
                  <a:srgbClr val="60607D"/>
                </a:solidFill>
              </a:rPr>
              <a:t>[What is done by then]</a:t>
            </a:r>
          </a:p>
        </p:txBody>
      </p:sp>
      <p:sp>
        <p:nvSpPr>
          <p:cNvPr id="15" name="Oval 14"/>
          <p:cNvSpPr/>
          <p:nvPr/>
        </p:nvSpPr>
        <p:spPr>
          <a:xfrm>
            <a:off x="2753816" y="4288368"/>
            <a:ext cx="182880" cy="182880"/>
          </a:xfrm>
          <a:prstGeom prst="ellipse">
            <a:avLst/>
          </a:prstGeom>
          <a:solidFill>
            <a:srgbClr val="FFFFFF"/>
          </a:solidFill>
          <a:ln w="19050">
            <a:solidFill>
              <a:srgbClr val="D6D6DF"/>
            </a:solidFill>
          </a:ln>
        </p:spPr>
        <p:txBody>
          <a:bodyPr rtlCol="0" anchor="ctr"/>
          <a:lstStyle/>
          <a:p>
            <a:pPr algn="ctr"/>
            <a:endParaRPr/>
          </a:p>
        </p:txBody>
      </p:sp>
      <p:sp>
        <p:nvSpPr>
          <p:cNvPr id="16" name="Rounded Rectangle 15"/>
          <p:cNvSpPr/>
          <p:nvPr/>
        </p:nvSpPr>
        <p:spPr>
          <a:xfrm>
            <a:off x="2082571" y="4562688"/>
            <a:ext cx="1525371"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Aft>
                <a:spcPts val="500"/>
              </a:spcAft>
            </a:pPr>
            <a:r>
              <a:rPr sz="1100" b="0" i="1">
                <a:solidFill>
                  <a:srgbClr val="60607D"/>
                </a:solidFill>
              </a:rPr>
              <a:t>[Date]</a:t>
            </a:r>
          </a:p>
          <a:p>
            <a:pPr algn="l">
              <a:spcAft>
                <a:spcPts val="500"/>
              </a:spcAft>
            </a:pPr>
            <a:r>
              <a:rPr sz="1100" b="0" i="1">
                <a:solidFill>
                  <a:srgbClr val="60607D"/>
                </a:solidFill>
              </a:rPr>
              <a:t>[What is done by then]</a:t>
            </a:r>
          </a:p>
        </p:txBody>
      </p:sp>
      <p:sp>
        <p:nvSpPr>
          <p:cNvPr id="17" name="Oval 16"/>
          <p:cNvSpPr/>
          <p:nvPr/>
        </p:nvSpPr>
        <p:spPr>
          <a:xfrm>
            <a:off x="4379187" y="4288368"/>
            <a:ext cx="182880" cy="182880"/>
          </a:xfrm>
          <a:prstGeom prst="ellipse">
            <a:avLst/>
          </a:prstGeom>
          <a:solidFill>
            <a:srgbClr val="FFFFFF"/>
          </a:solidFill>
          <a:ln w="19050">
            <a:solidFill>
              <a:srgbClr val="D6D6DF"/>
            </a:solidFill>
          </a:ln>
        </p:spPr>
        <p:txBody>
          <a:bodyPr rtlCol="0" anchor="ctr"/>
          <a:lstStyle/>
          <a:p>
            <a:pPr algn="ctr"/>
            <a:endParaRPr/>
          </a:p>
        </p:txBody>
      </p:sp>
      <p:sp>
        <p:nvSpPr>
          <p:cNvPr id="18" name="Rounded Rectangle 17"/>
          <p:cNvSpPr/>
          <p:nvPr/>
        </p:nvSpPr>
        <p:spPr>
          <a:xfrm>
            <a:off x="3707942" y="4562688"/>
            <a:ext cx="1525371"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Aft>
                <a:spcPts val="500"/>
              </a:spcAft>
            </a:pPr>
            <a:r>
              <a:rPr sz="1100" b="0" i="1">
                <a:solidFill>
                  <a:srgbClr val="60607D"/>
                </a:solidFill>
              </a:rPr>
              <a:t>[Date]</a:t>
            </a:r>
          </a:p>
          <a:p>
            <a:pPr algn="l">
              <a:spcAft>
                <a:spcPts val="500"/>
              </a:spcAft>
            </a:pPr>
            <a:r>
              <a:rPr sz="1100" b="0" i="1">
                <a:solidFill>
                  <a:srgbClr val="60607D"/>
                </a:solidFill>
              </a:rPr>
              <a:t>[What is done by then]</a:t>
            </a:r>
          </a:p>
        </p:txBody>
      </p:sp>
      <p:sp>
        <p:nvSpPr>
          <p:cNvPr id="19" name="Oval 18"/>
          <p:cNvSpPr/>
          <p:nvPr/>
        </p:nvSpPr>
        <p:spPr>
          <a:xfrm>
            <a:off x="6004558" y="4288368"/>
            <a:ext cx="182880" cy="182880"/>
          </a:xfrm>
          <a:prstGeom prst="ellipse">
            <a:avLst/>
          </a:prstGeom>
          <a:solidFill>
            <a:srgbClr val="FFFFFF"/>
          </a:solidFill>
          <a:ln w="19050">
            <a:solidFill>
              <a:srgbClr val="D6D6DF"/>
            </a:solidFill>
          </a:ln>
        </p:spPr>
        <p:txBody>
          <a:bodyPr rtlCol="0" anchor="ctr"/>
          <a:lstStyle/>
          <a:p>
            <a:pPr algn="ctr"/>
            <a:endParaRPr/>
          </a:p>
        </p:txBody>
      </p:sp>
      <p:sp>
        <p:nvSpPr>
          <p:cNvPr id="20" name="Rounded Rectangle 19"/>
          <p:cNvSpPr/>
          <p:nvPr/>
        </p:nvSpPr>
        <p:spPr>
          <a:xfrm>
            <a:off x="5333313" y="4562688"/>
            <a:ext cx="1525371"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Aft>
                <a:spcPts val="500"/>
              </a:spcAft>
            </a:pPr>
            <a:r>
              <a:rPr sz="1100" b="0" i="1">
                <a:solidFill>
                  <a:srgbClr val="60607D"/>
                </a:solidFill>
              </a:rPr>
              <a:t>[Date]</a:t>
            </a:r>
          </a:p>
          <a:p>
            <a:pPr algn="l">
              <a:spcAft>
                <a:spcPts val="500"/>
              </a:spcAft>
            </a:pPr>
            <a:r>
              <a:rPr sz="1100" b="0" i="1">
                <a:solidFill>
                  <a:srgbClr val="60607D"/>
                </a:solidFill>
              </a:rPr>
              <a:t>[What is done by then]</a:t>
            </a:r>
          </a:p>
        </p:txBody>
      </p:sp>
      <p:sp>
        <p:nvSpPr>
          <p:cNvPr id="21" name="Oval 20"/>
          <p:cNvSpPr/>
          <p:nvPr/>
        </p:nvSpPr>
        <p:spPr>
          <a:xfrm>
            <a:off x="7629929" y="4288368"/>
            <a:ext cx="182880" cy="182880"/>
          </a:xfrm>
          <a:prstGeom prst="ellipse">
            <a:avLst/>
          </a:prstGeom>
          <a:solidFill>
            <a:srgbClr val="FFFFFF"/>
          </a:solidFill>
          <a:ln w="19050">
            <a:solidFill>
              <a:srgbClr val="D6D6DF"/>
            </a:solidFill>
          </a:ln>
        </p:spPr>
        <p:txBody>
          <a:bodyPr rtlCol="0" anchor="ctr"/>
          <a:lstStyle/>
          <a:p>
            <a:pPr algn="ctr"/>
            <a:endParaRPr/>
          </a:p>
        </p:txBody>
      </p:sp>
      <p:sp>
        <p:nvSpPr>
          <p:cNvPr id="22" name="Rounded Rectangle 21"/>
          <p:cNvSpPr/>
          <p:nvPr/>
        </p:nvSpPr>
        <p:spPr>
          <a:xfrm>
            <a:off x="6958684" y="4562688"/>
            <a:ext cx="1525371"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Aft>
                <a:spcPts val="500"/>
              </a:spcAft>
            </a:pPr>
            <a:r>
              <a:rPr sz="1100" b="0" i="1">
                <a:solidFill>
                  <a:srgbClr val="60607D"/>
                </a:solidFill>
              </a:rPr>
              <a:t>[Date]</a:t>
            </a:r>
          </a:p>
          <a:p>
            <a:pPr algn="l">
              <a:spcAft>
                <a:spcPts val="500"/>
              </a:spcAft>
            </a:pPr>
            <a:r>
              <a:rPr sz="1100" b="0" i="1">
                <a:solidFill>
                  <a:srgbClr val="60607D"/>
                </a:solidFill>
              </a:rPr>
              <a:t>[What is done by then]</a:t>
            </a:r>
          </a:p>
        </p:txBody>
      </p:sp>
      <p:sp>
        <p:nvSpPr>
          <p:cNvPr id="23" name="Oval 22"/>
          <p:cNvSpPr/>
          <p:nvPr/>
        </p:nvSpPr>
        <p:spPr>
          <a:xfrm>
            <a:off x="9255300" y="4288368"/>
            <a:ext cx="182880" cy="182880"/>
          </a:xfrm>
          <a:prstGeom prst="ellipse">
            <a:avLst/>
          </a:prstGeom>
          <a:solidFill>
            <a:srgbClr val="FFFFFF"/>
          </a:solidFill>
          <a:ln w="19050">
            <a:solidFill>
              <a:srgbClr val="D6D6DF"/>
            </a:solidFill>
          </a:ln>
        </p:spPr>
        <p:txBody>
          <a:bodyPr rtlCol="0" anchor="ctr"/>
          <a:lstStyle/>
          <a:p>
            <a:pPr algn="ctr"/>
            <a:endParaRPr/>
          </a:p>
        </p:txBody>
      </p:sp>
      <p:sp>
        <p:nvSpPr>
          <p:cNvPr id="24" name="Rounded Rectangle 23"/>
          <p:cNvSpPr/>
          <p:nvPr/>
        </p:nvSpPr>
        <p:spPr>
          <a:xfrm>
            <a:off x="8584055" y="4562688"/>
            <a:ext cx="1525371"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Aft>
                <a:spcPts val="500"/>
              </a:spcAft>
            </a:pPr>
            <a:r>
              <a:rPr sz="1100" b="0" i="1">
                <a:solidFill>
                  <a:srgbClr val="60607D"/>
                </a:solidFill>
              </a:rPr>
              <a:t>[Date]</a:t>
            </a:r>
          </a:p>
          <a:p>
            <a:pPr algn="l">
              <a:spcAft>
                <a:spcPts val="500"/>
              </a:spcAft>
            </a:pPr>
            <a:r>
              <a:rPr sz="1100" b="0" i="1">
                <a:solidFill>
                  <a:srgbClr val="60607D"/>
                </a:solidFill>
              </a:rPr>
              <a:t>[What is done by then]</a:t>
            </a:r>
          </a:p>
        </p:txBody>
      </p:sp>
      <p:sp>
        <p:nvSpPr>
          <p:cNvPr id="25" name="Oval 24"/>
          <p:cNvSpPr/>
          <p:nvPr/>
        </p:nvSpPr>
        <p:spPr>
          <a:xfrm>
            <a:off x="10880671" y="4288368"/>
            <a:ext cx="182880" cy="182880"/>
          </a:xfrm>
          <a:prstGeom prst="ellipse">
            <a:avLst/>
          </a:prstGeom>
          <a:solidFill>
            <a:srgbClr val="FFFFFF"/>
          </a:solidFill>
          <a:ln w="19050">
            <a:solidFill>
              <a:srgbClr val="D6D6DF"/>
            </a:solidFill>
          </a:ln>
        </p:spPr>
        <p:txBody>
          <a:bodyPr rtlCol="0" anchor="ctr"/>
          <a:lstStyle/>
          <a:p>
            <a:pPr algn="ctr"/>
            <a:endParaRPr/>
          </a:p>
        </p:txBody>
      </p:sp>
      <p:sp>
        <p:nvSpPr>
          <p:cNvPr id="26" name="Rounded Rectangle 25"/>
          <p:cNvSpPr/>
          <p:nvPr/>
        </p:nvSpPr>
        <p:spPr>
          <a:xfrm>
            <a:off x="10209426" y="4562688"/>
            <a:ext cx="1525371"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Bef>
                <a:spcPts val="200"/>
              </a:spcBef>
              <a:spcAft>
                <a:spcPts val="200"/>
              </a:spcAft>
            </a:pPr>
            <a:r>
              <a:rPr sz="850" b="1" i="0" cap="all" spc="100">
                <a:solidFill>
                  <a:srgbClr val="60607D"/>
                </a:solidFill>
              </a:rPr>
              <a:t>The target</a:t>
            </a:r>
          </a:p>
          <a:p>
            <a:pPr algn="l">
              <a:spcBef>
                <a:spcPts val="400"/>
              </a:spcBef>
              <a:spcAft>
                <a:spcPts val="200"/>
              </a:spcAft>
            </a:pPr>
            <a:r>
              <a:rPr sz="850" b="1" i="0">
                <a:solidFill>
                  <a:srgbClr val="000000"/>
                </a:solidFill>
              </a:rPr>
              <a:t>MVP done</a:t>
            </a:r>
          </a:p>
          <a:p>
            <a:pPr algn="l">
              <a:spcAft>
                <a:spcPts val="500"/>
              </a:spcAft>
            </a:pPr>
            <a:r>
              <a:rPr sz="850" b="0" i="1">
                <a:solidFill>
                  <a:srgbClr val="60607D"/>
                </a:solidFill>
              </a:rPr>
              <a:t>[Date we are shooting for.]</a:t>
            </a:r>
          </a:p>
        </p:txBody>
      </p:sp>
      <p:sp>
        <p:nvSpPr>
          <p:cNvPr id="27" name="Rounded Rectangle 26"/>
          <p:cNvSpPr/>
          <p:nvPr/>
        </p:nvSpPr>
        <p:spPr>
          <a:xfrm>
            <a:off x="457200" y="5462688"/>
            <a:ext cx="5563800" cy="93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91440" rIns="182880" bIns="36576" rtlCol="0" anchor="t"/>
          <a:lstStyle/>
          <a:p>
            <a:pPr algn="l">
              <a:spcAft>
                <a:spcPts val="600"/>
              </a:spcAft>
            </a:pPr>
            <a:r>
              <a:rPr sz="1100" b="1" i="0" cap="all" spc="60">
                <a:solidFill>
                  <a:srgbClr val="000000"/>
                </a:solidFill>
              </a:rPr>
              <a:t>Team</a:t>
            </a:r>
          </a:p>
        </p:txBody>
      </p:sp>
      <p:sp>
        <p:nvSpPr>
          <p:cNvPr id="28" name="Rounded Rectangle 27"/>
          <p:cNvSpPr/>
          <p:nvPr/>
        </p:nvSpPr>
        <p:spPr>
          <a:xfrm>
            <a:off x="667512" y="5791872"/>
            <a:ext cx="1351221" cy="246888"/>
          </a:xfrm>
          <a:prstGeom prst="roundRect">
            <a:avLst>
              <a:gd name="adj" fmla="val 50000"/>
            </a:avLst>
          </a:prstGeom>
          <a:solidFill>
            <a:srgbClr val="FFFFFF"/>
          </a:solidFill>
          <a:ln w="12700">
            <a:solidFill>
              <a:srgbClr val="D6D6DF"/>
            </a:solidFill>
          </a:ln>
        </p:spPr>
        <p:txBody>
          <a:bodyPr wrap="none" lIns="0" tIns="0" rIns="0" bIns="0" rtlCol="0" anchor="ctr"/>
          <a:lstStyle/>
          <a:p>
            <a:pPr algn="ctr"/>
            <a:r>
              <a:rPr sz="900" b="0" i="1">
                <a:solidFill>
                  <a:srgbClr val="60607D"/>
                </a:solidFill>
              </a:rPr>
              <a:t>[Who does the work]</a:t>
            </a:r>
          </a:p>
        </p:txBody>
      </p:sp>
      <p:sp>
        <p:nvSpPr>
          <p:cNvPr id="29" name="Rounded Rectangle 28"/>
          <p:cNvSpPr/>
          <p:nvPr/>
        </p:nvSpPr>
        <p:spPr>
          <a:xfrm>
            <a:off x="2101029" y="5791872"/>
            <a:ext cx="1351221" cy="246888"/>
          </a:xfrm>
          <a:prstGeom prst="roundRect">
            <a:avLst>
              <a:gd name="adj" fmla="val 50000"/>
            </a:avLst>
          </a:prstGeom>
          <a:solidFill>
            <a:srgbClr val="FFFFFF"/>
          </a:solidFill>
          <a:ln w="12700">
            <a:solidFill>
              <a:srgbClr val="D6D6DF"/>
            </a:solidFill>
          </a:ln>
        </p:spPr>
        <p:txBody>
          <a:bodyPr wrap="none" lIns="0" tIns="0" rIns="0" bIns="0" rtlCol="0" anchor="ctr"/>
          <a:lstStyle/>
          <a:p>
            <a:pPr algn="ctr"/>
            <a:r>
              <a:rPr sz="900" b="0" i="1">
                <a:solidFill>
                  <a:srgbClr val="60607D"/>
                </a:solidFill>
              </a:rPr>
              <a:t>[Who does the work]</a:t>
            </a:r>
          </a:p>
        </p:txBody>
      </p:sp>
      <p:sp>
        <p:nvSpPr>
          <p:cNvPr id="30" name="Rounded Rectangle 29"/>
          <p:cNvSpPr/>
          <p:nvPr/>
        </p:nvSpPr>
        <p:spPr>
          <a:xfrm>
            <a:off x="6171000" y="5462688"/>
            <a:ext cx="5563800" cy="93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91440" rIns="182880" bIns="36576" rtlCol="0" anchor="t"/>
          <a:lstStyle/>
          <a:p>
            <a:pPr algn="l">
              <a:spcAft>
                <a:spcPts val="600"/>
              </a:spcAft>
            </a:pPr>
            <a:r>
              <a:rPr sz="1100" b="1" i="0" cap="all" spc="60">
                <a:solidFill>
                  <a:srgbClr val="000000"/>
                </a:solidFill>
              </a:rPr>
              <a:t>Partners</a:t>
            </a:r>
          </a:p>
        </p:txBody>
      </p:sp>
      <p:sp>
        <p:nvSpPr>
          <p:cNvPr id="31" name="Rounded Rectangle 30"/>
          <p:cNvSpPr/>
          <p:nvPr/>
        </p:nvSpPr>
        <p:spPr>
          <a:xfrm>
            <a:off x="6381312" y="5791872"/>
            <a:ext cx="1291655" cy="246888"/>
          </a:xfrm>
          <a:prstGeom prst="roundRect">
            <a:avLst>
              <a:gd name="adj" fmla="val 50000"/>
            </a:avLst>
          </a:prstGeom>
          <a:solidFill>
            <a:srgbClr val="FFFFFF"/>
          </a:solidFill>
          <a:ln w="12700">
            <a:solidFill>
              <a:srgbClr val="D6D6DF"/>
            </a:solidFill>
          </a:ln>
        </p:spPr>
        <p:txBody>
          <a:bodyPr wrap="none" lIns="0" tIns="0" rIns="0" bIns="0" rtlCol="0" anchor="ctr"/>
          <a:lstStyle/>
          <a:p>
            <a:pPr algn="ctr"/>
            <a:r>
              <a:rPr sz="900" b="0" i="1">
                <a:solidFill>
                  <a:srgbClr val="60607D"/>
                </a:solidFill>
              </a:rPr>
              <a:t>[Who we work with]</a:t>
            </a:r>
          </a:p>
        </p:txBody>
      </p:sp>
      <p:sp>
        <p:nvSpPr>
          <p:cNvPr id="32" name="Rounded Rectangle 31"/>
          <p:cNvSpPr/>
          <p:nvPr/>
        </p:nvSpPr>
        <p:spPr>
          <a:xfrm>
            <a:off x="7755263" y="5791872"/>
            <a:ext cx="1291655" cy="246888"/>
          </a:xfrm>
          <a:prstGeom prst="roundRect">
            <a:avLst>
              <a:gd name="adj" fmla="val 50000"/>
            </a:avLst>
          </a:prstGeom>
          <a:solidFill>
            <a:srgbClr val="FFFFFF"/>
          </a:solidFill>
          <a:ln w="12700">
            <a:solidFill>
              <a:srgbClr val="D6D6DF"/>
            </a:solidFill>
          </a:ln>
        </p:spPr>
        <p:txBody>
          <a:bodyPr wrap="none" lIns="0" tIns="0" rIns="0" bIns="0" rtlCol="0" anchor="ctr"/>
          <a:lstStyle/>
          <a:p>
            <a:pPr algn="ctr"/>
            <a:r>
              <a:rPr sz="900" b="0" i="1">
                <a:solidFill>
                  <a:srgbClr val="60607D"/>
                </a:solidFill>
              </a:rPr>
              <a:t>[Who we work with]</a:t>
            </a:r>
          </a:p>
        </p:txBody>
      </p:sp>
      <p:sp>
        <p:nvSpPr>
          <p:cNvPr id="33" name="Rounded Rectangle 32"/>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wrap="square" lIns="150000" rIns="120000" rtlCol="0" anchor="ctr"/>
          <a:lstStyle/>
          <a:p>
            <a:pPr algn="l"/>
            <a:r>
              <a:rPr sz="1050" b="1" i="0">
                <a:solidFill>
                  <a:srgbClr val="FFFFFF"/>
                </a:solidFill>
              </a:rPr>
              <a:t>Owner(s)</a:t>
            </a:r>
          </a:p>
          <a:p>
            <a:pPr algn="l"/>
            <a:r>
              <a:rPr sz="900" b="0" i="1">
                <a:solidFill>
                  <a:srgbClr val="D6D6DF"/>
                </a:solidFill>
              </a:rPr>
              <a:t>[Names]</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 name="Picture 4" descr="f_hero_library.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endParaRP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How we're going about it</a:t>
            </a:r>
          </a:p>
        </p:txBody>
      </p:sp>
      <p:sp>
        <p:nvSpPr>
          <p:cNvPr id="4" name="Text Placeholder 3"/>
          <p:cNvSpPr>
            <a:spLocks noGrp="1"/>
          </p:cNvSpPr>
          <p:nvPr>
            <p:ph type="body" sz="quarter" idx="12"/>
          </p:nvPr>
        </p:nvSpPr>
        <p:spPr>
          <a:xfrm>
            <a:off x="457200" y="170000"/>
            <a:ext cx="8000000" cy="182880"/>
          </a:xfrm>
        </p:spPr>
        <p:txBody>
          <a:bodyPr/>
          <a:lstStyle/>
          <a:p>
            <a:r>
              <a:rPr>
                <a:solidFill>
                  <a:srgbClr val="0391F2"/>
                </a:solidFill>
              </a:rPr>
              <a:t>TEMPLATE · 5 STEPS · CLICK-DOWN · WHAT WE ARE CHANGING</a:t>
            </a:r>
          </a:p>
        </p:txBody>
      </p:sp>
      <p:sp>
        <p:nvSpPr>
          <p:cNvPr id="7" name="TextBox 6"/>
          <p:cNvSpPr txBox="1"/>
          <p:nvPr/>
        </p:nvSpPr>
        <p:spPr>
          <a:xfrm>
            <a:off x="457200" y="1170000"/>
            <a:ext cx="11277600" cy="457200"/>
          </a:xfrm>
          <a:prstGeom prst="rect">
            <a:avLst/>
          </a:prstGeom>
          <a:noFill/>
        </p:spPr>
        <p:txBody>
          <a:bodyPr wrap="square" lIns="0" tIns="0" rIns="0" bIns="0" anchor="t">
            <a:spAutoFit/>
          </a:bodyPr>
          <a:lstStyle/>
          <a:p>
            <a:pPr algn="l">
              <a:spcAft>
                <a:spcPts val="500"/>
              </a:spcAft>
            </a:pPr>
            <a:r>
              <a:rPr sz="1250" b="0" i="1">
                <a:solidFill>
                  <a:srgbClr val="60607D"/>
                </a:solidFill>
              </a:rPr>
              <a:t>[Put here: one line on how we are tackling this. The steps below fill in the detail.]</a:t>
            </a:r>
          </a:p>
        </p:txBody>
      </p:sp>
      <p:sp>
        <p:nvSpPr>
          <p:cNvPr id="8" name="Rounded Rectangle 7"/>
          <p:cNvSpPr/>
          <p:nvPr/>
        </p:nvSpPr>
        <p:spPr>
          <a:xfrm>
            <a:off x="457200" y="1828368"/>
            <a:ext cx="2175520" cy="233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a:solidFill>
                  <a:srgbClr val="60607D"/>
                </a:solidFill>
              </a:rPr>
              <a:t>Step 1</a:t>
            </a:r>
          </a:p>
          <a:p>
            <a:pPr algn="l">
              <a:spcAft>
                <a:spcPts val="500"/>
              </a:spcAft>
            </a:pPr>
            <a:r>
              <a:rPr sz="1150" b="0" i="1">
                <a:solidFill>
                  <a:srgbClr val="60607D"/>
                </a:solidFill>
              </a:rPr>
              <a:t>[Step or story name]</a:t>
            </a:r>
          </a:p>
          <a:p>
            <a:pPr algn="l">
              <a:spcAft>
                <a:spcPts val="500"/>
              </a:spcAft>
            </a:pPr>
            <a:r>
              <a:rPr sz="1150" b="0" i="1">
                <a:solidFill>
                  <a:srgbClr val="60607D"/>
                </a:solidFill>
              </a:rPr>
              <a:t>[Put here: what we do in this step, in a sentence or two.]</a:t>
            </a:r>
          </a:p>
        </p:txBody>
      </p:sp>
      <p:sp>
        <p:nvSpPr>
          <p:cNvPr id="9" name="Rounded Rectangle 8"/>
          <p:cNvSpPr/>
          <p:nvPr/>
        </p:nvSpPr>
        <p:spPr>
          <a:xfrm>
            <a:off x="2732720" y="1828368"/>
            <a:ext cx="2175520" cy="233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a:solidFill>
                  <a:srgbClr val="60607D"/>
                </a:solidFill>
              </a:rPr>
              <a:t>Step 2</a:t>
            </a:r>
          </a:p>
          <a:p>
            <a:pPr algn="l">
              <a:spcAft>
                <a:spcPts val="500"/>
              </a:spcAft>
            </a:pPr>
            <a:r>
              <a:rPr sz="1150" b="0" i="1">
                <a:solidFill>
                  <a:srgbClr val="60607D"/>
                </a:solidFill>
              </a:rPr>
              <a:t>[Step or story name]</a:t>
            </a:r>
          </a:p>
          <a:p>
            <a:pPr algn="l">
              <a:spcAft>
                <a:spcPts val="500"/>
              </a:spcAft>
            </a:pPr>
            <a:r>
              <a:rPr sz="1150" b="0" i="1">
                <a:solidFill>
                  <a:srgbClr val="60607D"/>
                </a:solidFill>
              </a:rPr>
              <a:t>[Put here: what we do in this step, in a sentence or two.]</a:t>
            </a:r>
          </a:p>
        </p:txBody>
      </p:sp>
      <p:sp>
        <p:nvSpPr>
          <p:cNvPr id="10" name="Rounded Rectangle 9"/>
          <p:cNvSpPr/>
          <p:nvPr/>
        </p:nvSpPr>
        <p:spPr>
          <a:xfrm>
            <a:off x="5008240" y="1828368"/>
            <a:ext cx="2175520" cy="233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a:solidFill>
                  <a:srgbClr val="60607D"/>
                </a:solidFill>
              </a:rPr>
              <a:t>Step 3</a:t>
            </a:r>
          </a:p>
          <a:p>
            <a:pPr algn="l">
              <a:spcAft>
                <a:spcPts val="500"/>
              </a:spcAft>
            </a:pPr>
            <a:r>
              <a:rPr sz="1150" b="0" i="1">
                <a:solidFill>
                  <a:srgbClr val="60607D"/>
                </a:solidFill>
              </a:rPr>
              <a:t>[Step or story name]</a:t>
            </a:r>
          </a:p>
          <a:p>
            <a:pPr algn="l">
              <a:spcAft>
                <a:spcPts val="500"/>
              </a:spcAft>
            </a:pPr>
            <a:r>
              <a:rPr sz="1150" b="0" i="1">
                <a:solidFill>
                  <a:srgbClr val="60607D"/>
                </a:solidFill>
              </a:rPr>
              <a:t>[Put here: what we do in this step, in a sentence or two.]</a:t>
            </a:r>
          </a:p>
        </p:txBody>
      </p:sp>
      <p:sp>
        <p:nvSpPr>
          <p:cNvPr id="11" name="Rounded Rectangle 10"/>
          <p:cNvSpPr/>
          <p:nvPr/>
        </p:nvSpPr>
        <p:spPr>
          <a:xfrm>
            <a:off x="7283760" y="1828368"/>
            <a:ext cx="2175520" cy="233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a:solidFill>
                  <a:srgbClr val="60607D"/>
                </a:solidFill>
              </a:rPr>
              <a:t>Step 4</a:t>
            </a:r>
          </a:p>
          <a:p>
            <a:pPr algn="l">
              <a:spcAft>
                <a:spcPts val="500"/>
              </a:spcAft>
            </a:pPr>
            <a:r>
              <a:rPr sz="1150" b="0" i="1">
                <a:solidFill>
                  <a:srgbClr val="60607D"/>
                </a:solidFill>
              </a:rPr>
              <a:t>[Step or story name]</a:t>
            </a:r>
          </a:p>
          <a:p>
            <a:pPr algn="l">
              <a:spcAft>
                <a:spcPts val="500"/>
              </a:spcAft>
            </a:pPr>
            <a:r>
              <a:rPr sz="1150" b="0" i="1">
                <a:solidFill>
                  <a:srgbClr val="60607D"/>
                </a:solidFill>
              </a:rPr>
              <a:t>[Put here: what we do in this step, in a sentence or two.]</a:t>
            </a:r>
          </a:p>
        </p:txBody>
      </p:sp>
      <p:sp>
        <p:nvSpPr>
          <p:cNvPr id="12" name="Rounded Rectangle 11"/>
          <p:cNvSpPr/>
          <p:nvPr/>
        </p:nvSpPr>
        <p:spPr>
          <a:xfrm>
            <a:off x="9559280" y="1828368"/>
            <a:ext cx="2175520" cy="233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a:solidFill>
                  <a:srgbClr val="60607D"/>
                </a:solidFill>
              </a:rPr>
              <a:t>Step 5</a:t>
            </a:r>
          </a:p>
          <a:p>
            <a:pPr algn="l">
              <a:spcAft>
                <a:spcPts val="500"/>
              </a:spcAft>
            </a:pPr>
            <a:r>
              <a:rPr sz="1150" b="0" i="1">
                <a:solidFill>
                  <a:srgbClr val="60607D"/>
                </a:solidFill>
              </a:rPr>
              <a:t>[Step or story name]</a:t>
            </a:r>
          </a:p>
          <a:p>
            <a:pPr algn="l">
              <a:spcAft>
                <a:spcPts val="500"/>
              </a:spcAft>
            </a:pPr>
            <a:r>
              <a:rPr sz="1150" b="0" i="1">
                <a:solidFill>
                  <a:srgbClr val="60607D"/>
                </a:solidFill>
              </a:rPr>
              <a:t>[Put here: what we do in this step, in a sentence or two.]</a:t>
            </a:r>
          </a:p>
        </p:txBody>
      </p:sp>
      <p:sp>
        <p:nvSpPr>
          <p:cNvPr id="13" name="Rectangle 12"/>
          <p:cNvSpPr/>
          <p:nvPr/>
        </p:nvSpPr>
        <p:spPr>
          <a:xfrm>
            <a:off x="1219885" y="4379808"/>
            <a:ext cx="9752229" cy="19050"/>
          </a:xfrm>
          <a:prstGeom prst="rect">
            <a:avLst/>
          </a:prstGeom>
          <a:solidFill>
            <a:srgbClr val="D6D6DF"/>
          </a:solidFill>
          <a:ln>
            <a:noFill/>
          </a:ln>
        </p:spPr>
        <p:txBody>
          <a:bodyPr rtlCol="0" anchor="ctr"/>
          <a:lstStyle/>
          <a:p>
            <a:pPr algn="ctr"/>
            <a:endParaRPr/>
          </a:p>
        </p:txBody>
      </p:sp>
      <p:sp>
        <p:nvSpPr>
          <p:cNvPr id="14" name="Oval 13"/>
          <p:cNvSpPr/>
          <p:nvPr/>
        </p:nvSpPr>
        <p:spPr>
          <a:xfrm>
            <a:off x="1128445" y="4288368"/>
            <a:ext cx="182880" cy="182880"/>
          </a:xfrm>
          <a:prstGeom prst="ellipse">
            <a:avLst/>
          </a:prstGeom>
          <a:solidFill>
            <a:srgbClr val="FFFFFF"/>
          </a:solidFill>
          <a:ln w="19050">
            <a:solidFill>
              <a:srgbClr val="D6D6DF"/>
            </a:solidFill>
          </a:ln>
        </p:spPr>
        <p:txBody>
          <a:bodyPr rtlCol="0" anchor="ctr"/>
          <a:lstStyle/>
          <a:p>
            <a:pPr algn="ctr"/>
            <a:endParaRPr/>
          </a:p>
        </p:txBody>
      </p:sp>
      <p:sp>
        <p:nvSpPr>
          <p:cNvPr id="15" name="Rounded Rectangle 14"/>
          <p:cNvSpPr/>
          <p:nvPr/>
        </p:nvSpPr>
        <p:spPr>
          <a:xfrm>
            <a:off x="457200" y="4562688"/>
            <a:ext cx="1525371"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Aft>
                <a:spcPts val="500"/>
              </a:spcAft>
            </a:pPr>
            <a:r>
              <a:rPr sz="1100" b="0" i="1">
                <a:solidFill>
                  <a:srgbClr val="60607D"/>
                </a:solidFill>
              </a:rPr>
              <a:t>[Date]</a:t>
            </a:r>
          </a:p>
          <a:p>
            <a:pPr algn="l">
              <a:spcAft>
                <a:spcPts val="500"/>
              </a:spcAft>
            </a:pPr>
            <a:r>
              <a:rPr sz="1100" b="0" i="1">
                <a:solidFill>
                  <a:srgbClr val="60607D"/>
                </a:solidFill>
              </a:rPr>
              <a:t>[What is done by then]</a:t>
            </a:r>
          </a:p>
        </p:txBody>
      </p:sp>
      <p:sp>
        <p:nvSpPr>
          <p:cNvPr id="16" name="Oval 15"/>
          <p:cNvSpPr/>
          <p:nvPr/>
        </p:nvSpPr>
        <p:spPr>
          <a:xfrm>
            <a:off x="2753816" y="4288368"/>
            <a:ext cx="182880" cy="182880"/>
          </a:xfrm>
          <a:prstGeom prst="ellipse">
            <a:avLst/>
          </a:prstGeom>
          <a:solidFill>
            <a:srgbClr val="FFFFFF"/>
          </a:solidFill>
          <a:ln w="19050">
            <a:solidFill>
              <a:srgbClr val="D6D6DF"/>
            </a:solidFill>
          </a:ln>
        </p:spPr>
        <p:txBody>
          <a:bodyPr rtlCol="0" anchor="ctr"/>
          <a:lstStyle/>
          <a:p>
            <a:pPr algn="ctr"/>
            <a:endParaRPr/>
          </a:p>
        </p:txBody>
      </p:sp>
      <p:sp>
        <p:nvSpPr>
          <p:cNvPr id="17" name="Rounded Rectangle 16"/>
          <p:cNvSpPr/>
          <p:nvPr/>
        </p:nvSpPr>
        <p:spPr>
          <a:xfrm>
            <a:off x="2082571" y="4562688"/>
            <a:ext cx="1525371"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Aft>
                <a:spcPts val="500"/>
              </a:spcAft>
            </a:pPr>
            <a:r>
              <a:rPr sz="1100" b="0" i="1">
                <a:solidFill>
                  <a:srgbClr val="60607D"/>
                </a:solidFill>
              </a:rPr>
              <a:t>[Date]</a:t>
            </a:r>
          </a:p>
          <a:p>
            <a:pPr algn="l">
              <a:spcAft>
                <a:spcPts val="500"/>
              </a:spcAft>
            </a:pPr>
            <a:r>
              <a:rPr sz="1100" b="0" i="1">
                <a:solidFill>
                  <a:srgbClr val="60607D"/>
                </a:solidFill>
              </a:rPr>
              <a:t>[What is done by then]</a:t>
            </a:r>
          </a:p>
        </p:txBody>
      </p:sp>
      <p:sp>
        <p:nvSpPr>
          <p:cNvPr id="18" name="Oval 17"/>
          <p:cNvSpPr/>
          <p:nvPr/>
        </p:nvSpPr>
        <p:spPr>
          <a:xfrm>
            <a:off x="4379187" y="4288368"/>
            <a:ext cx="182880" cy="182880"/>
          </a:xfrm>
          <a:prstGeom prst="ellipse">
            <a:avLst/>
          </a:prstGeom>
          <a:solidFill>
            <a:srgbClr val="FFFFFF"/>
          </a:solidFill>
          <a:ln w="19050">
            <a:solidFill>
              <a:srgbClr val="D6D6DF"/>
            </a:solidFill>
          </a:ln>
        </p:spPr>
        <p:txBody>
          <a:bodyPr rtlCol="0" anchor="ctr"/>
          <a:lstStyle/>
          <a:p>
            <a:pPr algn="ctr"/>
            <a:endParaRPr/>
          </a:p>
        </p:txBody>
      </p:sp>
      <p:sp>
        <p:nvSpPr>
          <p:cNvPr id="19" name="Rounded Rectangle 18"/>
          <p:cNvSpPr/>
          <p:nvPr/>
        </p:nvSpPr>
        <p:spPr>
          <a:xfrm>
            <a:off x="3707942" y="4562688"/>
            <a:ext cx="1525371"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Aft>
                <a:spcPts val="500"/>
              </a:spcAft>
            </a:pPr>
            <a:r>
              <a:rPr sz="1100" b="0" i="1">
                <a:solidFill>
                  <a:srgbClr val="60607D"/>
                </a:solidFill>
              </a:rPr>
              <a:t>[Date]</a:t>
            </a:r>
          </a:p>
          <a:p>
            <a:pPr algn="l">
              <a:spcAft>
                <a:spcPts val="500"/>
              </a:spcAft>
            </a:pPr>
            <a:r>
              <a:rPr sz="1100" b="0" i="1">
                <a:solidFill>
                  <a:srgbClr val="60607D"/>
                </a:solidFill>
              </a:rPr>
              <a:t>[What is done by then]</a:t>
            </a:r>
          </a:p>
        </p:txBody>
      </p:sp>
      <p:sp>
        <p:nvSpPr>
          <p:cNvPr id="20" name="Oval 19"/>
          <p:cNvSpPr/>
          <p:nvPr/>
        </p:nvSpPr>
        <p:spPr>
          <a:xfrm>
            <a:off x="6004558" y="4288368"/>
            <a:ext cx="182880" cy="182880"/>
          </a:xfrm>
          <a:prstGeom prst="ellipse">
            <a:avLst/>
          </a:prstGeom>
          <a:solidFill>
            <a:srgbClr val="FFFFFF"/>
          </a:solidFill>
          <a:ln w="19050">
            <a:solidFill>
              <a:srgbClr val="D6D6DF"/>
            </a:solidFill>
          </a:ln>
        </p:spPr>
        <p:txBody>
          <a:bodyPr rtlCol="0" anchor="ctr"/>
          <a:lstStyle/>
          <a:p>
            <a:pPr algn="ctr"/>
            <a:endParaRPr/>
          </a:p>
        </p:txBody>
      </p:sp>
      <p:sp>
        <p:nvSpPr>
          <p:cNvPr id="21" name="Rounded Rectangle 20"/>
          <p:cNvSpPr/>
          <p:nvPr/>
        </p:nvSpPr>
        <p:spPr>
          <a:xfrm>
            <a:off x="5333313" y="4562688"/>
            <a:ext cx="1525371"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Aft>
                <a:spcPts val="500"/>
              </a:spcAft>
            </a:pPr>
            <a:r>
              <a:rPr sz="1100" b="0" i="1">
                <a:solidFill>
                  <a:srgbClr val="60607D"/>
                </a:solidFill>
              </a:rPr>
              <a:t>[Date]</a:t>
            </a:r>
          </a:p>
          <a:p>
            <a:pPr algn="l">
              <a:spcAft>
                <a:spcPts val="500"/>
              </a:spcAft>
            </a:pPr>
            <a:r>
              <a:rPr sz="1100" b="0" i="1">
                <a:solidFill>
                  <a:srgbClr val="60607D"/>
                </a:solidFill>
              </a:rPr>
              <a:t>[What is done by then]</a:t>
            </a:r>
          </a:p>
        </p:txBody>
      </p:sp>
      <p:sp>
        <p:nvSpPr>
          <p:cNvPr id="22" name="Oval 21"/>
          <p:cNvSpPr/>
          <p:nvPr/>
        </p:nvSpPr>
        <p:spPr>
          <a:xfrm>
            <a:off x="7629929" y="4288368"/>
            <a:ext cx="182880" cy="182880"/>
          </a:xfrm>
          <a:prstGeom prst="ellipse">
            <a:avLst/>
          </a:prstGeom>
          <a:solidFill>
            <a:srgbClr val="FFFFFF"/>
          </a:solidFill>
          <a:ln w="19050">
            <a:solidFill>
              <a:srgbClr val="D6D6DF"/>
            </a:solidFill>
          </a:ln>
        </p:spPr>
        <p:txBody>
          <a:bodyPr rtlCol="0" anchor="ctr"/>
          <a:lstStyle/>
          <a:p>
            <a:pPr algn="ctr"/>
            <a:endParaRPr/>
          </a:p>
        </p:txBody>
      </p:sp>
      <p:sp>
        <p:nvSpPr>
          <p:cNvPr id="23" name="Rounded Rectangle 22"/>
          <p:cNvSpPr/>
          <p:nvPr/>
        </p:nvSpPr>
        <p:spPr>
          <a:xfrm>
            <a:off x="6958684" y="4562688"/>
            <a:ext cx="1525371"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Aft>
                <a:spcPts val="500"/>
              </a:spcAft>
            </a:pPr>
            <a:r>
              <a:rPr sz="1100" b="0" i="1">
                <a:solidFill>
                  <a:srgbClr val="60607D"/>
                </a:solidFill>
              </a:rPr>
              <a:t>[Date]</a:t>
            </a:r>
          </a:p>
          <a:p>
            <a:pPr algn="l">
              <a:spcAft>
                <a:spcPts val="500"/>
              </a:spcAft>
            </a:pPr>
            <a:r>
              <a:rPr sz="1100" b="0" i="1">
                <a:solidFill>
                  <a:srgbClr val="60607D"/>
                </a:solidFill>
              </a:rPr>
              <a:t>[What is done by then]</a:t>
            </a:r>
          </a:p>
        </p:txBody>
      </p:sp>
      <p:sp>
        <p:nvSpPr>
          <p:cNvPr id="24" name="Oval 23"/>
          <p:cNvSpPr/>
          <p:nvPr/>
        </p:nvSpPr>
        <p:spPr>
          <a:xfrm>
            <a:off x="9255300" y="4288368"/>
            <a:ext cx="182880" cy="182880"/>
          </a:xfrm>
          <a:prstGeom prst="ellipse">
            <a:avLst/>
          </a:prstGeom>
          <a:solidFill>
            <a:srgbClr val="FFFFFF"/>
          </a:solidFill>
          <a:ln w="19050">
            <a:solidFill>
              <a:srgbClr val="D6D6DF"/>
            </a:solidFill>
          </a:ln>
        </p:spPr>
        <p:txBody>
          <a:bodyPr rtlCol="0" anchor="ctr"/>
          <a:lstStyle/>
          <a:p>
            <a:pPr algn="ctr"/>
            <a:endParaRPr/>
          </a:p>
        </p:txBody>
      </p:sp>
      <p:sp>
        <p:nvSpPr>
          <p:cNvPr id="25" name="Rounded Rectangle 24"/>
          <p:cNvSpPr/>
          <p:nvPr/>
        </p:nvSpPr>
        <p:spPr>
          <a:xfrm>
            <a:off x="8584055" y="4562688"/>
            <a:ext cx="1525371"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Aft>
                <a:spcPts val="500"/>
              </a:spcAft>
            </a:pPr>
            <a:r>
              <a:rPr sz="1100" b="0" i="1">
                <a:solidFill>
                  <a:srgbClr val="60607D"/>
                </a:solidFill>
              </a:rPr>
              <a:t>[Date]</a:t>
            </a:r>
          </a:p>
          <a:p>
            <a:pPr algn="l">
              <a:spcAft>
                <a:spcPts val="500"/>
              </a:spcAft>
            </a:pPr>
            <a:r>
              <a:rPr sz="1100" b="0" i="1">
                <a:solidFill>
                  <a:srgbClr val="60607D"/>
                </a:solidFill>
              </a:rPr>
              <a:t>[What is done by then]</a:t>
            </a:r>
          </a:p>
        </p:txBody>
      </p:sp>
      <p:sp>
        <p:nvSpPr>
          <p:cNvPr id="26" name="Oval 25"/>
          <p:cNvSpPr/>
          <p:nvPr/>
        </p:nvSpPr>
        <p:spPr>
          <a:xfrm>
            <a:off x="10880671" y="4288368"/>
            <a:ext cx="182880" cy="182880"/>
          </a:xfrm>
          <a:prstGeom prst="ellipse">
            <a:avLst/>
          </a:prstGeom>
          <a:solidFill>
            <a:srgbClr val="FFFFFF"/>
          </a:solidFill>
          <a:ln w="19050">
            <a:solidFill>
              <a:srgbClr val="D6D6DF"/>
            </a:solidFill>
          </a:ln>
        </p:spPr>
        <p:txBody>
          <a:bodyPr rtlCol="0" anchor="ctr"/>
          <a:lstStyle/>
          <a:p>
            <a:pPr algn="ctr"/>
            <a:endParaRPr/>
          </a:p>
        </p:txBody>
      </p:sp>
      <p:sp>
        <p:nvSpPr>
          <p:cNvPr id="27" name="Rounded Rectangle 26"/>
          <p:cNvSpPr/>
          <p:nvPr/>
        </p:nvSpPr>
        <p:spPr>
          <a:xfrm>
            <a:off x="10209426" y="4562688"/>
            <a:ext cx="1525371"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Bef>
                <a:spcPts val="200"/>
              </a:spcBef>
              <a:spcAft>
                <a:spcPts val="200"/>
              </a:spcAft>
            </a:pPr>
            <a:r>
              <a:rPr sz="850" b="1" i="0" cap="all" spc="100">
                <a:solidFill>
                  <a:srgbClr val="60607D"/>
                </a:solidFill>
              </a:rPr>
              <a:t>The target</a:t>
            </a:r>
          </a:p>
          <a:p>
            <a:pPr algn="l">
              <a:spcBef>
                <a:spcPts val="400"/>
              </a:spcBef>
              <a:spcAft>
                <a:spcPts val="200"/>
              </a:spcAft>
            </a:pPr>
            <a:r>
              <a:rPr sz="850" b="1" i="0">
                <a:solidFill>
                  <a:srgbClr val="000000"/>
                </a:solidFill>
              </a:rPr>
              <a:t>MVP done</a:t>
            </a:r>
          </a:p>
          <a:p>
            <a:pPr algn="l">
              <a:spcAft>
                <a:spcPts val="500"/>
              </a:spcAft>
            </a:pPr>
            <a:r>
              <a:rPr sz="850" b="0" i="1">
                <a:solidFill>
                  <a:srgbClr val="60607D"/>
                </a:solidFill>
              </a:rPr>
              <a:t>[Date we are shooting for.]</a:t>
            </a:r>
          </a:p>
        </p:txBody>
      </p:sp>
      <p:sp>
        <p:nvSpPr>
          <p:cNvPr id="28" name="Rounded Rectangle 27"/>
          <p:cNvSpPr/>
          <p:nvPr/>
        </p:nvSpPr>
        <p:spPr>
          <a:xfrm>
            <a:off x="457200" y="5462688"/>
            <a:ext cx="5563800" cy="93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91440" rIns="182880" bIns="36576" rtlCol="0" anchor="t"/>
          <a:lstStyle/>
          <a:p>
            <a:pPr algn="l">
              <a:spcAft>
                <a:spcPts val="600"/>
              </a:spcAft>
            </a:pPr>
            <a:r>
              <a:rPr sz="1100" b="1" i="0" cap="all" spc="60">
                <a:solidFill>
                  <a:srgbClr val="000000"/>
                </a:solidFill>
              </a:rPr>
              <a:t>Team</a:t>
            </a:r>
          </a:p>
        </p:txBody>
      </p:sp>
      <p:sp>
        <p:nvSpPr>
          <p:cNvPr id="29" name="Rounded Rectangle 28"/>
          <p:cNvSpPr/>
          <p:nvPr/>
        </p:nvSpPr>
        <p:spPr>
          <a:xfrm>
            <a:off x="667512" y="5791872"/>
            <a:ext cx="1351221" cy="246888"/>
          </a:xfrm>
          <a:prstGeom prst="roundRect">
            <a:avLst>
              <a:gd name="adj" fmla="val 50000"/>
            </a:avLst>
          </a:prstGeom>
          <a:solidFill>
            <a:srgbClr val="FFFFFF"/>
          </a:solidFill>
          <a:ln w="12700">
            <a:solidFill>
              <a:srgbClr val="D6D6DF"/>
            </a:solidFill>
          </a:ln>
        </p:spPr>
        <p:txBody>
          <a:bodyPr wrap="none" lIns="0" tIns="0" rIns="0" bIns="0" rtlCol="0" anchor="ctr"/>
          <a:lstStyle/>
          <a:p>
            <a:pPr algn="ctr"/>
            <a:r>
              <a:rPr sz="900" b="0" i="1">
                <a:solidFill>
                  <a:srgbClr val="60607D"/>
                </a:solidFill>
              </a:rPr>
              <a:t>[Who does the work]</a:t>
            </a:r>
          </a:p>
        </p:txBody>
      </p:sp>
      <p:sp>
        <p:nvSpPr>
          <p:cNvPr id="30" name="Rounded Rectangle 29"/>
          <p:cNvSpPr/>
          <p:nvPr/>
        </p:nvSpPr>
        <p:spPr>
          <a:xfrm>
            <a:off x="2101029" y="5791872"/>
            <a:ext cx="1351221" cy="246888"/>
          </a:xfrm>
          <a:prstGeom prst="roundRect">
            <a:avLst>
              <a:gd name="adj" fmla="val 50000"/>
            </a:avLst>
          </a:prstGeom>
          <a:solidFill>
            <a:srgbClr val="FFFFFF"/>
          </a:solidFill>
          <a:ln w="12700">
            <a:solidFill>
              <a:srgbClr val="D6D6DF"/>
            </a:solidFill>
          </a:ln>
        </p:spPr>
        <p:txBody>
          <a:bodyPr wrap="none" lIns="0" tIns="0" rIns="0" bIns="0" rtlCol="0" anchor="ctr"/>
          <a:lstStyle/>
          <a:p>
            <a:pPr algn="ctr"/>
            <a:r>
              <a:rPr sz="900" b="0" i="1">
                <a:solidFill>
                  <a:srgbClr val="60607D"/>
                </a:solidFill>
              </a:rPr>
              <a:t>[Who does the work]</a:t>
            </a:r>
          </a:p>
        </p:txBody>
      </p:sp>
      <p:sp>
        <p:nvSpPr>
          <p:cNvPr id="31" name="Rounded Rectangle 30"/>
          <p:cNvSpPr/>
          <p:nvPr/>
        </p:nvSpPr>
        <p:spPr>
          <a:xfrm>
            <a:off x="6171000" y="5462688"/>
            <a:ext cx="5563800" cy="93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91440" rIns="182880" bIns="36576" rtlCol="0" anchor="t"/>
          <a:lstStyle/>
          <a:p>
            <a:pPr algn="l">
              <a:spcAft>
                <a:spcPts val="600"/>
              </a:spcAft>
            </a:pPr>
            <a:r>
              <a:rPr sz="1100" b="1" i="0" cap="all" spc="60">
                <a:solidFill>
                  <a:srgbClr val="000000"/>
                </a:solidFill>
              </a:rPr>
              <a:t>Partners</a:t>
            </a:r>
          </a:p>
        </p:txBody>
      </p:sp>
      <p:sp>
        <p:nvSpPr>
          <p:cNvPr id="32" name="Rounded Rectangle 31"/>
          <p:cNvSpPr/>
          <p:nvPr/>
        </p:nvSpPr>
        <p:spPr>
          <a:xfrm>
            <a:off x="6381312" y="5791872"/>
            <a:ext cx="1291655" cy="246888"/>
          </a:xfrm>
          <a:prstGeom prst="roundRect">
            <a:avLst>
              <a:gd name="adj" fmla="val 50000"/>
            </a:avLst>
          </a:prstGeom>
          <a:solidFill>
            <a:srgbClr val="FFFFFF"/>
          </a:solidFill>
          <a:ln w="12700">
            <a:solidFill>
              <a:srgbClr val="D6D6DF"/>
            </a:solidFill>
          </a:ln>
        </p:spPr>
        <p:txBody>
          <a:bodyPr wrap="none" lIns="0" tIns="0" rIns="0" bIns="0" rtlCol="0" anchor="ctr"/>
          <a:lstStyle/>
          <a:p>
            <a:pPr algn="ctr"/>
            <a:r>
              <a:rPr sz="900" b="0" i="1">
                <a:solidFill>
                  <a:srgbClr val="60607D"/>
                </a:solidFill>
              </a:rPr>
              <a:t>[Who we work with]</a:t>
            </a:r>
          </a:p>
        </p:txBody>
      </p:sp>
      <p:sp>
        <p:nvSpPr>
          <p:cNvPr id="33" name="Rounded Rectangle 32"/>
          <p:cNvSpPr/>
          <p:nvPr/>
        </p:nvSpPr>
        <p:spPr>
          <a:xfrm>
            <a:off x="7755263" y="5791872"/>
            <a:ext cx="1291655" cy="246888"/>
          </a:xfrm>
          <a:prstGeom prst="roundRect">
            <a:avLst>
              <a:gd name="adj" fmla="val 50000"/>
            </a:avLst>
          </a:prstGeom>
          <a:solidFill>
            <a:srgbClr val="FFFFFF"/>
          </a:solidFill>
          <a:ln w="12700">
            <a:solidFill>
              <a:srgbClr val="D6D6DF"/>
            </a:solidFill>
          </a:ln>
        </p:spPr>
        <p:txBody>
          <a:bodyPr wrap="none" lIns="0" tIns="0" rIns="0" bIns="0" rtlCol="0" anchor="ctr"/>
          <a:lstStyle/>
          <a:p>
            <a:pPr algn="ctr"/>
            <a:r>
              <a:rPr sz="900" b="0" i="1">
                <a:solidFill>
                  <a:srgbClr val="60607D"/>
                </a:solidFill>
              </a:rPr>
              <a:t>[Who we work with]</a:t>
            </a:r>
          </a:p>
        </p:txBody>
      </p:sp>
      <p:sp>
        <p:nvSpPr>
          <p:cNvPr id="34" name="Rounded Rectangle 33"/>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wrap="square" lIns="150000" rIns="120000" rtlCol="0" anchor="ctr"/>
          <a:lstStyle/>
          <a:p>
            <a:pPr algn="l"/>
            <a:r>
              <a:rPr sz="1050" b="1" i="0">
                <a:solidFill>
                  <a:srgbClr val="FFFFFF"/>
                </a:solidFill>
              </a:rPr>
              <a:t>Owner(s)</a:t>
            </a:r>
          </a:p>
          <a:p>
            <a:pPr algn="l"/>
            <a:r>
              <a:rPr sz="900" b="0" i="1">
                <a:solidFill>
                  <a:srgbClr val="D6D6DF"/>
                </a:solidFill>
              </a:rPr>
              <a:t>[Names]</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 name="Picture 4" descr="f_hero_library.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endParaRP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How we're going about it</a:t>
            </a:r>
          </a:p>
        </p:txBody>
      </p:sp>
      <p:sp>
        <p:nvSpPr>
          <p:cNvPr id="4" name="Text Placeholder 3"/>
          <p:cNvSpPr>
            <a:spLocks noGrp="1"/>
          </p:cNvSpPr>
          <p:nvPr>
            <p:ph type="body" sz="quarter" idx="12"/>
          </p:nvPr>
        </p:nvSpPr>
        <p:spPr>
          <a:xfrm>
            <a:off x="457200" y="170000"/>
            <a:ext cx="8000000" cy="182880"/>
          </a:xfrm>
        </p:spPr>
        <p:txBody>
          <a:bodyPr/>
          <a:lstStyle/>
          <a:p>
            <a:r>
              <a:rPr>
                <a:solidFill>
                  <a:srgbClr val="0391F2"/>
                </a:solidFill>
              </a:rPr>
              <a:t>TEMPLATE · 6 STEPS · CLICK-DOWN · WHAT WE ARE CHANGING</a:t>
            </a:r>
          </a:p>
        </p:txBody>
      </p:sp>
      <p:sp>
        <p:nvSpPr>
          <p:cNvPr id="7" name="TextBox 6"/>
          <p:cNvSpPr txBox="1"/>
          <p:nvPr/>
        </p:nvSpPr>
        <p:spPr>
          <a:xfrm>
            <a:off x="457200" y="1170000"/>
            <a:ext cx="11277600" cy="457200"/>
          </a:xfrm>
          <a:prstGeom prst="rect">
            <a:avLst/>
          </a:prstGeom>
          <a:noFill/>
        </p:spPr>
        <p:txBody>
          <a:bodyPr wrap="square" lIns="0" tIns="0" rIns="0" bIns="0" anchor="t">
            <a:spAutoFit/>
          </a:bodyPr>
          <a:lstStyle/>
          <a:p>
            <a:pPr algn="l">
              <a:spcAft>
                <a:spcPts val="500"/>
              </a:spcAft>
            </a:pPr>
            <a:r>
              <a:rPr sz="1250" b="0" i="1">
                <a:solidFill>
                  <a:srgbClr val="60607D"/>
                </a:solidFill>
              </a:rPr>
              <a:t>[Put here: one line on how we are tackling this. The steps below fill in the detail.]</a:t>
            </a:r>
          </a:p>
        </p:txBody>
      </p:sp>
      <p:sp>
        <p:nvSpPr>
          <p:cNvPr id="8" name="Rounded Rectangle 7"/>
          <p:cNvSpPr/>
          <p:nvPr/>
        </p:nvSpPr>
        <p:spPr>
          <a:xfrm>
            <a:off x="457200" y="1828368"/>
            <a:ext cx="1796266" cy="233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a:solidFill>
                  <a:srgbClr val="60607D"/>
                </a:solidFill>
              </a:rPr>
              <a:t>Step 1</a:t>
            </a:r>
          </a:p>
          <a:p>
            <a:pPr algn="l">
              <a:spcAft>
                <a:spcPts val="500"/>
              </a:spcAft>
            </a:pPr>
            <a:r>
              <a:rPr sz="1150" b="0" i="1">
                <a:solidFill>
                  <a:srgbClr val="60607D"/>
                </a:solidFill>
              </a:rPr>
              <a:t>[Step or story name]</a:t>
            </a:r>
          </a:p>
          <a:p>
            <a:pPr algn="l">
              <a:spcAft>
                <a:spcPts val="500"/>
              </a:spcAft>
            </a:pPr>
            <a:r>
              <a:rPr sz="1150" b="0" i="1">
                <a:solidFill>
                  <a:srgbClr val="60607D"/>
                </a:solidFill>
              </a:rPr>
              <a:t>[Put here: what we do in this step, in a sentence or two.]</a:t>
            </a:r>
          </a:p>
        </p:txBody>
      </p:sp>
      <p:sp>
        <p:nvSpPr>
          <p:cNvPr id="9" name="Rounded Rectangle 8"/>
          <p:cNvSpPr/>
          <p:nvPr/>
        </p:nvSpPr>
        <p:spPr>
          <a:xfrm>
            <a:off x="2353466" y="1828368"/>
            <a:ext cx="1796266" cy="233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a:solidFill>
                  <a:srgbClr val="60607D"/>
                </a:solidFill>
              </a:rPr>
              <a:t>Step 2</a:t>
            </a:r>
          </a:p>
          <a:p>
            <a:pPr algn="l">
              <a:spcAft>
                <a:spcPts val="500"/>
              </a:spcAft>
            </a:pPr>
            <a:r>
              <a:rPr sz="1150" b="0" i="1">
                <a:solidFill>
                  <a:srgbClr val="60607D"/>
                </a:solidFill>
              </a:rPr>
              <a:t>[Step or story name]</a:t>
            </a:r>
          </a:p>
          <a:p>
            <a:pPr algn="l">
              <a:spcAft>
                <a:spcPts val="500"/>
              </a:spcAft>
            </a:pPr>
            <a:r>
              <a:rPr sz="1150" b="0" i="1">
                <a:solidFill>
                  <a:srgbClr val="60607D"/>
                </a:solidFill>
              </a:rPr>
              <a:t>[Put here: what we do in this step, in a sentence or two.]</a:t>
            </a:r>
          </a:p>
        </p:txBody>
      </p:sp>
      <p:sp>
        <p:nvSpPr>
          <p:cNvPr id="10" name="Rounded Rectangle 9"/>
          <p:cNvSpPr/>
          <p:nvPr/>
        </p:nvSpPr>
        <p:spPr>
          <a:xfrm>
            <a:off x="4249732" y="1828368"/>
            <a:ext cx="1796266" cy="233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a:solidFill>
                  <a:srgbClr val="60607D"/>
                </a:solidFill>
              </a:rPr>
              <a:t>Step 3</a:t>
            </a:r>
          </a:p>
          <a:p>
            <a:pPr algn="l">
              <a:spcAft>
                <a:spcPts val="500"/>
              </a:spcAft>
            </a:pPr>
            <a:r>
              <a:rPr sz="1150" b="0" i="1">
                <a:solidFill>
                  <a:srgbClr val="60607D"/>
                </a:solidFill>
              </a:rPr>
              <a:t>[Step or story name]</a:t>
            </a:r>
          </a:p>
          <a:p>
            <a:pPr algn="l">
              <a:spcAft>
                <a:spcPts val="500"/>
              </a:spcAft>
            </a:pPr>
            <a:r>
              <a:rPr sz="1150" b="0" i="1">
                <a:solidFill>
                  <a:srgbClr val="60607D"/>
                </a:solidFill>
              </a:rPr>
              <a:t>[Put here: what we do in this step, in a sentence or two.]</a:t>
            </a:r>
          </a:p>
        </p:txBody>
      </p:sp>
      <p:sp>
        <p:nvSpPr>
          <p:cNvPr id="11" name="Rounded Rectangle 10"/>
          <p:cNvSpPr/>
          <p:nvPr/>
        </p:nvSpPr>
        <p:spPr>
          <a:xfrm>
            <a:off x="6145998" y="1828368"/>
            <a:ext cx="1796266" cy="233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a:solidFill>
                  <a:srgbClr val="60607D"/>
                </a:solidFill>
              </a:rPr>
              <a:t>Step 4</a:t>
            </a:r>
          </a:p>
          <a:p>
            <a:pPr algn="l">
              <a:spcAft>
                <a:spcPts val="500"/>
              </a:spcAft>
            </a:pPr>
            <a:r>
              <a:rPr sz="1150" b="0" i="1">
                <a:solidFill>
                  <a:srgbClr val="60607D"/>
                </a:solidFill>
              </a:rPr>
              <a:t>[Step or story name]</a:t>
            </a:r>
          </a:p>
          <a:p>
            <a:pPr algn="l">
              <a:spcAft>
                <a:spcPts val="500"/>
              </a:spcAft>
            </a:pPr>
            <a:r>
              <a:rPr sz="1150" b="0" i="1">
                <a:solidFill>
                  <a:srgbClr val="60607D"/>
                </a:solidFill>
              </a:rPr>
              <a:t>[Put here: what we do in this step, in a sentence or two.]</a:t>
            </a:r>
          </a:p>
        </p:txBody>
      </p:sp>
      <p:sp>
        <p:nvSpPr>
          <p:cNvPr id="12" name="Rounded Rectangle 11"/>
          <p:cNvSpPr/>
          <p:nvPr/>
        </p:nvSpPr>
        <p:spPr>
          <a:xfrm>
            <a:off x="8042264" y="1828368"/>
            <a:ext cx="1796266" cy="233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a:solidFill>
                  <a:srgbClr val="60607D"/>
                </a:solidFill>
              </a:rPr>
              <a:t>Step 5</a:t>
            </a:r>
          </a:p>
          <a:p>
            <a:pPr algn="l">
              <a:spcAft>
                <a:spcPts val="500"/>
              </a:spcAft>
            </a:pPr>
            <a:r>
              <a:rPr sz="1150" b="0" i="1">
                <a:solidFill>
                  <a:srgbClr val="60607D"/>
                </a:solidFill>
              </a:rPr>
              <a:t>[Step or story name]</a:t>
            </a:r>
          </a:p>
          <a:p>
            <a:pPr algn="l">
              <a:spcAft>
                <a:spcPts val="500"/>
              </a:spcAft>
            </a:pPr>
            <a:r>
              <a:rPr sz="1150" b="0" i="1">
                <a:solidFill>
                  <a:srgbClr val="60607D"/>
                </a:solidFill>
              </a:rPr>
              <a:t>[Put here: what we do in this step, in a sentence or two.]</a:t>
            </a:r>
          </a:p>
        </p:txBody>
      </p:sp>
      <p:sp>
        <p:nvSpPr>
          <p:cNvPr id="13" name="Rounded Rectangle 12"/>
          <p:cNvSpPr/>
          <p:nvPr/>
        </p:nvSpPr>
        <p:spPr>
          <a:xfrm>
            <a:off x="9938530" y="1828368"/>
            <a:ext cx="1796266" cy="233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a:solidFill>
                  <a:srgbClr val="60607D"/>
                </a:solidFill>
              </a:rPr>
              <a:t>Step 6</a:t>
            </a:r>
          </a:p>
          <a:p>
            <a:pPr algn="l">
              <a:spcAft>
                <a:spcPts val="500"/>
              </a:spcAft>
            </a:pPr>
            <a:r>
              <a:rPr sz="1150" b="0" i="1">
                <a:solidFill>
                  <a:srgbClr val="60607D"/>
                </a:solidFill>
              </a:rPr>
              <a:t>[Step or story name]</a:t>
            </a:r>
          </a:p>
          <a:p>
            <a:pPr algn="l">
              <a:spcAft>
                <a:spcPts val="500"/>
              </a:spcAft>
            </a:pPr>
            <a:r>
              <a:rPr sz="1150" b="0" i="1">
                <a:solidFill>
                  <a:srgbClr val="60607D"/>
                </a:solidFill>
              </a:rPr>
              <a:t>[Put here: what we do in this step, in a sentence or two.]</a:t>
            </a:r>
          </a:p>
        </p:txBody>
      </p:sp>
      <p:sp>
        <p:nvSpPr>
          <p:cNvPr id="14" name="Rectangle 13"/>
          <p:cNvSpPr/>
          <p:nvPr/>
        </p:nvSpPr>
        <p:spPr>
          <a:xfrm>
            <a:off x="1219885" y="4379808"/>
            <a:ext cx="9752229" cy="19050"/>
          </a:xfrm>
          <a:prstGeom prst="rect">
            <a:avLst/>
          </a:prstGeom>
          <a:solidFill>
            <a:srgbClr val="D6D6DF"/>
          </a:solidFill>
          <a:ln>
            <a:noFill/>
          </a:ln>
        </p:spPr>
        <p:txBody>
          <a:bodyPr rtlCol="0" anchor="ctr"/>
          <a:lstStyle/>
          <a:p>
            <a:pPr algn="ctr"/>
            <a:endParaRPr/>
          </a:p>
        </p:txBody>
      </p:sp>
      <p:sp>
        <p:nvSpPr>
          <p:cNvPr id="15" name="Oval 14"/>
          <p:cNvSpPr/>
          <p:nvPr/>
        </p:nvSpPr>
        <p:spPr>
          <a:xfrm>
            <a:off x="1128445" y="4288368"/>
            <a:ext cx="182880" cy="182880"/>
          </a:xfrm>
          <a:prstGeom prst="ellipse">
            <a:avLst/>
          </a:prstGeom>
          <a:solidFill>
            <a:srgbClr val="FFFFFF"/>
          </a:solidFill>
          <a:ln w="19050">
            <a:solidFill>
              <a:srgbClr val="D6D6DF"/>
            </a:solidFill>
          </a:ln>
        </p:spPr>
        <p:txBody>
          <a:bodyPr rtlCol="0" anchor="ctr"/>
          <a:lstStyle/>
          <a:p>
            <a:pPr algn="ctr"/>
            <a:endParaRPr/>
          </a:p>
        </p:txBody>
      </p:sp>
      <p:sp>
        <p:nvSpPr>
          <p:cNvPr id="16" name="Rounded Rectangle 15"/>
          <p:cNvSpPr/>
          <p:nvPr/>
        </p:nvSpPr>
        <p:spPr>
          <a:xfrm>
            <a:off x="457200" y="4562688"/>
            <a:ext cx="1525371"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Aft>
                <a:spcPts val="500"/>
              </a:spcAft>
            </a:pPr>
            <a:r>
              <a:rPr sz="1100" b="0" i="1">
                <a:solidFill>
                  <a:srgbClr val="60607D"/>
                </a:solidFill>
              </a:rPr>
              <a:t>[Date]</a:t>
            </a:r>
          </a:p>
          <a:p>
            <a:pPr algn="l">
              <a:spcAft>
                <a:spcPts val="500"/>
              </a:spcAft>
            </a:pPr>
            <a:r>
              <a:rPr sz="1100" b="0" i="1">
                <a:solidFill>
                  <a:srgbClr val="60607D"/>
                </a:solidFill>
              </a:rPr>
              <a:t>[What is done by then]</a:t>
            </a:r>
          </a:p>
        </p:txBody>
      </p:sp>
      <p:sp>
        <p:nvSpPr>
          <p:cNvPr id="17" name="Oval 16"/>
          <p:cNvSpPr/>
          <p:nvPr/>
        </p:nvSpPr>
        <p:spPr>
          <a:xfrm>
            <a:off x="2753816" y="4288368"/>
            <a:ext cx="182880" cy="182880"/>
          </a:xfrm>
          <a:prstGeom prst="ellipse">
            <a:avLst/>
          </a:prstGeom>
          <a:solidFill>
            <a:srgbClr val="FFFFFF"/>
          </a:solidFill>
          <a:ln w="19050">
            <a:solidFill>
              <a:srgbClr val="D6D6DF"/>
            </a:solidFill>
          </a:ln>
        </p:spPr>
        <p:txBody>
          <a:bodyPr rtlCol="0" anchor="ctr"/>
          <a:lstStyle/>
          <a:p>
            <a:pPr algn="ctr"/>
            <a:endParaRPr/>
          </a:p>
        </p:txBody>
      </p:sp>
      <p:sp>
        <p:nvSpPr>
          <p:cNvPr id="18" name="Rounded Rectangle 17"/>
          <p:cNvSpPr/>
          <p:nvPr/>
        </p:nvSpPr>
        <p:spPr>
          <a:xfrm>
            <a:off x="2082571" y="4562688"/>
            <a:ext cx="1525371"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Aft>
                <a:spcPts val="500"/>
              </a:spcAft>
            </a:pPr>
            <a:r>
              <a:rPr sz="1100" b="0" i="1">
                <a:solidFill>
                  <a:srgbClr val="60607D"/>
                </a:solidFill>
              </a:rPr>
              <a:t>[Date]</a:t>
            </a:r>
          </a:p>
          <a:p>
            <a:pPr algn="l">
              <a:spcAft>
                <a:spcPts val="500"/>
              </a:spcAft>
            </a:pPr>
            <a:r>
              <a:rPr sz="1100" b="0" i="1">
                <a:solidFill>
                  <a:srgbClr val="60607D"/>
                </a:solidFill>
              </a:rPr>
              <a:t>[What is done by then]</a:t>
            </a:r>
          </a:p>
        </p:txBody>
      </p:sp>
      <p:sp>
        <p:nvSpPr>
          <p:cNvPr id="19" name="Oval 18"/>
          <p:cNvSpPr/>
          <p:nvPr/>
        </p:nvSpPr>
        <p:spPr>
          <a:xfrm>
            <a:off x="4379187" y="4288368"/>
            <a:ext cx="182880" cy="182880"/>
          </a:xfrm>
          <a:prstGeom prst="ellipse">
            <a:avLst/>
          </a:prstGeom>
          <a:solidFill>
            <a:srgbClr val="FFFFFF"/>
          </a:solidFill>
          <a:ln w="19050">
            <a:solidFill>
              <a:srgbClr val="D6D6DF"/>
            </a:solidFill>
          </a:ln>
        </p:spPr>
        <p:txBody>
          <a:bodyPr rtlCol="0" anchor="ctr"/>
          <a:lstStyle/>
          <a:p>
            <a:pPr algn="ctr"/>
            <a:endParaRPr/>
          </a:p>
        </p:txBody>
      </p:sp>
      <p:sp>
        <p:nvSpPr>
          <p:cNvPr id="20" name="Rounded Rectangle 19"/>
          <p:cNvSpPr/>
          <p:nvPr/>
        </p:nvSpPr>
        <p:spPr>
          <a:xfrm>
            <a:off x="3707942" y="4562688"/>
            <a:ext cx="1525371"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Aft>
                <a:spcPts val="500"/>
              </a:spcAft>
            </a:pPr>
            <a:r>
              <a:rPr sz="1100" b="0" i="1">
                <a:solidFill>
                  <a:srgbClr val="60607D"/>
                </a:solidFill>
              </a:rPr>
              <a:t>[Date]</a:t>
            </a:r>
          </a:p>
          <a:p>
            <a:pPr algn="l">
              <a:spcAft>
                <a:spcPts val="500"/>
              </a:spcAft>
            </a:pPr>
            <a:r>
              <a:rPr sz="1100" b="0" i="1">
                <a:solidFill>
                  <a:srgbClr val="60607D"/>
                </a:solidFill>
              </a:rPr>
              <a:t>[What is done by then]</a:t>
            </a:r>
          </a:p>
        </p:txBody>
      </p:sp>
      <p:sp>
        <p:nvSpPr>
          <p:cNvPr id="21" name="Oval 20"/>
          <p:cNvSpPr/>
          <p:nvPr/>
        </p:nvSpPr>
        <p:spPr>
          <a:xfrm>
            <a:off x="6004558" y="4288368"/>
            <a:ext cx="182880" cy="182880"/>
          </a:xfrm>
          <a:prstGeom prst="ellipse">
            <a:avLst/>
          </a:prstGeom>
          <a:solidFill>
            <a:srgbClr val="FFFFFF"/>
          </a:solidFill>
          <a:ln w="19050">
            <a:solidFill>
              <a:srgbClr val="D6D6DF"/>
            </a:solidFill>
          </a:ln>
        </p:spPr>
        <p:txBody>
          <a:bodyPr rtlCol="0" anchor="ctr"/>
          <a:lstStyle/>
          <a:p>
            <a:pPr algn="ctr"/>
            <a:endParaRPr/>
          </a:p>
        </p:txBody>
      </p:sp>
      <p:sp>
        <p:nvSpPr>
          <p:cNvPr id="22" name="Rounded Rectangle 21"/>
          <p:cNvSpPr/>
          <p:nvPr/>
        </p:nvSpPr>
        <p:spPr>
          <a:xfrm>
            <a:off x="5333313" y="4562688"/>
            <a:ext cx="1525371"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Aft>
                <a:spcPts val="500"/>
              </a:spcAft>
            </a:pPr>
            <a:r>
              <a:rPr sz="1100" b="0" i="1">
                <a:solidFill>
                  <a:srgbClr val="60607D"/>
                </a:solidFill>
              </a:rPr>
              <a:t>[Date]</a:t>
            </a:r>
          </a:p>
          <a:p>
            <a:pPr algn="l">
              <a:spcAft>
                <a:spcPts val="500"/>
              </a:spcAft>
            </a:pPr>
            <a:r>
              <a:rPr sz="1100" b="0" i="1">
                <a:solidFill>
                  <a:srgbClr val="60607D"/>
                </a:solidFill>
              </a:rPr>
              <a:t>[What is done by then]</a:t>
            </a:r>
          </a:p>
        </p:txBody>
      </p:sp>
      <p:sp>
        <p:nvSpPr>
          <p:cNvPr id="23" name="Oval 22"/>
          <p:cNvSpPr/>
          <p:nvPr/>
        </p:nvSpPr>
        <p:spPr>
          <a:xfrm>
            <a:off x="7629929" y="4288368"/>
            <a:ext cx="182880" cy="182880"/>
          </a:xfrm>
          <a:prstGeom prst="ellipse">
            <a:avLst/>
          </a:prstGeom>
          <a:solidFill>
            <a:srgbClr val="FFFFFF"/>
          </a:solidFill>
          <a:ln w="19050">
            <a:solidFill>
              <a:srgbClr val="D6D6DF"/>
            </a:solidFill>
          </a:ln>
        </p:spPr>
        <p:txBody>
          <a:bodyPr rtlCol="0" anchor="ctr"/>
          <a:lstStyle/>
          <a:p>
            <a:pPr algn="ctr"/>
            <a:endParaRPr/>
          </a:p>
        </p:txBody>
      </p:sp>
      <p:sp>
        <p:nvSpPr>
          <p:cNvPr id="24" name="Rounded Rectangle 23"/>
          <p:cNvSpPr/>
          <p:nvPr/>
        </p:nvSpPr>
        <p:spPr>
          <a:xfrm>
            <a:off x="6958684" y="4562688"/>
            <a:ext cx="1525371"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Aft>
                <a:spcPts val="500"/>
              </a:spcAft>
            </a:pPr>
            <a:r>
              <a:rPr sz="1100" b="0" i="1">
                <a:solidFill>
                  <a:srgbClr val="60607D"/>
                </a:solidFill>
              </a:rPr>
              <a:t>[Date]</a:t>
            </a:r>
          </a:p>
          <a:p>
            <a:pPr algn="l">
              <a:spcAft>
                <a:spcPts val="500"/>
              </a:spcAft>
            </a:pPr>
            <a:r>
              <a:rPr sz="1100" b="0" i="1">
                <a:solidFill>
                  <a:srgbClr val="60607D"/>
                </a:solidFill>
              </a:rPr>
              <a:t>[What is done by then]</a:t>
            </a:r>
          </a:p>
        </p:txBody>
      </p:sp>
      <p:sp>
        <p:nvSpPr>
          <p:cNvPr id="25" name="Oval 24"/>
          <p:cNvSpPr/>
          <p:nvPr/>
        </p:nvSpPr>
        <p:spPr>
          <a:xfrm>
            <a:off x="9255300" y="4288368"/>
            <a:ext cx="182880" cy="182880"/>
          </a:xfrm>
          <a:prstGeom prst="ellipse">
            <a:avLst/>
          </a:prstGeom>
          <a:solidFill>
            <a:srgbClr val="FFFFFF"/>
          </a:solidFill>
          <a:ln w="19050">
            <a:solidFill>
              <a:srgbClr val="D6D6DF"/>
            </a:solidFill>
          </a:ln>
        </p:spPr>
        <p:txBody>
          <a:bodyPr rtlCol="0" anchor="ctr"/>
          <a:lstStyle/>
          <a:p>
            <a:pPr algn="ctr"/>
            <a:endParaRPr/>
          </a:p>
        </p:txBody>
      </p:sp>
      <p:sp>
        <p:nvSpPr>
          <p:cNvPr id="26" name="Rounded Rectangle 25"/>
          <p:cNvSpPr/>
          <p:nvPr/>
        </p:nvSpPr>
        <p:spPr>
          <a:xfrm>
            <a:off x="8584055" y="4562688"/>
            <a:ext cx="1525371"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Aft>
                <a:spcPts val="500"/>
              </a:spcAft>
            </a:pPr>
            <a:r>
              <a:rPr sz="1100" b="0" i="1">
                <a:solidFill>
                  <a:srgbClr val="60607D"/>
                </a:solidFill>
              </a:rPr>
              <a:t>[Date]</a:t>
            </a:r>
          </a:p>
          <a:p>
            <a:pPr algn="l">
              <a:spcAft>
                <a:spcPts val="500"/>
              </a:spcAft>
            </a:pPr>
            <a:r>
              <a:rPr sz="1100" b="0" i="1">
                <a:solidFill>
                  <a:srgbClr val="60607D"/>
                </a:solidFill>
              </a:rPr>
              <a:t>[What is done by then]</a:t>
            </a:r>
          </a:p>
        </p:txBody>
      </p:sp>
      <p:sp>
        <p:nvSpPr>
          <p:cNvPr id="27" name="Oval 26"/>
          <p:cNvSpPr/>
          <p:nvPr/>
        </p:nvSpPr>
        <p:spPr>
          <a:xfrm>
            <a:off x="10880671" y="4288368"/>
            <a:ext cx="182880" cy="182880"/>
          </a:xfrm>
          <a:prstGeom prst="ellipse">
            <a:avLst/>
          </a:prstGeom>
          <a:solidFill>
            <a:srgbClr val="FFFFFF"/>
          </a:solidFill>
          <a:ln w="19050">
            <a:solidFill>
              <a:srgbClr val="D6D6DF"/>
            </a:solidFill>
          </a:ln>
        </p:spPr>
        <p:txBody>
          <a:bodyPr rtlCol="0" anchor="ctr"/>
          <a:lstStyle/>
          <a:p>
            <a:pPr algn="ctr"/>
            <a:endParaRPr/>
          </a:p>
        </p:txBody>
      </p:sp>
      <p:sp>
        <p:nvSpPr>
          <p:cNvPr id="28" name="Rounded Rectangle 27"/>
          <p:cNvSpPr/>
          <p:nvPr/>
        </p:nvSpPr>
        <p:spPr>
          <a:xfrm>
            <a:off x="10209426" y="4562688"/>
            <a:ext cx="1525371"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Bef>
                <a:spcPts val="200"/>
              </a:spcBef>
              <a:spcAft>
                <a:spcPts val="200"/>
              </a:spcAft>
            </a:pPr>
            <a:r>
              <a:rPr sz="850" b="1" i="0" cap="all" spc="100">
                <a:solidFill>
                  <a:srgbClr val="60607D"/>
                </a:solidFill>
              </a:rPr>
              <a:t>The target</a:t>
            </a:r>
          </a:p>
          <a:p>
            <a:pPr algn="l">
              <a:spcBef>
                <a:spcPts val="400"/>
              </a:spcBef>
              <a:spcAft>
                <a:spcPts val="200"/>
              </a:spcAft>
            </a:pPr>
            <a:r>
              <a:rPr sz="850" b="1" i="0">
                <a:solidFill>
                  <a:srgbClr val="000000"/>
                </a:solidFill>
              </a:rPr>
              <a:t>MVP done</a:t>
            </a:r>
          </a:p>
          <a:p>
            <a:pPr algn="l">
              <a:spcAft>
                <a:spcPts val="500"/>
              </a:spcAft>
            </a:pPr>
            <a:r>
              <a:rPr sz="850" b="0" i="1">
                <a:solidFill>
                  <a:srgbClr val="60607D"/>
                </a:solidFill>
              </a:rPr>
              <a:t>[Date we are shooting for.]</a:t>
            </a:r>
          </a:p>
        </p:txBody>
      </p:sp>
      <p:sp>
        <p:nvSpPr>
          <p:cNvPr id="29" name="Rounded Rectangle 28"/>
          <p:cNvSpPr/>
          <p:nvPr/>
        </p:nvSpPr>
        <p:spPr>
          <a:xfrm>
            <a:off x="457200" y="5462688"/>
            <a:ext cx="5563800" cy="93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91440" rIns="182880" bIns="36576" rtlCol="0" anchor="t"/>
          <a:lstStyle/>
          <a:p>
            <a:pPr algn="l">
              <a:spcAft>
                <a:spcPts val="600"/>
              </a:spcAft>
            </a:pPr>
            <a:r>
              <a:rPr sz="1100" b="1" i="0" cap="all" spc="60">
                <a:solidFill>
                  <a:srgbClr val="000000"/>
                </a:solidFill>
              </a:rPr>
              <a:t>Team</a:t>
            </a:r>
          </a:p>
        </p:txBody>
      </p:sp>
      <p:sp>
        <p:nvSpPr>
          <p:cNvPr id="30" name="Rounded Rectangle 29"/>
          <p:cNvSpPr/>
          <p:nvPr/>
        </p:nvSpPr>
        <p:spPr>
          <a:xfrm>
            <a:off x="667512" y="5791872"/>
            <a:ext cx="1351221" cy="246888"/>
          </a:xfrm>
          <a:prstGeom prst="roundRect">
            <a:avLst>
              <a:gd name="adj" fmla="val 50000"/>
            </a:avLst>
          </a:prstGeom>
          <a:solidFill>
            <a:srgbClr val="FFFFFF"/>
          </a:solidFill>
          <a:ln w="12700">
            <a:solidFill>
              <a:srgbClr val="D6D6DF"/>
            </a:solidFill>
          </a:ln>
        </p:spPr>
        <p:txBody>
          <a:bodyPr wrap="none" lIns="0" tIns="0" rIns="0" bIns="0" rtlCol="0" anchor="ctr"/>
          <a:lstStyle/>
          <a:p>
            <a:pPr algn="ctr"/>
            <a:r>
              <a:rPr sz="900" b="0" i="1">
                <a:solidFill>
                  <a:srgbClr val="60607D"/>
                </a:solidFill>
              </a:rPr>
              <a:t>[Who does the work]</a:t>
            </a:r>
          </a:p>
        </p:txBody>
      </p:sp>
      <p:sp>
        <p:nvSpPr>
          <p:cNvPr id="31" name="Rounded Rectangle 30"/>
          <p:cNvSpPr/>
          <p:nvPr/>
        </p:nvSpPr>
        <p:spPr>
          <a:xfrm>
            <a:off x="2101029" y="5791872"/>
            <a:ext cx="1351221" cy="246888"/>
          </a:xfrm>
          <a:prstGeom prst="roundRect">
            <a:avLst>
              <a:gd name="adj" fmla="val 50000"/>
            </a:avLst>
          </a:prstGeom>
          <a:solidFill>
            <a:srgbClr val="FFFFFF"/>
          </a:solidFill>
          <a:ln w="12700">
            <a:solidFill>
              <a:srgbClr val="D6D6DF"/>
            </a:solidFill>
          </a:ln>
        </p:spPr>
        <p:txBody>
          <a:bodyPr wrap="none" lIns="0" tIns="0" rIns="0" bIns="0" rtlCol="0" anchor="ctr"/>
          <a:lstStyle/>
          <a:p>
            <a:pPr algn="ctr"/>
            <a:r>
              <a:rPr sz="900" b="0" i="1">
                <a:solidFill>
                  <a:srgbClr val="60607D"/>
                </a:solidFill>
              </a:rPr>
              <a:t>[Who does the work]</a:t>
            </a:r>
          </a:p>
        </p:txBody>
      </p:sp>
      <p:sp>
        <p:nvSpPr>
          <p:cNvPr id="32" name="Rounded Rectangle 31"/>
          <p:cNvSpPr/>
          <p:nvPr/>
        </p:nvSpPr>
        <p:spPr>
          <a:xfrm>
            <a:off x="6171000" y="5462688"/>
            <a:ext cx="5563800" cy="93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91440" rIns="182880" bIns="36576" rtlCol="0" anchor="t"/>
          <a:lstStyle/>
          <a:p>
            <a:pPr algn="l">
              <a:spcAft>
                <a:spcPts val="600"/>
              </a:spcAft>
            </a:pPr>
            <a:r>
              <a:rPr sz="1100" b="1" i="0" cap="all" spc="60">
                <a:solidFill>
                  <a:srgbClr val="000000"/>
                </a:solidFill>
              </a:rPr>
              <a:t>Partners</a:t>
            </a:r>
          </a:p>
        </p:txBody>
      </p:sp>
      <p:sp>
        <p:nvSpPr>
          <p:cNvPr id="33" name="Rounded Rectangle 32"/>
          <p:cNvSpPr/>
          <p:nvPr/>
        </p:nvSpPr>
        <p:spPr>
          <a:xfrm>
            <a:off x="6381312" y="5791872"/>
            <a:ext cx="1291655" cy="246888"/>
          </a:xfrm>
          <a:prstGeom prst="roundRect">
            <a:avLst>
              <a:gd name="adj" fmla="val 50000"/>
            </a:avLst>
          </a:prstGeom>
          <a:solidFill>
            <a:srgbClr val="FFFFFF"/>
          </a:solidFill>
          <a:ln w="12700">
            <a:solidFill>
              <a:srgbClr val="D6D6DF"/>
            </a:solidFill>
          </a:ln>
        </p:spPr>
        <p:txBody>
          <a:bodyPr wrap="none" lIns="0" tIns="0" rIns="0" bIns="0" rtlCol="0" anchor="ctr"/>
          <a:lstStyle/>
          <a:p>
            <a:pPr algn="ctr"/>
            <a:r>
              <a:rPr sz="900" b="0" i="1">
                <a:solidFill>
                  <a:srgbClr val="60607D"/>
                </a:solidFill>
              </a:rPr>
              <a:t>[Who we work with]</a:t>
            </a:r>
          </a:p>
        </p:txBody>
      </p:sp>
      <p:sp>
        <p:nvSpPr>
          <p:cNvPr id="34" name="Rounded Rectangle 33"/>
          <p:cNvSpPr/>
          <p:nvPr/>
        </p:nvSpPr>
        <p:spPr>
          <a:xfrm>
            <a:off x="7755263" y="5791872"/>
            <a:ext cx="1291655" cy="246888"/>
          </a:xfrm>
          <a:prstGeom prst="roundRect">
            <a:avLst>
              <a:gd name="adj" fmla="val 50000"/>
            </a:avLst>
          </a:prstGeom>
          <a:solidFill>
            <a:srgbClr val="FFFFFF"/>
          </a:solidFill>
          <a:ln w="12700">
            <a:solidFill>
              <a:srgbClr val="D6D6DF"/>
            </a:solidFill>
          </a:ln>
        </p:spPr>
        <p:txBody>
          <a:bodyPr wrap="none" lIns="0" tIns="0" rIns="0" bIns="0" rtlCol="0" anchor="ctr"/>
          <a:lstStyle/>
          <a:p>
            <a:pPr algn="ctr"/>
            <a:r>
              <a:rPr sz="900" b="0" i="1">
                <a:solidFill>
                  <a:srgbClr val="60607D"/>
                </a:solidFill>
              </a:rPr>
              <a:t>[Who we work with]</a:t>
            </a:r>
          </a:p>
        </p:txBody>
      </p:sp>
      <p:sp>
        <p:nvSpPr>
          <p:cNvPr id="35" name="Rounded Rectangle 34"/>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wrap="square" lIns="150000" rIns="120000" rtlCol="0" anchor="ctr"/>
          <a:lstStyle/>
          <a:p>
            <a:pPr algn="l"/>
            <a:r>
              <a:rPr sz="1050" b="1" i="0">
                <a:solidFill>
                  <a:srgbClr val="FFFFFF"/>
                </a:solidFill>
              </a:rPr>
              <a:t>Owner(s)</a:t>
            </a:r>
          </a:p>
          <a:p>
            <a:pPr algn="l"/>
            <a:r>
              <a:rPr sz="900" b="0" i="1">
                <a:solidFill>
                  <a:srgbClr val="D6D6DF"/>
                </a:solidFill>
              </a:rPr>
              <a:t>[Names]</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 name="Picture 4" descr="f_hero_library.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endParaRP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How we're going about it</a:t>
            </a:r>
          </a:p>
        </p:txBody>
      </p:sp>
      <p:sp>
        <p:nvSpPr>
          <p:cNvPr id="4" name="Text Placeholder 3"/>
          <p:cNvSpPr>
            <a:spLocks noGrp="1"/>
          </p:cNvSpPr>
          <p:nvPr>
            <p:ph type="body" sz="quarter" idx="12"/>
          </p:nvPr>
        </p:nvSpPr>
        <p:spPr>
          <a:xfrm>
            <a:off x="457200" y="170000"/>
            <a:ext cx="8000000" cy="182880"/>
          </a:xfrm>
        </p:spPr>
        <p:txBody>
          <a:bodyPr/>
          <a:lstStyle/>
          <a:p>
            <a:r>
              <a:rPr>
                <a:solidFill>
                  <a:srgbClr val="0391F2"/>
                </a:solidFill>
              </a:rPr>
              <a:t>TEMPLATE · 7 STEPS · CLICK-DOWN · WHAT WE ARE CHANGING</a:t>
            </a:r>
          </a:p>
        </p:txBody>
      </p:sp>
      <p:sp>
        <p:nvSpPr>
          <p:cNvPr id="7" name="TextBox 6"/>
          <p:cNvSpPr txBox="1"/>
          <p:nvPr/>
        </p:nvSpPr>
        <p:spPr>
          <a:xfrm>
            <a:off x="457200" y="1170000"/>
            <a:ext cx="11277600" cy="457200"/>
          </a:xfrm>
          <a:prstGeom prst="rect">
            <a:avLst/>
          </a:prstGeom>
          <a:noFill/>
        </p:spPr>
        <p:txBody>
          <a:bodyPr wrap="square" lIns="0" tIns="0" rIns="0" bIns="0" anchor="t">
            <a:spAutoFit/>
          </a:bodyPr>
          <a:lstStyle/>
          <a:p>
            <a:pPr algn="l">
              <a:spcAft>
                <a:spcPts val="500"/>
              </a:spcAft>
            </a:pPr>
            <a:r>
              <a:rPr sz="1250" b="0" i="1">
                <a:solidFill>
                  <a:srgbClr val="60607D"/>
                </a:solidFill>
              </a:rPr>
              <a:t>[Put here: one line on how we are tackling this. The steps below fill in the detail.]</a:t>
            </a:r>
          </a:p>
        </p:txBody>
      </p:sp>
      <p:sp>
        <p:nvSpPr>
          <p:cNvPr id="8" name="Rounded Rectangle 7"/>
          <p:cNvSpPr/>
          <p:nvPr/>
        </p:nvSpPr>
        <p:spPr>
          <a:xfrm>
            <a:off x="457200" y="1828368"/>
            <a:ext cx="2744400" cy="1115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a:solidFill>
                  <a:srgbClr val="60607D"/>
                </a:solidFill>
              </a:rPr>
              <a:t>Step 1</a:t>
            </a:r>
          </a:p>
          <a:p>
            <a:pPr algn="l">
              <a:spcAft>
                <a:spcPts val="500"/>
              </a:spcAft>
            </a:pPr>
            <a:r>
              <a:rPr sz="1050" b="0" i="1">
                <a:solidFill>
                  <a:srgbClr val="60607D"/>
                </a:solidFill>
              </a:rPr>
              <a:t>[Step or story name]</a:t>
            </a:r>
          </a:p>
          <a:p>
            <a:pPr algn="l">
              <a:spcAft>
                <a:spcPts val="500"/>
              </a:spcAft>
            </a:pPr>
            <a:r>
              <a:rPr sz="1050" b="0" i="1">
                <a:solidFill>
                  <a:srgbClr val="60607D"/>
                </a:solidFill>
              </a:rPr>
              <a:t>[Put here: what we do in this step, in a sentence or two.]</a:t>
            </a:r>
          </a:p>
        </p:txBody>
      </p:sp>
      <p:sp>
        <p:nvSpPr>
          <p:cNvPr id="9" name="Rounded Rectangle 8"/>
          <p:cNvSpPr/>
          <p:nvPr/>
        </p:nvSpPr>
        <p:spPr>
          <a:xfrm>
            <a:off x="3301600" y="1828368"/>
            <a:ext cx="2744400" cy="1115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a:solidFill>
                  <a:srgbClr val="60607D"/>
                </a:solidFill>
              </a:rPr>
              <a:t>Step 2</a:t>
            </a:r>
          </a:p>
          <a:p>
            <a:pPr algn="l">
              <a:spcAft>
                <a:spcPts val="500"/>
              </a:spcAft>
            </a:pPr>
            <a:r>
              <a:rPr sz="1050" b="0" i="1">
                <a:solidFill>
                  <a:srgbClr val="60607D"/>
                </a:solidFill>
              </a:rPr>
              <a:t>[Step or story name]</a:t>
            </a:r>
          </a:p>
          <a:p>
            <a:pPr algn="l">
              <a:spcAft>
                <a:spcPts val="500"/>
              </a:spcAft>
            </a:pPr>
            <a:r>
              <a:rPr sz="1050" b="0" i="1">
                <a:solidFill>
                  <a:srgbClr val="60607D"/>
                </a:solidFill>
              </a:rPr>
              <a:t>[Put here: what we do in this step, in a sentence or two.]</a:t>
            </a:r>
          </a:p>
        </p:txBody>
      </p:sp>
      <p:sp>
        <p:nvSpPr>
          <p:cNvPr id="10" name="Rounded Rectangle 9"/>
          <p:cNvSpPr/>
          <p:nvPr/>
        </p:nvSpPr>
        <p:spPr>
          <a:xfrm>
            <a:off x="6146000" y="1828368"/>
            <a:ext cx="2744400" cy="1115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a:solidFill>
                  <a:srgbClr val="60607D"/>
                </a:solidFill>
              </a:rPr>
              <a:t>Step 3</a:t>
            </a:r>
          </a:p>
          <a:p>
            <a:pPr algn="l">
              <a:spcAft>
                <a:spcPts val="500"/>
              </a:spcAft>
            </a:pPr>
            <a:r>
              <a:rPr sz="1050" b="0" i="1">
                <a:solidFill>
                  <a:srgbClr val="60607D"/>
                </a:solidFill>
              </a:rPr>
              <a:t>[Step or story name]</a:t>
            </a:r>
          </a:p>
          <a:p>
            <a:pPr algn="l">
              <a:spcAft>
                <a:spcPts val="500"/>
              </a:spcAft>
            </a:pPr>
            <a:r>
              <a:rPr sz="1050" b="0" i="1">
                <a:solidFill>
                  <a:srgbClr val="60607D"/>
                </a:solidFill>
              </a:rPr>
              <a:t>[Put here: what we do in this step, in a sentence or two.]</a:t>
            </a:r>
          </a:p>
        </p:txBody>
      </p:sp>
      <p:sp>
        <p:nvSpPr>
          <p:cNvPr id="11" name="Rounded Rectangle 10"/>
          <p:cNvSpPr/>
          <p:nvPr/>
        </p:nvSpPr>
        <p:spPr>
          <a:xfrm>
            <a:off x="8990400" y="1828368"/>
            <a:ext cx="2744400" cy="1115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a:solidFill>
                  <a:srgbClr val="60607D"/>
                </a:solidFill>
              </a:rPr>
              <a:t>Step 4</a:t>
            </a:r>
          </a:p>
          <a:p>
            <a:pPr algn="l">
              <a:spcAft>
                <a:spcPts val="500"/>
              </a:spcAft>
            </a:pPr>
            <a:r>
              <a:rPr sz="1050" b="0" i="1">
                <a:solidFill>
                  <a:srgbClr val="60607D"/>
                </a:solidFill>
              </a:rPr>
              <a:t>[Step or story name]</a:t>
            </a:r>
          </a:p>
          <a:p>
            <a:pPr algn="l">
              <a:spcAft>
                <a:spcPts val="500"/>
              </a:spcAft>
            </a:pPr>
            <a:r>
              <a:rPr sz="1050" b="0" i="1">
                <a:solidFill>
                  <a:srgbClr val="60607D"/>
                </a:solidFill>
              </a:rPr>
              <a:t>[Put here: what we do in this step, in a sentence or two.]</a:t>
            </a:r>
          </a:p>
        </p:txBody>
      </p:sp>
      <p:sp>
        <p:nvSpPr>
          <p:cNvPr id="12" name="Rounded Rectangle 11"/>
          <p:cNvSpPr/>
          <p:nvPr/>
        </p:nvSpPr>
        <p:spPr>
          <a:xfrm>
            <a:off x="457200" y="3043368"/>
            <a:ext cx="2744400" cy="1115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a:solidFill>
                  <a:srgbClr val="60607D"/>
                </a:solidFill>
              </a:rPr>
              <a:t>Step 5</a:t>
            </a:r>
          </a:p>
          <a:p>
            <a:pPr algn="l">
              <a:spcAft>
                <a:spcPts val="500"/>
              </a:spcAft>
            </a:pPr>
            <a:r>
              <a:rPr sz="1050" b="0" i="1">
                <a:solidFill>
                  <a:srgbClr val="60607D"/>
                </a:solidFill>
              </a:rPr>
              <a:t>[Step or story name]</a:t>
            </a:r>
          </a:p>
          <a:p>
            <a:pPr algn="l">
              <a:spcAft>
                <a:spcPts val="500"/>
              </a:spcAft>
            </a:pPr>
            <a:r>
              <a:rPr sz="1050" b="0" i="1">
                <a:solidFill>
                  <a:srgbClr val="60607D"/>
                </a:solidFill>
              </a:rPr>
              <a:t>[Put here: what we do in this step, in a sentence or two.]</a:t>
            </a:r>
          </a:p>
        </p:txBody>
      </p:sp>
      <p:sp>
        <p:nvSpPr>
          <p:cNvPr id="13" name="Rounded Rectangle 12"/>
          <p:cNvSpPr/>
          <p:nvPr/>
        </p:nvSpPr>
        <p:spPr>
          <a:xfrm>
            <a:off x="3301600" y="3043368"/>
            <a:ext cx="2744400" cy="1115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a:solidFill>
                  <a:srgbClr val="60607D"/>
                </a:solidFill>
              </a:rPr>
              <a:t>Step 6</a:t>
            </a:r>
          </a:p>
          <a:p>
            <a:pPr algn="l">
              <a:spcAft>
                <a:spcPts val="500"/>
              </a:spcAft>
            </a:pPr>
            <a:r>
              <a:rPr sz="1050" b="0" i="1">
                <a:solidFill>
                  <a:srgbClr val="60607D"/>
                </a:solidFill>
              </a:rPr>
              <a:t>[Step or story name]</a:t>
            </a:r>
          </a:p>
          <a:p>
            <a:pPr algn="l">
              <a:spcAft>
                <a:spcPts val="500"/>
              </a:spcAft>
            </a:pPr>
            <a:r>
              <a:rPr sz="1050" b="0" i="1">
                <a:solidFill>
                  <a:srgbClr val="60607D"/>
                </a:solidFill>
              </a:rPr>
              <a:t>[Put here: what we do in this step, in a sentence or two.]</a:t>
            </a:r>
          </a:p>
        </p:txBody>
      </p:sp>
      <p:sp>
        <p:nvSpPr>
          <p:cNvPr id="14" name="Rounded Rectangle 13"/>
          <p:cNvSpPr/>
          <p:nvPr/>
        </p:nvSpPr>
        <p:spPr>
          <a:xfrm>
            <a:off x="6146000" y="3043368"/>
            <a:ext cx="2744400" cy="1115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a:solidFill>
                  <a:srgbClr val="60607D"/>
                </a:solidFill>
              </a:rPr>
              <a:t>Step 7</a:t>
            </a:r>
          </a:p>
          <a:p>
            <a:pPr algn="l">
              <a:spcAft>
                <a:spcPts val="500"/>
              </a:spcAft>
            </a:pPr>
            <a:r>
              <a:rPr sz="1050" b="0" i="1">
                <a:solidFill>
                  <a:srgbClr val="60607D"/>
                </a:solidFill>
              </a:rPr>
              <a:t>[Step or story name]</a:t>
            </a:r>
          </a:p>
          <a:p>
            <a:pPr algn="l">
              <a:spcAft>
                <a:spcPts val="500"/>
              </a:spcAft>
            </a:pPr>
            <a:r>
              <a:rPr sz="1050" b="0" i="1">
                <a:solidFill>
                  <a:srgbClr val="60607D"/>
                </a:solidFill>
              </a:rPr>
              <a:t>[Put here: what we do in this step, in a sentence or two.]</a:t>
            </a:r>
          </a:p>
        </p:txBody>
      </p:sp>
      <p:sp>
        <p:nvSpPr>
          <p:cNvPr id="15" name="Rectangle 14"/>
          <p:cNvSpPr/>
          <p:nvPr/>
        </p:nvSpPr>
        <p:spPr>
          <a:xfrm>
            <a:off x="1219885" y="4379808"/>
            <a:ext cx="9752229" cy="19050"/>
          </a:xfrm>
          <a:prstGeom prst="rect">
            <a:avLst/>
          </a:prstGeom>
          <a:solidFill>
            <a:srgbClr val="D6D6DF"/>
          </a:solidFill>
          <a:ln>
            <a:noFill/>
          </a:ln>
        </p:spPr>
        <p:txBody>
          <a:bodyPr rtlCol="0" anchor="ctr"/>
          <a:lstStyle/>
          <a:p>
            <a:pPr algn="ctr"/>
            <a:endParaRPr/>
          </a:p>
        </p:txBody>
      </p:sp>
      <p:sp>
        <p:nvSpPr>
          <p:cNvPr id="16" name="Oval 15"/>
          <p:cNvSpPr/>
          <p:nvPr/>
        </p:nvSpPr>
        <p:spPr>
          <a:xfrm>
            <a:off x="1128445" y="4288368"/>
            <a:ext cx="182880" cy="182880"/>
          </a:xfrm>
          <a:prstGeom prst="ellipse">
            <a:avLst/>
          </a:prstGeom>
          <a:solidFill>
            <a:srgbClr val="FFFFFF"/>
          </a:solidFill>
          <a:ln w="19050">
            <a:solidFill>
              <a:srgbClr val="D6D6DF"/>
            </a:solidFill>
          </a:ln>
        </p:spPr>
        <p:txBody>
          <a:bodyPr rtlCol="0" anchor="ctr"/>
          <a:lstStyle/>
          <a:p>
            <a:pPr algn="ctr"/>
            <a:endParaRPr/>
          </a:p>
        </p:txBody>
      </p:sp>
      <p:sp>
        <p:nvSpPr>
          <p:cNvPr id="17" name="Rounded Rectangle 16"/>
          <p:cNvSpPr/>
          <p:nvPr/>
        </p:nvSpPr>
        <p:spPr>
          <a:xfrm>
            <a:off x="457200" y="4562688"/>
            <a:ext cx="1525371"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Aft>
                <a:spcPts val="500"/>
              </a:spcAft>
            </a:pPr>
            <a:r>
              <a:rPr sz="1100" b="0" i="1">
                <a:solidFill>
                  <a:srgbClr val="60607D"/>
                </a:solidFill>
              </a:rPr>
              <a:t>[Date]</a:t>
            </a:r>
          </a:p>
          <a:p>
            <a:pPr algn="l">
              <a:spcAft>
                <a:spcPts val="500"/>
              </a:spcAft>
            </a:pPr>
            <a:r>
              <a:rPr sz="1100" b="0" i="1">
                <a:solidFill>
                  <a:srgbClr val="60607D"/>
                </a:solidFill>
              </a:rPr>
              <a:t>[What is done by then]</a:t>
            </a:r>
          </a:p>
        </p:txBody>
      </p:sp>
      <p:sp>
        <p:nvSpPr>
          <p:cNvPr id="18" name="Oval 17"/>
          <p:cNvSpPr/>
          <p:nvPr/>
        </p:nvSpPr>
        <p:spPr>
          <a:xfrm>
            <a:off x="2753816" y="4288368"/>
            <a:ext cx="182880" cy="182880"/>
          </a:xfrm>
          <a:prstGeom prst="ellipse">
            <a:avLst/>
          </a:prstGeom>
          <a:solidFill>
            <a:srgbClr val="FFFFFF"/>
          </a:solidFill>
          <a:ln w="19050">
            <a:solidFill>
              <a:srgbClr val="D6D6DF"/>
            </a:solidFill>
          </a:ln>
        </p:spPr>
        <p:txBody>
          <a:bodyPr rtlCol="0" anchor="ctr"/>
          <a:lstStyle/>
          <a:p>
            <a:pPr algn="ctr"/>
            <a:endParaRPr/>
          </a:p>
        </p:txBody>
      </p:sp>
      <p:sp>
        <p:nvSpPr>
          <p:cNvPr id="19" name="Rounded Rectangle 18"/>
          <p:cNvSpPr/>
          <p:nvPr/>
        </p:nvSpPr>
        <p:spPr>
          <a:xfrm>
            <a:off x="2082571" y="4562688"/>
            <a:ext cx="1525371"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Aft>
                <a:spcPts val="500"/>
              </a:spcAft>
            </a:pPr>
            <a:r>
              <a:rPr sz="1100" b="0" i="1">
                <a:solidFill>
                  <a:srgbClr val="60607D"/>
                </a:solidFill>
              </a:rPr>
              <a:t>[Date]</a:t>
            </a:r>
          </a:p>
          <a:p>
            <a:pPr algn="l">
              <a:spcAft>
                <a:spcPts val="500"/>
              </a:spcAft>
            </a:pPr>
            <a:r>
              <a:rPr sz="1100" b="0" i="1">
                <a:solidFill>
                  <a:srgbClr val="60607D"/>
                </a:solidFill>
              </a:rPr>
              <a:t>[What is done by then]</a:t>
            </a:r>
          </a:p>
        </p:txBody>
      </p:sp>
      <p:sp>
        <p:nvSpPr>
          <p:cNvPr id="20" name="Oval 19"/>
          <p:cNvSpPr/>
          <p:nvPr/>
        </p:nvSpPr>
        <p:spPr>
          <a:xfrm>
            <a:off x="4379187" y="4288368"/>
            <a:ext cx="182880" cy="182880"/>
          </a:xfrm>
          <a:prstGeom prst="ellipse">
            <a:avLst/>
          </a:prstGeom>
          <a:solidFill>
            <a:srgbClr val="FFFFFF"/>
          </a:solidFill>
          <a:ln w="19050">
            <a:solidFill>
              <a:srgbClr val="D6D6DF"/>
            </a:solidFill>
          </a:ln>
        </p:spPr>
        <p:txBody>
          <a:bodyPr rtlCol="0" anchor="ctr"/>
          <a:lstStyle/>
          <a:p>
            <a:pPr algn="ctr"/>
            <a:endParaRPr/>
          </a:p>
        </p:txBody>
      </p:sp>
      <p:sp>
        <p:nvSpPr>
          <p:cNvPr id="21" name="Rounded Rectangle 20"/>
          <p:cNvSpPr/>
          <p:nvPr/>
        </p:nvSpPr>
        <p:spPr>
          <a:xfrm>
            <a:off x="3707942" y="4562688"/>
            <a:ext cx="1525371"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Aft>
                <a:spcPts val="500"/>
              </a:spcAft>
            </a:pPr>
            <a:r>
              <a:rPr sz="1100" b="0" i="1">
                <a:solidFill>
                  <a:srgbClr val="60607D"/>
                </a:solidFill>
              </a:rPr>
              <a:t>[Date]</a:t>
            </a:r>
          </a:p>
          <a:p>
            <a:pPr algn="l">
              <a:spcAft>
                <a:spcPts val="500"/>
              </a:spcAft>
            </a:pPr>
            <a:r>
              <a:rPr sz="1100" b="0" i="1">
                <a:solidFill>
                  <a:srgbClr val="60607D"/>
                </a:solidFill>
              </a:rPr>
              <a:t>[What is done by then]</a:t>
            </a:r>
          </a:p>
        </p:txBody>
      </p:sp>
      <p:sp>
        <p:nvSpPr>
          <p:cNvPr id="22" name="Oval 21"/>
          <p:cNvSpPr/>
          <p:nvPr/>
        </p:nvSpPr>
        <p:spPr>
          <a:xfrm>
            <a:off x="6004558" y="4288368"/>
            <a:ext cx="182880" cy="182880"/>
          </a:xfrm>
          <a:prstGeom prst="ellipse">
            <a:avLst/>
          </a:prstGeom>
          <a:solidFill>
            <a:srgbClr val="FFFFFF"/>
          </a:solidFill>
          <a:ln w="19050">
            <a:solidFill>
              <a:srgbClr val="D6D6DF"/>
            </a:solidFill>
          </a:ln>
        </p:spPr>
        <p:txBody>
          <a:bodyPr rtlCol="0" anchor="ctr"/>
          <a:lstStyle/>
          <a:p>
            <a:pPr algn="ctr"/>
            <a:endParaRPr/>
          </a:p>
        </p:txBody>
      </p:sp>
      <p:sp>
        <p:nvSpPr>
          <p:cNvPr id="23" name="Rounded Rectangle 22"/>
          <p:cNvSpPr/>
          <p:nvPr/>
        </p:nvSpPr>
        <p:spPr>
          <a:xfrm>
            <a:off x="5333313" y="4562688"/>
            <a:ext cx="1525371"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Aft>
                <a:spcPts val="500"/>
              </a:spcAft>
            </a:pPr>
            <a:r>
              <a:rPr sz="1100" b="0" i="1">
                <a:solidFill>
                  <a:srgbClr val="60607D"/>
                </a:solidFill>
              </a:rPr>
              <a:t>[Date]</a:t>
            </a:r>
          </a:p>
          <a:p>
            <a:pPr algn="l">
              <a:spcAft>
                <a:spcPts val="500"/>
              </a:spcAft>
            </a:pPr>
            <a:r>
              <a:rPr sz="1100" b="0" i="1">
                <a:solidFill>
                  <a:srgbClr val="60607D"/>
                </a:solidFill>
              </a:rPr>
              <a:t>[What is done by then]</a:t>
            </a:r>
          </a:p>
        </p:txBody>
      </p:sp>
      <p:sp>
        <p:nvSpPr>
          <p:cNvPr id="24" name="Oval 23"/>
          <p:cNvSpPr/>
          <p:nvPr/>
        </p:nvSpPr>
        <p:spPr>
          <a:xfrm>
            <a:off x="7629929" y="4288368"/>
            <a:ext cx="182880" cy="182880"/>
          </a:xfrm>
          <a:prstGeom prst="ellipse">
            <a:avLst/>
          </a:prstGeom>
          <a:solidFill>
            <a:srgbClr val="FFFFFF"/>
          </a:solidFill>
          <a:ln w="19050">
            <a:solidFill>
              <a:srgbClr val="D6D6DF"/>
            </a:solidFill>
          </a:ln>
        </p:spPr>
        <p:txBody>
          <a:bodyPr rtlCol="0" anchor="ctr"/>
          <a:lstStyle/>
          <a:p>
            <a:pPr algn="ctr"/>
            <a:endParaRPr/>
          </a:p>
        </p:txBody>
      </p:sp>
      <p:sp>
        <p:nvSpPr>
          <p:cNvPr id="25" name="Rounded Rectangle 24"/>
          <p:cNvSpPr/>
          <p:nvPr/>
        </p:nvSpPr>
        <p:spPr>
          <a:xfrm>
            <a:off x="6958684" y="4562688"/>
            <a:ext cx="1525371"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Aft>
                <a:spcPts val="500"/>
              </a:spcAft>
            </a:pPr>
            <a:r>
              <a:rPr sz="1100" b="0" i="1">
                <a:solidFill>
                  <a:srgbClr val="60607D"/>
                </a:solidFill>
              </a:rPr>
              <a:t>[Date]</a:t>
            </a:r>
          </a:p>
          <a:p>
            <a:pPr algn="l">
              <a:spcAft>
                <a:spcPts val="500"/>
              </a:spcAft>
            </a:pPr>
            <a:r>
              <a:rPr sz="1100" b="0" i="1">
                <a:solidFill>
                  <a:srgbClr val="60607D"/>
                </a:solidFill>
              </a:rPr>
              <a:t>[What is done by then]</a:t>
            </a:r>
          </a:p>
        </p:txBody>
      </p:sp>
      <p:sp>
        <p:nvSpPr>
          <p:cNvPr id="26" name="Oval 25"/>
          <p:cNvSpPr/>
          <p:nvPr/>
        </p:nvSpPr>
        <p:spPr>
          <a:xfrm>
            <a:off x="9255300" y="4288368"/>
            <a:ext cx="182880" cy="182880"/>
          </a:xfrm>
          <a:prstGeom prst="ellipse">
            <a:avLst/>
          </a:prstGeom>
          <a:solidFill>
            <a:srgbClr val="FFFFFF"/>
          </a:solidFill>
          <a:ln w="19050">
            <a:solidFill>
              <a:srgbClr val="D6D6DF"/>
            </a:solidFill>
          </a:ln>
        </p:spPr>
        <p:txBody>
          <a:bodyPr rtlCol="0" anchor="ctr"/>
          <a:lstStyle/>
          <a:p>
            <a:pPr algn="ctr"/>
            <a:endParaRPr/>
          </a:p>
        </p:txBody>
      </p:sp>
      <p:sp>
        <p:nvSpPr>
          <p:cNvPr id="27" name="Rounded Rectangle 26"/>
          <p:cNvSpPr/>
          <p:nvPr/>
        </p:nvSpPr>
        <p:spPr>
          <a:xfrm>
            <a:off x="8584055" y="4562688"/>
            <a:ext cx="1525371"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Aft>
                <a:spcPts val="500"/>
              </a:spcAft>
            </a:pPr>
            <a:r>
              <a:rPr sz="1100" b="0" i="1">
                <a:solidFill>
                  <a:srgbClr val="60607D"/>
                </a:solidFill>
              </a:rPr>
              <a:t>[Date]</a:t>
            </a:r>
          </a:p>
          <a:p>
            <a:pPr algn="l">
              <a:spcAft>
                <a:spcPts val="500"/>
              </a:spcAft>
            </a:pPr>
            <a:r>
              <a:rPr sz="1100" b="0" i="1">
                <a:solidFill>
                  <a:srgbClr val="60607D"/>
                </a:solidFill>
              </a:rPr>
              <a:t>[What is done by then]</a:t>
            </a:r>
          </a:p>
        </p:txBody>
      </p:sp>
      <p:sp>
        <p:nvSpPr>
          <p:cNvPr id="28" name="Oval 27"/>
          <p:cNvSpPr/>
          <p:nvPr/>
        </p:nvSpPr>
        <p:spPr>
          <a:xfrm>
            <a:off x="10880671" y="4288368"/>
            <a:ext cx="182880" cy="182880"/>
          </a:xfrm>
          <a:prstGeom prst="ellipse">
            <a:avLst/>
          </a:prstGeom>
          <a:solidFill>
            <a:srgbClr val="FFFFFF"/>
          </a:solidFill>
          <a:ln w="19050">
            <a:solidFill>
              <a:srgbClr val="D6D6DF"/>
            </a:solidFill>
          </a:ln>
        </p:spPr>
        <p:txBody>
          <a:bodyPr rtlCol="0" anchor="ctr"/>
          <a:lstStyle/>
          <a:p>
            <a:pPr algn="ctr"/>
            <a:endParaRPr/>
          </a:p>
        </p:txBody>
      </p:sp>
      <p:sp>
        <p:nvSpPr>
          <p:cNvPr id="29" name="Rounded Rectangle 28"/>
          <p:cNvSpPr/>
          <p:nvPr/>
        </p:nvSpPr>
        <p:spPr>
          <a:xfrm>
            <a:off x="10209426" y="4562688"/>
            <a:ext cx="1525371"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Bef>
                <a:spcPts val="200"/>
              </a:spcBef>
              <a:spcAft>
                <a:spcPts val="200"/>
              </a:spcAft>
            </a:pPr>
            <a:r>
              <a:rPr sz="850" b="1" i="0" cap="all" spc="100">
                <a:solidFill>
                  <a:srgbClr val="60607D"/>
                </a:solidFill>
              </a:rPr>
              <a:t>The target</a:t>
            </a:r>
          </a:p>
          <a:p>
            <a:pPr algn="l">
              <a:spcBef>
                <a:spcPts val="400"/>
              </a:spcBef>
              <a:spcAft>
                <a:spcPts val="200"/>
              </a:spcAft>
            </a:pPr>
            <a:r>
              <a:rPr sz="850" b="1" i="0">
                <a:solidFill>
                  <a:srgbClr val="000000"/>
                </a:solidFill>
              </a:rPr>
              <a:t>MVP done</a:t>
            </a:r>
          </a:p>
          <a:p>
            <a:pPr algn="l">
              <a:spcAft>
                <a:spcPts val="500"/>
              </a:spcAft>
            </a:pPr>
            <a:r>
              <a:rPr sz="850" b="0" i="1">
                <a:solidFill>
                  <a:srgbClr val="60607D"/>
                </a:solidFill>
              </a:rPr>
              <a:t>[Date we are shooting for.]</a:t>
            </a:r>
          </a:p>
        </p:txBody>
      </p:sp>
      <p:sp>
        <p:nvSpPr>
          <p:cNvPr id="30" name="Rounded Rectangle 29"/>
          <p:cNvSpPr/>
          <p:nvPr/>
        </p:nvSpPr>
        <p:spPr>
          <a:xfrm>
            <a:off x="457200" y="5462688"/>
            <a:ext cx="5563800" cy="93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91440" rIns="182880" bIns="36576" rtlCol="0" anchor="t"/>
          <a:lstStyle/>
          <a:p>
            <a:pPr algn="l">
              <a:spcAft>
                <a:spcPts val="600"/>
              </a:spcAft>
            </a:pPr>
            <a:r>
              <a:rPr sz="1100" b="1" i="0" cap="all" spc="60">
                <a:solidFill>
                  <a:srgbClr val="000000"/>
                </a:solidFill>
              </a:rPr>
              <a:t>Team</a:t>
            </a:r>
          </a:p>
        </p:txBody>
      </p:sp>
      <p:sp>
        <p:nvSpPr>
          <p:cNvPr id="31" name="Rounded Rectangle 30"/>
          <p:cNvSpPr/>
          <p:nvPr/>
        </p:nvSpPr>
        <p:spPr>
          <a:xfrm>
            <a:off x="667512" y="5791872"/>
            <a:ext cx="1351221" cy="246888"/>
          </a:xfrm>
          <a:prstGeom prst="roundRect">
            <a:avLst>
              <a:gd name="adj" fmla="val 50000"/>
            </a:avLst>
          </a:prstGeom>
          <a:solidFill>
            <a:srgbClr val="FFFFFF"/>
          </a:solidFill>
          <a:ln w="12700">
            <a:solidFill>
              <a:srgbClr val="D6D6DF"/>
            </a:solidFill>
          </a:ln>
        </p:spPr>
        <p:txBody>
          <a:bodyPr wrap="none" lIns="0" tIns="0" rIns="0" bIns="0" rtlCol="0" anchor="ctr"/>
          <a:lstStyle/>
          <a:p>
            <a:pPr algn="ctr"/>
            <a:r>
              <a:rPr sz="900" b="0" i="1">
                <a:solidFill>
                  <a:srgbClr val="60607D"/>
                </a:solidFill>
              </a:rPr>
              <a:t>[Who does the work]</a:t>
            </a:r>
          </a:p>
        </p:txBody>
      </p:sp>
      <p:sp>
        <p:nvSpPr>
          <p:cNvPr id="32" name="Rounded Rectangle 31"/>
          <p:cNvSpPr/>
          <p:nvPr/>
        </p:nvSpPr>
        <p:spPr>
          <a:xfrm>
            <a:off x="2101029" y="5791872"/>
            <a:ext cx="1351221" cy="246888"/>
          </a:xfrm>
          <a:prstGeom prst="roundRect">
            <a:avLst>
              <a:gd name="adj" fmla="val 50000"/>
            </a:avLst>
          </a:prstGeom>
          <a:solidFill>
            <a:srgbClr val="FFFFFF"/>
          </a:solidFill>
          <a:ln w="12700">
            <a:solidFill>
              <a:srgbClr val="D6D6DF"/>
            </a:solidFill>
          </a:ln>
        </p:spPr>
        <p:txBody>
          <a:bodyPr wrap="none" lIns="0" tIns="0" rIns="0" bIns="0" rtlCol="0" anchor="ctr"/>
          <a:lstStyle/>
          <a:p>
            <a:pPr algn="ctr"/>
            <a:r>
              <a:rPr sz="900" b="0" i="1">
                <a:solidFill>
                  <a:srgbClr val="60607D"/>
                </a:solidFill>
              </a:rPr>
              <a:t>[Who does the work]</a:t>
            </a:r>
          </a:p>
        </p:txBody>
      </p:sp>
      <p:sp>
        <p:nvSpPr>
          <p:cNvPr id="33" name="Rounded Rectangle 32"/>
          <p:cNvSpPr/>
          <p:nvPr/>
        </p:nvSpPr>
        <p:spPr>
          <a:xfrm>
            <a:off x="6171000" y="5462688"/>
            <a:ext cx="5563800" cy="93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91440" rIns="182880" bIns="36576" rtlCol="0" anchor="t"/>
          <a:lstStyle/>
          <a:p>
            <a:pPr algn="l">
              <a:spcAft>
                <a:spcPts val="600"/>
              </a:spcAft>
            </a:pPr>
            <a:r>
              <a:rPr sz="1100" b="1" i="0" cap="all" spc="60">
                <a:solidFill>
                  <a:srgbClr val="000000"/>
                </a:solidFill>
              </a:rPr>
              <a:t>Partners</a:t>
            </a:r>
          </a:p>
        </p:txBody>
      </p:sp>
      <p:sp>
        <p:nvSpPr>
          <p:cNvPr id="34" name="Rounded Rectangle 33"/>
          <p:cNvSpPr/>
          <p:nvPr/>
        </p:nvSpPr>
        <p:spPr>
          <a:xfrm>
            <a:off x="6381312" y="5791872"/>
            <a:ext cx="1291655" cy="246888"/>
          </a:xfrm>
          <a:prstGeom prst="roundRect">
            <a:avLst>
              <a:gd name="adj" fmla="val 50000"/>
            </a:avLst>
          </a:prstGeom>
          <a:solidFill>
            <a:srgbClr val="FFFFFF"/>
          </a:solidFill>
          <a:ln w="12700">
            <a:solidFill>
              <a:srgbClr val="D6D6DF"/>
            </a:solidFill>
          </a:ln>
        </p:spPr>
        <p:txBody>
          <a:bodyPr wrap="none" lIns="0" tIns="0" rIns="0" bIns="0" rtlCol="0" anchor="ctr"/>
          <a:lstStyle/>
          <a:p>
            <a:pPr algn="ctr"/>
            <a:r>
              <a:rPr sz="900" b="0" i="1">
                <a:solidFill>
                  <a:srgbClr val="60607D"/>
                </a:solidFill>
              </a:rPr>
              <a:t>[Who we work with]</a:t>
            </a:r>
          </a:p>
        </p:txBody>
      </p:sp>
      <p:sp>
        <p:nvSpPr>
          <p:cNvPr id="35" name="Rounded Rectangle 34"/>
          <p:cNvSpPr/>
          <p:nvPr/>
        </p:nvSpPr>
        <p:spPr>
          <a:xfrm>
            <a:off x="7755263" y="5791872"/>
            <a:ext cx="1291655" cy="246888"/>
          </a:xfrm>
          <a:prstGeom prst="roundRect">
            <a:avLst>
              <a:gd name="adj" fmla="val 50000"/>
            </a:avLst>
          </a:prstGeom>
          <a:solidFill>
            <a:srgbClr val="FFFFFF"/>
          </a:solidFill>
          <a:ln w="12700">
            <a:solidFill>
              <a:srgbClr val="D6D6DF"/>
            </a:solidFill>
          </a:ln>
        </p:spPr>
        <p:txBody>
          <a:bodyPr wrap="none" lIns="0" tIns="0" rIns="0" bIns="0" rtlCol="0" anchor="ctr"/>
          <a:lstStyle/>
          <a:p>
            <a:pPr algn="ctr"/>
            <a:r>
              <a:rPr sz="900" b="0" i="1">
                <a:solidFill>
                  <a:srgbClr val="60607D"/>
                </a:solidFill>
              </a:rPr>
              <a:t>[Who we work with]</a:t>
            </a:r>
          </a:p>
        </p:txBody>
      </p:sp>
      <p:sp>
        <p:nvSpPr>
          <p:cNvPr id="36" name="Rounded Rectangle 35"/>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wrap="square" lIns="150000" rIns="120000" rtlCol="0" anchor="ctr"/>
          <a:lstStyle/>
          <a:p>
            <a:pPr algn="l"/>
            <a:r>
              <a:rPr sz="1050" b="1" i="0">
                <a:solidFill>
                  <a:srgbClr val="FFFFFF"/>
                </a:solidFill>
              </a:rPr>
              <a:t>Owner(s)</a:t>
            </a:r>
          </a:p>
          <a:p>
            <a:pPr algn="l"/>
            <a:r>
              <a:rPr sz="900" b="0" i="1">
                <a:solidFill>
                  <a:srgbClr val="D6D6DF"/>
                </a:solidFill>
              </a:rPr>
              <a:t>[Names]</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 name="Picture 4" descr="f_hero_library.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endParaRP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How we're going about it</a:t>
            </a:r>
          </a:p>
        </p:txBody>
      </p:sp>
      <p:sp>
        <p:nvSpPr>
          <p:cNvPr id="4" name="Text Placeholder 3"/>
          <p:cNvSpPr>
            <a:spLocks noGrp="1"/>
          </p:cNvSpPr>
          <p:nvPr>
            <p:ph type="body" sz="quarter" idx="12"/>
          </p:nvPr>
        </p:nvSpPr>
        <p:spPr>
          <a:xfrm>
            <a:off x="457200" y="170000"/>
            <a:ext cx="8000000" cy="182880"/>
          </a:xfrm>
        </p:spPr>
        <p:txBody>
          <a:bodyPr/>
          <a:lstStyle/>
          <a:p>
            <a:r>
              <a:rPr>
                <a:solidFill>
                  <a:srgbClr val="0391F2"/>
                </a:solidFill>
              </a:rPr>
              <a:t>TEMPLATE · 8 STEPS · CLICK-DOWN · WHAT WE ARE CHANGING</a:t>
            </a:r>
          </a:p>
        </p:txBody>
      </p:sp>
      <p:sp>
        <p:nvSpPr>
          <p:cNvPr id="7" name="TextBox 6"/>
          <p:cNvSpPr txBox="1"/>
          <p:nvPr/>
        </p:nvSpPr>
        <p:spPr>
          <a:xfrm>
            <a:off x="457200" y="1170000"/>
            <a:ext cx="11277600" cy="457200"/>
          </a:xfrm>
          <a:prstGeom prst="rect">
            <a:avLst/>
          </a:prstGeom>
          <a:noFill/>
        </p:spPr>
        <p:txBody>
          <a:bodyPr wrap="square" lIns="0" tIns="0" rIns="0" bIns="0" anchor="t">
            <a:spAutoFit/>
          </a:bodyPr>
          <a:lstStyle/>
          <a:p>
            <a:pPr algn="l">
              <a:spcAft>
                <a:spcPts val="500"/>
              </a:spcAft>
            </a:pPr>
            <a:r>
              <a:rPr sz="1250" b="0" i="1">
                <a:solidFill>
                  <a:srgbClr val="60607D"/>
                </a:solidFill>
              </a:rPr>
              <a:t>[Put here: one line on how we are tackling this. The steps below fill in the detail.]</a:t>
            </a:r>
          </a:p>
        </p:txBody>
      </p:sp>
      <p:sp>
        <p:nvSpPr>
          <p:cNvPr id="8" name="Rounded Rectangle 7"/>
          <p:cNvSpPr/>
          <p:nvPr/>
        </p:nvSpPr>
        <p:spPr>
          <a:xfrm>
            <a:off x="457200" y="1828368"/>
            <a:ext cx="2744400" cy="1115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a:solidFill>
                  <a:srgbClr val="60607D"/>
                </a:solidFill>
              </a:rPr>
              <a:t>Step 1</a:t>
            </a:r>
          </a:p>
          <a:p>
            <a:pPr algn="l">
              <a:spcAft>
                <a:spcPts val="500"/>
              </a:spcAft>
            </a:pPr>
            <a:r>
              <a:rPr sz="1050" b="0" i="1">
                <a:solidFill>
                  <a:srgbClr val="60607D"/>
                </a:solidFill>
              </a:rPr>
              <a:t>[Step or story name]</a:t>
            </a:r>
          </a:p>
          <a:p>
            <a:pPr algn="l">
              <a:spcAft>
                <a:spcPts val="500"/>
              </a:spcAft>
            </a:pPr>
            <a:r>
              <a:rPr sz="1050" b="0" i="1">
                <a:solidFill>
                  <a:srgbClr val="60607D"/>
                </a:solidFill>
              </a:rPr>
              <a:t>[Put here: what we do in this step, in a sentence or two.]</a:t>
            </a:r>
          </a:p>
        </p:txBody>
      </p:sp>
      <p:sp>
        <p:nvSpPr>
          <p:cNvPr id="9" name="Rounded Rectangle 8"/>
          <p:cNvSpPr/>
          <p:nvPr/>
        </p:nvSpPr>
        <p:spPr>
          <a:xfrm>
            <a:off x="3301600" y="1828368"/>
            <a:ext cx="2744400" cy="1115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a:solidFill>
                  <a:srgbClr val="60607D"/>
                </a:solidFill>
              </a:rPr>
              <a:t>Step 2</a:t>
            </a:r>
          </a:p>
          <a:p>
            <a:pPr algn="l">
              <a:spcAft>
                <a:spcPts val="500"/>
              </a:spcAft>
            </a:pPr>
            <a:r>
              <a:rPr sz="1050" b="0" i="1">
                <a:solidFill>
                  <a:srgbClr val="60607D"/>
                </a:solidFill>
              </a:rPr>
              <a:t>[Step or story name]</a:t>
            </a:r>
          </a:p>
          <a:p>
            <a:pPr algn="l">
              <a:spcAft>
                <a:spcPts val="500"/>
              </a:spcAft>
            </a:pPr>
            <a:r>
              <a:rPr sz="1050" b="0" i="1">
                <a:solidFill>
                  <a:srgbClr val="60607D"/>
                </a:solidFill>
              </a:rPr>
              <a:t>[Put here: what we do in this step, in a sentence or two.]</a:t>
            </a:r>
          </a:p>
        </p:txBody>
      </p:sp>
      <p:sp>
        <p:nvSpPr>
          <p:cNvPr id="10" name="Rounded Rectangle 9"/>
          <p:cNvSpPr/>
          <p:nvPr/>
        </p:nvSpPr>
        <p:spPr>
          <a:xfrm>
            <a:off x="6146000" y="1828368"/>
            <a:ext cx="2744400" cy="1115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a:solidFill>
                  <a:srgbClr val="60607D"/>
                </a:solidFill>
              </a:rPr>
              <a:t>Step 3</a:t>
            </a:r>
          </a:p>
          <a:p>
            <a:pPr algn="l">
              <a:spcAft>
                <a:spcPts val="500"/>
              </a:spcAft>
            </a:pPr>
            <a:r>
              <a:rPr sz="1050" b="0" i="1">
                <a:solidFill>
                  <a:srgbClr val="60607D"/>
                </a:solidFill>
              </a:rPr>
              <a:t>[Step or story name]</a:t>
            </a:r>
          </a:p>
          <a:p>
            <a:pPr algn="l">
              <a:spcAft>
                <a:spcPts val="500"/>
              </a:spcAft>
            </a:pPr>
            <a:r>
              <a:rPr sz="1050" b="0" i="1">
                <a:solidFill>
                  <a:srgbClr val="60607D"/>
                </a:solidFill>
              </a:rPr>
              <a:t>[Put here: what we do in this step, in a sentence or two.]</a:t>
            </a:r>
          </a:p>
        </p:txBody>
      </p:sp>
      <p:sp>
        <p:nvSpPr>
          <p:cNvPr id="11" name="Rounded Rectangle 10"/>
          <p:cNvSpPr/>
          <p:nvPr/>
        </p:nvSpPr>
        <p:spPr>
          <a:xfrm>
            <a:off x="8990400" y="1828368"/>
            <a:ext cx="2744400" cy="1115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a:solidFill>
                  <a:srgbClr val="60607D"/>
                </a:solidFill>
              </a:rPr>
              <a:t>Step 4</a:t>
            </a:r>
          </a:p>
          <a:p>
            <a:pPr algn="l">
              <a:spcAft>
                <a:spcPts val="500"/>
              </a:spcAft>
            </a:pPr>
            <a:r>
              <a:rPr sz="1050" b="0" i="1">
                <a:solidFill>
                  <a:srgbClr val="60607D"/>
                </a:solidFill>
              </a:rPr>
              <a:t>[Step or story name]</a:t>
            </a:r>
          </a:p>
          <a:p>
            <a:pPr algn="l">
              <a:spcAft>
                <a:spcPts val="500"/>
              </a:spcAft>
            </a:pPr>
            <a:r>
              <a:rPr sz="1050" b="0" i="1">
                <a:solidFill>
                  <a:srgbClr val="60607D"/>
                </a:solidFill>
              </a:rPr>
              <a:t>[Put here: what we do in this step, in a sentence or two.]</a:t>
            </a:r>
          </a:p>
        </p:txBody>
      </p:sp>
      <p:sp>
        <p:nvSpPr>
          <p:cNvPr id="12" name="Rounded Rectangle 11"/>
          <p:cNvSpPr/>
          <p:nvPr/>
        </p:nvSpPr>
        <p:spPr>
          <a:xfrm>
            <a:off x="457200" y="3043368"/>
            <a:ext cx="2744400" cy="1115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a:solidFill>
                  <a:srgbClr val="60607D"/>
                </a:solidFill>
              </a:rPr>
              <a:t>Step 5</a:t>
            </a:r>
          </a:p>
          <a:p>
            <a:pPr algn="l">
              <a:spcAft>
                <a:spcPts val="500"/>
              </a:spcAft>
            </a:pPr>
            <a:r>
              <a:rPr sz="1050" b="0" i="1">
                <a:solidFill>
                  <a:srgbClr val="60607D"/>
                </a:solidFill>
              </a:rPr>
              <a:t>[Step or story name]</a:t>
            </a:r>
          </a:p>
          <a:p>
            <a:pPr algn="l">
              <a:spcAft>
                <a:spcPts val="500"/>
              </a:spcAft>
            </a:pPr>
            <a:r>
              <a:rPr sz="1050" b="0" i="1">
                <a:solidFill>
                  <a:srgbClr val="60607D"/>
                </a:solidFill>
              </a:rPr>
              <a:t>[Put here: what we do in this step, in a sentence or two.]</a:t>
            </a:r>
          </a:p>
        </p:txBody>
      </p:sp>
      <p:sp>
        <p:nvSpPr>
          <p:cNvPr id="13" name="Rounded Rectangle 12"/>
          <p:cNvSpPr/>
          <p:nvPr/>
        </p:nvSpPr>
        <p:spPr>
          <a:xfrm>
            <a:off x="3301600" y="3043368"/>
            <a:ext cx="2744400" cy="1115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a:solidFill>
                  <a:srgbClr val="60607D"/>
                </a:solidFill>
              </a:rPr>
              <a:t>Step 6</a:t>
            </a:r>
          </a:p>
          <a:p>
            <a:pPr algn="l">
              <a:spcAft>
                <a:spcPts val="500"/>
              </a:spcAft>
            </a:pPr>
            <a:r>
              <a:rPr sz="1050" b="0" i="1">
                <a:solidFill>
                  <a:srgbClr val="60607D"/>
                </a:solidFill>
              </a:rPr>
              <a:t>[Step or story name]</a:t>
            </a:r>
          </a:p>
          <a:p>
            <a:pPr algn="l">
              <a:spcAft>
                <a:spcPts val="500"/>
              </a:spcAft>
            </a:pPr>
            <a:r>
              <a:rPr sz="1050" b="0" i="1">
                <a:solidFill>
                  <a:srgbClr val="60607D"/>
                </a:solidFill>
              </a:rPr>
              <a:t>[Put here: what we do in this step, in a sentence or two.]</a:t>
            </a:r>
          </a:p>
        </p:txBody>
      </p:sp>
      <p:sp>
        <p:nvSpPr>
          <p:cNvPr id="14" name="Rounded Rectangle 13"/>
          <p:cNvSpPr/>
          <p:nvPr/>
        </p:nvSpPr>
        <p:spPr>
          <a:xfrm>
            <a:off x="6146000" y="3043368"/>
            <a:ext cx="2744400" cy="1115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a:solidFill>
                  <a:srgbClr val="60607D"/>
                </a:solidFill>
              </a:rPr>
              <a:t>Step 7</a:t>
            </a:r>
          </a:p>
          <a:p>
            <a:pPr algn="l">
              <a:spcAft>
                <a:spcPts val="500"/>
              </a:spcAft>
            </a:pPr>
            <a:r>
              <a:rPr sz="1050" b="0" i="1">
                <a:solidFill>
                  <a:srgbClr val="60607D"/>
                </a:solidFill>
              </a:rPr>
              <a:t>[Step or story name]</a:t>
            </a:r>
          </a:p>
          <a:p>
            <a:pPr algn="l">
              <a:spcAft>
                <a:spcPts val="500"/>
              </a:spcAft>
            </a:pPr>
            <a:r>
              <a:rPr sz="1050" b="0" i="1">
                <a:solidFill>
                  <a:srgbClr val="60607D"/>
                </a:solidFill>
              </a:rPr>
              <a:t>[Put here: what we do in this step, in a sentence or two.]</a:t>
            </a:r>
          </a:p>
        </p:txBody>
      </p:sp>
      <p:sp>
        <p:nvSpPr>
          <p:cNvPr id="15" name="Rounded Rectangle 14"/>
          <p:cNvSpPr/>
          <p:nvPr/>
        </p:nvSpPr>
        <p:spPr>
          <a:xfrm>
            <a:off x="8990400" y="3043368"/>
            <a:ext cx="2744400" cy="1115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a:solidFill>
                  <a:srgbClr val="60607D"/>
                </a:solidFill>
              </a:rPr>
              <a:t>Step 8</a:t>
            </a:r>
          </a:p>
          <a:p>
            <a:pPr algn="l">
              <a:spcAft>
                <a:spcPts val="500"/>
              </a:spcAft>
            </a:pPr>
            <a:r>
              <a:rPr sz="1050" b="0" i="1">
                <a:solidFill>
                  <a:srgbClr val="60607D"/>
                </a:solidFill>
              </a:rPr>
              <a:t>[Step or story name]</a:t>
            </a:r>
          </a:p>
          <a:p>
            <a:pPr algn="l">
              <a:spcAft>
                <a:spcPts val="500"/>
              </a:spcAft>
            </a:pPr>
            <a:r>
              <a:rPr sz="1050" b="0" i="1">
                <a:solidFill>
                  <a:srgbClr val="60607D"/>
                </a:solidFill>
              </a:rPr>
              <a:t>[Put here: what we do in this step, in a sentence or two.]</a:t>
            </a:r>
          </a:p>
        </p:txBody>
      </p:sp>
      <p:sp>
        <p:nvSpPr>
          <p:cNvPr id="16" name="Rectangle 15"/>
          <p:cNvSpPr/>
          <p:nvPr/>
        </p:nvSpPr>
        <p:spPr>
          <a:xfrm>
            <a:off x="1219885" y="4379808"/>
            <a:ext cx="9752229" cy="19050"/>
          </a:xfrm>
          <a:prstGeom prst="rect">
            <a:avLst/>
          </a:prstGeom>
          <a:solidFill>
            <a:srgbClr val="D6D6DF"/>
          </a:solidFill>
          <a:ln>
            <a:noFill/>
          </a:ln>
        </p:spPr>
        <p:txBody>
          <a:bodyPr rtlCol="0" anchor="ctr"/>
          <a:lstStyle/>
          <a:p>
            <a:pPr algn="ctr"/>
            <a:endParaRPr/>
          </a:p>
        </p:txBody>
      </p:sp>
      <p:sp>
        <p:nvSpPr>
          <p:cNvPr id="17" name="Oval 16"/>
          <p:cNvSpPr/>
          <p:nvPr/>
        </p:nvSpPr>
        <p:spPr>
          <a:xfrm>
            <a:off x="1128445" y="4288368"/>
            <a:ext cx="182880" cy="182880"/>
          </a:xfrm>
          <a:prstGeom prst="ellipse">
            <a:avLst/>
          </a:prstGeom>
          <a:solidFill>
            <a:srgbClr val="FFFFFF"/>
          </a:solidFill>
          <a:ln w="19050">
            <a:solidFill>
              <a:srgbClr val="D6D6DF"/>
            </a:solidFill>
          </a:ln>
        </p:spPr>
        <p:txBody>
          <a:bodyPr rtlCol="0" anchor="ctr"/>
          <a:lstStyle/>
          <a:p>
            <a:pPr algn="ctr"/>
            <a:endParaRPr/>
          </a:p>
        </p:txBody>
      </p:sp>
      <p:sp>
        <p:nvSpPr>
          <p:cNvPr id="18" name="Rounded Rectangle 17"/>
          <p:cNvSpPr/>
          <p:nvPr/>
        </p:nvSpPr>
        <p:spPr>
          <a:xfrm>
            <a:off x="457200" y="4562688"/>
            <a:ext cx="1525371"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Aft>
                <a:spcPts val="500"/>
              </a:spcAft>
            </a:pPr>
            <a:r>
              <a:rPr sz="1100" b="0" i="1">
                <a:solidFill>
                  <a:srgbClr val="60607D"/>
                </a:solidFill>
              </a:rPr>
              <a:t>[Date]</a:t>
            </a:r>
          </a:p>
          <a:p>
            <a:pPr algn="l">
              <a:spcAft>
                <a:spcPts val="500"/>
              </a:spcAft>
            </a:pPr>
            <a:r>
              <a:rPr sz="1100" b="0" i="1">
                <a:solidFill>
                  <a:srgbClr val="60607D"/>
                </a:solidFill>
              </a:rPr>
              <a:t>[What is done by then]</a:t>
            </a:r>
          </a:p>
        </p:txBody>
      </p:sp>
      <p:sp>
        <p:nvSpPr>
          <p:cNvPr id="19" name="Oval 18"/>
          <p:cNvSpPr/>
          <p:nvPr/>
        </p:nvSpPr>
        <p:spPr>
          <a:xfrm>
            <a:off x="2753816" y="4288368"/>
            <a:ext cx="182880" cy="182880"/>
          </a:xfrm>
          <a:prstGeom prst="ellipse">
            <a:avLst/>
          </a:prstGeom>
          <a:solidFill>
            <a:srgbClr val="FFFFFF"/>
          </a:solidFill>
          <a:ln w="19050">
            <a:solidFill>
              <a:srgbClr val="D6D6DF"/>
            </a:solidFill>
          </a:ln>
        </p:spPr>
        <p:txBody>
          <a:bodyPr rtlCol="0" anchor="ctr"/>
          <a:lstStyle/>
          <a:p>
            <a:pPr algn="ctr"/>
            <a:endParaRPr/>
          </a:p>
        </p:txBody>
      </p:sp>
      <p:sp>
        <p:nvSpPr>
          <p:cNvPr id="20" name="Rounded Rectangle 19"/>
          <p:cNvSpPr/>
          <p:nvPr/>
        </p:nvSpPr>
        <p:spPr>
          <a:xfrm>
            <a:off x="2082571" y="4562688"/>
            <a:ext cx="1525371"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Aft>
                <a:spcPts val="500"/>
              </a:spcAft>
            </a:pPr>
            <a:r>
              <a:rPr sz="1100" b="0" i="1">
                <a:solidFill>
                  <a:srgbClr val="60607D"/>
                </a:solidFill>
              </a:rPr>
              <a:t>[Date]</a:t>
            </a:r>
          </a:p>
          <a:p>
            <a:pPr algn="l">
              <a:spcAft>
                <a:spcPts val="500"/>
              </a:spcAft>
            </a:pPr>
            <a:r>
              <a:rPr sz="1100" b="0" i="1">
                <a:solidFill>
                  <a:srgbClr val="60607D"/>
                </a:solidFill>
              </a:rPr>
              <a:t>[What is done by then]</a:t>
            </a:r>
          </a:p>
        </p:txBody>
      </p:sp>
      <p:sp>
        <p:nvSpPr>
          <p:cNvPr id="21" name="Oval 20"/>
          <p:cNvSpPr/>
          <p:nvPr/>
        </p:nvSpPr>
        <p:spPr>
          <a:xfrm>
            <a:off x="4379187" y="4288368"/>
            <a:ext cx="182880" cy="182880"/>
          </a:xfrm>
          <a:prstGeom prst="ellipse">
            <a:avLst/>
          </a:prstGeom>
          <a:solidFill>
            <a:srgbClr val="FFFFFF"/>
          </a:solidFill>
          <a:ln w="19050">
            <a:solidFill>
              <a:srgbClr val="D6D6DF"/>
            </a:solidFill>
          </a:ln>
        </p:spPr>
        <p:txBody>
          <a:bodyPr rtlCol="0" anchor="ctr"/>
          <a:lstStyle/>
          <a:p>
            <a:pPr algn="ctr"/>
            <a:endParaRPr/>
          </a:p>
        </p:txBody>
      </p:sp>
      <p:sp>
        <p:nvSpPr>
          <p:cNvPr id="22" name="Rounded Rectangle 21"/>
          <p:cNvSpPr/>
          <p:nvPr/>
        </p:nvSpPr>
        <p:spPr>
          <a:xfrm>
            <a:off x="3707942" y="4562688"/>
            <a:ext cx="1525371"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Aft>
                <a:spcPts val="500"/>
              </a:spcAft>
            </a:pPr>
            <a:r>
              <a:rPr sz="1100" b="0" i="1">
                <a:solidFill>
                  <a:srgbClr val="60607D"/>
                </a:solidFill>
              </a:rPr>
              <a:t>[Date]</a:t>
            </a:r>
          </a:p>
          <a:p>
            <a:pPr algn="l">
              <a:spcAft>
                <a:spcPts val="500"/>
              </a:spcAft>
            </a:pPr>
            <a:r>
              <a:rPr sz="1100" b="0" i="1">
                <a:solidFill>
                  <a:srgbClr val="60607D"/>
                </a:solidFill>
              </a:rPr>
              <a:t>[What is done by then]</a:t>
            </a:r>
          </a:p>
        </p:txBody>
      </p:sp>
      <p:sp>
        <p:nvSpPr>
          <p:cNvPr id="23" name="Oval 22"/>
          <p:cNvSpPr/>
          <p:nvPr/>
        </p:nvSpPr>
        <p:spPr>
          <a:xfrm>
            <a:off x="6004558" y="4288368"/>
            <a:ext cx="182880" cy="182880"/>
          </a:xfrm>
          <a:prstGeom prst="ellipse">
            <a:avLst/>
          </a:prstGeom>
          <a:solidFill>
            <a:srgbClr val="FFFFFF"/>
          </a:solidFill>
          <a:ln w="19050">
            <a:solidFill>
              <a:srgbClr val="D6D6DF"/>
            </a:solidFill>
          </a:ln>
        </p:spPr>
        <p:txBody>
          <a:bodyPr rtlCol="0" anchor="ctr"/>
          <a:lstStyle/>
          <a:p>
            <a:pPr algn="ctr"/>
            <a:endParaRPr/>
          </a:p>
        </p:txBody>
      </p:sp>
      <p:sp>
        <p:nvSpPr>
          <p:cNvPr id="24" name="Rounded Rectangle 23"/>
          <p:cNvSpPr/>
          <p:nvPr/>
        </p:nvSpPr>
        <p:spPr>
          <a:xfrm>
            <a:off x="5333313" y="4562688"/>
            <a:ext cx="1525371"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Aft>
                <a:spcPts val="500"/>
              </a:spcAft>
            </a:pPr>
            <a:r>
              <a:rPr sz="1100" b="0" i="1">
                <a:solidFill>
                  <a:srgbClr val="60607D"/>
                </a:solidFill>
              </a:rPr>
              <a:t>[Date]</a:t>
            </a:r>
          </a:p>
          <a:p>
            <a:pPr algn="l">
              <a:spcAft>
                <a:spcPts val="500"/>
              </a:spcAft>
            </a:pPr>
            <a:r>
              <a:rPr sz="1100" b="0" i="1">
                <a:solidFill>
                  <a:srgbClr val="60607D"/>
                </a:solidFill>
              </a:rPr>
              <a:t>[What is done by then]</a:t>
            </a:r>
          </a:p>
        </p:txBody>
      </p:sp>
      <p:sp>
        <p:nvSpPr>
          <p:cNvPr id="25" name="Oval 24"/>
          <p:cNvSpPr/>
          <p:nvPr/>
        </p:nvSpPr>
        <p:spPr>
          <a:xfrm>
            <a:off x="7629929" y="4288368"/>
            <a:ext cx="182880" cy="182880"/>
          </a:xfrm>
          <a:prstGeom prst="ellipse">
            <a:avLst/>
          </a:prstGeom>
          <a:solidFill>
            <a:srgbClr val="FFFFFF"/>
          </a:solidFill>
          <a:ln w="19050">
            <a:solidFill>
              <a:srgbClr val="D6D6DF"/>
            </a:solidFill>
          </a:ln>
        </p:spPr>
        <p:txBody>
          <a:bodyPr rtlCol="0" anchor="ctr"/>
          <a:lstStyle/>
          <a:p>
            <a:pPr algn="ctr"/>
            <a:endParaRPr/>
          </a:p>
        </p:txBody>
      </p:sp>
      <p:sp>
        <p:nvSpPr>
          <p:cNvPr id="26" name="Rounded Rectangle 25"/>
          <p:cNvSpPr/>
          <p:nvPr/>
        </p:nvSpPr>
        <p:spPr>
          <a:xfrm>
            <a:off x="6958684" y="4562688"/>
            <a:ext cx="1525371"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Aft>
                <a:spcPts val="500"/>
              </a:spcAft>
            </a:pPr>
            <a:r>
              <a:rPr sz="1100" b="0" i="1">
                <a:solidFill>
                  <a:srgbClr val="60607D"/>
                </a:solidFill>
              </a:rPr>
              <a:t>[Date]</a:t>
            </a:r>
          </a:p>
          <a:p>
            <a:pPr algn="l">
              <a:spcAft>
                <a:spcPts val="500"/>
              </a:spcAft>
            </a:pPr>
            <a:r>
              <a:rPr sz="1100" b="0" i="1">
                <a:solidFill>
                  <a:srgbClr val="60607D"/>
                </a:solidFill>
              </a:rPr>
              <a:t>[What is done by then]</a:t>
            </a:r>
          </a:p>
        </p:txBody>
      </p:sp>
      <p:sp>
        <p:nvSpPr>
          <p:cNvPr id="27" name="Oval 26"/>
          <p:cNvSpPr/>
          <p:nvPr/>
        </p:nvSpPr>
        <p:spPr>
          <a:xfrm>
            <a:off x="9255300" y="4288368"/>
            <a:ext cx="182880" cy="182880"/>
          </a:xfrm>
          <a:prstGeom prst="ellipse">
            <a:avLst/>
          </a:prstGeom>
          <a:solidFill>
            <a:srgbClr val="FFFFFF"/>
          </a:solidFill>
          <a:ln w="19050">
            <a:solidFill>
              <a:srgbClr val="D6D6DF"/>
            </a:solidFill>
          </a:ln>
        </p:spPr>
        <p:txBody>
          <a:bodyPr rtlCol="0" anchor="ctr"/>
          <a:lstStyle/>
          <a:p>
            <a:pPr algn="ctr"/>
            <a:endParaRPr/>
          </a:p>
        </p:txBody>
      </p:sp>
      <p:sp>
        <p:nvSpPr>
          <p:cNvPr id="28" name="Rounded Rectangle 27"/>
          <p:cNvSpPr/>
          <p:nvPr/>
        </p:nvSpPr>
        <p:spPr>
          <a:xfrm>
            <a:off x="8584055" y="4562688"/>
            <a:ext cx="1525371"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Aft>
                <a:spcPts val="500"/>
              </a:spcAft>
            </a:pPr>
            <a:r>
              <a:rPr sz="1100" b="0" i="1">
                <a:solidFill>
                  <a:srgbClr val="60607D"/>
                </a:solidFill>
              </a:rPr>
              <a:t>[Date]</a:t>
            </a:r>
          </a:p>
          <a:p>
            <a:pPr algn="l">
              <a:spcAft>
                <a:spcPts val="500"/>
              </a:spcAft>
            </a:pPr>
            <a:r>
              <a:rPr sz="1100" b="0" i="1">
                <a:solidFill>
                  <a:srgbClr val="60607D"/>
                </a:solidFill>
              </a:rPr>
              <a:t>[What is done by then]</a:t>
            </a:r>
          </a:p>
        </p:txBody>
      </p:sp>
      <p:sp>
        <p:nvSpPr>
          <p:cNvPr id="29" name="Oval 28"/>
          <p:cNvSpPr/>
          <p:nvPr/>
        </p:nvSpPr>
        <p:spPr>
          <a:xfrm>
            <a:off x="10880671" y="4288368"/>
            <a:ext cx="182880" cy="182880"/>
          </a:xfrm>
          <a:prstGeom prst="ellipse">
            <a:avLst/>
          </a:prstGeom>
          <a:solidFill>
            <a:srgbClr val="FFFFFF"/>
          </a:solidFill>
          <a:ln w="19050">
            <a:solidFill>
              <a:srgbClr val="D6D6DF"/>
            </a:solidFill>
          </a:ln>
        </p:spPr>
        <p:txBody>
          <a:bodyPr rtlCol="0" anchor="ctr"/>
          <a:lstStyle/>
          <a:p>
            <a:pPr algn="ctr"/>
            <a:endParaRPr/>
          </a:p>
        </p:txBody>
      </p:sp>
      <p:sp>
        <p:nvSpPr>
          <p:cNvPr id="30" name="Rounded Rectangle 29"/>
          <p:cNvSpPr/>
          <p:nvPr/>
        </p:nvSpPr>
        <p:spPr>
          <a:xfrm>
            <a:off x="10209426" y="4562688"/>
            <a:ext cx="1525371"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Bef>
                <a:spcPts val="200"/>
              </a:spcBef>
              <a:spcAft>
                <a:spcPts val="200"/>
              </a:spcAft>
            </a:pPr>
            <a:r>
              <a:rPr sz="850" b="1" i="0" cap="all" spc="100">
                <a:solidFill>
                  <a:srgbClr val="60607D"/>
                </a:solidFill>
              </a:rPr>
              <a:t>The target</a:t>
            </a:r>
          </a:p>
          <a:p>
            <a:pPr algn="l">
              <a:spcBef>
                <a:spcPts val="400"/>
              </a:spcBef>
              <a:spcAft>
                <a:spcPts val="200"/>
              </a:spcAft>
            </a:pPr>
            <a:r>
              <a:rPr sz="850" b="1" i="0">
                <a:solidFill>
                  <a:srgbClr val="000000"/>
                </a:solidFill>
              </a:rPr>
              <a:t>MVP done</a:t>
            </a:r>
          </a:p>
          <a:p>
            <a:pPr algn="l">
              <a:spcAft>
                <a:spcPts val="500"/>
              </a:spcAft>
            </a:pPr>
            <a:r>
              <a:rPr sz="850" b="0" i="1">
                <a:solidFill>
                  <a:srgbClr val="60607D"/>
                </a:solidFill>
              </a:rPr>
              <a:t>[Date we are shooting for.]</a:t>
            </a:r>
          </a:p>
        </p:txBody>
      </p:sp>
      <p:sp>
        <p:nvSpPr>
          <p:cNvPr id="31" name="Rounded Rectangle 30"/>
          <p:cNvSpPr/>
          <p:nvPr/>
        </p:nvSpPr>
        <p:spPr>
          <a:xfrm>
            <a:off x="457200" y="5462688"/>
            <a:ext cx="5563800" cy="93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91440" rIns="182880" bIns="36576" rtlCol="0" anchor="t"/>
          <a:lstStyle/>
          <a:p>
            <a:pPr algn="l">
              <a:spcAft>
                <a:spcPts val="600"/>
              </a:spcAft>
            </a:pPr>
            <a:r>
              <a:rPr sz="1100" b="1" i="0" cap="all" spc="60">
                <a:solidFill>
                  <a:srgbClr val="000000"/>
                </a:solidFill>
              </a:rPr>
              <a:t>Team</a:t>
            </a:r>
          </a:p>
        </p:txBody>
      </p:sp>
      <p:sp>
        <p:nvSpPr>
          <p:cNvPr id="32" name="Rounded Rectangle 31"/>
          <p:cNvSpPr/>
          <p:nvPr/>
        </p:nvSpPr>
        <p:spPr>
          <a:xfrm>
            <a:off x="667512" y="5791872"/>
            <a:ext cx="1351221" cy="246888"/>
          </a:xfrm>
          <a:prstGeom prst="roundRect">
            <a:avLst>
              <a:gd name="adj" fmla="val 50000"/>
            </a:avLst>
          </a:prstGeom>
          <a:solidFill>
            <a:srgbClr val="FFFFFF"/>
          </a:solidFill>
          <a:ln w="12700">
            <a:solidFill>
              <a:srgbClr val="D6D6DF"/>
            </a:solidFill>
          </a:ln>
        </p:spPr>
        <p:txBody>
          <a:bodyPr wrap="none" lIns="0" tIns="0" rIns="0" bIns="0" rtlCol="0" anchor="ctr"/>
          <a:lstStyle/>
          <a:p>
            <a:pPr algn="ctr"/>
            <a:r>
              <a:rPr sz="900" b="0" i="1">
                <a:solidFill>
                  <a:srgbClr val="60607D"/>
                </a:solidFill>
              </a:rPr>
              <a:t>[Who does the work]</a:t>
            </a:r>
          </a:p>
        </p:txBody>
      </p:sp>
      <p:sp>
        <p:nvSpPr>
          <p:cNvPr id="33" name="Rounded Rectangle 32"/>
          <p:cNvSpPr/>
          <p:nvPr/>
        </p:nvSpPr>
        <p:spPr>
          <a:xfrm>
            <a:off x="2101029" y="5791872"/>
            <a:ext cx="1351221" cy="246888"/>
          </a:xfrm>
          <a:prstGeom prst="roundRect">
            <a:avLst>
              <a:gd name="adj" fmla="val 50000"/>
            </a:avLst>
          </a:prstGeom>
          <a:solidFill>
            <a:srgbClr val="FFFFFF"/>
          </a:solidFill>
          <a:ln w="12700">
            <a:solidFill>
              <a:srgbClr val="D6D6DF"/>
            </a:solidFill>
          </a:ln>
        </p:spPr>
        <p:txBody>
          <a:bodyPr wrap="none" lIns="0" tIns="0" rIns="0" bIns="0" rtlCol="0" anchor="ctr"/>
          <a:lstStyle/>
          <a:p>
            <a:pPr algn="ctr"/>
            <a:r>
              <a:rPr sz="900" b="0" i="1">
                <a:solidFill>
                  <a:srgbClr val="60607D"/>
                </a:solidFill>
              </a:rPr>
              <a:t>[Who does the work]</a:t>
            </a:r>
          </a:p>
        </p:txBody>
      </p:sp>
      <p:sp>
        <p:nvSpPr>
          <p:cNvPr id="34" name="Rounded Rectangle 33"/>
          <p:cNvSpPr/>
          <p:nvPr/>
        </p:nvSpPr>
        <p:spPr>
          <a:xfrm>
            <a:off x="6171000" y="5462688"/>
            <a:ext cx="5563800" cy="93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91440" rIns="182880" bIns="36576" rtlCol="0" anchor="t"/>
          <a:lstStyle/>
          <a:p>
            <a:pPr algn="l">
              <a:spcAft>
                <a:spcPts val="600"/>
              </a:spcAft>
            </a:pPr>
            <a:r>
              <a:rPr sz="1100" b="1" i="0" cap="all" spc="60">
                <a:solidFill>
                  <a:srgbClr val="000000"/>
                </a:solidFill>
              </a:rPr>
              <a:t>Partners</a:t>
            </a:r>
          </a:p>
        </p:txBody>
      </p:sp>
      <p:sp>
        <p:nvSpPr>
          <p:cNvPr id="35" name="Rounded Rectangle 34"/>
          <p:cNvSpPr/>
          <p:nvPr/>
        </p:nvSpPr>
        <p:spPr>
          <a:xfrm>
            <a:off x="6381312" y="5791872"/>
            <a:ext cx="1291655" cy="246888"/>
          </a:xfrm>
          <a:prstGeom prst="roundRect">
            <a:avLst>
              <a:gd name="adj" fmla="val 50000"/>
            </a:avLst>
          </a:prstGeom>
          <a:solidFill>
            <a:srgbClr val="FFFFFF"/>
          </a:solidFill>
          <a:ln w="12700">
            <a:solidFill>
              <a:srgbClr val="D6D6DF"/>
            </a:solidFill>
          </a:ln>
        </p:spPr>
        <p:txBody>
          <a:bodyPr wrap="none" lIns="0" tIns="0" rIns="0" bIns="0" rtlCol="0" anchor="ctr"/>
          <a:lstStyle/>
          <a:p>
            <a:pPr algn="ctr"/>
            <a:r>
              <a:rPr sz="900" b="0" i="1">
                <a:solidFill>
                  <a:srgbClr val="60607D"/>
                </a:solidFill>
              </a:rPr>
              <a:t>[Who we work with]</a:t>
            </a:r>
          </a:p>
        </p:txBody>
      </p:sp>
      <p:sp>
        <p:nvSpPr>
          <p:cNvPr id="36" name="Rounded Rectangle 35"/>
          <p:cNvSpPr/>
          <p:nvPr/>
        </p:nvSpPr>
        <p:spPr>
          <a:xfrm>
            <a:off x="7755263" y="5791872"/>
            <a:ext cx="1291655" cy="246888"/>
          </a:xfrm>
          <a:prstGeom prst="roundRect">
            <a:avLst>
              <a:gd name="adj" fmla="val 50000"/>
            </a:avLst>
          </a:prstGeom>
          <a:solidFill>
            <a:srgbClr val="FFFFFF"/>
          </a:solidFill>
          <a:ln w="12700">
            <a:solidFill>
              <a:srgbClr val="D6D6DF"/>
            </a:solidFill>
          </a:ln>
        </p:spPr>
        <p:txBody>
          <a:bodyPr wrap="none" lIns="0" tIns="0" rIns="0" bIns="0" rtlCol="0" anchor="ctr"/>
          <a:lstStyle/>
          <a:p>
            <a:pPr algn="ctr"/>
            <a:r>
              <a:rPr sz="900" b="0" i="1">
                <a:solidFill>
                  <a:srgbClr val="60607D"/>
                </a:solidFill>
              </a:rPr>
              <a:t>[Who we work with]</a:t>
            </a:r>
          </a:p>
        </p:txBody>
      </p:sp>
      <p:sp>
        <p:nvSpPr>
          <p:cNvPr id="37" name="Rounded Rectangle 36"/>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wrap="square" lIns="150000" rIns="120000" rtlCol="0" anchor="ctr"/>
          <a:lstStyle/>
          <a:p>
            <a:pPr algn="l"/>
            <a:r>
              <a:rPr sz="1050" b="1" i="0">
                <a:solidFill>
                  <a:srgbClr val="FFFFFF"/>
                </a:solidFill>
              </a:rPr>
              <a:t>Owner(s)</a:t>
            </a:r>
          </a:p>
          <a:p>
            <a:pPr algn="l"/>
            <a:r>
              <a:rPr sz="900" b="0" i="1">
                <a:solidFill>
                  <a:srgbClr val="D6D6DF"/>
                </a:solidFill>
              </a:rPr>
              <a:t>[Names]</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pic>
        <p:nvPicPr>
          <p:cNvPr id="5" name="Picture 4" descr="f_hero_library.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Which detail layout should I use?</a:t>
            </a:r>
          </a:p>
        </p:txBody>
      </p:sp>
      <p:sp>
        <p:nvSpPr>
          <p:cNvPr id="4" name="Text Placeholder 3"/>
          <p:cNvSpPr>
            <a:spLocks noGrp="1"/>
          </p:cNvSpPr>
          <p:nvPr>
            <p:ph type="body" idx="12" sz="quarter"/>
          </p:nvPr>
        </p:nvSpPr>
        <p:spPr>
          <a:xfrm>
            <a:off x="457200" y="170000"/>
            <a:ext cx="8000000" cy="182880"/>
          </a:xfrm>
        </p:spPr>
        <p:txBody>
          <a:bodyPr/>
          <a:lstStyle/>
          <a:p>
            <a:r>
              <a:rPr>
                <a:solidFill>
                  <a:srgbClr val="0391F2"/>
                </a:solidFill>
              </a:rPr>
              <a:t>HIDDEN SLIDE · DETAIL LAYOUT MENU</a:t>
            </a:r>
          </a:p>
        </p:txBody>
      </p:sp>
      <p:sp>
        <p:nvSpPr>
          <p:cNvPr id="7" name="TextBox 6"/>
          <p:cNvSpPr txBox="1"/>
          <p:nvPr/>
        </p:nvSpPr>
        <p:spPr>
          <a:xfrm>
            <a:off x="457200" y="1150000"/>
            <a:ext cx="11277600" cy="365760"/>
          </a:xfrm>
          <a:prstGeom prst="rect">
            <a:avLst/>
          </a:prstGeom>
          <a:noFill/>
        </p:spPr>
        <p:txBody>
          <a:bodyPr wrap="square" lIns="0" rIns="0" tIns="0" bIns="0" anchor="t">
            <a:spAutoFit/>
          </a:bodyPr>
          <a:lstStyle/>
          <a:p>
            <a:pPr algn="l">
              <a:spcAft>
                <a:spcPts val="500"/>
              </a:spcAft>
            </a:pPr>
            <a:r>
              <a:rPr sz="1150" b="0" i="0">
                <a:solidFill>
                  <a:srgbClr val="000000"/>
                </a:solidFill>
              </a:rPr>
              <a:t>Find what you need to show, then copy that layout from the Detail slideware templates section. Detail slides must keep the same header image and style as your priority.</a:t>
            </a:r>
          </a:p>
        </p:txBody>
      </p:sp>
      <p:sp>
        <p:nvSpPr>
          <p:cNvPr id="8" name="Rounded Rectangle 7"/>
          <p:cNvSpPr/>
          <p:nvPr/>
        </p:nvSpPr>
        <p:spPr>
          <a:xfrm>
            <a:off x="457200" y="1672920"/>
            <a:ext cx="5563800" cy="528385"/>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ctr" wrap="square" lIns="182880" tIns="36576" rIns="137160" bIns="18288"/>
          <a:lstStyle/>
          <a:p>
            <a:pPr algn="l">
              <a:spcBef>
                <a:spcPts val="400"/>
              </a:spcBef>
              <a:spcAft>
                <a:spcPts val="200"/>
              </a:spcAft>
            </a:pPr>
            <a:r>
              <a:rPr sz="1000" b="1" i="0">
                <a:solidFill>
                  <a:srgbClr val="000000"/>
                </a:solidFill>
              </a:rPr>
              <a:t>Columns (2 to 5)</a:t>
            </a:r>
          </a:p>
          <a:p>
            <a:pPr algn="l">
              <a:spcAft>
                <a:spcPts val="500"/>
              </a:spcAft>
            </a:pPr>
            <a:r>
              <a:rPr sz="1000" b="0" i="1">
                <a:solidFill>
                  <a:srgbClr val="60607D"/>
                </a:solidFill>
              </a:rPr>
              <a:t>Things side by side: models, options, pillars</a:t>
            </a:r>
          </a:p>
        </p:txBody>
      </p:sp>
      <p:sp>
        <p:nvSpPr>
          <p:cNvPr id="9" name="Rounded Rectangle 8"/>
          <p:cNvSpPr/>
          <p:nvPr/>
        </p:nvSpPr>
        <p:spPr>
          <a:xfrm>
            <a:off x="457200" y="2251305"/>
            <a:ext cx="5563800" cy="528385"/>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ctr" wrap="square" lIns="182880" tIns="36576" rIns="137160" bIns="18288"/>
          <a:lstStyle/>
          <a:p>
            <a:pPr algn="l">
              <a:spcBef>
                <a:spcPts val="400"/>
              </a:spcBef>
              <a:spcAft>
                <a:spcPts val="200"/>
              </a:spcAft>
            </a:pPr>
            <a:r>
              <a:rPr sz="1000" b="1" i="0">
                <a:solidFill>
                  <a:srgbClr val="000000"/>
                </a:solidFill>
              </a:rPr>
              <a:t>Rows</a:t>
            </a:r>
          </a:p>
          <a:p>
            <a:pPr algn="l">
              <a:spcAft>
                <a:spcPts val="500"/>
              </a:spcAft>
            </a:pPr>
            <a:r>
              <a:rPr sz="1000" b="0" i="1">
                <a:solidFill>
                  <a:srgbClr val="60607D"/>
                </a:solidFill>
              </a:rPr>
              <a:t>A list where each item has a heading and detail</a:t>
            </a:r>
          </a:p>
        </p:txBody>
      </p:sp>
      <p:sp>
        <p:nvSpPr>
          <p:cNvPr id="10" name="Rounded Rectangle 9"/>
          <p:cNvSpPr/>
          <p:nvPr/>
        </p:nvSpPr>
        <p:spPr>
          <a:xfrm>
            <a:off x="457200" y="2829690"/>
            <a:ext cx="5563800" cy="528385"/>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ctr" wrap="square" lIns="182880" tIns="36576" rIns="137160" bIns="18288"/>
          <a:lstStyle/>
          <a:p>
            <a:pPr algn="l">
              <a:spcBef>
                <a:spcPts val="400"/>
              </a:spcBef>
              <a:spcAft>
                <a:spcPts val="200"/>
              </a:spcAft>
            </a:pPr>
            <a:r>
              <a:rPr sz="1000" b="1" i="0">
                <a:solidFill>
                  <a:srgbClr val="000000"/>
                </a:solidFill>
              </a:rPr>
              <a:t>Table</a:t>
            </a:r>
          </a:p>
          <a:p>
            <a:pPr algn="l">
              <a:spcAft>
                <a:spcPts val="500"/>
              </a:spcAft>
            </a:pPr>
            <a:r>
              <a:rPr sz="1000" b="0" i="1">
                <a:solidFill>
                  <a:srgbClr val="60607D"/>
                </a:solidFill>
              </a:rPr>
              <a:t>Rows and columns of facts, such as roles or options compared</a:t>
            </a:r>
          </a:p>
        </p:txBody>
      </p:sp>
      <p:sp>
        <p:nvSpPr>
          <p:cNvPr id="11" name="Rounded Rectangle 10"/>
          <p:cNvSpPr/>
          <p:nvPr/>
        </p:nvSpPr>
        <p:spPr>
          <a:xfrm>
            <a:off x="457200" y="3408075"/>
            <a:ext cx="5563800" cy="528385"/>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ctr" wrap="square" lIns="182880" tIns="36576" rIns="137160" bIns="18288"/>
          <a:lstStyle/>
          <a:p>
            <a:pPr algn="l">
              <a:spcBef>
                <a:spcPts val="400"/>
              </a:spcBef>
              <a:spcAft>
                <a:spcPts val="200"/>
              </a:spcAft>
            </a:pPr>
            <a:r>
              <a:rPr sz="1000" b="1" i="0">
                <a:solidFill>
                  <a:srgbClr val="000000"/>
                </a:solidFill>
              </a:rPr>
              <a:t>Two sides</a:t>
            </a:r>
          </a:p>
          <a:p>
            <a:pPr algn="l">
              <a:spcAft>
                <a:spcPts val="500"/>
              </a:spcAft>
            </a:pPr>
            <a:r>
              <a:rPr sz="1000" b="0" i="1">
                <a:solidFill>
                  <a:srgbClr val="60607D"/>
                </a:solidFill>
              </a:rPr>
              <a:t>Before and after, option A vs B, delivery vs client</a:t>
            </a:r>
          </a:p>
        </p:txBody>
      </p:sp>
      <p:sp>
        <p:nvSpPr>
          <p:cNvPr id="12" name="Rounded Rectangle 11"/>
          <p:cNvSpPr/>
          <p:nvPr/>
        </p:nvSpPr>
        <p:spPr>
          <a:xfrm>
            <a:off x="457200" y="3986460"/>
            <a:ext cx="5563800" cy="528385"/>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ctr" wrap="square" lIns="182880" tIns="36576" rIns="137160" bIns="18288"/>
          <a:lstStyle/>
          <a:p>
            <a:pPr algn="l">
              <a:spcBef>
                <a:spcPts val="400"/>
              </a:spcBef>
              <a:spcAft>
                <a:spcPts val="200"/>
              </a:spcAft>
            </a:pPr>
            <a:r>
              <a:rPr sz="1000" b="1" i="0">
                <a:solidFill>
                  <a:srgbClr val="000000"/>
                </a:solidFill>
              </a:rPr>
              <a:t>Card grid</a:t>
            </a:r>
          </a:p>
          <a:p>
            <a:pPr algn="l">
              <a:spcAft>
                <a:spcPts val="500"/>
              </a:spcAft>
            </a:pPr>
            <a:r>
              <a:rPr sz="1000" b="0" i="1">
                <a:solidFill>
                  <a:srgbClr val="60607D"/>
                </a:solidFill>
              </a:rPr>
              <a:t>Six equal items</a:t>
            </a:r>
          </a:p>
        </p:txBody>
      </p:sp>
      <p:sp>
        <p:nvSpPr>
          <p:cNvPr id="13" name="Rounded Rectangle 12"/>
          <p:cNvSpPr/>
          <p:nvPr/>
        </p:nvSpPr>
        <p:spPr>
          <a:xfrm>
            <a:off x="457200" y="4564845"/>
            <a:ext cx="5563800" cy="528385"/>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ctr" wrap="square" lIns="182880" tIns="36576" rIns="137160" bIns="18288"/>
          <a:lstStyle/>
          <a:p>
            <a:pPr algn="l">
              <a:spcBef>
                <a:spcPts val="400"/>
              </a:spcBef>
              <a:spcAft>
                <a:spcPts val="200"/>
              </a:spcAft>
            </a:pPr>
            <a:r>
              <a:rPr sz="1000" b="1" i="0">
                <a:solidFill>
                  <a:srgbClr val="000000"/>
                </a:solidFill>
              </a:rPr>
              <a:t>Image with callouts</a:t>
            </a:r>
          </a:p>
          <a:p>
            <a:pPr algn="l">
              <a:spcAft>
                <a:spcPts val="500"/>
              </a:spcAft>
            </a:pPr>
            <a:r>
              <a:rPr sz="1000" b="0" i="1">
                <a:solidFill>
                  <a:srgbClr val="60607D"/>
                </a:solidFill>
              </a:rPr>
              <a:t>A screenshot or demo with numbered notes</a:t>
            </a:r>
          </a:p>
        </p:txBody>
      </p:sp>
      <p:sp>
        <p:nvSpPr>
          <p:cNvPr id="14" name="Rounded Rectangle 13"/>
          <p:cNvSpPr/>
          <p:nvPr/>
        </p:nvSpPr>
        <p:spPr>
          <a:xfrm>
            <a:off x="457200" y="5143230"/>
            <a:ext cx="5563800" cy="528385"/>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ctr" wrap="square" lIns="182880" tIns="36576" rIns="137160" bIns="18288"/>
          <a:lstStyle/>
          <a:p>
            <a:pPr algn="l">
              <a:spcBef>
                <a:spcPts val="400"/>
              </a:spcBef>
              <a:spcAft>
                <a:spcPts val="200"/>
              </a:spcAft>
            </a:pPr>
            <a:r>
              <a:rPr sz="1000" b="1" i="0">
                <a:solidFill>
                  <a:srgbClr val="000000"/>
                </a:solidFill>
              </a:rPr>
              <a:t>Phases and dates</a:t>
            </a:r>
          </a:p>
          <a:p>
            <a:pPr algn="l">
              <a:spcAft>
                <a:spcPts val="500"/>
              </a:spcAft>
            </a:pPr>
            <a:r>
              <a:rPr sz="1000" b="0" i="1">
                <a:solidFill>
                  <a:srgbClr val="60607D"/>
                </a:solidFill>
              </a:rPr>
              <a:t>Phases, dates and the steps inside each</a:t>
            </a:r>
          </a:p>
        </p:txBody>
      </p:sp>
      <p:sp>
        <p:nvSpPr>
          <p:cNvPr id="15" name="Rounded Rectangle 14"/>
          <p:cNvSpPr/>
          <p:nvPr/>
        </p:nvSpPr>
        <p:spPr>
          <a:xfrm>
            <a:off x="457200" y="5721615"/>
            <a:ext cx="5563800" cy="528385"/>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ctr" wrap="square" lIns="182880" tIns="36576" rIns="137160" bIns="18288"/>
          <a:lstStyle/>
          <a:p>
            <a:pPr algn="l">
              <a:spcBef>
                <a:spcPts val="400"/>
              </a:spcBef>
              <a:spcAft>
                <a:spcPts val="200"/>
              </a:spcAft>
            </a:pPr>
            <a:r>
              <a:rPr sz="1000" b="1" i="0">
                <a:solidFill>
                  <a:srgbClr val="000000"/>
                </a:solidFill>
              </a:rPr>
              <a:t>Statement and points</a:t>
            </a:r>
          </a:p>
          <a:p>
            <a:pPr algn="l">
              <a:spcAft>
                <a:spcPts val="500"/>
              </a:spcAft>
            </a:pPr>
            <a:r>
              <a:rPr sz="1000" b="0" i="1">
                <a:solidFill>
                  <a:srgbClr val="60607D"/>
                </a:solidFill>
              </a:rPr>
              <a:t>One key statement with supporting points</a:t>
            </a:r>
          </a:p>
        </p:txBody>
      </p:sp>
      <p:sp>
        <p:nvSpPr>
          <p:cNvPr id="16" name="Rounded Rectangle 15"/>
          <p:cNvSpPr/>
          <p:nvPr/>
        </p:nvSpPr>
        <p:spPr>
          <a:xfrm>
            <a:off x="6171000" y="1672920"/>
            <a:ext cx="5563800" cy="528385"/>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ctr" wrap="square" lIns="182880" tIns="36576" rIns="137160" bIns="18288"/>
          <a:lstStyle/>
          <a:p>
            <a:pPr algn="l">
              <a:spcBef>
                <a:spcPts val="400"/>
              </a:spcBef>
              <a:spcAft>
                <a:spcPts val="200"/>
              </a:spcAft>
            </a:pPr>
            <a:r>
              <a:rPr sz="1000" b="1" i="0">
                <a:solidFill>
                  <a:srgbClr val="000000"/>
                </a:solidFill>
              </a:rPr>
              <a:t>Flow</a:t>
            </a:r>
          </a:p>
          <a:p>
            <a:pPr algn="l">
              <a:spcAft>
                <a:spcPts val="500"/>
              </a:spcAft>
            </a:pPr>
            <a:r>
              <a:rPr sz="1000" b="0" i="1">
                <a:solidFill>
                  <a:srgbClr val="60607D"/>
                </a:solidFill>
              </a:rPr>
              <a:t>Goes in, what happens, comes out</a:t>
            </a:r>
          </a:p>
        </p:txBody>
      </p:sp>
      <p:sp>
        <p:nvSpPr>
          <p:cNvPr id="17" name="Rounded Rectangle 16"/>
          <p:cNvSpPr/>
          <p:nvPr/>
        </p:nvSpPr>
        <p:spPr>
          <a:xfrm>
            <a:off x="6171000" y="2251305"/>
            <a:ext cx="5563800" cy="528385"/>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ctr" wrap="square" lIns="182880" tIns="36576" rIns="137160" bIns="18288"/>
          <a:lstStyle/>
          <a:p>
            <a:pPr algn="l">
              <a:spcBef>
                <a:spcPts val="400"/>
              </a:spcBef>
              <a:spcAft>
                <a:spcPts val="200"/>
              </a:spcAft>
            </a:pPr>
            <a:r>
              <a:rPr sz="1000" b="1" i="0">
                <a:solidFill>
                  <a:srgbClr val="000000"/>
                </a:solidFill>
              </a:rPr>
              <a:t>Flow with banner</a:t>
            </a:r>
          </a:p>
          <a:p>
            <a:pPr algn="l">
              <a:spcAft>
                <a:spcPts val="500"/>
              </a:spcAft>
            </a:pPr>
            <a:r>
              <a:rPr sz="1000" b="0" i="1">
                <a:solidFill>
                  <a:srgbClr val="60607D"/>
                </a:solidFill>
              </a:rPr>
              <a:t>A flow plus a banner for status or what is next</a:t>
            </a:r>
          </a:p>
        </p:txBody>
      </p:sp>
      <p:sp>
        <p:nvSpPr>
          <p:cNvPr id="18" name="Rounded Rectangle 17"/>
          <p:cNvSpPr/>
          <p:nvPr/>
        </p:nvSpPr>
        <p:spPr>
          <a:xfrm>
            <a:off x="6171000" y="2829690"/>
            <a:ext cx="5563800" cy="528385"/>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ctr" wrap="square" lIns="182880" tIns="36576" rIns="137160" bIns="18288"/>
          <a:lstStyle/>
          <a:p>
            <a:pPr algn="l">
              <a:spcBef>
                <a:spcPts val="400"/>
              </a:spcBef>
              <a:spcAft>
                <a:spcPts val="200"/>
              </a:spcAft>
            </a:pPr>
            <a:r>
              <a:rPr sz="1000" b="1" i="0">
                <a:solidFill>
                  <a:srgbClr val="000000"/>
                </a:solidFill>
              </a:rPr>
              <a:t>Split with points</a:t>
            </a:r>
          </a:p>
          <a:p>
            <a:pPr algn="l">
              <a:spcAft>
                <a:spcPts val="500"/>
              </a:spcAft>
            </a:pPr>
            <a:r>
              <a:rPr sz="1000" b="0" i="1">
                <a:solidFill>
                  <a:srgbClr val="60607D"/>
                </a:solidFill>
              </a:rPr>
              <a:t>An image with a headline and up to five numbered points</a:t>
            </a:r>
          </a:p>
        </p:txBody>
      </p:sp>
      <p:sp>
        <p:nvSpPr>
          <p:cNvPr id="19" name="Rounded Rectangle 18"/>
          <p:cNvSpPr/>
          <p:nvPr/>
        </p:nvSpPr>
        <p:spPr>
          <a:xfrm>
            <a:off x="6171000" y="3408075"/>
            <a:ext cx="5563800" cy="528385"/>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ctr" wrap="square" lIns="182880" tIns="36576" rIns="137160" bIns="18288"/>
          <a:lstStyle/>
          <a:p>
            <a:pPr algn="l">
              <a:spcBef>
                <a:spcPts val="400"/>
              </a:spcBef>
              <a:spcAft>
                <a:spcPts val="200"/>
              </a:spcAft>
            </a:pPr>
            <a:r>
              <a:rPr sz="1000" b="1" i="0">
                <a:solidFill>
                  <a:srgbClr val="000000"/>
                </a:solidFill>
              </a:rPr>
              <a:t>Prompt and topics</a:t>
            </a:r>
          </a:p>
          <a:p>
            <a:pPr algn="l">
              <a:spcAft>
                <a:spcPts val="500"/>
              </a:spcAft>
            </a:pPr>
            <a:r>
              <a:rPr sz="1000" b="0" i="1">
                <a:solidFill>
                  <a:srgbClr val="60607D"/>
                </a:solidFill>
              </a:rPr>
              <a:t>A question and up to eight topics to cover</a:t>
            </a:r>
          </a:p>
        </p:txBody>
      </p:sp>
      <p:sp>
        <p:nvSpPr>
          <p:cNvPr id="20" name="Rounded Rectangle 19"/>
          <p:cNvSpPr/>
          <p:nvPr/>
        </p:nvSpPr>
        <p:spPr>
          <a:xfrm>
            <a:off x="6171000" y="3986460"/>
            <a:ext cx="5563800" cy="528385"/>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ctr" wrap="square" lIns="182880" tIns="36576" rIns="137160" bIns="18288"/>
          <a:lstStyle/>
          <a:p>
            <a:pPr algn="l">
              <a:spcBef>
                <a:spcPts val="400"/>
              </a:spcBef>
              <a:spcAft>
                <a:spcPts val="200"/>
              </a:spcAft>
            </a:pPr>
            <a:r>
              <a:rPr sz="1000" b="1" i="0">
                <a:solidFill>
                  <a:srgbClr val="000000"/>
                </a:solidFill>
              </a:rPr>
              <a:t>Six blocks and a takeaway</a:t>
            </a:r>
          </a:p>
          <a:p>
            <a:pPr algn="l">
              <a:spcAft>
                <a:spcPts val="500"/>
              </a:spcAft>
            </a:pPr>
            <a:r>
              <a:rPr sz="1000" b="0" i="1">
                <a:solidFill>
                  <a:srgbClr val="60607D"/>
                </a:solidFill>
              </a:rPr>
              <a:t>Six equal blocks and a takeaway band</a:t>
            </a:r>
          </a:p>
        </p:txBody>
      </p:sp>
      <p:sp>
        <p:nvSpPr>
          <p:cNvPr id="21" name="Rounded Rectangle 20"/>
          <p:cNvSpPr/>
          <p:nvPr/>
        </p:nvSpPr>
        <p:spPr>
          <a:xfrm>
            <a:off x="6171000" y="4564845"/>
            <a:ext cx="5563800" cy="528385"/>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ctr" wrap="square" lIns="182880" tIns="36576" rIns="137160" bIns="18288"/>
          <a:lstStyle/>
          <a:p>
            <a:pPr algn="l">
              <a:spcBef>
                <a:spcPts val="400"/>
              </a:spcBef>
              <a:spcAft>
                <a:spcPts val="200"/>
              </a:spcAft>
            </a:pPr>
            <a:r>
              <a:rPr sz="1000" b="1" i="0">
                <a:solidFill>
                  <a:srgbClr val="000000"/>
                </a:solidFill>
              </a:rPr>
              <a:t>Three cards and two wide</a:t>
            </a:r>
          </a:p>
          <a:p>
            <a:pPr algn="l">
              <a:spcAft>
                <a:spcPts val="500"/>
              </a:spcAft>
            </a:pPr>
            <a:r>
              <a:rPr sz="1000" b="0" i="1">
                <a:solidFill>
                  <a:srgbClr val="60607D"/>
                </a:solidFill>
              </a:rPr>
              <a:t>A headline, three cards and two wider cards</a:t>
            </a:r>
          </a:p>
        </p:txBody>
      </p:sp>
      <p:sp>
        <p:nvSpPr>
          <p:cNvPr id="22" name="Rounded Rectangle 21"/>
          <p:cNvSpPr/>
          <p:nvPr/>
        </p:nvSpPr>
        <p:spPr>
          <a:xfrm>
            <a:off x="6171000" y="5143230"/>
            <a:ext cx="5563800" cy="528385"/>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ctr" wrap="square" lIns="182880" tIns="36576" rIns="137160" bIns="18288"/>
          <a:lstStyle/>
          <a:p>
            <a:pPr algn="l">
              <a:spcBef>
                <a:spcPts val="400"/>
              </a:spcBef>
              <a:spcAft>
                <a:spcPts val="200"/>
              </a:spcAft>
            </a:pPr>
            <a:r>
              <a:rPr sz="1000" b="1" i="0">
                <a:solidFill>
                  <a:srgbClr val="000000"/>
                </a:solidFill>
              </a:rPr>
              <a:t>Image and two phases</a:t>
            </a:r>
          </a:p>
          <a:p>
            <a:pPr algn="l">
              <a:spcAft>
                <a:spcPts val="500"/>
              </a:spcAft>
            </a:pPr>
            <a:r>
              <a:rPr sz="1000" b="0" i="1">
                <a:solidFill>
                  <a:srgbClr val="60607D"/>
                </a:solidFill>
              </a:rPr>
              <a:t>An image with two tall phase cards</a:t>
            </a:r>
          </a:p>
        </p:txBody>
      </p:sp>
      <p:sp>
        <p:nvSpPr>
          <p:cNvPr id="23" name="Rounded Rectangle 22"/>
          <p:cNvSpPr/>
          <p:nvPr/>
        </p:nvSpPr>
        <p:spPr>
          <a:xfrm>
            <a:off x="6171000" y="5721615"/>
            <a:ext cx="5563800" cy="528385"/>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ctr" wrap="square" lIns="182880" tIns="36576" rIns="137160" bIns="18288"/>
          <a:lstStyle/>
          <a:p>
            <a:pPr algn="l">
              <a:spcBef>
                <a:spcPts val="400"/>
              </a:spcBef>
              <a:spcAft>
                <a:spcPts val="200"/>
              </a:spcAft>
            </a:pPr>
            <a:r>
              <a:rPr sz="1000" b="1" i="0">
                <a:solidFill>
                  <a:srgbClr val="000000"/>
                </a:solidFill>
              </a:rPr>
              <a:t>Goal and three pillars</a:t>
            </a:r>
          </a:p>
          <a:p>
            <a:pPr algn="l">
              <a:spcAft>
                <a:spcPts val="500"/>
              </a:spcAft>
            </a:pPr>
            <a:r>
              <a:rPr sz="1000" b="0" i="1">
                <a:solidFill>
                  <a:srgbClr val="60607D"/>
                </a:solidFill>
              </a:rPr>
              <a:t>A goal, three pillars with status, a timeline, a takeaway</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 name="Picture 4" descr="f_hero_library.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endParaRP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[Add a header]</a:t>
            </a:r>
          </a:p>
        </p:txBody>
      </p:sp>
      <p:sp>
        <p:nvSpPr>
          <p:cNvPr id="4" name="Text Placeholder 3"/>
          <p:cNvSpPr>
            <a:spLocks noGrp="1"/>
          </p:cNvSpPr>
          <p:nvPr>
            <p:ph type="body" sz="quarter" idx="12"/>
          </p:nvPr>
        </p:nvSpPr>
        <p:spPr>
          <a:xfrm>
            <a:off x="457200" y="170000"/>
            <a:ext cx="8000000" cy="182880"/>
          </a:xfrm>
        </p:spPr>
        <p:txBody>
          <a:bodyPr/>
          <a:lstStyle/>
          <a:p>
            <a:r>
              <a:rPr>
                <a:solidFill>
                  <a:srgbClr val="0391F2"/>
                </a:solidFill>
              </a:rPr>
              <a:t>TEMPLATE · IMAGE WITH CALLOUTS · SUPPORTING DETAIL</a:t>
            </a:r>
          </a:p>
        </p:txBody>
      </p:sp>
      <p:sp>
        <p:nvSpPr>
          <p:cNvPr id="7" name="Rounded Rectangle 6"/>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wrap="square" lIns="150000" rIns="120000" rtlCol="0" anchor="ctr"/>
          <a:lstStyle/>
          <a:p>
            <a:pPr algn="l"/>
            <a:r>
              <a:rPr sz="1050" b="1" i="0">
                <a:solidFill>
                  <a:srgbClr val="FFFFFF"/>
                </a:solidFill>
              </a:rPr>
              <a:t>Owner(s)</a:t>
            </a:r>
          </a:p>
          <a:p>
            <a:pPr algn="l"/>
            <a:r>
              <a:rPr sz="900" b="0" i="1">
                <a:solidFill>
                  <a:srgbClr val="D6D6DF"/>
                </a:solidFill>
              </a:rPr>
              <a:t>[Names]</a:t>
            </a:r>
          </a:p>
        </p:txBody>
      </p:sp>
      <p:sp>
        <p:nvSpPr>
          <p:cNvPr id="8" name="TextBox 7"/>
          <p:cNvSpPr txBox="1"/>
          <p:nvPr/>
        </p:nvSpPr>
        <p:spPr>
          <a:xfrm>
            <a:off x="457200" y="1150000"/>
            <a:ext cx="11277600" cy="365760"/>
          </a:xfrm>
          <a:prstGeom prst="rect">
            <a:avLst/>
          </a:prstGeom>
          <a:noFill/>
        </p:spPr>
        <p:txBody>
          <a:bodyPr wrap="square" lIns="0" tIns="0" rIns="0" bIns="0" anchor="t">
            <a:spAutoFit/>
          </a:bodyPr>
          <a:lstStyle/>
          <a:p>
            <a:pPr algn="l">
              <a:spcAft>
                <a:spcPts val="500"/>
              </a:spcAft>
            </a:pPr>
            <a:r>
              <a:rPr sz="1250" b="0" i="1">
                <a:solidFill>
                  <a:srgbClr val="60607D"/>
                </a:solidFill>
              </a:rPr>
              <a:t>[Put here: one line on what this slide shows.]</a:t>
            </a:r>
          </a:p>
        </p:txBody>
      </p:sp>
      <p:sp>
        <p:nvSpPr>
          <p:cNvPr id="9" name="Rounded Rectangle 8"/>
          <p:cNvSpPr/>
          <p:nvPr/>
        </p:nvSpPr>
        <p:spPr>
          <a:xfrm>
            <a:off x="457200" y="1627200"/>
            <a:ext cx="6949440" cy="4622800"/>
          </a:xfrm>
          <a:prstGeom prst="roundRect">
            <a:avLst>
              <a:gd name="adj" fmla="val 2400"/>
            </a:avLst>
          </a:prstGeom>
          <a:solidFill>
            <a:srgbClr val="FFFFFF"/>
          </a:solidFill>
          <a:ln w="19050">
            <a:solidFill>
              <a:srgbClr val="D6D6DF"/>
            </a:solidFill>
            <a:prstDash val="dash"/>
          </a:ln>
        </p:spPr>
        <p:txBody>
          <a:bodyPr rtlCol="0" anchor="ctr"/>
          <a:lstStyle/>
          <a:p>
            <a:pPr algn="ctr"/>
            <a:r>
              <a:rPr sz="1400" b="0" i="1">
                <a:solidFill>
                  <a:srgbClr val="60607D"/>
                </a:solidFill>
              </a:rPr>
              <a:t>[Paste a screenshot or image here]</a:t>
            </a:r>
          </a:p>
        </p:txBody>
      </p:sp>
      <p:sp>
        <p:nvSpPr>
          <p:cNvPr id="10" name="Oval 9"/>
          <p:cNvSpPr/>
          <p:nvPr/>
        </p:nvSpPr>
        <p:spPr>
          <a:xfrm>
            <a:off x="7726680" y="1672920"/>
            <a:ext cx="329184" cy="329184"/>
          </a:xfrm>
          <a:prstGeom prst="ellipse">
            <a:avLst/>
          </a:prstGeom>
          <a:solidFill>
            <a:srgbClr val="000000"/>
          </a:solidFill>
          <a:ln>
            <a:noFill/>
          </a:ln>
        </p:spPr>
        <p:txBody>
          <a:bodyPr lIns="0" tIns="0" rIns="0" bIns="0" rtlCol="0" anchor="ctr"/>
          <a:lstStyle/>
          <a:p>
            <a:pPr algn="ctr"/>
            <a:r>
              <a:rPr sz="1100" b="1" i="0">
                <a:solidFill>
                  <a:srgbClr val="FFFFFF"/>
                </a:solidFill>
              </a:rPr>
              <a:t>1</a:t>
            </a:r>
          </a:p>
        </p:txBody>
      </p:sp>
      <p:sp>
        <p:nvSpPr>
          <p:cNvPr id="11" name="TextBox 10"/>
          <p:cNvSpPr txBox="1"/>
          <p:nvPr/>
        </p:nvSpPr>
        <p:spPr>
          <a:xfrm>
            <a:off x="8183880" y="1627200"/>
            <a:ext cx="3505200" cy="1005840"/>
          </a:xfrm>
          <a:prstGeom prst="rect">
            <a:avLst/>
          </a:prstGeom>
          <a:noFill/>
        </p:spPr>
        <p:txBody>
          <a:bodyPr wrap="square" lIns="0" tIns="0" rIns="0" bIns="0" anchor="t">
            <a:spAutoFit/>
          </a:bodyPr>
          <a:lstStyle/>
          <a:p>
            <a:pPr algn="l">
              <a:spcBef>
                <a:spcPts val="400"/>
              </a:spcBef>
              <a:spcAft>
                <a:spcPts val="200"/>
              </a:spcAft>
            </a:pPr>
            <a:r>
              <a:rPr sz="1100" b="1" i="0">
                <a:solidFill>
                  <a:srgbClr val="000000"/>
                </a:solidFill>
              </a:rPr>
              <a:t>[What to look at]</a:t>
            </a:r>
          </a:p>
          <a:p>
            <a:pPr algn="l">
              <a:spcAft>
                <a:spcPts val="500"/>
              </a:spcAft>
            </a:pPr>
            <a:r>
              <a:rPr sz="1100" b="0" i="1">
                <a:solidFill>
                  <a:srgbClr val="60607D"/>
                </a:solidFill>
              </a:rPr>
              <a:t>[Put here: one or two lines on what this part shows.]</a:t>
            </a:r>
          </a:p>
        </p:txBody>
      </p:sp>
      <p:sp>
        <p:nvSpPr>
          <p:cNvPr id="12" name="Oval 11"/>
          <p:cNvSpPr/>
          <p:nvPr/>
        </p:nvSpPr>
        <p:spPr>
          <a:xfrm>
            <a:off x="7726680" y="2815920"/>
            <a:ext cx="329184" cy="329184"/>
          </a:xfrm>
          <a:prstGeom prst="ellipse">
            <a:avLst/>
          </a:prstGeom>
          <a:solidFill>
            <a:srgbClr val="000000"/>
          </a:solidFill>
          <a:ln>
            <a:noFill/>
          </a:ln>
        </p:spPr>
        <p:txBody>
          <a:bodyPr lIns="0" tIns="0" rIns="0" bIns="0" rtlCol="0" anchor="ctr"/>
          <a:lstStyle/>
          <a:p>
            <a:pPr algn="ctr"/>
            <a:r>
              <a:rPr sz="1100" b="1" i="0">
                <a:solidFill>
                  <a:srgbClr val="FFFFFF"/>
                </a:solidFill>
              </a:rPr>
              <a:t>2</a:t>
            </a:r>
          </a:p>
        </p:txBody>
      </p:sp>
      <p:sp>
        <p:nvSpPr>
          <p:cNvPr id="13" name="TextBox 12"/>
          <p:cNvSpPr txBox="1"/>
          <p:nvPr/>
        </p:nvSpPr>
        <p:spPr>
          <a:xfrm>
            <a:off x="8183880" y="2770200"/>
            <a:ext cx="3505200" cy="1005840"/>
          </a:xfrm>
          <a:prstGeom prst="rect">
            <a:avLst/>
          </a:prstGeom>
          <a:noFill/>
        </p:spPr>
        <p:txBody>
          <a:bodyPr wrap="square" lIns="0" tIns="0" rIns="0" bIns="0" anchor="t">
            <a:spAutoFit/>
          </a:bodyPr>
          <a:lstStyle/>
          <a:p>
            <a:pPr algn="l">
              <a:spcBef>
                <a:spcPts val="400"/>
              </a:spcBef>
              <a:spcAft>
                <a:spcPts val="200"/>
              </a:spcAft>
            </a:pPr>
            <a:r>
              <a:rPr sz="1100" b="1" i="0">
                <a:solidFill>
                  <a:srgbClr val="000000"/>
                </a:solidFill>
              </a:rPr>
              <a:t>[What to look at]</a:t>
            </a:r>
          </a:p>
          <a:p>
            <a:pPr algn="l">
              <a:spcAft>
                <a:spcPts val="500"/>
              </a:spcAft>
            </a:pPr>
            <a:r>
              <a:rPr sz="1100" b="0" i="1">
                <a:solidFill>
                  <a:srgbClr val="60607D"/>
                </a:solidFill>
              </a:rPr>
              <a:t>[Put here: one or two lines on what this part shows.]</a:t>
            </a:r>
          </a:p>
        </p:txBody>
      </p:sp>
      <p:sp>
        <p:nvSpPr>
          <p:cNvPr id="14" name="Oval 13"/>
          <p:cNvSpPr/>
          <p:nvPr/>
        </p:nvSpPr>
        <p:spPr>
          <a:xfrm>
            <a:off x="7726680" y="3958920"/>
            <a:ext cx="329184" cy="329184"/>
          </a:xfrm>
          <a:prstGeom prst="ellipse">
            <a:avLst/>
          </a:prstGeom>
          <a:solidFill>
            <a:srgbClr val="000000"/>
          </a:solidFill>
          <a:ln>
            <a:noFill/>
          </a:ln>
        </p:spPr>
        <p:txBody>
          <a:bodyPr lIns="0" tIns="0" rIns="0" bIns="0" rtlCol="0" anchor="ctr"/>
          <a:lstStyle/>
          <a:p>
            <a:pPr algn="ctr"/>
            <a:r>
              <a:rPr sz="1100" b="1" i="0">
                <a:solidFill>
                  <a:srgbClr val="FFFFFF"/>
                </a:solidFill>
              </a:rPr>
              <a:t>3</a:t>
            </a:r>
          </a:p>
        </p:txBody>
      </p:sp>
      <p:sp>
        <p:nvSpPr>
          <p:cNvPr id="15" name="TextBox 14"/>
          <p:cNvSpPr txBox="1"/>
          <p:nvPr/>
        </p:nvSpPr>
        <p:spPr>
          <a:xfrm>
            <a:off x="8183880" y="3913200"/>
            <a:ext cx="3505200" cy="1005840"/>
          </a:xfrm>
          <a:prstGeom prst="rect">
            <a:avLst/>
          </a:prstGeom>
          <a:noFill/>
        </p:spPr>
        <p:txBody>
          <a:bodyPr wrap="square" lIns="0" tIns="0" rIns="0" bIns="0" anchor="t">
            <a:spAutoFit/>
          </a:bodyPr>
          <a:lstStyle/>
          <a:p>
            <a:pPr algn="l">
              <a:spcBef>
                <a:spcPts val="400"/>
              </a:spcBef>
              <a:spcAft>
                <a:spcPts val="200"/>
              </a:spcAft>
            </a:pPr>
            <a:r>
              <a:rPr sz="1100" b="1" i="0">
                <a:solidFill>
                  <a:srgbClr val="000000"/>
                </a:solidFill>
              </a:rPr>
              <a:t>[What to look at]</a:t>
            </a:r>
          </a:p>
          <a:p>
            <a:pPr algn="l">
              <a:spcAft>
                <a:spcPts val="500"/>
              </a:spcAft>
            </a:pPr>
            <a:r>
              <a:rPr sz="1100" b="0" i="1">
                <a:solidFill>
                  <a:srgbClr val="60607D"/>
                </a:solidFill>
              </a:rPr>
              <a:t>[Put here: one or two lines on what this part shows.]</a:t>
            </a:r>
          </a:p>
        </p:txBody>
      </p:sp>
      <p:sp>
        <p:nvSpPr>
          <p:cNvPr id="16" name="Oval 15"/>
          <p:cNvSpPr/>
          <p:nvPr/>
        </p:nvSpPr>
        <p:spPr>
          <a:xfrm>
            <a:off x="7726680" y="5101920"/>
            <a:ext cx="329184" cy="329184"/>
          </a:xfrm>
          <a:prstGeom prst="ellipse">
            <a:avLst/>
          </a:prstGeom>
          <a:solidFill>
            <a:srgbClr val="000000"/>
          </a:solidFill>
          <a:ln>
            <a:noFill/>
          </a:ln>
        </p:spPr>
        <p:txBody>
          <a:bodyPr lIns="0" tIns="0" rIns="0" bIns="0" rtlCol="0" anchor="ctr"/>
          <a:lstStyle/>
          <a:p>
            <a:pPr algn="ctr"/>
            <a:r>
              <a:rPr sz="1100" b="1" i="0">
                <a:solidFill>
                  <a:srgbClr val="FFFFFF"/>
                </a:solidFill>
              </a:rPr>
              <a:t>4</a:t>
            </a:r>
          </a:p>
        </p:txBody>
      </p:sp>
      <p:sp>
        <p:nvSpPr>
          <p:cNvPr id="17" name="TextBox 16"/>
          <p:cNvSpPr txBox="1"/>
          <p:nvPr/>
        </p:nvSpPr>
        <p:spPr>
          <a:xfrm>
            <a:off x="8183880" y="5056200"/>
            <a:ext cx="3505200" cy="1005840"/>
          </a:xfrm>
          <a:prstGeom prst="rect">
            <a:avLst/>
          </a:prstGeom>
          <a:noFill/>
        </p:spPr>
        <p:txBody>
          <a:bodyPr wrap="square" lIns="0" tIns="0" rIns="0" bIns="0" anchor="t">
            <a:spAutoFit/>
          </a:bodyPr>
          <a:lstStyle/>
          <a:p>
            <a:pPr algn="l">
              <a:spcBef>
                <a:spcPts val="400"/>
              </a:spcBef>
              <a:spcAft>
                <a:spcPts val="200"/>
              </a:spcAft>
            </a:pPr>
            <a:r>
              <a:rPr sz="1100" b="1" i="0">
                <a:solidFill>
                  <a:srgbClr val="000000"/>
                </a:solidFill>
              </a:rPr>
              <a:t>[What to look at]</a:t>
            </a:r>
          </a:p>
          <a:p>
            <a:pPr algn="l">
              <a:spcAft>
                <a:spcPts val="500"/>
              </a:spcAft>
            </a:pPr>
            <a:r>
              <a:rPr sz="1100" b="0" i="1">
                <a:solidFill>
                  <a:srgbClr val="60607D"/>
                </a:solidFill>
              </a:rPr>
              <a:t>[Put here: one or two lines on what this part shows.]</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 name="Picture 4" descr="f_hero_library.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endParaRP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[Add a header]</a:t>
            </a:r>
          </a:p>
        </p:txBody>
      </p:sp>
      <p:sp>
        <p:nvSpPr>
          <p:cNvPr id="4" name="Text Placeholder 3"/>
          <p:cNvSpPr>
            <a:spLocks noGrp="1"/>
          </p:cNvSpPr>
          <p:nvPr>
            <p:ph type="body" sz="quarter" idx="12"/>
          </p:nvPr>
        </p:nvSpPr>
        <p:spPr>
          <a:xfrm>
            <a:off x="457200" y="170000"/>
            <a:ext cx="8000000" cy="182880"/>
          </a:xfrm>
        </p:spPr>
        <p:txBody>
          <a:bodyPr/>
          <a:lstStyle/>
          <a:p>
            <a:r>
              <a:rPr>
                <a:solidFill>
                  <a:srgbClr val="0391F2"/>
                </a:solidFill>
              </a:rPr>
              <a:t>LAYOUT 3 · STATEMENT AND POINTS · SUPPORTING DETAIL</a:t>
            </a:r>
          </a:p>
        </p:txBody>
      </p:sp>
      <p:sp>
        <p:nvSpPr>
          <p:cNvPr id="7" name="Rounded Rectangle 6"/>
          <p:cNvSpPr/>
          <p:nvPr/>
        </p:nvSpPr>
        <p:spPr>
          <a:xfrm>
            <a:off x="457200" y="1170000"/>
            <a:ext cx="11277600" cy="1300000"/>
          </a:xfrm>
          <a:prstGeom prst="roundRect">
            <a:avLst>
              <a:gd name="adj" fmla="val 3200"/>
            </a:avLst>
          </a:prstGeom>
          <a:solidFill>
            <a:srgbClr val="000000"/>
          </a:solidFill>
          <a:ln>
            <a:noFill/>
          </a:ln>
          <a:effectLst>
            <a:outerShdw blurRad="190500" dist="50800" dir="5400000" algn="t" rotWithShape="0">
              <a:srgbClr val="000000">
                <a:alpha val="13000"/>
              </a:srgbClr>
            </a:outerShdw>
          </a:effectLst>
        </p:spPr>
        <p:txBody>
          <a:bodyPr wrap="square" lIns="274320" tIns="109728" rIns="274320" bIns="73152" rtlCol="0" anchor="ctr"/>
          <a:lstStyle/>
          <a:p>
            <a:pPr algn="l">
              <a:spcAft>
                <a:spcPts val="500"/>
              </a:spcAft>
            </a:pPr>
            <a:r>
              <a:rPr sz="1600" b="0" i="1">
                <a:solidFill>
                  <a:srgbClr val="D6D6DF"/>
                </a:solidFill>
              </a:rPr>
              <a:t>[One statement: the thing to take away.]</a:t>
            </a:r>
          </a:p>
        </p:txBody>
      </p:sp>
      <p:sp>
        <p:nvSpPr>
          <p:cNvPr id="8" name="Rounded Rectangle 7"/>
          <p:cNvSpPr/>
          <p:nvPr/>
        </p:nvSpPr>
        <p:spPr>
          <a:xfrm>
            <a:off x="457200" y="2620000"/>
            <a:ext cx="3659200" cy="293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000000"/>
                </a:solidFill>
              </a:rPr>
              <a:t>[Point]</a:t>
            </a:r>
          </a:p>
          <a:p>
            <a:pPr algn="l">
              <a:spcAft>
                <a:spcPts val="500"/>
              </a:spcAft>
            </a:pPr>
            <a:r>
              <a:rPr sz="1250" b="0" i="1">
                <a:solidFill>
                  <a:srgbClr val="60607D"/>
                </a:solidFill>
              </a:rPr>
              <a:t>[Supporting detail.]</a:t>
            </a:r>
          </a:p>
        </p:txBody>
      </p:sp>
      <p:sp>
        <p:nvSpPr>
          <p:cNvPr id="9" name="Rounded Rectangle 8"/>
          <p:cNvSpPr/>
          <p:nvPr/>
        </p:nvSpPr>
        <p:spPr>
          <a:xfrm>
            <a:off x="4266400" y="2620000"/>
            <a:ext cx="3659200" cy="293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000000"/>
                </a:solidFill>
              </a:rPr>
              <a:t>[Point]</a:t>
            </a:r>
          </a:p>
          <a:p>
            <a:pPr algn="l">
              <a:spcAft>
                <a:spcPts val="500"/>
              </a:spcAft>
            </a:pPr>
            <a:r>
              <a:rPr sz="1250" b="0" i="1">
                <a:solidFill>
                  <a:srgbClr val="60607D"/>
                </a:solidFill>
              </a:rPr>
              <a:t>[Supporting detail.]</a:t>
            </a:r>
          </a:p>
        </p:txBody>
      </p:sp>
      <p:sp>
        <p:nvSpPr>
          <p:cNvPr id="10" name="Rounded Rectangle 9"/>
          <p:cNvSpPr/>
          <p:nvPr/>
        </p:nvSpPr>
        <p:spPr>
          <a:xfrm>
            <a:off x="8075600" y="2620000"/>
            <a:ext cx="3659200" cy="293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000000"/>
                </a:solidFill>
              </a:rPr>
              <a:t>[Point]</a:t>
            </a:r>
          </a:p>
          <a:p>
            <a:pPr algn="l">
              <a:spcAft>
                <a:spcPts val="500"/>
              </a:spcAft>
            </a:pPr>
            <a:r>
              <a:rPr sz="1250" b="0" i="1">
                <a:solidFill>
                  <a:srgbClr val="60607D"/>
                </a:solidFill>
              </a:rPr>
              <a:t>[Supporting detail.]</a:t>
            </a:r>
          </a:p>
        </p:txBody>
      </p:sp>
      <p:sp>
        <p:nvSpPr>
          <p:cNvPr id="11" name="Rounded Rectangle 10"/>
          <p:cNvSpPr/>
          <p:nvPr/>
        </p:nvSpPr>
        <p:spPr>
          <a:xfrm>
            <a:off x="457200" y="5610000"/>
            <a:ext cx="11277600" cy="640000"/>
          </a:xfrm>
          <a:prstGeom prst="roundRect">
            <a:avLst>
              <a:gd name="adj" fmla="val 6000"/>
            </a:avLst>
          </a:prstGeom>
          <a:solidFill>
            <a:srgbClr val="000000"/>
          </a:solidFill>
          <a:ln>
            <a:noFill/>
          </a:ln>
          <a:effectLst>
            <a:outerShdw blurRad="190500" dist="50800" dir="5400000" algn="t" rotWithShape="0">
              <a:srgbClr val="000000">
                <a:alpha val="13000"/>
              </a:srgbClr>
            </a:outerShdw>
          </a:effectLst>
        </p:spPr>
        <p:txBody>
          <a:bodyPr wrap="square" lIns="300000" tIns="50000" rIns="300000" bIns="50000" rtlCol="0" anchor="ctr"/>
          <a:lstStyle/>
          <a:p>
            <a:pPr algn="l"/>
            <a:r>
              <a:rPr sz="1400" b="0" i="1">
                <a:solidFill>
                  <a:srgbClr val="D6D6DF"/>
                </a:solidFill>
              </a:rPr>
              <a:t>[Optional: one closing line.]</a:t>
            </a: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 name="Picture 4" descr="f_hero_library.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endParaRP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[Add a header]</a:t>
            </a:r>
          </a:p>
        </p:txBody>
      </p:sp>
      <p:sp>
        <p:nvSpPr>
          <p:cNvPr id="4" name="Text Placeholder 3"/>
          <p:cNvSpPr>
            <a:spLocks noGrp="1"/>
          </p:cNvSpPr>
          <p:nvPr>
            <p:ph type="body" sz="quarter" idx="12"/>
          </p:nvPr>
        </p:nvSpPr>
        <p:spPr>
          <a:xfrm>
            <a:off x="457200" y="170000"/>
            <a:ext cx="8000000" cy="182880"/>
          </a:xfrm>
        </p:spPr>
        <p:txBody>
          <a:bodyPr/>
          <a:lstStyle/>
          <a:p>
            <a:r>
              <a:rPr>
                <a:solidFill>
                  <a:srgbClr val="0391F2"/>
                </a:solidFill>
              </a:rPr>
              <a:t>LAYOUT 4 · FLOW · TEMPLATE · SUPPORTING DETAIL</a:t>
            </a:r>
          </a:p>
        </p:txBody>
      </p:sp>
      <p:sp>
        <p:nvSpPr>
          <p:cNvPr id="7" name="TextBox 6"/>
          <p:cNvSpPr txBox="1"/>
          <p:nvPr/>
        </p:nvSpPr>
        <p:spPr>
          <a:xfrm>
            <a:off x="457200" y="1170000"/>
            <a:ext cx="11277600" cy="457200"/>
          </a:xfrm>
          <a:prstGeom prst="rect">
            <a:avLst/>
          </a:prstGeom>
          <a:noFill/>
        </p:spPr>
        <p:txBody>
          <a:bodyPr wrap="square" lIns="0" tIns="0" rIns="0" bIns="0" anchor="t">
            <a:spAutoFit/>
          </a:bodyPr>
          <a:lstStyle/>
          <a:p>
            <a:pPr algn="l">
              <a:spcAft>
                <a:spcPts val="500"/>
              </a:spcAft>
            </a:pPr>
            <a:r>
              <a:rPr sz="1250" b="0" i="1">
                <a:solidFill>
                  <a:srgbClr val="60607D"/>
                </a:solidFill>
              </a:rPr>
              <a:t>[One line on what the flow shows.]</a:t>
            </a:r>
          </a:p>
        </p:txBody>
      </p:sp>
      <p:sp>
        <p:nvSpPr>
          <p:cNvPr id="8" name="Rounded Rectangle 7"/>
          <p:cNvSpPr/>
          <p:nvPr/>
        </p:nvSpPr>
        <p:spPr>
          <a:xfrm>
            <a:off x="457200" y="1718640"/>
            <a:ext cx="3312533" cy="23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000000"/>
                </a:solidFill>
              </a:rPr>
              <a:t>[Goes in]</a:t>
            </a:r>
          </a:p>
          <a:p>
            <a:pPr algn="l">
              <a:spcAft>
                <a:spcPts val="500"/>
              </a:spcAft>
            </a:pPr>
            <a:r>
              <a:rPr sz="1300" b="0" i="1">
                <a:solidFill>
                  <a:srgbClr val="60607D"/>
                </a:solidFill>
              </a:rPr>
              <a:t>[…]</a:t>
            </a:r>
          </a:p>
        </p:txBody>
      </p:sp>
      <p:sp>
        <p:nvSpPr>
          <p:cNvPr id="9" name="Right Arrow 8"/>
          <p:cNvSpPr/>
          <p:nvPr/>
        </p:nvSpPr>
        <p:spPr>
          <a:xfrm>
            <a:off x="3844733" y="2728640"/>
            <a:ext cx="520000" cy="280000"/>
          </a:xfrm>
          <a:prstGeom prst="rightArrow">
            <a:avLst/>
          </a:prstGeom>
          <a:solidFill>
            <a:srgbClr val="D6D6DF"/>
          </a:solidFill>
          <a:ln>
            <a:noFill/>
          </a:ln>
        </p:spPr>
        <p:txBody>
          <a:bodyPr rtlCol="0" anchor="ctr"/>
          <a:lstStyle/>
          <a:p>
            <a:pPr algn="ctr"/>
            <a:endParaRPr/>
          </a:p>
        </p:txBody>
      </p:sp>
      <p:sp>
        <p:nvSpPr>
          <p:cNvPr id="10" name="Rounded Rectangle 9"/>
          <p:cNvSpPr/>
          <p:nvPr/>
        </p:nvSpPr>
        <p:spPr>
          <a:xfrm>
            <a:off x="4439733" y="1718640"/>
            <a:ext cx="3312533" cy="2300000"/>
          </a:xfrm>
          <a:prstGeom prst="roundRect">
            <a:avLst>
              <a:gd name="adj" fmla="val 3200"/>
            </a:avLst>
          </a:prstGeom>
          <a:solidFill>
            <a:srgbClr val="000000"/>
          </a:solidFill>
          <a:ln>
            <a:no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D6D6DF"/>
                </a:solidFill>
              </a:rPr>
              <a:t>[What happens]</a:t>
            </a:r>
          </a:p>
          <a:p>
            <a:pPr algn="l">
              <a:spcAft>
                <a:spcPts val="500"/>
              </a:spcAft>
            </a:pPr>
            <a:r>
              <a:rPr sz="1300" b="0" i="1">
                <a:solidFill>
                  <a:srgbClr val="D6D6DF"/>
                </a:solidFill>
              </a:rPr>
              <a:t>[…]</a:t>
            </a:r>
          </a:p>
        </p:txBody>
      </p:sp>
      <p:sp>
        <p:nvSpPr>
          <p:cNvPr id="11" name="Right Arrow 10"/>
          <p:cNvSpPr/>
          <p:nvPr/>
        </p:nvSpPr>
        <p:spPr>
          <a:xfrm>
            <a:off x="7827266" y="2728640"/>
            <a:ext cx="520000" cy="280000"/>
          </a:xfrm>
          <a:prstGeom prst="rightArrow">
            <a:avLst/>
          </a:prstGeom>
          <a:solidFill>
            <a:srgbClr val="D6D6DF"/>
          </a:solidFill>
          <a:ln>
            <a:noFill/>
          </a:ln>
        </p:spPr>
        <p:txBody>
          <a:bodyPr rtlCol="0" anchor="ctr"/>
          <a:lstStyle/>
          <a:p>
            <a:pPr algn="ctr"/>
            <a:endParaRPr/>
          </a:p>
        </p:txBody>
      </p:sp>
      <p:sp>
        <p:nvSpPr>
          <p:cNvPr id="12" name="Rounded Rectangle 11"/>
          <p:cNvSpPr/>
          <p:nvPr/>
        </p:nvSpPr>
        <p:spPr>
          <a:xfrm>
            <a:off x="8422266" y="1718640"/>
            <a:ext cx="3312533" cy="23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000000"/>
                </a:solidFill>
              </a:rPr>
              <a:t>[Comes out]</a:t>
            </a:r>
          </a:p>
          <a:p>
            <a:pPr algn="l">
              <a:spcAft>
                <a:spcPts val="500"/>
              </a:spcAft>
            </a:pPr>
            <a:r>
              <a:rPr sz="1300" b="0" i="1">
                <a:solidFill>
                  <a:srgbClr val="60607D"/>
                </a:solidFill>
              </a:rPr>
              <a:t>[…]</a:t>
            </a:r>
          </a:p>
        </p:txBody>
      </p:sp>
      <p:sp>
        <p:nvSpPr>
          <p:cNvPr id="13" name="Rounded Rectangle 12"/>
          <p:cNvSpPr/>
          <p:nvPr/>
        </p:nvSpPr>
        <p:spPr>
          <a:xfrm>
            <a:off x="457200" y="5550000"/>
            <a:ext cx="11277600" cy="700000"/>
          </a:xfrm>
          <a:prstGeom prst="roundRect">
            <a:avLst>
              <a:gd name="adj" fmla="val 6000"/>
            </a:avLst>
          </a:prstGeom>
          <a:solidFill>
            <a:srgbClr val="000000"/>
          </a:solidFill>
          <a:ln>
            <a:noFill/>
          </a:ln>
          <a:effectLst>
            <a:outerShdw blurRad="190500" dist="50800" dir="5400000" algn="t" rotWithShape="0">
              <a:srgbClr val="000000">
                <a:alpha val="13000"/>
              </a:srgbClr>
            </a:outerShdw>
          </a:effectLst>
        </p:spPr>
        <p:txBody>
          <a:bodyPr wrap="square" lIns="300000" tIns="50000" rIns="300000" bIns="50000" rtlCol="0" anchor="ctr"/>
          <a:lstStyle/>
          <a:p>
            <a:pPr algn="l"/>
            <a:r>
              <a:rPr sz="1400" b="0" i="1">
                <a:solidFill>
                  <a:srgbClr val="D6D6DF"/>
                </a:solidFill>
              </a:rPr>
              <a:t>[Optional: a closing line, a status, or a caveat.]</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f_hero_library.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endParaRP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[Add a header]</a:t>
            </a:r>
          </a:p>
        </p:txBody>
      </p:sp>
      <p:sp>
        <p:nvSpPr>
          <p:cNvPr id="4" name="Text Placeholder 3"/>
          <p:cNvSpPr>
            <a:spLocks noGrp="1"/>
          </p:cNvSpPr>
          <p:nvPr>
            <p:ph type="body" sz="quarter" idx="12"/>
          </p:nvPr>
        </p:nvSpPr>
        <p:spPr>
          <a:xfrm>
            <a:off x="457200" y="170000"/>
            <a:ext cx="8000000" cy="182880"/>
          </a:xfrm>
        </p:spPr>
        <p:txBody>
          <a:bodyPr/>
          <a:lstStyle/>
          <a:p>
            <a:r>
              <a:rPr>
                <a:solidFill>
                  <a:srgbClr val="0391F2"/>
                </a:solidFill>
              </a:rPr>
              <a:t>TEMPLATE · FLOW WITH BANNER · SUPPORTING DETAIL</a:t>
            </a:r>
          </a:p>
        </p:txBody>
      </p:sp>
      <p:sp>
        <p:nvSpPr>
          <p:cNvPr id="7" name="TextBox 6"/>
          <p:cNvSpPr txBox="1"/>
          <p:nvPr/>
        </p:nvSpPr>
        <p:spPr>
          <a:xfrm>
            <a:off x="457200" y="1170000"/>
            <a:ext cx="11277600" cy="731520"/>
          </a:xfrm>
          <a:prstGeom prst="rect">
            <a:avLst/>
          </a:prstGeom>
          <a:noFill/>
        </p:spPr>
        <p:txBody>
          <a:bodyPr wrap="square" lIns="0" tIns="0" rIns="0" bIns="0" anchor="t">
            <a:spAutoFit/>
          </a:bodyPr>
          <a:lstStyle/>
          <a:p>
            <a:pPr algn="l">
              <a:spcAft>
                <a:spcPts val="500"/>
              </a:spcAft>
            </a:pPr>
            <a:r>
              <a:rPr sz="1600" b="0" i="1">
                <a:solidFill>
                  <a:srgbClr val="60607D"/>
                </a:solidFill>
              </a:rPr>
              <a:t>[Put here: one or two sentences that sum up the whole slide.]</a:t>
            </a:r>
          </a:p>
        </p:txBody>
      </p:sp>
      <p:sp>
        <p:nvSpPr>
          <p:cNvPr id="8" name="Rounded Rectangle 7"/>
          <p:cNvSpPr/>
          <p:nvPr/>
        </p:nvSpPr>
        <p:spPr>
          <a:xfrm>
            <a:off x="457200" y="2038680"/>
            <a:ext cx="3312533" cy="155448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74320" tIns="274320" rIns="182880" bIns="91440" rtlCol="0" anchor="t"/>
          <a:lstStyle/>
          <a:p>
            <a:pPr algn="l">
              <a:spcBef>
                <a:spcPts val="200"/>
              </a:spcBef>
              <a:spcAft>
                <a:spcPts val="200"/>
              </a:spcAft>
            </a:pPr>
            <a:r>
              <a:rPr sz="850" b="1" i="0" cap="all" spc="100">
                <a:solidFill>
                  <a:srgbClr val="60607D"/>
                </a:solidFill>
              </a:rPr>
              <a:t>[GOES IN]</a:t>
            </a:r>
          </a:p>
          <a:p>
            <a:pPr algn="l">
              <a:spcBef>
                <a:spcPts val="400"/>
              </a:spcBef>
              <a:spcAft>
                <a:spcPts val="200"/>
              </a:spcAft>
            </a:pPr>
            <a:r>
              <a:rPr sz="2200" b="1" i="0">
                <a:solidFill>
                  <a:srgbClr val="000000"/>
                </a:solidFill>
              </a:rPr>
              <a:t>[Headline]</a:t>
            </a:r>
          </a:p>
        </p:txBody>
      </p:sp>
      <p:sp>
        <p:nvSpPr>
          <p:cNvPr id="9" name="Right Arrow 8"/>
          <p:cNvSpPr/>
          <p:nvPr/>
        </p:nvSpPr>
        <p:spPr>
          <a:xfrm>
            <a:off x="3844733" y="2675920"/>
            <a:ext cx="520000" cy="280000"/>
          </a:xfrm>
          <a:prstGeom prst="rightArrow">
            <a:avLst/>
          </a:prstGeom>
          <a:solidFill>
            <a:srgbClr val="D6D6DF"/>
          </a:solidFill>
          <a:ln>
            <a:noFill/>
          </a:ln>
        </p:spPr>
        <p:txBody>
          <a:bodyPr rtlCol="0" anchor="ctr"/>
          <a:lstStyle/>
          <a:p>
            <a:pPr algn="ctr"/>
            <a:endParaRPr/>
          </a:p>
        </p:txBody>
      </p:sp>
      <p:sp>
        <p:nvSpPr>
          <p:cNvPr id="10" name="Rounded Rectangle 9"/>
          <p:cNvSpPr/>
          <p:nvPr/>
        </p:nvSpPr>
        <p:spPr>
          <a:xfrm>
            <a:off x="4439733" y="2038680"/>
            <a:ext cx="3312533" cy="1554480"/>
          </a:xfrm>
          <a:prstGeom prst="roundRect">
            <a:avLst>
              <a:gd name="adj" fmla="val 3200"/>
            </a:avLst>
          </a:prstGeom>
          <a:solidFill>
            <a:srgbClr val="000000"/>
          </a:solidFill>
          <a:ln>
            <a:noFill/>
          </a:ln>
          <a:effectLst>
            <a:outerShdw blurRad="190500" dist="50800" dir="5400000" algn="t" rotWithShape="0">
              <a:srgbClr val="000000">
                <a:alpha val="13000"/>
              </a:srgbClr>
            </a:outerShdw>
          </a:effectLst>
        </p:spPr>
        <p:txBody>
          <a:bodyPr wrap="square" lIns="274320" tIns="274320" rIns="182880" bIns="91440" rtlCol="0" anchor="t"/>
          <a:lstStyle/>
          <a:p>
            <a:pPr algn="l">
              <a:spcBef>
                <a:spcPts val="200"/>
              </a:spcBef>
              <a:spcAft>
                <a:spcPts val="200"/>
              </a:spcAft>
            </a:pPr>
            <a:r>
              <a:rPr sz="850" b="1" i="0" cap="all" spc="100">
                <a:solidFill>
                  <a:srgbClr val="D6D6DF"/>
                </a:solidFill>
              </a:rPr>
              <a:t>[WHAT HAPPENS]</a:t>
            </a:r>
          </a:p>
          <a:p>
            <a:pPr algn="l">
              <a:spcBef>
                <a:spcPts val="400"/>
              </a:spcBef>
              <a:spcAft>
                <a:spcPts val="200"/>
              </a:spcAft>
            </a:pPr>
            <a:r>
              <a:rPr sz="2200" b="1" i="0">
                <a:solidFill>
                  <a:srgbClr val="FFFFFF"/>
                </a:solidFill>
              </a:rPr>
              <a:t>[Headline]</a:t>
            </a:r>
          </a:p>
        </p:txBody>
      </p:sp>
      <p:sp>
        <p:nvSpPr>
          <p:cNvPr id="11" name="Right Arrow 10"/>
          <p:cNvSpPr/>
          <p:nvPr/>
        </p:nvSpPr>
        <p:spPr>
          <a:xfrm>
            <a:off x="7827266" y="2675920"/>
            <a:ext cx="520000" cy="280000"/>
          </a:xfrm>
          <a:prstGeom prst="rightArrow">
            <a:avLst/>
          </a:prstGeom>
          <a:solidFill>
            <a:srgbClr val="D6D6DF"/>
          </a:solidFill>
          <a:ln>
            <a:noFill/>
          </a:ln>
        </p:spPr>
        <p:txBody>
          <a:bodyPr rtlCol="0" anchor="ctr"/>
          <a:lstStyle/>
          <a:p>
            <a:pPr algn="ctr"/>
            <a:endParaRPr/>
          </a:p>
        </p:txBody>
      </p:sp>
      <p:sp>
        <p:nvSpPr>
          <p:cNvPr id="12" name="Rounded Rectangle 11"/>
          <p:cNvSpPr/>
          <p:nvPr/>
        </p:nvSpPr>
        <p:spPr>
          <a:xfrm>
            <a:off x="8422266" y="2038680"/>
            <a:ext cx="3312533" cy="155448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74320" tIns="274320" rIns="182880" bIns="91440" rtlCol="0" anchor="t"/>
          <a:lstStyle/>
          <a:p>
            <a:pPr algn="l">
              <a:spcBef>
                <a:spcPts val="200"/>
              </a:spcBef>
              <a:spcAft>
                <a:spcPts val="200"/>
              </a:spcAft>
            </a:pPr>
            <a:r>
              <a:rPr sz="850" b="1" i="0" cap="all" spc="100">
                <a:solidFill>
                  <a:srgbClr val="60607D"/>
                </a:solidFill>
              </a:rPr>
              <a:t>[COMES OUT]</a:t>
            </a:r>
          </a:p>
          <a:p>
            <a:pPr algn="l">
              <a:spcBef>
                <a:spcPts val="400"/>
              </a:spcBef>
              <a:spcAft>
                <a:spcPts val="200"/>
              </a:spcAft>
            </a:pPr>
            <a:r>
              <a:rPr sz="2200" b="1" i="0">
                <a:solidFill>
                  <a:srgbClr val="000000"/>
                </a:solidFill>
              </a:rPr>
              <a:t>[Headline]</a:t>
            </a:r>
          </a:p>
        </p:txBody>
      </p:sp>
      <p:pic>
        <p:nvPicPr>
          <p:cNvPr id="13" name="Picture 12" descr="f_band_library.jpg"/>
          <p:cNvPicPr>
            <a:picLocks noChangeAspect="1"/>
          </p:cNvPicPr>
          <p:nvPr/>
        </p:nvPicPr>
        <p:blipFill>
          <a:blip r:embed="rId3"/>
          <a:stretch>
            <a:fillRect/>
          </a:stretch>
        </p:blipFill>
        <p:spPr>
          <a:xfrm>
            <a:off x="457200" y="3893160"/>
            <a:ext cx="11277600" cy="2356840"/>
          </a:xfrm>
          <a:prstGeom prst="roundRect">
            <a:avLst>
              <a:gd name="adj" fmla="val 6000"/>
            </a:avLst>
          </a:prstGeom>
        </p:spPr>
      </p:pic>
      <p:sp>
        <p:nvSpPr>
          <p:cNvPr id="14" name="Rounded Rectangle 13"/>
          <p:cNvSpPr/>
          <p:nvPr/>
        </p:nvSpPr>
        <p:spPr>
          <a:xfrm>
            <a:off x="457200" y="3893160"/>
            <a:ext cx="11277600" cy="2356840"/>
          </a:xfrm>
          <a:prstGeom prst="roundRect">
            <a:avLst>
              <a:gd name="adj" fmla="val 6000"/>
            </a:avLst>
          </a:prstGeom>
          <a:solidFill>
            <a:srgbClr val="000000">
              <a:alpha val="72000"/>
            </a:srgbClr>
          </a:solidFill>
          <a:ln>
            <a:noFill/>
          </a:ln>
        </p:spPr>
        <p:txBody>
          <a:bodyPr rtlCol="0" anchor="ctr"/>
          <a:lstStyle/>
          <a:p>
            <a:pPr algn="ctr"/>
            <a:endParaRPr/>
          </a:p>
        </p:txBody>
      </p:sp>
      <p:sp>
        <p:nvSpPr>
          <p:cNvPr id="15" name="TextBox 14"/>
          <p:cNvSpPr txBox="1"/>
          <p:nvPr/>
        </p:nvSpPr>
        <p:spPr>
          <a:xfrm>
            <a:off x="914400" y="4030320"/>
            <a:ext cx="5120640" cy="2082520"/>
          </a:xfrm>
          <a:prstGeom prst="rect">
            <a:avLst/>
          </a:prstGeom>
          <a:noFill/>
        </p:spPr>
        <p:txBody>
          <a:bodyPr wrap="square" lIns="0" tIns="0" rIns="0" bIns="0" anchor="ctr">
            <a:spAutoFit/>
          </a:bodyPr>
          <a:lstStyle/>
          <a:p>
            <a:pPr algn="l">
              <a:spcBef>
                <a:spcPts val="400"/>
              </a:spcBef>
              <a:spcAft>
                <a:spcPts val="500"/>
              </a:spcAft>
            </a:pPr>
            <a:r>
              <a:rPr sz="4000" b="1" i="0">
                <a:solidFill>
                  <a:srgbClr val="FFFFFF"/>
                </a:solidFill>
              </a:rPr>
              <a:t>[Short headline]</a:t>
            </a:r>
          </a:p>
        </p:txBody>
      </p:sp>
      <p:sp>
        <p:nvSpPr>
          <p:cNvPr id="16" name="TextBox 15"/>
          <p:cNvSpPr txBox="1"/>
          <p:nvPr/>
        </p:nvSpPr>
        <p:spPr>
          <a:xfrm>
            <a:off x="6492240" y="4030320"/>
            <a:ext cx="4785360" cy="2082520"/>
          </a:xfrm>
          <a:prstGeom prst="rect">
            <a:avLst/>
          </a:prstGeom>
          <a:noFill/>
        </p:spPr>
        <p:txBody>
          <a:bodyPr wrap="square" lIns="0" tIns="0" rIns="0" bIns="0" anchor="ctr">
            <a:spAutoFit/>
          </a:bodyPr>
          <a:lstStyle/>
          <a:p>
            <a:pPr algn="l">
              <a:spcAft>
                <a:spcPts val="500"/>
              </a:spcAft>
            </a:pPr>
            <a:r>
              <a:rPr sz="1800" b="0" i="1">
                <a:solidFill>
                  <a:srgbClr val="D6D6DF"/>
                </a:solidFill>
              </a:rPr>
              <a:t>[Put here: the status, or what is next, in a sentence or two.]</a:t>
            </a:r>
          </a:p>
        </p:txBody>
      </p:sp>
      <p:sp>
        <p:nvSpPr>
          <p:cNvPr id="17" name="Rounded Rectangle 16"/>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wrap="square" lIns="150000" rIns="120000" rtlCol="0" anchor="ctr"/>
          <a:lstStyle/>
          <a:p>
            <a:pPr algn="l"/>
            <a:r>
              <a:rPr sz="1050" b="1" i="0">
                <a:solidFill>
                  <a:srgbClr val="FFFFFF"/>
                </a:solidFill>
              </a:rPr>
              <a:t>Owner(s)</a:t>
            </a:r>
          </a:p>
          <a:p>
            <a:pPr algn="l"/>
            <a:r>
              <a:rPr sz="900" b="0" i="1">
                <a:solidFill>
                  <a:srgbClr val="D6D6DF"/>
                </a:solidFill>
              </a:rPr>
              <a:t>[Names]</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f_hero_library.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endParaRPr/>
          </a:p>
        </p:txBody>
      </p:sp>
      <p:pic>
        <p:nvPicPr>
          <p:cNvPr id="7" name="Picture 6" descr="f_split_library.jpg"/>
          <p:cNvPicPr>
            <a:picLocks noChangeAspect="1"/>
          </p:cNvPicPr>
          <p:nvPr/>
        </p:nvPicPr>
        <p:blipFill>
          <a:blip r:embed="rId3"/>
          <a:stretch>
            <a:fillRect/>
          </a:stretch>
        </p:blipFill>
        <p:spPr>
          <a:xfrm>
            <a:off x="0" y="0"/>
            <a:ext cx="4480560" cy="6858000"/>
          </a:xfrm>
          <a:prstGeom prst="rect">
            <a:avLst/>
          </a:prstGeom>
        </p:spPr>
      </p:pic>
      <p:sp>
        <p:nvSpPr>
          <p:cNvPr id="8" name="Rectangle 7"/>
          <p:cNvSpPr/>
          <p:nvPr/>
        </p:nvSpPr>
        <p:spPr>
          <a:xfrm>
            <a:off x="0" y="0"/>
            <a:ext cx="4480560" cy="6858000"/>
          </a:xfrm>
          <a:prstGeom prst="rect">
            <a:avLst/>
          </a:prstGeom>
          <a:gradFill rotWithShape="1">
            <a:gsLst>
              <a:gs pos="0">
                <a:srgbClr val="000000">
                  <a:alpha val="70000"/>
                </a:srgbClr>
              </a:gs>
              <a:gs pos="50000">
                <a:srgbClr val="000000">
                  <a:alpha val="55000"/>
                </a:srgbClr>
              </a:gs>
              <a:gs pos="100000">
                <a:srgbClr val="000000">
                  <a:alpha val="85000"/>
                </a:srgbClr>
              </a:gs>
            </a:gsLst>
            <a:lin ang="5400000" scaled="0"/>
          </a:gradFill>
          <a:ln>
            <a:noFill/>
          </a:ln>
        </p:spPr>
        <p:txBody>
          <a:bodyPr rtlCol="0" anchor="ctr"/>
          <a:lstStyle/>
          <a:p>
            <a:pPr algn="ctr"/>
            <a:endParaRPr/>
          </a:p>
        </p:txBody>
      </p:sp>
      <p:sp>
        <p:nvSpPr>
          <p:cNvPr id="9" name="Rounded Rectangle 8"/>
          <p:cNvSpPr/>
          <p:nvPr/>
        </p:nvSpPr>
        <p:spPr>
          <a:xfrm>
            <a:off x="320040" y="2194560"/>
            <a:ext cx="3840480" cy="2377440"/>
          </a:xfrm>
          <a:prstGeom prst="roundRect">
            <a:avLst>
              <a:gd name="adj" fmla="val 5000"/>
            </a:avLst>
          </a:prstGeom>
          <a:solidFill>
            <a:srgbClr val="000000">
              <a:alpha val="62000"/>
            </a:srgbClr>
          </a:solidFill>
          <a:ln>
            <a:noFill/>
          </a:ln>
        </p:spPr>
        <p:txBody>
          <a:bodyPr rtlCol="0" anchor="ctr"/>
          <a:lstStyle/>
          <a:p>
            <a:pPr algn="ctr"/>
            <a:endParaRPr/>
          </a:p>
        </p:txBody>
      </p:sp>
      <p:sp>
        <p:nvSpPr>
          <p:cNvPr id="3" name="Title 2"/>
          <p:cNvSpPr>
            <a:spLocks noGrp="1"/>
          </p:cNvSpPr>
          <p:nvPr>
            <p:ph type="title"/>
          </p:nvPr>
        </p:nvSpPr>
        <p:spPr>
          <a:xfrm>
            <a:off x="4892040" y="300000"/>
            <a:ext cx="3907960" cy="560000"/>
          </a:xfrm>
        </p:spPr>
        <p:txBody>
          <a:bodyPr/>
          <a:lstStyle/>
          <a:p>
            <a:r>
              <a:rPr sz="2400">
                <a:solidFill>
                  <a:srgbClr val="FFFFFF"/>
                </a:solidFill>
              </a:rPr>
              <a:t>[Add a header]</a:t>
            </a:r>
          </a:p>
        </p:txBody>
      </p:sp>
      <p:sp>
        <p:nvSpPr>
          <p:cNvPr id="4" name="Text Placeholder 3"/>
          <p:cNvSpPr>
            <a:spLocks noGrp="1"/>
          </p:cNvSpPr>
          <p:nvPr>
            <p:ph type="body" sz="quarter" idx="12"/>
          </p:nvPr>
        </p:nvSpPr>
        <p:spPr>
          <a:xfrm>
            <a:off x="4892040" y="170000"/>
            <a:ext cx="8000000" cy="182880"/>
          </a:xfrm>
        </p:spPr>
        <p:txBody>
          <a:bodyPr/>
          <a:lstStyle/>
          <a:p>
            <a:r>
              <a:rPr>
                <a:solidFill>
                  <a:srgbClr val="0391F2"/>
                </a:solidFill>
              </a:rPr>
              <a:t>TEMPLATE · IMAGE AND TWO PHASES · DETAIL</a:t>
            </a:r>
          </a:p>
        </p:txBody>
      </p:sp>
      <p:sp>
        <p:nvSpPr>
          <p:cNvPr id="10" name="TextBox 9"/>
          <p:cNvSpPr txBox="1"/>
          <p:nvPr/>
        </p:nvSpPr>
        <p:spPr>
          <a:xfrm>
            <a:off x="640080" y="2377440"/>
            <a:ext cx="3200400" cy="228600"/>
          </a:xfrm>
          <a:prstGeom prst="rect">
            <a:avLst/>
          </a:prstGeom>
          <a:noFill/>
        </p:spPr>
        <p:txBody>
          <a:bodyPr wrap="square" lIns="0" tIns="0" rIns="0" bIns="0" anchor="t">
            <a:spAutoFit/>
          </a:bodyPr>
          <a:lstStyle/>
          <a:p>
            <a:pPr algn="l">
              <a:spcBef>
                <a:spcPts val="200"/>
              </a:spcBef>
              <a:spcAft>
                <a:spcPts val="200"/>
              </a:spcAft>
            </a:pPr>
            <a:r>
              <a:rPr sz="850" b="1" i="0" cap="all" spc="100">
                <a:solidFill>
                  <a:srgbClr val="D6D6DF"/>
                </a:solidFill>
              </a:rPr>
              <a:t>[EYEBROW]</a:t>
            </a:r>
          </a:p>
        </p:txBody>
      </p:sp>
      <p:sp>
        <p:nvSpPr>
          <p:cNvPr id="11" name="TextBox 10"/>
          <p:cNvSpPr txBox="1"/>
          <p:nvPr/>
        </p:nvSpPr>
        <p:spPr>
          <a:xfrm>
            <a:off x="640080" y="2697480"/>
            <a:ext cx="3200400" cy="731520"/>
          </a:xfrm>
          <a:prstGeom prst="rect">
            <a:avLst/>
          </a:prstGeom>
          <a:noFill/>
        </p:spPr>
        <p:txBody>
          <a:bodyPr wrap="square" lIns="0" tIns="0" rIns="0" bIns="0" anchor="t">
            <a:spAutoFit/>
          </a:bodyPr>
          <a:lstStyle/>
          <a:p>
            <a:pPr algn="l">
              <a:spcBef>
                <a:spcPts val="400"/>
              </a:spcBef>
              <a:spcAft>
                <a:spcPts val="500"/>
              </a:spcAft>
            </a:pPr>
            <a:r>
              <a:rPr sz="3200" b="1" i="0">
                <a:solidFill>
                  <a:srgbClr val="FFFFFF"/>
                </a:solidFill>
              </a:rPr>
              <a:t>[Big headline]</a:t>
            </a:r>
          </a:p>
        </p:txBody>
      </p:sp>
      <p:sp>
        <p:nvSpPr>
          <p:cNvPr id="12" name="TextBox 11"/>
          <p:cNvSpPr txBox="1"/>
          <p:nvPr/>
        </p:nvSpPr>
        <p:spPr>
          <a:xfrm>
            <a:off x="640080" y="3520440"/>
            <a:ext cx="3200400" cy="1005840"/>
          </a:xfrm>
          <a:prstGeom prst="rect">
            <a:avLst/>
          </a:prstGeom>
          <a:noFill/>
        </p:spPr>
        <p:txBody>
          <a:bodyPr wrap="square" lIns="0" tIns="0" rIns="0" bIns="0" anchor="t">
            <a:spAutoFit/>
          </a:bodyPr>
          <a:lstStyle/>
          <a:p>
            <a:pPr algn="l">
              <a:spcAft>
                <a:spcPts val="500"/>
              </a:spcAft>
            </a:pPr>
            <a:r>
              <a:rPr sz="1200" b="0" i="1">
                <a:solidFill>
                  <a:srgbClr val="D6D6DF"/>
                </a:solidFill>
              </a:rPr>
              <a:t>[A line or two on what this is.]</a:t>
            </a:r>
          </a:p>
        </p:txBody>
      </p:sp>
      <p:sp>
        <p:nvSpPr>
          <p:cNvPr id="13" name="Rounded Rectangle 12"/>
          <p:cNvSpPr/>
          <p:nvPr/>
        </p:nvSpPr>
        <p:spPr>
          <a:xfrm>
            <a:off x="4892040" y="1170000"/>
            <a:ext cx="3346380" cy="50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a:solidFill>
                  <a:srgbClr val="60607D"/>
                </a:solidFill>
              </a:rPr>
              <a:t>Phase 1</a:t>
            </a:r>
          </a:p>
          <a:p>
            <a:pPr algn="l">
              <a:spcBef>
                <a:spcPts val="400"/>
              </a:spcBef>
              <a:spcAft>
                <a:spcPts val="200"/>
              </a:spcAft>
            </a:pPr>
            <a:r>
              <a:rPr sz="1200" b="1" i="0">
                <a:solidFill>
                  <a:srgbClr val="000000"/>
                </a:solidFill>
              </a:rPr>
              <a:t>[Add a heading]</a:t>
            </a:r>
          </a:p>
          <a:p>
            <a:pPr algn="l">
              <a:spcAft>
                <a:spcPts val="500"/>
              </a:spcAft>
            </a:pPr>
            <a:r>
              <a:rPr sz="1200" b="0" i="1">
                <a:solidFill>
                  <a:srgbClr val="60607D"/>
                </a:solidFill>
              </a:rPr>
              <a:t>[Put here: what it is, in a sentence or two.]</a:t>
            </a:r>
          </a:p>
          <a:p>
            <a:pPr algn="l">
              <a:spcBef>
                <a:spcPts val="400"/>
              </a:spcBef>
              <a:spcAft>
                <a:spcPts val="200"/>
              </a:spcAft>
            </a:pPr>
            <a:r>
              <a:rPr sz="1200" b="1" i="0">
                <a:solidFill>
                  <a:srgbClr val="000000"/>
                </a:solidFill>
              </a:rPr>
              <a:t>[Add a heading]</a:t>
            </a:r>
          </a:p>
          <a:p>
            <a:pPr algn="l">
              <a:spcAft>
                <a:spcPts val="500"/>
              </a:spcAft>
            </a:pPr>
            <a:r>
              <a:rPr sz="1200" b="0" i="1">
                <a:solidFill>
                  <a:srgbClr val="60607D"/>
                </a:solidFill>
              </a:rPr>
              <a:t>[Put here: bullets.]</a:t>
            </a:r>
          </a:p>
        </p:txBody>
      </p:sp>
      <p:sp>
        <p:nvSpPr>
          <p:cNvPr id="14" name="Rounded Rectangle 13"/>
          <p:cNvSpPr/>
          <p:nvPr/>
        </p:nvSpPr>
        <p:spPr>
          <a:xfrm>
            <a:off x="8388420" y="1170000"/>
            <a:ext cx="3346380" cy="50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a:solidFill>
                  <a:srgbClr val="60607D"/>
                </a:solidFill>
              </a:rPr>
              <a:t>Phase 2</a:t>
            </a:r>
          </a:p>
          <a:p>
            <a:pPr algn="l">
              <a:spcBef>
                <a:spcPts val="400"/>
              </a:spcBef>
              <a:spcAft>
                <a:spcPts val="200"/>
              </a:spcAft>
            </a:pPr>
            <a:r>
              <a:rPr sz="1200" b="1" i="0">
                <a:solidFill>
                  <a:srgbClr val="000000"/>
                </a:solidFill>
              </a:rPr>
              <a:t>[Add a heading]</a:t>
            </a:r>
          </a:p>
          <a:p>
            <a:pPr algn="l">
              <a:spcAft>
                <a:spcPts val="500"/>
              </a:spcAft>
            </a:pPr>
            <a:r>
              <a:rPr sz="1200" b="0" i="1">
                <a:solidFill>
                  <a:srgbClr val="60607D"/>
                </a:solidFill>
              </a:rPr>
              <a:t>[Put here: what it is, in a sentence or two.]</a:t>
            </a:r>
          </a:p>
          <a:p>
            <a:pPr algn="l">
              <a:spcBef>
                <a:spcPts val="400"/>
              </a:spcBef>
              <a:spcAft>
                <a:spcPts val="200"/>
              </a:spcAft>
            </a:pPr>
            <a:r>
              <a:rPr sz="1200" b="1" i="0">
                <a:solidFill>
                  <a:srgbClr val="000000"/>
                </a:solidFill>
              </a:rPr>
              <a:t>[Add a heading]</a:t>
            </a:r>
          </a:p>
          <a:p>
            <a:pPr algn="l">
              <a:spcAft>
                <a:spcPts val="500"/>
              </a:spcAft>
            </a:pPr>
            <a:r>
              <a:rPr sz="1200" b="0" i="1">
                <a:solidFill>
                  <a:srgbClr val="60607D"/>
                </a:solidFill>
              </a:rPr>
              <a:t>[Put here: bullets.]</a:t>
            </a:r>
          </a:p>
        </p:txBody>
      </p:sp>
      <p:sp>
        <p:nvSpPr>
          <p:cNvPr id="15" name="Rounded Rectangle 14"/>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wrap="square" lIns="150000" rIns="120000" rtlCol="0" anchor="ctr"/>
          <a:lstStyle/>
          <a:p>
            <a:pPr algn="l"/>
            <a:r>
              <a:rPr sz="1050" b="1" i="0">
                <a:solidFill>
                  <a:srgbClr val="FFFFFF"/>
                </a:solidFill>
              </a:rPr>
              <a:t>Owner(s)</a:t>
            </a:r>
          </a:p>
          <a:p>
            <a:pPr algn="l"/>
            <a:r>
              <a:rPr sz="900" b="0" i="1">
                <a:solidFill>
                  <a:srgbClr val="D6D6DF"/>
                </a:solidFill>
              </a:rPr>
              <a:t>[Names]</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 name="Picture 4" descr="f_hero_library.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endParaRP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[Add a header]</a:t>
            </a:r>
          </a:p>
        </p:txBody>
      </p:sp>
      <p:sp>
        <p:nvSpPr>
          <p:cNvPr id="4" name="Text Placeholder 3"/>
          <p:cNvSpPr>
            <a:spLocks noGrp="1"/>
          </p:cNvSpPr>
          <p:nvPr>
            <p:ph type="body" sz="quarter" idx="12"/>
          </p:nvPr>
        </p:nvSpPr>
        <p:spPr>
          <a:xfrm>
            <a:off x="457200" y="170000"/>
            <a:ext cx="8000000" cy="182880"/>
          </a:xfrm>
        </p:spPr>
        <p:txBody>
          <a:bodyPr/>
          <a:lstStyle/>
          <a:p>
            <a:r>
              <a:rPr>
                <a:solidFill>
                  <a:srgbClr val="0391F2"/>
                </a:solidFill>
              </a:rPr>
              <a:t>TEMPLATE · 2 COLUMNS · SUPPORTING DETAIL</a:t>
            </a:r>
          </a:p>
        </p:txBody>
      </p:sp>
      <p:sp>
        <p:nvSpPr>
          <p:cNvPr id="7" name="Rounded Rectangle 6"/>
          <p:cNvSpPr/>
          <p:nvPr/>
        </p:nvSpPr>
        <p:spPr>
          <a:xfrm>
            <a:off x="457200" y="1170000"/>
            <a:ext cx="5563800" cy="50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000000"/>
                </a:solidFill>
              </a:rPr>
              <a:t>[Add a header]</a:t>
            </a:r>
          </a:p>
          <a:p>
            <a:pPr algn="l">
              <a:spcAft>
                <a:spcPts val="500"/>
              </a:spcAft>
            </a:pPr>
            <a:r>
              <a:rPr sz="1200" b="0" i="1">
                <a:solidFill>
                  <a:srgbClr val="60607D"/>
                </a:solidFill>
              </a:rPr>
              <a:t>[Put here: a name, a line on what it is, and a few key points.]</a:t>
            </a:r>
          </a:p>
        </p:txBody>
      </p:sp>
      <p:sp>
        <p:nvSpPr>
          <p:cNvPr id="8" name="Rounded Rectangle 7"/>
          <p:cNvSpPr/>
          <p:nvPr/>
        </p:nvSpPr>
        <p:spPr>
          <a:xfrm>
            <a:off x="6171000" y="1170000"/>
            <a:ext cx="5563800" cy="50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000000"/>
                </a:solidFill>
              </a:rPr>
              <a:t>[Add a header]</a:t>
            </a:r>
          </a:p>
          <a:p>
            <a:pPr algn="l">
              <a:spcAft>
                <a:spcPts val="500"/>
              </a:spcAft>
            </a:pPr>
            <a:r>
              <a:rPr sz="1200" b="0" i="1">
                <a:solidFill>
                  <a:srgbClr val="60607D"/>
                </a:solidFill>
              </a:rPr>
              <a:t>[Put here: a name, a line on what it is, and a few key points.]</a:t>
            </a:r>
          </a:p>
        </p:txBody>
      </p:sp>
      <p:sp>
        <p:nvSpPr>
          <p:cNvPr id="9" name="Rounded Rectangle 8"/>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wrap="square" lIns="150000" rIns="120000" rtlCol="0" anchor="ctr"/>
          <a:lstStyle/>
          <a:p>
            <a:pPr algn="l"/>
            <a:r>
              <a:rPr sz="1050" b="1" i="0">
                <a:solidFill>
                  <a:srgbClr val="FFFFFF"/>
                </a:solidFill>
              </a:rPr>
              <a:t>Owner(s)</a:t>
            </a:r>
          </a:p>
          <a:p>
            <a:pPr algn="l"/>
            <a:r>
              <a:rPr sz="900" b="0" i="1">
                <a:solidFill>
                  <a:srgbClr val="D6D6DF"/>
                </a:solidFill>
              </a:rPr>
              <a:t>[Names]</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 name="Picture 4" descr="f_hero_library.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endParaRP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[Add a header]</a:t>
            </a:r>
          </a:p>
        </p:txBody>
      </p:sp>
      <p:sp>
        <p:nvSpPr>
          <p:cNvPr id="4" name="Text Placeholder 3"/>
          <p:cNvSpPr>
            <a:spLocks noGrp="1"/>
          </p:cNvSpPr>
          <p:nvPr>
            <p:ph type="body" sz="quarter" idx="12"/>
          </p:nvPr>
        </p:nvSpPr>
        <p:spPr>
          <a:xfrm>
            <a:off x="457200" y="170000"/>
            <a:ext cx="8000000" cy="182880"/>
          </a:xfrm>
        </p:spPr>
        <p:txBody>
          <a:bodyPr/>
          <a:lstStyle/>
          <a:p>
            <a:r>
              <a:rPr>
                <a:solidFill>
                  <a:srgbClr val="0391F2"/>
                </a:solidFill>
              </a:rPr>
              <a:t>TEMPLATE · TWO SIDES · SUPPORTING DETAIL</a:t>
            </a:r>
          </a:p>
        </p:txBody>
      </p:sp>
      <p:sp>
        <p:nvSpPr>
          <p:cNvPr id="7" name="Rounded Rectangle 6"/>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wrap="square" lIns="150000" rIns="120000" rtlCol="0" anchor="ctr"/>
          <a:lstStyle/>
          <a:p>
            <a:pPr algn="l"/>
            <a:r>
              <a:rPr sz="1050" b="1" i="0">
                <a:solidFill>
                  <a:srgbClr val="FFFFFF"/>
                </a:solidFill>
              </a:rPr>
              <a:t>Owner(s)</a:t>
            </a:r>
          </a:p>
          <a:p>
            <a:pPr algn="l"/>
            <a:r>
              <a:rPr sz="900" b="0" i="1">
                <a:solidFill>
                  <a:srgbClr val="D6D6DF"/>
                </a:solidFill>
              </a:rPr>
              <a:t>[Names]</a:t>
            </a:r>
          </a:p>
        </p:txBody>
      </p:sp>
      <p:sp>
        <p:nvSpPr>
          <p:cNvPr id="8" name="TextBox 7"/>
          <p:cNvSpPr txBox="1"/>
          <p:nvPr/>
        </p:nvSpPr>
        <p:spPr>
          <a:xfrm>
            <a:off x="457200" y="1150000"/>
            <a:ext cx="11277600" cy="365760"/>
          </a:xfrm>
          <a:prstGeom prst="rect">
            <a:avLst/>
          </a:prstGeom>
          <a:noFill/>
        </p:spPr>
        <p:txBody>
          <a:bodyPr wrap="square" lIns="0" tIns="0" rIns="0" bIns="0" anchor="t">
            <a:spAutoFit/>
          </a:bodyPr>
          <a:lstStyle/>
          <a:p>
            <a:pPr algn="l">
              <a:spcAft>
                <a:spcPts val="500"/>
              </a:spcAft>
            </a:pPr>
            <a:r>
              <a:rPr sz="1250" b="0" i="1">
                <a:solidFill>
                  <a:srgbClr val="60607D"/>
                </a:solidFill>
              </a:rPr>
              <a:t>[Put here: one line on what this slide shows.]</a:t>
            </a:r>
          </a:p>
        </p:txBody>
      </p:sp>
      <p:sp>
        <p:nvSpPr>
          <p:cNvPr id="9" name="Rounded Rectangle 8"/>
          <p:cNvSpPr/>
          <p:nvPr/>
        </p:nvSpPr>
        <p:spPr>
          <a:xfrm>
            <a:off x="457200" y="1627200"/>
            <a:ext cx="5228800" cy="33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000000"/>
                </a:solidFill>
              </a:rPr>
              <a:t>[Side A: for example, how it works today]</a:t>
            </a:r>
          </a:p>
          <a:p>
            <a:pPr algn="l">
              <a:spcAft>
                <a:spcPts val="500"/>
              </a:spcAft>
            </a:pPr>
            <a:r>
              <a:rPr sz="1300" b="0" i="1">
                <a:solidFill>
                  <a:srgbClr val="60607D"/>
                </a:solidFill>
              </a:rPr>
              <a:t>[Put here: short bullets.]</a:t>
            </a:r>
          </a:p>
        </p:txBody>
      </p:sp>
      <p:sp>
        <p:nvSpPr>
          <p:cNvPr id="10" name="Rounded Rectangle 9"/>
          <p:cNvSpPr/>
          <p:nvPr/>
        </p:nvSpPr>
        <p:spPr>
          <a:xfrm>
            <a:off x="6506000" y="1627200"/>
            <a:ext cx="5228800" cy="3300000"/>
          </a:xfrm>
          <a:prstGeom prst="roundRect">
            <a:avLst>
              <a:gd name="adj" fmla="val 3200"/>
            </a:avLst>
          </a:prstGeom>
          <a:solidFill>
            <a:srgbClr val="000000"/>
          </a:solidFill>
          <a:ln>
            <a:no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D6D6DF"/>
                </a:solidFill>
              </a:rPr>
              <a:t>[Side B: for example, how it will work]</a:t>
            </a:r>
          </a:p>
          <a:p>
            <a:pPr algn="l">
              <a:spcAft>
                <a:spcPts val="500"/>
              </a:spcAft>
            </a:pPr>
            <a:r>
              <a:rPr sz="1300" b="0" i="1">
                <a:solidFill>
                  <a:srgbClr val="D6D6DF"/>
                </a:solidFill>
              </a:rPr>
              <a:t>[Put here: short bullets.]</a:t>
            </a:r>
          </a:p>
        </p:txBody>
      </p:sp>
      <p:sp>
        <p:nvSpPr>
          <p:cNvPr id="11" name="Right Arrow 10"/>
          <p:cNvSpPr/>
          <p:nvPr/>
        </p:nvSpPr>
        <p:spPr>
          <a:xfrm>
            <a:off x="5836000" y="3137200"/>
            <a:ext cx="670000" cy="280000"/>
          </a:xfrm>
          <a:prstGeom prst="rightArrow">
            <a:avLst/>
          </a:prstGeom>
          <a:solidFill>
            <a:srgbClr val="D6D6DF"/>
          </a:solidFill>
          <a:ln>
            <a:noFill/>
          </a:ln>
        </p:spPr>
        <p:txBody>
          <a:bodyPr rtlCol="0" anchor="ctr"/>
          <a:lstStyle/>
          <a:p>
            <a:pPr algn="ctr"/>
            <a:endParaRPr/>
          </a:p>
        </p:txBody>
      </p:sp>
      <p:sp>
        <p:nvSpPr>
          <p:cNvPr id="12" name="Rounded Rectangle 11"/>
          <p:cNvSpPr/>
          <p:nvPr/>
        </p:nvSpPr>
        <p:spPr>
          <a:xfrm>
            <a:off x="457200" y="5450000"/>
            <a:ext cx="11277600" cy="800000"/>
          </a:xfrm>
          <a:prstGeom prst="roundRect">
            <a:avLst>
              <a:gd name="adj" fmla="val 6000"/>
            </a:avLst>
          </a:prstGeom>
          <a:solidFill>
            <a:srgbClr val="000000"/>
          </a:solidFill>
          <a:ln>
            <a:noFill/>
          </a:ln>
          <a:effectLst>
            <a:outerShdw blurRad="190500" dist="50800" dir="5400000" algn="t" rotWithShape="0">
              <a:srgbClr val="000000">
                <a:alpha val="13000"/>
              </a:srgbClr>
            </a:outerShdw>
          </a:effectLst>
        </p:spPr>
        <p:txBody>
          <a:bodyPr wrap="square" lIns="300000" tIns="50000" rIns="300000" bIns="50000" rtlCol="0" anchor="ctr"/>
          <a:lstStyle/>
          <a:p>
            <a:pPr algn="l"/>
            <a:r>
              <a:rPr sz="900" b="1" i="0" cap="all" spc="100">
                <a:solidFill>
                  <a:srgbClr val="D6D6DF"/>
                </a:solidFill>
              </a:rPr>
              <a:t>So what</a:t>
            </a:r>
          </a:p>
          <a:p>
            <a:pPr algn="l"/>
            <a:r>
              <a:rPr sz="1400" b="0" i="1">
                <a:solidFill>
                  <a:srgbClr val="D6D6DF"/>
                </a:solidFill>
              </a:rPr>
              <a:t>[Optional: the one thing to take away from the comparison.]</a:t>
            </a: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f_hero_library.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endParaRPr/>
          </a:p>
        </p:txBody>
      </p:sp>
      <p:pic>
        <p:nvPicPr>
          <p:cNvPr id="7" name="Picture 6" descr="f_sf_library_3657600.jpg"/>
          <p:cNvPicPr>
            <a:picLocks noChangeAspect="1"/>
          </p:cNvPicPr>
          <p:nvPr/>
        </p:nvPicPr>
        <p:blipFill>
          <a:blip r:embed="rId3"/>
          <a:stretch>
            <a:fillRect/>
          </a:stretch>
        </p:blipFill>
        <p:spPr>
          <a:xfrm>
            <a:off x="0" y="0"/>
            <a:ext cx="3657600" cy="6858000"/>
          </a:xfrm>
          <a:prstGeom prst="rect">
            <a:avLst/>
          </a:prstGeom>
        </p:spPr>
      </p:pic>
      <p:sp>
        <p:nvSpPr>
          <p:cNvPr id="8" name="Rectangle 7"/>
          <p:cNvSpPr/>
          <p:nvPr/>
        </p:nvSpPr>
        <p:spPr>
          <a:xfrm>
            <a:off x="0" y="0"/>
            <a:ext cx="3657600" cy="6858000"/>
          </a:xfrm>
          <a:prstGeom prst="rect">
            <a:avLst/>
          </a:prstGeom>
          <a:gradFill rotWithShape="1">
            <a:gsLst>
              <a:gs pos="0">
                <a:srgbClr val="000000">
                  <a:alpha val="70000"/>
                </a:srgbClr>
              </a:gs>
              <a:gs pos="50000">
                <a:srgbClr val="000000">
                  <a:alpha val="55000"/>
                </a:srgbClr>
              </a:gs>
              <a:gs pos="100000">
                <a:srgbClr val="000000">
                  <a:alpha val="85000"/>
                </a:srgbClr>
              </a:gs>
            </a:gsLst>
            <a:lin ang="5400000" scaled="0"/>
          </a:gradFill>
          <a:ln>
            <a:noFill/>
          </a:ln>
        </p:spPr>
        <p:txBody>
          <a:bodyPr rtlCol="0" anchor="ctr"/>
          <a:lstStyle/>
          <a:p>
            <a:pPr algn="ctr"/>
            <a:endParaRPr/>
          </a:p>
        </p:txBody>
      </p:sp>
      <p:sp>
        <p:nvSpPr>
          <p:cNvPr id="9" name="Rounded Rectangle 8"/>
          <p:cNvSpPr/>
          <p:nvPr/>
        </p:nvSpPr>
        <p:spPr>
          <a:xfrm>
            <a:off x="274320" y="1371600"/>
            <a:ext cx="3108960" cy="4480560"/>
          </a:xfrm>
          <a:prstGeom prst="roundRect">
            <a:avLst>
              <a:gd name="adj" fmla="val 4000"/>
            </a:avLst>
          </a:prstGeom>
          <a:solidFill>
            <a:srgbClr val="000000">
              <a:alpha val="62000"/>
            </a:srgbClr>
          </a:solidFill>
          <a:ln>
            <a:noFill/>
          </a:ln>
        </p:spPr>
        <p:txBody>
          <a:bodyPr rtlCol="0" anchor="ctr"/>
          <a:lstStyle/>
          <a:p>
            <a:pPr algn="ctr"/>
            <a:endParaRPr/>
          </a:p>
        </p:txBody>
      </p:sp>
      <p:sp>
        <p:nvSpPr>
          <p:cNvPr id="3" name="Title 2"/>
          <p:cNvSpPr>
            <a:spLocks noGrp="1"/>
          </p:cNvSpPr>
          <p:nvPr>
            <p:ph type="title"/>
          </p:nvPr>
        </p:nvSpPr>
        <p:spPr>
          <a:xfrm>
            <a:off x="4023360" y="300000"/>
            <a:ext cx="4776640" cy="560000"/>
          </a:xfrm>
        </p:spPr>
        <p:txBody>
          <a:bodyPr/>
          <a:lstStyle/>
          <a:p>
            <a:r>
              <a:rPr sz="2400">
                <a:solidFill>
                  <a:srgbClr val="FFFFFF"/>
                </a:solidFill>
              </a:rPr>
              <a:t>[Add a header]</a:t>
            </a:r>
          </a:p>
        </p:txBody>
      </p:sp>
      <p:sp>
        <p:nvSpPr>
          <p:cNvPr id="4" name="Text Placeholder 3"/>
          <p:cNvSpPr>
            <a:spLocks noGrp="1"/>
          </p:cNvSpPr>
          <p:nvPr>
            <p:ph type="body" sz="quarter" idx="12"/>
          </p:nvPr>
        </p:nvSpPr>
        <p:spPr>
          <a:xfrm>
            <a:off x="4023360" y="170000"/>
            <a:ext cx="8000000" cy="182880"/>
          </a:xfrm>
        </p:spPr>
        <p:txBody>
          <a:bodyPr/>
          <a:lstStyle/>
          <a:p>
            <a:r>
              <a:rPr>
                <a:solidFill>
                  <a:srgbClr val="0391F2"/>
                </a:solidFill>
              </a:rPr>
              <a:t>TEMPLATE · GOAL AND THREE PILLARS · DETAIL</a:t>
            </a:r>
          </a:p>
        </p:txBody>
      </p:sp>
      <p:sp>
        <p:nvSpPr>
          <p:cNvPr id="10" name="TextBox 9"/>
          <p:cNvSpPr txBox="1"/>
          <p:nvPr/>
        </p:nvSpPr>
        <p:spPr>
          <a:xfrm>
            <a:off x="502920" y="1554480"/>
            <a:ext cx="2651760" cy="228600"/>
          </a:xfrm>
          <a:prstGeom prst="rect">
            <a:avLst/>
          </a:prstGeom>
          <a:noFill/>
        </p:spPr>
        <p:txBody>
          <a:bodyPr wrap="square" lIns="0" tIns="0" rIns="0" bIns="0" anchor="t">
            <a:spAutoFit/>
          </a:bodyPr>
          <a:lstStyle/>
          <a:p>
            <a:pPr algn="l">
              <a:spcBef>
                <a:spcPts val="200"/>
              </a:spcBef>
              <a:spcAft>
                <a:spcPts val="200"/>
              </a:spcAft>
            </a:pPr>
            <a:r>
              <a:rPr sz="850" b="1" i="0" cap="all" spc="100">
                <a:solidFill>
                  <a:srgbClr val="D6D6DF"/>
                </a:solidFill>
              </a:rPr>
              <a:t>[EYEBROW]</a:t>
            </a:r>
          </a:p>
        </p:txBody>
      </p:sp>
      <p:sp>
        <p:nvSpPr>
          <p:cNvPr id="11" name="Oval 10"/>
          <p:cNvSpPr/>
          <p:nvPr/>
        </p:nvSpPr>
        <p:spPr>
          <a:xfrm>
            <a:off x="502920" y="2020824"/>
            <a:ext cx="146304" cy="146304"/>
          </a:xfrm>
          <a:prstGeom prst="ellipse">
            <a:avLst/>
          </a:prstGeom>
          <a:solidFill>
            <a:srgbClr val="FFFFFF"/>
          </a:solidFill>
          <a:ln>
            <a:noFill/>
          </a:ln>
        </p:spPr>
        <p:txBody>
          <a:bodyPr rtlCol="0" anchor="ctr"/>
          <a:lstStyle/>
          <a:p>
            <a:pPr algn="ctr"/>
            <a:endParaRPr/>
          </a:p>
        </p:txBody>
      </p:sp>
      <p:sp>
        <p:nvSpPr>
          <p:cNvPr id="12" name="TextBox 11"/>
          <p:cNvSpPr txBox="1"/>
          <p:nvPr/>
        </p:nvSpPr>
        <p:spPr>
          <a:xfrm>
            <a:off x="777240" y="1965960"/>
            <a:ext cx="2377440" cy="1188720"/>
          </a:xfrm>
          <a:prstGeom prst="rect">
            <a:avLst/>
          </a:prstGeom>
          <a:noFill/>
        </p:spPr>
        <p:txBody>
          <a:bodyPr wrap="square" lIns="0" tIns="0" rIns="0" bIns="0" anchor="t">
            <a:spAutoFit/>
          </a:bodyPr>
          <a:lstStyle/>
          <a:p>
            <a:pPr algn="l">
              <a:spcBef>
                <a:spcPts val="400"/>
              </a:spcBef>
              <a:spcAft>
                <a:spcPts val="200"/>
              </a:spcAft>
            </a:pPr>
            <a:r>
              <a:rPr sz="1200" b="1" i="0">
                <a:solidFill>
                  <a:srgbClr val="FFFFFF"/>
                </a:solidFill>
              </a:rPr>
              <a:t>[When]</a:t>
            </a:r>
          </a:p>
          <a:p>
            <a:pPr algn="l">
              <a:spcAft>
                <a:spcPts val="500"/>
              </a:spcAft>
            </a:pPr>
            <a:r>
              <a:rPr sz="1200" b="0" i="1">
                <a:solidFill>
                  <a:srgbClr val="D6D6DF"/>
                </a:solidFill>
              </a:rPr>
              <a:t>[Put here: what happens then.]</a:t>
            </a:r>
          </a:p>
        </p:txBody>
      </p:sp>
      <p:sp>
        <p:nvSpPr>
          <p:cNvPr id="13" name="Oval 12"/>
          <p:cNvSpPr/>
          <p:nvPr/>
        </p:nvSpPr>
        <p:spPr>
          <a:xfrm>
            <a:off x="502920" y="3282696"/>
            <a:ext cx="146304" cy="146304"/>
          </a:xfrm>
          <a:prstGeom prst="ellipse">
            <a:avLst/>
          </a:prstGeom>
          <a:solidFill>
            <a:srgbClr val="FFFFFF"/>
          </a:solidFill>
          <a:ln>
            <a:noFill/>
          </a:ln>
        </p:spPr>
        <p:txBody>
          <a:bodyPr rtlCol="0" anchor="ctr"/>
          <a:lstStyle/>
          <a:p>
            <a:pPr algn="ctr"/>
            <a:endParaRPr/>
          </a:p>
        </p:txBody>
      </p:sp>
      <p:sp>
        <p:nvSpPr>
          <p:cNvPr id="14" name="TextBox 13"/>
          <p:cNvSpPr txBox="1"/>
          <p:nvPr/>
        </p:nvSpPr>
        <p:spPr>
          <a:xfrm>
            <a:off x="777240" y="3227832"/>
            <a:ext cx="2377440" cy="1188720"/>
          </a:xfrm>
          <a:prstGeom prst="rect">
            <a:avLst/>
          </a:prstGeom>
          <a:noFill/>
        </p:spPr>
        <p:txBody>
          <a:bodyPr wrap="square" lIns="0" tIns="0" rIns="0" bIns="0" anchor="t">
            <a:spAutoFit/>
          </a:bodyPr>
          <a:lstStyle/>
          <a:p>
            <a:pPr algn="l">
              <a:spcBef>
                <a:spcPts val="400"/>
              </a:spcBef>
              <a:spcAft>
                <a:spcPts val="200"/>
              </a:spcAft>
            </a:pPr>
            <a:r>
              <a:rPr sz="1200" b="1" i="0">
                <a:solidFill>
                  <a:srgbClr val="FFFFFF"/>
                </a:solidFill>
              </a:rPr>
              <a:t>[When]</a:t>
            </a:r>
          </a:p>
          <a:p>
            <a:pPr algn="l">
              <a:spcAft>
                <a:spcPts val="500"/>
              </a:spcAft>
            </a:pPr>
            <a:r>
              <a:rPr sz="1200" b="0" i="1">
                <a:solidFill>
                  <a:srgbClr val="D6D6DF"/>
                </a:solidFill>
              </a:rPr>
              <a:t>[Put here: what happens then.]</a:t>
            </a:r>
          </a:p>
        </p:txBody>
      </p:sp>
      <p:sp>
        <p:nvSpPr>
          <p:cNvPr id="15" name="Oval 14"/>
          <p:cNvSpPr/>
          <p:nvPr/>
        </p:nvSpPr>
        <p:spPr>
          <a:xfrm>
            <a:off x="502920" y="4544568"/>
            <a:ext cx="146304" cy="146304"/>
          </a:xfrm>
          <a:prstGeom prst="ellipse">
            <a:avLst/>
          </a:prstGeom>
          <a:solidFill>
            <a:srgbClr val="FFFFFF"/>
          </a:solidFill>
          <a:ln>
            <a:noFill/>
          </a:ln>
        </p:spPr>
        <p:txBody>
          <a:bodyPr rtlCol="0" anchor="ctr"/>
          <a:lstStyle/>
          <a:p>
            <a:pPr algn="ctr"/>
            <a:endParaRPr/>
          </a:p>
        </p:txBody>
      </p:sp>
      <p:sp>
        <p:nvSpPr>
          <p:cNvPr id="16" name="TextBox 15"/>
          <p:cNvSpPr txBox="1"/>
          <p:nvPr/>
        </p:nvSpPr>
        <p:spPr>
          <a:xfrm>
            <a:off x="777240" y="4489704"/>
            <a:ext cx="2377440" cy="1188720"/>
          </a:xfrm>
          <a:prstGeom prst="rect">
            <a:avLst/>
          </a:prstGeom>
          <a:noFill/>
        </p:spPr>
        <p:txBody>
          <a:bodyPr wrap="square" lIns="0" tIns="0" rIns="0" bIns="0" anchor="t">
            <a:spAutoFit/>
          </a:bodyPr>
          <a:lstStyle/>
          <a:p>
            <a:pPr algn="l">
              <a:spcBef>
                <a:spcPts val="400"/>
              </a:spcBef>
              <a:spcAft>
                <a:spcPts val="200"/>
              </a:spcAft>
            </a:pPr>
            <a:r>
              <a:rPr sz="1200" b="1" i="0">
                <a:solidFill>
                  <a:srgbClr val="FFFFFF"/>
                </a:solidFill>
              </a:rPr>
              <a:t>[When]</a:t>
            </a:r>
          </a:p>
          <a:p>
            <a:pPr algn="l">
              <a:spcAft>
                <a:spcPts val="500"/>
              </a:spcAft>
            </a:pPr>
            <a:r>
              <a:rPr sz="1200" b="0" i="1">
                <a:solidFill>
                  <a:srgbClr val="D6D6DF"/>
                </a:solidFill>
              </a:rPr>
              <a:t>[Put here: what happens then.]</a:t>
            </a:r>
          </a:p>
        </p:txBody>
      </p:sp>
      <p:sp>
        <p:nvSpPr>
          <p:cNvPr id="17" name="Rounded Rectangle 16"/>
          <p:cNvSpPr/>
          <p:nvPr/>
        </p:nvSpPr>
        <p:spPr>
          <a:xfrm>
            <a:off x="4023360" y="1170000"/>
            <a:ext cx="7711440" cy="6858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28600" tIns="54864" rIns="228600" bIns="36576" rtlCol="0" anchor="ctr"/>
          <a:lstStyle/>
          <a:p>
            <a:pPr algn="l">
              <a:spcBef>
                <a:spcPts val="200"/>
              </a:spcBef>
              <a:spcAft>
                <a:spcPts val="200"/>
              </a:spcAft>
            </a:pPr>
            <a:r>
              <a:rPr sz="850" b="1" i="0" cap="all" spc="100">
                <a:solidFill>
                  <a:srgbClr val="60607D"/>
                </a:solidFill>
              </a:rPr>
              <a:t>The goal</a:t>
            </a:r>
          </a:p>
          <a:p>
            <a:pPr algn="l">
              <a:spcAft>
                <a:spcPts val="500"/>
              </a:spcAft>
            </a:pPr>
            <a:r>
              <a:rPr sz="1200" b="0" i="1">
                <a:solidFill>
                  <a:srgbClr val="60607D"/>
                </a:solidFill>
              </a:rPr>
              <a:t>[Put here: the goal in one sentence.]</a:t>
            </a:r>
          </a:p>
        </p:txBody>
      </p:sp>
      <p:sp>
        <p:nvSpPr>
          <p:cNvPr id="18" name="Rounded Rectangle 17"/>
          <p:cNvSpPr/>
          <p:nvPr/>
        </p:nvSpPr>
        <p:spPr>
          <a:xfrm>
            <a:off x="4023360" y="1947240"/>
            <a:ext cx="2470480" cy="320276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46304" tIns="91440" rIns="109728" bIns="36576" rtlCol="0" anchor="t"/>
          <a:lstStyle/>
          <a:p>
            <a:pPr algn="l">
              <a:spcAft>
                <a:spcPts val="600"/>
              </a:spcAft>
            </a:pPr>
            <a:r>
              <a:rPr sz="1100" b="1" i="0" cap="all" spc="60">
                <a:solidFill>
                  <a:srgbClr val="000000"/>
                </a:solidFill>
              </a:rPr>
              <a:t>[Pillar or area]</a:t>
            </a:r>
          </a:p>
          <a:p>
            <a:pPr algn="l">
              <a:spcAft>
                <a:spcPts val="500"/>
              </a:spcAft>
            </a:pPr>
            <a:r>
              <a:rPr sz="1100" b="0" i="1">
                <a:solidFill>
                  <a:srgbClr val="60607D"/>
                </a:solidFill>
              </a:rPr>
              <a:t>[Put here: what it is and why, in a few sentences.]</a:t>
            </a:r>
          </a:p>
          <a:p>
            <a:pPr algn="l">
              <a:spcBef>
                <a:spcPts val="400"/>
              </a:spcBef>
              <a:spcAft>
                <a:spcPts val="200"/>
              </a:spcAft>
            </a:pPr>
            <a:r>
              <a:rPr sz="1100" b="1" i="0">
                <a:solidFill>
                  <a:srgbClr val="000000"/>
                </a:solidFill>
              </a:rPr>
              <a:t>[Where it stands]</a:t>
            </a:r>
          </a:p>
          <a:p>
            <a:pPr algn="l">
              <a:spcAft>
                <a:spcPts val="500"/>
              </a:spcAft>
            </a:pPr>
            <a:r>
              <a:rPr sz="1100" b="0" i="1">
                <a:solidFill>
                  <a:srgbClr val="60607D"/>
                </a:solidFill>
              </a:rPr>
              <a:t>[Put here: the current status, in a sentence or two.]</a:t>
            </a:r>
          </a:p>
        </p:txBody>
      </p:sp>
      <p:sp>
        <p:nvSpPr>
          <p:cNvPr id="19" name="Rounded Rectangle 18"/>
          <p:cNvSpPr/>
          <p:nvPr/>
        </p:nvSpPr>
        <p:spPr>
          <a:xfrm>
            <a:off x="6643840" y="1947240"/>
            <a:ext cx="2470480" cy="320276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46304" tIns="91440" rIns="109728" bIns="36576" rtlCol="0" anchor="t"/>
          <a:lstStyle/>
          <a:p>
            <a:pPr algn="l">
              <a:spcAft>
                <a:spcPts val="600"/>
              </a:spcAft>
            </a:pPr>
            <a:r>
              <a:rPr sz="1100" b="1" i="0" cap="all" spc="60">
                <a:solidFill>
                  <a:srgbClr val="000000"/>
                </a:solidFill>
              </a:rPr>
              <a:t>[Pillar or area]</a:t>
            </a:r>
          </a:p>
          <a:p>
            <a:pPr algn="l">
              <a:spcAft>
                <a:spcPts val="500"/>
              </a:spcAft>
            </a:pPr>
            <a:r>
              <a:rPr sz="1100" b="0" i="1">
                <a:solidFill>
                  <a:srgbClr val="60607D"/>
                </a:solidFill>
              </a:rPr>
              <a:t>[Put here: what it is and why, in a few sentences.]</a:t>
            </a:r>
          </a:p>
          <a:p>
            <a:pPr algn="l">
              <a:spcBef>
                <a:spcPts val="400"/>
              </a:spcBef>
              <a:spcAft>
                <a:spcPts val="200"/>
              </a:spcAft>
            </a:pPr>
            <a:r>
              <a:rPr sz="1100" b="1" i="0">
                <a:solidFill>
                  <a:srgbClr val="000000"/>
                </a:solidFill>
              </a:rPr>
              <a:t>[Where it stands]</a:t>
            </a:r>
          </a:p>
          <a:p>
            <a:pPr algn="l">
              <a:spcAft>
                <a:spcPts val="500"/>
              </a:spcAft>
            </a:pPr>
            <a:r>
              <a:rPr sz="1100" b="0" i="1">
                <a:solidFill>
                  <a:srgbClr val="60607D"/>
                </a:solidFill>
              </a:rPr>
              <a:t>[Put here: the current status, in a sentence or two.]</a:t>
            </a:r>
          </a:p>
        </p:txBody>
      </p:sp>
      <p:sp>
        <p:nvSpPr>
          <p:cNvPr id="20" name="Rounded Rectangle 19"/>
          <p:cNvSpPr/>
          <p:nvPr/>
        </p:nvSpPr>
        <p:spPr>
          <a:xfrm>
            <a:off x="9264320" y="1947240"/>
            <a:ext cx="2470480" cy="320276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46304" tIns="91440" rIns="109728" bIns="36576" rtlCol="0" anchor="t"/>
          <a:lstStyle/>
          <a:p>
            <a:pPr algn="l">
              <a:spcAft>
                <a:spcPts val="600"/>
              </a:spcAft>
            </a:pPr>
            <a:r>
              <a:rPr sz="1100" b="1" i="0" cap="all" spc="60">
                <a:solidFill>
                  <a:srgbClr val="000000"/>
                </a:solidFill>
              </a:rPr>
              <a:t>[Pillar or area]</a:t>
            </a:r>
          </a:p>
          <a:p>
            <a:pPr algn="l">
              <a:spcAft>
                <a:spcPts val="500"/>
              </a:spcAft>
            </a:pPr>
            <a:r>
              <a:rPr sz="1100" b="0" i="1">
                <a:solidFill>
                  <a:srgbClr val="60607D"/>
                </a:solidFill>
              </a:rPr>
              <a:t>[Put here: what it is and why, in a few sentences.]</a:t>
            </a:r>
          </a:p>
          <a:p>
            <a:pPr algn="l">
              <a:spcBef>
                <a:spcPts val="400"/>
              </a:spcBef>
              <a:spcAft>
                <a:spcPts val="200"/>
              </a:spcAft>
            </a:pPr>
            <a:r>
              <a:rPr sz="1100" b="1" i="0">
                <a:solidFill>
                  <a:srgbClr val="000000"/>
                </a:solidFill>
              </a:rPr>
              <a:t>[Where it stands]</a:t>
            </a:r>
          </a:p>
          <a:p>
            <a:pPr algn="l">
              <a:spcAft>
                <a:spcPts val="500"/>
              </a:spcAft>
            </a:pPr>
            <a:r>
              <a:rPr sz="1100" b="0" i="1">
                <a:solidFill>
                  <a:srgbClr val="60607D"/>
                </a:solidFill>
              </a:rPr>
              <a:t>[Put here: the current status, in a sentence or two.]</a:t>
            </a:r>
          </a:p>
        </p:txBody>
      </p:sp>
      <p:sp>
        <p:nvSpPr>
          <p:cNvPr id="21" name="Rounded Rectangle 20"/>
          <p:cNvSpPr/>
          <p:nvPr/>
        </p:nvSpPr>
        <p:spPr>
          <a:xfrm>
            <a:off x="4023360" y="5300000"/>
            <a:ext cx="7711440" cy="950000"/>
          </a:xfrm>
          <a:prstGeom prst="roundRect">
            <a:avLst>
              <a:gd name="adj" fmla="val 6000"/>
            </a:avLst>
          </a:prstGeom>
          <a:solidFill>
            <a:srgbClr val="000000"/>
          </a:solidFill>
          <a:ln>
            <a:noFill/>
          </a:ln>
          <a:effectLst>
            <a:outerShdw blurRad="190500" dist="50800" dir="5400000" algn="t" rotWithShape="0">
              <a:srgbClr val="000000">
                <a:alpha val="13000"/>
              </a:srgbClr>
            </a:outerShdw>
          </a:effectLst>
        </p:spPr>
        <p:txBody>
          <a:bodyPr wrap="square" lIns="250000" tIns="40000" rIns="250000" bIns="40000" rtlCol="0" anchor="ctr"/>
          <a:lstStyle/>
          <a:p>
            <a:pPr algn="l"/>
            <a:r>
              <a:rPr sz="900" b="1" i="0" cap="all" spc="100">
                <a:solidFill>
                  <a:srgbClr val="D6D6DF"/>
                </a:solidFill>
              </a:rPr>
              <a:t>Key takeaway</a:t>
            </a:r>
          </a:p>
          <a:p>
            <a:pPr algn="l"/>
            <a:r>
              <a:rPr sz="1200" b="0" i="1">
                <a:solidFill>
                  <a:srgbClr val="D6D6DF"/>
                </a:solidFill>
              </a:rPr>
              <a:t>[One sentence: the key takeaway.]</a:t>
            </a:r>
          </a:p>
        </p:txBody>
      </p:sp>
      <p:sp>
        <p:nvSpPr>
          <p:cNvPr id="22" name="Rounded Rectangle 21"/>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wrap="square" lIns="150000" rIns="120000" rtlCol="0" anchor="ctr"/>
          <a:lstStyle/>
          <a:p>
            <a:pPr algn="l"/>
            <a:r>
              <a:rPr sz="1050" b="1" i="0">
                <a:solidFill>
                  <a:srgbClr val="FFFFFF"/>
                </a:solidFill>
              </a:rPr>
              <a:t>Owner(s)</a:t>
            </a:r>
          </a:p>
          <a:p>
            <a:pPr algn="l"/>
            <a:r>
              <a:rPr sz="900" b="0" i="1">
                <a:solidFill>
                  <a:srgbClr val="D6D6DF"/>
                </a:solidFill>
              </a:rPr>
              <a:t>[Names]</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 name="Picture 4" descr="f_hero_library.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endParaRP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[Add a header]</a:t>
            </a:r>
          </a:p>
        </p:txBody>
      </p:sp>
      <p:sp>
        <p:nvSpPr>
          <p:cNvPr id="4" name="Text Placeholder 3"/>
          <p:cNvSpPr>
            <a:spLocks noGrp="1"/>
          </p:cNvSpPr>
          <p:nvPr>
            <p:ph type="body" sz="quarter" idx="12"/>
          </p:nvPr>
        </p:nvSpPr>
        <p:spPr>
          <a:xfrm>
            <a:off x="457200" y="170000"/>
            <a:ext cx="8000000" cy="182880"/>
          </a:xfrm>
        </p:spPr>
        <p:txBody>
          <a:bodyPr/>
          <a:lstStyle/>
          <a:p>
            <a:r>
              <a:rPr>
                <a:solidFill>
                  <a:srgbClr val="0391F2"/>
                </a:solidFill>
              </a:rPr>
              <a:t>TEMPLATE · 3 COLUMNS · SUPPORTING DETAIL</a:t>
            </a:r>
          </a:p>
        </p:txBody>
      </p:sp>
      <p:sp>
        <p:nvSpPr>
          <p:cNvPr id="7" name="Rounded Rectangle 6"/>
          <p:cNvSpPr/>
          <p:nvPr/>
        </p:nvSpPr>
        <p:spPr>
          <a:xfrm>
            <a:off x="457200" y="1170000"/>
            <a:ext cx="3659200" cy="50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000000"/>
                </a:solidFill>
              </a:rPr>
              <a:t>[Add a header]</a:t>
            </a:r>
          </a:p>
          <a:p>
            <a:pPr algn="l">
              <a:spcAft>
                <a:spcPts val="500"/>
              </a:spcAft>
            </a:pPr>
            <a:r>
              <a:rPr sz="1200" b="0" i="1">
                <a:solidFill>
                  <a:srgbClr val="60607D"/>
                </a:solidFill>
              </a:rPr>
              <a:t>[Put here: a name, a line on what it is, and a few key points.]</a:t>
            </a:r>
          </a:p>
        </p:txBody>
      </p:sp>
      <p:sp>
        <p:nvSpPr>
          <p:cNvPr id="8" name="Rounded Rectangle 7"/>
          <p:cNvSpPr/>
          <p:nvPr/>
        </p:nvSpPr>
        <p:spPr>
          <a:xfrm>
            <a:off x="4266400" y="1170000"/>
            <a:ext cx="3659200" cy="50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000000"/>
                </a:solidFill>
              </a:rPr>
              <a:t>[Add a header]</a:t>
            </a:r>
          </a:p>
          <a:p>
            <a:pPr algn="l">
              <a:spcAft>
                <a:spcPts val="500"/>
              </a:spcAft>
            </a:pPr>
            <a:r>
              <a:rPr sz="1200" b="0" i="1">
                <a:solidFill>
                  <a:srgbClr val="60607D"/>
                </a:solidFill>
              </a:rPr>
              <a:t>[Put here: a name, a line on what it is, and a few key points.]</a:t>
            </a:r>
          </a:p>
        </p:txBody>
      </p:sp>
      <p:sp>
        <p:nvSpPr>
          <p:cNvPr id="9" name="Rounded Rectangle 8"/>
          <p:cNvSpPr/>
          <p:nvPr/>
        </p:nvSpPr>
        <p:spPr>
          <a:xfrm>
            <a:off x="8075600" y="1170000"/>
            <a:ext cx="3659200" cy="50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000000"/>
                </a:solidFill>
              </a:rPr>
              <a:t>[Add a header]</a:t>
            </a:r>
          </a:p>
          <a:p>
            <a:pPr algn="l">
              <a:spcAft>
                <a:spcPts val="500"/>
              </a:spcAft>
            </a:pPr>
            <a:r>
              <a:rPr sz="1200" b="0" i="1">
                <a:solidFill>
                  <a:srgbClr val="60607D"/>
                </a:solidFill>
              </a:rPr>
              <a:t>[Put here: a name, a line on what it is, and a few key points.]</a:t>
            </a:r>
          </a:p>
        </p:txBody>
      </p:sp>
      <p:sp>
        <p:nvSpPr>
          <p:cNvPr id="10" name="Rounded Rectangle 9"/>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wrap="square" lIns="150000" rIns="120000" rtlCol="0" anchor="ctr"/>
          <a:lstStyle/>
          <a:p>
            <a:pPr algn="l"/>
            <a:r>
              <a:rPr sz="1050" b="1" i="0">
                <a:solidFill>
                  <a:srgbClr val="FFFFFF"/>
                </a:solidFill>
              </a:rPr>
              <a:t>Owner(s)</a:t>
            </a:r>
          </a:p>
          <a:p>
            <a:pPr algn="l"/>
            <a:r>
              <a:rPr sz="900" b="0" i="1">
                <a:solidFill>
                  <a:srgbClr val="D6D6DF"/>
                </a:solidFill>
              </a:rPr>
              <a:t>[Names]</a:t>
            </a: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 name="Picture 4" descr="f_hero_library.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endParaRP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[Add a header]</a:t>
            </a:r>
          </a:p>
        </p:txBody>
      </p:sp>
      <p:sp>
        <p:nvSpPr>
          <p:cNvPr id="4" name="Text Placeholder 3"/>
          <p:cNvSpPr>
            <a:spLocks noGrp="1"/>
          </p:cNvSpPr>
          <p:nvPr>
            <p:ph type="body" sz="quarter" idx="12"/>
          </p:nvPr>
        </p:nvSpPr>
        <p:spPr>
          <a:xfrm>
            <a:off x="457200" y="170000"/>
            <a:ext cx="8000000" cy="182880"/>
          </a:xfrm>
        </p:spPr>
        <p:txBody>
          <a:bodyPr/>
          <a:lstStyle/>
          <a:p>
            <a:r>
              <a:rPr>
                <a:solidFill>
                  <a:srgbClr val="0391F2"/>
                </a:solidFill>
              </a:rPr>
              <a:t>TEMPLATE · 4 COLUMNS · SUPPORTING DETAIL</a:t>
            </a:r>
          </a:p>
        </p:txBody>
      </p:sp>
      <p:sp>
        <p:nvSpPr>
          <p:cNvPr id="7" name="Rounded Rectangle 6"/>
          <p:cNvSpPr/>
          <p:nvPr/>
        </p:nvSpPr>
        <p:spPr>
          <a:xfrm>
            <a:off x="457200" y="1170000"/>
            <a:ext cx="2706900" cy="50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000000"/>
                </a:solidFill>
              </a:rPr>
              <a:t>[Add a header]</a:t>
            </a:r>
          </a:p>
          <a:p>
            <a:pPr algn="l">
              <a:spcAft>
                <a:spcPts val="500"/>
              </a:spcAft>
            </a:pPr>
            <a:r>
              <a:rPr sz="1200" b="0" i="1">
                <a:solidFill>
                  <a:srgbClr val="60607D"/>
                </a:solidFill>
              </a:rPr>
              <a:t>[Use when there are 2 to 4 things side by side, like options, models or examples. Give each a name, a line on what it is, and a few key points.]</a:t>
            </a:r>
          </a:p>
        </p:txBody>
      </p:sp>
      <p:sp>
        <p:nvSpPr>
          <p:cNvPr id="8" name="Rounded Rectangle 7"/>
          <p:cNvSpPr/>
          <p:nvPr/>
        </p:nvSpPr>
        <p:spPr>
          <a:xfrm>
            <a:off x="3314100" y="1170000"/>
            <a:ext cx="2706900" cy="50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000000"/>
                </a:solidFill>
              </a:rPr>
              <a:t>[Add a header]</a:t>
            </a:r>
          </a:p>
          <a:p>
            <a:pPr algn="l">
              <a:spcAft>
                <a:spcPts val="500"/>
              </a:spcAft>
            </a:pPr>
            <a:r>
              <a:rPr sz="1200" b="0" i="1">
                <a:solidFill>
                  <a:srgbClr val="60607D"/>
                </a:solidFill>
              </a:rPr>
              <a:t>[Use when there are 2 to 4 things side by side, like options, models or examples. Give each a name, a line on what it is, and a few key points.]</a:t>
            </a:r>
          </a:p>
        </p:txBody>
      </p:sp>
      <p:sp>
        <p:nvSpPr>
          <p:cNvPr id="9" name="Rounded Rectangle 8"/>
          <p:cNvSpPr/>
          <p:nvPr/>
        </p:nvSpPr>
        <p:spPr>
          <a:xfrm>
            <a:off x="6171000" y="1170000"/>
            <a:ext cx="2706900" cy="50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000000"/>
                </a:solidFill>
              </a:rPr>
              <a:t>[Add a header]</a:t>
            </a:r>
          </a:p>
          <a:p>
            <a:pPr algn="l">
              <a:spcAft>
                <a:spcPts val="500"/>
              </a:spcAft>
            </a:pPr>
            <a:r>
              <a:rPr sz="1200" b="0" i="1">
                <a:solidFill>
                  <a:srgbClr val="60607D"/>
                </a:solidFill>
              </a:rPr>
              <a:t>[Use when there are 2 to 4 things side by side, like options, models or examples. Give each a name, a line on what it is, and a few key points.]</a:t>
            </a:r>
          </a:p>
        </p:txBody>
      </p:sp>
      <p:sp>
        <p:nvSpPr>
          <p:cNvPr id="10" name="Rounded Rectangle 9"/>
          <p:cNvSpPr/>
          <p:nvPr/>
        </p:nvSpPr>
        <p:spPr>
          <a:xfrm>
            <a:off x="9027900" y="1170000"/>
            <a:ext cx="2706900" cy="50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000000"/>
                </a:solidFill>
              </a:rPr>
              <a:t>[Add a header]</a:t>
            </a:r>
          </a:p>
          <a:p>
            <a:pPr algn="l">
              <a:spcAft>
                <a:spcPts val="500"/>
              </a:spcAft>
            </a:pPr>
            <a:r>
              <a:rPr sz="1200" b="0" i="1">
                <a:solidFill>
                  <a:srgbClr val="60607D"/>
                </a:solidFill>
              </a:rPr>
              <a:t>[Use when there are 2 to 4 things side by side, like options, models or examples. Give each a name, a line on what it is, and a few key points.]</a:t>
            </a: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f_hero_library.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endParaRP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[Add a header]</a:t>
            </a:r>
          </a:p>
        </p:txBody>
      </p:sp>
      <p:sp>
        <p:nvSpPr>
          <p:cNvPr id="4" name="Text Placeholder 3"/>
          <p:cNvSpPr>
            <a:spLocks noGrp="1"/>
          </p:cNvSpPr>
          <p:nvPr>
            <p:ph type="body" sz="quarter" idx="12"/>
          </p:nvPr>
        </p:nvSpPr>
        <p:spPr>
          <a:xfrm>
            <a:off x="457200" y="170000"/>
            <a:ext cx="8000000" cy="182880"/>
          </a:xfrm>
        </p:spPr>
        <p:txBody>
          <a:bodyPr/>
          <a:lstStyle/>
          <a:p>
            <a:r>
              <a:rPr>
                <a:solidFill>
                  <a:srgbClr val="0391F2"/>
                </a:solidFill>
              </a:rPr>
              <a:t>TEMPLATE · THREE CARDS AND TWO WIDE · DETAIL</a:t>
            </a:r>
          </a:p>
        </p:txBody>
      </p:sp>
      <p:sp>
        <p:nvSpPr>
          <p:cNvPr id="7" name="TextBox 6"/>
          <p:cNvSpPr txBox="1"/>
          <p:nvPr/>
        </p:nvSpPr>
        <p:spPr>
          <a:xfrm>
            <a:off x="457200" y="1170000"/>
            <a:ext cx="11277600" cy="457200"/>
          </a:xfrm>
          <a:prstGeom prst="rect">
            <a:avLst/>
          </a:prstGeom>
          <a:noFill/>
        </p:spPr>
        <p:txBody>
          <a:bodyPr wrap="square" lIns="0" tIns="0" rIns="0" bIns="0" anchor="t">
            <a:spAutoFit/>
          </a:bodyPr>
          <a:lstStyle/>
          <a:p>
            <a:pPr algn="l">
              <a:spcAft>
                <a:spcPts val="500"/>
              </a:spcAft>
            </a:pPr>
            <a:r>
              <a:rPr sz="1300" b="0" i="1">
                <a:solidFill>
                  <a:srgbClr val="60607D"/>
                </a:solidFill>
              </a:rPr>
              <a:t>[Put here: the one-sentence headline for this slide.]</a:t>
            </a:r>
          </a:p>
        </p:txBody>
      </p:sp>
      <p:sp>
        <p:nvSpPr>
          <p:cNvPr id="8" name="Rounded Rectangle 7"/>
          <p:cNvSpPr/>
          <p:nvPr/>
        </p:nvSpPr>
        <p:spPr>
          <a:xfrm>
            <a:off x="457200" y="1718640"/>
            <a:ext cx="3659200" cy="219068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000000"/>
                </a:solidFill>
              </a:rPr>
              <a:t>[Add a heading]</a:t>
            </a:r>
          </a:p>
          <a:p>
            <a:pPr algn="l">
              <a:spcAft>
                <a:spcPts val="500"/>
              </a:spcAft>
            </a:pPr>
            <a:r>
              <a:rPr sz="1200" b="0" i="1">
                <a:solidFill>
                  <a:srgbClr val="60607D"/>
                </a:solidFill>
              </a:rPr>
              <a:t>[Put here: a few sentences or bullets.]</a:t>
            </a:r>
          </a:p>
        </p:txBody>
      </p:sp>
      <p:sp>
        <p:nvSpPr>
          <p:cNvPr id="9" name="Rounded Rectangle 8"/>
          <p:cNvSpPr/>
          <p:nvPr/>
        </p:nvSpPr>
        <p:spPr>
          <a:xfrm>
            <a:off x="4266400" y="1718640"/>
            <a:ext cx="3659200" cy="219068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000000"/>
                </a:solidFill>
              </a:rPr>
              <a:t>[Add a heading]</a:t>
            </a:r>
          </a:p>
          <a:p>
            <a:pPr algn="l">
              <a:spcAft>
                <a:spcPts val="500"/>
              </a:spcAft>
            </a:pPr>
            <a:r>
              <a:rPr sz="1200" b="0" i="1">
                <a:solidFill>
                  <a:srgbClr val="60607D"/>
                </a:solidFill>
              </a:rPr>
              <a:t>[Put here: a few sentences or bullets.]</a:t>
            </a:r>
          </a:p>
        </p:txBody>
      </p:sp>
      <p:sp>
        <p:nvSpPr>
          <p:cNvPr id="10" name="Rounded Rectangle 9"/>
          <p:cNvSpPr/>
          <p:nvPr/>
        </p:nvSpPr>
        <p:spPr>
          <a:xfrm>
            <a:off x="8075600" y="1718640"/>
            <a:ext cx="3659200" cy="219068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000000"/>
                </a:solidFill>
              </a:rPr>
              <a:t>[Add a heading]</a:t>
            </a:r>
          </a:p>
          <a:p>
            <a:pPr algn="l">
              <a:spcAft>
                <a:spcPts val="500"/>
              </a:spcAft>
            </a:pPr>
            <a:r>
              <a:rPr sz="1200" b="0" i="1">
                <a:solidFill>
                  <a:srgbClr val="60607D"/>
                </a:solidFill>
              </a:rPr>
              <a:t>[Put here: a few sentences or bullets.]</a:t>
            </a:r>
          </a:p>
        </p:txBody>
      </p:sp>
      <p:sp>
        <p:nvSpPr>
          <p:cNvPr id="11" name="Rounded Rectangle 10"/>
          <p:cNvSpPr/>
          <p:nvPr/>
        </p:nvSpPr>
        <p:spPr>
          <a:xfrm>
            <a:off x="457200" y="4059320"/>
            <a:ext cx="5563800" cy="219068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000000"/>
                </a:solidFill>
              </a:rPr>
              <a:t>[Add a heading]</a:t>
            </a:r>
          </a:p>
          <a:p>
            <a:pPr algn="l">
              <a:spcAft>
                <a:spcPts val="500"/>
              </a:spcAft>
            </a:pPr>
            <a:r>
              <a:rPr sz="1200" b="0" i="1">
                <a:solidFill>
                  <a:srgbClr val="60607D"/>
                </a:solidFill>
              </a:rPr>
              <a:t>[Put here: a few sentences or bullets.]</a:t>
            </a:r>
          </a:p>
        </p:txBody>
      </p:sp>
      <p:sp>
        <p:nvSpPr>
          <p:cNvPr id="12" name="Rounded Rectangle 11"/>
          <p:cNvSpPr/>
          <p:nvPr/>
        </p:nvSpPr>
        <p:spPr>
          <a:xfrm>
            <a:off x="6171000" y="4059320"/>
            <a:ext cx="5563800" cy="219068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000000"/>
                </a:solidFill>
              </a:rPr>
              <a:t>[Add a heading]</a:t>
            </a:r>
          </a:p>
          <a:p>
            <a:pPr algn="l">
              <a:spcAft>
                <a:spcPts val="500"/>
              </a:spcAft>
            </a:pPr>
            <a:r>
              <a:rPr sz="1200" b="0" i="1">
                <a:solidFill>
                  <a:srgbClr val="60607D"/>
                </a:solidFill>
              </a:rPr>
              <a:t>[Put here: a few sentences or bullets.]</a:t>
            </a:r>
          </a:p>
        </p:txBody>
      </p:sp>
      <p:sp>
        <p:nvSpPr>
          <p:cNvPr id="13" name="Rounded Rectangle 12"/>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wrap="square" lIns="150000" rIns="120000" rtlCol="0" anchor="ctr"/>
          <a:lstStyle/>
          <a:p>
            <a:pPr algn="l"/>
            <a:r>
              <a:rPr sz="1050" b="1" i="0">
                <a:solidFill>
                  <a:srgbClr val="FFFFFF"/>
                </a:solidFill>
              </a:rPr>
              <a:t>Owner(s)</a:t>
            </a:r>
          </a:p>
          <a:p>
            <a:pPr algn="l"/>
            <a:r>
              <a:rPr sz="900" b="0" i="1">
                <a:solidFill>
                  <a:srgbClr val="D6D6DF"/>
                </a:solidFill>
              </a:rPr>
              <a:t>[Names]</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f_hero_library.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endParaRPr/>
          </a:p>
        </p:txBody>
      </p:sp>
      <p:pic>
        <p:nvPicPr>
          <p:cNvPr id="7" name="Picture 6" descr="f_split_library.jpg"/>
          <p:cNvPicPr>
            <a:picLocks noChangeAspect="1"/>
          </p:cNvPicPr>
          <p:nvPr/>
        </p:nvPicPr>
        <p:blipFill>
          <a:blip r:embed="rId3"/>
          <a:stretch>
            <a:fillRect/>
          </a:stretch>
        </p:blipFill>
        <p:spPr>
          <a:xfrm>
            <a:off x="0" y="0"/>
            <a:ext cx="4480560" cy="6858000"/>
          </a:xfrm>
          <a:prstGeom prst="rect">
            <a:avLst/>
          </a:prstGeom>
        </p:spPr>
      </p:pic>
      <p:sp>
        <p:nvSpPr>
          <p:cNvPr id="8" name="Rectangle 7"/>
          <p:cNvSpPr/>
          <p:nvPr/>
        </p:nvSpPr>
        <p:spPr>
          <a:xfrm>
            <a:off x="0" y="0"/>
            <a:ext cx="4480560" cy="6858000"/>
          </a:xfrm>
          <a:prstGeom prst="rect">
            <a:avLst/>
          </a:prstGeom>
          <a:gradFill rotWithShape="1">
            <a:gsLst>
              <a:gs pos="0">
                <a:srgbClr val="000000">
                  <a:alpha val="70000"/>
                </a:srgbClr>
              </a:gs>
              <a:gs pos="50000">
                <a:srgbClr val="000000">
                  <a:alpha val="55000"/>
                </a:srgbClr>
              </a:gs>
              <a:gs pos="100000">
                <a:srgbClr val="000000">
                  <a:alpha val="85000"/>
                </a:srgbClr>
              </a:gs>
            </a:gsLst>
            <a:lin ang="5400000" scaled="0"/>
          </a:gradFill>
          <a:ln>
            <a:noFill/>
          </a:ln>
        </p:spPr>
        <p:txBody>
          <a:bodyPr rtlCol="0" anchor="ctr"/>
          <a:lstStyle/>
          <a:p>
            <a:pPr algn="ctr"/>
            <a:endParaRPr/>
          </a:p>
        </p:txBody>
      </p:sp>
      <p:sp>
        <p:nvSpPr>
          <p:cNvPr id="9" name="Rounded Rectangle 8"/>
          <p:cNvSpPr/>
          <p:nvPr/>
        </p:nvSpPr>
        <p:spPr>
          <a:xfrm>
            <a:off x="320040" y="2377440"/>
            <a:ext cx="3840480" cy="2011680"/>
          </a:xfrm>
          <a:prstGeom prst="roundRect">
            <a:avLst>
              <a:gd name="adj" fmla="val 5000"/>
            </a:avLst>
          </a:prstGeom>
          <a:solidFill>
            <a:srgbClr val="000000">
              <a:alpha val="62000"/>
            </a:srgbClr>
          </a:solidFill>
          <a:ln>
            <a:noFill/>
          </a:ln>
        </p:spPr>
        <p:txBody>
          <a:bodyPr rtlCol="0" anchor="ctr"/>
          <a:lstStyle/>
          <a:p>
            <a:pPr algn="ctr"/>
            <a:endParaRPr/>
          </a:p>
        </p:txBody>
      </p:sp>
      <p:sp>
        <p:nvSpPr>
          <p:cNvPr id="3" name="Title 2"/>
          <p:cNvSpPr>
            <a:spLocks noGrp="1"/>
          </p:cNvSpPr>
          <p:nvPr>
            <p:ph type="title"/>
          </p:nvPr>
        </p:nvSpPr>
        <p:spPr>
          <a:xfrm>
            <a:off x="4892040" y="300000"/>
            <a:ext cx="3907960" cy="560000"/>
          </a:xfrm>
        </p:spPr>
        <p:txBody>
          <a:bodyPr/>
          <a:lstStyle/>
          <a:p>
            <a:r>
              <a:rPr sz="2400">
                <a:solidFill>
                  <a:srgbClr val="FFFFFF"/>
                </a:solidFill>
              </a:rPr>
              <a:t>[Add a header]</a:t>
            </a:r>
          </a:p>
        </p:txBody>
      </p:sp>
      <p:sp>
        <p:nvSpPr>
          <p:cNvPr id="4" name="Text Placeholder 3"/>
          <p:cNvSpPr>
            <a:spLocks noGrp="1"/>
          </p:cNvSpPr>
          <p:nvPr>
            <p:ph type="body" sz="quarter" idx="12"/>
          </p:nvPr>
        </p:nvSpPr>
        <p:spPr>
          <a:xfrm>
            <a:off x="4892040" y="170000"/>
            <a:ext cx="8000000" cy="182880"/>
          </a:xfrm>
        </p:spPr>
        <p:txBody>
          <a:bodyPr/>
          <a:lstStyle/>
          <a:p>
            <a:r>
              <a:rPr>
                <a:solidFill>
                  <a:srgbClr val="0391F2"/>
                </a:solidFill>
              </a:rPr>
              <a:t>TEMPLATE · SPLIT WITH POINTS · DETAIL</a:t>
            </a:r>
          </a:p>
        </p:txBody>
      </p:sp>
      <p:sp>
        <p:nvSpPr>
          <p:cNvPr id="10" name="TextBox 9"/>
          <p:cNvSpPr txBox="1"/>
          <p:nvPr/>
        </p:nvSpPr>
        <p:spPr>
          <a:xfrm>
            <a:off x="640080" y="2560320"/>
            <a:ext cx="3200400" cy="228600"/>
          </a:xfrm>
          <a:prstGeom prst="rect">
            <a:avLst/>
          </a:prstGeom>
          <a:noFill/>
        </p:spPr>
        <p:txBody>
          <a:bodyPr wrap="square" lIns="0" tIns="0" rIns="0" bIns="0" anchor="t">
            <a:spAutoFit/>
          </a:bodyPr>
          <a:lstStyle/>
          <a:p>
            <a:pPr algn="l">
              <a:spcBef>
                <a:spcPts val="200"/>
              </a:spcBef>
              <a:spcAft>
                <a:spcPts val="200"/>
              </a:spcAft>
            </a:pPr>
            <a:r>
              <a:rPr sz="850" b="1" i="0" cap="all" spc="100">
                <a:solidFill>
                  <a:srgbClr val="D6D6DF"/>
                </a:solidFill>
              </a:rPr>
              <a:t>[EYEBROW]</a:t>
            </a:r>
          </a:p>
        </p:txBody>
      </p:sp>
      <p:sp>
        <p:nvSpPr>
          <p:cNvPr id="11" name="TextBox 10"/>
          <p:cNvSpPr txBox="1"/>
          <p:nvPr/>
        </p:nvSpPr>
        <p:spPr>
          <a:xfrm>
            <a:off x="640080" y="2880360"/>
            <a:ext cx="3200400" cy="914400"/>
          </a:xfrm>
          <a:prstGeom prst="rect">
            <a:avLst/>
          </a:prstGeom>
          <a:noFill/>
        </p:spPr>
        <p:txBody>
          <a:bodyPr wrap="square" lIns="0" tIns="0" rIns="0" bIns="0" anchor="t">
            <a:spAutoFit/>
          </a:bodyPr>
          <a:lstStyle/>
          <a:p>
            <a:pPr algn="l">
              <a:spcBef>
                <a:spcPts val="400"/>
              </a:spcBef>
              <a:spcAft>
                <a:spcPts val="500"/>
              </a:spcAft>
            </a:pPr>
            <a:r>
              <a:rPr sz="3200" b="1" i="0">
                <a:solidFill>
                  <a:srgbClr val="FFFFFF"/>
                </a:solidFill>
              </a:rPr>
              <a:t>[Big headline]</a:t>
            </a:r>
          </a:p>
        </p:txBody>
      </p:sp>
      <p:sp>
        <p:nvSpPr>
          <p:cNvPr id="12" name="TextBox 11"/>
          <p:cNvSpPr txBox="1"/>
          <p:nvPr/>
        </p:nvSpPr>
        <p:spPr>
          <a:xfrm>
            <a:off x="640080" y="3886200"/>
            <a:ext cx="3200400" cy="320040"/>
          </a:xfrm>
          <a:prstGeom prst="rect">
            <a:avLst/>
          </a:prstGeom>
          <a:noFill/>
        </p:spPr>
        <p:txBody>
          <a:bodyPr wrap="square" lIns="0" tIns="0" rIns="0" bIns="0" anchor="t">
            <a:spAutoFit/>
          </a:bodyPr>
          <a:lstStyle/>
          <a:p>
            <a:pPr algn="l">
              <a:spcBef>
                <a:spcPts val="400"/>
              </a:spcBef>
              <a:spcAft>
                <a:spcPts val="500"/>
              </a:spcAft>
            </a:pPr>
            <a:r>
              <a:rPr sz="1100" b="1" i="0">
                <a:solidFill>
                  <a:srgbClr val="FFFFFF"/>
                </a:solidFill>
              </a:rPr>
              <a:t>[ONE-LINE SUBHEAD]</a:t>
            </a:r>
          </a:p>
        </p:txBody>
      </p:sp>
      <p:sp>
        <p:nvSpPr>
          <p:cNvPr id="13" name="Rounded Rectangle 12"/>
          <p:cNvSpPr/>
          <p:nvPr/>
        </p:nvSpPr>
        <p:spPr>
          <a:xfrm>
            <a:off x="4892040" y="1170000"/>
            <a:ext cx="6842760" cy="894848"/>
          </a:xfrm>
          <a:prstGeom prst="roundRect">
            <a:avLst>
              <a:gd name="adj" fmla="val 90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ctr"/>
            <a:endParaRPr/>
          </a:p>
        </p:txBody>
      </p:sp>
      <p:sp>
        <p:nvSpPr>
          <p:cNvPr id="14" name="Oval 13"/>
          <p:cNvSpPr/>
          <p:nvPr/>
        </p:nvSpPr>
        <p:spPr>
          <a:xfrm>
            <a:off x="5074920" y="1388824"/>
            <a:ext cx="457200" cy="457200"/>
          </a:xfrm>
          <a:prstGeom prst="ellipse">
            <a:avLst/>
          </a:prstGeom>
          <a:solidFill>
            <a:srgbClr val="000000"/>
          </a:solidFill>
          <a:ln>
            <a:noFill/>
          </a:ln>
        </p:spPr>
        <p:txBody>
          <a:bodyPr lIns="0" tIns="0" rIns="0" bIns="0" rtlCol="0" anchor="ctr"/>
          <a:lstStyle/>
          <a:p>
            <a:pPr algn="ctr"/>
            <a:r>
              <a:rPr sz="1400" b="1" i="0">
                <a:solidFill>
                  <a:srgbClr val="FFFFFF"/>
                </a:solidFill>
              </a:rPr>
              <a:t>1</a:t>
            </a:r>
          </a:p>
        </p:txBody>
      </p:sp>
      <p:sp>
        <p:nvSpPr>
          <p:cNvPr id="15" name="TextBox 14"/>
          <p:cNvSpPr txBox="1"/>
          <p:nvPr/>
        </p:nvSpPr>
        <p:spPr>
          <a:xfrm>
            <a:off x="5715000" y="1215720"/>
            <a:ext cx="5836920" cy="803408"/>
          </a:xfrm>
          <a:prstGeom prst="rect">
            <a:avLst/>
          </a:prstGeom>
          <a:noFill/>
        </p:spPr>
        <p:txBody>
          <a:bodyPr wrap="square" lIns="0" tIns="0" rIns="0" bIns="0" anchor="ctr">
            <a:spAutoFit/>
          </a:bodyPr>
          <a:lstStyle/>
          <a:p>
            <a:pPr algn="l">
              <a:spcBef>
                <a:spcPts val="400"/>
              </a:spcBef>
              <a:spcAft>
                <a:spcPts val="200"/>
              </a:spcAft>
            </a:pPr>
            <a:r>
              <a:rPr sz="1400" b="1" i="0">
                <a:solidFill>
                  <a:srgbClr val="000000"/>
                </a:solidFill>
              </a:rPr>
              <a:t>[Heading]</a:t>
            </a:r>
          </a:p>
          <a:p>
            <a:pPr algn="l">
              <a:spcAft>
                <a:spcPts val="500"/>
              </a:spcAft>
            </a:pPr>
            <a:r>
              <a:rPr sz="1400" b="0" i="1">
                <a:solidFill>
                  <a:srgbClr val="60607D"/>
                </a:solidFill>
              </a:rPr>
              <a:t>[Put here: one line on what it is or why it matters.]</a:t>
            </a:r>
          </a:p>
        </p:txBody>
      </p:sp>
      <p:sp>
        <p:nvSpPr>
          <p:cNvPr id="16" name="Rounded Rectangle 15"/>
          <p:cNvSpPr/>
          <p:nvPr/>
        </p:nvSpPr>
        <p:spPr>
          <a:xfrm>
            <a:off x="4892040" y="2124848"/>
            <a:ext cx="6842760" cy="894848"/>
          </a:xfrm>
          <a:prstGeom prst="roundRect">
            <a:avLst>
              <a:gd name="adj" fmla="val 90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ctr"/>
            <a:endParaRPr/>
          </a:p>
        </p:txBody>
      </p:sp>
      <p:sp>
        <p:nvSpPr>
          <p:cNvPr id="17" name="Oval 16"/>
          <p:cNvSpPr/>
          <p:nvPr/>
        </p:nvSpPr>
        <p:spPr>
          <a:xfrm>
            <a:off x="5074920" y="2343672"/>
            <a:ext cx="457200" cy="457200"/>
          </a:xfrm>
          <a:prstGeom prst="ellipse">
            <a:avLst/>
          </a:prstGeom>
          <a:solidFill>
            <a:srgbClr val="000000"/>
          </a:solidFill>
          <a:ln>
            <a:noFill/>
          </a:ln>
        </p:spPr>
        <p:txBody>
          <a:bodyPr lIns="0" tIns="0" rIns="0" bIns="0" rtlCol="0" anchor="ctr"/>
          <a:lstStyle/>
          <a:p>
            <a:pPr algn="ctr"/>
            <a:r>
              <a:rPr sz="1400" b="1" i="0">
                <a:solidFill>
                  <a:srgbClr val="FFFFFF"/>
                </a:solidFill>
              </a:rPr>
              <a:t>2</a:t>
            </a:r>
          </a:p>
        </p:txBody>
      </p:sp>
      <p:sp>
        <p:nvSpPr>
          <p:cNvPr id="18" name="TextBox 17"/>
          <p:cNvSpPr txBox="1"/>
          <p:nvPr/>
        </p:nvSpPr>
        <p:spPr>
          <a:xfrm>
            <a:off x="5715000" y="2170568"/>
            <a:ext cx="5836920" cy="803408"/>
          </a:xfrm>
          <a:prstGeom prst="rect">
            <a:avLst/>
          </a:prstGeom>
          <a:noFill/>
        </p:spPr>
        <p:txBody>
          <a:bodyPr wrap="square" lIns="0" tIns="0" rIns="0" bIns="0" anchor="ctr">
            <a:spAutoFit/>
          </a:bodyPr>
          <a:lstStyle/>
          <a:p>
            <a:pPr algn="l">
              <a:spcBef>
                <a:spcPts val="400"/>
              </a:spcBef>
              <a:spcAft>
                <a:spcPts val="200"/>
              </a:spcAft>
            </a:pPr>
            <a:r>
              <a:rPr sz="1400" b="1" i="0">
                <a:solidFill>
                  <a:srgbClr val="000000"/>
                </a:solidFill>
              </a:rPr>
              <a:t>[Heading]</a:t>
            </a:r>
          </a:p>
          <a:p>
            <a:pPr algn="l">
              <a:spcAft>
                <a:spcPts val="500"/>
              </a:spcAft>
            </a:pPr>
            <a:r>
              <a:rPr sz="1400" b="0" i="1">
                <a:solidFill>
                  <a:srgbClr val="60607D"/>
                </a:solidFill>
              </a:rPr>
              <a:t>[Put here: one line on what it is or why it matters.]</a:t>
            </a:r>
          </a:p>
        </p:txBody>
      </p:sp>
      <p:sp>
        <p:nvSpPr>
          <p:cNvPr id="19" name="Rounded Rectangle 18"/>
          <p:cNvSpPr/>
          <p:nvPr/>
        </p:nvSpPr>
        <p:spPr>
          <a:xfrm>
            <a:off x="4892040" y="3079696"/>
            <a:ext cx="6842760" cy="894848"/>
          </a:xfrm>
          <a:prstGeom prst="roundRect">
            <a:avLst>
              <a:gd name="adj" fmla="val 90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ctr"/>
            <a:endParaRPr/>
          </a:p>
        </p:txBody>
      </p:sp>
      <p:sp>
        <p:nvSpPr>
          <p:cNvPr id="20" name="Oval 19"/>
          <p:cNvSpPr/>
          <p:nvPr/>
        </p:nvSpPr>
        <p:spPr>
          <a:xfrm>
            <a:off x="5074920" y="3298520"/>
            <a:ext cx="457200" cy="457200"/>
          </a:xfrm>
          <a:prstGeom prst="ellipse">
            <a:avLst/>
          </a:prstGeom>
          <a:solidFill>
            <a:srgbClr val="000000"/>
          </a:solidFill>
          <a:ln>
            <a:noFill/>
          </a:ln>
        </p:spPr>
        <p:txBody>
          <a:bodyPr lIns="0" tIns="0" rIns="0" bIns="0" rtlCol="0" anchor="ctr"/>
          <a:lstStyle/>
          <a:p>
            <a:pPr algn="ctr"/>
            <a:r>
              <a:rPr sz="1400" b="1" i="0">
                <a:solidFill>
                  <a:srgbClr val="FFFFFF"/>
                </a:solidFill>
              </a:rPr>
              <a:t>3</a:t>
            </a:r>
          </a:p>
        </p:txBody>
      </p:sp>
      <p:sp>
        <p:nvSpPr>
          <p:cNvPr id="21" name="TextBox 20"/>
          <p:cNvSpPr txBox="1"/>
          <p:nvPr/>
        </p:nvSpPr>
        <p:spPr>
          <a:xfrm>
            <a:off x="5715000" y="3125416"/>
            <a:ext cx="5836920" cy="803408"/>
          </a:xfrm>
          <a:prstGeom prst="rect">
            <a:avLst/>
          </a:prstGeom>
          <a:noFill/>
        </p:spPr>
        <p:txBody>
          <a:bodyPr wrap="square" lIns="0" tIns="0" rIns="0" bIns="0" anchor="ctr">
            <a:spAutoFit/>
          </a:bodyPr>
          <a:lstStyle/>
          <a:p>
            <a:pPr algn="l">
              <a:spcBef>
                <a:spcPts val="400"/>
              </a:spcBef>
              <a:spcAft>
                <a:spcPts val="200"/>
              </a:spcAft>
            </a:pPr>
            <a:r>
              <a:rPr sz="1400" b="1" i="0">
                <a:solidFill>
                  <a:srgbClr val="000000"/>
                </a:solidFill>
              </a:rPr>
              <a:t>[Heading]</a:t>
            </a:r>
          </a:p>
          <a:p>
            <a:pPr algn="l">
              <a:spcAft>
                <a:spcPts val="500"/>
              </a:spcAft>
            </a:pPr>
            <a:r>
              <a:rPr sz="1400" b="0" i="1">
                <a:solidFill>
                  <a:srgbClr val="60607D"/>
                </a:solidFill>
              </a:rPr>
              <a:t>[Put here: one line on what it is or why it matters.]</a:t>
            </a:r>
          </a:p>
        </p:txBody>
      </p:sp>
      <p:sp>
        <p:nvSpPr>
          <p:cNvPr id="22" name="Rounded Rectangle 21"/>
          <p:cNvSpPr/>
          <p:nvPr/>
        </p:nvSpPr>
        <p:spPr>
          <a:xfrm>
            <a:off x="4892040" y="4034544"/>
            <a:ext cx="6842760" cy="894848"/>
          </a:xfrm>
          <a:prstGeom prst="roundRect">
            <a:avLst>
              <a:gd name="adj" fmla="val 90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ctr"/>
            <a:endParaRPr/>
          </a:p>
        </p:txBody>
      </p:sp>
      <p:sp>
        <p:nvSpPr>
          <p:cNvPr id="23" name="Oval 22"/>
          <p:cNvSpPr/>
          <p:nvPr/>
        </p:nvSpPr>
        <p:spPr>
          <a:xfrm>
            <a:off x="5074920" y="4253368"/>
            <a:ext cx="457200" cy="457200"/>
          </a:xfrm>
          <a:prstGeom prst="ellipse">
            <a:avLst/>
          </a:prstGeom>
          <a:solidFill>
            <a:srgbClr val="000000"/>
          </a:solidFill>
          <a:ln>
            <a:noFill/>
          </a:ln>
        </p:spPr>
        <p:txBody>
          <a:bodyPr lIns="0" tIns="0" rIns="0" bIns="0" rtlCol="0" anchor="ctr"/>
          <a:lstStyle/>
          <a:p>
            <a:pPr algn="ctr"/>
            <a:r>
              <a:rPr sz="1400" b="1" i="0">
                <a:solidFill>
                  <a:srgbClr val="FFFFFF"/>
                </a:solidFill>
              </a:rPr>
              <a:t>4</a:t>
            </a:r>
          </a:p>
        </p:txBody>
      </p:sp>
      <p:sp>
        <p:nvSpPr>
          <p:cNvPr id="24" name="TextBox 23"/>
          <p:cNvSpPr txBox="1"/>
          <p:nvPr/>
        </p:nvSpPr>
        <p:spPr>
          <a:xfrm>
            <a:off x="5715000" y="4080264"/>
            <a:ext cx="5836920" cy="803408"/>
          </a:xfrm>
          <a:prstGeom prst="rect">
            <a:avLst/>
          </a:prstGeom>
          <a:noFill/>
        </p:spPr>
        <p:txBody>
          <a:bodyPr wrap="square" lIns="0" tIns="0" rIns="0" bIns="0" anchor="ctr">
            <a:spAutoFit/>
          </a:bodyPr>
          <a:lstStyle/>
          <a:p>
            <a:pPr algn="l">
              <a:spcBef>
                <a:spcPts val="400"/>
              </a:spcBef>
              <a:spcAft>
                <a:spcPts val="200"/>
              </a:spcAft>
            </a:pPr>
            <a:r>
              <a:rPr sz="1400" b="1" i="0">
                <a:solidFill>
                  <a:srgbClr val="000000"/>
                </a:solidFill>
              </a:rPr>
              <a:t>[Heading]</a:t>
            </a:r>
          </a:p>
          <a:p>
            <a:pPr algn="l">
              <a:spcAft>
                <a:spcPts val="500"/>
              </a:spcAft>
            </a:pPr>
            <a:r>
              <a:rPr sz="1400" b="0" i="1">
                <a:solidFill>
                  <a:srgbClr val="60607D"/>
                </a:solidFill>
              </a:rPr>
              <a:t>[Put here: one line on what it is or why it matters.]</a:t>
            </a:r>
          </a:p>
        </p:txBody>
      </p:sp>
      <p:sp>
        <p:nvSpPr>
          <p:cNvPr id="25" name="Rounded Rectangle 24"/>
          <p:cNvSpPr/>
          <p:nvPr/>
        </p:nvSpPr>
        <p:spPr>
          <a:xfrm>
            <a:off x="4892040" y="4989392"/>
            <a:ext cx="6842760" cy="894848"/>
          </a:xfrm>
          <a:prstGeom prst="roundRect">
            <a:avLst>
              <a:gd name="adj" fmla="val 90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ctr"/>
            <a:endParaRPr/>
          </a:p>
        </p:txBody>
      </p:sp>
      <p:sp>
        <p:nvSpPr>
          <p:cNvPr id="26" name="Oval 25"/>
          <p:cNvSpPr/>
          <p:nvPr/>
        </p:nvSpPr>
        <p:spPr>
          <a:xfrm>
            <a:off x="5074920" y="5208216"/>
            <a:ext cx="457200" cy="457200"/>
          </a:xfrm>
          <a:prstGeom prst="ellipse">
            <a:avLst/>
          </a:prstGeom>
          <a:solidFill>
            <a:srgbClr val="000000"/>
          </a:solidFill>
          <a:ln>
            <a:noFill/>
          </a:ln>
        </p:spPr>
        <p:txBody>
          <a:bodyPr lIns="0" tIns="0" rIns="0" bIns="0" rtlCol="0" anchor="ctr"/>
          <a:lstStyle/>
          <a:p>
            <a:pPr algn="ctr"/>
            <a:r>
              <a:rPr sz="1400" b="1" i="0">
                <a:solidFill>
                  <a:srgbClr val="FFFFFF"/>
                </a:solidFill>
              </a:rPr>
              <a:t>5</a:t>
            </a:r>
          </a:p>
        </p:txBody>
      </p:sp>
      <p:sp>
        <p:nvSpPr>
          <p:cNvPr id="27" name="TextBox 26"/>
          <p:cNvSpPr txBox="1"/>
          <p:nvPr/>
        </p:nvSpPr>
        <p:spPr>
          <a:xfrm>
            <a:off x="5715000" y="5035112"/>
            <a:ext cx="5836920" cy="803408"/>
          </a:xfrm>
          <a:prstGeom prst="rect">
            <a:avLst/>
          </a:prstGeom>
          <a:noFill/>
        </p:spPr>
        <p:txBody>
          <a:bodyPr wrap="square" lIns="0" tIns="0" rIns="0" bIns="0" anchor="ctr">
            <a:spAutoFit/>
          </a:bodyPr>
          <a:lstStyle/>
          <a:p>
            <a:pPr algn="l">
              <a:spcBef>
                <a:spcPts val="400"/>
              </a:spcBef>
              <a:spcAft>
                <a:spcPts val="200"/>
              </a:spcAft>
            </a:pPr>
            <a:r>
              <a:rPr sz="1400" b="1" i="0">
                <a:solidFill>
                  <a:srgbClr val="000000"/>
                </a:solidFill>
              </a:rPr>
              <a:t>[Heading]</a:t>
            </a:r>
          </a:p>
          <a:p>
            <a:pPr algn="l">
              <a:spcAft>
                <a:spcPts val="500"/>
              </a:spcAft>
            </a:pPr>
            <a:r>
              <a:rPr sz="1400" b="0" i="1">
                <a:solidFill>
                  <a:srgbClr val="60607D"/>
                </a:solidFill>
              </a:rPr>
              <a:t>[Put here: one line on what it is or why it matters.]</a:t>
            </a:r>
          </a:p>
        </p:txBody>
      </p:sp>
      <p:sp>
        <p:nvSpPr>
          <p:cNvPr id="28" name="TextBox 27"/>
          <p:cNvSpPr txBox="1"/>
          <p:nvPr/>
        </p:nvSpPr>
        <p:spPr>
          <a:xfrm>
            <a:off x="4892040" y="5975680"/>
            <a:ext cx="6842760" cy="274320"/>
          </a:xfrm>
          <a:prstGeom prst="rect">
            <a:avLst/>
          </a:prstGeom>
          <a:noFill/>
        </p:spPr>
        <p:txBody>
          <a:bodyPr wrap="square" lIns="0" tIns="0" rIns="0" bIns="0" anchor="t">
            <a:spAutoFit/>
          </a:bodyPr>
          <a:lstStyle/>
          <a:p>
            <a:pPr algn="l">
              <a:spcBef>
                <a:spcPts val="400"/>
              </a:spcBef>
              <a:spcAft>
                <a:spcPts val="500"/>
              </a:spcAft>
            </a:pPr>
            <a:r>
              <a:rPr sz="1050" b="1" i="0">
                <a:solidFill>
                  <a:srgbClr val="000000"/>
                </a:solidFill>
              </a:rPr>
              <a:t>[ONE LINE TAKEAWAY IN CAPS]</a:t>
            </a:r>
          </a:p>
        </p:txBody>
      </p:sp>
      <p:sp>
        <p:nvSpPr>
          <p:cNvPr id="29" name="Rounded Rectangle 28"/>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wrap="square" lIns="150000" rIns="120000" rtlCol="0" anchor="ctr"/>
          <a:lstStyle/>
          <a:p>
            <a:pPr algn="l"/>
            <a:r>
              <a:rPr sz="1050" b="1" i="0">
                <a:solidFill>
                  <a:srgbClr val="FFFFFF"/>
                </a:solidFill>
              </a:rPr>
              <a:t>Owner(s)</a:t>
            </a:r>
          </a:p>
          <a:p>
            <a:pPr algn="l"/>
            <a:r>
              <a:rPr sz="900" b="0" i="1">
                <a:solidFill>
                  <a:srgbClr val="D6D6DF"/>
                </a:solidFill>
              </a:rPr>
              <a:t>[Names]</a:t>
            </a: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 name="Picture 4" descr="f_hero_library.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endParaRP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[Add a header]</a:t>
            </a:r>
          </a:p>
        </p:txBody>
      </p:sp>
      <p:sp>
        <p:nvSpPr>
          <p:cNvPr id="4" name="Text Placeholder 3"/>
          <p:cNvSpPr>
            <a:spLocks noGrp="1"/>
          </p:cNvSpPr>
          <p:nvPr>
            <p:ph type="body" sz="quarter" idx="12"/>
          </p:nvPr>
        </p:nvSpPr>
        <p:spPr>
          <a:xfrm>
            <a:off x="457200" y="170000"/>
            <a:ext cx="8000000" cy="182880"/>
          </a:xfrm>
        </p:spPr>
        <p:txBody>
          <a:bodyPr/>
          <a:lstStyle/>
          <a:p>
            <a:r>
              <a:rPr>
                <a:solidFill>
                  <a:srgbClr val="0391F2"/>
                </a:solidFill>
              </a:rPr>
              <a:t>TEMPLATE · 5 COLUMNS · SUPPORTING DETAIL</a:t>
            </a:r>
          </a:p>
        </p:txBody>
      </p:sp>
      <p:sp>
        <p:nvSpPr>
          <p:cNvPr id="7" name="Rounded Rectangle 6"/>
          <p:cNvSpPr/>
          <p:nvPr/>
        </p:nvSpPr>
        <p:spPr>
          <a:xfrm>
            <a:off x="457200" y="1170000"/>
            <a:ext cx="2135520" cy="50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000000"/>
                </a:solidFill>
              </a:rPr>
              <a:t>[Add a header]</a:t>
            </a:r>
          </a:p>
          <a:p>
            <a:pPr algn="l">
              <a:spcAft>
                <a:spcPts val="500"/>
              </a:spcAft>
            </a:pPr>
            <a:r>
              <a:rPr sz="1200" b="0" i="1">
                <a:solidFill>
                  <a:srgbClr val="60607D"/>
                </a:solidFill>
              </a:rPr>
              <a:t>[Put here: a name, a line on what it is, and a few key points.]</a:t>
            </a:r>
          </a:p>
        </p:txBody>
      </p:sp>
      <p:sp>
        <p:nvSpPr>
          <p:cNvPr id="8" name="Rounded Rectangle 7"/>
          <p:cNvSpPr/>
          <p:nvPr/>
        </p:nvSpPr>
        <p:spPr>
          <a:xfrm>
            <a:off x="2742720" y="1170000"/>
            <a:ext cx="2135520" cy="50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000000"/>
                </a:solidFill>
              </a:rPr>
              <a:t>[Add a header]</a:t>
            </a:r>
          </a:p>
          <a:p>
            <a:pPr algn="l">
              <a:spcAft>
                <a:spcPts val="500"/>
              </a:spcAft>
            </a:pPr>
            <a:r>
              <a:rPr sz="1200" b="0" i="1">
                <a:solidFill>
                  <a:srgbClr val="60607D"/>
                </a:solidFill>
              </a:rPr>
              <a:t>[Put here: a name, a line on what it is, and a few key points.]</a:t>
            </a:r>
          </a:p>
        </p:txBody>
      </p:sp>
      <p:sp>
        <p:nvSpPr>
          <p:cNvPr id="9" name="Rounded Rectangle 8"/>
          <p:cNvSpPr/>
          <p:nvPr/>
        </p:nvSpPr>
        <p:spPr>
          <a:xfrm>
            <a:off x="5028240" y="1170000"/>
            <a:ext cx="2135520" cy="50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000000"/>
                </a:solidFill>
              </a:rPr>
              <a:t>[Add a header]</a:t>
            </a:r>
          </a:p>
          <a:p>
            <a:pPr algn="l">
              <a:spcAft>
                <a:spcPts val="500"/>
              </a:spcAft>
            </a:pPr>
            <a:r>
              <a:rPr sz="1200" b="0" i="1">
                <a:solidFill>
                  <a:srgbClr val="60607D"/>
                </a:solidFill>
              </a:rPr>
              <a:t>[Put here: a name, a line on what it is, and a few key points.]</a:t>
            </a:r>
          </a:p>
        </p:txBody>
      </p:sp>
      <p:sp>
        <p:nvSpPr>
          <p:cNvPr id="10" name="Rounded Rectangle 9"/>
          <p:cNvSpPr/>
          <p:nvPr/>
        </p:nvSpPr>
        <p:spPr>
          <a:xfrm>
            <a:off x="7313760" y="1170000"/>
            <a:ext cx="2135520" cy="50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000000"/>
                </a:solidFill>
              </a:rPr>
              <a:t>[Add a header]</a:t>
            </a:r>
          </a:p>
          <a:p>
            <a:pPr algn="l">
              <a:spcAft>
                <a:spcPts val="500"/>
              </a:spcAft>
            </a:pPr>
            <a:r>
              <a:rPr sz="1200" b="0" i="1">
                <a:solidFill>
                  <a:srgbClr val="60607D"/>
                </a:solidFill>
              </a:rPr>
              <a:t>[Put here: a name, a line on what it is, and a few key points.]</a:t>
            </a:r>
          </a:p>
        </p:txBody>
      </p:sp>
      <p:sp>
        <p:nvSpPr>
          <p:cNvPr id="11" name="Rounded Rectangle 10"/>
          <p:cNvSpPr/>
          <p:nvPr/>
        </p:nvSpPr>
        <p:spPr>
          <a:xfrm>
            <a:off x="9599280" y="1170000"/>
            <a:ext cx="2135520" cy="50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000000"/>
                </a:solidFill>
              </a:rPr>
              <a:t>[Add a header]</a:t>
            </a:r>
          </a:p>
          <a:p>
            <a:pPr algn="l">
              <a:spcAft>
                <a:spcPts val="500"/>
              </a:spcAft>
            </a:pPr>
            <a:r>
              <a:rPr sz="1200" b="0" i="1">
                <a:solidFill>
                  <a:srgbClr val="60607D"/>
                </a:solidFill>
              </a:rPr>
              <a:t>[Put here: a name, a line on what it is, and a few key points.]</a:t>
            </a:r>
          </a:p>
        </p:txBody>
      </p:sp>
      <p:sp>
        <p:nvSpPr>
          <p:cNvPr id="12" name="Rounded Rectangle 11"/>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wrap="square" lIns="150000" rIns="120000" rtlCol="0" anchor="ctr"/>
          <a:lstStyle/>
          <a:p>
            <a:pPr algn="l"/>
            <a:r>
              <a:rPr sz="1050" b="1" i="0">
                <a:solidFill>
                  <a:srgbClr val="FFFFFF"/>
                </a:solidFill>
              </a:rPr>
              <a:t>Owner(s)</a:t>
            </a:r>
          </a:p>
          <a:p>
            <a:pPr algn="l"/>
            <a:r>
              <a:rPr sz="900" b="0" i="1">
                <a:solidFill>
                  <a:srgbClr val="D6D6DF"/>
                </a:solidFill>
              </a:rPr>
              <a:t>[Names]</a:t>
            </a: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f_hero_library.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endParaRPr/>
          </a:p>
        </p:txBody>
      </p:sp>
      <p:pic>
        <p:nvPicPr>
          <p:cNvPr id="7" name="Picture 6" descr="f_sf_library_3474720.jpg"/>
          <p:cNvPicPr>
            <a:picLocks noChangeAspect="1"/>
          </p:cNvPicPr>
          <p:nvPr/>
        </p:nvPicPr>
        <p:blipFill>
          <a:blip r:embed="rId3"/>
          <a:stretch>
            <a:fillRect/>
          </a:stretch>
        </p:blipFill>
        <p:spPr>
          <a:xfrm>
            <a:off x="0" y="0"/>
            <a:ext cx="3474720" cy="6858000"/>
          </a:xfrm>
          <a:prstGeom prst="rect">
            <a:avLst/>
          </a:prstGeom>
        </p:spPr>
      </p:pic>
      <p:sp>
        <p:nvSpPr>
          <p:cNvPr id="8" name="Rectangle 7"/>
          <p:cNvSpPr/>
          <p:nvPr/>
        </p:nvSpPr>
        <p:spPr>
          <a:xfrm>
            <a:off x="0" y="0"/>
            <a:ext cx="3474720" cy="6858000"/>
          </a:xfrm>
          <a:prstGeom prst="rect">
            <a:avLst/>
          </a:prstGeom>
          <a:gradFill rotWithShape="1">
            <a:gsLst>
              <a:gs pos="0">
                <a:srgbClr val="000000">
                  <a:alpha val="70000"/>
                </a:srgbClr>
              </a:gs>
              <a:gs pos="50000">
                <a:srgbClr val="000000">
                  <a:alpha val="55000"/>
                </a:srgbClr>
              </a:gs>
              <a:gs pos="100000">
                <a:srgbClr val="000000">
                  <a:alpha val="85000"/>
                </a:srgbClr>
              </a:gs>
            </a:gsLst>
            <a:lin ang="5400000" scaled="0"/>
          </a:gradFill>
          <a:ln>
            <a:noFill/>
          </a:ln>
        </p:spPr>
        <p:txBody>
          <a:bodyPr rtlCol="0" anchor="ctr"/>
          <a:lstStyle/>
          <a:p>
            <a:pPr algn="ctr"/>
            <a:endParaRPr/>
          </a:p>
        </p:txBody>
      </p:sp>
      <p:sp>
        <p:nvSpPr>
          <p:cNvPr id="9" name="Rounded Rectangle 8"/>
          <p:cNvSpPr/>
          <p:nvPr/>
        </p:nvSpPr>
        <p:spPr>
          <a:xfrm>
            <a:off x="274320" y="1463040"/>
            <a:ext cx="2926080" cy="4114800"/>
          </a:xfrm>
          <a:prstGeom prst="roundRect">
            <a:avLst>
              <a:gd name="adj" fmla="val 4000"/>
            </a:avLst>
          </a:prstGeom>
          <a:solidFill>
            <a:srgbClr val="000000">
              <a:alpha val="62000"/>
            </a:srgbClr>
          </a:solidFill>
          <a:ln>
            <a:noFill/>
          </a:ln>
        </p:spPr>
        <p:txBody>
          <a:bodyPr rtlCol="0" anchor="ctr"/>
          <a:lstStyle/>
          <a:p>
            <a:pPr algn="ctr"/>
            <a:endParaRPr/>
          </a:p>
        </p:txBody>
      </p:sp>
      <p:sp>
        <p:nvSpPr>
          <p:cNvPr id="3" name="Title 2"/>
          <p:cNvSpPr>
            <a:spLocks noGrp="1"/>
          </p:cNvSpPr>
          <p:nvPr>
            <p:ph type="title"/>
          </p:nvPr>
        </p:nvSpPr>
        <p:spPr>
          <a:xfrm>
            <a:off x="3840480" y="300000"/>
            <a:ext cx="4959520" cy="560000"/>
          </a:xfrm>
        </p:spPr>
        <p:txBody>
          <a:bodyPr/>
          <a:lstStyle/>
          <a:p>
            <a:r>
              <a:rPr sz="2400">
                <a:solidFill>
                  <a:srgbClr val="FFFFFF"/>
                </a:solidFill>
              </a:rPr>
              <a:t>[Add a header]</a:t>
            </a:r>
          </a:p>
        </p:txBody>
      </p:sp>
      <p:sp>
        <p:nvSpPr>
          <p:cNvPr id="4" name="Text Placeholder 3"/>
          <p:cNvSpPr>
            <a:spLocks noGrp="1"/>
          </p:cNvSpPr>
          <p:nvPr>
            <p:ph type="body" sz="quarter" idx="12"/>
          </p:nvPr>
        </p:nvSpPr>
        <p:spPr>
          <a:xfrm>
            <a:off x="3840480" y="170000"/>
            <a:ext cx="8000000" cy="182880"/>
          </a:xfrm>
        </p:spPr>
        <p:txBody>
          <a:bodyPr/>
          <a:lstStyle/>
          <a:p>
            <a:r>
              <a:rPr>
                <a:solidFill>
                  <a:srgbClr val="0391F2"/>
                </a:solidFill>
              </a:rPr>
              <a:t>TEMPLATE · SIX BLOCKS AND A TAKEAWAY · DETAIL</a:t>
            </a:r>
          </a:p>
        </p:txBody>
      </p:sp>
      <p:sp>
        <p:nvSpPr>
          <p:cNvPr id="10" name="TextBox 9"/>
          <p:cNvSpPr txBox="1"/>
          <p:nvPr/>
        </p:nvSpPr>
        <p:spPr>
          <a:xfrm>
            <a:off x="502920" y="1691640"/>
            <a:ext cx="2468880" cy="228600"/>
          </a:xfrm>
          <a:prstGeom prst="rect">
            <a:avLst/>
          </a:prstGeom>
          <a:noFill/>
        </p:spPr>
        <p:txBody>
          <a:bodyPr wrap="square" lIns="0" tIns="0" rIns="0" bIns="0" anchor="t">
            <a:spAutoFit/>
          </a:bodyPr>
          <a:lstStyle/>
          <a:p>
            <a:pPr algn="l">
              <a:spcBef>
                <a:spcPts val="200"/>
              </a:spcBef>
              <a:spcAft>
                <a:spcPts val="200"/>
              </a:spcAft>
            </a:pPr>
            <a:r>
              <a:rPr sz="850" b="1" i="0" cap="all" spc="100">
                <a:solidFill>
                  <a:srgbClr val="D6D6DF"/>
                </a:solidFill>
              </a:rPr>
              <a:t>[EYEBROW]</a:t>
            </a:r>
          </a:p>
        </p:txBody>
      </p:sp>
      <p:sp>
        <p:nvSpPr>
          <p:cNvPr id="11" name="TextBox 10"/>
          <p:cNvSpPr txBox="1"/>
          <p:nvPr/>
        </p:nvSpPr>
        <p:spPr>
          <a:xfrm>
            <a:off x="502920" y="2057400"/>
            <a:ext cx="2468880" cy="3383280"/>
          </a:xfrm>
          <a:prstGeom prst="rect">
            <a:avLst/>
          </a:prstGeom>
          <a:noFill/>
        </p:spPr>
        <p:txBody>
          <a:bodyPr wrap="square" lIns="0" tIns="0" rIns="0" bIns="0" anchor="t">
            <a:spAutoFit/>
          </a:bodyPr>
          <a:lstStyle/>
          <a:p>
            <a:pPr algn="l">
              <a:spcAft>
                <a:spcPts val="500"/>
              </a:spcAft>
            </a:pPr>
            <a:r>
              <a:rPr sz="1300" b="0" i="1">
                <a:solidFill>
                  <a:srgbClr val="D6D6DF"/>
                </a:solidFill>
              </a:rPr>
              <a:t>[Put here: one or two sentences that set up the slide.]</a:t>
            </a:r>
          </a:p>
        </p:txBody>
      </p:sp>
      <p:sp>
        <p:nvSpPr>
          <p:cNvPr id="12" name="Rounded Rectangle 11"/>
          <p:cNvSpPr/>
          <p:nvPr/>
        </p:nvSpPr>
        <p:spPr>
          <a:xfrm>
            <a:off x="3840480" y="1170000"/>
            <a:ext cx="3872160" cy="1276666"/>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64592" tIns="91440" rIns="109728" bIns="36576" rtlCol="0" anchor="t"/>
          <a:lstStyle/>
          <a:p>
            <a:pPr algn="l">
              <a:spcAft>
                <a:spcPts val="600"/>
              </a:spcAft>
            </a:pPr>
            <a:r>
              <a:rPr sz="1100" b="1" i="0" cap="all" spc="60">
                <a:solidFill>
                  <a:srgbClr val="000000"/>
                </a:solidFill>
              </a:rPr>
              <a:t>[Add a heading]</a:t>
            </a:r>
          </a:p>
          <a:p>
            <a:pPr algn="l">
              <a:spcAft>
                <a:spcPts val="500"/>
              </a:spcAft>
            </a:pPr>
            <a:r>
              <a:rPr sz="1150" b="0" i="1">
                <a:solidFill>
                  <a:srgbClr val="60607D"/>
                </a:solidFill>
              </a:rPr>
              <a:t>[Put here: a few sentences on this part.]</a:t>
            </a:r>
          </a:p>
        </p:txBody>
      </p:sp>
      <p:sp>
        <p:nvSpPr>
          <p:cNvPr id="13" name="Rounded Rectangle 12"/>
          <p:cNvSpPr/>
          <p:nvPr/>
        </p:nvSpPr>
        <p:spPr>
          <a:xfrm>
            <a:off x="7862640" y="1170000"/>
            <a:ext cx="3872160" cy="1276666"/>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64592" tIns="91440" rIns="109728" bIns="36576" rtlCol="0" anchor="t"/>
          <a:lstStyle/>
          <a:p>
            <a:pPr algn="l">
              <a:spcAft>
                <a:spcPts val="600"/>
              </a:spcAft>
            </a:pPr>
            <a:r>
              <a:rPr sz="1100" b="1" i="0" cap="all" spc="60">
                <a:solidFill>
                  <a:srgbClr val="000000"/>
                </a:solidFill>
              </a:rPr>
              <a:t>[Add a heading]</a:t>
            </a:r>
          </a:p>
          <a:p>
            <a:pPr algn="l">
              <a:spcAft>
                <a:spcPts val="500"/>
              </a:spcAft>
            </a:pPr>
            <a:r>
              <a:rPr sz="1150" b="0" i="1">
                <a:solidFill>
                  <a:srgbClr val="60607D"/>
                </a:solidFill>
              </a:rPr>
              <a:t>[Put here: a few sentences on this part.]</a:t>
            </a:r>
          </a:p>
        </p:txBody>
      </p:sp>
      <p:sp>
        <p:nvSpPr>
          <p:cNvPr id="14" name="Rounded Rectangle 13"/>
          <p:cNvSpPr/>
          <p:nvPr/>
        </p:nvSpPr>
        <p:spPr>
          <a:xfrm>
            <a:off x="3840480" y="2596666"/>
            <a:ext cx="3872160" cy="1276666"/>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64592" tIns="91440" rIns="109728" bIns="36576" rtlCol="0" anchor="t"/>
          <a:lstStyle/>
          <a:p>
            <a:pPr algn="l">
              <a:spcAft>
                <a:spcPts val="600"/>
              </a:spcAft>
            </a:pPr>
            <a:r>
              <a:rPr sz="1100" b="1" i="0" cap="all" spc="60">
                <a:solidFill>
                  <a:srgbClr val="000000"/>
                </a:solidFill>
              </a:rPr>
              <a:t>[Add a heading]</a:t>
            </a:r>
          </a:p>
          <a:p>
            <a:pPr algn="l">
              <a:spcAft>
                <a:spcPts val="500"/>
              </a:spcAft>
            </a:pPr>
            <a:r>
              <a:rPr sz="1150" b="0" i="1">
                <a:solidFill>
                  <a:srgbClr val="60607D"/>
                </a:solidFill>
              </a:rPr>
              <a:t>[Put here: a few sentences on this part.]</a:t>
            </a:r>
          </a:p>
        </p:txBody>
      </p:sp>
      <p:sp>
        <p:nvSpPr>
          <p:cNvPr id="15" name="Rounded Rectangle 14"/>
          <p:cNvSpPr/>
          <p:nvPr/>
        </p:nvSpPr>
        <p:spPr>
          <a:xfrm>
            <a:off x="7862640" y="2596666"/>
            <a:ext cx="3872160" cy="1276666"/>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64592" tIns="91440" rIns="109728" bIns="36576" rtlCol="0" anchor="t"/>
          <a:lstStyle/>
          <a:p>
            <a:pPr algn="l">
              <a:spcAft>
                <a:spcPts val="600"/>
              </a:spcAft>
            </a:pPr>
            <a:r>
              <a:rPr sz="1100" b="1" i="0" cap="all" spc="60">
                <a:solidFill>
                  <a:srgbClr val="000000"/>
                </a:solidFill>
              </a:rPr>
              <a:t>[Add a heading]</a:t>
            </a:r>
          </a:p>
          <a:p>
            <a:pPr algn="l">
              <a:spcAft>
                <a:spcPts val="500"/>
              </a:spcAft>
            </a:pPr>
            <a:r>
              <a:rPr sz="1150" b="0" i="1">
                <a:solidFill>
                  <a:srgbClr val="60607D"/>
                </a:solidFill>
              </a:rPr>
              <a:t>[Put here: a few sentences on this part.]</a:t>
            </a:r>
          </a:p>
        </p:txBody>
      </p:sp>
      <p:sp>
        <p:nvSpPr>
          <p:cNvPr id="16" name="Rounded Rectangle 15"/>
          <p:cNvSpPr/>
          <p:nvPr/>
        </p:nvSpPr>
        <p:spPr>
          <a:xfrm>
            <a:off x="3840480" y="4023332"/>
            <a:ext cx="3872160" cy="1276666"/>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64592" tIns="91440" rIns="109728" bIns="36576" rtlCol="0" anchor="t"/>
          <a:lstStyle/>
          <a:p>
            <a:pPr algn="l">
              <a:spcAft>
                <a:spcPts val="600"/>
              </a:spcAft>
            </a:pPr>
            <a:r>
              <a:rPr sz="1100" b="1" i="0" cap="all" spc="60">
                <a:solidFill>
                  <a:srgbClr val="000000"/>
                </a:solidFill>
              </a:rPr>
              <a:t>[Add a heading]</a:t>
            </a:r>
          </a:p>
          <a:p>
            <a:pPr algn="l">
              <a:spcAft>
                <a:spcPts val="500"/>
              </a:spcAft>
            </a:pPr>
            <a:r>
              <a:rPr sz="1150" b="0" i="1">
                <a:solidFill>
                  <a:srgbClr val="60607D"/>
                </a:solidFill>
              </a:rPr>
              <a:t>[Put here: a few sentences on this part.]</a:t>
            </a:r>
          </a:p>
        </p:txBody>
      </p:sp>
      <p:sp>
        <p:nvSpPr>
          <p:cNvPr id="17" name="Rounded Rectangle 16"/>
          <p:cNvSpPr/>
          <p:nvPr/>
        </p:nvSpPr>
        <p:spPr>
          <a:xfrm>
            <a:off x="7862640" y="4023332"/>
            <a:ext cx="3872160" cy="1276666"/>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64592" tIns="91440" rIns="109728" bIns="36576" rtlCol="0" anchor="t"/>
          <a:lstStyle/>
          <a:p>
            <a:pPr algn="l">
              <a:spcAft>
                <a:spcPts val="600"/>
              </a:spcAft>
            </a:pPr>
            <a:r>
              <a:rPr sz="1100" b="1" i="0" cap="all" spc="60">
                <a:solidFill>
                  <a:srgbClr val="000000"/>
                </a:solidFill>
              </a:rPr>
              <a:t>[Add a heading]</a:t>
            </a:r>
          </a:p>
          <a:p>
            <a:pPr algn="l">
              <a:spcAft>
                <a:spcPts val="500"/>
              </a:spcAft>
            </a:pPr>
            <a:r>
              <a:rPr sz="1150" b="0" i="1">
                <a:solidFill>
                  <a:srgbClr val="60607D"/>
                </a:solidFill>
              </a:rPr>
              <a:t>[Put here: a few sentences on this part.]</a:t>
            </a:r>
          </a:p>
        </p:txBody>
      </p:sp>
      <p:sp>
        <p:nvSpPr>
          <p:cNvPr id="18" name="Rounded Rectangle 17"/>
          <p:cNvSpPr/>
          <p:nvPr/>
        </p:nvSpPr>
        <p:spPr>
          <a:xfrm>
            <a:off x="3840480" y="5450000"/>
            <a:ext cx="7894320" cy="800000"/>
          </a:xfrm>
          <a:prstGeom prst="roundRect">
            <a:avLst>
              <a:gd name="adj" fmla="val 6000"/>
            </a:avLst>
          </a:prstGeom>
          <a:solidFill>
            <a:srgbClr val="000000"/>
          </a:solidFill>
          <a:ln>
            <a:noFill/>
          </a:ln>
          <a:effectLst>
            <a:outerShdw blurRad="190500" dist="50800" dir="5400000" algn="t" rotWithShape="0">
              <a:srgbClr val="000000">
                <a:alpha val="13000"/>
              </a:srgbClr>
            </a:outerShdw>
          </a:effectLst>
        </p:spPr>
        <p:txBody>
          <a:bodyPr wrap="square" lIns="250000" tIns="40000" rIns="250000" bIns="40000" rtlCol="0" anchor="ctr"/>
          <a:lstStyle/>
          <a:p>
            <a:pPr algn="l"/>
            <a:r>
              <a:rPr sz="900" b="1" i="0" cap="all" spc="100">
                <a:solidFill>
                  <a:srgbClr val="D6D6DF"/>
                </a:solidFill>
              </a:rPr>
              <a:t>Key takeaway</a:t>
            </a:r>
          </a:p>
          <a:p>
            <a:pPr algn="l"/>
            <a:r>
              <a:rPr sz="1200" b="0" i="1">
                <a:solidFill>
                  <a:srgbClr val="D6D6DF"/>
                </a:solidFill>
              </a:rPr>
              <a:t>[One sentence: the key takeaway.]</a:t>
            </a:r>
          </a:p>
        </p:txBody>
      </p:sp>
      <p:sp>
        <p:nvSpPr>
          <p:cNvPr id="19" name="Rounded Rectangle 18"/>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wrap="square" lIns="150000" rIns="120000" rtlCol="0" anchor="ctr"/>
          <a:lstStyle/>
          <a:p>
            <a:pPr algn="l"/>
            <a:r>
              <a:rPr sz="1050" b="1" i="0">
                <a:solidFill>
                  <a:srgbClr val="FFFFFF"/>
                </a:solidFill>
              </a:rPr>
              <a:t>Owner(s)</a:t>
            </a:r>
          </a:p>
          <a:p>
            <a:pPr algn="l"/>
            <a:r>
              <a:rPr sz="900" b="0" i="1">
                <a:solidFill>
                  <a:srgbClr val="D6D6DF"/>
                </a:solidFill>
              </a:rPr>
              <a:t>[Names]</a:t>
            </a: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f_hero_library.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endParaRP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[Add a header]</a:t>
            </a:r>
          </a:p>
        </p:txBody>
      </p:sp>
      <p:sp>
        <p:nvSpPr>
          <p:cNvPr id="4" name="Text Placeholder 3"/>
          <p:cNvSpPr>
            <a:spLocks noGrp="1"/>
          </p:cNvSpPr>
          <p:nvPr>
            <p:ph type="body" sz="quarter" idx="12"/>
          </p:nvPr>
        </p:nvSpPr>
        <p:spPr>
          <a:xfrm>
            <a:off x="457200" y="170000"/>
            <a:ext cx="8000000" cy="182880"/>
          </a:xfrm>
        </p:spPr>
        <p:txBody>
          <a:bodyPr/>
          <a:lstStyle/>
          <a:p>
            <a:r>
              <a:rPr>
                <a:solidFill>
                  <a:srgbClr val="0391F2"/>
                </a:solidFill>
              </a:rPr>
              <a:t>TEMPLATE · PROMPT AND TOPICS · SUPPORTING DETAIL</a:t>
            </a:r>
          </a:p>
        </p:txBody>
      </p:sp>
      <p:sp>
        <p:nvSpPr>
          <p:cNvPr id="7" name="Rounded Rectangle 6"/>
          <p:cNvSpPr/>
          <p:nvPr/>
        </p:nvSpPr>
        <p:spPr>
          <a:xfrm>
            <a:off x="457200" y="1170000"/>
            <a:ext cx="11277600" cy="1097280"/>
          </a:xfrm>
          <a:prstGeom prst="roundRect">
            <a:avLst>
              <a:gd name="adj" fmla="val 3200"/>
            </a:avLst>
          </a:prstGeom>
          <a:solidFill>
            <a:srgbClr val="000000"/>
          </a:solidFill>
          <a:ln>
            <a:noFill/>
          </a:ln>
          <a:effectLst>
            <a:outerShdw blurRad="190500" dist="50800" dir="5400000" algn="t" rotWithShape="0">
              <a:srgbClr val="000000">
                <a:alpha val="13000"/>
              </a:srgbClr>
            </a:outerShdw>
          </a:effectLst>
        </p:spPr>
        <p:txBody>
          <a:bodyPr wrap="square" lIns="320040" tIns="137160" rIns="274320" bIns="91440" rtlCol="0" anchor="ctr"/>
          <a:lstStyle/>
          <a:p>
            <a:pPr algn="l">
              <a:spcBef>
                <a:spcPts val="200"/>
              </a:spcBef>
              <a:spcAft>
                <a:spcPts val="200"/>
              </a:spcAft>
            </a:pPr>
            <a:r>
              <a:rPr sz="850" b="1" i="0" cap="all" spc="100">
                <a:solidFill>
                  <a:srgbClr val="D6D6DF"/>
                </a:solidFill>
              </a:rPr>
              <a:t>Prompt</a:t>
            </a:r>
          </a:p>
          <a:p>
            <a:pPr algn="l">
              <a:spcAft>
                <a:spcPts val="500"/>
              </a:spcAft>
            </a:pPr>
            <a:r>
              <a:rPr sz="2200" b="0" i="1">
                <a:solidFill>
                  <a:srgbClr val="D6D6DF"/>
                </a:solidFill>
              </a:rPr>
              <a:t>[Put here: the question this slide answers.]</a:t>
            </a:r>
          </a:p>
        </p:txBody>
      </p:sp>
      <p:sp>
        <p:nvSpPr>
          <p:cNvPr id="8" name="TextBox 7"/>
          <p:cNvSpPr txBox="1"/>
          <p:nvPr/>
        </p:nvSpPr>
        <p:spPr>
          <a:xfrm>
            <a:off x="457200" y="2450160"/>
            <a:ext cx="3657600" cy="228600"/>
          </a:xfrm>
          <a:prstGeom prst="rect">
            <a:avLst/>
          </a:prstGeom>
          <a:noFill/>
        </p:spPr>
        <p:txBody>
          <a:bodyPr wrap="square" lIns="0" tIns="0" rIns="0" bIns="0" anchor="t">
            <a:spAutoFit/>
          </a:bodyPr>
          <a:lstStyle/>
          <a:p>
            <a:pPr algn="l">
              <a:spcAft>
                <a:spcPts val="600"/>
              </a:spcAft>
            </a:pPr>
            <a:r>
              <a:rPr sz="1100" b="1" i="0" cap="all" spc="60">
                <a:solidFill>
                  <a:srgbClr val="000000"/>
                </a:solidFill>
              </a:rPr>
              <a:t>TOPICS TO COVER</a:t>
            </a:r>
          </a:p>
        </p:txBody>
      </p:sp>
      <p:sp>
        <p:nvSpPr>
          <p:cNvPr id="9" name="Rounded Rectangle 8"/>
          <p:cNvSpPr/>
          <p:nvPr/>
        </p:nvSpPr>
        <p:spPr>
          <a:xfrm>
            <a:off x="457200" y="2770200"/>
            <a:ext cx="2706900" cy="16649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a:solidFill>
                  <a:srgbClr val="60607D"/>
                </a:solidFill>
              </a:rPr>
              <a:t>01</a:t>
            </a:r>
          </a:p>
          <a:p>
            <a:pPr algn="l">
              <a:spcBef>
                <a:spcPts val="400"/>
              </a:spcBef>
              <a:spcAft>
                <a:spcPts val="200"/>
              </a:spcAft>
            </a:pPr>
            <a:r>
              <a:rPr sz="1700" b="1" i="0">
                <a:solidFill>
                  <a:srgbClr val="000000"/>
                </a:solidFill>
              </a:rPr>
              <a:t>[Topic]</a:t>
            </a:r>
          </a:p>
        </p:txBody>
      </p:sp>
      <p:sp>
        <p:nvSpPr>
          <p:cNvPr id="10" name="Rounded Rectangle 9"/>
          <p:cNvSpPr/>
          <p:nvPr/>
        </p:nvSpPr>
        <p:spPr>
          <a:xfrm>
            <a:off x="3314100" y="2770200"/>
            <a:ext cx="2706900" cy="16649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a:solidFill>
                  <a:srgbClr val="60607D"/>
                </a:solidFill>
              </a:rPr>
              <a:t>02</a:t>
            </a:r>
          </a:p>
          <a:p>
            <a:pPr algn="l">
              <a:spcBef>
                <a:spcPts val="400"/>
              </a:spcBef>
              <a:spcAft>
                <a:spcPts val="200"/>
              </a:spcAft>
            </a:pPr>
            <a:r>
              <a:rPr sz="1700" b="1" i="0">
                <a:solidFill>
                  <a:srgbClr val="000000"/>
                </a:solidFill>
              </a:rPr>
              <a:t>[Topic]</a:t>
            </a:r>
          </a:p>
        </p:txBody>
      </p:sp>
      <p:sp>
        <p:nvSpPr>
          <p:cNvPr id="11" name="Rounded Rectangle 10"/>
          <p:cNvSpPr/>
          <p:nvPr/>
        </p:nvSpPr>
        <p:spPr>
          <a:xfrm>
            <a:off x="6171000" y="2770200"/>
            <a:ext cx="2706900" cy="16649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a:solidFill>
                  <a:srgbClr val="60607D"/>
                </a:solidFill>
              </a:rPr>
              <a:t>03</a:t>
            </a:r>
          </a:p>
          <a:p>
            <a:pPr algn="l">
              <a:spcBef>
                <a:spcPts val="400"/>
              </a:spcBef>
              <a:spcAft>
                <a:spcPts val="200"/>
              </a:spcAft>
            </a:pPr>
            <a:r>
              <a:rPr sz="1700" b="1" i="0">
                <a:solidFill>
                  <a:srgbClr val="000000"/>
                </a:solidFill>
              </a:rPr>
              <a:t>[Topic]</a:t>
            </a:r>
          </a:p>
        </p:txBody>
      </p:sp>
      <p:sp>
        <p:nvSpPr>
          <p:cNvPr id="12" name="Rounded Rectangle 11"/>
          <p:cNvSpPr/>
          <p:nvPr/>
        </p:nvSpPr>
        <p:spPr>
          <a:xfrm>
            <a:off x="9027900" y="2770200"/>
            <a:ext cx="2706900" cy="16649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a:solidFill>
                  <a:srgbClr val="60607D"/>
                </a:solidFill>
              </a:rPr>
              <a:t>04</a:t>
            </a:r>
          </a:p>
          <a:p>
            <a:pPr algn="l">
              <a:spcBef>
                <a:spcPts val="400"/>
              </a:spcBef>
              <a:spcAft>
                <a:spcPts val="200"/>
              </a:spcAft>
            </a:pPr>
            <a:r>
              <a:rPr sz="1700" b="1" i="0">
                <a:solidFill>
                  <a:srgbClr val="000000"/>
                </a:solidFill>
              </a:rPr>
              <a:t>[Topic]</a:t>
            </a:r>
          </a:p>
        </p:txBody>
      </p:sp>
      <p:sp>
        <p:nvSpPr>
          <p:cNvPr id="13" name="Rounded Rectangle 12"/>
          <p:cNvSpPr/>
          <p:nvPr/>
        </p:nvSpPr>
        <p:spPr>
          <a:xfrm>
            <a:off x="457200" y="4585100"/>
            <a:ext cx="2706900" cy="16649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a:solidFill>
                  <a:srgbClr val="60607D"/>
                </a:solidFill>
              </a:rPr>
              <a:t>05</a:t>
            </a:r>
          </a:p>
          <a:p>
            <a:pPr algn="l">
              <a:spcBef>
                <a:spcPts val="400"/>
              </a:spcBef>
              <a:spcAft>
                <a:spcPts val="200"/>
              </a:spcAft>
            </a:pPr>
            <a:r>
              <a:rPr sz="1700" b="1" i="0">
                <a:solidFill>
                  <a:srgbClr val="000000"/>
                </a:solidFill>
              </a:rPr>
              <a:t>[Topic]</a:t>
            </a:r>
          </a:p>
        </p:txBody>
      </p:sp>
      <p:sp>
        <p:nvSpPr>
          <p:cNvPr id="14" name="Rounded Rectangle 13"/>
          <p:cNvSpPr/>
          <p:nvPr/>
        </p:nvSpPr>
        <p:spPr>
          <a:xfrm>
            <a:off x="3314100" y="4585100"/>
            <a:ext cx="2706900" cy="1664900"/>
          </a:xfrm>
          <a:prstGeom prst="roundRect">
            <a:avLst>
              <a:gd name="adj" fmla="val 3200"/>
            </a:avLst>
          </a:prstGeom>
          <a:solidFill>
            <a:srgbClr val="000000"/>
          </a:solidFill>
          <a:ln>
            <a:no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a:solidFill>
                  <a:srgbClr val="D6D6DF"/>
                </a:solidFill>
              </a:rPr>
              <a:t>06</a:t>
            </a:r>
          </a:p>
          <a:p>
            <a:pPr algn="l">
              <a:spcBef>
                <a:spcPts val="400"/>
              </a:spcBef>
              <a:spcAft>
                <a:spcPts val="200"/>
              </a:spcAft>
            </a:pPr>
            <a:r>
              <a:rPr sz="1700" b="1" i="0">
                <a:solidFill>
                  <a:srgbClr val="FFFFFF"/>
                </a:solidFill>
              </a:rPr>
              <a:t>[Topic]</a:t>
            </a:r>
          </a:p>
        </p:txBody>
      </p:sp>
      <p:sp>
        <p:nvSpPr>
          <p:cNvPr id="15" name="Rounded Rectangle 14"/>
          <p:cNvSpPr/>
          <p:nvPr/>
        </p:nvSpPr>
        <p:spPr>
          <a:xfrm>
            <a:off x="6171000" y="4585100"/>
            <a:ext cx="2706900" cy="1664900"/>
          </a:xfrm>
          <a:prstGeom prst="roundRect">
            <a:avLst>
              <a:gd name="adj" fmla="val 3200"/>
            </a:avLst>
          </a:prstGeom>
          <a:solidFill>
            <a:srgbClr val="000000"/>
          </a:solidFill>
          <a:ln>
            <a:no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a:solidFill>
                  <a:srgbClr val="D6D6DF"/>
                </a:solidFill>
              </a:rPr>
              <a:t>07</a:t>
            </a:r>
          </a:p>
          <a:p>
            <a:pPr algn="l">
              <a:spcBef>
                <a:spcPts val="400"/>
              </a:spcBef>
              <a:spcAft>
                <a:spcPts val="200"/>
              </a:spcAft>
            </a:pPr>
            <a:r>
              <a:rPr sz="1700" b="1" i="0">
                <a:solidFill>
                  <a:srgbClr val="FFFFFF"/>
                </a:solidFill>
              </a:rPr>
              <a:t>[Topic]</a:t>
            </a:r>
          </a:p>
        </p:txBody>
      </p:sp>
      <p:sp>
        <p:nvSpPr>
          <p:cNvPr id="16" name="Rounded Rectangle 15"/>
          <p:cNvSpPr/>
          <p:nvPr/>
        </p:nvSpPr>
        <p:spPr>
          <a:xfrm>
            <a:off x="9027900" y="4585100"/>
            <a:ext cx="2706900" cy="1664900"/>
          </a:xfrm>
          <a:prstGeom prst="roundRect">
            <a:avLst>
              <a:gd name="adj" fmla="val 3200"/>
            </a:avLst>
          </a:prstGeom>
          <a:solidFill>
            <a:srgbClr val="000000"/>
          </a:solidFill>
          <a:ln>
            <a:no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a:solidFill>
                  <a:srgbClr val="D6D6DF"/>
                </a:solidFill>
              </a:rPr>
              <a:t>08</a:t>
            </a:r>
          </a:p>
          <a:p>
            <a:pPr algn="l">
              <a:spcBef>
                <a:spcPts val="400"/>
              </a:spcBef>
              <a:spcAft>
                <a:spcPts val="200"/>
              </a:spcAft>
            </a:pPr>
            <a:r>
              <a:rPr sz="1700" b="1" i="0">
                <a:solidFill>
                  <a:srgbClr val="FFFFFF"/>
                </a:solidFill>
              </a:rPr>
              <a:t>[Topic]</a:t>
            </a:r>
          </a:p>
        </p:txBody>
      </p:sp>
      <p:sp>
        <p:nvSpPr>
          <p:cNvPr id="17" name="Rounded Rectangle 16"/>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wrap="square" lIns="150000" rIns="120000" rtlCol="0" anchor="ctr"/>
          <a:lstStyle/>
          <a:p>
            <a:pPr algn="l"/>
            <a:r>
              <a:rPr sz="1050" b="1" i="0">
                <a:solidFill>
                  <a:srgbClr val="FFFFFF"/>
                </a:solidFill>
              </a:rPr>
              <a:t>Owner(s)</a:t>
            </a:r>
          </a:p>
          <a:p>
            <a:pPr algn="l"/>
            <a:r>
              <a:rPr sz="900" b="0" i="1">
                <a:solidFill>
                  <a:srgbClr val="D6D6DF"/>
                </a:solidFill>
              </a:rPr>
              <a:t>[Names]</a:t>
            </a: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 name="Picture 4" descr="f_hero_library.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endParaRP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[Add a header]</a:t>
            </a:r>
          </a:p>
        </p:txBody>
      </p:sp>
      <p:sp>
        <p:nvSpPr>
          <p:cNvPr id="4" name="Text Placeholder 3"/>
          <p:cNvSpPr>
            <a:spLocks noGrp="1"/>
          </p:cNvSpPr>
          <p:nvPr>
            <p:ph type="body" sz="quarter" idx="12"/>
          </p:nvPr>
        </p:nvSpPr>
        <p:spPr>
          <a:xfrm>
            <a:off x="457200" y="170000"/>
            <a:ext cx="8000000" cy="182880"/>
          </a:xfrm>
        </p:spPr>
        <p:txBody>
          <a:bodyPr/>
          <a:lstStyle/>
          <a:p>
            <a:r>
              <a:rPr>
                <a:solidFill>
                  <a:srgbClr val="0391F2"/>
                </a:solidFill>
              </a:rPr>
              <a:t>TEMPLATE · CARD GRID · SUPPORTING DETAIL</a:t>
            </a:r>
          </a:p>
        </p:txBody>
      </p:sp>
      <p:sp>
        <p:nvSpPr>
          <p:cNvPr id="7" name="Rounded Rectangle 6"/>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wrap="square" lIns="150000" rIns="120000" rtlCol="0" anchor="ctr"/>
          <a:lstStyle/>
          <a:p>
            <a:pPr algn="l"/>
            <a:r>
              <a:rPr sz="1050" b="1" i="0">
                <a:solidFill>
                  <a:srgbClr val="FFFFFF"/>
                </a:solidFill>
              </a:rPr>
              <a:t>Owner(s)</a:t>
            </a:r>
          </a:p>
          <a:p>
            <a:pPr algn="l"/>
            <a:r>
              <a:rPr sz="900" b="0" i="1">
                <a:solidFill>
                  <a:srgbClr val="D6D6DF"/>
                </a:solidFill>
              </a:rPr>
              <a:t>[Names]</a:t>
            </a:r>
          </a:p>
        </p:txBody>
      </p:sp>
      <p:sp>
        <p:nvSpPr>
          <p:cNvPr id="8" name="TextBox 7"/>
          <p:cNvSpPr txBox="1"/>
          <p:nvPr/>
        </p:nvSpPr>
        <p:spPr>
          <a:xfrm>
            <a:off x="457200" y="1150000"/>
            <a:ext cx="11277600" cy="365760"/>
          </a:xfrm>
          <a:prstGeom prst="rect">
            <a:avLst/>
          </a:prstGeom>
          <a:noFill/>
        </p:spPr>
        <p:txBody>
          <a:bodyPr wrap="square" lIns="0" tIns="0" rIns="0" bIns="0" anchor="t">
            <a:spAutoFit/>
          </a:bodyPr>
          <a:lstStyle/>
          <a:p>
            <a:pPr algn="l">
              <a:spcAft>
                <a:spcPts val="500"/>
              </a:spcAft>
            </a:pPr>
            <a:r>
              <a:rPr sz="1250" b="0" i="1">
                <a:solidFill>
                  <a:srgbClr val="60607D"/>
                </a:solidFill>
              </a:rPr>
              <a:t>[Put here: one line on what this slide shows.]</a:t>
            </a:r>
          </a:p>
        </p:txBody>
      </p:sp>
      <p:sp>
        <p:nvSpPr>
          <p:cNvPr id="9" name="Rounded Rectangle 8"/>
          <p:cNvSpPr/>
          <p:nvPr/>
        </p:nvSpPr>
        <p:spPr>
          <a:xfrm>
            <a:off x="457200" y="1627200"/>
            <a:ext cx="3659200" cy="22364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000000"/>
                </a:solidFill>
              </a:rPr>
              <a:t>[Add a heading]</a:t>
            </a:r>
          </a:p>
          <a:p>
            <a:pPr algn="l">
              <a:spcAft>
                <a:spcPts val="500"/>
              </a:spcAft>
            </a:pPr>
            <a:r>
              <a:rPr sz="1200" b="0" i="1">
                <a:solidFill>
                  <a:srgbClr val="60607D"/>
                </a:solidFill>
              </a:rPr>
              <a:t>[Put here: a line or two, or a few bullets.]</a:t>
            </a:r>
          </a:p>
        </p:txBody>
      </p:sp>
      <p:sp>
        <p:nvSpPr>
          <p:cNvPr id="10" name="Rounded Rectangle 9"/>
          <p:cNvSpPr/>
          <p:nvPr/>
        </p:nvSpPr>
        <p:spPr>
          <a:xfrm>
            <a:off x="4266400" y="1627200"/>
            <a:ext cx="3659200" cy="22364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000000"/>
                </a:solidFill>
              </a:rPr>
              <a:t>[Add a heading]</a:t>
            </a:r>
          </a:p>
          <a:p>
            <a:pPr algn="l">
              <a:spcAft>
                <a:spcPts val="500"/>
              </a:spcAft>
            </a:pPr>
            <a:r>
              <a:rPr sz="1200" b="0" i="1">
                <a:solidFill>
                  <a:srgbClr val="60607D"/>
                </a:solidFill>
              </a:rPr>
              <a:t>[Put here: a line or two, or a few bullets.]</a:t>
            </a:r>
          </a:p>
        </p:txBody>
      </p:sp>
      <p:sp>
        <p:nvSpPr>
          <p:cNvPr id="11" name="Rounded Rectangle 10"/>
          <p:cNvSpPr/>
          <p:nvPr/>
        </p:nvSpPr>
        <p:spPr>
          <a:xfrm>
            <a:off x="8075600" y="1627200"/>
            <a:ext cx="3659200" cy="22364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000000"/>
                </a:solidFill>
              </a:rPr>
              <a:t>[Add a heading]</a:t>
            </a:r>
          </a:p>
          <a:p>
            <a:pPr algn="l">
              <a:spcAft>
                <a:spcPts val="500"/>
              </a:spcAft>
            </a:pPr>
            <a:r>
              <a:rPr sz="1200" b="0" i="1">
                <a:solidFill>
                  <a:srgbClr val="60607D"/>
                </a:solidFill>
              </a:rPr>
              <a:t>[Put here: a line or two, or a few bullets.]</a:t>
            </a:r>
          </a:p>
        </p:txBody>
      </p:sp>
      <p:sp>
        <p:nvSpPr>
          <p:cNvPr id="12" name="Rounded Rectangle 11"/>
          <p:cNvSpPr/>
          <p:nvPr/>
        </p:nvSpPr>
        <p:spPr>
          <a:xfrm>
            <a:off x="457200" y="4013600"/>
            <a:ext cx="3659200" cy="22364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000000"/>
                </a:solidFill>
              </a:rPr>
              <a:t>[Add a heading]</a:t>
            </a:r>
          </a:p>
          <a:p>
            <a:pPr algn="l">
              <a:spcAft>
                <a:spcPts val="500"/>
              </a:spcAft>
            </a:pPr>
            <a:r>
              <a:rPr sz="1200" b="0" i="1">
                <a:solidFill>
                  <a:srgbClr val="60607D"/>
                </a:solidFill>
              </a:rPr>
              <a:t>[Put here: a line or two, or a few bullets.]</a:t>
            </a:r>
          </a:p>
        </p:txBody>
      </p:sp>
      <p:sp>
        <p:nvSpPr>
          <p:cNvPr id="13" name="Rounded Rectangle 12"/>
          <p:cNvSpPr/>
          <p:nvPr/>
        </p:nvSpPr>
        <p:spPr>
          <a:xfrm>
            <a:off x="4266400" y="4013600"/>
            <a:ext cx="3659200" cy="22364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000000"/>
                </a:solidFill>
              </a:rPr>
              <a:t>[Add a heading]</a:t>
            </a:r>
          </a:p>
          <a:p>
            <a:pPr algn="l">
              <a:spcAft>
                <a:spcPts val="500"/>
              </a:spcAft>
            </a:pPr>
            <a:r>
              <a:rPr sz="1200" b="0" i="1">
                <a:solidFill>
                  <a:srgbClr val="60607D"/>
                </a:solidFill>
              </a:rPr>
              <a:t>[Put here: a line or two, or a few bullets.]</a:t>
            </a:r>
          </a:p>
        </p:txBody>
      </p:sp>
      <p:sp>
        <p:nvSpPr>
          <p:cNvPr id="14" name="Rounded Rectangle 13"/>
          <p:cNvSpPr/>
          <p:nvPr/>
        </p:nvSpPr>
        <p:spPr>
          <a:xfrm>
            <a:off x="8075600" y="4013600"/>
            <a:ext cx="3659200" cy="22364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000000"/>
                </a:solidFill>
              </a:rPr>
              <a:t>[Add a heading]</a:t>
            </a:r>
          </a:p>
          <a:p>
            <a:pPr algn="l">
              <a:spcAft>
                <a:spcPts val="500"/>
              </a:spcAft>
            </a:pPr>
            <a:r>
              <a:rPr sz="1200" b="0" i="1">
                <a:solidFill>
                  <a:srgbClr val="60607D"/>
                </a:solidFill>
              </a:rPr>
              <a:t>[Put here: a line or two, or a few bullets.]</a:t>
            </a: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 name="Picture 4" descr="f_hero_library.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endParaRP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[Add a header]</a:t>
            </a:r>
          </a:p>
        </p:txBody>
      </p:sp>
      <p:sp>
        <p:nvSpPr>
          <p:cNvPr id="4" name="Text Placeholder 3"/>
          <p:cNvSpPr>
            <a:spLocks noGrp="1"/>
          </p:cNvSpPr>
          <p:nvPr>
            <p:ph type="body" sz="quarter" idx="12"/>
          </p:nvPr>
        </p:nvSpPr>
        <p:spPr>
          <a:xfrm>
            <a:off x="457200" y="170000"/>
            <a:ext cx="8000000" cy="182880"/>
          </a:xfrm>
        </p:spPr>
        <p:txBody>
          <a:bodyPr/>
          <a:lstStyle/>
          <a:p>
            <a:r>
              <a:rPr>
                <a:solidFill>
                  <a:srgbClr val="0391F2"/>
                </a:solidFill>
              </a:rPr>
              <a:t>TEMPLATE · ROWS · SUPPORTING DETAIL</a:t>
            </a:r>
          </a:p>
        </p:txBody>
      </p:sp>
      <p:sp>
        <p:nvSpPr>
          <p:cNvPr id="7" name="Rounded Rectangle 6"/>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wrap="square" lIns="150000" rIns="120000" rtlCol="0" anchor="ctr"/>
          <a:lstStyle/>
          <a:p>
            <a:pPr algn="l"/>
            <a:r>
              <a:rPr sz="1050" b="1" i="0">
                <a:solidFill>
                  <a:srgbClr val="FFFFFF"/>
                </a:solidFill>
              </a:rPr>
              <a:t>Owner(s)</a:t>
            </a:r>
          </a:p>
          <a:p>
            <a:pPr algn="l"/>
            <a:r>
              <a:rPr sz="900" b="0" i="1">
                <a:solidFill>
                  <a:srgbClr val="D6D6DF"/>
                </a:solidFill>
              </a:rPr>
              <a:t>[Names]</a:t>
            </a:r>
          </a:p>
        </p:txBody>
      </p:sp>
      <p:sp>
        <p:nvSpPr>
          <p:cNvPr id="8" name="TextBox 7"/>
          <p:cNvSpPr txBox="1"/>
          <p:nvPr/>
        </p:nvSpPr>
        <p:spPr>
          <a:xfrm>
            <a:off x="457200" y="1150000"/>
            <a:ext cx="11277600" cy="365760"/>
          </a:xfrm>
          <a:prstGeom prst="rect">
            <a:avLst/>
          </a:prstGeom>
          <a:noFill/>
        </p:spPr>
        <p:txBody>
          <a:bodyPr wrap="square" lIns="0" tIns="0" rIns="0" bIns="0" anchor="t">
            <a:spAutoFit/>
          </a:bodyPr>
          <a:lstStyle/>
          <a:p>
            <a:pPr algn="l">
              <a:spcAft>
                <a:spcPts val="500"/>
              </a:spcAft>
            </a:pPr>
            <a:r>
              <a:rPr sz="1250" b="0" i="1">
                <a:solidFill>
                  <a:srgbClr val="60607D"/>
                </a:solidFill>
              </a:rPr>
              <a:t>[Put here: one line on what this slide shows.]</a:t>
            </a:r>
          </a:p>
        </p:txBody>
      </p:sp>
      <p:sp>
        <p:nvSpPr>
          <p:cNvPr id="9" name="Rounded Rectangle 8"/>
          <p:cNvSpPr/>
          <p:nvPr/>
        </p:nvSpPr>
        <p:spPr>
          <a:xfrm>
            <a:off x="457200" y="1627200"/>
            <a:ext cx="11277600" cy="713232"/>
          </a:xfrm>
          <a:prstGeom prst="roundRect">
            <a:avLst>
              <a:gd name="adj" fmla="val 90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ctr"/>
            <a:endParaRPr/>
          </a:p>
        </p:txBody>
      </p:sp>
      <p:sp>
        <p:nvSpPr>
          <p:cNvPr id="10" name="TextBox 9"/>
          <p:cNvSpPr txBox="1"/>
          <p:nvPr/>
        </p:nvSpPr>
        <p:spPr>
          <a:xfrm>
            <a:off x="685800" y="1672920"/>
            <a:ext cx="2926080" cy="621792"/>
          </a:xfrm>
          <a:prstGeom prst="rect">
            <a:avLst/>
          </a:prstGeom>
          <a:noFill/>
        </p:spPr>
        <p:txBody>
          <a:bodyPr wrap="square" lIns="0" tIns="0" rIns="0" bIns="0" anchor="ctr">
            <a:spAutoFit/>
          </a:bodyPr>
          <a:lstStyle/>
          <a:p>
            <a:pPr algn="l">
              <a:spcBef>
                <a:spcPts val="400"/>
              </a:spcBef>
              <a:spcAft>
                <a:spcPts val="200"/>
              </a:spcAft>
            </a:pPr>
            <a:r>
              <a:rPr sz="1250" b="1" i="0">
                <a:solidFill>
                  <a:srgbClr val="000000"/>
                </a:solidFill>
              </a:rPr>
              <a:t>[Add a heading]</a:t>
            </a:r>
          </a:p>
        </p:txBody>
      </p:sp>
      <p:sp>
        <p:nvSpPr>
          <p:cNvPr id="11" name="TextBox 10"/>
          <p:cNvSpPr txBox="1"/>
          <p:nvPr/>
        </p:nvSpPr>
        <p:spPr>
          <a:xfrm>
            <a:off x="3840480" y="1672920"/>
            <a:ext cx="7620000" cy="621792"/>
          </a:xfrm>
          <a:prstGeom prst="rect">
            <a:avLst/>
          </a:prstGeom>
          <a:noFill/>
        </p:spPr>
        <p:txBody>
          <a:bodyPr wrap="square" lIns="0" tIns="0" rIns="0" bIns="0" anchor="ctr">
            <a:spAutoFit/>
          </a:bodyPr>
          <a:lstStyle/>
          <a:p>
            <a:pPr algn="l">
              <a:spcAft>
                <a:spcPts val="500"/>
              </a:spcAft>
            </a:pPr>
            <a:r>
              <a:rPr sz="1150" b="0" i="1">
                <a:solidFill>
                  <a:srgbClr val="60607D"/>
                </a:solidFill>
              </a:rPr>
              <a:t>[Put here: the detail, in a sentence or two.]</a:t>
            </a:r>
          </a:p>
        </p:txBody>
      </p:sp>
      <p:sp>
        <p:nvSpPr>
          <p:cNvPr id="12" name="Rounded Rectangle 11"/>
          <p:cNvSpPr/>
          <p:nvPr/>
        </p:nvSpPr>
        <p:spPr>
          <a:xfrm>
            <a:off x="457200" y="2400432"/>
            <a:ext cx="11277600" cy="713232"/>
          </a:xfrm>
          <a:prstGeom prst="roundRect">
            <a:avLst>
              <a:gd name="adj" fmla="val 90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ctr"/>
            <a:endParaRPr/>
          </a:p>
        </p:txBody>
      </p:sp>
      <p:sp>
        <p:nvSpPr>
          <p:cNvPr id="13" name="TextBox 12"/>
          <p:cNvSpPr txBox="1"/>
          <p:nvPr/>
        </p:nvSpPr>
        <p:spPr>
          <a:xfrm>
            <a:off x="685800" y="2446152"/>
            <a:ext cx="2926080" cy="621792"/>
          </a:xfrm>
          <a:prstGeom prst="rect">
            <a:avLst/>
          </a:prstGeom>
          <a:noFill/>
        </p:spPr>
        <p:txBody>
          <a:bodyPr wrap="square" lIns="0" tIns="0" rIns="0" bIns="0" anchor="ctr">
            <a:spAutoFit/>
          </a:bodyPr>
          <a:lstStyle/>
          <a:p>
            <a:pPr algn="l">
              <a:spcBef>
                <a:spcPts val="400"/>
              </a:spcBef>
              <a:spcAft>
                <a:spcPts val="200"/>
              </a:spcAft>
            </a:pPr>
            <a:r>
              <a:rPr sz="1250" b="1" i="0">
                <a:solidFill>
                  <a:srgbClr val="000000"/>
                </a:solidFill>
              </a:rPr>
              <a:t>[Add a heading]</a:t>
            </a:r>
          </a:p>
        </p:txBody>
      </p:sp>
      <p:sp>
        <p:nvSpPr>
          <p:cNvPr id="14" name="TextBox 13"/>
          <p:cNvSpPr txBox="1"/>
          <p:nvPr/>
        </p:nvSpPr>
        <p:spPr>
          <a:xfrm>
            <a:off x="3840480" y="2446152"/>
            <a:ext cx="7620000" cy="621792"/>
          </a:xfrm>
          <a:prstGeom prst="rect">
            <a:avLst/>
          </a:prstGeom>
          <a:noFill/>
        </p:spPr>
        <p:txBody>
          <a:bodyPr wrap="square" lIns="0" tIns="0" rIns="0" bIns="0" anchor="ctr">
            <a:spAutoFit/>
          </a:bodyPr>
          <a:lstStyle/>
          <a:p>
            <a:pPr algn="l">
              <a:spcAft>
                <a:spcPts val="500"/>
              </a:spcAft>
            </a:pPr>
            <a:r>
              <a:rPr sz="1150" b="0" i="1">
                <a:solidFill>
                  <a:srgbClr val="60607D"/>
                </a:solidFill>
              </a:rPr>
              <a:t>[Put here: the detail, in a sentence or two.]</a:t>
            </a:r>
          </a:p>
        </p:txBody>
      </p:sp>
      <p:sp>
        <p:nvSpPr>
          <p:cNvPr id="15" name="Rounded Rectangle 14"/>
          <p:cNvSpPr/>
          <p:nvPr/>
        </p:nvSpPr>
        <p:spPr>
          <a:xfrm>
            <a:off x="457200" y="3173664"/>
            <a:ext cx="11277600" cy="713232"/>
          </a:xfrm>
          <a:prstGeom prst="roundRect">
            <a:avLst>
              <a:gd name="adj" fmla="val 90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ctr"/>
            <a:endParaRPr/>
          </a:p>
        </p:txBody>
      </p:sp>
      <p:sp>
        <p:nvSpPr>
          <p:cNvPr id="16" name="TextBox 15"/>
          <p:cNvSpPr txBox="1"/>
          <p:nvPr/>
        </p:nvSpPr>
        <p:spPr>
          <a:xfrm>
            <a:off x="685800" y="3219384"/>
            <a:ext cx="2926080" cy="621792"/>
          </a:xfrm>
          <a:prstGeom prst="rect">
            <a:avLst/>
          </a:prstGeom>
          <a:noFill/>
        </p:spPr>
        <p:txBody>
          <a:bodyPr wrap="square" lIns="0" tIns="0" rIns="0" bIns="0" anchor="ctr">
            <a:spAutoFit/>
          </a:bodyPr>
          <a:lstStyle/>
          <a:p>
            <a:pPr algn="l">
              <a:spcBef>
                <a:spcPts val="400"/>
              </a:spcBef>
              <a:spcAft>
                <a:spcPts val="200"/>
              </a:spcAft>
            </a:pPr>
            <a:r>
              <a:rPr sz="1250" b="1" i="0">
                <a:solidFill>
                  <a:srgbClr val="000000"/>
                </a:solidFill>
              </a:rPr>
              <a:t>[Add a heading]</a:t>
            </a:r>
          </a:p>
        </p:txBody>
      </p:sp>
      <p:sp>
        <p:nvSpPr>
          <p:cNvPr id="17" name="TextBox 16"/>
          <p:cNvSpPr txBox="1"/>
          <p:nvPr/>
        </p:nvSpPr>
        <p:spPr>
          <a:xfrm>
            <a:off x="3840480" y="3219384"/>
            <a:ext cx="7620000" cy="621792"/>
          </a:xfrm>
          <a:prstGeom prst="rect">
            <a:avLst/>
          </a:prstGeom>
          <a:noFill/>
        </p:spPr>
        <p:txBody>
          <a:bodyPr wrap="square" lIns="0" tIns="0" rIns="0" bIns="0" anchor="ctr">
            <a:spAutoFit/>
          </a:bodyPr>
          <a:lstStyle/>
          <a:p>
            <a:pPr algn="l">
              <a:spcAft>
                <a:spcPts val="500"/>
              </a:spcAft>
            </a:pPr>
            <a:r>
              <a:rPr sz="1150" b="0" i="1">
                <a:solidFill>
                  <a:srgbClr val="60607D"/>
                </a:solidFill>
              </a:rPr>
              <a:t>[Put here: the detail, in a sentence or two.]</a:t>
            </a:r>
          </a:p>
        </p:txBody>
      </p:sp>
      <p:sp>
        <p:nvSpPr>
          <p:cNvPr id="18" name="Rounded Rectangle 17"/>
          <p:cNvSpPr/>
          <p:nvPr/>
        </p:nvSpPr>
        <p:spPr>
          <a:xfrm>
            <a:off x="457200" y="3946896"/>
            <a:ext cx="11277600" cy="713232"/>
          </a:xfrm>
          <a:prstGeom prst="roundRect">
            <a:avLst>
              <a:gd name="adj" fmla="val 90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ctr"/>
            <a:endParaRPr/>
          </a:p>
        </p:txBody>
      </p:sp>
      <p:sp>
        <p:nvSpPr>
          <p:cNvPr id="19" name="TextBox 18"/>
          <p:cNvSpPr txBox="1"/>
          <p:nvPr/>
        </p:nvSpPr>
        <p:spPr>
          <a:xfrm>
            <a:off x="685800" y="3992616"/>
            <a:ext cx="2926080" cy="621792"/>
          </a:xfrm>
          <a:prstGeom prst="rect">
            <a:avLst/>
          </a:prstGeom>
          <a:noFill/>
        </p:spPr>
        <p:txBody>
          <a:bodyPr wrap="square" lIns="0" tIns="0" rIns="0" bIns="0" anchor="ctr">
            <a:spAutoFit/>
          </a:bodyPr>
          <a:lstStyle/>
          <a:p>
            <a:pPr algn="l">
              <a:spcBef>
                <a:spcPts val="400"/>
              </a:spcBef>
              <a:spcAft>
                <a:spcPts val="200"/>
              </a:spcAft>
            </a:pPr>
            <a:r>
              <a:rPr sz="1250" b="1" i="0">
                <a:solidFill>
                  <a:srgbClr val="000000"/>
                </a:solidFill>
              </a:rPr>
              <a:t>[Add a heading]</a:t>
            </a:r>
          </a:p>
        </p:txBody>
      </p:sp>
      <p:sp>
        <p:nvSpPr>
          <p:cNvPr id="20" name="TextBox 19"/>
          <p:cNvSpPr txBox="1"/>
          <p:nvPr/>
        </p:nvSpPr>
        <p:spPr>
          <a:xfrm>
            <a:off x="3840480" y="3992616"/>
            <a:ext cx="7620000" cy="621792"/>
          </a:xfrm>
          <a:prstGeom prst="rect">
            <a:avLst/>
          </a:prstGeom>
          <a:noFill/>
        </p:spPr>
        <p:txBody>
          <a:bodyPr wrap="square" lIns="0" tIns="0" rIns="0" bIns="0" anchor="ctr">
            <a:spAutoFit/>
          </a:bodyPr>
          <a:lstStyle/>
          <a:p>
            <a:pPr algn="l">
              <a:spcAft>
                <a:spcPts val="500"/>
              </a:spcAft>
            </a:pPr>
            <a:r>
              <a:rPr sz="1150" b="0" i="1">
                <a:solidFill>
                  <a:srgbClr val="60607D"/>
                </a:solidFill>
              </a:rPr>
              <a:t>[Put here: the detail, in a sentence or two.]</a:t>
            </a:r>
          </a:p>
        </p:txBody>
      </p:sp>
      <p:sp>
        <p:nvSpPr>
          <p:cNvPr id="21" name="Rounded Rectangle 20"/>
          <p:cNvSpPr/>
          <p:nvPr/>
        </p:nvSpPr>
        <p:spPr>
          <a:xfrm>
            <a:off x="457200" y="4720128"/>
            <a:ext cx="11277600" cy="713232"/>
          </a:xfrm>
          <a:prstGeom prst="roundRect">
            <a:avLst>
              <a:gd name="adj" fmla="val 90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ctr"/>
            <a:endParaRPr/>
          </a:p>
        </p:txBody>
      </p:sp>
      <p:sp>
        <p:nvSpPr>
          <p:cNvPr id="22" name="TextBox 21"/>
          <p:cNvSpPr txBox="1"/>
          <p:nvPr/>
        </p:nvSpPr>
        <p:spPr>
          <a:xfrm>
            <a:off x="685800" y="4765848"/>
            <a:ext cx="2926080" cy="621792"/>
          </a:xfrm>
          <a:prstGeom prst="rect">
            <a:avLst/>
          </a:prstGeom>
          <a:noFill/>
        </p:spPr>
        <p:txBody>
          <a:bodyPr wrap="square" lIns="0" tIns="0" rIns="0" bIns="0" anchor="ctr">
            <a:spAutoFit/>
          </a:bodyPr>
          <a:lstStyle/>
          <a:p>
            <a:pPr algn="l">
              <a:spcBef>
                <a:spcPts val="400"/>
              </a:spcBef>
              <a:spcAft>
                <a:spcPts val="200"/>
              </a:spcAft>
            </a:pPr>
            <a:r>
              <a:rPr sz="1250" b="1" i="0">
                <a:solidFill>
                  <a:srgbClr val="000000"/>
                </a:solidFill>
              </a:rPr>
              <a:t>[Add a heading]</a:t>
            </a:r>
          </a:p>
        </p:txBody>
      </p:sp>
      <p:sp>
        <p:nvSpPr>
          <p:cNvPr id="23" name="TextBox 22"/>
          <p:cNvSpPr txBox="1"/>
          <p:nvPr/>
        </p:nvSpPr>
        <p:spPr>
          <a:xfrm>
            <a:off x="3840480" y="4765848"/>
            <a:ext cx="7620000" cy="621792"/>
          </a:xfrm>
          <a:prstGeom prst="rect">
            <a:avLst/>
          </a:prstGeom>
          <a:noFill/>
        </p:spPr>
        <p:txBody>
          <a:bodyPr wrap="square" lIns="0" tIns="0" rIns="0" bIns="0" anchor="ctr">
            <a:spAutoFit/>
          </a:bodyPr>
          <a:lstStyle/>
          <a:p>
            <a:pPr algn="l">
              <a:spcAft>
                <a:spcPts val="500"/>
              </a:spcAft>
            </a:pPr>
            <a:r>
              <a:rPr sz="1150" b="0" i="1">
                <a:solidFill>
                  <a:srgbClr val="60607D"/>
                </a:solidFill>
              </a:rPr>
              <a:t>[Put here: the detail, in a sentence or two.]</a:t>
            </a:r>
          </a:p>
        </p:txBody>
      </p:sp>
      <p:sp>
        <p:nvSpPr>
          <p:cNvPr id="24" name="Rounded Rectangle 23"/>
          <p:cNvSpPr/>
          <p:nvPr/>
        </p:nvSpPr>
        <p:spPr>
          <a:xfrm>
            <a:off x="457200" y="5493360"/>
            <a:ext cx="11277600" cy="713232"/>
          </a:xfrm>
          <a:prstGeom prst="roundRect">
            <a:avLst>
              <a:gd name="adj" fmla="val 90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ctr"/>
            <a:endParaRPr/>
          </a:p>
        </p:txBody>
      </p:sp>
      <p:sp>
        <p:nvSpPr>
          <p:cNvPr id="25" name="TextBox 24"/>
          <p:cNvSpPr txBox="1"/>
          <p:nvPr/>
        </p:nvSpPr>
        <p:spPr>
          <a:xfrm>
            <a:off x="685800" y="5539080"/>
            <a:ext cx="2926080" cy="621792"/>
          </a:xfrm>
          <a:prstGeom prst="rect">
            <a:avLst/>
          </a:prstGeom>
          <a:noFill/>
        </p:spPr>
        <p:txBody>
          <a:bodyPr wrap="square" lIns="0" tIns="0" rIns="0" bIns="0" anchor="ctr">
            <a:spAutoFit/>
          </a:bodyPr>
          <a:lstStyle/>
          <a:p>
            <a:pPr algn="l">
              <a:spcBef>
                <a:spcPts val="400"/>
              </a:spcBef>
              <a:spcAft>
                <a:spcPts val="200"/>
              </a:spcAft>
            </a:pPr>
            <a:r>
              <a:rPr sz="1250" b="1" i="0">
                <a:solidFill>
                  <a:srgbClr val="000000"/>
                </a:solidFill>
              </a:rPr>
              <a:t>[Add a heading]</a:t>
            </a:r>
          </a:p>
        </p:txBody>
      </p:sp>
      <p:sp>
        <p:nvSpPr>
          <p:cNvPr id="26" name="TextBox 25"/>
          <p:cNvSpPr txBox="1"/>
          <p:nvPr/>
        </p:nvSpPr>
        <p:spPr>
          <a:xfrm>
            <a:off x="3840480" y="5539080"/>
            <a:ext cx="7620000" cy="621792"/>
          </a:xfrm>
          <a:prstGeom prst="rect">
            <a:avLst/>
          </a:prstGeom>
          <a:noFill/>
        </p:spPr>
        <p:txBody>
          <a:bodyPr wrap="square" lIns="0" tIns="0" rIns="0" bIns="0" anchor="ctr">
            <a:spAutoFit/>
          </a:bodyPr>
          <a:lstStyle/>
          <a:p>
            <a:pPr algn="l">
              <a:spcAft>
                <a:spcPts val="500"/>
              </a:spcAft>
            </a:pPr>
            <a:r>
              <a:rPr sz="1150" b="0" i="1">
                <a:solidFill>
                  <a:srgbClr val="60607D"/>
                </a:solidFill>
              </a:rPr>
              <a:t>[Put here: the detail, in a sentence or two.]</a:t>
            </a: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 name="Picture 4" descr="f_hero_library.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endParaRP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[Add a header]</a:t>
            </a:r>
          </a:p>
        </p:txBody>
      </p:sp>
      <p:sp>
        <p:nvSpPr>
          <p:cNvPr id="4" name="Text Placeholder 3"/>
          <p:cNvSpPr>
            <a:spLocks noGrp="1"/>
          </p:cNvSpPr>
          <p:nvPr>
            <p:ph type="body" sz="quarter" idx="12"/>
          </p:nvPr>
        </p:nvSpPr>
        <p:spPr>
          <a:xfrm>
            <a:off x="457200" y="170000"/>
            <a:ext cx="8000000" cy="182880"/>
          </a:xfrm>
        </p:spPr>
        <p:txBody>
          <a:bodyPr/>
          <a:lstStyle/>
          <a:p>
            <a:r>
              <a:rPr>
                <a:solidFill>
                  <a:srgbClr val="0391F2"/>
                </a:solidFill>
              </a:rPr>
              <a:t>TEMPLATE · TABLE · SUPPORTING DETAIL</a:t>
            </a:r>
          </a:p>
        </p:txBody>
      </p:sp>
      <p:sp>
        <p:nvSpPr>
          <p:cNvPr id="7" name="Rounded Rectangle 6"/>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wrap="square" lIns="150000" rIns="120000" rtlCol="0" anchor="ctr"/>
          <a:lstStyle/>
          <a:p>
            <a:pPr algn="l"/>
            <a:r>
              <a:rPr sz="1050" b="1" i="0">
                <a:solidFill>
                  <a:srgbClr val="FFFFFF"/>
                </a:solidFill>
              </a:rPr>
              <a:t>Owner(s)</a:t>
            </a:r>
          </a:p>
          <a:p>
            <a:pPr algn="l"/>
            <a:r>
              <a:rPr sz="900" b="0" i="1">
                <a:solidFill>
                  <a:srgbClr val="D6D6DF"/>
                </a:solidFill>
              </a:rPr>
              <a:t>[Names]</a:t>
            </a:r>
          </a:p>
        </p:txBody>
      </p:sp>
      <p:sp>
        <p:nvSpPr>
          <p:cNvPr id="8" name="TextBox 7"/>
          <p:cNvSpPr txBox="1"/>
          <p:nvPr/>
        </p:nvSpPr>
        <p:spPr>
          <a:xfrm>
            <a:off x="457200" y="1150000"/>
            <a:ext cx="11277600" cy="365760"/>
          </a:xfrm>
          <a:prstGeom prst="rect">
            <a:avLst/>
          </a:prstGeom>
          <a:noFill/>
        </p:spPr>
        <p:txBody>
          <a:bodyPr wrap="square" lIns="0" tIns="0" rIns="0" bIns="0" anchor="t">
            <a:spAutoFit/>
          </a:bodyPr>
          <a:lstStyle/>
          <a:p>
            <a:pPr algn="l">
              <a:spcAft>
                <a:spcPts val="500"/>
              </a:spcAft>
            </a:pPr>
            <a:r>
              <a:rPr sz="1250" b="0" i="1">
                <a:solidFill>
                  <a:srgbClr val="60607D"/>
                </a:solidFill>
              </a:rPr>
              <a:t>[Put here: one line on what this slide shows.]</a:t>
            </a:r>
          </a:p>
        </p:txBody>
      </p:sp>
      <p:sp>
        <p:nvSpPr>
          <p:cNvPr id="9" name="TextBox 8"/>
          <p:cNvSpPr txBox="1"/>
          <p:nvPr/>
        </p:nvSpPr>
        <p:spPr>
          <a:xfrm>
            <a:off x="640080" y="1535760"/>
            <a:ext cx="3017520" cy="274320"/>
          </a:xfrm>
          <a:prstGeom prst="rect">
            <a:avLst/>
          </a:prstGeom>
          <a:noFill/>
        </p:spPr>
        <p:txBody>
          <a:bodyPr wrap="square" lIns="0" tIns="0" rIns="0" bIns="0" anchor="b">
            <a:spAutoFit/>
          </a:bodyPr>
          <a:lstStyle/>
          <a:p>
            <a:pPr algn="l">
              <a:spcBef>
                <a:spcPts val="200"/>
              </a:spcBef>
              <a:spcAft>
                <a:spcPts val="200"/>
              </a:spcAft>
            </a:pPr>
            <a:r>
              <a:rPr sz="850" b="1" i="0" cap="all" spc="100">
                <a:solidFill>
                  <a:srgbClr val="60607D"/>
                </a:solidFill>
              </a:rPr>
              <a:t>[Column]</a:t>
            </a:r>
          </a:p>
        </p:txBody>
      </p:sp>
      <p:sp>
        <p:nvSpPr>
          <p:cNvPr id="10" name="TextBox 9"/>
          <p:cNvSpPr txBox="1"/>
          <p:nvPr/>
        </p:nvSpPr>
        <p:spPr>
          <a:xfrm>
            <a:off x="3749040" y="1535760"/>
            <a:ext cx="2560320" cy="274320"/>
          </a:xfrm>
          <a:prstGeom prst="rect">
            <a:avLst/>
          </a:prstGeom>
          <a:noFill/>
        </p:spPr>
        <p:txBody>
          <a:bodyPr wrap="square" lIns="0" tIns="0" rIns="0" bIns="0" anchor="b">
            <a:spAutoFit/>
          </a:bodyPr>
          <a:lstStyle/>
          <a:p>
            <a:pPr algn="l">
              <a:spcBef>
                <a:spcPts val="200"/>
              </a:spcBef>
              <a:spcAft>
                <a:spcPts val="200"/>
              </a:spcAft>
            </a:pPr>
            <a:r>
              <a:rPr sz="850" b="1" i="0" cap="all" spc="100">
                <a:solidFill>
                  <a:srgbClr val="60607D"/>
                </a:solidFill>
              </a:rPr>
              <a:t>[Column]</a:t>
            </a:r>
          </a:p>
        </p:txBody>
      </p:sp>
      <p:sp>
        <p:nvSpPr>
          <p:cNvPr id="11" name="TextBox 10"/>
          <p:cNvSpPr txBox="1"/>
          <p:nvPr/>
        </p:nvSpPr>
        <p:spPr>
          <a:xfrm>
            <a:off x="6400800" y="1535760"/>
            <a:ext cx="2560320" cy="274320"/>
          </a:xfrm>
          <a:prstGeom prst="rect">
            <a:avLst/>
          </a:prstGeom>
          <a:noFill/>
        </p:spPr>
        <p:txBody>
          <a:bodyPr wrap="square" lIns="0" tIns="0" rIns="0" bIns="0" anchor="b">
            <a:spAutoFit/>
          </a:bodyPr>
          <a:lstStyle/>
          <a:p>
            <a:pPr algn="l">
              <a:spcBef>
                <a:spcPts val="200"/>
              </a:spcBef>
              <a:spcAft>
                <a:spcPts val="200"/>
              </a:spcAft>
            </a:pPr>
            <a:r>
              <a:rPr sz="850" b="1" i="0" cap="all" spc="100">
                <a:solidFill>
                  <a:srgbClr val="60607D"/>
                </a:solidFill>
              </a:rPr>
              <a:t>[Column]</a:t>
            </a:r>
          </a:p>
        </p:txBody>
      </p:sp>
      <p:sp>
        <p:nvSpPr>
          <p:cNvPr id="12" name="TextBox 11"/>
          <p:cNvSpPr txBox="1"/>
          <p:nvPr/>
        </p:nvSpPr>
        <p:spPr>
          <a:xfrm>
            <a:off x="9052559" y="1535760"/>
            <a:ext cx="2560320" cy="274320"/>
          </a:xfrm>
          <a:prstGeom prst="rect">
            <a:avLst/>
          </a:prstGeom>
          <a:noFill/>
        </p:spPr>
        <p:txBody>
          <a:bodyPr wrap="square" lIns="0" tIns="0" rIns="0" bIns="0" anchor="b">
            <a:spAutoFit/>
          </a:bodyPr>
          <a:lstStyle/>
          <a:p>
            <a:pPr algn="l">
              <a:spcBef>
                <a:spcPts val="200"/>
              </a:spcBef>
              <a:spcAft>
                <a:spcPts val="200"/>
              </a:spcAft>
            </a:pPr>
            <a:r>
              <a:rPr sz="850" b="1" i="0" cap="all" spc="100">
                <a:solidFill>
                  <a:srgbClr val="60607D"/>
                </a:solidFill>
              </a:rPr>
              <a:t>[Column]</a:t>
            </a:r>
          </a:p>
        </p:txBody>
      </p:sp>
      <p:sp>
        <p:nvSpPr>
          <p:cNvPr id="13" name="Rounded Rectangle 12"/>
          <p:cNvSpPr/>
          <p:nvPr/>
        </p:nvSpPr>
        <p:spPr>
          <a:xfrm>
            <a:off x="457200" y="1864944"/>
            <a:ext cx="11277600" cy="566928"/>
          </a:xfrm>
          <a:prstGeom prst="roundRect">
            <a:avLst>
              <a:gd name="adj" fmla="val 90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ctr"/>
            <a:endParaRPr/>
          </a:p>
        </p:txBody>
      </p:sp>
      <p:sp>
        <p:nvSpPr>
          <p:cNvPr id="14" name="TextBox 13"/>
          <p:cNvSpPr txBox="1"/>
          <p:nvPr/>
        </p:nvSpPr>
        <p:spPr>
          <a:xfrm>
            <a:off x="640080" y="1910664"/>
            <a:ext cx="2971800" cy="475488"/>
          </a:xfrm>
          <a:prstGeom prst="rect">
            <a:avLst/>
          </a:prstGeom>
          <a:noFill/>
        </p:spPr>
        <p:txBody>
          <a:bodyPr wrap="square" lIns="0" tIns="0" rIns="0" bIns="0" anchor="ctr">
            <a:spAutoFit/>
          </a:bodyPr>
          <a:lstStyle/>
          <a:p>
            <a:pPr algn="l">
              <a:spcAft>
                <a:spcPts val="500"/>
              </a:spcAft>
            </a:pPr>
            <a:r>
              <a:rPr sz="1050" b="0" i="1">
                <a:solidFill>
                  <a:srgbClr val="60607D"/>
                </a:solidFill>
              </a:rPr>
              <a:t>[Row label]</a:t>
            </a:r>
          </a:p>
        </p:txBody>
      </p:sp>
      <p:sp>
        <p:nvSpPr>
          <p:cNvPr id="15" name="TextBox 14"/>
          <p:cNvSpPr txBox="1"/>
          <p:nvPr/>
        </p:nvSpPr>
        <p:spPr>
          <a:xfrm>
            <a:off x="3749040" y="1910664"/>
            <a:ext cx="2514600" cy="475488"/>
          </a:xfrm>
          <a:prstGeom prst="rect">
            <a:avLst/>
          </a:prstGeom>
          <a:noFill/>
        </p:spPr>
        <p:txBody>
          <a:bodyPr wrap="square" lIns="0" tIns="0" rIns="0" bIns="0" anchor="ctr">
            <a:spAutoFit/>
          </a:bodyPr>
          <a:lstStyle/>
          <a:p>
            <a:pPr algn="l">
              <a:spcAft>
                <a:spcPts val="500"/>
              </a:spcAft>
            </a:pPr>
            <a:r>
              <a:rPr sz="1050" b="0" i="1">
                <a:solidFill>
                  <a:srgbClr val="60607D"/>
                </a:solidFill>
              </a:rPr>
              <a:t>[ ]</a:t>
            </a:r>
          </a:p>
        </p:txBody>
      </p:sp>
      <p:sp>
        <p:nvSpPr>
          <p:cNvPr id="16" name="TextBox 15"/>
          <p:cNvSpPr txBox="1"/>
          <p:nvPr/>
        </p:nvSpPr>
        <p:spPr>
          <a:xfrm>
            <a:off x="6400800" y="1910664"/>
            <a:ext cx="2514600" cy="475488"/>
          </a:xfrm>
          <a:prstGeom prst="rect">
            <a:avLst/>
          </a:prstGeom>
          <a:noFill/>
        </p:spPr>
        <p:txBody>
          <a:bodyPr wrap="square" lIns="0" tIns="0" rIns="0" bIns="0" anchor="ctr">
            <a:spAutoFit/>
          </a:bodyPr>
          <a:lstStyle/>
          <a:p>
            <a:pPr algn="l">
              <a:spcAft>
                <a:spcPts val="500"/>
              </a:spcAft>
            </a:pPr>
            <a:r>
              <a:rPr sz="1050" b="0" i="1">
                <a:solidFill>
                  <a:srgbClr val="60607D"/>
                </a:solidFill>
              </a:rPr>
              <a:t>[ ]</a:t>
            </a:r>
          </a:p>
        </p:txBody>
      </p:sp>
      <p:sp>
        <p:nvSpPr>
          <p:cNvPr id="17" name="TextBox 16"/>
          <p:cNvSpPr txBox="1"/>
          <p:nvPr/>
        </p:nvSpPr>
        <p:spPr>
          <a:xfrm>
            <a:off x="9052559" y="1910664"/>
            <a:ext cx="2514600" cy="475488"/>
          </a:xfrm>
          <a:prstGeom prst="rect">
            <a:avLst/>
          </a:prstGeom>
          <a:noFill/>
        </p:spPr>
        <p:txBody>
          <a:bodyPr wrap="square" lIns="0" tIns="0" rIns="0" bIns="0" anchor="ctr">
            <a:spAutoFit/>
          </a:bodyPr>
          <a:lstStyle/>
          <a:p>
            <a:pPr algn="l">
              <a:spcAft>
                <a:spcPts val="500"/>
              </a:spcAft>
            </a:pPr>
            <a:r>
              <a:rPr sz="1050" b="0" i="1">
                <a:solidFill>
                  <a:srgbClr val="60607D"/>
                </a:solidFill>
              </a:rPr>
              <a:t>[ ]</a:t>
            </a:r>
          </a:p>
        </p:txBody>
      </p:sp>
      <p:sp>
        <p:nvSpPr>
          <p:cNvPr id="18" name="Rounded Rectangle 17"/>
          <p:cNvSpPr/>
          <p:nvPr/>
        </p:nvSpPr>
        <p:spPr>
          <a:xfrm>
            <a:off x="457200" y="2491872"/>
            <a:ext cx="11277600" cy="566928"/>
          </a:xfrm>
          <a:prstGeom prst="roundRect">
            <a:avLst>
              <a:gd name="adj" fmla="val 90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ctr"/>
            <a:endParaRPr/>
          </a:p>
        </p:txBody>
      </p:sp>
      <p:sp>
        <p:nvSpPr>
          <p:cNvPr id="19" name="TextBox 18"/>
          <p:cNvSpPr txBox="1"/>
          <p:nvPr/>
        </p:nvSpPr>
        <p:spPr>
          <a:xfrm>
            <a:off x="640080" y="2537592"/>
            <a:ext cx="2971800" cy="475488"/>
          </a:xfrm>
          <a:prstGeom prst="rect">
            <a:avLst/>
          </a:prstGeom>
          <a:noFill/>
        </p:spPr>
        <p:txBody>
          <a:bodyPr wrap="square" lIns="0" tIns="0" rIns="0" bIns="0" anchor="ctr">
            <a:spAutoFit/>
          </a:bodyPr>
          <a:lstStyle/>
          <a:p>
            <a:pPr algn="l">
              <a:spcAft>
                <a:spcPts val="500"/>
              </a:spcAft>
            </a:pPr>
            <a:r>
              <a:rPr sz="1050" b="0" i="1">
                <a:solidFill>
                  <a:srgbClr val="60607D"/>
                </a:solidFill>
              </a:rPr>
              <a:t>[Row label]</a:t>
            </a:r>
          </a:p>
        </p:txBody>
      </p:sp>
      <p:sp>
        <p:nvSpPr>
          <p:cNvPr id="20" name="TextBox 19"/>
          <p:cNvSpPr txBox="1"/>
          <p:nvPr/>
        </p:nvSpPr>
        <p:spPr>
          <a:xfrm>
            <a:off x="3749040" y="2537592"/>
            <a:ext cx="2514600" cy="475488"/>
          </a:xfrm>
          <a:prstGeom prst="rect">
            <a:avLst/>
          </a:prstGeom>
          <a:noFill/>
        </p:spPr>
        <p:txBody>
          <a:bodyPr wrap="square" lIns="0" tIns="0" rIns="0" bIns="0" anchor="ctr">
            <a:spAutoFit/>
          </a:bodyPr>
          <a:lstStyle/>
          <a:p>
            <a:pPr algn="l">
              <a:spcAft>
                <a:spcPts val="500"/>
              </a:spcAft>
            </a:pPr>
            <a:r>
              <a:rPr sz="1050" b="0" i="1">
                <a:solidFill>
                  <a:srgbClr val="60607D"/>
                </a:solidFill>
              </a:rPr>
              <a:t>[ ]</a:t>
            </a:r>
          </a:p>
        </p:txBody>
      </p:sp>
      <p:sp>
        <p:nvSpPr>
          <p:cNvPr id="21" name="TextBox 20"/>
          <p:cNvSpPr txBox="1"/>
          <p:nvPr/>
        </p:nvSpPr>
        <p:spPr>
          <a:xfrm>
            <a:off x="6400800" y="2537592"/>
            <a:ext cx="2514600" cy="475488"/>
          </a:xfrm>
          <a:prstGeom prst="rect">
            <a:avLst/>
          </a:prstGeom>
          <a:noFill/>
        </p:spPr>
        <p:txBody>
          <a:bodyPr wrap="square" lIns="0" tIns="0" rIns="0" bIns="0" anchor="ctr">
            <a:spAutoFit/>
          </a:bodyPr>
          <a:lstStyle/>
          <a:p>
            <a:pPr algn="l">
              <a:spcAft>
                <a:spcPts val="500"/>
              </a:spcAft>
            </a:pPr>
            <a:r>
              <a:rPr sz="1050" b="0" i="1">
                <a:solidFill>
                  <a:srgbClr val="60607D"/>
                </a:solidFill>
              </a:rPr>
              <a:t>[ ]</a:t>
            </a:r>
          </a:p>
        </p:txBody>
      </p:sp>
      <p:sp>
        <p:nvSpPr>
          <p:cNvPr id="22" name="TextBox 21"/>
          <p:cNvSpPr txBox="1"/>
          <p:nvPr/>
        </p:nvSpPr>
        <p:spPr>
          <a:xfrm>
            <a:off x="9052559" y="2537592"/>
            <a:ext cx="2514600" cy="475488"/>
          </a:xfrm>
          <a:prstGeom prst="rect">
            <a:avLst/>
          </a:prstGeom>
          <a:noFill/>
        </p:spPr>
        <p:txBody>
          <a:bodyPr wrap="square" lIns="0" tIns="0" rIns="0" bIns="0" anchor="ctr">
            <a:spAutoFit/>
          </a:bodyPr>
          <a:lstStyle/>
          <a:p>
            <a:pPr algn="l">
              <a:spcAft>
                <a:spcPts val="500"/>
              </a:spcAft>
            </a:pPr>
            <a:r>
              <a:rPr sz="1050" b="0" i="1">
                <a:solidFill>
                  <a:srgbClr val="60607D"/>
                </a:solidFill>
              </a:rPr>
              <a:t>[ ]</a:t>
            </a:r>
          </a:p>
        </p:txBody>
      </p:sp>
      <p:sp>
        <p:nvSpPr>
          <p:cNvPr id="23" name="Rounded Rectangle 22"/>
          <p:cNvSpPr/>
          <p:nvPr/>
        </p:nvSpPr>
        <p:spPr>
          <a:xfrm>
            <a:off x="457200" y="3118800"/>
            <a:ext cx="11277600" cy="566928"/>
          </a:xfrm>
          <a:prstGeom prst="roundRect">
            <a:avLst>
              <a:gd name="adj" fmla="val 90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ctr"/>
            <a:endParaRPr/>
          </a:p>
        </p:txBody>
      </p:sp>
      <p:sp>
        <p:nvSpPr>
          <p:cNvPr id="24" name="TextBox 23"/>
          <p:cNvSpPr txBox="1"/>
          <p:nvPr/>
        </p:nvSpPr>
        <p:spPr>
          <a:xfrm>
            <a:off x="640080" y="3164520"/>
            <a:ext cx="2971800" cy="475488"/>
          </a:xfrm>
          <a:prstGeom prst="rect">
            <a:avLst/>
          </a:prstGeom>
          <a:noFill/>
        </p:spPr>
        <p:txBody>
          <a:bodyPr wrap="square" lIns="0" tIns="0" rIns="0" bIns="0" anchor="ctr">
            <a:spAutoFit/>
          </a:bodyPr>
          <a:lstStyle/>
          <a:p>
            <a:pPr algn="l">
              <a:spcAft>
                <a:spcPts val="500"/>
              </a:spcAft>
            </a:pPr>
            <a:r>
              <a:rPr sz="1050" b="0" i="1">
                <a:solidFill>
                  <a:srgbClr val="60607D"/>
                </a:solidFill>
              </a:rPr>
              <a:t>[Row label]</a:t>
            </a:r>
          </a:p>
        </p:txBody>
      </p:sp>
      <p:sp>
        <p:nvSpPr>
          <p:cNvPr id="25" name="TextBox 24"/>
          <p:cNvSpPr txBox="1"/>
          <p:nvPr/>
        </p:nvSpPr>
        <p:spPr>
          <a:xfrm>
            <a:off x="3749040" y="3164520"/>
            <a:ext cx="2514600" cy="475488"/>
          </a:xfrm>
          <a:prstGeom prst="rect">
            <a:avLst/>
          </a:prstGeom>
          <a:noFill/>
        </p:spPr>
        <p:txBody>
          <a:bodyPr wrap="square" lIns="0" tIns="0" rIns="0" bIns="0" anchor="ctr">
            <a:spAutoFit/>
          </a:bodyPr>
          <a:lstStyle/>
          <a:p>
            <a:pPr algn="l">
              <a:spcAft>
                <a:spcPts val="500"/>
              </a:spcAft>
            </a:pPr>
            <a:r>
              <a:rPr sz="1050" b="0" i="1">
                <a:solidFill>
                  <a:srgbClr val="60607D"/>
                </a:solidFill>
              </a:rPr>
              <a:t>[ ]</a:t>
            </a:r>
          </a:p>
        </p:txBody>
      </p:sp>
      <p:sp>
        <p:nvSpPr>
          <p:cNvPr id="26" name="TextBox 25"/>
          <p:cNvSpPr txBox="1"/>
          <p:nvPr/>
        </p:nvSpPr>
        <p:spPr>
          <a:xfrm>
            <a:off x="6400800" y="3164520"/>
            <a:ext cx="2514600" cy="475488"/>
          </a:xfrm>
          <a:prstGeom prst="rect">
            <a:avLst/>
          </a:prstGeom>
          <a:noFill/>
        </p:spPr>
        <p:txBody>
          <a:bodyPr wrap="square" lIns="0" tIns="0" rIns="0" bIns="0" anchor="ctr">
            <a:spAutoFit/>
          </a:bodyPr>
          <a:lstStyle/>
          <a:p>
            <a:pPr algn="l">
              <a:spcAft>
                <a:spcPts val="500"/>
              </a:spcAft>
            </a:pPr>
            <a:r>
              <a:rPr sz="1050" b="0" i="1">
                <a:solidFill>
                  <a:srgbClr val="60607D"/>
                </a:solidFill>
              </a:rPr>
              <a:t>[ ]</a:t>
            </a:r>
          </a:p>
        </p:txBody>
      </p:sp>
      <p:sp>
        <p:nvSpPr>
          <p:cNvPr id="27" name="TextBox 26"/>
          <p:cNvSpPr txBox="1"/>
          <p:nvPr/>
        </p:nvSpPr>
        <p:spPr>
          <a:xfrm>
            <a:off x="9052559" y="3164520"/>
            <a:ext cx="2514600" cy="475488"/>
          </a:xfrm>
          <a:prstGeom prst="rect">
            <a:avLst/>
          </a:prstGeom>
          <a:noFill/>
        </p:spPr>
        <p:txBody>
          <a:bodyPr wrap="square" lIns="0" tIns="0" rIns="0" bIns="0" anchor="ctr">
            <a:spAutoFit/>
          </a:bodyPr>
          <a:lstStyle/>
          <a:p>
            <a:pPr algn="l">
              <a:spcAft>
                <a:spcPts val="500"/>
              </a:spcAft>
            </a:pPr>
            <a:r>
              <a:rPr sz="1050" b="0" i="1">
                <a:solidFill>
                  <a:srgbClr val="60607D"/>
                </a:solidFill>
              </a:rPr>
              <a:t>[ ]</a:t>
            </a:r>
          </a:p>
        </p:txBody>
      </p:sp>
      <p:sp>
        <p:nvSpPr>
          <p:cNvPr id="28" name="Rounded Rectangle 27"/>
          <p:cNvSpPr/>
          <p:nvPr/>
        </p:nvSpPr>
        <p:spPr>
          <a:xfrm>
            <a:off x="457200" y="3745728"/>
            <a:ext cx="11277600" cy="566928"/>
          </a:xfrm>
          <a:prstGeom prst="roundRect">
            <a:avLst>
              <a:gd name="adj" fmla="val 90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ctr"/>
            <a:endParaRPr/>
          </a:p>
        </p:txBody>
      </p:sp>
      <p:sp>
        <p:nvSpPr>
          <p:cNvPr id="29" name="TextBox 28"/>
          <p:cNvSpPr txBox="1"/>
          <p:nvPr/>
        </p:nvSpPr>
        <p:spPr>
          <a:xfrm>
            <a:off x="640080" y="3791448"/>
            <a:ext cx="2971800" cy="475488"/>
          </a:xfrm>
          <a:prstGeom prst="rect">
            <a:avLst/>
          </a:prstGeom>
          <a:noFill/>
        </p:spPr>
        <p:txBody>
          <a:bodyPr wrap="square" lIns="0" tIns="0" rIns="0" bIns="0" anchor="ctr">
            <a:spAutoFit/>
          </a:bodyPr>
          <a:lstStyle/>
          <a:p>
            <a:pPr algn="l">
              <a:spcAft>
                <a:spcPts val="500"/>
              </a:spcAft>
            </a:pPr>
            <a:r>
              <a:rPr sz="1050" b="0" i="1">
                <a:solidFill>
                  <a:srgbClr val="60607D"/>
                </a:solidFill>
              </a:rPr>
              <a:t>[Row label]</a:t>
            </a:r>
          </a:p>
        </p:txBody>
      </p:sp>
      <p:sp>
        <p:nvSpPr>
          <p:cNvPr id="30" name="TextBox 29"/>
          <p:cNvSpPr txBox="1"/>
          <p:nvPr/>
        </p:nvSpPr>
        <p:spPr>
          <a:xfrm>
            <a:off x="3749040" y="3791448"/>
            <a:ext cx="2514600" cy="475488"/>
          </a:xfrm>
          <a:prstGeom prst="rect">
            <a:avLst/>
          </a:prstGeom>
          <a:noFill/>
        </p:spPr>
        <p:txBody>
          <a:bodyPr wrap="square" lIns="0" tIns="0" rIns="0" bIns="0" anchor="ctr">
            <a:spAutoFit/>
          </a:bodyPr>
          <a:lstStyle/>
          <a:p>
            <a:pPr algn="l">
              <a:spcAft>
                <a:spcPts val="500"/>
              </a:spcAft>
            </a:pPr>
            <a:r>
              <a:rPr sz="1050" b="0" i="1">
                <a:solidFill>
                  <a:srgbClr val="60607D"/>
                </a:solidFill>
              </a:rPr>
              <a:t>[ ]</a:t>
            </a:r>
          </a:p>
        </p:txBody>
      </p:sp>
      <p:sp>
        <p:nvSpPr>
          <p:cNvPr id="31" name="TextBox 30"/>
          <p:cNvSpPr txBox="1"/>
          <p:nvPr/>
        </p:nvSpPr>
        <p:spPr>
          <a:xfrm>
            <a:off x="6400800" y="3791448"/>
            <a:ext cx="2514600" cy="475488"/>
          </a:xfrm>
          <a:prstGeom prst="rect">
            <a:avLst/>
          </a:prstGeom>
          <a:noFill/>
        </p:spPr>
        <p:txBody>
          <a:bodyPr wrap="square" lIns="0" tIns="0" rIns="0" bIns="0" anchor="ctr">
            <a:spAutoFit/>
          </a:bodyPr>
          <a:lstStyle/>
          <a:p>
            <a:pPr algn="l">
              <a:spcAft>
                <a:spcPts val="500"/>
              </a:spcAft>
            </a:pPr>
            <a:r>
              <a:rPr sz="1050" b="0" i="1">
                <a:solidFill>
                  <a:srgbClr val="60607D"/>
                </a:solidFill>
              </a:rPr>
              <a:t>[ ]</a:t>
            </a:r>
          </a:p>
        </p:txBody>
      </p:sp>
      <p:sp>
        <p:nvSpPr>
          <p:cNvPr id="32" name="TextBox 31"/>
          <p:cNvSpPr txBox="1"/>
          <p:nvPr/>
        </p:nvSpPr>
        <p:spPr>
          <a:xfrm>
            <a:off x="9052559" y="3791448"/>
            <a:ext cx="2514600" cy="475488"/>
          </a:xfrm>
          <a:prstGeom prst="rect">
            <a:avLst/>
          </a:prstGeom>
          <a:noFill/>
        </p:spPr>
        <p:txBody>
          <a:bodyPr wrap="square" lIns="0" tIns="0" rIns="0" bIns="0" anchor="ctr">
            <a:spAutoFit/>
          </a:bodyPr>
          <a:lstStyle/>
          <a:p>
            <a:pPr algn="l">
              <a:spcAft>
                <a:spcPts val="500"/>
              </a:spcAft>
            </a:pPr>
            <a:r>
              <a:rPr sz="1050" b="0" i="1">
                <a:solidFill>
                  <a:srgbClr val="60607D"/>
                </a:solidFill>
              </a:rPr>
              <a:t>[ ]</a:t>
            </a:r>
          </a:p>
        </p:txBody>
      </p:sp>
      <p:sp>
        <p:nvSpPr>
          <p:cNvPr id="33" name="Rounded Rectangle 32"/>
          <p:cNvSpPr/>
          <p:nvPr/>
        </p:nvSpPr>
        <p:spPr>
          <a:xfrm>
            <a:off x="457200" y="4372656"/>
            <a:ext cx="11277600" cy="566928"/>
          </a:xfrm>
          <a:prstGeom prst="roundRect">
            <a:avLst>
              <a:gd name="adj" fmla="val 90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ctr"/>
            <a:endParaRPr/>
          </a:p>
        </p:txBody>
      </p:sp>
      <p:sp>
        <p:nvSpPr>
          <p:cNvPr id="34" name="TextBox 33"/>
          <p:cNvSpPr txBox="1"/>
          <p:nvPr/>
        </p:nvSpPr>
        <p:spPr>
          <a:xfrm>
            <a:off x="640080" y="4418376"/>
            <a:ext cx="2971800" cy="475488"/>
          </a:xfrm>
          <a:prstGeom prst="rect">
            <a:avLst/>
          </a:prstGeom>
          <a:noFill/>
        </p:spPr>
        <p:txBody>
          <a:bodyPr wrap="square" lIns="0" tIns="0" rIns="0" bIns="0" anchor="ctr">
            <a:spAutoFit/>
          </a:bodyPr>
          <a:lstStyle/>
          <a:p>
            <a:pPr algn="l">
              <a:spcAft>
                <a:spcPts val="500"/>
              </a:spcAft>
            </a:pPr>
            <a:r>
              <a:rPr sz="1050" b="0" i="1">
                <a:solidFill>
                  <a:srgbClr val="60607D"/>
                </a:solidFill>
              </a:rPr>
              <a:t>[Row label]</a:t>
            </a:r>
          </a:p>
        </p:txBody>
      </p:sp>
      <p:sp>
        <p:nvSpPr>
          <p:cNvPr id="35" name="TextBox 34"/>
          <p:cNvSpPr txBox="1"/>
          <p:nvPr/>
        </p:nvSpPr>
        <p:spPr>
          <a:xfrm>
            <a:off x="3749040" y="4418376"/>
            <a:ext cx="2514600" cy="475488"/>
          </a:xfrm>
          <a:prstGeom prst="rect">
            <a:avLst/>
          </a:prstGeom>
          <a:noFill/>
        </p:spPr>
        <p:txBody>
          <a:bodyPr wrap="square" lIns="0" tIns="0" rIns="0" bIns="0" anchor="ctr">
            <a:spAutoFit/>
          </a:bodyPr>
          <a:lstStyle/>
          <a:p>
            <a:pPr algn="l">
              <a:spcAft>
                <a:spcPts val="500"/>
              </a:spcAft>
            </a:pPr>
            <a:r>
              <a:rPr sz="1050" b="0" i="1">
                <a:solidFill>
                  <a:srgbClr val="60607D"/>
                </a:solidFill>
              </a:rPr>
              <a:t>[ ]</a:t>
            </a:r>
          </a:p>
        </p:txBody>
      </p:sp>
      <p:sp>
        <p:nvSpPr>
          <p:cNvPr id="36" name="TextBox 35"/>
          <p:cNvSpPr txBox="1"/>
          <p:nvPr/>
        </p:nvSpPr>
        <p:spPr>
          <a:xfrm>
            <a:off x="6400800" y="4418376"/>
            <a:ext cx="2514600" cy="475488"/>
          </a:xfrm>
          <a:prstGeom prst="rect">
            <a:avLst/>
          </a:prstGeom>
          <a:noFill/>
        </p:spPr>
        <p:txBody>
          <a:bodyPr wrap="square" lIns="0" tIns="0" rIns="0" bIns="0" anchor="ctr">
            <a:spAutoFit/>
          </a:bodyPr>
          <a:lstStyle/>
          <a:p>
            <a:pPr algn="l">
              <a:spcAft>
                <a:spcPts val="500"/>
              </a:spcAft>
            </a:pPr>
            <a:r>
              <a:rPr sz="1050" b="0" i="1">
                <a:solidFill>
                  <a:srgbClr val="60607D"/>
                </a:solidFill>
              </a:rPr>
              <a:t>[ ]</a:t>
            </a:r>
          </a:p>
        </p:txBody>
      </p:sp>
      <p:sp>
        <p:nvSpPr>
          <p:cNvPr id="37" name="TextBox 36"/>
          <p:cNvSpPr txBox="1"/>
          <p:nvPr/>
        </p:nvSpPr>
        <p:spPr>
          <a:xfrm>
            <a:off x="9052559" y="4418376"/>
            <a:ext cx="2514600" cy="475488"/>
          </a:xfrm>
          <a:prstGeom prst="rect">
            <a:avLst/>
          </a:prstGeom>
          <a:noFill/>
        </p:spPr>
        <p:txBody>
          <a:bodyPr wrap="square" lIns="0" tIns="0" rIns="0" bIns="0" anchor="ctr">
            <a:spAutoFit/>
          </a:bodyPr>
          <a:lstStyle/>
          <a:p>
            <a:pPr algn="l">
              <a:spcAft>
                <a:spcPts val="500"/>
              </a:spcAft>
            </a:pPr>
            <a:r>
              <a:rPr sz="1050" b="0" i="1">
                <a:solidFill>
                  <a:srgbClr val="60607D"/>
                </a:solidFill>
              </a:rPr>
              <a:t>[ ]</a:t>
            </a:r>
          </a:p>
        </p:txBody>
      </p:sp>
      <p:sp>
        <p:nvSpPr>
          <p:cNvPr id="38" name="Rounded Rectangle 37"/>
          <p:cNvSpPr/>
          <p:nvPr/>
        </p:nvSpPr>
        <p:spPr>
          <a:xfrm>
            <a:off x="457200" y="4999584"/>
            <a:ext cx="11277600" cy="566928"/>
          </a:xfrm>
          <a:prstGeom prst="roundRect">
            <a:avLst>
              <a:gd name="adj" fmla="val 90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ctr"/>
            <a:endParaRPr/>
          </a:p>
        </p:txBody>
      </p:sp>
      <p:sp>
        <p:nvSpPr>
          <p:cNvPr id="39" name="TextBox 38"/>
          <p:cNvSpPr txBox="1"/>
          <p:nvPr/>
        </p:nvSpPr>
        <p:spPr>
          <a:xfrm>
            <a:off x="640080" y="5045304"/>
            <a:ext cx="2971800" cy="475488"/>
          </a:xfrm>
          <a:prstGeom prst="rect">
            <a:avLst/>
          </a:prstGeom>
          <a:noFill/>
        </p:spPr>
        <p:txBody>
          <a:bodyPr wrap="square" lIns="0" tIns="0" rIns="0" bIns="0" anchor="ctr">
            <a:spAutoFit/>
          </a:bodyPr>
          <a:lstStyle/>
          <a:p>
            <a:pPr algn="l">
              <a:spcAft>
                <a:spcPts val="500"/>
              </a:spcAft>
            </a:pPr>
            <a:r>
              <a:rPr sz="1050" b="0" i="1">
                <a:solidFill>
                  <a:srgbClr val="60607D"/>
                </a:solidFill>
              </a:rPr>
              <a:t>[Row label]</a:t>
            </a:r>
          </a:p>
        </p:txBody>
      </p:sp>
      <p:sp>
        <p:nvSpPr>
          <p:cNvPr id="40" name="TextBox 39"/>
          <p:cNvSpPr txBox="1"/>
          <p:nvPr/>
        </p:nvSpPr>
        <p:spPr>
          <a:xfrm>
            <a:off x="3749040" y="5045304"/>
            <a:ext cx="2514600" cy="475488"/>
          </a:xfrm>
          <a:prstGeom prst="rect">
            <a:avLst/>
          </a:prstGeom>
          <a:noFill/>
        </p:spPr>
        <p:txBody>
          <a:bodyPr wrap="square" lIns="0" tIns="0" rIns="0" bIns="0" anchor="ctr">
            <a:spAutoFit/>
          </a:bodyPr>
          <a:lstStyle/>
          <a:p>
            <a:pPr algn="l">
              <a:spcAft>
                <a:spcPts val="500"/>
              </a:spcAft>
            </a:pPr>
            <a:r>
              <a:rPr sz="1050" b="0" i="1">
                <a:solidFill>
                  <a:srgbClr val="60607D"/>
                </a:solidFill>
              </a:rPr>
              <a:t>[ ]</a:t>
            </a:r>
          </a:p>
        </p:txBody>
      </p:sp>
      <p:sp>
        <p:nvSpPr>
          <p:cNvPr id="41" name="TextBox 40"/>
          <p:cNvSpPr txBox="1"/>
          <p:nvPr/>
        </p:nvSpPr>
        <p:spPr>
          <a:xfrm>
            <a:off x="6400800" y="5045304"/>
            <a:ext cx="2514600" cy="475488"/>
          </a:xfrm>
          <a:prstGeom prst="rect">
            <a:avLst/>
          </a:prstGeom>
          <a:noFill/>
        </p:spPr>
        <p:txBody>
          <a:bodyPr wrap="square" lIns="0" tIns="0" rIns="0" bIns="0" anchor="ctr">
            <a:spAutoFit/>
          </a:bodyPr>
          <a:lstStyle/>
          <a:p>
            <a:pPr algn="l">
              <a:spcAft>
                <a:spcPts val="500"/>
              </a:spcAft>
            </a:pPr>
            <a:r>
              <a:rPr sz="1050" b="0" i="1">
                <a:solidFill>
                  <a:srgbClr val="60607D"/>
                </a:solidFill>
              </a:rPr>
              <a:t>[ ]</a:t>
            </a:r>
          </a:p>
        </p:txBody>
      </p:sp>
      <p:sp>
        <p:nvSpPr>
          <p:cNvPr id="42" name="TextBox 41"/>
          <p:cNvSpPr txBox="1"/>
          <p:nvPr/>
        </p:nvSpPr>
        <p:spPr>
          <a:xfrm>
            <a:off x="9052559" y="5045304"/>
            <a:ext cx="2514600" cy="475488"/>
          </a:xfrm>
          <a:prstGeom prst="rect">
            <a:avLst/>
          </a:prstGeom>
          <a:noFill/>
        </p:spPr>
        <p:txBody>
          <a:bodyPr wrap="square" lIns="0" tIns="0" rIns="0" bIns="0" anchor="ctr">
            <a:spAutoFit/>
          </a:bodyPr>
          <a:lstStyle/>
          <a:p>
            <a:pPr algn="l">
              <a:spcAft>
                <a:spcPts val="500"/>
              </a:spcAft>
            </a:pPr>
            <a:r>
              <a:rPr sz="1050" b="0" i="1">
                <a:solidFill>
                  <a:srgbClr val="60607D"/>
                </a:solidFill>
              </a:rPr>
              <a:t>[ ]</a:t>
            </a:r>
          </a:p>
        </p:txBody>
      </p:sp>
    </p:spTree>
  </p:cSld>
  <p:clrMapOvr>
    <a:masterClrMapping/>
  </p:clrMapOvr>
</p:sld>
</file>

<file path=ppt/theme/theme1.xml><?xml version="1.0" encoding="utf-8"?>
<a:theme xmlns:a="http://schemas.openxmlformats.org/drawingml/2006/main" name="COLLABORATIVE WIREFRAME - 2025">
  <a:themeElements>
    <a:clrScheme name="Merkle_2025_v2">
      <a:dk1>
        <a:srgbClr val="FFFFFF"/>
      </a:dk1>
      <a:lt1>
        <a:srgbClr val="000000"/>
      </a:lt1>
      <a:dk2>
        <a:srgbClr val="D6D6DF"/>
      </a:dk2>
      <a:lt2>
        <a:srgbClr val="8888A1"/>
      </a:lt2>
      <a:accent1>
        <a:srgbClr val="040E4B"/>
      </a:accent1>
      <a:accent2>
        <a:srgbClr val="0391F2"/>
      </a:accent2>
      <a:accent3>
        <a:srgbClr val="031FA3"/>
      </a:accent3>
      <a:accent4>
        <a:srgbClr val="0328D1"/>
      </a:accent4>
      <a:accent5>
        <a:srgbClr val="60607D"/>
      </a:accent5>
      <a:accent6>
        <a:srgbClr val="DD3038"/>
      </a:accent6>
      <a:hlink>
        <a:srgbClr val="0228D0"/>
      </a:hlink>
      <a:folHlink>
        <a:srgbClr val="0291F1"/>
      </a:folHlink>
    </a:clrScheme>
    <a:fontScheme name="Proxima test">
      <a:majorFont>
        <a:latin typeface="Proxima Nova"/>
        <a:ea typeface=""/>
        <a:cs typeface=""/>
      </a:majorFont>
      <a:minorFont>
        <a:latin typeface="Proxima Nov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lumMod val="20000"/>
            <a:lumOff val="80000"/>
          </a:schemeClr>
        </a:solidFill>
        <a:ln>
          <a:noFill/>
        </a:ln>
      </a:spPr>
      <a:bodyPr rtlCol="0" anchor="ctr">
        <a:noAutofit/>
      </a:bodyP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bg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noAutofit/>
      </a:bodyPr>
      <a:lstStyle>
        <a:defPPr algn="l">
          <a:spcAft>
            <a:spcPts val="600"/>
          </a:spcAft>
          <a:defRPr sz="1400" dirty="0" smtClean="0"/>
        </a:defPPr>
      </a:lstStyle>
    </a:txDef>
  </a:objectDefaults>
  <a:extraClrSchemeLst/>
  <a:custClrLst>
    <a:custClr name="Deep Blue">
      <a:srgbClr val="000033"/>
    </a:custClr>
    <a:custClr name="Merkle Blue">
      <a:srgbClr val="040E4B"/>
    </a:custClr>
    <a:custClr name="Gulf Blue">
      <a:srgbClr val="041677"/>
    </a:custClr>
    <a:custClr name="Klein">
      <a:srgbClr val="031FA4"/>
    </a:custClr>
    <a:custClr name="Cobalt">
      <a:srgbClr val="0328D1"/>
    </a:custClr>
    <a:custClr name="Sky Blue">
      <a:srgbClr val="0391F2"/>
    </a:custClr>
    <a:custClr name="White">
      <a:srgbClr val="FFFFFF"/>
    </a:custClr>
    <a:custClr name="White">
      <a:srgbClr val="FFFFFF"/>
    </a:custClr>
    <a:custClr name="White">
      <a:srgbClr val="FFFFFF"/>
    </a:custClr>
    <a:custClr name="White">
      <a:srgbClr val="FFFFFF"/>
    </a:custClr>
    <a:custClr name="Dark Gray Tint">
      <a:srgbClr val="8888A1"/>
    </a:custClr>
    <a:custClr name="Mid Gray">
      <a:srgbClr val="AEAEBC"/>
    </a:custClr>
    <a:custClr name="Mid Gray Tint">
      <a:srgbClr val="D6D6DF"/>
    </a:custClr>
    <a:custClr name="Light Gray">
      <a:srgbClr val="E5E5E9"/>
    </a:custClr>
    <a:custClr name="Light Gray Tint">
      <a:srgbClr val="F2F2F4"/>
    </a:custClr>
    <a:custClr name="White">
      <a:srgbClr val="FFFFFF"/>
    </a:custClr>
    <a:custClr name="White">
      <a:srgbClr val="FFFFFF"/>
    </a:custClr>
    <a:custClr name="White">
      <a:srgbClr val="FFFFFF"/>
    </a:custClr>
    <a:custClr name="White">
      <a:srgbClr val="FFFFFF"/>
    </a:custClr>
    <a:custClr name="White">
      <a:srgbClr val="FFFFFF"/>
    </a:custClr>
  </a:custClrLst>
  <a:extLst>
    <a:ext uri="{05A4C25C-085E-4340-85A3-A5531E510DB2}">
      <thm15:themeFamily xmlns:thm15="http://schemas.microsoft.com/office/thememl/2012/main" name="Merkle_PPT_Template" id="{809271C0-2DF5-1D43-9E86-284BC87CAAF5}" vid="{7B0BB988-4564-F949-B1EE-E7D59515E6B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_rels/item8.xml.rels><?xml version='1.0' encoding='UTF-8' standalone='yes'?>
<Relationships xmlns="http://schemas.openxmlformats.org/package/2006/relationships"><Relationship Id="rId1" Type="http://schemas.openxmlformats.org/officeDocument/2006/relationships/customXmlProps" Target="itemProps8.xml"/></Relationships>
</file>

<file path=customXml/_rels/item9.xml.rels><?xml version='1.0' encoding='UTF-8' standalone='yes'?>
<Relationships xmlns="http://schemas.openxmlformats.org/package/2006/relationships"><Relationship Id="rId1" Type="http://schemas.openxmlformats.org/officeDocument/2006/relationships/customXmlProps" Target="itemProps9.xml"/></Relationships>
</file>

<file path=customXml/_rels/item10.xml.rels><?xml version='1.0' encoding='UTF-8' standalone='yes'?>
<Relationships xmlns="http://schemas.openxmlformats.org/package/2006/relationships"><Relationship Id="rId1" Type="http://schemas.openxmlformats.org/officeDocument/2006/relationships/customXmlProps" Target="itemProps10.xml"/></Relationships>
</file>

<file path=customXml/_rels/item11.xml.rels><?xml version='1.0' encoding='UTF-8' standalone='yes'?>
<Relationships xmlns="http://schemas.openxmlformats.org/package/2006/relationships"><Relationship Id="rId1" Type="http://schemas.openxmlformats.org/officeDocument/2006/relationships/customXmlProps" Target="itemProps11.xml"/></Relationships>
</file>

<file path=customXml/_rels/item12.xml.rels><?xml version='1.0' encoding='UTF-8' standalone='yes'?>
<Relationships xmlns="http://schemas.openxmlformats.org/package/2006/relationships"><Relationship Id="rId1" Type="http://schemas.openxmlformats.org/officeDocument/2006/relationships/customXmlProps" Target="itemProps12.xml"/></Relationships>
</file>

<file path=customXml/_rels/item13.xml.rels><?xml version='1.0' encoding='UTF-8' standalone='yes'?>
<Relationships xmlns="http://schemas.openxmlformats.org/package/2006/relationships"><Relationship Id="rId1" Type="http://schemas.openxmlformats.org/officeDocument/2006/relationships/customXmlProps" Target="itemProps13.xml"/></Relationships>
</file>

<file path=customXml/_rels/item14.xml.rels><?xml version='1.0' encoding='UTF-8' standalone='yes'?>
<Relationships xmlns="http://schemas.openxmlformats.org/package/2006/relationships"><Relationship Id="rId1" Type="http://schemas.openxmlformats.org/officeDocument/2006/relationships/customXmlProps" Target="itemProps14.xml"/></Relationships>
</file>

<file path=customXml/_rels/item15.xml.rels><?xml version='1.0' encoding='UTF-8' standalone='yes'?>
<Relationships xmlns="http://schemas.openxmlformats.org/package/2006/relationships"><Relationship Id="rId1" Type="http://schemas.openxmlformats.org/officeDocument/2006/relationships/customXmlProps" Target="itemProps15.xml"/></Relationships>
</file>

<file path=customXml/item1.xml><?xml version="1.0" encoding="utf-8"?>
<TemplafySlideTemplateConfiguration><![CDATA[{"documentContentValidatorConfiguration":{"enableDocumentContentValidator":false,"documentContentValidatorVersion":0},"elementsMetadata":[],"slideId":"637352323191115078","enableDocumentContentUpdater":true,"version":"1.1"}]]></TemplafySlideTemplateConfiguration>
</file>

<file path=customXml/item2.xml><?xml version="1.0" encoding="utf-8"?>
<TemplafySlideTemplateConfiguration><![CDATA[{"documentContentValidatorConfiguration":{"enableDocumentContentValidator":false,"documentContentValidatorVersion":0},"elementsMetadata":[],"slideId":"637352323191115078","enableDocumentContentUpdater":true,"version":"1.1"}]]></TemplafySlideTemplateConfiguration>
</file>

<file path=customXml/item3.xml><?xml version="1.0" encoding="utf-8"?>
<TemplafySlideTemplateConfiguration><![CDATA[{"documentContentValidatorConfiguration":{"enableDocumentContentValidator":false,"documentContentValidatorVersion":0},"elementsMetadata":[],"slideId":"637352323191115078","enableDocumentContentUpdater":true,"version":"1.1"}]]></TemplafySlideTemplateConfiguration>
</file>

<file path=customXml/item4.xml><?xml version="1.0" encoding="utf-8"?>
<TemplafySlideTemplateConfiguration><![CDATA[{"documentContentValidatorConfiguration":{"enableDocumentContentValidator":false,"documentContentValidatorVersion":0},"elementsMetadata":[],"slideId":"637352323191115078","enableDocumentContentUpdater":true,"version":"1.1"}]]></TemplafySlideTemplateConfiguration>
</file>

<file path=customXml/item5.xml><?xml version="1.0" encoding="utf-8"?>
<TemplafySlideFormConfiguration><![CDATA[{"formFields":[],"formDataEntries":[]}]]></TemplafySlideFormConfiguration>
</file>

<file path=customXml/item6.xml><?xml version="1.0" encoding="utf-8"?>
<p:properties xmlns:p="http://schemas.microsoft.com/office/2006/metadata/properties" xmlns:xsi="http://www.w3.org/2001/XMLSchema-instance" xmlns:pc="http://schemas.microsoft.com/office/infopath/2007/PartnerControls">
  <documentManagement/>
</p:properties>
</file>

<file path=customXml/item7.xml><?xml version="1.0" encoding="utf-8"?>
<TemplafySlideFormConfiguration><![CDATA[{"formFields":[],"formDataEntries":[]}]]></TemplafySlideFormConfiguration>
</file>

<file path=customXml/item8.xml><?xml version="1.0" encoding="utf-8"?>
<TemplafySlideFormConfiguration><![CDATA[{"formFields":[],"formDataEntries":[]}]]></TemplafySlideFormConfiguration>
</file>

<file path=customXml/item9.xml><?xml version="1.0" encoding="utf-8"?>
<TemplafySlideTemplateConfiguration><![CDATA[{"documentContentValidatorConfiguration":{"enableDocumentContentValidator":false,"documentContentValidatorVersion":0},"elementsMetadata":[],"slideId":"637352323191115078","enableDocumentContentUpdater":true,"version":"1.1"}]]></TemplafySlideTemplateConfiguration>
</file>

<file path=customXml/item10.xml><?xml version="1.0" encoding="utf-8"?>
<TemplafySlideFormConfiguration><![CDATA[{"formFields":[],"formDataEntries":[]}]]></TemplafySlideFormConfiguration>
</file>

<file path=customXml/item11.xml><?xml version="1.0" encoding="utf-8"?>
<ct:contentTypeSchema xmlns:ct="http://schemas.microsoft.com/office/2006/metadata/contentType" xmlns:ma="http://schemas.microsoft.com/office/2006/metadata/properties/metaAttributes" ct:_="" ma:_="" ma:contentTypeName="Document" ma:contentTypeID="0x0101000E03A52DFF83D84488E93803DDBB9CF7" ma:contentTypeVersion="3" ma:contentTypeDescription="Create a new document." ma:contentTypeScope="" ma:versionID="7183402d5426fb7fa40a57754f8987a7">
  <xsd:schema xmlns:xsd="http://www.w3.org/2001/XMLSchema" xmlns:xs="http://www.w3.org/2001/XMLSchema" xmlns:p="http://schemas.microsoft.com/office/2006/metadata/properties" xmlns:ns2="ffd69ccd-669e-4a1a-b9ff-a607e277eb6b" targetNamespace="http://schemas.microsoft.com/office/2006/metadata/properties" ma:root="true" ma:fieldsID="fce94913ec708fae3ad90612dc7fd3f5" ns2:_="">
    <xsd:import namespace="ffd69ccd-669e-4a1a-b9ff-a607e277eb6b"/>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fd69ccd-669e-4a1a-b9ff-a607e277eb6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12.xml><?xml version="1.0" encoding="utf-8"?>
<TemplafySlideFormConfiguration><![CDATA[{"formFields":[],"formDataEntries":[]}]]></TemplafySlideFormConfiguration>
</file>

<file path=customXml/item13.xml><?xml version="1.0" encoding="utf-8"?>
<TemplafySlideFormConfiguration><![CDATA[{"formFields":[],"formDataEntries":[]}]]></TemplafySlideFormConfiguration>
</file>

<file path=customXml/item14.xml><?xml version="1.0" encoding="utf-8"?>
<?mso-contentType ?>
<FormTemplates xmlns="http://schemas.microsoft.com/sharepoint/v3/contenttype/forms">
  <Display>DocumentLibraryForm</Display>
  <Edit>DocumentLibraryForm</Edit>
  <New>DocumentLibraryForm</New>
</FormTemplates>
</file>

<file path=customXml/item15.xml><?xml version="1.0" encoding="utf-8"?>
<TemplafySlideTemplateConfiguration><![CDATA[{"documentContentValidatorConfiguration":{"enableDocumentContentValidator":false,"documentContentValidatorVersion":0},"elementsMetadata":[],"slideId":"637352323191115078","enableDocumentContentUpdater":true,"version":"1.1"}]]></TemplafySlideTemplateConfiguration>
</file>

<file path=customXml/itemProps1.xml><?xml version="1.0" encoding="utf-8"?>
<ds:datastoreItem xmlns:ds="http://schemas.openxmlformats.org/officeDocument/2006/customXml" ds:itemID="{A48A09DB-9412-4CC5-853B-30DF5312F164}">
  <ds:schemaRefs/>
</ds:datastoreItem>
</file>

<file path=customXml/itemProps2.xml><?xml version="1.0" encoding="utf-8"?>
<ds:datastoreItem xmlns:ds="http://schemas.openxmlformats.org/officeDocument/2006/customXml" ds:itemID="{B82A8263-E571-43F3-9E91-8424F188A071}">
  <ds:schemaRefs/>
</ds:datastoreItem>
</file>

<file path=customXml/itemProps3.xml><?xml version="1.0" encoding="utf-8"?>
<ds:datastoreItem xmlns:ds="http://schemas.openxmlformats.org/officeDocument/2006/customXml" ds:itemID="{C45642DC-9A5F-4645-ADA4-4C9C3418D003}">
  <ds:schemaRefs/>
</ds:datastoreItem>
</file>

<file path=customXml/itemProps4.xml><?xml version="1.0" encoding="utf-8"?>
<ds:datastoreItem xmlns:ds="http://schemas.openxmlformats.org/officeDocument/2006/customXml" ds:itemID="{1C2D6E68-51DB-4BFD-88E4-E31D99A1A821}">
  <ds:schemaRefs/>
</ds:datastoreItem>
</file>

<file path=customXml/itemProps5.xml><?xml version="1.0" encoding="utf-8"?>
<ds:datastoreItem xmlns:ds="http://schemas.openxmlformats.org/officeDocument/2006/customXml" ds:itemID="{D19811AB-F04C-4CB1-906B-120DD81CEC00}">
  <ds:schemaRefs/>
</ds:datastoreItem>
</file>

<file path=customXml/itemProps6.xml><?xml version="1.0" encoding="utf-8"?>
<ds:datastoreItem xmlns:ds="http://schemas.openxmlformats.org/officeDocument/2006/customXml" ds:itemID="{32C947A3-4CBF-434C-A709-03C12B0F1660}">
  <ds:schemaRefs>
    <ds:schemaRef ds:uri="http://schemas.microsoft.com/office/2006/documentManagement/types"/>
    <ds:schemaRef ds:uri="http://purl.org/dc/dcmitype/"/>
    <ds:schemaRef ds:uri="http://www.w3.org/XML/1998/namespace"/>
    <ds:schemaRef ds:uri="http://purl.org/dc/elements/1.1/"/>
    <ds:schemaRef ds:uri="http://schemas.openxmlformats.org/package/2006/metadata/core-properties"/>
    <ds:schemaRef ds:uri="http://schemas.microsoft.com/office/2006/metadata/properties"/>
    <ds:schemaRef ds:uri="http://purl.org/dc/terms/"/>
    <ds:schemaRef ds:uri="http://schemas.microsoft.com/office/infopath/2007/PartnerControls"/>
    <ds:schemaRef ds:uri="ffd69ccd-669e-4a1a-b9ff-a607e277eb6b"/>
  </ds:schemaRefs>
</ds:datastoreItem>
</file>

<file path=customXml/itemProps7.xml><?xml version="1.0" encoding="utf-8"?>
<ds:datastoreItem xmlns:ds="http://schemas.openxmlformats.org/officeDocument/2006/customXml" ds:itemID="{C978122E-4CF7-4DAF-A638-3228CFE4D0E4}">
  <ds:schemaRefs/>
</ds:datastoreItem>
</file>

<file path=customXml/itemProps8.xml><?xml version="1.0" encoding="utf-8"?>
<ds:datastoreItem xmlns:ds="http://schemas.openxmlformats.org/officeDocument/2006/customXml" ds:itemID="{8ED5A302-E581-4954-9104-07BBB2BA16EA}">
  <ds:schemaRefs/>
</ds:datastoreItem>
</file>

<file path=customXml/itemProps9.xml><?xml version="1.0" encoding="utf-8"?>
<ds:datastoreItem xmlns:ds="http://schemas.openxmlformats.org/officeDocument/2006/customXml" ds:itemID="{4D8D6E3D-6D95-4645-9B5B-00A02728EFE6}">
  <ds:schemaRefs/>
</ds:datastoreItem>
</file>

<file path=customXml/itemProps10.xml><?xml version="1.0" encoding="utf-8"?>
<ds:datastoreItem xmlns:ds="http://schemas.openxmlformats.org/officeDocument/2006/customXml" ds:itemID="{3A934794-B7B9-40A5-BC3E-83474445FB2C}">
  <ds:schemaRefs/>
</ds:datastoreItem>
</file>

<file path=customXml/itemProps11.xml><?xml version="1.0" encoding="utf-8"?>
<ds:datastoreItem xmlns:ds="http://schemas.openxmlformats.org/officeDocument/2006/customXml" ds:itemID="{2583E5A3-4B69-4BD6-9BC5-33CDB10B0E2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fd69ccd-669e-4a1a-b9ff-a607e277eb6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12.xml><?xml version="1.0" encoding="utf-8"?>
<ds:datastoreItem xmlns:ds="http://schemas.openxmlformats.org/officeDocument/2006/customXml" ds:itemID="{E15543A8-80BA-4997-B7AD-F61A4B2E048D}">
  <ds:schemaRefs/>
</ds:datastoreItem>
</file>

<file path=customXml/itemProps13.xml><?xml version="1.0" encoding="utf-8"?>
<ds:datastoreItem xmlns:ds="http://schemas.openxmlformats.org/officeDocument/2006/customXml" ds:itemID="{641488FD-1F5F-4710-8EC0-17A522704CC6}">
  <ds:schemaRefs/>
</ds:datastoreItem>
</file>

<file path=customXml/itemProps14.xml><?xml version="1.0" encoding="utf-8"?>
<ds:datastoreItem xmlns:ds="http://schemas.openxmlformats.org/officeDocument/2006/customXml" ds:itemID="{55D39E11-1D25-4CE1-BD32-66A872E6EE8D}">
  <ds:schemaRefs>
    <ds:schemaRef ds:uri="http://schemas.microsoft.com/sharepoint/v3/contenttype/forms"/>
  </ds:schemaRefs>
</ds:datastoreItem>
</file>

<file path=customXml/itemProps15.xml><?xml version="1.0" encoding="utf-8"?>
<ds:datastoreItem xmlns:ds="http://schemas.openxmlformats.org/officeDocument/2006/customXml" ds:itemID="{7175AA37-2E84-4AD4-A69B-19A9990FFAFF}">
  <ds:schemaRefs/>
</ds:datastoreItem>
</file>

<file path=docMetadata/LabelInfo.xml><?xml version="1.0" encoding="utf-8"?>
<clbl:labelList xmlns:clbl="http://schemas.microsoft.com/office/2020/mipLabelMetadata">
  <clbl:label id="{6e8992ec-76d5-4ea5-8eae-b0c5e558749a}" enabled="0" method="" siteId="{6e8992ec-76d5-4ea5-8eae-b0c5e558749a}" removed="1"/>
</clbl:labelList>
</file>

<file path=docProps/app.xml><?xml version="1.0" encoding="utf-8"?>
<Properties xmlns="http://schemas.openxmlformats.org/officeDocument/2006/extended-properties" xmlns:vt="http://schemas.openxmlformats.org/officeDocument/2006/docPropsVTypes">
  <Template>COLLABORATIVE WIREFRAME - 2025</Template>
  <TotalTime>1137</TotalTime>
  <Words>16557</Words>
  <Application>Microsoft Office PowerPoint</Application>
  <PresentationFormat>Widescreen</PresentationFormat>
  <Paragraphs>1938</Paragraphs>
  <Slides>97</Slides>
  <Notes>1</Notes>
  <HiddenSlides>20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97</vt:i4>
      </vt:variant>
    </vt:vector>
  </HeadingPairs>
  <TitlesOfParts>
    <vt:vector size="101" baseType="lpstr">
      <vt:lpstr>Proxima Nova</vt:lpstr>
      <vt:lpstr>Arial</vt:lpstr>
      <vt:lpstr>Aptos</vt:lpstr>
      <vt:lpstr>COLLABORATIVE WIREFRAME - 2025</vt:lpstr>
      <vt:lpstr>Where We're Focusing</vt:lpstr>
      <vt:lpstr>How to fill this in</vt:lpstr>
      <vt:lpstr>Update your section with Claude</vt:lpstr>
      <vt:lpstr>Deal to Delivery Playbook</vt:lpstr>
      <vt:lpstr>Deal to Delivery Playbook</vt:lpstr>
      <vt:lpstr>Why now</vt:lpstr>
      <vt:lpstr>How we're going about it</vt:lpstr>
      <vt:lpstr>Delivery Models: the four starting models</vt:lpstr>
      <vt:lpstr>The recommendation: four rules</vt:lpstr>
      <vt:lpstr>Deal to Delivery Playbook: Update</vt:lpstr>
      <vt:lpstr>Images: Deal-to-Delivery Playbook</vt:lpstr>
      <vt:lpstr>Accountability Framework</vt:lpstr>
      <vt:lpstr>Accountability Framework</vt:lpstr>
      <vt:lpstr>Why now</vt:lpstr>
      <vt:lpstr>How we're going about it</vt:lpstr>
      <vt:lpstr>Adoption &amp; change management</vt:lpstr>
      <vt:lpstr>Accountability Framework: Update</vt:lpstr>
      <vt:lpstr>Accountability Framework</vt:lpstr>
      <vt:lpstr>Images: Accountability Framework</vt:lpstr>
      <vt:lpstr>Leadership Dashboards</vt:lpstr>
      <vt:lpstr>Leadership Dashboards</vt:lpstr>
      <vt:lpstr>Why now</vt:lpstr>
      <vt:lpstr>How we're going about it</vt:lpstr>
      <vt:lpstr>Adoption &amp; change management</vt:lpstr>
      <vt:lpstr>Leadership Dashboards: Update</vt:lpstr>
      <vt:lpstr>Leadership Dashboards</vt:lpstr>
      <vt:lpstr>Images: Leadership Dashboards</vt:lpstr>
      <vt:lpstr>Capacity Planning &amp; Romulus</vt:lpstr>
      <vt:lpstr>Capacity Planning &amp; Romulus</vt:lpstr>
      <vt:lpstr>Why now</vt:lpstr>
      <vt:lpstr>How we're going about it</vt:lpstr>
      <vt:lpstr>Adoption &amp; change management</vt:lpstr>
      <vt:lpstr>Capacity Planning &amp; Romulus: Update</vt:lpstr>
      <vt:lpstr>Capacity Planning &amp; Romulus</vt:lpstr>
      <vt:lpstr>Staffing</vt:lpstr>
      <vt:lpstr>Romulus</vt:lpstr>
      <vt:lpstr>What you can do with it</vt:lpstr>
      <vt:lpstr>Capacity Planning</vt:lpstr>
      <vt:lpstr>Images: Capacity Planning &amp; Romulus</vt:lpstr>
      <vt:lpstr>DGS Leadership Transition</vt:lpstr>
      <vt:lpstr>DGS Leadership Transition</vt:lpstr>
      <vt:lpstr>Why now</vt:lpstr>
      <vt:lpstr>How we're going about it</vt:lpstr>
      <vt:lpstr>Adoption &amp; change management</vt:lpstr>
      <vt:lpstr>DGS Leadership Transition: Update</vt:lpstr>
      <vt:lpstr>DGS Leadership Transition</vt:lpstr>
      <vt:lpstr>Images: DGS Leadership Transition</vt:lpstr>
      <vt:lpstr>Intake</vt:lpstr>
      <vt:lpstr>Intake</vt:lpstr>
      <vt:lpstr>Why now</vt:lpstr>
      <vt:lpstr>How we're going about it</vt:lpstr>
      <vt:lpstr>Adoption &amp; change management</vt:lpstr>
      <vt:lpstr>Intake: Update</vt:lpstr>
      <vt:lpstr>Intake Updates</vt:lpstr>
      <vt:lpstr>Images: Intake Updates</vt:lpstr>
      <vt:lpstr>Ops Transformation: Rebuild Scoping &amp; Staffing</vt:lpstr>
      <vt:lpstr>Ops Transformation: Rebuild Scoping &amp; Staffing</vt:lpstr>
      <vt:lpstr>Why now</vt:lpstr>
      <vt:lpstr>How we're going about it</vt:lpstr>
      <vt:lpstr>Adoption &amp; change management</vt:lpstr>
      <vt:lpstr>Ops Transformation: Rebuild Scoping &amp; Staffing: Update</vt:lpstr>
      <vt:lpstr>Ops Transformation: Rebuild Scoping &amp; Staffing</vt:lpstr>
      <vt:lpstr>Images: Ops Transformation: Rebuild Scoping &amp; Staffing</vt:lpstr>
      <vt:lpstr>Earlier Delivery &amp; Talent in Pursuits</vt:lpstr>
      <vt:lpstr>Earlier Delivery &amp; Talent in Pursuits</vt:lpstr>
      <vt:lpstr>Why now</vt:lpstr>
      <vt:lpstr>How we're going about it</vt:lpstr>
      <vt:lpstr>Adoption &amp; change management</vt:lpstr>
      <vt:lpstr>Earlier Delivery &amp; Talent in Pursuits: Update</vt:lpstr>
      <vt:lpstr>Earlier delivery and talent involvement in major pursuits</vt:lpstr>
      <vt:lpstr>Images: Earlier Delivery &amp; Talent in Pursuits</vt:lpstr>
      <vt:lpstr>[Add a header]</vt:lpstr>
      <vt:lpstr>[Add a header]</vt:lpstr>
      <vt:lpstr>[Add a header]</vt:lpstr>
      <vt:lpstr>[Add a header]</vt:lpstr>
      <vt:lpstr>[Add a header]</vt:lpstr>
      <vt:lpstr>[Add a header]</vt:lpstr>
      <vt:lpstr>[Add a header]</vt:lpstr>
      <vt:lpstr>[Add a header]</vt:lpstr>
      <vt:lpstr>[Add a header]</vt:lpstr>
      <vt:lpstr>[Add a header]</vt:lpstr>
      <vt:lpstr>[Add a header]</vt:lpstr>
      <vt:lpstr>[Add a header]</vt:lpstr>
      <vt:lpstr>[Add a header]</vt:lpstr>
      <vt:lpstr>[Add a header]</vt:lpstr>
      <vt:lpstr>[Add a header]</vt:lpstr>
      <vt:lpstr>[Add a header]</vt:lpstr>
      <vt:lpstr>[Add a header]</vt:lpstr>
      <vt:lpstr>[Add a header]</vt:lpstr>
      <vt:lpstr>How we're going about it</vt:lpstr>
      <vt:lpstr>How we're going about it</vt:lpstr>
      <vt:lpstr>How we're going about it</vt:lpstr>
      <vt:lpstr>How we're going about it</vt:lpstr>
      <vt:lpstr>How we're going about it</vt:lpstr>
      <vt:lpstr>How we're going about it</vt:lpstr>
      <vt:lpstr>How we're going about it</vt:lpstr>
      <vt:lpstr>How we're going about it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Samantha O'Neil</dc:creator>
  <cp:lastModifiedBy>Rachel Harris</cp:lastModifiedBy>
  <cp:revision>5</cp:revision>
  <dcterms:created xsi:type="dcterms:W3CDTF">2026-08-19T11:07:14Z</dcterms:created>
  <dcterms:modified xsi:type="dcterms:W3CDTF">2026-10-22T16:40:17Z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0x0101000E03A52DFF83D84488E93803DDBB9CF7</vt:lpwstr>
  </property>
  <property fmtid="{D5CDD505-2E9C-101B-9397-08002B2CF9AE}" pid="4" name="_dlc_DocIdItemGuid">
    <vt:lpwstr>1588c89b-885d-4666-9250-8363a7f08b01</vt:lpwstr>
  </property>
</Properties>
</file>