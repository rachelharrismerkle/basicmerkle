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42" r:id="rId117"/>
    <p:sldId id="343" r:id="rId118"/>
    <p:sldId id="344" r:id="rId119"/>
    <p:sldId id="345" r:id="rId120"/>
    <p:sldId id="346" r:id="rId121"/>
    <p:sldId id="347" r:id="rId122"/>
    <p:sldId id="348" r:id="rId123"/>
    <p:sldId id="349" r:id="rId1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117" Type="http://schemas.openxmlformats.org/officeDocument/2006/relationships/slide" Target="slides/slide88.xml"/><Relationship Id="rId118" Type="http://schemas.openxmlformats.org/officeDocument/2006/relationships/slide" Target="slides/slide89.xml"/><Relationship Id="rId119" Type="http://schemas.openxmlformats.org/officeDocument/2006/relationships/slide" Target="slides/slide90.xml"/><Relationship Id="rId120" Type="http://schemas.openxmlformats.org/officeDocument/2006/relationships/slide" Target="slides/slide91.xml"/><Relationship Id="rId121" Type="http://schemas.openxmlformats.org/officeDocument/2006/relationships/slide" Target="slides/slide92.xml"/><Relationship Id="rId122" Type="http://schemas.openxmlformats.org/officeDocument/2006/relationships/slide" Target="slides/slide93.xml"/><Relationship Id="rId123" Type="http://schemas.openxmlformats.org/officeDocument/2006/relationships/slide" Target="slides/slide94.xml"/><Relationship Id="rId124" Type="http://schemas.openxmlformats.org/officeDocument/2006/relationships/slide" Target="slides/slide9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image" Target="../media/image53.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SIX BLOCKS AND A TAKEAWAY · DETAIL</a:t>
            </a:r>
          </a:p>
        </p:txBody>
      </p:sp>
      <p:sp>
        <p:nvSpPr>
          <p:cNvPr id="7" name="TextBox 6"/>
          <p:cNvSpPr txBox="1"/>
          <p:nvPr/>
        </p:nvSpPr>
        <p:spPr>
          <a:xfrm>
            <a:off x="457200" y="1170000"/>
            <a:ext cx="11277600" cy="685800"/>
          </a:xfrm>
          <a:prstGeom prst="rect">
            <a:avLst/>
          </a:prstGeom>
          <a:noFill/>
        </p:spPr>
        <p:txBody>
          <a:bodyPr wrap="square" lIns="0" rIns="0" tIns="0" bIns="0" anchor="t">
            <a:spAutoFit/>
          </a:bodyPr>
          <a:lstStyle/>
          <a:p>
            <a:pPr algn="l">
              <a:spcAft>
                <a:spcPts val="500"/>
              </a:spcAft>
            </a:pPr>
            <a:r>
              <a:rPr sz="1150" b="0" i="1">
                <a:solidFill>
                  <a:srgbClr val="60607D"/>
                </a:solidFill>
              </a:rPr>
              <a:t>[Put here: one or two sentences that set up the slide.]</a:t>
            </a:r>
          </a:p>
        </p:txBody>
      </p:sp>
      <p:sp>
        <p:nvSpPr>
          <p:cNvPr id="8" name="Rounded Rectangle 7"/>
          <p:cNvSpPr/>
          <p:nvPr/>
        </p:nvSpPr>
        <p:spPr>
          <a:xfrm>
            <a:off x="4572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9" name="Rounded Rectangle 8"/>
          <p:cNvSpPr/>
          <p:nvPr/>
        </p:nvSpPr>
        <p:spPr>
          <a:xfrm>
            <a:off x="42664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0" name="Rounded Rectangle 9"/>
          <p:cNvSpPr/>
          <p:nvPr/>
        </p:nvSpPr>
        <p:spPr>
          <a:xfrm>
            <a:off x="80756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1" name="Rounded Rectangle 10"/>
          <p:cNvSpPr/>
          <p:nvPr/>
        </p:nvSpPr>
        <p:spPr>
          <a:xfrm>
            <a:off x="4572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2" name="Rounded Rectangle 11"/>
          <p:cNvSpPr/>
          <p:nvPr/>
        </p:nvSpPr>
        <p:spPr>
          <a:xfrm>
            <a:off x="42664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3" name="Rounded Rectangle 12"/>
          <p:cNvSpPr/>
          <p:nvPr/>
        </p:nvSpPr>
        <p:spPr>
          <a:xfrm>
            <a:off x="80756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150" b="0" i="1">
                <a:solidFill>
                  <a:srgbClr val="60607D"/>
                </a:solidFill>
              </a:rPr>
              <a:t>[Put here: a few sentences on this part.]</a:t>
            </a:r>
          </a:p>
        </p:txBody>
      </p:sp>
      <p:sp>
        <p:nvSpPr>
          <p:cNvPr id="14" name="Rounded Rectangle 13"/>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0" i="1">
                <a:solidFill>
                  <a:srgbClr val="D6D6DF"/>
                </a:solidFill>
              </a:rPr>
              <a:t>[One sentence: the key takeaway.]</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THREE CARDS AND TWO WIDE ·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300" b="0" i="1">
                <a:solidFill>
                  <a:srgbClr val="60607D"/>
                </a:solidFill>
              </a:rPr>
              <a:t>[Put here: the one-sentence headline for this slide.]</a:t>
            </a:r>
          </a:p>
        </p:txBody>
      </p:sp>
      <p:sp>
        <p:nvSpPr>
          <p:cNvPr id="8" name="Rounded Rectangle 7"/>
          <p:cNvSpPr/>
          <p:nvPr/>
        </p:nvSpPr>
        <p:spPr>
          <a:xfrm>
            <a:off x="4572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9" name="Rounded Rectangle 8"/>
          <p:cNvSpPr/>
          <p:nvPr/>
        </p:nvSpPr>
        <p:spPr>
          <a:xfrm>
            <a:off x="42664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0" name="Rounded Rectangle 9"/>
          <p:cNvSpPr/>
          <p:nvPr/>
        </p:nvSpPr>
        <p:spPr>
          <a:xfrm>
            <a:off x="80756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1" name="Rounded Rectangle 10"/>
          <p:cNvSpPr/>
          <p:nvPr/>
        </p:nvSpPr>
        <p:spPr>
          <a:xfrm>
            <a:off x="4572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2" name="Rounded Rectangle 11"/>
          <p:cNvSpPr/>
          <p:nvPr/>
        </p:nvSpPr>
        <p:spPr>
          <a:xfrm>
            <a:off x="61710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few sentences or bullets.]</a:t>
            </a:r>
          </a:p>
        </p:txBody>
      </p:sp>
      <p:sp>
        <p:nvSpPr>
          <p:cNvPr id="13" name="Rounded Rectangle 1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194560"/>
            <a:ext cx="3840480" cy="237744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IMAGE AND TWO PHASES · DETAIL</a:t>
            </a:r>
          </a:p>
        </p:txBody>
      </p:sp>
      <p:sp>
        <p:nvSpPr>
          <p:cNvPr id="10" name="TextBox 9"/>
          <p:cNvSpPr txBox="1"/>
          <p:nvPr/>
        </p:nvSpPr>
        <p:spPr>
          <a:xfrm>
            <a:off x="640080" y="237744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697480"/>
            <a:ext cx="3200400" cy="73152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520440"/>
            <a:ext cx="3200400" cy="1005840"/>
          </a:xfrm>
          <a:prstGeom prst="rect">
            <a:avLst/>
          </a:prstGeom>
          <a:noFill/>
        </p:spPr>
        <p:txBody>
          <a:bodyPr wrap="square" lIns="0" rIns="0" tIns="0" bIns="0" anchor="t">
            <a:spAutoFit/>
          </a:bodyPr>
          <a:lstStyle/>
          <a:p>
            <a:pPr algn="l">
              <a:spcAft>
                <a:spcPts val="500"/>
              </a:spcAft>
            </a:pPr>
            <a:r>
              <a:rPr sz="1200" b="0" i="1">
                <a:solidFill>
                  <a:srgbClr val="D6D6DF"/>
                </a:solidFill>
              </a:rPr>
              <a:t>[A line or two on what this is.]</a:t>
            </a:r>
          </a:p>
        </p:txBody>
      </p:sp>
      <p:sp>
        <p:nvSpPr>
          <p:cNvPr id="13" name="Rounded Rectangle 12"/>
          <p:cNvSpPr/>
          <p:nvPr/>
        </p:nvSpPr>
        <p:spPr>
          <a:xfrm>
            <a:off x="489204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1</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4" name="Rounded Rectangle 13"/>
          <p:cNvSpPr/>
          <p:nvPr/>
        </p:nvSpPr>
        <p:spPr>
          <a:xfrm>
            <a:off x="838842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2</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what it is, in a sentence or two.]</a:t>
            </a:r>
          </a:p>
          <a:p>
            <a:pPr algn="l">
              <a:spcBef>
                <a:spcPts val="400"/>
              </a:spcBef>
              <a:spcAft>
                <a:spcPts val="200"/>
              </a:spcAft>
            </a:pPr>
            <a:r>
              <a:rPr sz="1200" b="1" i="0">
                <a:solidFill>
                  <a:srgbClr val="000000"/>
                </a:solidFill>
              </a:rPr>
              <a:t>[Add a heading]</a:t>
            </a:r>
          </a:p>
          <a:p>
            <a:pPr algn="l">
              <a:spcAft>
                <a:spcPts val="500"/>
              </a:spcAft>
            </a:pPr>
            <a:r>
              <a:rPr sz="1200" b="0" i="1">
                <a:solidFill>
                  <a:srgbClr val="60607D"/>
                </a:solidFill>
              </a:rPr>
              <a:t>[Put here: bullets.]</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GOAL AND THREE PILLARS · DETAIL</a:t>
            </a:r>
          </a:p>
        </p:txBody>
      </p:sp>
      <p:sp>
        <p:nvSpPr>
          <p:cNvPr id="7" name="Rounded Rectangle 6"/>
          <p:cNvSpPr/>
          <p:nvPr/>
        </p:nvSpPr>
        <p:spPr>
          <a:xfrm>
            <a:off x="457200" y="1170000"/>
            <a:ext cx="11277600" cy="6400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74320" tIns="64008" rIns="274320" bIns="36576"/>
          <a:lstStyle/>
          <a:p>
            <a:pPr algn="l">
              <a:spcBef>
                <a:spcPts val="200"/>
              </a:spcBef>
              <a:spcAft>
                <a:spcPts val="200"/>
              </a:spcAft>
            </a:pPr>
            <a:r>
              <a:rPr sz="850" b="1" i="0" cap="all" spc="100">
                <a:solidFill>
                  <a:srgbClr val="60607D"/>
                </a:solidFill>
              </a:rPr>
              <a:t>The goal</a:t>
            </a:r>
          </a:p>
          <a:p>
            <a:pPr algn="l">
              <a:spcAft>
                <a:spcPts val="500"/>
              </a:spcAft>
            </a:pPr>
            <a:r>
              <a:rPr sz="1200" b="0" i="1">
                <a:solidFill>
                  <a:srgbClr val="60607D"/>
                </a:solidFill>
              </a:rPr>
              <a:t>[Put here: the goal in one sentence.]</a:t>
            </a:r>
          </a:p>
        </p:txBody>
      </p:sp>
      <p:sp>
        <p:nvSpPr>
          <p:cNvPr id="8" name="Rounded Rectangle 7"/>
          <p:cNvSpPr/>
          <p:nvPr/>
        </p:nvSpPr>
        <p:spPr>
          <a:xfrm>
            <a:off x="4572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9" name="Rounded Rectangle 8"/>
          <p:cNvSpPr/>
          <p:nvPr/>
        </p:nvSpPr>
        <p:spPr>
          <a:xfrm>
            <a:off x="42664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10" name="Rounded Rectangle 9"/>
          <p:cNvSpPr/>
          <p:nvPr/>
        </p:nvSpPr>
        <p:spPr>
          <a:xfrm>
            <a:off x="80756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or area]</a:t>
            </a:r>
          </a:p>
          <a:p>
            <a:pPr algn="l">
              <a:spcAft>
                <a:spcPts val="500"/>
              </a:spcAft>
            </a:pPr>
            <a:r>
              <a:rPr sz="1100" b="0" i="1">
                <a:solidFill>
                  <a:srgbClr val="60607D"/>
                </a:solidFill>
              </a:rPr>
              <a:t>[Put here: what it is and why, in a few sentences.]</a:t>
            </a:r>
          </a:p>
          <a:p>
            <a:pPr algn="l">
              <a:spcBef>
                <a:spcPts val="400"/>
              </a:spcBef>
              <a:spcAft>
                <a:spcPts val="200"/>
              </a:spcAft>
            </a:pPr>
            <a:r>
              <a:rPr sz="1100" b="1" i="0">
                <a:solidFill>
                  <a:srgbClr val="000000"/>
                </a:solidFill>
              </a:rPr>
              <a:t>[Where it stands]</a:t>
            </a:r>
          </a:p>
          <a:p>
            <a:pPr algn="l">
              <a:spcAft>
                <a:spcPts val="500"/>
              </a:spcAft>
            </a:pPr>
            <a:r>
              <a:rPr sz="1100" b="0" i="1">
                <a:solidFill>
                  <a:srgbClr val="60607D"/>
                </a:solidFill>
              </a:rPr>
              <a:t>[Put here: the current status, in a sentence or two.]</a:t>
            </a:r>
          </a:p>
        </p:txBody>
      </p:sp>
      <p:sp>
        <p:nvSpPr>
          <p:cNvPr id="11" name="Rounded Rectangle 10"/>
          <p:cNvSpPr/>
          <p:nvPr/>
        </p:nvSpPr>
        <p:spPr>
          <a:xfrm>
            <a:off x="4572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2" name="Rounded Rectangle 11"/>
          <p:cNvSpPr/>
          <p:nvPr/>
        </p:nvSpPr>
        <p:spPr>
          <a:xfrm>
            <a:off x="42664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3" name="Rounded Rectangle 12"/>
          <p:cNvSpPr/>
          <p:nvPr/>
        </p:nvSpPr>
        <p:spPr>
          <a:xfrm>
            <a:off x="80756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1050" b="1" i="0">
                <a:solidFill>
                  <a:srgbClr val="000000"/>
                </a:solidFill>
              </a:rPr>
              <a:t>[When]</a:t>
            </a:r>
          </a:p>
          <a:p>
            <a:pPr algn="l">
              <a:spcAft>
                <a:spcPts val="500"/>
              </a:spcAft>
            </a:pPr>
            <a:r>
              <a:rPr sz="1050" b="0" i="1">
                <a:solidFill>
                  <a:srgbClr val="60607D"/>
                </a:solidFill>
              </a:rPr>
              <a:t>[Put here: what happens then.]</a:t>
            </a:r>
          </a:p>
        </p:txBody>
      </p:sp>
      <p:sp>
        <p:nvSpPr>
          <p:cNvPr id="14" name="Rounded Rectangle 13"/>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0" i="1">
                <a:solidFill>
                  <a:srgbClr val="D6D6DF"/>
                </a:solidFill>
              </a:rPr>
              <a:t>[One sentence: the key takeaway.]</a:t>
            </a:r>
          </a:p>
        </p:txBody>
      </p:sp>
      <p:sp>
        <p:nvSpPr>
          <p:cNvPr id="15" name="Rounded Rectangle 1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685800"/>
          </a:xfrm>
          <a:prstGeom prst="rect">
            <a:avLst/>
          </a:prstGeom>
          <a:noFill/>
        </p:spPr>
        <p:txBody>
          <a:bodyPr wrap="square" lIns="0" rIns="0" tIns="0" bIns="0" anchor="t">
            <a:spAutoFit/>
          </a:bodyPr>
          <a:lstStyle/>
          <a:p>
            <a:pPr algn="l">
              <a:spcAft>
                <a:spcPts val="500"/>
              </a:spcAft>
            </a:pPr>
            <a:r>
              <a:rPr sz="1150" b="0" i="0">
                <a:solidFill>
                  <a:srgbClr val="000000"/>
                </a:solidFill>
              </a:rPr>
              <a:t>To best support our integrated business units, we are refining </a:t>
            </a:r>
            <a:r>
              <a:rPr sz="1150" b="0" i="0">
                <a:solidFill>
                  <a:srgbClr val="000000"/>
                </a:solidFill>
              </a:rPr>
              <a:t>how we manage accounts with multiple projects or multitrack projects to ensure project teams have precise leadership support, rather than running as one </a:t>
            </a:r>
            <a:r>
              <a:rPr sz="1150" b="0" i="0">
                <a:solidFill>
                  <a:srgbClr val="000000"/>
                </a:solidFill>
              </a:rPr>
              <a:t>giant portfolio.</a:t>
            </a:r>
          </a:p>
          <a:p>
            <a:pPr algn="l">
              <a:spcAft>
                <a:spcPts val="500"/>
              </a:spcAft>
            </a:pPr>
            <a:r>
              <a:rPr sz="11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Accountability Clarified</a:t>
            </a:r>
          </a:p>
          <a:p>
            <a:pPr algn="l">
              <a:spcAft>
                <a:spcPts val="500"/>
              </a:spcAft>
            </a:pPr>
            <a:r>
              <a:rPr sz="9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42664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Defining Essential Roles</a:t>
            </a:r>
          </a:p>
          <a:p>
            <a:pPr algn="l">
              <a:spcAft>
                <a:spcPts val="500"/>
              </a:spcAft>
            </a:pPr>
            <a:r>
              <a:rPr sz="950" b="0" i="0">
                <a:solidFill>
                  <a:srgbClr val="000000"/>
                </a:solidFill>
              </a:rPr>
              <a:t>As new accountability models are defined, new roles may be necessary. We will establish the </a:t>
            </a:r>
            <a:r>
              <a:rPr sz="950" b="1" i="0">
                <a:solidFill>
                  <a:srgbClr val="000000"/>
                </a:solidFill>
              </a:rPr>
              <a:t>essential delivery roles needed to support this model</a:t>
            </a:r>
            <a:r>
              <a:rPr sz="950" b="0" i="0">
                <a:solidFill>
                  <a:srgbClr val="000000"/>
                </a:solidFill>
              </a:rPr>
              <a:t> and clarify existing roles to avoid overlap and gaps.</a:t>
            </a:r>
          </a:p>
        </p:txBody>
      </p:sp>
      <p:sp>
        <p:nvSpPr>
          <p:cNvPr id="522" name="Rounded Rectangle 521"/>
          <p:cNvSpPr/>
          <p:nvPr/>
        </p:nvSpPr>
        <p:spPr>
          <a:xfrm>
            <a:off x="8075600" y="194724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Growth, Client Service and Executive Sponsorship</a:t>
            </a:r>
          </a:p>
          <a:p>
            <a:pPr algn="l">
              <a:spcAft>
                <a:spcPts val="500"/>
              </a:spcAft>
            </a:pPr>
            <a:r>
              <a:rPr sz="9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4572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Change Management will be Key</a:t>
            </a:r>
          </a:p>
          <a:p>
            <a:pPr algn="l">
              <a:spcAft>
                <a:spcPts val="500"/>
              </a:spcAft>
            </a:pPr>
            <a:r>
              <a:rPr sz="9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a:t>
            </a:r>
            <a:r>
              <a:rPr sz="950" b="0" i="0">
                <a:solidFill>
                  <a:srgbClr val="000000"/>
                </a:solidFill>
              </a:rPr>
              <a:t>n from what works</a:t>
            </a:r>
            <a:r>
              <a:rPr sz="950" b="0" i="0">
                <a:solidFill>
                  <a:srgbClr val="000000"/>
                </a:solidFill>
              </a:rPr>
              <a:t>.</a:t>
            </a:r>
          </a:p>
        </p:txBody>
      </p:sp>
      <p:sp>
        <p:nvSpPr>
          <p:cNvPr id="524" name="Rounded Rectangle 523"/>
          <p:cNvSpPr/>
          <p:nvPr/>
        </p:nvSpPr>
        <p:spPr>
          <a:xfrm>
            <a:off x="42664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Phased Rollout of Regular Reviews</a:t>
            </a:r>
          </a:p>
          <a:p>
            <a:pPr algn="l">
              <a:spcAft>
                <a:spcPts val="500"/>
              </a:spcAft>
            </a:pPr>
            <a:r>
              <a:rPr sz="9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ounded Rectangle 524"/>
          <p:cNvSpPr/>
          <p:nvPr/>
        </p:nvSpPr>
        <p:spPr>
          <a:xfrm>
            <a:off x="8075600" y="3688620"/>
            <a:ext cx="3659200" cy="15913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Next Steps</a:t>
            </a:r>
          </a:p>
          <a:p>
            <a:pPr algn="l">
              <a:spcAft>
                <a:spcPts val="500"/>
              </a:spcAft>
            </a:pPr>
            <a:r>
              <a:rPr sz="950" b="0" i="0">
                <a:solidFill>
                  <a:srgbClr val="000000"/>
                </a:solidFill>
              </a:rPr>
              <a:t>BU COOs and Enterprise Project Management will co-lead this initiative, partnering to lock in the </a:t>
            </a:r>
            <a:r>
              <a:rPr sz="950" b="0" i="0">
                <a:solidFill>
                  <a:srgbClr val="000000"/>
                </a:solidFill>
              </a:rPr>
              <a:t>key</a:t>
            </a:r>
            <a:r>
              <a:rPr sz="950" b="0" i="0">
                <a:solidFill>
                  <a:srgbClr val="000000"/>
                </a:solidFill>
              </a:rPr>
              <a:t> accounts in each BU and define the required core roles for the Q4 launch.</a:t>
            </a:r>
          </a:p>
        </p:txBody>
      </p:sp>
      <p:sp>
        <p:nvSpPr>
          <p:cNvPr id="526" name="Rounded Rectangle 525"/>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Far too many key projects lack a shared understanding of who is accountable for the work that we do. This initiative is designed to codify and transform delivery leadership and accountability for every project at Merkle.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300" b="1" i="0">
                <a:solidFill>
                  <a:srgbClr val="000000"/>
                </a:solidFill>
              </a:rPr>
              <a:t>One Set of Numbers: </a:t>
            </a:r>
            <a:r>
              <a:rPr sz="1300" b="0" i="0">
                <a:solidFill>
                  <a:srgbClr val="000000"/>
                </a:solidFill>
              </a:rPr>
              <a:t>One place to see the metrics that today live in too many reports — with AI doing the reconciliation, not a person.</a:t>
            </a:r>
          </a:p>
        </p:txBody>
      </p:sp>
      <p:sp>
        <p:nvSpPr>
          <p:cNvPr id="9" name="Rounded Rectangle 8"/>
          <p:cNvSpPr/>
          <p:nvPr/>
        </p:nvSpPr>
        <p:spPr>
          <a:xfrm>
            <a:off x="4572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200" b="0" i="0">
                <a:solidFill>
                  <a:srgbClr val="000000"/>
                </a:solidFill>
              </a:rPr>
              <a:t>We lack a singular place for leaders to go to see the health of their business.</a:t>
            </a:r>
          </a:p>
          <a:p>
            <a:pPr algn="l">
              <a:spcAft>
                <a:spcPts val="500"/>
              </a:spcAft>
            </a:pPr>
            <a:r>
              <a:rPr sz="120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2664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NEED TO SOLVE</a:t>
            </a:r>
          </a:p>
          <a:p>
            <a:pPr algn="l">
              <a:spcAft>
                <a:spcPts val="500"/>
              </a:spcAft>
            </a:pPr>
            <a:r>
              <a:rPr sz="1200" b="0" i="0">
                <a:solidFill>
                  <a:srgbClr val="000000"/>
                </a:solidFill>
              </a:rPr>
              <a:t>One leadership dashboard, not just a data-reconciliation project.</a:t>
            </a:r>
          </a:p>
          <a:p>
            <a:pPr algn="l">
              <a:spcAft>
                <a:spcPts val="500"/>
              </a:spcAft>
            </a:pPr>
            <a:r>
              <a:rPr sz="1200" b="0" i="0">
                <a:solidFill>
                  <a:srgbClr val="000000"/>
                </a:solidFill>
              </a:rPr>
              <a:t>It needs to show revenue, margin, and capacity forecasts, manage rate cards and actuals-for-burn, and tie revenue recognition to operational reporting, all in a single page view.</a:t>
            </a:r>
          </a:p>
        </p:txBody>
      </p:sp>
      <p:sp>
        <p:nvSpPr>
          <p:cNvPr id="11" name="Rounded Rectangle 10"/>
          <p:cNvSpPr/>
          <p:nvPr/>
        </p:nvSpPr>
        <p:spPr>
          <a:xfrm>
            <a:off x="8075600" y="1718640"/>
            <a:ext cx="36592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WHY?</a:t>
            </a:r>
          </a:p>
          <a:p>
            <a:pPr algn="l">
              <a:spcAft>
                <a:spcPts val="500"/>
              </a:spcAft>
            </a:pPr>
            <a:r>
              <a:rPr sz="1200" b="0" i="0">
                <a:solidFill>
                  <a:srgbClr val="000000"/>
                </a:solidFill>
              </a:rPr>
              <a:t>We’re running the business off lagging metrics or incomplete ones.  </a:t>
            </a:r>
            <a:r>
              <a:rPr sz="1200" b="0" i="0">
                <a:solidFill>
                  <a:srgbClr val="000000"/>
                </a:solidFill>
              </a:rPr>
              <a:t>Example: </a:t>
            </a:r>
            <a:r>
              <a:rPr sz="1200" b="0" i="0">
                <a:solidFill>
                  <a:srgbClr val="000000"/>
                </a:solidFill>
              </a:rPr>
              <a:t>We can see client or project margin but not practice margin. And costs live in a Finance spreadsheet that we see once a month.</a:t>
            </a:r>
          </a:p>
        </p:txBody>
      </p:sp>
      <p:sp>
        <p:nvSpPr>
          <p:cNvPr id="12" name="Rounded Rectangle 11"/>
          <p:cNvSpPr/>
          <p:nvPr/>
        </p:nvSpPr>
        <p:spPr>
          <a:xfrm>
            <a:off x="4572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PRELIMINARY THOUGHTS</a:t>
            </a:r>
          </a:p>
          <a:p>
            <a:pPr algn="l" marL="171450" indent="-171450">
              <a:spcAft>
                <a:spcPts val="500"/>
              </a:spcAft>
              <a:buFont typeface="Arial"/>
              <a:buChar char="•"/>
            </a:pPr>
            <a:r>
              <a:rPr sz="1200" b="0" i="0">
                <a:solidFill>
                  <a:srgbClr val="000000"/>
                </a:solidFill>
              </a:rPr>
              <a:t>Dashboard of key metrics by BU (margin, revenue actuals compared to budget), top clients, average client margin, </a:t>
            </a:r>
            <a:r>
              <a:rPr sz="1200" b="0" i="0">
                <a:solidFill>
                  <a:srgbClr val="000000"/>
                </a:solidFill>
              </a:rPr>
              <a:t>etc</a:t>
            </a:r>
            <a:r>
              <a:rPr sz="1200" b="0" i="0">
                <a:solidFill>
                  <a:srgbClr val="000000"/>
                </a:solidFill>
              </a:rPr>
              <a:t>, that can be broken down by practice, L3, etc.</a:t>
            </a:r>
          </a:p>
          <a:p>
            <a:pPr algn="l" marL="171450" indent="-171450">
              <a:spcAft>
                <a:spcPts val="500"/>
              </a:spcAft>
              <a:buFont typeface="Arial"/>
              <a:buChar char="•"/>
            </a:pPr>
            <a:r>
              <a:rPr sz="120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200" b="0" i="0">
                <a:solidFill>
                  <a:srgbClr val="000000"/>
                </a:solidFill>
              </a:rPr>
              <a:t>May need to be locked down to only key leaders based on what is included.</a:t>
            </a:r>
          </a:p>
        </p:txBody>
      </p:sp>
      <p:sp>
        <p:nvSpPr>
          <p:cNvPr id="13" name="Rounded Rectangle 12"/>
          <p:cNvSpPr/>
          <p:nvPr/>
        </p:nvSpPr>
        <p:spPr>
          <a:xfrm>
            <a:off x="6171000" y="4059320"/>
            <a:ext cx="5563800" cy="2190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NEXT STEPS</a:t>
            </a:r>
          </a:p>
          <a:p>
            <a:pPr algn="l" marL="171450" indent="-171450">
              <a:spcAft>
                <a:spcPts val="500"/>
              </a:spcAft>
              <a:buFont typeface="Arial"/>
              <a:buChar char="•"/>
            </a:pPr>
            <a:r>
              <a:rPr sz="1200" b="0" i="0">
                <a:solidFill>
                  <a:srgbClr val="000000"/>
                </a:solidFill>
              </a:rPr>
              <a:t>Determine critical metrics for main dashboard</a:t>
            </a:r>
          </a:p>
          <a:p>
            <a:pPr algn="l" marL="171450" indent="-171450">
              <a:spcAft>
                <a:spcPts val="500"/>
              </a:spcAft>
              <a:buFont typeface="Arial"/>
              <a:buChar char="•"/>
            </a:pPr>
            <a:r>
              <a:rPr sz="1200" b="0" i="0">
                <a:solidFill>
                  <a:srgbClr val="000000"/>
                </a:solidFill>
              </a:rPr>
              <a:t>Determine what’s available now </a:t>
            </a:r>
            <a:r>
              <a:rPr sz="1200" b="0" i="0">
                <a:solidFill>
                  <a:srgbClr val="000000"/>
                </a:solidFill>
              </a:rPr>
              <a:t>and how to access</a:t>
            </a:r>
            <a:r>
              <a:rPr sz="1200" b="0" i="0">
                <a:solidFill>
                  <a:srgbClr val="000000"/>
                </a:solidFill>
              </a:rPr>
              <a:t> the rest</a:t>
            </a:r>
          </a:p>
          <a:p>
            <a:pPr algn="l" marL="171450" indent="-171450">
              <a:spcAft>
                <a:spcPts val="500"/>
              </a:spcAft>
              <a:buFont typeface="Arial"/>
              <a:buChar char="•"/>
            </a:pPr>
            <a:r>
              <a:rPr sz="1200" b="0" i="0">
                <a:solidFill>
                  <a:srgbClr val="000000"/>
                </a:solidFill>
              </a:rPr>
              <a:t>Create a demo view for initial phase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pic>
        <p:nvPicPr>
          <p:cNvPr id="529" name="Picture 528" descr="f_phase_intake.jpg"/>
          <p:cNvPicPr>
            <a:picLocks noChangeAspect="1"/>
          </p:cNvPicPr>
          <p:nvPr/>
        </p:nvPicPr>
        <p:blipFill>
          <a:blip r:embed="rId3"/>
          <a:stretch>
            <a:fillRect/>
          </a:stretch>
        </p:blipFill>
        <p:spPr>
          <a:xfrm>
            <a:off x="0" y="0"/>
            <a:ext cx="4480560" cy="6858000"/>
          </a:xfrm>
          <a:prstGeom prst="rect">
            <a:avLst/>
          </a:prstGeom>
        </p:spPr>
      </p:pic>
      <p:sp>
        <p:nvSpPr>
          <p:cNvPr id="530" name="Rectangle 529"/>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531" name="Rounded Rectangle 530"/>
          <p:cNvSpPr/>
          <p:nvPr/>
        </p:nvSpPr>
        <p:spPr>
          <a:xfrm>
            <a:off x="320040" y="2194560"/>
            <a:ext cx="3840480" cy="237744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Intake Updates</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INTAKE UPDATES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900000" y="250000"/>
            <a:ext cx="28500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32" name="TextBox 531"/>
          <p:cNvSpPr txBox="1"/>
          <p:nvPr/>
        </p:nvSpPr>
        <p:spPr>
          <a:xfrm>
            <a:off x="640080" y="237744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ALREADY IN MOTION</a:t>
            </a:r>
          </a:p>
        </p:txBody>
      </p:sp>
      <p:sp>
        <p:nvSpPr>
          <p:cNvPr id="533" name="TextBox 532"/>
          <p:cNvSpPr txBox="1"/>
          <p:nvPr/>
        </p:nvSpPr>
        <p:spPr>
          <a:xfrm>
            <a:off x="640080" y="2697480"/>
            <a:ext cx="3200400" cy="73152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Intake</a:t>
            </a:r>
          </a:p>
        </p:txBody>
      </p:sp>
      <p:sp>
        <p:nvSpPr>
          <p:cNvPr id="534" name="TextBox 533"/>
          <p:cNvSpPr txBox="1"/>
          <p:nvPr/>
        </p:nvSpPr>
        <p:spPr>
          <a:xfrm>
            <a:off x="640080" y="3520440"/>
            <a:ext cx="3200400" cy="1005840"/>
          </a:xfrm>
          <a:prstGeom prst="rect">
            <a:avLst/>
          </a:prstGeom>
          <a:noFill/>
        </p:spPr>
        <p:txBody>
          <a:bodyPr wrap="square" lIns="0" rIns="0" tIns="0" bIns="0" anchor="t">
            <a:spAutoFit/>
          </a:bodyPr>
          <a:lstStyle/>
          <a:p>
            <a:pPr algn="l">
              <a:spcAft>
                <a:spcPts val="500"/>
              </a:spcAft>
            </a:pPr>
            <a:r>
              <a:rPr sz="1200" b="0" i="0">
                <a:solidFill>
                  <a:srgbClr val="FFFFFF"/>
                </a:solidFill>
              </a:rPr>
              <a:t>Upstream of Delivery Models — how a request even reaches the right people before it becomes a deal.</a:t>
            </a:r>
          </a:p>
        </p:txBody>
      </p:sp>
      <p:sp>
        <p:nvSpPr>
          <p:cNvPr id="535" name="Rounded Rectangle 534"/>
          <p:cNvSpPr/>
          <p:nvPr/>
        </p:nvSpPr>
        <p:spPr>
          <a:xfrm>
            <a:off x="489204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1</a:t>
            </a:r>
          </a:p>
          <a:p>
            <a:pPr algn="l">
              <a:spcBef>
                <a:spcPts val="400"/>
              </a:spcBef>
              <a:spcAft>
                <a:spcPts val="200"/>
              </a:spcAft>
            </a:pPr>
            <a:r>
              <a:rPr sz="1150" b="1" i="0">
                <a:solidFill>
                  <a:srgbClr val="000000"/>
                </a:solidFill>
              </a:rPr>
              <a:t>Alias Creation</a:t>
            </a:r>
          </a:p>
          <a:p>
            <a:pPr algn="l">
              <a:spcAft>
                <a:spcPts val="500"/>
              </a:spcAft>
            </a:pPr>
            <a:r>
              <a:rPr sz="1150" b="1" i="0">
                <a:solidFill>
                  <a:srgbClr val="000000"/>
                </a:solidFill>
              </a:rPr>
              <a:t>DDM_Opportunity@merkle.com</a:t>
            </a:r>
            <a:r>
              <a:rPr sz="1150" b="0" i="0">
                <a:solidFill>
                  <a:srgbClr val="000000"/>
                </a:solidFill>
              </a:rPr>
              <a:t> and </a:t>
            </a:r>
            <a:r>
              <a:rPr sz="1150" b="1" i="0">
                <a:solidFill>
                  <a:srgbClr val="000000"/>
                </a:solidFill>
              </a:rPr>
              <a:t>DBT_Opportunity@merkle.com</a:t>
            </a:r>
            <a:r>
              <a:rPr sz="1150" b="0" i="0">
                <a:solidFill>
                  <a:srgbClr val="000000"/>
                </a:solidFill>
              </a:rPr>
              <a:t> are live, so requests reach the right BU SMEs without needing to know a matrix of names.</a:t>
            </a:r>
          </a:p>
          <a:p>
            <a:pPr algn="l">
              <a:spcBef>
                <a:spcPts val="400"/>
              </a:spcBef>
              <a:spcAft>
                <a:spcPts val="500"/>
              </a:spcAft>
            </a:pPr>
            <a:r>
              <a:rPr sz="1150" b="1" i="0">
                <a:solidFill>
                  <a:srgbClr val="000000"/>
                </a:solidFill>
              </a:rPr>
              <a:t>What's behind the alias</a:t>
            </a:r>
          </a:p>
          <a:p>
            <a:pPr algn="l" marL="171450" indent="-171450">
              <a:spcAft>
                <a:spcPts val="500"/>
              </a:spcAft>
              <a:buFont typeface="Arial"/>
              <a:buChar char="•"/>
            </a:pPr>
            <a:r>
              <a:rPr sz="1150" b="0" i="0">
                <a:solidFill>
                  <a:srgbClr val="000000"/>
                </a:solidFill>
              </a:rPr>
              <a:t>Request is reviewed and assigned to a lead within the BU</a:t>
            </a:r>
          </a:p>
          <a:p>
            <a:pPr algn="l" marL="171450" indent="-171450">
              <a:spcAft>
                <a:spcPts val="500"/>
              </a:spcAft>
              <a:buFont typeface="Arial"/>
              <a:buChar char="•"/>
            </a:pPr>
            <a:r>
              <a:rPr sz="1150" b="0" i="0">
                <a:solidFill>
                  <a:srgbClr val="000000"/>
                </a:solidFill>
              </a:rPr>
              <a:t>Lead reaches out to gather more info, pulls in solutioning support, and ensures the request is handled — creds, calls, PT entry, etc.</a:t>
            </a:r>
          </a:p>
          <a:p>
            <a:pPr algn="l">
              <a:spcBef>
                <a:spcPts val="400"/>
              </a:spcBef>
              <a:spcAft>
                <a:spcPts val="200"/>
              </a:spcAft>
            </a:pPr>
            <a:r>
              <a:rPr sz="1150" b="1" i="0">
                <a:solidFill>
                  <a:srgbClr val="000000"/>
                </a:solidFill>
              </a:rPr>
              <a:t>Adoption</a:t>
            </a:r>
          </a:p>
          <a:p>
            <a:pPr algn="l" marL="171450" indent="-171450">
              <a:spcAft>
                <a:spcPts val="500"/>
              </a:spcAft>
              <a:buFont typeface="Arial"/>
              <a:buChar char="•"/>
            </a:pPr>
            <a:r>
              <a:rPr sz="1150" b="0" i="0">
                <a:solidFill>
                  <a:srgbClr val="000000"/>
                </a:solidFill>
              </a:rPr>
              <a:t>C&amp;C has been informed of the alias and process</a:t>
            </a:r>
          </a:p>
          <a:p>
            <a:pPr algn="l" marL="171450" indent="-171450">
              <a:spcAft>
                <a:spcPts val="500"/>
              </a:spcAft>
              <a:buFont typeface="Arial"/>
              <a:buChar char="•"/>
            </a:pPr>
            <a:r>
              <a:rPr sz="1150" b="0" i="0">
                <a:solidFill>
                  <a:srgbClr val="000000"/>
                </a:solidFill>
              </a:rPr>
              <a:t>Adoption has been slow: People still go to known individuals for help, cutting into BU visibility and ability to help</a:t>
            </a:r>
          </a:p>
          <a:p>
            <a:pPr algn="l">
              <a:spcBef>
                <a:spcPts val="400"/>
              </a:spcBef>
              <a:spcAft>
                <a:spcPts val="200"/>
              </a:spcAft>
            </a:pPr>
            <a:r>
              <a:rPr sz="1150" b="1" i="0">
                <a:solidFill>
                  <a:srgbClr val="000000"/>
                </a:solidFill>
              </a:rPr>
              <a:t>Leadership Ask</a:t>
            </a:r>
          </a:p>
          <a:p>
            <a:pPr algn="l" marL="171450" indent="-171450">
              <a:spcAft>
                <a:spcPts val="500"/>
              </a:spcAft>
              <a:buFont typeface="Arial"/>
              <a:buChar char="•"/>
            </a:pPr>
            <a:r>
              <a:rPr sz="1150" b="0" i="0">
                <a:solidFill>
                  <a:srgbClr val="000000"/>
                </a:solidFill>
              </a:rPr>
              <a:t>C&amp;C leadership support in redirecting request</a:t>
            </a:r>
          </a:p>
        </p:txBody>
      </p:sp>
      <p:sp>
        <p:nvSpPr>
          <p:cNvPr id="536" name="Rounded Rectangle 535"/>
          <p:cNvSpPr/>
          <p:nvPr/>
        </p:nvSpPr>
        <p:spPr>
          <a:xfrm>
            <a:off x="8388420" y="1170000"/>
            <a:ext cx="334638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Phase 2</a:t>
            </a:r>
          </a:p>
          <a:p>
            <a:pPr algn="l">
              <a:spcBef>
                <a:spcPts val="400"/>
              </a:spcBef>
              <a:spcAft>
                <a:spcPts val="200"/>
              </a:spcAft>
            </a:pPr>
            <a:r>
              <a:rPr sz="1150" b="1" i="0">
                <a:solidFill>
                  <a:srgbClr val="000000"/>
                </a:solidFill>
              </a:rPr>
              <a:t>SME Case Request in SF – 10/16 target launch date</a:t>
            </a:r>
          </a:p>
          <a:p>
            <a:pPr algn="l">
              <a:spcAft>
                <a:spcPts val="500"/>
              </a:spcAft>
            </a:pPr>
            <a:r>
              <a:rPr sz="1150" b="0" i="0">
                <a:solidFill>
                  <a:srgbClr val="000000"/>
                </a:solidFill>
              </a:rPr>
              <a:t>Updating the existing tool to cover more scenarios:</a:t>
            </a:r>
          </a:p>
          <a:p>
            <a:pPr algn="l" marL="171450" indent="-171450">
              <a:spcAft>
                <a:spcPts val="500"/>
              </a:spcAft>
              <a:buFont typeface="Arial"/>
              <a:buChar char="•"/>
            </a:pPr>
            <a:r>
              <a:rPr sz="1150" b="0" i="0">
                <a:solidFill>
                  <a:srgbClr val="000000"/>
                </a:solidFill>
              </a:rPr>
              <a:t>New pursuit or deals under $500k</a:t>
            </a:r>
          </a:p>
          <a:p>
            <a:pPr algn="l" marL="171450" indent="-171450">
              <a:spcAft>
                <a:spcPts val="500"/>
              </a:spcAft>
              <a:buFont typeface="Arial"/>
              <a:buChar char="•"/>
            </a:pPr>
            <a:r>
              <a:rPr sz="1150" b="0" i="0">
                <a:solidFill>
                  <a:srgbClr val="000000"/>
                </a:solidFill>
              </a:rPr>
              <a:t>Ad-hoc client request for a small new project</a:t>
            </a:r>
          </a:p>
          <a:p>
            <a:pPr algn="l" marL="171450" indent="-171450">
              <a:spcAft>
                <a:spcPts val="500"/>
              </a:spcAft>
              <a:buFont typeface="Arial"/>
              <a:buChar char="•"/>
            </a:pPr>
            <a:r>
              <a:rPr sz="1150" b="0" i="0">
                <a:solidFill>
                  <a:srgbClr val="000000"/>
                </a:solidFill>
              </a:rPr>
              <a:t>Sprints involving multiple people</a:t>
            </a:r>
          </a:p>
          <a:p>
            <a:pPr algn="l" marL="171450" indent="-171450">
              <a:spcAft>
                <a:spcPts val="500"/>
              </a:spcAft>
              <a:buFont typeface="Arial"/>
              <a:buChar char="•"/>
            </a:pPr>
            <a:r>
              <a:rPr sz="1150" b="0" i="0">
                <a:solidFill>
                  <a:srgbClr val="000000"/>
                </a:solidFill>
              </a:rPr>
              <a:t>Client exec-level meetings needing decks and materials</a:t>
            </a:r>
          </a:p>
          <a:p>
            <a:pPr algn="l" marL="171450" indent="-171450">
              <a:spcAft>
                <a:spcPts val="500"/>
              </a:spcAft>
              <a:buFont typeface="Arial"/>
              <a:buChar char="•"/>
            </a:pPr>
            <a:r>
              <a:rPr sz="1150" b="0" i="0">
                <a:solidFill>
                  <a:srgbClr val="000000"/>
                </a:solidFill>
              </a:rPr>
              <a:t>Case studies, capability decks, etc.</a:t>
            </a:r>
          </a:p>
          <a:p>
            <a:pPr algn="l">
              <a:spcAft>
                <a:spcPts val="500"/>
              </a:spcAft>
            </a:pPr>
            <a:r>
              <a:rPr sz="1150" b="0" i="0">
                <a:solidFill>
                  <a:srgbClr val="000000"/>
                </a:solidFill>
              </a:rPr>
              <a:t>Requests get emailed to the right alias AND land in a list for easy review and follow-up.</a:t>
            </a:r>
          </a:p>
          <a:p>
            <a:pPr algn="l">
              <a:spcBef>
                <a:spcPts val="400"/>
              </a:spcBef>
              <a:spcAft>
                <a:spcPts val="200"/>
              </a:spcAft>
            </a:pPr>
            <a:r>
              <a:rPr sz="1150" b="1" i="0">
                <a:solidFill>
                  <a:srgbClr val="000000"/>
                </a:solidFill>
              </a:rPr>
              <a:t>RACI Updates – 11/1 Estimated Rollout</a:t>
            </a:r>
          </a:p>
          <a:p>
            <a:pPr algn="l">
              <a:spcAft>
                <a:spcPts val="500"/>
              </a:spcAft>
            </a:pPr>
            <a:r>
              <a:rPr sz="1150" b="0" i="0">
                <a:solidFill>
                  <a:srgbClr val="000000"/>
                </a:solidFill>
              </a:rPr>
              <a:t>Underway, to clearly articulate roles and responsibilities for everyone involved in the intake process.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6400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274320" tIns="64008" rIns="274320" bIns="36576"/>
          <a:lstStyle/>
          <a:p>
            <a:pPr algn="l">
              <a:spcBef>
                <a:spcPts val="200"/>
              </a:spcBef>
              <a:spcAft>
                <a:spcPts val="200"/>
              </a:spcAft>
            </a:pPr>
            <a:r>
              <a:rPr sz="850" b="1" i="0" cap="all" spc="100">
                <a:solidFill>
                  <a:srgbClr val="60607D"/>
                </a:solidFill>
              </a:rPr>
              <a:t>The goal</a:t>
            </a:r>
          </a:p>
          <a:p>
            <a:pPr algn="l">
              <a:spcBef>
                <a:spcPts val="400"/>
              </a:spcBef>
              <a:spcAft>
                <a:spcPts val="500"/>
              </a:spcAft>
            </a:pPr>
            <a:r>
              <a:rPr sz="1200" b="1" i="0">
                <a:solidFill>
                  <a:srgbClr val="000000"/>
                </a:solidFill>
              </a:rPr>
              <a:t>Move from insight to action: close the skills and bench visibility gap so we can staff ahead of demand.</a:t>
            </a:r>
          </a:p>
        </p:txBody>
      </p:sp>
      <p:sp>
        <p:nvSpPr>
          <p:cNvPr id="9" name="Rounded Rectangle 8"/>
          <p:cNvSpPr/>
          <p:nvPr/>
        </p:nvSpPr>
        <p:spPr>
          <a:xfrm>
            <a:off x="4572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1: Know who we have</a:t>
            </a:r>
          </a:p>
          <a:p>
            <a:pPr algn="l">
              <a:spcAft>
                <a:spcPts val="500"/>
              </a:spcAft>
            </a:pPr>
            <a:r>
              <a:rPr sz="950" b="1" i="0">
                <a:solidFill>
                  <a:srgbClr val="000000"/>
                </a:solidFill>
              </a:rPr>
              <a:t>We need</a:t>
            </a:r>
            <a:r>
              <a:rPr sz="950" b="0" i="0">
                <a:solidFill>
                  <a:srgbClr val="000000"/>
                </a:solidFill>
              </a:rPr>
              <a:t> skills captured in one place we can search, </a:t>
            </a:r>
            <a:r>
              <a:rPr sz="950" b="1" i="0">
                <a:solidFill>
                  <a:srgbClr val="000000"/>
                </a:solidFill>
              </a:rPr>
              <a:t>so we can</a:t>
            </a:r>
            <a:r>
              <a:rPr sz="950" b="0" i="0">
                <a:solidFill>
                  <a:srgbClr val="000000"/>
                </a:solidFill>
              </a:rPr>
              <a:t> find the right person for a role across practices. </a:t>
            </a:r>
            <a:r>
              <a:rPr sz="950" b="1" i="0">
                <a:solidFill>
                  <a:srgbClr val="000000"/>
                </a:solidFill>
              </a:rPr>
              <a:t>The outcome:</a:t>
            </a:r>
            <a:r>
              <a:rPr sz="950" b="0" i="0">
                <a:solidFill>
                  <a:srgbClr val="000000"/>
                </a:solidFill>
              </a:rPr>
              <a:t> one trusted view of skills instead of separate sources.</a:t>
            </a:r>
          </a:p>
          <a:p>
            <a:pPr algn="l">
              <a:spcBef>
                <a:spcPts val="400"/>
              </a:spcBef>
              <a:spcAft>
                <a:spcPts val="200"/>
              </a:spcAft>
            </a:pPr>
            <a:r>
              <a:rPr sz="950" b="1" i="0">
                <a:solidFill>
                  <a:srgbClr val="000000"/>
                </a:solidFill>
              </a:rPr>
              <a:t>Underway</a:t>
            </a:r>
          </a:p>
          <a:p>
            <a:pPr algn="l">
              <a:spcAft>
                <a:spcPts val="500"/>
              </a:spcAft>
            </a:pPr>
            <a:r>
              <a:rPr sz="95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664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2: See what is coming</a:t>
            </a:r>
          </a:p>
          <a:p>
            <a:pPr algn="l">
              <a:spcAft>
                <a:spcPts val="500"/>
              </a:spcAft>
            </a:pPr>
            <a:r>
              <a:rPr sz="950" b="1" i="0">
                <a:solidFill>
                  <a:srgbClr val="000000"/>
                </a:solidFill>
              </a:rPr>
              <a:t>We need </a:t>
            </a:r>
            <a:r>
              <a:rPr sz="950" b="0" i="0">
                <a:solidFill>
                  <a:srgbClr val="000000"/>
                </a:solidFill>
              </a:rPr>
              <a:t>to review SF stages to see the pipeline earlier, </a:t>
            </a:r>
            <a:r>
              <a:rPr sz="950" b="1" i="0">
                <a:solidFill>
                  <a:srgbClr val="000000"/>
                </a:solidFill>
              </a:rPr>
              <a:t>so we can </a:t>
            </a:r>
            <a:r>
              <a:rPr sz="950" b="0" i="0">
                <a:solidFill>
                  <a:srgbClr val="000000"/>
                </a:solidFill>
              </a:rPr>
              <a:t>plan people around demand with RM pulled in earlier in the process, not at signature. </a:t>
            </a:r>
            <a:r>
              <a:rPr sz="950" b="1" i="0">
                <a:solidFill>
                  <a:srgbClr val="000000"/>
                </a:solidFill>
              </a:rPr>
              <a:t>The outcome: </a:t>
            </a:r>
            <a:r>
              <a:rPr sz="950" b="0" i="0">
                <a:solidFill>
                  <a:srgbClr val="000000"/>
                </a:solidFill>
              </a:rPr>
              <a:t>teams that are ready to start instead of scrambling after signing.</a:t>
            </a:r>
          </a:p>
          <a:p>
            <a:pPr algn="l">
              <a:spcBef>
                <a:spcPts val="400"/>
              </a:spcBef>
              <a:spcAft>
                <a:spcPts val="200"/>
              </a:spcAft>
            </a:pPr>
            <a:r>
              <a:rPr sz="950" b="1" i="0">
                <a:solidFill>
                  <a:srgbClr val="000000"/>
                </a:solidFill>
              </a:rPr>
              <a:t>Exploring: Smart Bench</a:t>
            </a:r>
          </a:p>
          <a:p>
            <a:pPr algn="l">
              <a:spcAft>
                <a:spcPts val="500"/>
              </a:spcAft>
            </a:pPr>
            <a:r>
              <a:rPr sz="95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75600" y="1901520"/>
            <a:ext cx="3659200"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Pillar 3: One place to look</a:t>
            </a:r>
          </a:p>
          <a:p>
            <a:pPr algn="l">
              <a:spcAft>
                <a:spcPts val="500"/>
              </a:spcAft>
            </a:pPr>
            <a:r>
              <a:rPr sz="950" b="1" i="0">
                <a:solidFill>
                  <a:srgbClr val="000000"/>
                </a:solidFill>
              </a:rPr>
              <a:t>We need</a:t>
            </a:r>
            <a:r>
              <a:rPr sz="950" b="0" i="0">
                <a:solidFill>
                  <a:srgbClr val="000000"/>
                </a:solidFill>
              </a:rPr>
              <a:t> what we check today brought into one connected view, </a:t>
            </a:r>
            <a:r>
              <a:rPr sz="950" b="1" i="0">
                <a:solidFill>
                  <a:srgbClr val="000000"/>
                </a:solidFill>
              </a:rPr>
              <a:t>so we can</a:t>
            </a:r>
            <a:r>
              <a:rPr sz="950" b="0" i="0">
                <a:solidFill>
                  <a:srgbClr val="000000"/>
                </a:solidFill>
              </a:rPr>
              <a:t> move from insight to action with fewer places to look. </a:t>
            </a:r>
            <a:r>
              <a:rPr sz="950" b="1" i="0">
                <a:solidFill>
                  <a:srgbClr val="000000"/>
                </a:solidFill>
              </a:rPr>
              <a:t>The outcome:</a:t>
            </a:r>
            <a:r>
              <a:rPr sz="950" b="0" i="0">
                <a:solidFill>
                  <a:srgbClr val="000000"/>
                </a:solidFill>
              </a:rPr>
              <a:t> insight that points to the next move.</a:t>
            </a:r>
          </a:p>
          <a:p>
            <a:pPr algn="l">
              <a:spcBef>
                <a:spcPts val="400"/>
              </a:spcBef>
              <a:spcAft>
                <a:spcPts val="200"/>
              </a:spcAft>
            </a:pPr>
            <a:r>
              <a:rPr sz="950" b="1" i="0">
                <a:solidFill>
                  <a:srgbClr val="000000"/>
                </a:solidFill>
              </a:rPr>
              <a:t>Being built: Romulus</a:t>
            </a:r>
          </a:p>
          <a:p>
            <a:pPr algn="l">
              <a:spcAft>
                <a:spcPts val="500"/>
              </a:spcAft>
            </a:pPr>
            <a:r>
              <a:rPr sz="95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ounded Rectangle 11"/>
          <p:cNvSpPr/>
          <p:nvPr/>
        </p:nvSpPr>
        <p:spPr>
          <a:xfrm>
            <a:off x="4572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950" b="1" i="0">
                <a:solidFill>
                  <a:srgbClr val="000000"/>
                </a:solidFill>
              </a:rPr>
              <a:t>This year</a:t>
            </a:r>
          </a:p>
          <a:p>
            <a:pPr algn="l">
              <a:spcAft>
                <a:spcPts val="500"/>
              </a:spcAft>
            </a:pPr>
            <a:r>
              <a:rPr sz="950" b="0" i="0">
                <a:solidFill>
                  <a:srgbClr val="000000"/>
                </a:solidFill>
              </a:rPr>
              <a:t>We started with resource management, then stood up capacity planning.</a:t>
            </a:r>
          </a:p>
        </p:txBody>
      </p:sp>
      <p:sp>
        <p:nvSpPr>
          <p:cNvPr id="13" name="Rounded Rectangle 12"/>
          <p:cNvSpPr/>
          <p:nvPr/>
        </p:nvSpPr>
        <p:spPr>
          <a:xfrm>
            <a:off x="42664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950" b="1" i="0">
                <a:solidFill>
                  <a:srgbClr val="000000"/>
                </a:solidFill>
              </a:rPr>
              <a:t>Next year</a:t>
            </a:r>
          </a:p>
          <a:p>
            <a:pPr algn="l">
              <a:spcAft>
                <a:spcPts val="500"/>
              </a:spcAft>
            </a:pPr>
            <a:r>
              <a:rPr sz="950" b="0" i="0">
                <a:solidFill>
                  <a:srgbClr val="000000"/>
                </a:solidFill>
              </a:rPr>
              <a:t>Capacity planning becomes how we run things and our priority focus for enhancement, with resource management as its child.</a:t>
            </a:r>
          </a:p>
        </p:txBody>
      </p:sp>
      <p:sp>
        <p:nvSpPr>
          <p:cNvPr id="14" name="Rounded Rectangle 13"/>
          <p:cNvSpPr/>
          <p:nvPr/>
        </p:nvSpPr>
        <p:spPr>
          <a:xfrm>
            <a:off x="8075600" y="4383240"/>
            <a:ext cx="3659200" cy="8967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73152" rIns="137160"/>
          <a:lstStyle/>
          <a:p>
            <a:pPr algn="l">
              <a:spcBef>
                <a:spcPts val="400"/>
              </a:spcBef>
              <a:spcAft>
                <a:spcPts val="200"/>
              </a:spcAft>
            </a:pPr>
            <a:r>
              <a:rPr sz="950" b="1" i="0">
                <a:solidFill>
                  <a:srgbClr val="000000"/>
                </a:solidFill>
              </a:rPr>
              <a:t>Coming weeks</a:t>
            </a:r>
          </a:p>
          <a:p>
            <a:pPr algn="l">
              <a:spcAft>
                <a:spcPts val="500"/>
              </a:spcAft>
            </a:pPr>
            <a:r>
              <a:rPr sz="950" b="0" i="0">
                <a:solidFill>
                  <a:srgbClr val="000000"/>
                </a:solidFill>
              </a:rPr>
              <a:t>Like our other ops top priorities, we will build this out as an epic with stories underneath, so we can focus and prioritize.</a:t>
            </a:r>
          </a:p>
        </p:txBody>
      </p:sp>
      <p:sp>
        <p:nvSpPr>
          <p:cNvPr id="15" name="Rounded Rectangle 14"/>
          <p:cNvSpPr/>
          <p:nvPr/>
        </p:nvSpPr>
        <p:spPr>
          <a:xfrm>
            <a:off x="457200" y="5430000"/>
            <a:ext cx="11277600" cy="82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