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25"/>
  </p:notesMasterIdLst>
  <p:handoutMasterIdLst>
    <p:handoutMasterId r:id="rId26"/>
  </p:handoutMasterIdLst>
  <p:sldIdLst>
    <p:sldId id="342" r:id="rId117"/>
    <p:sldId id="343" r:id="rId118"/>
    <p:sldId id="344" r:id="rId119"/>
    <p:sldId id="345" r:id="rId120"/>
    <p:sldId id="346" r:id="rId121"/>
    <p:sldId id="347" r:id="rId122"/>
    <p:sldId id="348" r:id="rId123"/>
    <p:sldId id="349" r:id="rId124"/>
  </p:sldIdLst>
  <p:sldSz cx="12192000" cy="6858000"/>
  <p:notesSz cx="6858000" cy="9144000"/>
  <p:embeddedFontLst>
    <p:embeddedFont>
      <p:font typeface="Proxima Nova" panose="020B0604020202020204" charset="0"/>
      <p:regular r:id="rId27"/>
      <p:bold r:id="rId28"/>
      <p:italic r:id="rId29"/>
      <p:boldItalic r:id="rId30"/>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CC460F-03F9-4149-9072-5AAB42086FA4}">
          <p14:sldIdLst>
            <p14:sldId id="256"/>
            <p14:sldId id="265"/>
          </p14:sldIdLst>
        </p14:section>
        <p14:section name="Deal to Delivery" id="{7478C7A6-E225-4B29-AF56-AF00598241E8}">
          <p14:sldIdLst>
            <p14:sldId id="2147483647"/>
            <p14:sldId id="257"/>
          </p14:sldIdLst>
        </p14:section>
        <p14:section name="Accountability Framework" id="{85FAACF2-C17B-496F-BC74-01D34320B823}">
          <p14:sldIdLst>
            <p14:sldId id="258"/>
            <p14:sldId id="259"/>
          </p14:sldIdLst>
        </p14:section>
        <p14:section name="Intake Updates" id="{E3DA7D8E-CA10-4E59-91F0-08D4610CE2E0}">
          <p14:sldIdLst>
            <p14:sldId id="260"/>
            <p14:sldId id="261"/>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E531D-B492-44EB-8453-F64CDCF25BDF}" v="1" dt="2026-10-20T13:02:33.506"/>
    <p1510:client id="{E54C87B7-05CD-4AE2-8B3E-00FBDEE6507A}" v="5" dt="2026-10-20T22:02:08.6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117" Type="http://schemas.openxmlformats.org/officeDocument/2006/relationships/slide" Target="slides/slide88.xml"/><Relationship Id="rId118" Type="http://schemas.openxmlformats.org/officeDocument/2006/relationships/slide" Target="slides/slide89.xml"/><Relationship Id="rId119" Type="http://schemas.openxmlformats.org/officeDocument/2006/relationships/slide" Target="slides/slide90.xml"/><Relationship Id="rId120" Type="http://schemas.openxmlformats.org/officeDocument/2006/relationships/slide" Target="slides/slide91.xml"/><Relationship Id="rId121" Type="http://schemas.openxmlformats.org/officeDocument/2006/relationships/slide" Target="slides/slide92.xml"/><Relationship Id="rId122" Type="http://schemas.openxmlformats.org/officeDocument/2006/relationships/slide" Target="slides/slide93.xml"/><Relationship Id="rId123" Type="http://schemas.openxmlformats.org/officeDocument/2006/relationships/slide" Target="slides/slide94.xml"/><Relationship Id="rId124" Type="http://schemas.openxmlformats.org/officeDocument/2006/relationships/slide" Target="slides/slide9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 Id="rId3" Type="http://schemas.openxmlformats.org/officeDocument/2006/relationships/image" Target="../media/image53.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 Id="rId3" Type="http://schemas.openxmlformats.org/officeDocument/2006/relationships/image" Target="../media/image34.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 Id="rId3" Type="http://schemas.openxmlformats.org/officeDocument/2006/relationships/image" Target="../media/image54.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 Id="rId3" Type="http://schemas.openxmlformats.org/officeDocument/2006/relationships/image" Target="../media/image53.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 Id="rId3" Type="http://schemas.openxmlformats.org/officeDocument/2006/relationships/image" Target="../media/image55.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 Id="rId3" Type="http://schemas.openxmlformats.org/officeDocument/2006/relationships/image" Target="../media/image56.jpg"/></Relationships>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pic>
        <p:nvPicPr>
          <p:cNvPr id="7" name="Picture 6" descr="f_sf_library_3474720.jpg"/>
          <p:cNvPicPr>
            <a:picLocks noChangeAspect="1"/>
          </p:cNvPicPr>
          <p:nvPr/>
        </p:nvPicPr>
        <p:blipFill>
          <a:blip r:embed="rId3"/>
          <a:stretch>
            <a:fillRect/>
          </a:stretch>
        </p:blipFill>
        <p:spPr>
          <a:xfrm>
            <a:off x="0" y="0"/>
            <a:ext cx="3474720" cy="6858000"/>
          </a:xfrm>
          <a:prstGeom prst="rect">
            <a:avLst/>
          </a:prstGeom>
        </p:spPr>
      </p:pic>
      <p:sp>
        <p:nvSpPr>
          <p:cNvPr id="8" name="Rectangle 7"/>
          <p:cNvSpPr/>
          <p:nvPr/>
        </p:nvSpPr>
        <p:spPr>
          <a:xfrm>
            <a:off x="0" y="0"/>
            <a:ext cx="347472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p>
        </p:txBody>
      </p:sp>
      <p:sp>
        <p:nvSpPr>
          <p:cNvPr id="9" name="Rounded Rectangle 8"/>
          <p:cNvSpPr/>
          <p:nvPr/>
        </p:nvSpPr>
        <p:spPr>
          <a:xfrm>
            <a:off x="274320" y="1463040"/>
            <a:ext cx="2926080" cy="4114800"/>
          </a:xfrm>
          <a:prstGeom prst="roundRect">
            <a:avLst>
              <a:gd name="adj" fmla="val 4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3840480" y="300000"/>
            <a:ext cx="4959520" cy="560000"/>
          </a:xfrm>
        </p:spPr>
        <p:txBody>
          <a:bodyPr/>
          <a:lstStyle/>
          <a:p>
            <a:r>
              <a:rPr sz="2400">
                <a:solidFill>
                  <a:srgbClr val="FFFFFF"/>
                </a:solidFill>
              </a:rPr>
              <a:t>[Add a header]</a:t>
            </a:r>
          </a:p>
        </p:txBody>
      </p:sp>
      <p:sp>
        <p:nvSpPr>
          <p:cNvPr id="4" name="Text Placeholder 3"/>
          <p:cNvSpPr>
            <a:spLocks noGrp="1"/>
          </p:cNvSpPr>
          <p:nvPr>
            <p:ph type="body" idx="12" sz="quarter"/>
          </p:nvPr>
        </p:nvSpPr>
        <p:spPr>
          <a:xfrm>
            <a:off x="3840480" y="170000"/>
            <a:ext cx="8000000" cy="182880"/>
          </a:xfrm>
        </p:spPr>
        <p:txBody>
          <a:bodyPr/>
          <a:lstStyle/>
          <a:p>
            <a:r>
              <a:rPr>
                <a:solidFill>
                  <a:srgbClr val="0391F2"/>
                </a:solidFill>
              </a:rPr>
              <a:t>TEMPLATE · SIX BLOCKS AND A TAKEAWAY · DETAIL</a:t>
            </a:r>
          </a:p>
        </p:txBody>
      </p:sp>
      <p:sp>
        <p:nvSpPr>
          <p:cNvPr id="10" name="TextBox 9"/>
          <p:cNvSpPr txBox="1"/>
          <p:nvPr/>
        </p:nvSpPr>
        <p:spPr>
          <a:xfrm>
            <a:off x="502920" y="1691640"/>
            <a:ext cx="2468880" cy="22860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502920" y="2057400"/>
            <a:ext cx="2468880" cy="3383280"/>
          </a:xfrm>
          <a:prstGeom prst="rect">
            <a:avLst/>
          </a:prstGeom>
          <a:noFill/>
        </p:spPr>
        <p:txBody>
          <a:bodyPr wrap="square" lIns="0" rIns="0" tIns="0" bIns="0" anchor="t">
            <a:spAutoFit/>
          </a:bodyPr>
          <a:lstStyle/>
          <a:p>
            <a:pPr algn="l">
              <a:spcAft>
                <a:spcPts val="500"/>
              </a:spcAft>
            </a:pPr>
            <a:r>
              <a:rPr sz="1300" b="0" i="1">
                <a:solidFill>
                  <a:srgbClr val="D6D6DF"/>
                </a:solidFill>
              </a:rPr>
              <a:t>[Put here: one or two sentences that set up the slide.]</a:t>
            </a:r>
          </a:p>
        </p:txBody>
      </p:sp>
      <p:sp>
        <p:nvSpPr>
          <p:cNvPr id="12" name="Rounded Rectangle 11"/>
          <p:cNvSpPr/>
          <p:nvPr/>
        </p:nvSpPr>
        <p:spPr>
          <a:xfrm>
            <a:off x="384048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3" name="Rounded Rectangle 12"/>
          <p:cNvSpPr/>
          <p:nvPr/>
        </p:nvSpPr>
        <p:spPr>
          <a:xfrm>
            <a:off x="786264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4" name="Rounded Rectangle 13"/>
          <p:cNvSpPr/>
          <p:nvPr/>
        </p:nvSpPr>
        <p:spPr>
          <a:xfrm>
            <a:off x="384048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5" name="Rounded Rectangle 14"/>
          <p:cNvSpPr/>
          <p:nvPr/>
        </p:nvSpPr>
        <p:spPr>
          <a:xfrm>
            <a:off x="786264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6" name="Rounded Rectangle 15"/>
          <p:cNvSpPr/>
          <p:nvPr/>
        </p:nvSpPr>
        <p:spPr>
          <a:xfrm>
            <a:off x="384048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7" name="Rounded Rectangle 16"/>
          <p:cNvSpPr/>
          <p:nvPr/>
        </p:nvSpPr>
        <p:spPr>
          <a:xfrm>
            <a:off x="786264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8" name="Rounded Rectangle 17"/>
          <p:cNvSpPr/>
          <p:nvPr/>
        </p:nvSpPr>
        <p:spPr>
          <a:xfrm>
            <a:off x="3840480" y="5450000"/>
            <a:ext cx="789432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250000" rIns="250000" tIns="40000" bIns="40000"/>
          <a:lstStyle/>
          <a:p>
            <a:pPr algn="l"/>
            <a:r>
              <a:rPr sz="900" b="1" i="0" cap="all" spc="100">
                <a:solidFill>
                  <a:srgbClr val="D6D6DF"/>
                </a:solidFill>
              </a:rPr>
              <a:t>Key takeaway</a:t>
            </a:r>
          </a:p>
          <a:p>
            <a:pPr algn="l"/>
            <a:r>
              <a:rPr sz="1200" b="0" i="1">
                <a:solidFill>
                  <a:srgbClr val="D6D6DF"/>
                </a:solidFill>
              </a:rPr>
              <a:t>[One sentence: the key takeaway.]</a:t>
            </a:r>
          </a:p>
        </p:txBody>
      </p:sp>
      <p:sp>
        <p:nvSpPr>
          <p:cNvPr id="19" name="Rounded Rectangle 1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TEMPLATE · THREE CARDS AND TWO WIDE · DETAIL</a:t>
            </a:r>
          </a:p>
        </p:txBody>
      </p:sp>
      <p:sp>
        <p:nvSpPr>
          <p:cNvPr id="7" name="TextBox 6"/>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300" b="0" i="1">
                <a:solidFill>
                  <a:srgbClr val="60607D"/>
                </a:solidFill>
              </a:rPr>
              <a:t>[Put here: the one-sentence headline for this slide.]</a:t>
            </a:r>
          </a:p>
        </p:txBody>
      </p:sp>
      <p:sp>
        <p:nvSpPr>
          <p:cNvPr id="8" name="Rounded Rectangle 7"/>
          <p:cNvSpPr/>
          <p:nvPr/>
        </p:nvSpPr>
        <p:spPr>
          <a:xfrm>
            <a:off x="4572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9" name="Rounded Rectangle 8"/>
          <p:cNvSpPr/>
          <p:nvPr/>
        </p:nvSpPr>
        <p:spPr>
          <a:xfrm>
            <a:off x="42664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0" name="Rounded Rectangle 9"/>
          <p:cNvSpPr/>
          <p:nvPr/>
        </p:nvSpPr>
        <p:spPr>
          <a:xfrm>
            <a:off x="80756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1" name="Rounded Rectangle 10"/>
          <p:cNvSpPr/>
          <p:nvPr/>
        </p:nvSpPr>
        <p:spPr>
          <a:xfrm>
            <a:off x="4572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2" name="Rounded Rectangle 11"/>
          <p:cNvSpPr/>
          <p:nvPr/>
        </p:nvSpPr>
        <p:spPr>
          <a:xfrm>
            <a:off x="61710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3" name="Rounded Rectangle 12"/>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pic>
        <p:nvPicPr>
          <p:cNvPr id="7" name="Picture 6" descr="f_split_library.jpg"/>
          <p:cNvPicPr>
            <a:picLocks noChangeAspect="1"/>
          </p:cNvPicPr>
          <p:nvPr/>
        </p:nvPicPr>
        <p:blipFill>
          <a:blip r:embed="rId3"/>
          <a:stretch>
            <a:fillRect/>
          </a:stretch>
        </p:blipFill>
        <p:spPr>
          <a:xfrm>
            <a:off x="0" y="0"/>
            <a:ext cx="4480560" cy="6858000"/>
          </a:xfrm>
          <a:prstGeom prst="rect">
            <a:avLst/>
          </a:prstGeom>
        </p:spPr>
      </p:pic>
      <p:sp>
        <p:nvSpPr>
          <p:cNvPr id="8" name="Rectangle 7"/>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p>
        </p:txBody>
      </p:sp>
      <p:sp>
        <p:nvSpPr>
          <p:cNvPr id="9" name="Rounded Rectangle 8"/>
          <p:cNvSpPr/>
          <p:nvPr/>
        </p:nvSpPr>
        <p:spPr>
          <a:xfrm>
            <a:off x="320040" y="2194560"/>
            <a:ext cx="3840480" cy="237744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[Add a header]</a:t>
            </a:r>
          </a:p>
        </p:txBody>
      </p:sp>
      <p:sp>
        <p:nvSpPr>
          <p:cNvPr id="4" name="Text Placeholder 3"/>
          <p:cNvSpPr>
            <a:spLocks noGrp="1"/>
          </p:cNvSpPr>
          <p:nvPr>
            <p:ph type="body" idx="12" sz="quarter"/>
          </p:nvPr>
        </p:nvSpPr>
        <p:spPr>
          <a:xfrm>
            <a:off x="4892040" y="170000"/>
            <a:ext cx="8000000" cy="182880"/>
          </a:xfrm>
        </p:spPr>
        <p:txBody>
          <a:bodyPr/>
          <a:lstStyle/>
          <a:p>
            <a:r>
              <a:rPr>
                <a:solidFill>
                  <a:srgbClr val="0391F2"/>
                </a:solidFill>
              </a:rPr>
              <a:t>TEMPLATE · IMAGE AND TWO PHASES · DETAIL</a:t>
            </a:r>
          </a:p>
        </p:txBody>
      </p:sp>
      <p:sp>
        <p:nvSpPr>
          <p:cNvPr id="10" name="TextBox 9"/>
          <p:cNvSpPr txBox="1"/>
          <p:nvPr/>
        </p:nvSpPr>
        <p:spPr>
          <a:xfrm>
            <a:off x="640080" y="2377440"/>
            <a:ext cx="3200400" cy="22860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640080" y="2697480"/>
            <a:ext cx="3200400" cy="731520"/>
          </a:xfrm>
          <a:prstGeom prst="rect">
            <a:avLst/>
          </a:prstGeom>
          <a:noFill/>
        </p:spPr>
        <p:txBody>
          <a:bodyPr wrap="square" lIns="0" rIns="0" tIns="0" bIns="0" anchor="t">
            <a:spAutoFit/>
          </a:bodyPr>
          <a:lstStyle/>
          <a:p>
            <a:pPr algn="l">
              <a:spcBef>
                <a:spcPts val="400"/>
              </a:spcBef>
              <a:spcAft>
                <a:spcPts val="500"/>
              </a:spcAft>
            </a:pPr>
            <a:r>
              <a:rPr sz="3200" b="1" i="0">
                <a:solidFill>
                  <a:srgbClr val="FFFFFF"/>
                </a:solidFill>
              </a:rPr>
              <a:t>[Big headline]</a:t>
            </a:r>
          </a:p>
        </p:txBody>
      </p:sp>
      <p:sp>
        <p:nvSpPr>
          <p:cNvPr id="12" name="TextBox 11"/>
          <p:cNvSpPr txBox="1"/>
          <p:nvPr/>
        </p:nvSpPr>
        <p:spPr>
          <a:xfrm>
            <a:off x="640080" y="3520440"/>
            <a:ext cx="3200400" cy="1005840"/>
          </a:xfrm>
          <a:prstGeom prst="rect">
            <a:avLst/>
          </a:prstGeom>
          <a:noFill/>
        </p:spPr>
        <p:txBody>
          <a:bodyPr wrap="square" lIns="0" rIns="0" tIns="0" bIns="0" anchor="t">
            <a:spAutoFit/>
          </a:bodyPr>
          <a:lstStyle/>
          <a:p>
            <a:pPr algn="l">
              <a:spcAft>
                <a:spcPts val="500"/>
              </a:spcAft>
            </a:pPr>
            <a:r>
              <a:rPr sz="1200" b="0" i="1">
                <a:solidFill>
                  <a:srgbClr val="D6D6DF"/>
                </a:solidFill>
              </a:rPr>
              <a:t>[A line or two on what this is.]</a:t>
            </a:r>
          </a:p>
        </p:txBody>
      </p:sp>
      <p:sp>
        <p:nvSpPr>
          <p:cNvPr id="13" name="Rounded Rectangle 12"/>
          <p:cNvSpPr/>
          <p:nvPr/>
        </p:nvSpPr>
        <p:spPr>
          <a:xfrm>
            <a:off x="489204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Phase 1</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what it is, in a sentence or two.]</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bullets.]</a:t>
            </a:r>
          </a:p>
        </p:txBody>
      </p:sp>
      <p:sp>
        <p:nvSpPr>
          <p:cNvPr id="14" name="Rounded Rectangle 13"/>
          <p:cNvSpPr/>
          <p:nvPr/>
        </p:nvSpPr>
        <p:spPr>
          <a:xfrm>
            <a:off x="838842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Phase 2</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what it is, in a sentence or two.]</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bullets.]</a:t>
            </a:r>
          </a:p>
        </p:txBody>
      </p:sp>
      <p:sp>
        <p:nvSpPr>
          <p:cNvPr id="15" name="Rounded Rectangle 14"/>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pic>
        <p:nvPicPr>
          <p:cNvPr id="7" name="Picture 6" descr="f_sf_library_3657600.jpg"/>
          <p:cNvPicPr>
            <a:picLocks noChangeAspect="1"/>
          </p:cNvPicPr>
          <p:nvPr/>
        </p:nvPicPr>
        <p:blipFill>
          <a:blip r:embed="rId3"/>
          <a:stretch>
            <a:fillRect/>
          </a:stretch>
        </p:blipFill>
        <p:spPr>
          <a:xfrm>
            <a:off x="0" y="0"/>
            <a:ext cx="3657600" cy="6858000"/>
          </a:xfrm>
          <a:prstGeom prst="rect">
            <a:avLst/>
          </a:prstGeom>
        </p:spPr>
      </p:pic>
      <p:sp>
        <p:nvSpPr>
          <p:cNvPr id="8" name="Rectangle 7"/>
          <p:cNvSpPr/>
          <p:nvPr/>
        </p:nvSpPr>
        <p:spPr>
          <a:xfrm>
            <a:off x="0" y="0"/>
            <a:ext cx="365760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p>
        </p:txBody>
      </p:sp>
      <p:sp>
        <p:nvSpPr>
          <p:cNvPr id="9" name="Rounded Rectangle 8"/>
          <p:cNvSpPr/>
          <p:nvPr/>
        </p:nvSpPr>
        <p:spPr>
          <a:xfrm>
            <a:off x="274320" y="1371600"/>
            <a:ext cx="3108960" cy="4480560"/>
          </a:xfrm>
          <a:prstGeom prst="roundRect">
            <a:avLst>
              <a:gd name="adj" fmla="val 4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4023360" y="300000"/>
            <a:ext cx="4776640" cy="560000"/>
          </a:xfrm>
        </p:spPr>
        <p:txBody>
          <a:bodyPr/>
          <a:lstStyle/>
          <a:p>
            <a:r>
              <a:rPr sz="2400">
                <a:solidFill>
                  <a:srgbClr val="FFFFFF"/>
                </a:solidFill>
              </a:rPr>
              <a:t>[Add a header]</a:t>
            </a:r>
          </a:p>
        </p:txBody>
      </p:sp>
      <p:sp>
        <p:nvSpPr>
          <p:cNvPr id="4" name="Text Placeholder 3"/>
          <p:cNvSpPr>
            <a:spLocks noGrp="1"/>
          </p:cNvSpPr>
          <p:nvPr>
            <p:ph type="body" idx="12" sz="quarter"/>
          </p:nvPr>
        </p:nvSpPr>
        <p:spPr>
          <a:xfrm>
            <a:off x="4023360" y="170000"/>
            <a:ext cx="8000000" cy="182880"/>
          </a:xfrm>
        </p:spPr>
        <p:txBody>
          <a:bodyPr/>
          <a:lstStyle/>
          <a:p>
            <a:r>
              <a:rPr>
                <a:solidFill>
                  <a:srgbClr val="0391F2"/>
                </a:solidFill>
              </a:rPr>
              <a:t>TEMPLATE · GOAL AND THREE PILLARS · DETAIL</a:t>
            </a:r>
          </a:p>
        </p:txBody>
      </p:sp>
      <p:sp>
        <p:nvSpPr>
          <p:cNvPr id="10" name="TextBox 9"/>
          <p:cNvSpPr txBox="1"/>
          <p:nvPr/>
        </p:nvSpPr>
        <p:spPr>
          <a:xfrm>
            <a:off x="502920" y="1554480"/>
            <a:ext cx="2651760" cy="22860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[EYEBROW]</a:t>
            </a:r>
          </a:p>
        </p:txBody>
      </p:sp>
      <p:sp>
        <p:nvSpPr>
          <p:cNvPr id="11" name="Oval 10"/>
          <p:cNvSpPr/>
          <p:nvPr/>
        </p:nvSpPr>
        <p:spPr>
          <a:xfrm>
            <a:off x="502920" y="2020824"/>
            <a:ext cx="146304" cy="146304"/>
          </a:xfrm>
          <a:prstGeom prst="ellipse">
            <a:avLst/>
          </a:prstGeom>
          <a:solidFill>
            <a:srgbClr val="FFFFFF"/>
          </a:solidFill>
          <a:ln>
            <a:noFill/>
          </a:ln>
        </p:spPr>
        <p:txBody>
          <a:bodyPr rtlCol="0" anchor="ctr"/>
          <a:lstStyle/>
          <a:p>
            <a:pPr algn="ctr"/>
          </a:p>
        </p:txBody>
      </p:sp>
      <p:sp>
        <p:nvSpPr>
          <p:cNvPr id="12" name="TextBox 11"/>
          <p:cNvSpPr txBox="1"/>
          <p:nvPr/>
        </p:nvSpPr>
        <p:spPr>
          <a:xfrm>
            <a:off x="777240" y="1965960"/>
            <a:ext cx="2377440" cy="1188720"/>
          </a:xfrm>
          <a:prstGeom prst="rect">
            <a:avLst/>
          </a:prstGeom>
          <a:noFill/>
        </p:spPr>
        <p:txBody>
          <a:bodyPr wrap="square" lIns="0" rIns="0" t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3" name="Oval 12"/>
          <p:cNvSpPr/>
          <p:nvPr/>
        </p:nvSpPr>
        <p:spPr>
          <a:xfrm>
            <a:off x="502920" y="3282696"/>
            <a:ext cx="146304" cy="146304"/>
          </a:xfrm>
          <a:prstGeom prst="ellipse">
            <a:avLst/>
          </a:prstGeom>
          <a:solidFill>
            <a:srgbClr val="FFFFFF"/>
          </a:solidFill>
          <a:ln>
            <a:noFill/>
          </a:ln>
        </p:spPr>
        <p:txBody>
          <a:bodyPr rtlCol="0" anchor="ctr"/>
          <a:lstStyle/>
          <a:p>
            <a:pPr algn="ctr"/>
          </a:p>
        </p:txBody>
      </p:sp>
      <p:sp>
        <p:nvSpPr>
          <p:cNvPr id="14" name="TextBox 13"/>
          <p:cNvSpPr txBox="1"/>
          <p:nvPr/>
        </p:nvSpPr>
        <p:spPr>
          <a:xfrm>
            <a:off x="777240" y="3227832"/>
            <a:ext cx="2377440" cy="1188720"/>
          </a:xfrm>
          <a:prstGeom prst="rect">
            <a:avLst/>
          </a:prstGeom>
          <a:noFill/>
        </p:spPr>
        <p:txBody>
          <a:bodyPr wrap="square" lIns="0" rIns="0" t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5" name="Oval 14"/>
          <p:cNvSpPr/>
          <p:nvPr/>
        </p:nvSpPr>
        <p:spPr>
          <a:xfrm>
            <a:off x="502920" y="4544568"/>
            <a:ext cx="146304" cy="146304"/>
          </a:xfrm>
          <a:prstGeom prst="ellipse">
            <a:avLst/>
          </a:prstGeom>
          <a:solidFill>
            <a:srgbClr val="FFFFFF"/>
          </a:solidFill>
          <a:ln>
            <a:noFill/>
          </a:ln>
        </p:spPr>
        <p:txBody>
          <a:bodyPr rtlCol="0" anchor="ctr"/>
          <a:lstStyle/>
          <a:p>
            <a:pPr algn="ctr"/>
          </a:p>
        </p:txBody>
      </p:sp>
      <p:sp>
        <p:nvSpPr>
          <p:cNvPr id="16" name="TextBox 15"/>
          <p:cNvSpPr txBox="1"/>
          <p:nvPr/>
        </p:nvSpPr>
        <p:spPr>
          <a:xfrm>
            <a:off x="777240" y="4489704"/>
            <a:ext cx="2377440" cy="1188720"/>
          </a:xfrm>
          <a:prstGeom prst="rect">
            <a:avLst/>
          </a:prstGeom>
          <a:noFill/>
        </p:spPr>
        <p:txBody>
          <a:bodyPr wrap="square" lIns="0" rIns="0" t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7" name="Rounded Rectangle 16"/>
          <p:cNvSpPr/>
          <p:nvPr/>
        </p:nvSpPr>
        <p:spPr>
          <a:xfrm>
            <a:off x="4023360" y="1170000"/>
            <a:ext cx="7711440" cy="6858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54864" rIns="228600" bIns="36576"/>
          <a:lstStyle/>
          <a:p>
            <a:pPr algn="l">
              <a:spcBef>
                <a:spcPts val="200"/>
              </a:spcBef>
              <a:spcAft>
                <a:spcPts val="200"/>
              </a:spcAft>
            </a:pPr>
            <a:r>
              <a:rPr sz="850" b="1" i="0" cap="all" spc="100">
                <a:solidFill>
                  <a:srgbClr val="60607D"/>
                </a:solidFill>
              </a:rPr>
              <a:t>The goal</a:t>
            </a:r>
          </a:p>
          <a:p>
            <a:pPr algn="l">
              <a:spcAft>
                <a:spcPts val="500"/>
              </a:spcAft>
            </a:pPr>
            <a:r>
              <a:rPr sz="1200" b="0" i="1">
                <a:solidFill>
                  <a:srgbClr val="60607D"/>
                </a:solidFill>
              </a:rPr>
              <a:t>[Put here: the goal in one sentence.]</a:t>
            </a:r>
          </a:p>
        </p:txBody>
      </p:sp>
      <p:sp>
        <p:nvSpPr>
          <p:cNvPr id="18" name="Rounded Rectangle 17"/>
          <p:cNvSpPr/>
          <p:nvPr/>
        </p:nvSpPr>
        <p:spPr>
          <a:xfrm>
            <a:off x="402336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46304" tIns="91440" rIns="109728" bIns="36576"/>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19" name="Rounded Rectangle 18"/>
          <p:cNvSpPr/>
          <p:nvPr/>
        </p:nvSpPr>
        <p:spPr>
          <a:xfrm>
            <a:off x="664384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46304" tIns="91440" rIns="109728" bIns="36576"/>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20" name="Rounded Rectangle 19"/>
          <p:cNvSpPr/>
          <p:nvPr/>
        </p:nvSpPr>
        <p:spPr>
          <a:xfrm>
            <a:off x="926432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46304" tIns="91440" rIns="109728" bIns="36576"/>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21" name="Rounded Rectangle 20"/>
          <p:cNvSpPr/>
          <p:nvPr/>
        </p:nvSpPr>
        <p:spPr>
          <a:xfrm>
            <a:off x="4023360" y="5300000"/>
            <a:ext cx="771144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250000" rIns="250000" tIns="40000" bIns="40000"/>
          <a:lstStyle/>
          <a:p>
            <a:pPr algn="l"/>
            <a:r>
              <a:rPr sz="900" b="1" i="0" cap="all" spc="100">
                <a:solidFill>
                  <a:srgbClr val="D6D6DF"/>
                </a:solidFill>
              </a:rPr>
              <a:t>Key takeaway</a:t>
            </a:r>
          </a:p>
          <a:p>
            <a:pPr algn="l"/>
            <a:r>
              <a:rPr sz="1200" b="0" i="1">
                <a:solidFill>
                  <a:srgbClr val="D6D6DF"/>
                </a:solidFill>
              </a:rPr>
              <a:t>[One sentence: the key takeaway.]</a:t>
            </a:r>
          </a:p>
        </p:txBody>
      </p:sp>
      <p:sp>
        <p:nvSpPr>
          <p:cNvPr id="22" name="Rounded Rectangle 2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pic>
        <p:nvPicPr>
          <p:cNvPr id="519" name="Picture 518" descr="f_sf_library_3474720.jpg"/>
          <p:cNvPicPr>
            <a:picLocks noChangeAspect="1"/>
          </p:cNvPicPr>
          <p:nvPr/>
        </p:nvPicPr>
        <p:blipFill>
          <a:blip r:embed="rId3"/>
          <a:stretch>
            <a:fillRect/>
          </a:stretch>
        </p:blipFill>
        <p:spPr>
          <a:xfrm>
            <a:off x="0" y="0"/>
            <a:ext cx="3474720" cy="6858000"/>
          </a:xfrm>
          <a:prstGeom prst="rect">
            <a:avLst/>
          </a:prstGeom>
        </p:spPr>
      </p:pic>
      <p:sp>
        <p:nvSpPr>
          <p:cNvPr id="520" name="Rectangle 519"/>
          <p:cNvSpPr/>
          <p:nvPr/>
        </p:nvSpPr>
        <p:spPr>
          <a:xfrm>
            <a:off x="0" y="0"/>
            <a:ext cx="347472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p>
        </p:txBody>
      </p:sp>
      <p:sp>
        <p:nvSpPr>
          <p:cNvPr id="521" name="Rounded Rectangle 520"/>
          <p:cNvSpPr/>
          <p:nvPr/>
        </p:nvSpPr>
        <p:spPr>
          <a:xfrm>
            <a:off x="274320" y="1463040"/>
            <a:ext cx="2926080" cy="4114800"/>
          </a:xfrm>
          <a:prstGeom prst="roundRect">
            <a:avLst>
              <a:gd name="adj" fmla="val 4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3840480" y="300000"/>
            <a:ext cx="4959520" cy="560000"/>
          </a:xfrm>
        </p:spPr>
        <p:txBody>
          <a:bodyPr/>
          <a:lstStyle/>
          <a:p>
            <a:r>
              <a:rPr sz="2400">
                <a:solidFill>
                  <a:srgbClr val="FFFFFF"/>
                </a:solidFill>
              </a:rPr>
              <a:t>Accountability Framework</a:t>
            </a:r>
          </a:p>
        </p:txBody>
      </p:sp>
      <p:sp>
        <p:nvSpPr>
          <p:cNvPr id="4" name="Text Placeholder 3"/>
          <p:cNvSpPr>
            <a:spLocks noGrp="1"/>
          </p:cNvSpPr>
          <p:nvPr>
            <p:ph type="body" idx="12" sz="quarter"/>
          </p:nvPr>
        </p:nvSpPr>
        <p:spPr>
          <a:xfrm>
            <a:off x="3840480" y="170000"/>
            <a:ext cx="8000000" cy="182880"/>
          </a:xfrm>
        </p:spPr>
        <p:txBody>
          <a:bodyPr/>
          <a:lstStyle/>
          <a:p>
            <a:r>
              <a:rPr>
                <a:solidFill>
                  <a:srgbClr val="0391F2"/>
                </a:solidFill>
              </a:rPr>
              <a:t>ACCOUNTABILITY FRAMEWORK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22" name="TextBox 521"/>
          <p:cNvSpPr txBox="1"/>
          <p:nvPr/>
        </p:nvSpPr>
        <p:spPr>
          <a:xfrm>
            <a:off x="502920" y="1691640"/>
            <a:ext cx="2468880" cy="22860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WIP</a:t>
            </a:r>
          </a:p>
        </p:txBody>
      </p:sp>
      <p:sp>
        <p:nvSpPr>
          <p:cNvPr id="523" name="TextBox 522"/>
          <p:cNvSpPr txBox="1"/>
          <p:nvPr/>
        </p:nvSpPr>
        <p:spPr>
          <a:xfrm>
            <a:off x="502920" y="2057400"/>
            <a:ext cx="2468880" cy="3383280"/>
          </a:xfrm>
          <a:prstGeom prst="rect">
            <a:avLst/>
          </a:prstGeom>
          <a:noFill/>
        </p:spPr>
        <p:txBody>
          <a:bodyPr wrap="square" lIns="0" rIns="0" tIns="0" bIns="0" anchor="t">
            <a:spAutoFit/>
          </a:bodyPr>
          <a:lstStyle/>
          <a:p>
            <a:pPr algn="l">
              <a:spcAft>
                <a:spcPts val="500"/>
              </a:spcAft>
            </a:pPr>
            <a:r>
              <a:rPr sz="1300" b="0" i="0">
                <a:solidFill>
                  <a:srgbClr val="FFFFFF"/>
                </a:solidFill>
              </a:rPr>
              <a:t>To best support our integrated business units, we are refining </a:t>
            </a:r>
            <a:r>
              <a:rPr sz="1300" b="0" i="0">
                <a:solidFill>
                  <a:srgbClr val="FFFFFF"/>
                </a:solidFill>
              </a:rPr>
              <a:t>how we manage accounts with multiple projects or multitrack projects to ensure project teams have precise leadership support, rather than running as one </a:t>
            </a:r>
            <a:r>
              <a:rPr sz="1300" b="0" i="0">
                <a:solidFill>
                  <a:srgbClr val="FFFFFF"/>
                </a:solidFill>
              </a:rPr>
              <a:t>giant portfolio.</a:t>
            </a:r>
          </a:p>
          <a:p>
            <a:pPr algn="l">
              <a:spcAft>
                <a:spcPts val="500"/>
              </a:spcAft>
            </a:pPr>
            <a:r>
              <a:rPr sz="1300" b="0" i="0">
                <a:solidFill>
                  <a:srgbClr val="FFFFFF"/>
                </a:solidFill>
              </a:rPr>
              <a:t>We are launching a workstream to define standard delivery roles and establish clear, supportive project-level structures across all major accounts.</a:t>
            </a:r>
          </a:p>
        </p:txBody>
      </p:sp>
      <p:sp>
        <p:nvSpPr>
          <p:cNvPr id="524" name="Rounded Rectangle 523"/>
          <p:cNvSpPr/>
          <p:nvPr/>
        </p:nvSpPr>
        <p:spPr>
          <a:xfrm>
            <a:off x="384048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Accountability Clarified</a:t>
            </a:r>
          </a:p>
          <a:p>
            <a:pPr algn="l">
              <a:spcAft>
                <a:spcPts val="500"/>
              </a:spcAft>
            </a:pPr>
            <a:r>
              <a:rPr sz="85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5" name="Rounded Rectangle 524"/>
          <p:cNvSpPr/>
          <p:nvPr/>
        </p:nvSpPr>
        <p:spPr>
          <a:xfrm>
            <a:off x="786264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Defining Essential Roles</a:t>
            </a:r>
          </a:p>
          <a:p>
            <a:pPr algn="l">
              <a:spcAft>
                <a:spcPts val="500"/>
              </a:spcAft>
            </a:pPr>
            <a:r>
              <a:rPr sz="850" b="0" i="0">
                <a:solidFill>
                  <a:srgbClr val="000000"/>
                </a:solidFill>
              </a:rPr>
              <a:t>As new accountability models are defined, new roles may be necessary. We will establish the </a:t>
            </a:r>
            <a:r>
              <a:rPr sz="850" b="1" i="0">
                <a:solidFill>
                  <a:srgbClr val="000000"/>
                </a:solidFill>
              </a:rPr>
              <a:t>essential delivery roles needed to support this model</a:t>
            </a:r>
            <a:r>
              <a:rPr sz="850" b="0" i="0">
                <a:solidFill>
                  <a:srgbClr val="000000"/>
                </a:solidFill>
              </a:rPr>
              <a:t> and clarify existing roles to avoid overlap and gaps.</a:t>
            </a:r>
          </a:p>
        </p:txBody>
      </p:sp>
      <p:sp>
        <p:nvSpPr>
          <p:cNvPr id="526" name="Rounded Rectangle 525"/>
          <p:cNvSpPr/>
          <p:nvPr/>
        </p:nvSpPr>
        <p:spPr>
          <a:xfrm>
            <a:off x="384048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Growth, Client Service and Executive Sponsorship</a:t>
            </a:r>
          </a:p>
          <a:p>
            <a:pPr algn="l">
              <a:spcAft>
                <a:spcPts val="500"/>
              </a:spcAft>
            </a:pPr>
            <a:r>
              <a:rPr sz="85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7" name="Rounded Rectangle 526"/>
          <p:cNvSpPr/>
          <p:nvPr/>
        </p:nvSpPr>
        <p:spPr>
          <a:xfrm>
            <a:off x="786264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Change Management will be Key</a:t>
            </a:r>
          </a:p>
          <a:p>
            <a:pPr algn="l">
              <a:spcAft>
                <a:spcPts val="500"/>
              </a:spcAft>
            </a:pPr>
            <a:r>
              <a:rPr sz="85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a:t>
            </a:r>
            <a:r>
              <a:rPr sz="850" b="0" i="0">
                <a:solidFill>
                  <a:srgbClr val="000000"/>
                </a:solidFill>
              </a:rPr>
              <a:t>n from what works</a:t>
            </a:r>
            <a:r>
              <a:rPr sz="850" b="0" i="0">
                <a:solidFill>
                  <a:srgbClr val="000000"/>
                </a:solidFill>
              </a:rPr>
              <a:t>.</a:t>
            </a:r>
          </a:p>
        </p:txBody>
      </p:sp>
      <p:sp>
        <p:nvSpPr>
          <p:cNvPr id="528" name="Rounded Rectangle 527"/>
          <p:cNvSpPr/>
          <p:nvPr/>
        </p:nvSpPr>
        <p:spPr>
          <a:xfrm>
            <a:off x="384048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Phased Rollout of Regular Reviews</a:t>
            </a:r>
          </a:p>
          <a:p>
            <a:pPr algn="l">
              <a:spcAft>
                <a:spcPts val="500"/>
              </a:spcAft>
            </a:pPr>
            <a:r>
              <a:rPr sz="85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9" name="Rounded Rectangle 528"/>
          <p:cNvSpPr/>
          <p:nvPr/>
        </p:nvSpPr>
        <p:spPr>
          <a:xfrm>
            <a:off x="786264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91440" rIns="109728" bIns="36576"/>
          <a:lstStyle/>
          <a:p>
            <a:pPr algn="l">
              <a:spcAft>
                <a:spcPts val="600"/>
              </a:spcAft>
            </a:pPr>
            <a:r>
              <a:rPr sz="1100" b="1" i="0" cap="all" spc="60">
                <a:solidFill>
                  <a:srgbClr val="000000"/>
                </a:solidFill>
              </a:rPr>
              <a:t>Next Steps</a:t>
            </a:r>
          </a:p>
          <a:p>
            <a:pPr algn="l">
              <a:spcAft>
                <a:spcPts val="500"/>
              </a:spcAft>
            </a:pPr>
            <a:r>
              <a:rPr sz="850" b="0" i="0">
                <a:solidFill>
                  <a:srgbClr val="000000"/>
                </a:solidFill>
              </a:rPr>
              <a:t>BU COOs and Enterprise Project Management will co-lead this initiative, partnering to lock in the </a:t>
            </a:r>
            <a:r>
              <a:rPr sz="850" b="0" i="0">
                <a:solidFill>
                  <a:srgbClr val="000000"/>
                </a:solidFill>
              </a:rPr>
              <a:t>key</a:t>
            </a:r>
            <a:r>
              <a:rPr sz="850" b="0" i="0">
                <a:solidFill>
                  <a:srgbClr val="000000"/>
                </a:solidFill>
              </a:rPr>
              <a:t> accounts in each BU and define the required core roles for the Q4 launch.</a:t>
            </a:r>
          </a:p>
        </p:txBody>
      </p:sp>
      <p:sp>
        <p:nvSpPr>
          <p:cNvPr id="530" name="Rounded Rectangle 529"/>
          <p:cNvSpPr/>
          <p:nvPr/>
        </p:nvSpPr>
        <p:spPr>
          <a:xfrm>
            <a:off x="3840480" y="5450000"/>
            <a:ext cx="789432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250000" rIns="250000" tIns="40000" bIns="40000"/>
          <a:lstStyle/>
          <a:p>
            <a:pPr algn="l"/>
            <a:r>
              <a:rPr sz="900" b="1" i="0" cap="all" spc="100">
                <a:solidFill>
                  <a:srgbClr val="D6D6DF"/>
                </a:solidFill>
              </a:rPr>
              <a:t>Key takeaway</a:t>
            </a:r>
          </a:p>
          <a:p>
            <a:pPr algn="l"/>
            <a:r>
              <a:rPr sz="1200" b="1" i="0">
                <a:solidFill>
                  <a:srgbClr val="FFFFFF"/>
                </a:solidFill>
              </a:rPr>
              <a:t>Far too many key projects lack a shared understanding of who is accountable for the work that we do. This initiative is designed to codify and transform delivery leadership and accountability for every project at Merkle.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Leadership Dashboards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LEADERSHIP DASHBOARDS ·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TextBox 7"/>
          <p:cNvSpPr txBox="1"/>
          <p:nvPr/>
        </p:nvSpPr>
        <p:spPr>
          <a:xfrm>
            <a:off x="457200" y="1170000"/>
            <a:ext cx="11277600" cy="457200"/>
          </a:xfrm>
          <a:prstGeom prst="rect">
            <a:avLst/>
          </a:prstGeom>
          <a:noFill/>
        </p:spPr>
        <p:txBody>
          <a:bodyPr wrap="square" lIns="0" rIns="0" tIns="0" bIns="0" anchor="t">
            <a:spAutoFit/>
          </a:bodyPr>
          <a:lstStyle/>
          <a:p>
            <a:pPr algn="l">
              <a:spcAft>
                <a:spcPts val="500"/>
              </a:spcAft>
            </a:pPr>
            <a:r>
              <a:rPr sz="1300" b="1" i="0">
                <a:solidFill>
                  <a:srgbClr val="000000"/>
                </a:solidFill>
              </a:rPr>
              <a:t>One Set of Numbers: </a:t>
            </a:r>
            <a:r>
              <a:rPr sz="1300" b="0" i="0">
                <a:solidFill>
                  <a:srgbClr val="000000"/>
                </a:solidFill>
              </a:rPr>
              <a:t>One place to see the metrics that today live in too many reports — with AI doing the reconciliation, not a person.</a:t>
            </a:r>
          </a:p>
        </p:txBody>
      </p:sp>
      <p:sp>
        <p:nvSpPr>
          <p:cNvPr id="9" name="Rounded Rectangle 8"/>
          <p:cNvSpPr/>
          <p:nvPr/>
        </p:nvSpPr>
        <p:spPr>
          <a:xfrm>
            <a:off x="4572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200" b="0" i="0">
                <a:solidFill>
                  <a:srgbClr val="000000"/>
                </a:solidFill>
              </a:rPr>
              <a:t>We lack a singular place for leaders to go to see the health of their business.</a:t>
            </a:r>
          </a:p>
          <a:p>
            <a:pPr algn="l">
              <a:spcAft>
                <a:spcPts val="500"/>
              </a:spcAft>
            </a:pPr>
            <a:r>
              <a:rPr sz="1200" b="0" i="0">
                <a:solidFill>
                  <a:srgbClr val="000000"/>
                </a:solidFill>
              </a:rPr>
              <a:t>Resource and financial data sit in separate systems, with no rate cards applied, no burn tracking, and no cross-BU revenue visibility (see Ugam/HelloWorld).</a:t>
            </a:r>
          </a:p>
        </p:txBody>
      </p:sp>
      <p:sp>
        <p:nvSpPr>
          <p:cNvPr id="10" name="Rounded Rectangle 9"/>
          <p:cNvSpPr/>
          <p:nvPr/>
        </p:nvSpPr>
        <p:spPr>
          <a:xfrm>
            <a:off x="42664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NEED TO SOLVE</a:t>
            </a:r>
          </a:p>
          <a:p>
            <a:pPr algn="l">
              <a:spcAft>
                <a:spcPts val="500"/>
              </a:spcAft>
            </a:pPr>
            <a:r>
              <a:rPr sz="1200" b="0" i="0">
                <a:solidFill>
                  <a:srgbClr val="000000"/>
                </a:solidFill>
              </a:rPr>
              <a:t>One leadership dashboard, not just a data-reconciliation project.</a:t>
            </a:r>
          </a:p>
          <a:p>
            <a:pPr algn="l">
              <a:spcAft>
                <a:spcPts val="500"/>
              </a:spcAft>
            </a:pPr>
            <a:r>
              <a:rPr sz="1200" b="0" i="0">
                <a:solidFill>
                  <a:srgbClr val="000000"/>
                </a:solidFill>
              </a:rPr>
              <a:t>It needs to show revenue, margin, and capacity forecasts, manage rate cards and actuals-for-burn, and tie revenue recognition to operational reporting, all in a single page view.</a:t>
            </a:r>
          </a:p>
        </p:txBody>
      </p:sp>
      <p:sp>
        <p:nvSpPr>
          <p:cNvPr id="11" name="Rounded Rectangle 10"/>
          <p:cNvSpPr/>
          <p:nvPr/>
        </p:nvSpPr>
        <p:spPr>
          <a:xfrm>
            <a:off x="80756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WHY?</a:t>
            </a:r>
          </a:p>
          <a:p>
            <a:pPr algn="l">
              <a:spcAft>
                <a:spcPts val="500"/>
              </a:spcAft>
            </a:pPr>
            <a:r>
              <a:rPr sz="1200" b="0" i="0">
                <a:solidFill>
                  <a:srgbClr val="000000"/>
                </a:solidFill>
              </a:rPr>
              <a:t>We’re running the business off lagging metrics or incomplete ones.  </a:t>
            </a:r>
            <a:r>
              <a:rPr sz="1200" b="0" i="0">
                <a:solidFill>
                  <a:srgbClr val="000000"/>
                </a:solidFill>
              </a:rPr>
              <a:t>Example: </a:t>
            </a:r>
            <a:r>
              <a:rPr sz="1200" b="0" i="0">
                <a:solidFill>
                  <a:srgbClr val="000000"/>
                </a:solidFill>
              </a:rPr>
              <a:t>We can see client or project margin but not practice margin. And costs live in a Finance spreadsheet that we see once a month.</a:t>
            </a:r>
          </a:p>
        </p:txBody>
      </p:sp>
      <p:sp>
        <p:nvSpPr>
          <p:cNvPr id="12" name="Rounded Rectangle 11"/>
          <p:cNvSpPr/>
          <p:nvPr/>
        </p:nvSpPr>
        <p:spPr>
          <a:xfrm>
            <a:off x="4572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PRELIMINARY THOUGHTS</a:t>
            </a:r>
          </a:p>
          <a:p>
            <a:pPr algn="l" marL="171450" indent="-171450">
              <a:spcAft>
                <a:spcPts val="500"/>
              </a:spcAft>
              <a:buFont typeface="Arial"/>
              <a:buChar char="•"/>
            </a:pPr>
            <a:r>
              <a:rPr sz="1200" b="0" i="0">
                <a:solidFill>
                  <a:srgbClr val="000000"/>
                </a:solidFill>
              </a:rPr>
              <a:t>Dashboard of key metrics by BU (margin, revenue actuals compared to budget), top clients, average client margin, </a:t>
            </a:r>
            <a:r>
              <a:rPr sz="1200" b="0" i="0">
                <a:solidFill>
                  <a:srgbClr val="000000"/>
                </a:solidFill>
              </a:rPr>
              <a:t>etc</a:t>
            </a:r>
            <a:r>
              <a:rPr sz="1200" b="0" i="0">
                <a:solidFill>
                  <a:srgbClr val="000000"/>
                </a:solidFill>
              </a:rPr>
              <a:t>, that can be broken down by practice, L3, etc.</a:t>
            </a:r>
          </a:p>
          <a:p>
            <a:pPr algn="l" marL="171450" indent="-171450">
              <a:spcAft>
                <a:spcPts val="500"/>
              </a:spcAft>
              <a:buFont typeface="Arial"/>
              <a:buChar char="•"/>
            </a:pPr>
            <a:r>
              <a:rPr sz="1200" b="0" i="0">
                <a:solidFill>
                  <a:srgbClr val="000000"/>
                </a:solidFill>
              </a:rPr>
              <a:t>Will link out to existing reports for more details – no need to recreate the wheel for all metrics.</a:t>
            </a:r>
          </a:p>
          <a:p>
            <a:pPr algn="l" marL="171450" indent="-171450">
              <a:spcAft>
                <a:spcPts val="500"/>
              </a:spcAft>
              <a:buFont typeface="Arial"/>
              <a:buChar char="•"/>
            </a:pPr>
            <a:r>
              <a:rPr sz="1200" b="0" i="0">
                <a:solidFill>
                  <a:srgbClr val="000000"/>
                </a:solidFill>
              </a:rPr>
              <a:t>May need to be locked down to only key leaders based on what is included.</a:t>
            </a:r>
          </a:p>
        </p:txBody>
      </p:sp>
      <p:sp>
        <p:nvSpPr>
          <p:cNvPr id="13" name="Rounded Rectangle 12"/>
          <p:cNvSpPr/>
          <p:nvPr/>
        </p:nvSpPr>
        <p:spPr>
          <a:xfrm>
            <a:off x="61710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NEXT STEPS</a:t>
            </a:r>
          </a:p>
          <a:p>
            <a:pPr algn="l" marL="171450" indent="-171450">
              <a:spcAft>
                <a:spcPts val="500"/>
              </a:spcAft>
              <a:buFont typeface="Arial"/>
              <a:buChar char="•"/>
            </a:pPr>
            <a:r>
              <a:rPr sz="1200" b="0" i="0">
                <a:solidFill>
                  <a:srgbClr val="000000"/>
                </a:solidFill>
              </a:rPr>
              <a:t>Determine critical metrics for main dashboard</a:t>
            </a:r>
          </a:p>
          <a:p>
            <a:pPr algn="l" marL="171450" indent="-171450">
              <a:spcAft>
                <a:spcPts val="500"/>
              </a:spcAft>
              <a:buFont typeface="Arial"/>
              <a:buChar char="•"/>
            </a:pPr>
            <a:r>
              <a:rPr sz="1200" b="0" i="0">
                <a:solidFill>
                  <a:srgbClr val="000000"/>
                </a:solidFill>
              </a:rPr>
              <a:t>Determine what’s available now </a:t>
            </a:r>
            <a:r>
              <a:rPr sz="1200" b="0" i="0">
                <a:solidFill>
                  <a:srgbClr val="000000"/>
                </a:solidFill>
              </a:rPr>
              <a:t>and how to access</a:t>
            </a:r>
            <a:r>
              <a:rPr sz="1200" b="0" i="0">
                <a:solidFill>
                  <a:srgbClr val="000000"/>
                </a:solidFill>
              </a:rPr>
              <a:t> the rest</a:t>
            </a:r>
          </a:p>
          <a:p>
            <a:pPr algn="l" marL="171450" indent="-171450">
              <a:spcAft>
                <a:spcPts val="500"/>
              </a:spcAft>
              <a:buFont typeface="Arial"/>
              <a:buChar char="•"/>
            </a:pPr>
            <a:r>
              <a:rPr sz="1200" b="0" i="0">
                <a:solidFill>
                  <a:srgbClr val="000000"/>
                </a:solidFill>
              </a:rPr>
              <a:t>Create a demo view for initial phase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pic>
        <p:nvPicPr>
          <p:cNvPr id="529" name="Picture 528" descr="f_phase_intake.jpg"/>
          <p:cNvPicPr>
            <a:picLocks noChangeAspect="1"/>
          </p:cNvPicPr>
          <p:nvPr/>
        </p:nvPicPr>
        <p:blipFill>
          <a:blip r:embed="rId3"/>
          <a:stretch>
            <a:fillRect/>
          </a:stretch>
        </p:blipFill>
        <p:spPr>
          <a:xfrm>
            <a:off x="0" y="0"/>
            <a:ext cx="4480560" cy="6858000"/>
          </a:xfrm>
          <a:prstGeom prst="rect">
            <a:avLst/>
          </a:prstGeom>
        </p:spPr>
      </p:pic>
      <p:sp>
        <p:nvSpPr>
          <p:cNvPr id="530" name="Rectangle 529"/>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p>
        </p:txBody>
      </p:sp>
      <p:sp>
        <p:nvSpPr>
          <p:cNvPr id="531" name="Rounded Rectangle 530"/>
          <p:cNvSpPr/>
          <p:nvPr/>
        </p:nvSpPr>
        <p:spPr>
          <a:xfrm>
            <a:off x="320040" y="2194560"/>
            <a:ext cx="3840480" cy="237744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Intake Updates</a:t>
            </a:r>
          </a:p>
        </p:txBody>
      </p:sp>
      <p:sp>
        <p:nvSpPr>
          <p:cNvPr id="4" name="Text Placeholder 3"/>
          <p:cNvSpPr>
            <a:spLocks noGrp="1"/>
          </p:cNvSpPr>
          <p:nvPr>
            <p:ph type="body" idx="12" sz="quarter"/>
          </p:nvPr>
        </p:nvSpPr>
        <p:spPr>
          <a:xfrm>
            <a:off x="4892040" y="170000"/>
            <a:ext cx="8000000" cy="182880"/>
          </a:xfrm>
        </p:spPr>
        <p:txBody>
          <a:bodyPr/>
          <a:lstStyle/>
          <a:p>
            <a:r>
              <a:rPr>
                <a:solidFill>
                  <a:srgbClr val="0391F2"/>
                </a:solidFill>
              </a:rPr>
              <a:t>INTAKE UPDATES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32" name="TextBox 531"/>
          <p:cNvSpPr txBox="1"/>
          <p:nvPr/>
        </p:nvSpPr>
        <p:spPr>
          <a:xfrm>
            <a:off x="640080" y="2377440"/>
            <a:ext cx="3200400" cy="22860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ALREADY IN MOTION</a:t>
            </a:r>
          </a:p>
        </p:txBody>
      </p:sp>
      <p:sp>
        <p:nvSpPr>
          <p:cNvPr id="533" name="TextBox 532"/>
          <p:cNvSpPr txBox="1"/>
          <p:nvPr/>
        </p:nvSpPr>
        <p:spPr>
          <a:xfrm>
            <a:off x="640080" y="2697480"/>
            <a:ext cx="3200400" cy="731520"/>
          </a:xfrm>
          <a:prstGeom prst="rect">
            <a:avLst/>
          </a:prstGeom>
          <a:noFill/>
        </p:spPr>
        <p:txBody>
          <a:bodyPr wrap="square" lIns="0" rIns="0" tIns="0" bIns="0" anchor="t">
            <a:spAutoFit/>
          </a:bodyPr>
          <a:lstStyle/>
          <a:p>
            <a:pPr algn="l">
              <a:spcBef>
                <a:spcPts val="400"/>
              </a:spcBef>
              <a:spcAft>
                <a:spcPts val="500"/>
              </a:spcAft>
            </a:pPr>
            <a:r>
              <a:rPr sz="3200" b="1" i="0">
                <a:solidFill>
                  <a:srgbClr val="FFFFFF"/>
                </a:solidFill>
              </a:rPr>
              <a:t>Intake</a:t>
            </a:r>
          </a:p>
        </p:txBody>
      </p:sp>
      <p:sp>
        <p:nvSpPr>
          <p:cNvPr id="534" name="TextBox 533"/>
          <p:cNvSpPr txBox="1"/>
          <p:nvPr/>
        </p:nvSpPr>
        <p:spPr>
          <a:xfrm>
            <a:off x="640080" y="3520440"/>
            <a:ext cx="3200400" cy="1005840"/>
          </a:xfrm>
          <a:prstGeom prst="rect">
            <a:avLst/>
          </a:prstGeom>
          <a:noFill/>
        </p:spPr>
        <p:txBody>
          <a:bodyPr wrap="square" lIns="0" rIns="0" tIns="0" bIns="0" anchor="t">
            <a:spAutoFit/>
          </a:bodyPr>
          <a:lstStyle/>
          <a:p>
            <a:pPr algn="l">
              <a:spcAft>
                <a:spcPts val="500"/>
              </a:spcAft>
            </a:pPr>
            <a:r>
              <a:rPr sz="1200" b="0" i="0">
                <a:solidFill>
                  <a:srgbClr val="FFFFFF"/>
                </a:solidFill>
              </a:rPr>
              <a:t>Upstream of Delivery Models — how a request even reaches the right people before it becomes a deal.</a:t>
            </a:r>
          </a:p>
        </p:txBody>
      </p:sp>
      <p:sp>
        <p:nvSpPr>
          <p:cNvPr id="535" name="Rounded Rectangle 534"/>
          <p:cNvSpPr/>
          <p:nvPr/>
        </p:nvSpPr>
        <p:spPr>
          <a:xfrm>
            <a:off x="489204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Phase 1</a:t>
            </a:r>
          </a:p>
          <a:p>
            <a:pPr algn="l">
              <a:spcBef>
                <a:spcPts val="400"/>
              </a:spcBef>
              <a:spcAft>
                <a:spcPts val="200"/>
              </a:spcAft>
            </a:pPr>
            <a:r>
              <a:rPr sz="1150" b="1" i="0">
                <a:solidFill>
                  <a:srgbClr val="000000"/>
                </a:solidFill>
              </a:rPr>
              <a:t>Alias Creation</a:t>
            </a:r>
          </a:p>
          <a:p>
            <a:pPr algn="l">
              <a:spcAft>
                <a:spcPts val="500"/>
              </a:spcAft>
            </a:pPr>
            <a:r>
              <a:rPr sz="1150" b="1" i="0">
                <a:solidFill>
                  <a:srgbClr val="000000"/>
                </a:solidFill>
              </a:rPr>
              <a:t>DDM_Opportunity@merkle.com</a:t>
            </a:r>
            <a:r>
              <a:rPr sz="1150" b="0" i="0">
                <a:solidFill>
                  <a:srgbClr val="000000"/>
                </a:solidFill>
              </a:rPr>
              <a:t> and </a:t>
            </a:r>
            <a:r>
              <a:rPr sz="1150" b="1" i="0">
                <a:solidFill>
                  <a:srgbClr val="000000"/>
                </a:solidFill>
              </a:rPr>
              <a:t>DBT_Opportunity@merkle.com</a:t>
            </a:r>
            <a:r>
              <a:rPr sz="1150" b="0" i="0">
                <a:solidFill>
                  <a:srgbClr val="000000"/>
                </a:solidFill>
              </a:rPr>
              <a:t> are live, so requests reach the right BU SMEs without needing to know a matrix of names.</a:t>
            </a:r>
          </a:p>
          <a:p>
            <a:pPr algn="l">
              <a:spcBef>
                <a:spcPts val="400"/>
              </a:spcBef>
              <a:spcAft>
                <a:spcPts val="500"/>
              </a:spcAft>
            </a:pPr>
            <a:r>
              <a:rPr sz="1150" b="1" i="0">
                <a:solidFill>
                  <a:srgbClr val="000000"/>
                </a:solidFill>
              </a:rPr>
              <a:t>What's behind the alias</a:t>
            </a:r>
          </a:p>
          <a:p>
            <a:pPr algn="l" marL="171450" indent="-171450">
              <a:spcAft>
                <a:spcPts val="500"/>
              </a:spcAft>
              <a:buFont typeface="Arial"/>
              <a:buChar char="•"/>
            </a:pPr>
            <a:r>
              <a:rPr sz="1150" b="0" i="0">
                <a:solidFill>
                  <a:srgbClr val="000000"/>
                </a:solidFill>
              </a:rPr>
              <a:t>Request is reviewed and assigned to a lead within the BU</a:t>
            </a:r>
          </a:p>
          <a:p>
            <a:pPr algn="l" marL="171450" indent="-171450">
              <a:spcAft>
                <a:spcPts val="500"/>
              </a:spcAft>
              <a:buFont typeface="Arial"/>
              <a:buChar char="•"/>
            </a:pPr>
            <a:r>
              <a:rPr sz="1150" b="0" i="0">
                <a:solidFill>
                  <a:srgbClr val="000000"/>
                </a:solidFill>
              </a:rPr>
              <a:t>Lead reaches out to gather more info, pulls in solutioning support, and ensures the request is handled — creds, calls, PT entry, etc.</a:t>
            </a:r>
          </a:p>
          <a:p>
            <a:pPr algn="l">
              <a:spcBef>
                <a:spcPts val="400"/>
              </a:spcBef>
              <a:spcAft>
                <a:spcPts val="200"/>
              </a:spcAft>
            </a:pPr>
            <a:r>
              <a:rPr sz="1150" b="1" i="0">
                <a:solidFill>
                  <a:srgbClr val="000000"/>
                </a:solidFill>
              </a:rPr>
              <a:t>Adoption</a:t>
            </a:r>
          </a:p>
          <a:p>
            <a:pPr algn="l" marL="171450" indent="-171450">
              <a:spcAft>
                <a:spcPts val="500"/>
              </a:spcAft>
              <a:buFont typeface="Arial"/>
              <a:buChar char="•"/>
            </a:pPr>
            <a:r>
              <a:rPr sz="1150" b="0" i="0">
                <a:solidFill>
                  <a:srgbClr val="000000"/>
                </a:solidFill>
              </a:rPr>
              <a:t>C&amp;C has been informed of the alias and process</a:t>
            </a:r>
          </a:p>
          <a:p>
            <a:pPr algn="l" marL="171450" indent="-171450">
              <a:spcAft>
                <a:spcPts val="500"/>
              </a:spcAft>
              <a:buFont typeface="Arial"/>
              <a:buChar char="•"/>
            </a:pPr>
            <a:r>
              <a:rPr sz="1150" b="0" i="0">
                <a:solidFill>
                  <a:srgbClr val="000000"/>
                </a:solidFill>
              </a:rPr>
              <a:t>Adoption has been slow: People still go to known individuals for help, cutting into BU visibility and ability to help</a:t>
            </a:r>
          </a:p>
          <a:p>
            <a:pPr algn="l">
              <a:spcBef>
                <a:spcPts val="400"/>
              </a:spcBef>
              <a:spcAft>
                <a:spcPts val="200"/>
              </a:spcAft>
            </a:pPr>
            <a:r>
              <a:rPr sz="1150" b="1" i="0">
                <a:solidFill>
                  <a:srgbClr val="000000"/>
                </a:solidFill>
              </a:rPr>
              <a:t>Leadership Ask</a:t>
            </a:r>
          </a:p>
          <a:p>
            <a:pPr algn="l" marL="171450" indent="-171450">
              <a:spcAft>
                <a:spcPts val="500"/>
              </a:spcAft>
              <a:buFont typeface="Arial"/>
              <a:buChar char="•"/>
            </a:pPr>
            <a:r>
              <a:rPr sz="1150" b="0" i="0">
                <a:solidFill>
                  <a:srgbClr val="000000"/>
                </a:solidFill>
              </a:rPr>
              <a:t>C&amp;C leadership support in redirecting request</a:t>
            </a:r>
          </a:p>
        </p:txBody>
      </p:sp>
      <p:sp>
        <p:nvSpPr>
          <p:cNvPr id="536" name="Rounded Rectangle 535"/>
          <p:cNvSpPr/>
          <p:nvPr/>
        </p:nvSpPr>
        <p:spPr>
          <a:xfrm>
            <a:off x="838842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200"/>
              </a:spcBef>
              <a:spcAft>
                <a:spcPts val="200"/>
              </a:spcAft>
            </a:pPr>
            <a:r>
              <a:rPr sz="850" b="1" i="0" cap="all" spc="100">
                <a:solidFill>
                  <a:srgbClr val="60607D"/>
                </a:solidFill>
              </a:rPr>
              <a:t>Phase 2</a:t>
            </a:r>
          </a:p>
          <a:p>
            <a:pPr algn="l">
              <a:spcBef>
                <a:spcPts val="400"/>
              </a:spcBef>
              <a:spcAft>
                <a:spcPts val="200"/>
              </a:spcAft>
            </a:pPr>
            <a:r>
              <a:rPr sz="1150" b="1" i="0">
                <a:solidFill>
                  <a:srgbClr val="000000"/>
                </a:solidFill>
              </a:rPr>
              <a:t>SME Case Request in SF – 10/16 target launch date</a:t>
            </a:r>
          </a:p>
          <a:p>
            <a:pPr algn="l">
              <a:spcAft>
                <a:spcPts val="500"/>
              </a:spcAft>
            </a:pPr>
            <a:r>
              <a:rPr sz="1150" b="0" i="0">
                <a:solidFill>
                  <a:srgbClr val="000000"/>
                </a:solidFill>
              </a:rPr>
              <a:t>Updating the existing tool to cover more scenarios:</a:t>
            </a:r>
          </a:p>
          <a:p>
            <a:pPr algn="l" marL="171450" indent="-171450">
              <a:spcAft>
                <a:spcPts val="500"/>
              </a:spcAft>
              <a:buFont typeface="Arial"/>
              <a:buChar char="•"/>
            </a:pPr>
            <a:r>
              <a:rPr sz="1150" b="0" i="0">
                <a:solidFill>
                  <a:srgbClr val="000000"/>
                </a:solidFill>
              </a:rPr>
              <a:t>New pursuit or deals under $500k</a:t>
            </a:r>
          </a:p>
          <a:p>
            <a:pPr algn="l" marL="171450" indent="-171450">
              <a:spcAft>
                <a:spcPts val="500"/>
              </a:spcAft>
              <a:buFont typeface="Arial"/>
              <a:buChar char="•"/>
            </a:pPr>
            <a:r>
              <a:rPr sz="1150" b="0" i="0">
                <a:solidFill>
                  <a:srgbClr val="000000"/>
                </a:solidFill>
              </a:rPr>
              <a:t>Ad-hoc client request for a small new project</a:t>
            </a:r>
          </a:p>
          <a:p>
            <a:pPr algn="l" marL="171450" indent="-171450">
              <a:spcAft>
                <a:spcPts val="500"/>
              </a:spcAft>
              <a:buFont typeface="Arial"/>
              <a:buChar char="•"/>
            </a:pPr>
            <a:r>
              <a:rPr sz="1150" b="0" i="0">
                <a:solidFill>
                  <a:srgbClr val="000000"/>
                </a:solidFill>
              </a:rPr>
              <a:t>Sprints involving multiple people</a:t>
            </a:r>
          </a:p>
          <a:p>
            <a:pPr algn="l" marL="171450" indent="-171450">
              <a:spcAft>
                <a:spcPts val="500"/>
              </a:spcAft>
              <a:buFont typeface="Arial"/>
              <a:buChar char="•"/>
            </a:pPr>
            <a:r>
              <a:rPr sz="1150" b="0" i="0">
                <a:solidFill>
                  <a:srgbClr val="000000"/>
                </a:solidFill>
              </a:rPr>
              <a:t>Client exec-level meetings needing decks and materials</a:t>
            </a:r>
          </a:p>
          <a:p>
            <a:pPr algn="l" marL="171450" indent="-171450">
              <a:spcAft>
                <a:spcPts val="500"/>
              </a:spcAft>
              <a:buFont typeface="Arial"/>
              <a:buChar char="•"/>
            </a:pPr>
            <a:r>
              <a:rPr sz="1150" b="0" i="0">
                <a:solidFill>
                  <a:srgbClr val="000000"/>
                </a:solidFill>
              </a:rPr>
              <a:t>Case studies, capability decks, etc.</a:t>
            </a:r>
          </a:p>
          <a:p>
            <a:pPr algn="l">
              <a:spcAft>
                <a:spcPts val="500"/>
              </a:spcAft>
            </a:pPr>
            <a:r>
              <a:rPr sz="1150" b="0" i="0">
                <a:solidFill>
                  <a:srgbClr val="000000"/>
                </a:solidFill>
              </a:rPr>
              <a:t>Requests get emailed to the right alias AND land in a list for easy review and follow-up.</a:t>
            </a:r>
          </a:p>
          <a:p>
            <a:pPr algn="l">
              <a:spcBef>
                <a:spcPts val="400"/>
              </a:spcBef>
              <a:spcAft>
                <a:spcPts val="200"/>
              </a:spcAft>
            </a:pPr>
            <a:r>
              <a:rPr sz="1150" b="1" i="0">
                <a:solidFill>
                  <a:srgbClr val="000000"/>
                </a:solidFill>
              </a:rPr>
              <a:t>RACI Updates – 11/1 Estimated Rollout</a:t>
            </a:r>
          </a:p>
          <a:p>
            <a:pPr algn="l">
              <a:spcAft>
                <a:spcPts val="500"/>
              </a:spcAft>
            </a:pPr>
            <a:r>
              <a:rPr sz="1150" b="0" i="0">
                <a:solidFill>
                  <a:srgbClr val="000000"/>
                </a:solidFill>
              </a:rPr>
              <a:t>Underway, to clearly articulate roles and responsibilities for everyone involved in the intake process.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pic>
        <p:nvPicPr>
          <p:cNvPr id="8" name="Picture 7" descr="f_sf_cap_3657600.jpg"/>
          <p:cNvPicPr>
            <a:picLocks noChangeAspect="1"/>
          </p:cNvPicPr>
          <p:nvPr/>
        </p:nvPicPr>
        <p:blipFill>
          <a:blip r:embed="rId3"/>
          <a:stretch>
            <a:fillRect/>
          </a:stretch>
        </p:blipFill>
        <p:spPr>
          <a:xfrm>
            <a:off x="0" y="0"/>
            <a:ext cx="3657600" cy="6858000"/>
          </a:xfrm>
          <a:prstGeom prst="rect">
            <a:avLst/>
          </a:prstGeom>
        </p:spPr>
      </p:pic>
      <p:sp>
        <p:nvSpPr>
          <p:cNvPr id="9" name="Rectangle 8"/>
          <p:cNvSpPr/>
          <p:nvPr/>
        </p:nvSpPr>
        <p:spPr>
          <a:xfrm>
            <a:off x="0" y="0"/>
            <a:ext cx="365760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p>
        </p:txBody>
      </p:sp>
      <p:sp>
        <p:nvSpPr>
          <p:cNvPr id="10" name="Rounded Rectangle 9"/>
          <p:cNvSpPr/>
          <p:nvPr/>
        </p:nvSpPr>
        <p:spPr>
          <a:xfrm>
            <a:off x="274320" y="1371600"/>
            <a:ext cx="3108960" cy="4480560"/>
          </a:xfrm>
          <a:prstGeom prst="roundRect">
            <a:avLst>
              <a:gd name="adj" fmla="val 4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4023360" y="300000"/>
            <a:ext cx="4776640" cy="560000"/>
          </a:xfrm>
        </p:spPr>
        <p:txBody>
          <a:bodyPr/>
          <a:lstStyle/>
          <a:p>
            <a:r>
              <a:rPr sz="2400">
                <a:solidFill>
                  <a:srgbClr val="FFFFFF"/>
                </a:solidFill>
              </a:rPr>
              <a:t>Capacity Planning &amp; Romulus</a:t>
            </a:r>
          </a:p>
        </p:txBody>
      </p:sp>
      <p:sp>
        <p:nvSpPr>
          <p:cNvPr id="4" name="Text Placeholder 3"/>
          <p:cNvSpPr>
            <a:spLocks noGrp="1"/>
          </p:cNvSpPr>
          <p:nvPr>
            <p:ph type="body" idx="12" sz="quarter"/>
          </p:nvPr>
        </p:nvSpPr>
        <p:spPr>
          <a:xfrm>
            <a:off x="4023360" y="170000"/>
            <a:ext cx="8000000" cy="182880"/>
          </a:xfrm>
        </p:spPr>
        <p:txBody>
          <a:bodyPr/>
          <a:lstStyle/>
          <a:p>
            <a:r>
              <a:rPr>
                <a:solidFill>
                  <a:srgbClr val="0391F2"/>
                </a:solidFill>
              </a:rPr>
              <a:t>CAPACITY PLANNING &amp; ROMULUS · DETAIL</a:t>
            </a:r>
          </a:p>
        </p:txBody>
      </p:sp>
      <p:sp>
        <p:nvSpPr>
          <p:cNvPr id="7" name="Rounded Rectangle 6"/>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D6D6DF"/>
                </a:solidFill>
              </a:rPr>
              <a:t>Missy Foristall, Adam Organ</a:t>
            </a:r>
          </a:p>
        </p:txBody>
      </p:sp>
      <p:sp>
        <p:nvSpPr>
          <p:cNvPr id="11" name="TextBox 10"/>
          <p:cNvSpPr txBox="1"/>
          <p:nvPr/>
        </p:nvSpPr>
        <p:spPr>
          <a:xfrm>
            <a:off x="502920" y="1554480"/>
            <a:ext cx="2651760" cy="22860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WIP</a:t>
            </a:r>
          </a:p>
        </p:txBody>
      </p:sp>
      <p:sp>
        <p:nvSpPr>
          <p:cNvPr id="12" name="Oval 11"/>
          <p:cNvSpPr/>
          <p:nvPr/>
        </p:nvSpPr>
        <p:spPr>
          <a:xfrm>
            <a:off x="502920" y="2020824"/>
            <a:ext cx="146304" cy="146304"/>
          </a:xfrm>
          <a:prstGeom prst="ellipse">
            <a:avLst/>
          </a:prstGeom>
          <a:solidFill>
            <a:srgbClr val="FFFFFF"/>
          </a:solidFill>
          <a:ln>
            <a:noFill/>
          </a:ln>
        </p:spPr>
        <p:txBody>
          <a:bodyPr rtlCol="0" anchor="ctr"/>
          <a:lstStyle/>
          <a:p>
            <a:pPr algn="ctr"/>
          </a:p>
        </p:txBody>
      </p:sp>
      <p:sp>
        <p:nvSpPr>
          <p:cNvPr id="13" name="TextBox 12"/>
          <p:cNvSpPr txBox="1"/>
          <p:nvPr/>
        </p:nvSpPr>
        <p:spPr>
          <a:xfrm>
            <a:off x="777240" y="1965960"/>
            <a:ext cx="2377440" cy="1188720"/>
          </a:xfrm>
          <a:prstGeom prst="rect">
            <a:avLst/>
          </a:prstGeom>
          <a:noFill/>
        </p:spPr>
        <p:txBody>
          <a:bodyPr wrap="square" lIns="0" rIns="0" tIns="0" bIns="0" anchor="t">
            <a:spAutoFit/>
          </a:bodyPr>
          <a:lstStyle/>
          <a:p>
            <a:pPr algn="l">
              <a:spcBef>
                <a:spcPts val="400"/>
              </a:spcBef>
              <a:spcAft>
                <a:spcPts val="200"/>
              </a:spcAft>
            </a:pPr>
            <a:r>
              <a:rPr sz="1200" b="1" i="0">
                <a:solidFill>
                  <a:srgbClr val="FFFFFF"/>
                </a:solidFill>
              </a:rPr>
              <a:t>This year</a:t>
            </a:r>
          </a:p>
          <a:p>
            <a:pPr algn="l">
              <a:spcAft>
                <a:spcPts val="500"/>
              </a:spcAft>
            </a:pPr>
            <a:r>
              <a:rPr sz="1200" b="0" i="0">
                <a:solidFill>
                  <a:srgbClr val="FFFFFF"/>
                </a:solidFill>
              </a:rPr>
              <a:t>We started with resource management, then stood up capacity planning.</a:t>
            </a:r>
          </a:p>
        </p:txBody>
      </p:sp>
      <p:sp>
        <p:nvSpPr>
          <p:cNvPr id="14" name="Oval 13"/>
          <p:cNvSpPr/>
          <p:nvPr/>
        </p:nvSpPr>
        <p:spPr>
          <a:xfrm>
            <a:off x="502920" y="3282696"/>
            <a:ext cx="146304" cy="146304"/>
          </a:xfrm>
          <a:prstGeom prst="ellipse">
            <a:avLst/>
          </a:prstGeom>
          <a:solidFill>
            <a:srgbClr val="FFFFFF"/>
          </a:solidFill>
          <a:ln>
            <a:noFill/>
          </a:ln>
        </p:spPr>
        <p:txBody>
          <a:bodyPr rtlCol="0" anchor="ctr"/>
          <a:lstStyle/>
          <a:p>
            <a:pPr algn="ctr"/>
          </a:p>
        </p:txBody>
      </p:sp>
      <p:sp>
        <p:nvSpPr>
          <p:cNvPr id="15" name="TextBox 14"/>
          <p:cNvSpPr txBox="1"/>
          <p:nvPr/>
        </p:nvSpPr>
        <p:spPr>
          <a:xfrm>
            <a:off x="777240" y="3227832"/>
            <a:ext cx="2377440" cy="1188720"/>
          </a:xfrm>
          <a:prstGeom prst="rect">
            <a:avLst/>
          </a:prstGeom>
          <a:noFill/>
        </p:spPr>
        <p:txBody>
          <a:bodyPr wrap="square" lIns="0" rIns="0" tIns="0" bIns="0" anchor="t">
            <a:spAutoFit/>
          </a:bodyPr>
          <a:lstStyle/>
          <a:p>
            <a:pPr algn="l">
              <a:spcBef>
                <a:spcPts val="400"/>
              </a:spcBef>
              <a:spcAft>
                <a:spcPts val="200"/>
              </a:spcAft>
            </a:pPr>
            <a:r>
              <a:rPr sz="1200" b="1" i="0">
                <a:solidFill>
                  <a:srgbClr val="FFFFFF"/>
                </a:solidFill>
              </a:rPr>
              <a:t>Next year</a:t>
            </a:r>
          </a:p>
          <a:p>
            <a:pPr algn="l">
              <a:spcAft>
                <a:spcPts val="500"/>
              </a:spcAft>
            </a:pPr>
            <a:r>
              <a:rPr sz="1200" b="0" i="0">
                <a:solidFill>
                  <a:srgbClr val="FFFFFF"/>
                </a:solidFill>
              </a:rPr>
              <a:t>Capacity planning becomes how we run things and our priority focus for enhancement, with resource management as its child.</a:t>
            </a:r>
          </a:p>
        </p:txBody>
      </p:sp>
      <p:sp>
        <p:nvSpPr>
          <p:cNvPr id="16" name="Oval 15"/>
          <p:cNvSpPr/>
          <p:nvPr/>
        </p:nvSpPr>
        <p:spPr>
          <a:xfrm>
            <a:off x="502920" y="4544568"/>
            <a:ext cx="146304" cy="146304"/>
          </a:xfrm>
          <a:prstGeom prst="ellipse">
            <a:avLst/>
          </a:prstGeom>
          <a:solidFill>
            <a:srgbClr val="FFFFFF"/>
          </a:solidFill>
          <a:ln>
            <a:noFill/>
          </a:ln>
        </p:spPr>
        <p:txBody>
          <a:bodyPr rtlCol="0" anchor="ctr"/>
          <a:lstStyle/>
          <a:p>
            <a:pPr algn="ctr"/>
          </a:p>
        </p:txBody>
      </p:sp>
      <p:sp>
        <p:nvSpPr>
          <p:cNvPr id="17" name="TextBox 16"/>
          <p:cNvSpPr txBox="1"/>
          <p:nvPr/>
        </p:nvSpPr>
        <p:spPr>
          <a:xfrm>
            <a:off x="777240" y="4489704"/>
            <a:ext cx="2377440" cy="1188720"/>
          </a:xfrm>
          <a:prstGeom prst="rect">
            <a:avLst/>
          </a:prstGeom>
          <a:noFill/>
        </p:spPr>
        <p:txBody>
          <a:bodyPr wrap="square" lIns="0" rIns="0" tIns="0" bIns="0" anchor="t">
            <a:spAutoFit/>
          </a:bodyPr>
          <a:lstStyle/>
          <a:p>
            <a:pPr algn="l">
              <a:spcBef>
                <a:spcPts val="400"/>
              </a:spcBef>
              <a:spcAft>
                <a:spcPts val="200"/>
              </a:spcAft>
            </a:pPr>
            <a:r>
              <a:rPr sz="1200" b="1" i="0">
                <a:solidFill>
                  <a:srgbClr val="FFFFFF"/>
                </a:solidFill>
              </a:rPr>
              <a:t>Coming weeks</a:t>
            </a:r>
          </a:p>
          <a:p>
            <a:pPr algn="l">
              <a:spcAft>
                <a:spcPts val="500"/>
              </a:spcAft>
            </a:pPr>
            <a:r>
              <a:rPr sz="1200" b="0" i="0">
                <a:solidFill>
                  <a:srgbClr val="FFFFFF"/>
                </a:solidFill>
              </a:rPr>
              <a:t>Like our other ops top priorities, we will build this out as an epic with stories underneath, so we can focus and prioritize.</a:t>
            </a:r>
          </a:p>
        </p:txBody>
      </p:sp>
      <p:sp>
        <p:nvSpPr>
          <p:cNvPr id="18" name="Rounded Rectangle 17"/>
          <p:cNvSpPr/>
          <p:nvPr/>
        </p:nvSpPr>
        <p:spPr>
          <a:xfrm>
            <a:off x="4023360" y="1170000"/>
            <a:ext cx="7711440" cy="6858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54864" rIns="228600" bIns="36576"/>
          <a:lstStyle/>
          <a:p>
            <a:pPr algn="l">
              <a:spcBef>
                <a:spcPts val="200"/>
              </a:spcBef>
              <a:spcAft>
                <a:spcPts val="200"/>
              </a:spcAft>
            </a:pPr>
            <a:r>
              <a:rPr sz="850" b="1" i="0" cap="all" spc="100">
                <a:solidFill>
                  <a:srgbClr val="60607D"/>
                </a:solidFill>
              </a:rPr>
              <a:t>The goal</a:t>
            </a:r>
          </a:p>
          <a:p>
            <a:pPr algn="l">
              <a:spcBef>
                <a:spcPts val="400"/>
              </a:spcBef>
              <a:spcAft>
                <a:spcPts val="500"/>
              </a:spcAft>
            </a:pPr>
            <a:r>
              <a:rPr sz="1050" b="1" i="0">
                <a:solidFill>
                  <a:srgbClr val="000000"/>
                </a:solidFill>
              </a:rPr>
              <a:t>Move from insight to action: close the skills and bench visibility gap so we can staff ahead of demand.</a:t>
            </a:r>
          </a:p>
        </p:txBody>
      </p:sp>
      <p:sp>
        <p:nvSpPr>
          <p:cNvPr id="19" name="Rounded Rectangle 18"/>
          <p:cNvSpPr/>
          <p:nvPr/>
        </p:nvSpPr>
        <p:spPr>
          <a:xfrm>
            <a:off x="402336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46304" tIns="91440" rIns="109728" bIns="36576"/>
          <a:lstStyle/>
          <a:p>
            <a:pPr algn="l">
              <a:spcAft>
                <a:spcPts val="600"/>
              </a:spcAft>
            </a:pPr>
            <a:r>
              <a:rPr sz="1100" b="1" i="0" cap="all" spc="60">
                <a:solidFill>
                  <a:srgbClr val="000000"/>
                </a:solidFill>
              </a:rPr>
              <a:t>Pillar 1: Know who we have</a:t>
            </a:r>
          </a:p>
          <a:p>
            <a:pPr algn="l">
              <a:spcAft>
                <a:spcPts val="500"/>
              </a:spcAft>
            </a:pPr>
            <a:r>
              <a:rPr sz="1000" b="1" i="0">
                <a:solidFill>
                  <a:srgbClr val="000000"/>
                </a:solidFill>
              </a:rPr>
              <a:t>We need</a:t>
            </a:r>
            <a:r>
              <a:rPr sz="1000" b="0" i="0">
                <a:solidFill>
                  <a:srgbClr val="000000"/>
                </a:solidFill>
              </a:rPr>
              <a:t> skills captured in one place we can search, </a:t>
            </a:r>
            <a:r>
              <a:rPr sz="1000" b="1" i="0">
                <a:solidFill>
                  <a:srgbClr val="000000"/>
                </a:solidFill>
              </a:rPr>
              <a:t>so we can</a:t>
            </a:r>
            <a:r>
              <a:rPr sz="1000" b="0" i="0">
                <a:solidFill>
                  <a:srgbClr val="000000"/>
                </a:solidFill>
              </a:rPr>
              <a:t> find the right person for a role across practices. </a:t>
            </a:r>
            <a:r>
              <a:rPr sz="1000" b="1" i="0">
                <a:solidFill>
                  <a:srgbClr val="000000"/>
                </a:solidFill>
              </a:rPr>
              <a:t>The outcome:</a:t>
            </a:r>
            <a:r>
              <a:rPr sz="1000" b="0" i="0">
                <a:solidFill>
                  <a:srgbClr val="000000"/>
                </a:solidFill>
              </a:rPr>
              <a:t> one trusted view of skills instead of separate sources.</a:t>
            </a:r>
          </a:p>
          <a:p>
            <a:pPr algn="l">
              <a:spcBef>
                <a:spcPts val="400"/>
              </a:spcBef>
              <a:spcAft>
                <a:spcPts val="200"/>
              </a:spcAft>
            </a:pPr>
            <a:r>
              <a:rPr sz="1000" b="1" i="0">
                <a:solidFill>
                  <a:srgbClr val="000000"/>
                </a:solidFill>
              </a:rPr>
              <a:t>Underway</a:t>
            </a:r>
          </a:p>
          <a:p>
            <a:pPr algn="l">
              <a:spcAft>
                <a:spcPts val="500"/>
              </a:spcAft>
            </a:pPr>
            <a:r>
              <a:rPr sz="1000" b="0" i="0">
                <a:solidFill>
                  <a:srgbClr val="000000"/>
                </a:solidFill>
              </a:rPr>
              <a:t>A skills data pilot with about 100 opt-in people from each of two teams, on a LinkedIn skills taxonomy. We still need to define what we need from it.</a:t>
            </a:r>
          </a:p>
        </p:txBody>
      </p:sp>
      <p:sp>
        <p:nvSpPr>
          <p:cNvPr id="20" name="Rounded Rectangle 19"/>
          <p:cNvSpPr/>
          <p:nvPr/>
        </p:nvSpPr>
        <p:spPr>
          <a:xfrm>
            <a:off x="664384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46304" tIns="91440" rIns="109728" bIns="36576"/>
          <a:lstStyle/>
          <a:p>
            <a:pPr algn="l">
              <a:spcAft>
                <a:spcPts val="600"/>
              </a:spcAft>
            </a:pPr>
            <a:r>
              <a:rPr sz="1100" b="1" i="0" cap="all" spc="60">
                <a:solidFill>
                  <a:srgbClr val="000000"/>
                </a:solidFill>
              </a:rPr>
              <a:t>Pillar 2: See what is coming</a:t>
            </a:r>
          </a:p>
          <a:p>
            <a:pPr algn="l">
              <a:spcAft>
                <a:spcPts val="500"/>
              </a:spcAft>
            </a:pPr>
            <a:r>
              <a:rPr sz="1000" b="1" i="0">
                <a:solidFill>
                  <a:srgbClr val="000000"/>
                </a:solidFill>
              </a:rPr>
              <a:t>We need </a:t>
            </a:r>
            <a:r>
              <a:rPr sz="1000" b="0" i="0">
                <a:solidFill>
                  <a:srgbClr val="000000"/>
                </a:solidFill>
              </a:rPr>
              <a:t>to review SF stages to see the pipeline earlier, </a:t>
            </a:r>
            <a:r>
              <a:rPr sz="1000" b="1" i="0">
                <a:solidFill>
                  <a:srgbClr val="000000"/>
                </a:solidFill>
              </a:rPr>
              <a:t>so we can </a:t>
            </a:r>
            <a:r>
              <a:rPr sz="1000" b="0" i="0">
                <a:solidFill>
                  <a:srgbClr val="000000"/>
                </a:solidFill>
              </a:rPr>
              <a:t>plan people around demand with RM pulled in earlier in the process, not at signature. </a:t>
            </a:r>
            <a:r>
              <a:rPr sz="1000" b="1" i="0">
                <a:solidFill>
                  <a:srgbClr val="000000"/>
                </a:solidFill>
              </a:rPr>
              <a:t>The outcome: </a:t>
            </a:r>
            <a:r>
              <a:rPr sz="1000" b="0" i="0">
                <a:solidFill>
                  <a:srgbClr val="000000"/>
                </a:solidFill>
              </a:rPr>
              <a:t>teams that are ready to start instead of scrambling after signing.</a:t>
            </a:r>
          </a:p>
          <a:p>
            <a:pPr algn="l">
              <a:spcBef>
                <a:spcPts val="400"/>
              </a:spcBef>
              <a:spcAft>
                <a:spcPts val="200"/>
              </a:spcAft>
            </a:pPr>
            <a:r>
              <a:rPr sz="1000" b="1" i="0">
                <a:solidFill>
                  <a:srgbClr val="000000"/>
                </a:solidFill>
              </a:rPr>
              <a:t>Exploring: Smart Bench</a:t>
            </a:r>
          </a:p>
          <a:p>
            <a:pPr algn="l">
              <a:spcAft>
                <a:spcPts val="500"/>
              </a:spcAft>
            </a:pPr>
            <a:r>
              <a:rPr sz="100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21" name="Rounded Rectangle 20"/>
          <p:cNvSpPr/>
          <p:nvPr/>
        </p:nvSpPr>
        <p:spPr>
          <a:xfrm>
            <a:off x="926432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46304" tIns="91440" rIns="109728" bIns="36576"/>
          <a:lstStyle/>
          <a:p>
            <a:pPr algn="l">
              <a:spcAft>
                <a:spcPts val="600"/>
              </a:spcAft>
            </a:pPr>
            <a:r>
              <a:rPr sz="1100" b="1" i="0" cap="all" spc="60">
                <a:solidFill>
                  <a:srgbClr val="000000"/>
                </a:solidFill>
              </a:rPr>
              <a:t>Pillar 3: One place to look</a:t>
            </a:r>
          </a:p>
          <a:p>
            <a:pPr algn="l">
              <a:spcAft>
                <a:spcPts val="500"/>
              </a:spcAft>
            </a:pPr>
            <a:r>
              <a:rPr sz="1000" b="1" i="0">
                <a:solidFill>
                  <a:srgbClr val="000000"/>
                </a:solidFill>
              </a:rPr>
              <a:t>We need</a:t>
            </a:r>
            <a:r>
              <a:rPr sz="1000" b="0" i="0">
                <a:solidFill>
                  <a:srgbClr val="000000"/>
                </a:solidFill>
              </a:rPr>
              <a:t> what we check today brought into one connected view, </a:t>
            </a:r>
            <a:r>
              <a:rPr sz="1000" b="1" i="0">
                <a:solidFill>
                  <a:srgbClr val="000000"/>
                </a:solidFill>
              </a:rPr>
              <a:t>so we can</a:t>
            </a:r>
            <a:r>
              <a:rPr sz="1000" b="0" i="0">
                <a:solidFill>
                  <a:srgbClr val="000000"/>
                </a:solidFill>
              </a:rPr>
              <a:t> move from insight to action with fewer places to look. </a:t>
            </a:r>
            <a:r>
              <a:rPr sz="1000" b="1" i="0">
                <a:solidFill>
                  <a:srgbClr val="000000"/>
                </a:solidFill>
              </a:rPr>
              <a:t>The outcome:</a:t>
            </a:r>
            <a:r>
              <a:rPr sz="1000" b="0" i="0">
                <a:solidFill>
                  <a:srgbClr val="000000"/>
                </a:solidFill>
              </a:rPr>
              <a:t> insight that points to the next move.</a:t>
            </a:r>
          </a:p>
          <a:p>
            <a:pPr algn="l">
              <a:spcBef>
                <a:spcPts val="400"/>
              </a:spcBef>
              <a:spcAft>
                <a:spcPts val="200"/>
              </a:spcAft>
            </a:pPr>
            <a:r>
              <a:rPr sz="1000" b="1" i="0">
                <a:solidFill>
                  <a:srgbClr val="000000"/>
                </a:solidFill>
              </a:rPr>
              <a:t>Being built: Romulus</a:t>
            </a:r>
          </a:p>
          <a:p>
            <a:pPr algn="l">
              <a:spcAft>
                <a:spcPts val="500"/>
              </a:spcAft>
            </a:pPr>
            <a:r>
              <a:rPr sz="1000" b="0" i="0">
                <a:solidFill>
                  <a:srgbClr val="000000"/>
                </a:solidFill>
              </a:rPr>
              <a:t>Today we check Salesforce, Workfront, pricing tools, spreadsheets, and SharePoint. Romulus is the tool we are building to help turn insight into action (next slide). It needs more feeding from the work in the other two pillars.</a:t>
            </a:r>
          </a:p>
        </p:txBody>
      </p:sp>
      <p:sp>
        <p:nvSpPr>
          <p:cNvPr id="22" name="Rounded Rectangle 21"/>
          <p:cNvSpPr/>
          <p:nvPr/>
        </p:nvSpPr>
        <p:spPr>
          <a:xfrm>
            <a:off x="4023360" y="5300000"/>
            <a:ext cx="771144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250000" rIns="250000" tIns="40000" bIns="40000"/>
          <a:lstStyle/>
          <a:p>
            <a:pPr algn="l"/>
            <a:r>
              <a:rPr sz="900" b="1" i="0" cap="all" spc="100">
                <a:solidFill>
                  <a:srgbClr val="D6D6DF"/>
                </a:solidFill>
              </a:rPr>
              <a:t>Key takeaway</a:t>
            </a:r>
          </a:p>
          <a:p>
            <a:pPr algn="l"/>
            <a:r>
              <a:rPr sz="1050" b="1" i="0">
                <a:solidFill>
                  <a:srgbClr val="FFFFFF"/>
                </a:solidFill>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5.xml><?xml version="1.0" encoding="utf-8"?>
<TemplafySlideFormConfiguration><![CDATA[{"formFields":[],"formDataEntries":[]}]]></TemplafySlideFormConfiguration>
</file>

<file path=customXml/itemProps1.xml><?xml version="1.0" encoding="utf-8"?>
<ds:datastoreItem xmlns:ds="http://schemas.openxmlformats.org/officeDocument/2006/customXml" ds:itemID="{32C947A3-4CBF-434C-A709-03C12B0F1660}">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purl.org/dc/elements/1.1/"/>
    <ds:schemaRef ds:uri="ffd69ccd-669e-4a1a-b9ff-a607e277eb6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2D6E68-51DB-4BFD-88E4-E31D99A1A821}">
  <ds:schemaRefs/>
</ds:datastoreItem>
</file>

<file path=customXml/itemProps3.xml><?xml version="1.0" encoding="utf-8"?>
<ds:datastoreItem xmlns:ds="http://schemas.openxmlformats.org/officeDocument/2006/customXml" ds:itemID="{3A934794-B7B9-40A5-BC3E-83474445FB2C}">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8ED5A302-E581-4954-9104-07BBB2BA16EA}">
  <ds:schemaRefs/>
</ds:datastoreItem>
</file>

<file path=customXml/itemProps6.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7.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C978122E-4CF7-4DAF-A638-3228CFE4D0E4}">
  <ds:schemaRefs/>
</ds:datastoreItem>
</file>

<file path=customXml/itemProps9.xml><?xml version="1.0" encoding="utf-8"?>
<ds:datastoreItem xmlns:ds="http://schemas.openxmlformats.org/officeDocument/2006/customXml" ds:itemID="{641488FD-1F5F-4710-8EC0-17A522704CC6}">
  <ds:schemaRefs/>
</ds:datastoreItem>
</file>

<file path=customXml/itemProps10.xml><?xml version="1.0" encoding="utf-8"?>
<ds:datastoreItem xmlns:ds="http://schemas.openxmlformats.org/officeDocument/2006/customXml" ds:itemID="{B82A8263-E571-43F3-9E91-8424F188A071}">
  <ds:schemaRefs/>
</ds:datastoreItem>
</file>

<file path=customXml/itemProps11.xml><?xml version="1.0" encoding="utf-8"?>
<ds:datastoreItem xmlns:ds="http://schemas.openxmlformats.org/officeDocument/2006/customXml" ds:itemID="{D19811AB-F04C-4CB1-906B-120DD81CEC00}">
  <ds:schemaRefs/>
</ds:datastoreItem>
</file>

<file path=customXml/itemProps12.xml><?xml version="1.0" encoding="utf-8"?>
<ds:datastoreItem xmlns:ds="http://schemas.openxmlformats.org/officeDocument/2006/customXml" ds:itemID="{C45642DC-9A5F-4645-ADA4-4C9C3418D003}">
  <ds:schemaRefs/>
</ds:datastoreItem>
</file>

<file path=customXml/itemProps13.xml><?xml version="1.0" encoding="utf-8"?>
<ds:datastoreItem xmlns:ds="http://schemas.openxmlformats.org/officeDocument/2006/customXml" ds:itemID="{4D8D6E3D-6D95-4645-9B5B-00A02728EFE6}">
  <ds:schemaRefs/>
</ds:datastoreItem>
</file>

<file path=customXml/itemProps14.xml><?xml version="1.0" encoding="utf-8"?>
<ds:datastoreItem xmlns:ds="http://schemas.openxmlformats.org/officeDocument/2006/customXml" ds:itemID="{7175AA37-2E84-4AD4-A69B-19A9990FFAFF}">
  <ds:schemaRefs/>
</ds:datastoreItem>
</file>

<file path=customXml/itemProps15.xml><?xml version="1.0" encoding="utf-8"?>
<ds:datastoreItem xmlns:ds="http://schemas.openxmlformats.org/officeDocument/2006/customXml" ds:itemID="{E15543A8-80BA-4997-B7AD-F61A4B2E048D}">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1006</TotalTime>
  <Words>2141</Words>
  <Application>Microsoft Office PowerPoint</Application>
  <PresentationFormat>Widescreen</PresentationFormat>
  <Paragraphs>168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Aptos</vt:lpstr>
      <vt:lpstr>Proxima Nova</vt:lpstr>
      <vt:lpstr>COLLABORATIVE WIREFRAME - 2025</vt:lpstr>
      <vt:lpstr>Play to Win</vt:lpstr>
      <vt:lpstr>B2B Growth Platform</vt:lpstr>
      <vt:lpstr>Deal to Delivery Playbook: Context</vt:lpstr>
      <vt:lpstr>Deal to Delivery Playbook: Update</vt:lpstr>
      <vt:lpstr>Accountability Framework: Context</vt:lpstr>
      <vt:lpstr>Accountability Framework: Update</vt:lpstr>
      <vt:lpstr>Intake Updates: Context</vt:lpstr>
      <vt:lpstr>Intake Updates: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4</cp:revision>
  <dcterms:created xsi:type="dcterms:W3CDTF">2026-08-19T11:07:14Z</dcterms:created>
  <dcterms:modified xsi:type="dcterms:W3CDTF">2026-10-21T14:19:20Z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