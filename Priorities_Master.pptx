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12" r:id="rId87"/>
    <p:sldId id="313" r:id="rId88"/>
    <p:sldId id="262" r:id="rId38"/>
    <p:sldId id="2147483647" r:id="rId19"/>
    <p:sldId id="256" r:id="rId18"/>
    <p:sldId id="265" r:id="rId17"/>
    <p:sldId id="266" r:id="rId41"/>
    <p:sldId id="268" r:id="rId43"/>
    <p:sldId id="267" r:id="rId42"/>
    <p:sldId id="257" r:id="rId20"/>
    <p:sldId id="314" r:id="rId89"/>
    <p:sldId id="263" r:id="rId39"/>
    <p:sldId id="258" r:id="rId21"/>
    <p:sldId id="269" r:id="rId44"/>
    <p:sldId id="270" r:id="rId45"/>
    <p:sldId id="271" r:id="rId46"/>
    <p:sldId id="259" r:id="rId22"/>
    <p:sldId id="315" r:id="rId90"/>
    <p:sldId id="272" r:id="rId47"/>
    <p:sldId id="273" r:id="rId48"/>
    <p:sldId id="274" r:id="rId49"/>
    <p:sldId id="275" r:id="rId50"/>
    <p:sldId id="276" r:id="rId51"/>
    <p:sldId id="277" r:id="rId52"/>
    <p:sldId id="316" r:id="rId91"/>
    <p:sldId id="278" r:id="rId53"/>
    <p:sldId id="279" r:id="rId54"/>
    <p:sldId id="280" r:id="rId55"/>
    <p:sldId id="281" r:id="rId56"/>
    <p:sldId id="282" r:id="rId57"/>
    <p:sldId id="283" r:id="rId58"/>
    <p:sldId id="284" r:id="rId59"/>
    <p:sldId id="285" r:id="rId60"/>
    <p:sldId id="317" r:id="rId92"/>
    <p:sldId id="286" r:id="rId61"/>
    <p:sldId id="287" r:id="rId62"/>
    <p:sldId id="288" r:id="rId63"/>
    <p:sldId id="289" r:id="rId64"/>
    <p:sldId id="290" r:id="rId65"/>
    <p:sldId id="291" r:id="rId66"/>
    <p:sldId id="292" r:id="rId67"/>
    <p:sldId id="318" r:id="rId93"/>
    <p:sldId id="264" r:id="rId40"/>
    <p:sldId id="260" r:id="rId23"/>
    <p:sldId id="293" r:id="rId68"/>
    <p:sldId id="294" r:id="rId69"/>
    <p:sldId id="295" r:id="rId70"/>
    <p:sldId id="261" r:id="rId24"/>
    <p:sldId id="319" r:id="rId94"/>
    <p:sldId id="296" r:id="rId71"/>
    <p:sldId id="297" r:id="rId72"/>
    <p:sldId id="298" r:id="rId73"/>
    <p:sldId id="299" r:id="rId74"/>
    <p:sldId id="300" r:id="rId75"/>
    <p:sldId id="301" r:id="rId76"/>
    <p:sldId id="320" r:id="rId95"/>
    <p:sldId id="302" r:id="rId77"/>
    <p:sldId id="303" r:id="rId78"/>
    <p:sldId id="304" r:id="rId79"/>
    <p:sldId id="305" r:id="rId80"/>
    <p:sldId id="306" r:id="rId81"/>
    <p:sldId id="307" r:id="rId82"/>
    <p:sldId id="321" r:id="rId96"/>
    <p:sldId id="308" r:id="rId83"/>
    <p:sldId id="309" r:id="rId84"/>
    <p:sldId id="310" r:id="rId85"/>
    <p:sldId id="311" r:id="rId86"/>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539060"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John</a:t>
            </a:r>
          </a:p>
        </p:txBody>
      </p:sp>
      <p:sp>
        <p:nvSpPr>
          <p:cNvPr id="527" name="Rounded Rectangle 526"/>
          <p:cNvSpPr/>
          <p:nvPr/>
        </p:nvSpPr>
        <p:spPr>
          <a:xfrm>
            <a:off x="1288868" y="5791872"/>
            <a:ext cx="605245"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0" name="Rounded Rectangle 529"/>
          <p:cNvSpPr/>
          <p:nvPr/>
        </p:nvSpPr>
        <p:spPr>
          <a:xfrm>
            <a:off x="7201224" y="5791872"/>
            <a:ext cx="1200912"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Delivery Leads</a:t>
            </a:r>
          </a:p>
        </p:txBody>
      </p:sp>
      <p:sp>
        <p:nvSpPr>
          <p:cNvPr id="531" name="Rounded Rectangle 530"/>
          <p:cNvSpPr/>
          <p:nvPr/>
        </p:nvSpPr>
        <p:spPr>
          <a:xfrm>
            <a:off x="8484432" y="579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2" name="Rounded Rectangle 531"/>
          <p:cNvSpPr/>
          <p:nvPr/>
        </p:nvSpPr>
        <p:spPr>
          <a:xfrm>
            <a:off x="6381312" y="6185064"/>
            <a:ext cx="1928948"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Client &amp; Commercial teams</a:t>
            </a:r>
          </a:p>
        </p:txBody>
      </p:sp>
      <p:sp>
        <p:nvSpPr>
          <p:cNvPr id="533" name="Rounded Rectangle 532"/>
          <p:cNvSpPr/>
          <p:nvPr/>
        </p:nvSpPr>
        <p:spPr>
          <a:xfrm>
            <a:off x="8392556" y="6185064"/>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TextBox 50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10" name="TextBox 50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11" name="TextBox 51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12" name="TextBox 51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13" name="TextBox 51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14" name="Rounded Rectangle 513"/>
          <p:cNvSpPr/>
          <p:nvPr/>
        </p:nvSpPr>
        <p:spPr>
          <a:xfrm>
            <a:off x="457200" y="1773504"/>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15" name="Oval 514"/>
          <p:cNvSpPr/>
          <p:nvPr/>
        </p:nvSpPr>
        <p:spPr>
          <a:xfrm>
            <a:off x="640080" y="191916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16" name="TextBox 515"/>
          <p:cNvSpPr txBox="1"/>
          <p:nvPr/>
        </p:nvSpPr>
        <p:spPr>
          <a:xfrm>
            <a:off x="1115568" y="1828368"/>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Delivery Models</a:t>
            </a:r>
          </a:p>
        </p:txBody>
      </p:sp>
      <p:sp>
        <p:nvSpPr>
          <p:cNvPr id="517" name="TextBox 516"/>
          <p:cNvSpPr txBox="1"/>
          <p:nvPr/>
        </p:nvSpPr>
        <p:spPr>
          <a:xfrm>
            <a:off x="5577840" y="1828368"/>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18" name="Rounded Rectangle 517"/>
          <p:cNvSpPr/>
          <p:nvPr/>
        </p:nvSpPr>
        <p:spPr>
          <a:xfrm>
            <a:off x="10012680" y="194659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19" name="Rounded Rectangle 518"/>
          <p:cNvSpPr/>
          <p:nvPr/>
        </p:nvSpPr>
        <p:spPr>
          <a:xfrm>
            <a:off x="457200" y="2454002"/>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0" name="Oval 519"/>
          <p:cNvSpPr/>
          <p:nvPr/>
        </p:nvSpPr>
        <p:spPr>
          <a:xfrm>
            <a:off x="640080" y="259965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21" name="TextBox 520"/>
          <p:cNvSpPr txBox="1"/>
          <p:nvPr/>
        </p:nvSpPr>
        <p:spPr>
          <a:xfrm>
            <a:off x="1115568" y="2508866"/>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Contracts</a:t>
            </a:r>
          </a:p>
        </p:txBody>
      </p:sp>
      <p:sp>
        <p:nvSpPr>
          <p:cNvPr id="522" name="TextBox 521"/>
          <p:cNvSpPr txBox="1"/>
          <p:nvPr/>
        </p:nvSpPr>
        <p:spPr>
          <a:xfrm>
            <a:off x="5577840" y="2508866"/>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23" name="Rounded Rectangle 522"/>
          <p:cNvSpPr/>
          <p:nvPr/>
        </p:nvSpPr>
        <p:spPr>
          <a:xfrm>
            <a:off x="10012680" y="262709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4" name="Rounded Rectangle 523"/>
          <p:cNvSpPr/>
          <p:nvPr/>
        </p:nvSpPr>
        <p:spPr>
          <a:xfrm>
            <a:off x="457200" y="3134500"/>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328015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26" name="TextBox 525"/>
          <p:cNvSpPr txBox="1"/>
          <p:nvPr/>
        </p:nvSpPr>
        <p:spPr>
          <a:xfrm>
            <a:off x="1115568" y="3189364"/>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Methodology Standards</a:t>
            </a:r>
          </a:p>
        </p:txBody>
      </p:sp>
      <p:sp>
        <p:nvSpPr>
          <p:cNvPr id="527" name="TextBox 526"/>
          <p:cNvSpPr txBox="1"/>
          <p:nvPr/>
        </p:nvSpPr>
        <p:spPr>
          <a:xfrm>
            <a:off x="5577840" y="3189364"/>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28" name="Rounded Rectangle 527"/>
          <p:cNvSpPr/>
          <p:nvPr/>
        </p:nvSpPr>
        <p:spPr>
          <a:xfrm>
            <a:off x="10012680" y="330758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9" name="TextBox 528"/>
          <p:cNvSpPr txBox="1"/>
          <p:nvPr/>
        </p:nvSpPr>
        <p:spPr>
          <a:xfrm>
            <a:off x="457200" y="38349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30" name="Rounded Rectangle 529"/>
          <p:cNvSpPr/>
          <p:nvPr/>
        </p:nvSpPr>
        <p:spPr>
          <a:xfrm>
            <a:off x="457200" y="4164182"/>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1" name="Oval 530"/>
          <p:cNvSpPr/>
          <p:nvPr/>
        </p:nvSpPr>
        <p:spPr>
          <a:xfrm>
            <a:off x="640080" y="430983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32" name="TextBox 531"/>
          <p:cNvSpPr txBox="1"/>
          <p:nvPr/>
        </p:nvSpPr>
        <p:spPr>
          <a:xfrm>
            <a:off x="1115568" y="4219046"/>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Estimation</a:t>
            </a:r>
          </a:p>
        </p:txBody>
      </p:sp>
      <p:sp>
        <p:nvSpPr>
          <p:cNvPr id="533" name="TextBox 532"/>
          <p:cNvSpPr txBox="1"/>
          <p:nvPr/>
        </p:nvSpPr>
        <p:spPr>
          <a:xfrm>
            <a:off x="5577840" y="4219046"/>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34" name="Rounded Rectangle 533"/>
          <p:cNvSpPr/>
          <p:nvPr/>
        </p:nvSpPr>
        <p:spPr>
          <a:xfrm>
            <a:off x="10012680" y="433727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5" name="Rounded Rectangle 534"/>
          <p:cNvSpPr/>
          <p:nvPr/>
        </p:nvSpPr>
        <p:spPr>
          <a:xfrm>
            <a:off x="457200" y="4844680"/>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6" name="Oval 535"/>
          <p:cNvSpPr/>
          <p:nvPr/>
        </p:nvSpPr>
        <p:spPr>
          <a:xfrm>
            <a:off x="640080" y="499033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37" name="TextBox 536"/>
          <p:cNvSpPr txBox="1"/>
          <p:nvPr/>
        </p:nvSpPr>
        <p:spPr>
          <a:xfrm>
            <a:off x="1115568" y="4899544"/>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Pricing</a:t>
            </a:r>
          </a:p>
        </p:txBody>
      </p:sp>
      <p:sp>
        <p:nvSpPr>
          <p:cNvPr id="538" name="TextBox 537"/>
          <p:cNvSpPr txBox="1"/>
          <p:nvPr/>
        </p:nvSpPr>
        <p:spPr>
          <a:xfrm>
            <a:off x="5577840" y="4899544"/>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39" name="Rounded Rectangle 538"/>
          <p:cNvSpPr/>
          <p:nvPr/>
        </p:nvSpPr>
        <p:spPr>
          <a:xfrm>
            <a:off x="10012680" y="501776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0" name="Rounded Rectangle 539"/>
          <p:cNvSpPr/>
          <p:nvPr/>
        </p:nvSpPr>
        <p:spPr>
          <a:xfrm>
            <a:off x="457200" y="5525178"/>
            <a:ext cx="11277600" cy="6204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5670835"/>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6</a:t>
            </a:r>
          </a:p>
        </p:txBody>
      </p:sp>
      <p:sp>
        <p:nvSpPr>
          <p:cNvPr id="542" name="TextBox 541"/>
          <p:cNvSpPr txBox="1"/>
          <p:nvPr/>
        </p:nvSpPr>
        <p:spPr>
          <a:xfrm>
            <a:off x="1115568" y="5580042"/>
            <a:ext cx="4206240" cy="529058"/>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Staffing</a:t>
            </a:r>
          </a:p>
        </p:txBody>
      </p:sp>
      <p:sp>
        <p:nvSpPr>
          <p:cNvPr id="543" name="TextBox 542"/>
          <p:cNvSpPr txBox="1"/>
          <p:nvPr/>
        </p:nvSpPr>
        <p:spPr>
          <a:xfrm>
            <a:off x="5577840" y="5580042"/>
            <a:ext cx="4206240" cy="5290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44" name="Rounded Rectangle 543"/>
          <p:cNvSpPr/>
          <p:nvPr/>
        </p:nvSpPr>
        <p:spPr>
          <a:xfrm>
            <a:off x="10012680" y="5698267"/>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Defining Essential Roles</a:t>
            </a:r>
          </a:p>
          <a:p>
            <a:pPr algn="l">
              <a:spcAft>
                <a:spcPts val="500"/>
              </a:spcAft>
            </a:pPr>
            <a:r>
              <a:rPr sz="10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900" b="1" i="0">
                <a:solidFill>
                  <a:srgbClr val="000000"/>
                </a:solidFill>
              </a:rPr>
              <a:t>Change Management will be Key</a:t>
            </a:r>
          </a:p>
          <a:p>
            <a:pPr algn="l">
              <a:spcAft>
                <a:spcPts val="500"/>
              </a:spcAft>
            </a:pPr>
            <a:r>
              <a:rPr sz="90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26" name="Oval 525"/>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36" name="Rounded Rectangle 53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37" name="Rounded Rectangle 536"/>
          <p:cNvSpPr/>
          <p:nvPr/>
        </p:nvSpPr>
        <p:spPr>
          <a:xfrm>
            <a:off x="667512" y="5791872"/>
            <a:ext cx="737616"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BU COOs</a:t>
            </a:r>
          </a:p>
        </p:txBody>
      </p:sp>
      <p:sp>
        <p:nvSpPr>
          <p:cNvPr id="538" name="Rounded Rectangle 537"/>
          <p:cNvSpPr/>
          <p:nvPr/>
        </p:nvSpPr>
        <p:spPr>
          <a:xfrm>
            <a:off x="1487424" y="5791872"/>
            <a:ext cx="2193689" cy="310896"/>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1000" b="1" i="0">
                <a:solidFill>
                  <a:srgbClr val="000000"/>
                </a:solidFill>
              </a:rPr>
              <a:t>Enterprise Project Management</a:t>
            </a:r>
          </a:p>
        </p:txBody>
      </p:sp>
      <p:sp>
        <p:nvSpPr>
          <p:cNvPr id="539" name="Rounded Rectangle 53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0" name="Rounded Rectangle 539"/>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541" name="Rounded Rectangle 540"/>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9" name="TextBox 51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20" name="TextBox 51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21" name="TextBox 52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22" name="TextBox 52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23" name="TextBox 52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524" name="Rounded Rectangle 523"/>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25" name="Oval 524"/>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26" name="TextBox 525"/>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27" name="TextBox 526"/>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28" name="Rounded Rectangle 527"/>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29" name="Rounded Rectangle 528"/>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0" name="Oval 529"/>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31" name="TextBox 530"/>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32" name="TextBox 531"/>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33" name="Rounded Rectangle 532"/>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4" name="Rounded Rectangle 533"/>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36" name="TextBox 535"/>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37" name="TextBox 536"/>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38" name="Rounded Rectangle 537"/>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9" name="TextBox 538"/>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540" name="Rounded Rectangle 539"/>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1" name="Oval 540"/>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42" name="TextBox 541"/>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43" name="TextBox 542"/>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44" name="Rounded Rectangle 543"/>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5" name="Rounded Rectangle 544"/>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6" name="Oval 545"/>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47" name="TextBox 546"/>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548" name="TextBox 547"/>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49" name="Rounded Rectangle 548"/>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4" name="Rounded Rectangle 23"/>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00" b="1" i="0">
                <a:solidFill>
                  <a:srgbClr val="000000"/>
                </a:solidFill>
              </a:rPr>
              <a:t>Pillar 1: Know who we have</a:t>
            </a:r>
          </a:p>
          <a:p>
            <a:pPr algn="l">
              <a:spcAft>
                <a:spcPts val="500"/>
              </a:spcAft>
            </a:pPr>
            <a:r>
              <a:rPr sz="1100" b="1" i="0">
                <a:solidFill>
                  <a:srgbClr val="000000"/>
                </a:solidFill>
              </a:rPr>
              <a:t>We need</a:t>
            </a:r>
            <a:r>
              <a:rPr sz="1100" b="0" i="0">
                <a:solidFill>
                  <a:srgbClr val="000000"/>
                </a:solidFill>
              </a:rPr>
              <a:t> skills captured in one place we can search, </a:t>
            </a:r>
            <a:r>
              <a:rPr sz="1100" b="1" i="0">
                <a:solidFill>
                  <a:srgbClr val="000000"/>
                </a:solidFill>
              </a:rPr>
              <a:t>so we can</a:t>
            </a:r>
            <a:r>
              <a:rPr sz="1100" b="0" i="0">
                <a:solidFill>
                  <a:srgbClr val="000000"/>
                </a:solidFill>
              </a:rPr>
              <a:t> find the right person for a role across practices. </a:t>
            </a:r>
            <a:r>
              <a:rPr sz="1100" b="1" i="0">
                <a:solidFill>
                  <a:srgbClr val="000000"/>
                </a:solidFill>
              </a:rPr>
              <a:t>The outcome:</a:t>
            </a:r>
            <a:r>
              <a:rPr sz="1100" b="0" i="0">
                <a:solidFill>
                  <a:srgbClr val="000000"/>
                </a:solidFill>
              </a:rPr>
              <a:t> one trusted view of skills instead of separate sources.</a:t>
            </a:r>
          </a:p>
          <a:p>
            <a:pPr algn="l">
              <a:spcAft>
                <a:spcPts val="500"/>
              </a:spcAft>
            </a:pPr>
            <a:r>
              <a:rPr sz="11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000" b="1" i="0">
                <a:solidFill>
                  <a:srgbClr val="000000"/>
                </a:solidFill>
              </a:rPr>
              <a:t>Pillar 3: One place to look</a:t>
            </a:r>
          </a:p>
          <a:p>
            <a:pPr algn="l">
              <a:spcAft>
                <a:spcPts val="500"/>
              </a:spcAft>
            </a:pPr>
            <a:r>
              <a:rPr sz="1000" b="1" i="0">
                <a:solidFill>
                  <a:srgbClr val="000000"/>
                </a:solidFill>
              </a:rPr>
              <a:t>We need</a:t>
            </a:r>
            <a:r>
              <a:rPr sz="1000" b="0" i="0">
                <a:solidFill>
                  <a:srgbClr val="000000"/>
                </a:solidFill>
              </a:rPr>
              <a:t> what we check today brought into one connected view, </a:t>
            </a:r>
            <a:r>
              <a:rPr sz="1000" b="1" i="0">
                <a:solidFill>
                  <a:srgbClr val="000000"/>
                </a:solidFill>
              </a:rPr>
              <a:t>so we can</a:t>
            </a:r>
            <a:r>
              <a:rPr sz="1000" b="0" i="0">
                <a:solidFill>
                  <a:srgbClr val="000000"/>
                </a:solidFill>
              </a:rPr>
              <a:t> move from insight to action with fewer places to look. </a:t>
            </a:r>
            <a:r>
              <a:rPr sz="1000" b="1" i="0">
                <a:solidFill>
                  <a:srgbClr val="000000"/>
                </a:solidFill>
              </a:rPr>
              <a:t>The outcome:</a:t>
            </a:r>
            <a:r>
              <a:rPr sz="1000" b="0" i="0">
                <a:solidFill>
                  <a:srgbClr val="000000"/>
                </a:solidFill>
              </a:rPr>
              <a:t> insight that points to the next move.</a:t>
            </a:r>
          </a:p>
          <a:p>
            <a:pPr algn="l">
              <a:spcAft>
                <a:spcPts val="500"/>
              </a:spcAft>
            </a:pPr>
            <a:r>
              <a:rPr sz="10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5" name="Rounded Rectangle 24"/>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8" name="Rounded Rectangle 27"/>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13" name="Rounded Rectangle 12"/>
          <p:cNvSpPr/>
          <p:nvPr/>
        </p:nvSpPr>
        <p:spPr>
          <a:xfrm>
            <a:off x="457200" y="177350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204325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1: Know who we have</a:t>
            </a:r>
          </a:p>
          <a:p>
            <a:pPr algn="l">
              <a:spcAft>
                <a:spcPts val="500"/>
              </a:spcAft>
            </a:pPr>
            <a:r>
              <a:rPr sz="950" b="0" i="0">
                <a:solidFill>
                  <a:srgbClr val="000000"/>
                </a:solidFill>
              </a:rPr>
              <a:t>We need skills captured in one place we can search, so we can find the right person for a role across practices.</a:t>
            </a:r>
          </a:p>
        </p:txBody>
      </p:sp>
      <p:sp>
        <p:nvSpPr>
          <p:cNvPr id="16" name="TextBox 15"/>
          <p:cNvSpPr txBox="1"/>
          <p:nvPr/>
        </p:nvSpPr>
        <p:spPr>
          <a:xfrm>
            <a:off x="5577840" y="182836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17" name="Rounded Rectangle 16"/>
          <p:cNvSpPr/>
          <p:nvPr/>
        </p:nvSpPr>
        <p:spPr>
          <a:xfrm>
            <a:off x="10012680" y="207068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Underway</a:t>
            </a:r>
          </a:p>
        </p:txBody>
      </p:sp>
      <p:sp>
        <p:nvSpPr>
          <p:cNvPr id="18" name="Rounded Rectangle 17"/>
          <p:cNvSpPr/>
          <p:nvPr/>
        </p:nvSpPr>
        <p:spPr>
          <a:xfrm>
            <a:off x="457200" y="270218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97193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75704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2: See what is coming</a:t>
            </a:r>
          </a:p>
          <a:p>
            <a:pPr algn="l">
              <a:spcAft>
                <a:spcPts val="500"/>
              </a:spcAft>
            </a:pPr>
            <a:r>
              <a:rPr sz="950" b="0" i="0">
                <a:solidFill>
                  <a:srgbClr val="000000"/>
                </a:solidFill>
              </a:rPr>
              <a:t>We need to review SF stages to see the pipeline earlier, so we can plan people around demand with RM pulled in earlier in the process, not at signature.</a:t>
            </a:r>
          </a:p>
        </p:txBody>
      </p:sp>
      <p:sp>
        <p:nvSpPr>
          <p:cNvPr id="21" name="TextBox 20"/>
          <p:cNvSpPr txBox="1"/>
          <p:nvPr/>
        </p:nvSpPr>
        <p:spPr>
          <a:xfrm>
            <a:off x="5577840" y="275704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2" name="TextBox 21"/>
          <p:cNvSpPr txBox="1"/>
          <p:nvPr/>
        </p:nvSpPr>
        <p:spPr>
          <a:xfrm>
            <a:off x="10012680" y="2757048"/>
            <a:ext cx="1600200" cy="77724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Exploring: Smart Bench</a:t>
            </a:r>
          </a:p>
        </p:txBody>
      </p:sp>
      <p:sp>
        <p:nvSpPr>
          <p:cNvPr id="23" name="Rounded Rectangle 22"/>
          <p:cNvSpPr/>
          <p:nvPr/>
        </p:nvSpPr>
        <p:spPr>
          <a:xfrm>
            <a:off x="457200" y="3630864"/>
            <a:ext cx="11277600" cy="86868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900612"/>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685728"/>
            <a:ext cx="4206240" cy="777240"/>
          </a:xfrm>
          <a:prstGeom prst="rect">
            <a:avLst/>
          </a:prstGeom>
          <a:noFill/>
        </p:spPr>
        <p:txBody>
          <a:bodyPr wrap="square" lIns="0" rIns="0" tIns="0" bIns="0" anchor="ctr">
            <a:spAutoFit/>
          </a:bodyPr>
          <a:lstStyle/>
          <a:p>
            <a:pPr algn="l">
              <a:spcBef>
                <a:spcPts val="400"/>
              </a:spcBef>
              <a:spcAft>
                <a:spcPts val="200"/>
              </a:spcAft>
            </a:pPr>
            <a:r>
              <a:rPr sz="950" b="1" i="0">
                <a:solidFill>
                  <a:srgbClr val="000000"/>
                </a:solidFill>
              </a:rPr>
              <a:t>Pillar 3: One place to look</a:t>
            </a:r>
          </a:p>
          <a:p>
            <a:pPr algn="l">
              <a:spcAft>
                <a:spcPts val="500"/>
              </a:spcAft>
            </a:pPr>
            <a:r>
              <a:rPr sz="950" b="0" i="0">
                <a:solidFill>
                  <a:srgbClr val="000000"/>
                </a:solidFill>
              </a:rPr>
              <a:t>We need what we check today brought into one connected view, so we can move from insight to action with fewer places to look.</a:t>
            </a:r>
          </a:p>
        </p:txBody>
      </p:sp>
      <p:sp>
        <p:nvSpPr>
          <p:cNvPr id="26" name="TextBox 25"/>
          <p:cNvSpPr txBox="1"/>
          <p:nvPr/>
        </p:nvSpPr>
        <p:spPr>
          <a:xfrm>
            <a:off x="5577840" y="3685728"/>
            <a:ext cx="4206240" cy="777240"/>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7" name="TextBox 26"/>
          <p:cNvSpPr txBox="1"/>
          <p:nvPr/>
        </p:nvSpPr>
        <p:spPr>
          <a:xfrm>
            <a:off x="10012680" y="3685728"/>
            <a:ext cx="1600200" cy="777240"/>
          </a:xfrm>
          <a:prstGeom prst="rect">
            <a:avLst/>
          </a:prstGeom>
          <a:noFill/>
        </p:spPr>
        <p:txBody>
          <a:bodyPr wrap="square" lIns="0" rIns="0" tIns="0" bIns="0" anchor="ctr">
            <a:spAutoFit/>
          </a:bodyPr>
          <a:lstStyle/>
          <a:p>
            <a:pPr algn="l">
              <a:spcBef>
                <a:spcPts val="400"/>
              </a:spcBef>
              <a:spcAft>
                <a:spcPts val="500"/>
              </a:spcAft>
            </a:pPr>
            <a:r>
              <a:rPr sz="1000" b="1" i="0">
                <a:solidFill>
                  <a:srgbClr val="000000"/>
                </a:solidFill>
              </a:rPr>
              <a:t>Being built: Romulus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Extentia's Organic Revenue</a:t>
            </a:r>
          </a:p>
          <a:p>
            <a:pPr algn="l">
              <a:spcAft>
                <a:spcPts val="500"/>
              </a:spcAft>
            </a:pPr>
            <a:r>
              <a:rPr sz="115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4" name="Rounded Rectangle 23"/>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Alias Creation</a:t>
            </a:r>
          </a:p>
          <a:p>
            <a:pPr algn="l">
              <a:spcAft>
                <a:spcPts val="500"/>
              </a:spcAft>
            </a:pPr>
            <a:r>
              <a:rPr sz="1150" b="1" i="0">
                <a:solidFill>
                  <a:srgbClr val="000000"/>
                </a:solidFill>
              </a:rPr>
              <a:t>DDM_Opportunity@merkle.com</a:t>
            </a:r>
            <a:r>
              <a:rPr sz="1150" b="0" i="0">
                <a:solidFill>
                  <a:srgbClr val="000000"/>
                </a:solidFill>
              </a:rPr>
              <a:t> and </a:t>
            </a:r>
            <a:r>
              <a:rPr sz="1150" b="1" i="0">
                <a:solidFill>
                  <a:srgbClr val="000000"/>
                </a:solidFill>
              </a:rPr>
              <a:t>DBT_Opportunity@merkle.com</a:t>
            </a:r>
            <a:r>
              <a:rPr sz="115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050" b="1" i="0">
                <a:solidFill>
                  <a:srgbClr val="000000"/>
                </a:solidFill>
              </a:rPr>
              <a:t>Adoption</a:t>
            </a:r>
          </a:p>
          <a:p>
            <a:pPr algn="l" marL="171450" indent="-171450">
              <a:spcAft>
                <a:spcPts val="500"/>
              </a:spcAft>
              <a:buFont typeface="Arial"/>
              <a:buChar char="•"/>
            </a:pPr>
            <a:r>
              <a:rPr sz="1050" b="0" i="0">
                <a:solidFill>
                  <a:srgbClr val="000000"/>
                </a:solidFill>
              </a:rPr>
              <a:t>C&amp;C has been informed of the alias and process</a:t>
            </a:r>
          </a:p>
          <a:p>
            <a:pPr algn="l" marL="171450" indent="-171450">
              <a:spcAft>
                <a:spcPts val="500"/>
              </a:spcAft>
              <a:buFont typeface="Arial"/>
              <a:buChar char="•"/>
            </a:pPr>
            <a:r>
              <a:rPr sz="105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Leadership Ask</a:t>
            </a:r>
          </a:p>
          <a:p>
            <a:pPr algn="l" marL="171450" indent="-171450">
              <a:spcAft>
                <a:spcPts val="500"/>
              </a:spcAft>
              <a:buFont typeface="Arial"/>
              <a:buChar char="•"/>
            </a:pPr>
            <a:r>
              <a:rPr sz="115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1150" b="1" i="0">
                <a:solidFill>
                  <a:srgbClr val="000000"/>
                </a:solidFill>
              </a:rPr>
              <a:t>RACI Updates</a:t>
            </a:r>
          </a:p>
          <a:p>
            <a:pPr algn="l">
              <a:spcAft>
                <a:spcPts val="500"/>
              </a:spcAft>
            </a:pPr>
            <a:r>
              <a:rPr sz="115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544" name="Rounded Rectangle 543"/>
          <p:cNvSpPr/>
          <p:nvPr/>
        </p:nvSpPr>
        <p:spPr>
          <a:xfrm>
            <a:off x="2281645" y="5917904"/>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547" name="Rounded Rectangle 546"/>
          <p:cNvSpPr/>
          <p:nvPr/>
        </p:nvSpPr>
        <p:spPr>
          <a:xfrm>
            <a:off x="7929260" y="5917904"/>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9" name="TextBox 528"/>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530" name="TextBox 529"/>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531" name="TextBox 530"/>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532" name="TextBox 531"/>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533" name="TextBox 532"/>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stories</a:t>
            </a:r>
          </a:p>
        </p:txBody>
      </p:sp>
      <p:sp>
        <p:nvSpPr>
          <p:cNvPr id="534" name="Rounded Rectangle 533"/>
          <p:cNvSpPr/>
          <p:nvPr/>
        </p:nvSpPr>
        <p:spPr>
          <a:xfrm>
            <a:off x="457200" y="177350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35" name="Oval 534"/>
          <p:cNvSpPr/>
          <p:nvPr/>
        </p:nvSpPr>
        <p:spPr>
          <a:xfrm>
            <a:off x="640080" y="202012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536" name="TextBox 535"/>
          <p:cNvSpPr txBox="1"/>
          <p:nvPr/>
        </p:nvSpPr>
        <p:spPr>
          <a:xfrm>
            <a:off x="1115568" y="182836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Alias Creation</a:t>
            </a:r>
          </a:p>
        </p:txBody>
      </p:sp>
      <p:sp>
        <p:nvSpPr>
          <p:cNvPr id="537" name="TextBox 536"/>
          <p:cNvSpPr txBox="1"/>
          <p:nvPr/>
        </p:nvSpPr>
        <p:spPr>
          <a:xfrm>
            <a:off x="5577840" y="182836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38" name="Rounded Rectangle 537"/>
          <p:cNvSpPr/>
          <p:nvPr/>
        </p:nvSpPr>
        <p:spPr>
          <a:xfrm>
            <a:off x="10012680" y="204756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39" name="Rounded Rectangle 538"/>
          <p:cNvSpPr/>
          <p:nvPr/>
        </p:nvSpPr>
        <p:spPr>
          <a:xfrm>
            <a:off x="457200" y="2655939"/>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0" name="Oval 539"/>
          <p:cNvSpPr/>
          <p:nvPr/>
        </p:nvSpPr>
        <p:spPr>
          <a:xfrm>
            <a:off x="640080" y="2902564"/>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541" name="TextBox 540"/>
          <p:cNvSpPr txBox="1"/>
          <p:nvPr/>
        </p:nvSpPr>
        <p:spPr>
          <a:xfrm>
            <a:off x="1115568" y="2710803"/>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Adoption</a:t>
            </a:r>
          </a:p>
        </p:txBody>
      </p:sp>
      <p:sp>
        <p:nvSpPr>
          <p:cNvPr id="542" name="TextBox 541"/>
          <p:cNvSpPr txBox="1"/>
          <p:nvPr/>
        </p:nvSpPr>
        <p:spPr>
          <a:xfrm>
            <a:off x="5577840" y="2710803"/>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43" name="Rounded Rectangle 542"/>
          <p:cNvSpPr/>
          <p:nvPr/>
        </p:nvSpPr>
        <p:spPr>
          <a:xfrm>
            <a:off x="10012680" y="2929996"/>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4" name="Rounded Rectangle 543"/>
          <p:cNvSpPr/>
          <p:nvPr/>
        </p:nvSpPr>
        <p:spPr>
          <a:xfrm>
            <a:off x="457200" y="353837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45" name="Oval 544"/>
          <p:cNvSpPr/>
          <p:nvPr/>
        </p:nvSpPr>
        <p:spPr>
          <a:xfrm>
            <a:off x="640080" y="378499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546" name="TextBox 545"/>
          <p:cNvSpPr txBox="1"/>
          <p:nvPr/>
        </p:nvSpPr>
        <p:spPr>
          <a:xfrm>
            <a:off x="1115568" y="359323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Leadership Ask</a:t>
            </a:r>
          </a:p>
        </p:txBody>
      </p:sp>
      <p:sp>
        <p:nvSpPr>
          <p:cNvPr id="547" name="TextBox 546"/>
          <p:cNvSpPr txBox="1"/>
          <p:nvPr/>
        </p:nvSpPr>
        <p:spPr>
          <a:xfrm>
            <a:off x="5577840" y="359323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48" name="Rounded Rectangle 547"/>
          <p:cNvSpPr/>
          <p:nvPr/>
        </p:nvSpPr>
        <p:spPr>
          <a:xfrm>
            <a:off x="10012680" y="381243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49" name="Rounded Rectangle 548"/>
          <p:cNvSpPr/>
          <p:nvPr/>
        </p:nvSpPr>
        <p:spPr>
          <a:xfrm>
            <a:off x="457200" y="4420809"/>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0" name="Oval 549"/>
          <p:cNvSpPr/>
          <p:nvPr/>
        </p:nvSpPr>
        <p:spPr>
          <a:xfrm>
            <a:off x="640080" y="4667434"/>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551" name="TextBox 550"/>
          <p:cNvSpPr txBox="1"/>
          <p:nvPr/>
        </p:nvSpPr>
        <p:spPr>
          <a:xfrm>
            <a:off x="1115568" y="4475673"/>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SME Case Request in SF</a:t>
            </a:r>
          </a:p>
        </p:txBody>
      </p:sp>
      <p:sp>
        <p:nvSpPr>
          <p:cNvPr id="552" name="TextBox 551"/>
          <p:cNvSpPr txBox="1"/>
          <p:nvPr/>
        </p:nvSpPr>
        <p:spPr>
          <a:xfrm>
            <a:off x="5577840" y="4475673"/>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53" name="Rounded Rectangle 552"/>
          <p:cNvSpPr/>
          <p:nvPr/>
        </p:nvSpPr>
        <p:spPr>
          <a:xfrm>
            <a:off x="10012680" y="4694866"/>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554" name="Rounded Rectangle 553"/>
          <p:cNvSpPr/>
          <p:nvPr/>
        </p:nvSpPr>
        <p:spPr>
          <a:xfrm>
            <a:off x="457200" y="5303244"/>
            <a:ext cx="11277600" cy="822435"/>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555" name="Oval 554"/>
          <p:cNvSpPr/>
          <p:nvPr/>
        </p:nvSpPr>
        <p:spPr>
          <a:xfrm>
            <a:off x="640080" y="554986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556" name="TextBox 555"/>
          <p:cNvSpPr txBox="1"/>
          <p:nvPr/>
        </p:nvSpPr>
        <p:spPr>
          <a:xfrm>
            <a:off x="1115568" y="5358108"/>
            <a:ext cx="4206240" cy="730995"/>
          </a:xfrm>
          <a:prstGeom prst="rect">
            <a:avLst/>
          </a:prstGeom>
          <a:noFill/>
        </p:spPr>
        <p:txBody>
          <a:bodyPr wrap="square" lIns="0" rIns="0" tIns="0" bIns="0" anchor="ctr">
            <a:spAutoFit/>
          </a:bodyPr>
          <a:lstStyle/>
          <a:p>
            <a:pPr algn="l">
              <a:spcBef>
                <a:spcPts val="400"/>
              </a:spcBef>
              <a:spcAft>
                <a:spcPts val="200"/>
              </a:spcAft>
            </a:pPr>
            <a:r>
              <a:rPr sz="1100" b="1" i="0">
                <a:solidFill>
                  <a:srgbClr val="000000"/>
                </a:solidFill>
              </a:rPr>
              <a:t>RACI Updates</a:t>
            </a:r>
          </a:p>
        </p:txBody>
      </p:sp>
      <p:sp>
        <p:nvSpPr>
          <p:cNvPr id="557" name="TextBox 556"/>
          <p:cNvSpPr txBox="1"/>
          <p:nvPr/>
        </p:nvSpPr>
        <p:spPr>
          <a:xfrm>
            <a:off x="5577840" y="5358108"/>
            <a:ext cx="4206240" cy="730995"/>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558" name="Rounded Rectangle 557"/>
          <p:cNvSpPr/>
          <p:nvPr/>
        </p:nvSpPr>
        <p:spPr>
          <a:xfrm>
            <a:off x="10012680" y="557730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372904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8280080"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5" name="Rounded Rectangle 24"/>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8" name="Rounded Rectangle 27"/>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1">
                <a:solidFill>
                  <a:srgbClr val="D6D6DF"/>
                </a:solidFill>
              </a:rPr>
              <a:t>[Names]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PHASE 2 · Execution on Changes: 11/2 – 12/24</a:t>
            </a:r>
          </a:p>
          <a:p>
            <a:pPr algn="l">
              <a:spcBef>
                <a:spcPts val="400"/>
              </a:spcBef>
              <a:spcAft>
                <a:spcPts val="500"/>
              </a:spcAft>
            </a:pPr>
            <a:r>
              <a:rPr sz="1150" b="1" i="0">
                <a:solidFill>
                  <a:srgbClr val="000000"/>
                </a:solidFill>
              </a:rPr>
              <a:t>Open Reqs</a:t>
            </a:r>
          </a:p>
          <a:p>
            <a:pPr algn="l">
              <a:spcAft>
                <a:spcPts val="500"/>
              </a:spcAft>
            </a:pPr>
            <a:r>
              <a:rPr sz="11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1150" b="1" i="0">
                <a:solidFill>
                  <a:srgbClr val="000000"/>
                </a:solidFill>
              </a:rPr>
              <a:t>Create Transition Plan</a:t>
            </a:r>
          </a:p>
          <a:p>
            <a:pPr algn="l">
              <a:spcAft>
                <a:spcPts val="500"/>
              </a:spcAft>
            </a:pPr>
            <a:r>
              <a:rPr sz="11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0" name="Rounded Rectangle 19"/>
          <p:cNvSpPr/>
          <p:nvPr/>
        </p:nvSpPr>
        <p:spPr>
          <a:xfrm>
            <a:off x="2281645" y="5791872"/>
            <a:ext cx="1531837"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
        <p:nvSpPr>
          <p:cNvPr id="23" name="Rounded Rectangle 22"/>
          <p:cNvSpPr/>
          <p:nvPr/>
        </p:nvSpPr>
        <p:spPr>
          <a:xfrm>
            <a:off x="7929260" y="5791872"/>
            <a:ext cx="1465652" cy="310896"/>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10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stories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1115568"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Story</a:t>
            </a:r>
          </a:p>
        </p:txBody>
      </p:sp>
      <p:sp>
        <p:nvSpPr>
          <p:cNvPr id="9" name="TextBox 8"/>
          <p:cNvSpPr txBox="1"/>
          <p:nvPr/>
        </p:nvSpPr>
        <p:spPr>
          <a:xfrm>
            <a:off x="5577840" y="1170000"/>
            <a:ext cx="420624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How we measure success</a:t>
            </a:r>
          </a:p>
        </p:txBody>
      </p:sp>
      <p:sp>
        <p:nvSpPr>
          <p:cNvPr id="10" name="TextBox 9"/>
          <p:cNvSpPr txBox="1"/>
          <p:nvPr/>
        </p:nvSpPr>
        <p:spPr>
          <a:xfrm>
            <a:off x="10012680" y="1170000"/>
            <a:ext cx="1600200" cy="1828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Status</a:t>
            </a:r>
          </a:p>
        </p:txBody>
      </p:sp>
      <p:sp>
        <p:nvSpPr>
          <p:cNvPr id="11" name="TextBox 10"/>
          <p:cNvSpPr txBox="1"/>
          <p:nvPr/>
        </p:nvSpPr>
        <p:spPr>
          <a:xfrm>
            <a:off x="5577840" y="1462608"/>
            <a:ext cx="6156960" cy="228600"/>
          </a:xfrm>
          <a:prstGeom prst="rect">
            <a:avLst/>
          </a:prstGeom>
          <a:noFill/>
        </p:spPr>
        <p:txBody>
          <a:bodyPr wrap="square" lIns="0" rIns="0" tIns="0" bIns="0" anchor="t">
            <a:spAutoFit/>
          </a:bodyPr>
          <a:lstStyle/>
          <a:p>
            <a:pPr algn="l">
              <a:spcAft>
                <a:spcPts val="500"/>
              </a:spcAft>
            </a:pPr>
            <a:r>
              <a:rPr sz="1000" b="0" i="0">
                <a:solidFill>
                  <a:srgbClr val="000000"/>
                </a:solidFill>
              </a:rPr>
              <a:t>Status words to use: Not started · In progress · Done · On hold</a:t>
            </a:r>
          </a:p>
        </p:txBody>
      </p:sp>
      <p:sp>
        <p:nvSpPr>
          <p:cNvPr id="12" name="TextBox 11"/>
          <p:cNvSpPr txBox="1"/>
          <p:nvPr/>
        </p:nvSpPr>
        <p:spPr>
          <a:xfrm>
            <a:off x="457200" y="1444320"/>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The MVP</a:t>
            </a:r>
          </a:p>
        </p:txBody>
      </p:sp>
      <p:sp>
        <p:nvSpPr>
          <p:cNvPr id="13" name="Rounded Rectangle 12"/>
          <p:cNvSpPr/>
          <p:nvPr/>
        </p:nvSpPr>
        <p:spPr>
          <a:xfrm>
            <a:off x="457200" y="1773504"/>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640080" y="1987211"/>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5" name="TextBox 14"/>
          <p:cNvSpPr txBox="1"/>
          <p:nvPr/>
        </p:nvSpPr>
        <p:spPr>
          <a:xfrm>
            <a:off x="1115568" y="1828368"/>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16" name="TextBox 15"/>
          <p:cNvSpPr txBox="1"/>
          <p:nvPr/>
        </p:nvSpPr>
        <p:spPr>
          <a:xfrm>
            <a:off x="5577840" y="1828368"/>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17" name="Rounded Rectangle 16"/>
          <p:cNvSpPr/>
          <p:nvPr/>
        </p:nvSpPr>
        <p:spPr>
          <a:xfrm>
            <a:off x="10012680" y="2014643"/>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18" name="Rounded Rectangle 17"/>
          <p:cNvSpPr/>
          <p:nvPr/>
        </p:nvSpPr>
        <p:spPr>
          <a:xfrm>
            <a:off x="457200" y="259010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Oval 18"/>
          <p:cNvSpPr/>
          <p:nvPr/>
        </p:nvSpPr>
        <p:spPr>
          <a:xfrm>
            <a:off x="640080" y="280380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20" name="TextBox 19"/>
          <p:cNvSpPr txBox="1"/>
          <p:nvPr/>
        </p:nvSpPr>
        <p:spPr>
          <a:xfrm>
            <a:off x="1115568" y="264496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1" name="TextBox 20"/>
          <p:cNvSpPr txBox="1"/>
          <p:nvPr/>
        </p:nvSpPr>
        <p:spPr>
          <a:xfrm>
            <a:off x="5577840" y="264496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2" name="Rounded Rectangle 21"/>
          <p:cNvSpPr/>
          <p:nvPr/>
        </p:nvSpPr>
        <p:spPr>
          <a:xfrm>
            <a:off x="10012680" y="283124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3" name="Rounded Rectangle 22"/>
          <p:cNvSpPr/>
          <p:nvPr/>
        </p:nvSpPr>
        <p:spPr>
          <a:xfrm>
            <a:off x="457200" y="340670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Oval 23"/>
          <p:cNvSpPr/>
          <p:nvPr/>
        </p:nvSpPr>
        <p:spPr>
          <a:xfrm>
            <a:off x="640080" y="362040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25" name="TextBox 24"/>
          <p:cNvSpPr txBox="1"/>
          <p:nvPr/>
        </p:nvSpPr>
        <p:spPr>
          <a:xfrm>
            <a:off x="1115568" y="346156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26" name="TextBox 25"/>
          <p:cNvSpPr txBox="1"/>
          <p:nvPr/>
        </p:nvSpPr>
        <p:spPr>
          <a:xfrm>
            <a:off x="5577840" y="346156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27" name="Rounded Rectangle 26"/>
          <p:cNvSpPr/>
          <p:nvPr/>
        </p:nvSpPr>
        <p:spPr>
          <a:xfrm>
            <a:off x="10012680" y="364783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28" name="TextBox 27"/>
          <p:cNvSpPr txBox="1"/>
          <p:nvPr/>
        </p:nvSpPr>
        <p:spPr>
          <a:xfrm>
            <a:off x="457200" y="4243298"/>
            <a:ext cx="6400800" cy="274320"/>
          </a:xfrm>
          <a:prstGeom prst="rect">
            <a:avLst/>
          </a:prstGeom>
          <a:noFill/>
        </p:spPr>
        <p:txBody>
          <a:bodyPr wrap="square" lIns="0" rIns="0" tIns="0" bIns="0" anchor="t">
            <a:spAutoFit/>
          </a:bodyPr>
          <a:lstStyle/>
          <a:p>
            <a:pPr algn="l">
              <a:spcAft>
                <a:spcPts val="600"/>
              </a:spcAft>
            </a:pPr>
            <a:r>
              <a:rPr sz="1100" b="1" i="0" cap="all" spc="60">
                <a:solidFill>
                  <a:srgbClr val="000000"/>
                </a:solidFill>
              </a:rPr>
              <a:t>After the MVP</a:t>
            </a:r>
          </a:p>
        </p:txBody>
      </p:sp>
      <p:sp>
        <p:nvSpPr>
          <p:cNvPr id="29" name="Rounded Rectangle 28"/>
          <p:cNvSpPr/>
          <p:nvPr/>
        </p:nvSpPr>
        <p:spPr>
          <a:xfrm>
            <a:off x="457200" y="4572482"/>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0" name="Oval 29"/>
          <p:cNvSpPr/>
          <p:nvPr/>
        </p:nvSpPr>
        <p:spPr>
          <a:xfrm>
            <a:off x="640080" y="4786189"/>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31" name="TextBox 30"/>
          <p:cNvSpPr txBox="1"/>
          <p:nvPr/>
        </p:nvSpPr>
        <p:spPr>
          <a:xfrm>
            <a:off x="1115568" y="4627346"/>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2" name="TextBox 31"/>
          <p:cNvSpPr txBox="1"/>
          <p:nvPr/>
        </p:nvSpPr>
        <p:spPr>
          <a:xfrm>
            <a:off x="5577840" y="4627346"/>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3" name="Rounded Rectangle 32"/>
          <p:cNvSpPr/>
          <p:nvPr/>
        </p:nvSpPr>
        <p:spPr>
          <a:xfrm>
            <a:off x="10012680" y="4813621"/>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
        <p:nvSpPr>
          <p:cNvPr id="34" name="Rounded Rectangle 33"/>
          <p:cNvSpPr/>
          <p:nvPr/>
        </p:nvSpPr>
        <p:spPr>
          <a:xfrm>
            <a:off x="457200" y="5389080"/>
            <a:ext cx="11277600" cy="75659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Oval 34"/>
          <p:cNvSpPr/>
          <p:nvPr/>
        </p:nvSpPr>
        <p:spPr>
          <a:xfrm>
            <a:off x="640080" y="5602787"/>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5</a:t>
            </a:r>
          </a:p>
        </p:txBody>
      </p:sp>
      <p:sp>
        <p:nvSpPr>
          <p:cNvPr id="36" name="TextBox 35"/>
          <p:cNvSpPr txBox="1"/>
          <p:nvPr/>
        </p:nvSpPr>
        <p:spPr>
          <a:xfrm>
            <a:off x="1115568" y="5443944"/>
            <a:ext cx="4206240" cy="665158"/>
          </a:xfrm>
          <a:prstGeom prst="rect">
            <a:avLst/>
          </a:prstGeom>
          <a:noFill/>
        </p:spPr>
        <p:txBody>
          <a:bodyPr wrap="square" lIns="0" rIns="0" tIns="0" bIns="0" anchor="ctr">
            <a:spAutoFit/>
          </a:bodyPr>
          <a:lstStyle/>
          <a:p>
            <a:pPr algn="l">
              <a:spcAft>
                <a:spcPts val="500"/>
              </a:spcAft>
            </a:pPr>
            <a:r>
              <a:rPr sz="1100" b="0" i="1">
                <a:solidFill>
                  <a:srgbClr val="60607D"/>
                </a:solidFill>
              </a:rPr>
              <a:t>[Short story name]</a:t>
            </a:r>
          </a:p>
          <a:p>
            <a:pPr algn="l">
              <a:spcAft>
                <a:spcPts val="500"/>
              </a:spcAft>
            </a:pPr>
            <a:r>
              <a:rPr sz="1100" b="0" i="1">
                <a:solidFill>
                  <a:srgbClr val="60607D"/>
                </a:solidFill>
              </a:rPr>
              <a:t>[A few words on what it is. Optional.]</a:t>
            </a:r>
          </a:p>
        </p:txBody>
      </p:sp>
      <p:sp>
        <p:nvSpPr>
          <p:cNvPr id="37" name="TextBox 36"/>
          <p:cNvSpPr txBox="1"/>
          <p:nvPr/>
        </p:nvSpPr>
        <p:spPr>
          <a:xfrm>
            <a:off x="5577840" y="5443944"/>
            <a:ext cx="4206240" cy="665158"/>
          </a:xfrm>
          <a:prstGeom prst="rect">
            <a:avLst/>
          </a:prstGeom>
          <a:noFill/>
        </p:spPr>
        <p:txBody>
          <a:bodyPr wrap="square" lIns="0" rIns="0" tIns="0" bIns="0" anchor="ctr">
            <a:spAutoFit/>
          </a:bodyPr>
          <a:lstStyle/>
          <a:p>
            <a:pPr algn="l">
              <a:spcAft>
                <a:spcPts val="500"/>
              </a:spcAft>
            </a:pPr>
            <a:r>
              <a:rPr sz="1050" b="0" i="1">
                <a:solidFill>
                  <a:srgbClr val="60607D"/>
                </a:solidFill>
              </a:rPr>
              <a:t>[How will we know it worked? A number or a clear yes or no.]</a:t>
            </a:r>
          </a:p>
        </p:txBody>
      </p:sp>
      <p:sp>
        <p:nvSpPr>
          <p:cNvPr id="38" name="Rounded Rectangle 37"/>
          <p:cNvSpPr/>
          <p:nvPr/>
        </p:nvSpPr>
        <p:spPr>
          <a:xfrm>
            <a:off x="10012680" y="5630219"/>
            <a:ext cx="1188720" cy="274320"/>
          </a:xfrm>
          <a:prstGeom prst="roundRect">
            <a:avLst>
              <a:gd name="adj" fmla="val 50000"/>
            </a:avLst>
          </a:prstGeom>
          <a:solidFill>
            <a:srgbClr val="FFFFFF"/>
          </a:solidFill>
          <a:ln w="12700">
            <a:solidFill>
              <a:srgbClr val="60607D"/>
            </a:solidFill>
          </a:ln>
        </p:spPr>
        <p:txBody>
          <a:bodyPr rtlCol="0" anchor="ctr" lIns="0" rIns="0" tIns="0" bIns="0"/>
          <a:lstStyle/>
          <a:p>
            <a:pPr algn="ctr"/>
            <a:r>
              <a:rPr sz="800" b="1" i="1" cap="all" spc="60">
                <a:solidFill>
                  <a:srgbClr val="60607D"/>
                </a:solidFill>
              </a:rPr>
              <a:t>[Pick a status]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1 · COLUMNS · TEMPLATE · SUPPORTING DETAIL</a:t>
            </a:r>
          </a:p>
        </p:txBody>
      </p:sp>
      <p:sp>
        <p:nvSpPr>
          <p:cNvPr id="7" name="Rounded Rectangle 6"/>
          <p:cNvSpPr/>
          <p:nvPr/>
        </p:nvSpPr>
        <p:spPr>
          <a:xfrm>
            <a:off x="4572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The stories</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Each story gets a short name, how we will know it worked, and a status (Not started, In progress, Done, On hold). 1 to 5 stories.</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story is one thing we can finish. This is how we measure progress.</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