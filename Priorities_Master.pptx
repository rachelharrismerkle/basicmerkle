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11" r:id="rId86"/>
    <p:sldId id="262" r:id="rId38"/>
    <p:sldId id="2147483647" r:id="rId19"/>
    <p:sldId id="256" r:id="rId18"/>
    <p:sldId id="265" r:id="rId17"/>
    <p:sldId id="266" r:id="rId41"/>
    <p:sldId id="267" r:id="rId42"/>
    <p:sldId id="257" r:id="rId20"/>
    <p:sldId id="263" r:id="rId39"/>
    <p:sldId id="258" r:id="rId21"/>
    <p:sldId id="268" r:id="rId43"/>
    <p:sldId id="269" r:id="rId44"/>
    <p:sldId id="270" r:id="rId45"/>
    <p:sldId id="259" r:id="rId22"/>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64" r:id="rId40"/>
    <p:sldId id="260" r:id="rId23"/>
    <p:sldId id="292" r:id="rId67"/>
    <p:sldId id="293" r:id="rId68"/>
    <p:sldId id="294" r:id="rId69"/>
    <p:sldId id="261" r:id="rId24"/>
    <p:sldId id="295" r:id="rId70"/>
    <p:sldId id="296"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 id="310" r:id="rId85"/>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BCC460F-03F9-4149-9072-5AAB42086FA4}">
          <p14:sldIdLst>
            <p14:sldId id="256"/>
            <p14:sldId id="265"/>
          </p14:sldIdLst>
        </p14:section>
        <p14:section name="Deal to Delivery" id="{7478C7A6-E225-4B29-AF56-AF00598241E8}">
          <p14:sldIdLst>
            <p14:sldId id="2147483647"/>
            <p14:sldId id="257"/>
          </p14:sldIdLst>
        </p14:section>
        <p14:section name="Accountability Framework" id="{85FAACF2-C17B-496F-BC74-01D34320B823}">
          <p14:sldIdLst>
            <p14:sldId id="258"/>
            <p14:sldId id="259"/>
          </p14:sldIdLst>
        </p14:section>
        <p14:section name="Intake Updates" id="{E3DA7D8E-CA10-4E59-91F0-08D4610CE2E0}">
          <p14:sldIdLst>
            <p14:sldId id="260"/>
            <p14:sldId id="261"/>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Chris McComas, Deana Derocha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McComas, Deana, John 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1" i="0">
                <a:solidFill>
                  <a:srgbClr val="FFFFFF"/>
                </a:solidFill>
              </a:rPr>
              <a:t>Why this one, first:</a:t>
            </a:r>
            <a:r>
              <a:rPr sz="1600" b="0" i="0">
                <a:solidFill>
                  <a:srgbClr val="FFFFFF"/>
                </a:solidFill>
              </a:rPr>
              <a:t> 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What's happening today</a:t>
            </a:r>
          </a:p>
          <a:p>
            <a:pPr algn="l">
              <a:spcAft>
                <a:spcPts val="500"/>
              </a:spcAft>
            </a:pPr>
            <a:r>
              <a:rPr sz="1250" b="0" i="0">
                <a:solidFill>
                  <a:srgbClr val="000000"/>
                </a:solidFill>
              </a:rPr>
              <a:t>There is no standardized, named set of delivery models, from which an individual or set of models is required to be declared at the point of sale, carried into contracting, enforced at staffing and used for delivery.</a:t>
            </a:r>
          </a:p>
        </p:txBody>
      </p:sp>
      <p:sp>
        <p:nvSpPr>
          <p:cNvPr id="511" name="Rounded Rectangle 510"/>
          <p:cNvSpPr/>
          <p:nvPr/>
        </p:nvSpPr>
        <p:spPr>
          <a:xfrm>
            <a:off x="42664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As a result</a:t>
            </a:r>
          </a:p>
          <a:p>
            <a:pPr algn="l">
              <a:spcAft>
                <a:spcPts val="500"/>
              </a:spcAft>
            </a:pPr>
            <a:r>
              <a:rPr sz="125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p:txBody>
      </p:sp>
      <p:sp>
        <p:nvSpPr>
          <p:cNvPr id="512" name="Rounded Rectangle 511"/>
          <p:cNvSpPr/>
          <p:nvPr/>
        </p:nvSpPr>
        <p:spPr>
          <a:xfrm>
            <a:off x="80756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And then</a:t>
            </a:r>
          </a:p>
          <a:p>
            <a:pPr algn="l">
              <a:spcAft>
                <a:spcPts val="500"/>
              </a:spcAft>
            </a:pPr>
            <a:r>
              <a:rPr sz="125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3" name="TextBox 512"/>
          <p:cNvSpPr txBox="1"/>
          <p:nvPr/>
        </p:nvSpPr>
        <p:spPr>
          <a:xfrm>
            <a:off x="457200" y="5170000"/>
            <a:ext cx="27432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So we need</a:t>
            </a:r>
          </a:p>
        </p:txBody>
      </p:sp>
      <p:sp>
        <p:nvSpPr>
          <p:cNvPr id="514" name="Rounded Rectangle 513"/>
          <p:cNvSpPr/>
          <p:nvPr/>
        </p:nvSpPr>
        <p:spPr>
          <a:xfrm>
            <a:off x="4572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Bef>
                <a:spcPts val="400"/>
              </a:spcBef>
              <a:spcAft>
                <a:spcPts val="500"/>
              </a:spcAft>
            </a:pPr>
            <a:r>
              <a:rPr sz="1250" b="1" i="0">
                <a:solidFill>
                  <a:srgbClr val="000000"/>
                </a:solidFill>
              </a:rPr>
              <a:t>We need a small set of authorized delivery models</a:t>
            </a:r>
          </a:p>
        </p:txBody>
      </p:sp>
      <p:sp>
        <p:nvSpPr>
          <p:cNvPr id="515" name="Rounded Rectangle 514"/>
          <p:cNvSpPr/>
          <p:nvPr/>
        </p:nvSpPr>
        <p:spPr>
          <a:xfrm>
            <a:off x="42664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Bef>
                <a:spcPts val="400"/>
              </a:spcBef>
              <a:spcAft>
                <a:spcPts val="500"/>
              </a:spcAft>
            </a:pPr>
            <a:r>
              <a:rPr sz="1250" b="1" i="0">
                <a:solidFill>
                  <a:srgbClr val="000000"/>
                </a:solidFill>
              </a:rPr>
              <a:t>That align approach, contract, and methodology standards</a:t>
            </a:r>
          </a:p>
        </p:txBody>
      </p:sp>
      <p:sp>
        <p:nvSpPr>
          <p:cNvPr id="516" name="Rounded Rectangle 515"/>
          <p:cNvSpPr/>
          <p:nvPr/>
        </p:nvSpPr>
        <p:spPr>
          <a:xfrm>
            <a:off x="80756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Bef>
                <a:spcPts val="400"/>
              </a:spcBef>
              <a:spcAft>
                <a:spcPts val="500"/>
              </a:spcAft>
            </a:pPr>
            <a:r>
              <a:rPr sz="1250" b="1" i="0">
                <a:solidFill>
                  <a:srgbClr val="000000"/>
                </a:solidFill>
              </a:rPr>
              <a:t>Allowing us to improve how we solution, estimate, and deliver</a:t>
            </a:r>
          </a:p>
        </p:txBody>
      </p:sp>
      <p:sp>
        <p:nvSpPr>
          <p:cNvPr id="517" name="TextBox 516"/>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slides 18 and 23 · Delivery Excellence slides 6 and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1" name="Rounded Rectangle 510"/>
          <p:cNvSpPr/>
          <p:nvPr/>
        </p:nvSpPr>
        <p:spPr>
          <a:xfrm>
            <a:off x="3301600" y="1828368"/>
            <a:ext cx="274440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Treat multi-track programs as portfolios of clearly defined tracks mapped to a model, not one label stretched over the whole account.</a:t>
            </a:r>
          </a:p>
          <a:p>
            <a:pPr algn="l">
              <a:spcAft>
                <a:spcPts val="500"/>
              </a:spcAft>
            </a:pPr>
            <a:r>
              <a:rPr sz="900" b="0" i="0">
                <a:solidFill>
                  <a:srgbClr val="000000"/>
                </a:solidFill>
              </a:rPr>
              <a:t>Program A:</a:t>
            </a:r>
          </a:p>
          <a:p>
            <a:pPr algn="l">
              <a:spcAft>
                <a:spcPts val="500"/>
              </a:spcAft>
            </a:pPr>
            <a:r>
              <a:rPr sz="900" b="0" i="0">
                <a:solidFill>
                  <a:srgbClr val="000000"/>
                </a:solidFill>
              </a:rPr>
              <a:t>Track A: Model 1 (backcasted platform build) +Track B: Model 3 (outcomes based page performance improvement )+</a:t>
            </a:r>
          </a:p>
          <a:p>
            <a:pPr algn="l">
              <a:spcAft>
                <a:spcPts val="500"/>
              </a:spcAft>
            </a:pPr>
            <a:r>
              <a:rPr sz="900" b="0" i="0">
                <a:solidFill>
                  <a:srgbClr val="000000"/>
                </a:solidFill>
              </a:rPr>
              <a:t>Track C: Model 2 (retainer - ops)</a:t>
            </a:r>
          </a:p>
        </p:txBody>
      </p:sp>
      <p:sp>
        <p:nvSpPr>
          <p:cNvPr id="512" name="Rounded Rectangle 511"/>
          <p:cNvSpPr/>
          <p:nvPr/>
        </p:nvSpPr>
        <p:spPr>
          <a:xfrm>
            <a:off x="6146000" y="1828368"/>
            <a:ext cx="274440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000" b="1" i="0">
                <a:solidFill>
                  <a:srgbClr val="000000"/>
                </a:solidFill>
              </a:rPr>
              <a:t>Require a kickoff certification.</a:t>
            </a:r>
          </a:p>
          <a:p>
            <a:pPr algn="l">
              <a:spcAft>
                <a:spcPts val="500"/>
              </a:spcAft>
            </a:pPr>
            <a:r>
              <a:rPr sz="10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3" name="Rounded Rectangle 512"/>
          <p:cNvSpPr/>
          <p:nvPr/>
        </p:nvSpPr>
        <p:spPr>
          <a:xfrm>
            <a:off x="8990400" y="1828368"/>
            <a:ext cx="274440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900" b="1" i="0">
                <a:solidFill>
                  <a:srgbClr val="000000"/>
                </a:solidFill>
              </a:rPr>
              <a:t>Build leading indicators per model.</a:t>
            </a:r>
          </a:p>
          <a:p>
            <a:pPr algn="l">
              <a:spcAft>
                <a:spcPts val="500"/>
              </a:spcAft>
            </a:pPr>
            <a:r>
              <a:rPr sz="900" b="0" i="0">
                <a:solidFill>
                  <a:srgbClr val="000000"/>
                </a:solidFill>
              </a:rPr>
              <a:t>Make drift visible in week 2 to 4 of a track instead of at the next executive review.</a:t>
            </a:r>
          </a:p>
          <a:p>
            <a:pPr algn="l">
              <a:spcAft>
                <a:spcPts val="500"/>
              </a:spcAft>
            </a:pPr>
            <a:r>
              <a:rPr sz="900" b="0" i="0">
                <a:solidFill>
                  <a:srgbClr val="000000"/>
                </a:solidFill>
              </a:rPr>
              <a:t>Each model gets 3 to 4 checkable signals (e.g., for Model 1: is there a backcasted plan and is the client tracking to gates; for Model 2: is velocity being reported against contracted throughput)</a:t>
            </a:r>
          </a:p>
        </p:txBody>
      </p:sp>
      <p:sp>
        <p:nvSpPr>
          <p:cNvPr id="514" name="Rectangle 513"/>
          <p:cNvSpPr/>
          <p:nvPr/>
        </p:nvSpPr>
        <p:spPr>
          <a:xfrm>
            <a:off x="1544960" y="414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05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05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05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050" b="1" i="0">
                <a:solidFill>
                  <a:srgbClr val="000000"/>
                </a:solidFill>
              </a:rPr>
              <a:t>Oct 23rd Shifting to Nov 6th</a:t>
            </a:r>
          </a:p>
          <a:p>
            <a:pPr algn="l">
              <a:spcAft>
                <a:spcPts val="500"/>
              </a:spcAft>
            </a:pPr>
            <a:r>
              <a:rPr sz="1050" b="0" i="0">
                <a:solidFill>
                  <a:srgbClr val="000000"/>
                </a:solidFill>
              </a:rPr>
              <a:t>Initial Models Well Defined</a:t>
            </a:r>
          </a:p>
          <a:p>
            <a:pPr algn="l">
              <a:spcAft>
                <a:spcPts val="400"/>
              </a:spcAft>
            </a:pPr>
            <a:r>
              <a:rPr sz="850" b="0" i="1">
                <a:solidFill>
                  <a:srgbClr val="60607D"/>
                </a:solidFill>
              </a:rPr>
              <a:t>Will include iterative reviews with department leads and defined SMEs</a:t>
            </a:r>
          </a:p>
        </p:txBody>
      </p:sp>
      <p:sp>
        <p:nvSpPr>
          <p:cNvPr id="521" name="Oval 520"/>
          <p:cNvSpPr/>
          <p:nvPr/>
        </p:nvSpPr>
        <p:spPr>
          <a:xfrm>
            <a:off x="8280080" y="405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750" b="1" i="0">
                <a:solidFill>
                  <a:srgbClr val="000000"/>
                </a:solidFill>
              </a:rPr>
              <a:t>Nov 13th</a:t>
            </a:r>
          </a:p>
          <a:p>
            <a:pPr algn="l">
              <a:spcAft>
                <a:spcPts val="500"/>
              </a:spcAft>
            </a:pPr>
            <a:r>
              <a:rPr sz="750" b="0" i="0">
                <a:solidFill>
                  <a:srgbClr val="000000"/>
                </a:solidFill>
              </a:rPr>
              <a:t>1st Batch of Models &amp; Program "Stack" Guidance</a:t>
            </a:r>
          </a:p>
          <a:p>
            <a:pPr algn="l">
              <a:spcAft>
                <a:spcPts val="400"/>
              </a:spcAft>
            </a:pPr>
            <a:r>
              <a:rPr sz="850" b="0" i="1">
                <a:solidFill>
                  <a:srgbClr val="60607D"/>
                </a:solidFill>
              </a:rPr>
              <a:t>This will be delivered in an agile manner getting quick guidance out in Q4 and iteratively fleshed out and evolved with feedback loops to drive improvements</a:t>
            </a:r>
          </a:p>
        </p:txBody>
      </p:sp>
      <p:sp>
        <p:nvSpPr>
          <p:cNvPr id="523" name="Oval 522"/>
          <p:cNvSpPr/>
          <p:nvPr/>
        </p:nvSpPr>
        <p:spPr>
          <a:xfrm>
            <a:off x="10555600" y="405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100" b="1" i="0">
                <a:solidFill>
                  <a:srgbClr val="000000"/>
                </a:solidFill>
              </a:rPr>
              <a:t>MVP done</a:t>
            </a:r>
          </a:p>
          <a:p>
            <a:pPr algn="l">
              <a:spcAft>
                <a:spcPts val="500"/>
              </a:spcAft>
            </a:pPr>
            <a:r>
              <a:rPr sz="1100" b="0" i="1">
                <a:solidFill>
                  <a:srgbClr val="60607D"/>
                </a:solidFill>
              </a:rPr>
              <a:t>[Date we are shooting for.]</a:t>
            </a:r>
          </a:p>
        </p:txBody>
      </p:sp>
      <p:sp>
        <p:nvSpPr>
          <p:cNvPr id="525" name="Rounded Rectangle 524"/>
          <p:cNvSpPr/>
          <p:nvPr/>
        </p:nvSpPr>
        <p:spPr>
          <a:xfrm>
            <a:off x="4572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61872"/>
            <a:ext cx="539060"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John</a:t>
            </a:r>
          </a:p>
        </p:txBody>
      </p:sp>
      <p:sp>
        <p:nvSpPr>
          <p:cNvPr id="527" name="Rounded Rectangle 526"/>
          <p:cNvSpPr/>
          <p:nvPr/>
        </p:nvSpPr>
        <p:spPr>
          <a:xfrm>
            <a:off x="1288868" y="5761872"/>
            <a:ext cx="605245"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Chris</a:t>
            </a:r>
          </a:p>
        </p:txBody>
      </p:sp>
      <p:sp>
        <p:nvSpPr>
          <p:cNvPr id="528" name="Rounded Rectangle 527"/>
          <p:cNvSpPr/>
          <p:nvPr/>
        </p:nvSpPr>
        <p:spPr>
          <a:xfrm>
            <a:off x="61710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61872"/>
            <a:ext cx="737616"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BU COOs</a:t>
            </a:r>
          </a:p>
        </p:txBody>
      </p:sp>
      <p:sp>
        <p:nvSpPr>
          <p:cNvPr id="530" name="Rounded Rectangle 529"/>
          <p:cNvSpPr/>
          <p:nvPr/>
        </p:nvSpPr>
        <p:spPr>
          <a:xfrm>
            <a:off x="7201224" y="5761872"/>
            <a:ext cx="1200912"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Delivery Leads</a:t>
            </a:r>
          </a:p>
        </p:txBody>
      </p:sp>
      <p:sp>
        <p:nvSpPr>
          <p:cNvPr id="531" name="Rounded Rectangle 530"/>
          <p:cNvSpPr/>
          <p:nvPr/>
        </p:nvSpPr>
        <p:spPr>
          <a:xfrm>
            <a:off x="8484432" y="5761872"/>
            <a:ext cx="2193689"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Enterprise Project Management</a:t>
            </a:r>
          </a:p>
        </p:txBody>
      </p:sp>
      <p:sp>
        <p:nvSpPr>
          <p:cNvPr id="532" name="Rounded Rectangle 531"/>
          <p:cNvSpPr/>
          <p:nvPr/>
        </p:nvSpPr>
        <p:spPr>
          <a:xfrm>
            <a:off x="6381312" y="6155064"/>
            <a:ext cx="1928948"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Client &amp; Commercial teams</a:t>
            </a:r>
          </a:p>
        </p:txBody>
      </p:sp>
      <p:sp>
        <p:nvSpPr>
          <p:cNvPr id="533" name="Rounded Rectangle 532"/>
          <p:cNvSpPr/>
          <p:nvPr/>
        </p:nvSpPr>
        <p:spPr>
          <a:xfrm>
            <a:off x="8392556" y="6155064"/>
            <a:ext cx="737616"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Finance</a:t>
            </a:r>
          </a:p>
        </p:txBody>
      </p:sp>
      <p:sp>
        <p:nvSpPr>
          <p:cNvPr id="534" name="TextBox 533"/>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slides 19, 21 · Play to Win update (John and Chris) · Delivery Excellence slides 7, 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TextBox 508"/>
          <p:cNvSpPr txBox="1"/>
          <p:nvPr/>
        </p:nvSpPr>
        <p:spPr>
          <a:xfrm>
            <a:off x="1115568" y="1170000"/>
            <a:ext cx="41605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510" name="TextBox 509"/>
          <p:cNvSpPr txBox="1"/>
          <p:nvPr/>
        </p:nvSpPr>
        <p:spPr>
          <a:xfrm>
            <a:off x="5486400" y="1170000"/>
            <a:ext cx="2743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511" name="TextBox 510"/>
          <p:cNvSpPr txBox="1"/>
          <p:nvPr/>
        </p:nvSpPr>
        <p:spPr>
          <a:xfrm>
            <a:off x="8458200" y="1170000"/>
            <a:ext cx="14173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Shooting for</a:t>
            </a:r>
          </a:p>
        </p:txBody>
      </p:sp>
      <p:sp>
        <p:nvSpPr>
          <p:cNvPr id="512" name="TextBox 511"/>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513" name="TextBox 512"/>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514" name="TextBox 513"/>
          <p:cNvSpPr txBox="1"/>
          <p:nvPr/>
        </p:nvSpPr>
        <p:spPr>
          <a:xfrm>
            <a:off x="2468880" y="1444320"/>
            <a:ext cx="9265920" cy="274320"/>
          </a:xfrm>
          <a:prstGeom prst="rect">
            <a:avLst/>
          </a:prstGeom>
          <a:noFill/>
        </p:spPr>
        <p:txBody>
          <a:bodyPr wrap="square" lIns="0" rIns="0" tIns="0" bIns="0" anchor="t">
            <a:spAutoFit/>
          </a:bodyPr>
          <a:lstStyle/>
          <a:p>
            <a:pPr algn="l">
              <a:spcAft>
                <a:spcPts val="500"/>
              </a:spcAft>
            </a:pPr>
            <a:r>
              <a:rPr sz="1000" b="0" i="0">
                <a:solidFill>
                  <a:srgbClr val="000000"/>
                </a:solidFill>
              </a:rPr>
              <a:t>Three stories, not one, because all three must work together for this to work.</a:t>
            </a:r>
          </a:p>
        </p:txBody>
      </p:sp>
      <p:sp>
        <p:nvSpPr>
          <p:cNvPr id="515" name="Rounded Rectangle 514"/>
          <p:cNvSpPr/>
          <p:nvPr/>
        </p:nvSpPr>
        <p:spPr>
          <a:xfrm>
            <a:off x="457200" y="1773504"/>
            <a:ext cx="11277600" cy="66621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16" name="Oval 515"/>
          <p:cNvSpPr/>
          <p:nvPr/>
        </p:nvSpPr>
        <p:spPr>
          <a:xfrm>
            <a:off x="640080" y="194202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517" name="TextBox 516"/>
          <p:cNvSpPr txBox="1"/>
          <p:nvPr/>
        </p:nvSpPr>
        <p:spPr>
          <a:xfrm>
            <a:off x="1115568" y="1828368"/>
            <a:ext cx="4160520" cy="574778"/>
          </a:xfrm>
          <a:prstGeom prst="rect">
            <a:avLst/>
          </a:prstGeom>
          <a:noFill/>
        </p:spPr>
        <p:txBody>
          <a:bodyPr wrap="square" lIns="0" rIns="0" tIns="0" bIns="0" anchor="ctr">
            <a:spAutoFit/>
          </a:bodyPr>
          <a:lstStyle/>
          <a:p>
            <a:pPr algn="l">
              <a:spcBef>
                <a:spcPts val="400"/>
              </a:spcBef>
              <a:spcAft>
                <a:spcPts val="200"/>
              </a:spcAft>
            </a:pPr>
            <a:r>
              <a:rPr sz="850" b="1" i="0">
                <a:solidFill>
                  <a:srgbClr val="000000"/>
                </a:solidFill>
              </a:rPr>
              <a:t>Delivery Models</a:t>
            </a:r>
          </a:p>
          <a:p>
            <a:pPr algn="l">
              <a:spcAft>
                <a:spcPts val="500"/>
              </a:spcAft>
            </a:pPr>
            <a:r>
              <a:rPr sz="850" b="0" i="0">
                <a:solidFill>
                  <a:srgbClr val="000000"/>
                </a:solidFill>
              </a:rPr>
              <a:t>Every deal categorized at qualification into one of 5-6 core models, so pricing and staffing follow a known shape.</a:t>
            </a:r>
          </a:p>
        </p:txBody>
      </p:sp>
      <p:sp>
        <p:nvSpPr>
          <p:cNvPr id="518" name="TextBox 517"/>
          <p:cNvSpPr txBox="1"/>
          <p:nvPr/>
        </p:nvSpPr>
        <p:spPr>
          <a:xfrm>
            <a:off x="5486400" y="1828368"/>
            <a:ext cx="2743200" cy="574778"/>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19" name="TextBox 518"/>
          <p:cNvSpPr txBox="1"/>
          <p:nvPr/>
        </p:nvSpPr>
        <p:spPr>
          <a:xfrm>
            <a:off x="8458200" y="1828368"/>
            <a:ext cx="1417320" cy="574778"/>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20" name="Rounded Rectangle 519"/>
          <p:cNvSpPr/>
          <p:nvPr/>
        </p:nvSpPr>
        <p:spPr>
          <a:xfrm>
            <a:off x="10012680" y="196945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21" name="Rounded Rectangle 520"/>
          <p:cNvSpPr/>
          <p:nvPr/>
        </p:nvSpPr>
        <p:spPr>
          <a:xfrm>
            <a:off x="457200" y="2499722"/>
            <a:ext cx="11277600" cy="66621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22" name="Oval 521"/>
          <p:cNvSpPr/>
          <p:nvPr/>
        </p:nvSpPr>
        <p:spPr>
          <a:xfrm>
            <a:off x="640080" y="266823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523" name="TextBox 522"/>
          <p:cNvSpPr txBox="1"/>
          <p:nvPr/>
        </p:nvSpPr>
        <p:spPr>
          <a:xfrm>
            <a:off x="1115568" y="2554586"/>
            <a:ext cx="4160520" cy="574778"/>
          </a:xfrm>
          <a:prstGeom prst="rect">
            <a:avLst/>
          </a:prstGeom>
          <a:noFill/>
        </p:spPr>
        <p:txBody>
          <a:bodyPr wrap="square" lIns="0" rIns="0" tIns="0" bIns="0" anchor="ctr">
            <a:spAutoFit/>
          </a:bodyPr>
          <a:lstStyle/>
          <a:p>
            <a:pPr algn="l">
              <a:spcBef>
                <a:spcPts val="400"/>
              </a:spcBef>
              <a:spcAft>
                <a:spcPts val="200"/>
              </a:spcAft>
            </a:pPr>
            <a:r>
              <a:rPr sz="850" b="1" i="0">
                <a:solidFill>
                  <a:srgbClr val="000000"/>
                </a:solidFill>
              </a:rPr>
              <a:t>Contracts</a:t>
            </a:r>
          </a:p>
          <a:p>
            <a:pPr algn="l">
              <a:spcAft>
                <a:spcPts val="500"/>
              </a:spcAft>
            </a:pPr>
            <a:r>
              <a:rPr sz="850" b="0" i="0">
                <a:solidFill>
                  <a:srgbClr val="000000"/>
                </a:solidFill>
              </a:rPr>
              <a:t>Terms, scope language, and billing matched to the chosen model — no more fixed price with no scope control.</a:t>
            </a:r>
          </a:p>
        </p:txBody>
      </p:sp>
      <p:sp>
        <p:nvSpPr>
          <p:cNvPr id="524" name="TextBox 523"/>
          <p:cNvSpPr txBox="1"/>
          <p:nvPr/>
        </p:nvSpPr>
        <p:spPr>
          <a:xfrm>
            <a:off x="5486400" y="2554586"/>
            <a:ext cx="2743200" cy="574778"/>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25" name="TextBox 524"/>
          <p:cNvSpPr txBox="1"/>
          <p:nvPr/>
        </p:nvSpPr>
        <p:spPr>
          <a:xfrm>
            <a:off x="8458200" y="2554586"/>
            <a:ext cx="1417320" cy="574778"/>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26" name="Rounded Rectangle 525"/>
          <p:cNvSpPr/>
          <p:nvPr/>
        </p:nvSpPr>
        <p:spPr>
          <a:xfrm>
            <a:off x="10012680" y="269567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27" name="Rounded Rectangle 526"/>
          <p:cNvSpPr/>
          <p:nvPr/>
        </p:nvSpPr>
        <p:spPr>
          <a:xfrm>
            <a:off x="457200" y="3225940"/>
            <a:ext cx="11277600" cy="66621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28" name="Oval 527"/>
          <p:cNvSpPr/>
          <p:nvPr/>
        </p:nvSpPr>
        <p:spPr>
          <a:xfrm>
            <a:off x="640080" y="339445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529" name="TextBox 528"/>
          <p:cNvSpPr txBox="1"/>
          <p:nvPr/>
        </p:nvSpPr>
        <p:spPr>
          <a:xfrm>
            <a:off x="1115568" y="3280804"/>
            <a:ext cx="4160520" cy="574778"/>
          </a:xfrm>
          <a:prstGeom prst="rect">
            <a:avLst/>
          </a:prstGeom>
          <a:noFill/>
        </p:spPr>
        <p:txBody>
          <a:bodyPr wrap="square" lIns="0" rIns="0" tIns="0" bIns="0" anchor="ctr">
            <a:spAutoFit/>
          </a:bodyPr>
          <a:lstStyle/>
          <a:p>
            <a:pPr algn="l">
              <a:spcBef>
                <a:spcPts val="400"/>
              </a:spcBef>
              <a:spcAft>
                <a:spcPts val="200"/>
              </a:spcAft>
            </a:pPr>
            <a:r>
              <a:rPr sz="850" b="1" i="0">
                <a:solidFill>
                  <a:srgbClr val="000000"/>
                </a:solidFill>
              </a:rPr>
              <a:t>Methodology Standards</a:t>
            </a:r>
          </a:p>
          <a:p>
            <a:pPr algn="l">
              <a:spcAft>
                <a:spcPts val="500"/>
              </a:spcAft>
            </a:pPr>
            <a:r>
              <a:rPr sz="850" b="0" i="0">
                <a:solidFill>
                  <a:srgbClr val="000000"/>
                </a:solidFill>
              </a:rPr>
              <a:t>Clear working practices, so we guide clients into how we work instead of inheriting whatever mix they bring.</a:t>
            </a:r>
          </a:p>
        </p:txBody>
      </p:sp>
      <p:sp>
        <p:nvSpPr>
          <p:cNvPr id="530" name="TextBox 529"/>
          <p:cNvSpPr txBox="1"/>
          <p:nvPr/>
        </p:nvSpPr>
        <p:spPr>
          <a:xfrm>
            <a:off x="5486400" y="3280804"/>
            <a:ext cx="2743200" cy="574778"/>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31" name="TextBox 530"/>
          <p:cNvSpPr txBox="1"/>
          <p:nvPr/>
        </p:nvSpPr>
        <p:spPr>
          <a:xfrm>
            <a:off x="8458200" y="3280804"/>
            <a:ext cx="1417320" cy="574778"/>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32" name="Rounded Rectangle 531"/>
          <p:cNvSpPr/>
          <p:nvPr/>
        </p:nvSpPr>
        <p:spPr>
          <a:xfrm>
            <a:off x="10012680" y="342188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33" name="TextBox 532"/>
          <p:cNvSpPr txBox="1"/>
          <p:nvPr/>
        </p:nvSpPr>
        <p:spPr>
          <a:xfrm>
            <a:off x="457200" y="397215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534" name="TextBox 533"/>
          <p:cNvSpPr txBox="1"/>
          <p:nvPr/>
        </p:nvSpPr>
        <p:spPr>
          <a:xfrm>
            <a:off x="2468880" y="3972158"/>
            <a:ext cx="9265920" cy="274320"/>
          </a:xfrm>
          <a:prstGeom prst="rect">
            <a:avLst/>
          </a:prstGeom>
          <a:noFill/>
        </p:spPr>
        <p:txBody>
          <a:bodyPr wrap="square" lIns="0" rIns="0" tIns="0" bIns="0" anchor="t">
            <a:spAutoFit/>
          </a:bodyPr>
          <a:lstStyle/>
          <a:p>
            <a:pPr algn="l">
              <a:spcAft>
                <a:spcPts val="500"/>
              </a:spcAft>
            </a:pPr>
            <a:r>
              <a:rPr sz="1000" b="0" i="0">
                <a:solidFill>
                  <a:srgbClr val="000000"/>
                </a:solidFill>
              </a:rPr>
              <a:t>Supported by AI: Estimation, Pricing, and Staffing follow once the MVP is solid.</a:t>
            </a:r>
          </a:p>
        </p:txBody>
      </p:sp>
      <p:sp>
        <p:nvSpPr>
          <p:cNvPr id="535" name="Rounded Rectangle 534"/>
          <p:cNvSpPr/>
          <p:nvPr/>
        </p:nvSpPr>
        <p:spPr>
          <a:xfrm>
            <a:off x="457200" y="4301342"/>
            <a:ext cx="11277600" cy="66621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6" name="Oval 535"/>
          <p:cNvSpPr/>
          <p:nvPr/>
        </p:nvSpPr>
        <p:spPr>
          <a:xfrm>
            <a:off x="640080" y="446985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537" name="TextBox 536"/>
          <p:cNvSpPr txBox="1"/>
          <p:nvPr/>
        </p:nvSpPr>
        <p:spPr>
          <a:xfrm>
            <a:off x="1115568" y="4356206"/>
            <a:ext cx="4160520" cy="57477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Estimation</a:t>
            </a:r>
          </a:p>
          <a:p>
            <a:pPr algn="l">
              <a:spcAft>
                <a:spcPts val="500"/>
              </a:spcAft>
            </a:pPr>
            <a:r>
              <a:rPr sz="1100" b="0" i="1">
                <a:solidFill>
                  <a:srgbClr val="60607D"/>
                </a:solidFill>
              </a:rPr>
              <a:t>[What it is, in plain words.]</a:t>
            </a:r>
          </a:p>
        </p:txBody>
      </p:sp>
      <p:sp>
        <p:nvSpPr>
          <p:cNvPr id="538" name="TextBox 537"/>
          <p:cNvSpPr txBox="1"/>
          <p:nvPr/>
        </p:nvSpPr>
        <p:spPr>
          <a:xfrm>
            <a:off x="5486400" y="4356206"/>
            <a:ext cx="2743200" cy="574778"/>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39" name="TextBox 538"/>
          <p:cNvSpPr txBox="1"/>
          <p:nvPr/>
        </p:nvSpPr>
        <p:spPr>
          <a:xfrm>
            <a:off x="8458200" y="4356206"/>
            <a:ext cx="1417320" cy="574778"/>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40" name="Rounded Rectangle 539"/>
          <p:cNvSpPr/>
          <p:nvPr/>
        </p:nvSpPr>
        <p:spPr>
          <a:xfrm>
            <a:off x="10012680" y="449729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41" name="Rounded Rectangle 540"/>
          <p:cNvSpPr/>
          <p:nvPr/>
        </p:nvSpPr>
        <p:spPr>
          <a:xfrm>
            <a:off x="457200" y="5027560"/>
            <a:ext cx="11277600" cy="66621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2" name="Oval 541"/>
          <p:cNvSpPr/>
          <p:nvPr/>
        </p:nvSpPr>
        <p:spPr>
          <a:xfrm>
            <a:off x="640080" y="519607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543" name="TextBox 542"/>
          <p:cNvSpPr txBox="1"/>
          <p:nvPr/>
        </p:nvSpPr>
        <p:spPr>
          <a:xfrm>
            <a:off x="1115568" y="5082424"/>
            <a:ext cx="4160520" cy="57477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Pricing</a:t>
            </a:r>
          </a:p>
          <a:p>
            <a:pPr algn="l">
              <a:spcAft>
                <a:spcPts val="500"/>
              </a:spcAft>
            </a:pPr>
            <a:r>
              <a:rPr sz="1100" b="0" i="1">
                <a:solidFill>
                  <a:srgbClr val="60607D"/>
                </a:solidFill>
              </a:rPr>
              <a:t>[What it is, in plain words.]</a:t>
            </a:r>
          </a:p>
        </p:txBody>
      </p:sp>
      <p:sp>
        <p:nvSpPr>
          <p:cNvPr id="544" name="TextBox 543"/>
          <p:cNvSpPr txBox="1"/>
          <p:nvPr/>
        </p:nvSpPr>
        <p:spPr>
          <a:xfrm>
            <a:off x="5486400" y="5082424"/>
            <a:ext cx="2743200" cy="574778"/>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45" name="TextBox 544"/>
          <p:cNvSpPr txBox="1"/>
          <p:nvPr/>
        </p:nvSpPr>
        <p:spPr>
          <a:xfrm>
            <a:off x="8458200" y="5082424"/>
            <a:ext cx="1417320" cy="574778"/>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46" name="Rounded Rectangle 545"/>
          <p:cNvSpPr/>
          <p:nvPr/>
        </p:nvSpPr>
        <p:spPr>
          <a:xfrm>
            <a:off x="10012680" y="522350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47" name="Rounded Rectangle 546"/>
          <p:cNvSpPr/>
          <p:nvPr/>
        </p:nvSpPr>
        <p:spPr>
          <a:xfrm>
            <a:off x="457200" y="5753778"/>
            <a:ext cx="11277600" cy="66621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8" name="Oval 547"/>
          <p:cNvSpPr/>
          <p:nvPr/>
        </p:nvSpPr>
        <p:spPr>
          <a:xfrm>
            <a:off x="640080" y="592229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6</a:t>
            </a:r>
          </a:p>
        </p:txBody>
      </p:sp>
      <p:sp>
        <p:nvSpPr>
          <p:cNvPr id="549" name="TextBox 548"/>
          <p:cNvSpPr txBox="1"/>
          <p:nvPr/>
        </p:nvSpPr>
        <p:spPr>
          <a:xfrm>
            <a:off x="1115568" y="5808642"/>
            <a:ext cx="4160520" cy="57477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Staffing</a:t>
            </a:r>
          </a:p>
          <a:p>
            <a:pPr algn="l">
              <a:spcAft>
                <a:spcPts val="500"/>
              </a:spcAft>
            </a:pPr>
            <a:r>
              <a:rPr sz="1100" b="0" i="1">
                <a:solidFill>
                  <a:srgbClr val="60607D"/>
                </a:solidFill>
              </a:rPr>
              <a:t>[What it is, in plain words.]</a:t>
            </a:r>
          </a:p>
        </p:txBody>
      </p:sp>
      <p:sp>
        <p:nvSpPr>
          <p:cNvPr id="550" name="TextBox 549"/>
          <p:cNvSpPr txBox="1"/>
          <p:nvPr/>
        </p:nvSpPr>
        <p:spPr>
          <a:xfrm>
            <a:off x="5486400" y="5808642"/>
            <a:ext cx="2743200" cy="574778"/>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51" name="TextBox 550"/>
          <p:cNvSpPr txBox="1"/>
          <p:nvPr/>
        </p:nvSpPr>
        <p:spPr>
          <a:xfrm>
            <a:off x="8458200" y="5808642"/>
            <a:ext cx="1417320" cy="574778"/>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52" name="Rounded Rectangle 551"/>
          <p:cNvSpPr/>
          <p:nvPr/>
        </p:nvSpPr>
        <p:spPr>
          <a:xfrm>
            <a:off x="10012680" y="594972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53" name="TextBox 552"/>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23 (hidden) · Delivery Excellence slide 11 (hidden)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
        <p:nvSpPr>
          <p:cNvPr id="513" name="TextBox 512"/>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20 · Delivery Excellence slide 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[Why this one, and why now? One or two sentences: what it costs us today.]</a:t>
            </a:r>
          </a:p>
        </p:txBody>
      </p:sp>
      <p:sp>
        <p:nvSpPr>
          <p:cNvPr id="520" name="Rounded Rectangle 519"/>
          <p:cNvSpPr/>
          <p:nvPr/>
        </p:nvSpPr>
        <p:spPr>
          <a:xfrm>
            <a:off x="4572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What's happening today</a:t>
            </a:r>
          </a:p>
          <a:p>
            <a:pPr algn="l">
              <a:spcAft>
                <a:spcPts val="500"/>
              </a:spcAft>
            </a:pPr>
            <a:r>
              <a:rPr sz="1250" b="0" i="0">
                <a:solidFill>
                  <a:srgbClr val="000000"/>
                </a:solidFill>
              </a:rPr>
              <a:t>To best support our integrated business units, we are refining </a:t>
            </a:r>
            <a:r>
              <a:rPr sz="1250" b="0" i="0">
                <a:solidFill>
                  <a:srgbClr val="000000"/>
                </a:solidFill>
              </a:rPr>
              <a:t>how we manage accounts with multiple projects or multitrack projects to ensure project teams have precise leadership support, rather than running as one </a:t>
            </a:r>
            <a:r>
              <a:rPr sz="1250" b="0" i="0">
                <a:solidFill>
                  <a:srgbClr val="000000"/>
                </a:solidFill>
              </a:rPr>
              <a:t>giant portfolio.</a:t>
            </a:r>
          </a:p>
        </p:txBody>
      </p:sp>
      <p:sp>
        <p:nvSpPr>
          <p:cNvPr id="521" name="Rounded Rectangle 520"/>
          <p:cNvSpPr/>
          <p:nvPr/>
        </p:nvSpPr>
        <p:spPr>
          <a:xfrm>
            <a:off x="42664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As a result</a:t>
            </a:r>
          </a:p>
          <a:p>
            <a:pPr algn="l">
              <a:spcAft>
                <a:spcPts val="500"/>
              </a:spcAft>
            </a:pPr>
            <a:r>
              <a:rPr sz="1250" b="0" i="1">
                <a:solidFill>
                  <a:srgbClr val="60607D"/>
                </a:solidFill>
              </a:rPr>
              <a:t>[…]</a:t>
            </a:r>
          </a:p>
        </p:txBody>
      </p:sp>
      <p:sp>
        <p:nvSpPr>
          <p:cNvPr id="522" name="Rounded Rectangle 521"/>
          <p:cNvSpPr/>
          <p:nvPr/>
        </p:nvSpPr>
        <p:spPr>
          <a:xfrm>
            <a:off x="80756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And then</a:t>
            </a:r>
          </a:p>
          <a:p>
            <a:pPr algn="l">
              <a:spcAft>
                <a:spcPts val="500"/>
              </a:spcAft>
            </a:pPr>
            <a:r>
              <a:rPr sz="1250" b="0" i="1">
                <a:solidFill>
                  <a:srgbClr val="60607D"/>
                </a:solidFill>
              </a:rPr>
              <a:t>[…]</a:t>
            </a:r>
          </a:p>
        </p:txBody>
      </p:sp>
      <p:sp>
        <p:nvSpPr>
          <p:cNvPr id="523" name="TextBox 522"/>
          <p:cNvSpPr txBox="1"/>
          <p:nvPr/>
        </p:nvSpPr>
        <p:spPr>
          <a:xfrm>
            <a:off x="457200" y="5170000"/>
            <a:ext cx="27432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So we need</a:t>
            </a:r>
          </a:p>
        </p:txBody>
      </p:sp>
      <p:sp>
        <p:nvSpPr>
          <p:cNvPr id="524" name="Rounded Rectangle 523"/>
          <p:cNvSpPr/>
          <p:nvPr/>
        </p:nvSpPr>
        <p:spPr>
          <a:xfrm>
            <a:off x="4572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525" name="Rounded Rectangle 524"/>
          <p:cNvSpPr/>
          <p:nvPr/>
        </p:nvSpPr>
        <p:spPr>
          <a:xfrm>
            <a:off x="42664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526" name="Rounded Rectangle 525"/>
          <p:cNvSpPr/>
          <p:nvPr/>
        </p:nvSpPr>
        <p:spPr>
          <a:xfrm>
            <a:off x="80756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527" name="TextBox 526"/>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25 · Delivery Excellence slide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Accountability Clarified</a:t>
            </a:r>
          </a:p>
          <a:p>
            <a:pPr algn="l">
              <a:spcAft>
                <a:spcPts val="500"/>
              </a:spcAft>
            </a:pPr>
            <a:r>
              <a:rPr sz="80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050" b="1" i="0">
                <a:solidFill>
                  <a:srgbClr val="000000"/>
                </a:solidFill>
              </a:rPr>
              <a:t>Defining Essential Roles</a:t>
            </a:r>
          </a:p>
          <a:p>
            <a:pPr algn="l">
              <a:spcAft>
                <a:spcPts val="500"/>
              </a:spcAft>
            </a:pPr>
            <a:r>
              <a:rPr sz="10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750" b="1" i="0">
                <a:solidFill>
                  <a:srgbClr val="000000"/>
                </a:solidFill>
              </a:rPr>
              <a:t>Growth, Client Service and Executive Sponsorship</a:t>
            </a:r>
          </a:p>
          <a:p>
            <a:pPr algn="l">
              <a:spcAft>
                <a:spcPts val="500"/>
              </a:spcAft>
            </a:pPr>
            <a:r>
              <a:rPr sz="7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50" b="1" i="0">
                <a:solidFill>
                  <a:srgbClr val="000000"/>
                </a:solidFill>
              </a:rPr>
              <a:t>Change Management will be Key</a:t>
            </a:r>
          </a:p>
          <a:p>
            <a:pPr algn="l">
              <a:spcAft>
                <a:spcPts val="500"/>
              </a:spcAft>
            </a:pPr>
            <a:r>
              <a:rPr sz="85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00" b="1" i="0">
                <a:solidFill>
                  <a:srgbClr val="000000"/>
                </a:solidFill>
              </a:rPr>
              <a:t>Phased Rollout of Regular Reviews</a:t>
            </a:r>
          </a:p>
          <a:p>
            <a:pPr algn="l">
              <a:spcAft>
                <a:spcPts val="500"/>
              </a:spcAft>
            </a:pPr>
            <a:r>
              <a:rPr sz="80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544960" y="4149808"/>
            <a:ext cx="9102080" cy="19050"/>
          </a:xfrm>
          <a:prstGeom prst="rect">
            <a:avLst/>
          </a:prstGeom>
          <a:solidFill>
            <a:srgbClr val="D6D6DF"/>
          </a:solidFill>
          <a:ln>
            <a:noFill/>
          </a:ln>
        </p:spPr>
        <p:txBody>
          <a:bodyPr rtlCol="0" anchor="ctr"/>
          <a:lstStyle/>
          <a:p>
            <a:pPr algn="ctr"/>
          </a:p>
        </p:txBody>
      </p:sp>
      <p:sp>
        <p:nvSpPr>
          <p:cNvPr id="526" name="Oval 525"/>
          <p:cNvSpPr/>
          <p:nvPr/>
        </p:nvSpPr>
        <p:spPr>
          <a:xfrm>
            <a:off x="1453520" y="405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[Milestone]</a:t>
            </a:r>
          </a:p>
        </p:txBody>
      </p:sp>
      <p:sp>
        <p:nvSpPr>
          <p:cNvPr id="528" name="Oval 527"/>
          <p:cNvSpPr/>
          <p:nvPr/>
        </p:nvSpPr>
        <p:spPr>
          <a:xfrm>
            <a:off x="3729040" y="405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73272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[Milestone]</a:t>
            </a:r>
          </a:p>
        </p:txBody>
      </p:sp>
      <p:sp>
        <p:nvSpPr>
          <p:cNvPr id="530" name="Oval 529"/>
          <p:cNvSpPr/>
          <p:nvPr/>
        </p:nvSpPr>
        <p:spPr>
          <a:xfrm>
            <a:off x="6004560" y="405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500824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[Milestone]</a:t>
            </a:r>
          </a:p>
        </p:txBody>
      </p:sp>
      <p:sp>
        <p:nvSpPr>
          <p:cNvPr id="532" name="Oval 531"/>
          <p:cNvSpPr/>
          <p:nvPr/>
        </p:nvSpPr>
        <p:spPr>
          <a:xfrm>
            <a:off x="8280080" y="405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728376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[Milestone]</a:t>
            </a:r>
          </a:p>
        </p:txBody>
      </p:sp>
      <p:sp>
        <p:nvSpPr>
          <p:cNvPr id="534" name="Oval 533"/>
          <p:cNvSpPr/>
          <p:nvPr/>
        </p:nvSpPr>
        <p:spPr>
          <a:xfrm>
            <a:off x="10555600" y="405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955928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100" b="1" i="0">
                <a:solidFill>
                  <a:srgbClr val="000000"/>
                </a:solidFill>
              </a:rPr>
              <a:t>MVP done</a:t>
            </a:r>
          </a:p>
          <a:p>
            <a:pPr algn="l">
              <a:spcAft>
                <a:spcPts val="500"/>
              </a:spcAft>
            </a:pPr>
            <a:r>
              <a:rPr sz="1100" b="0" i="1">
                <a:solidFill>
                  <a:srgbClr val="60607D"/>
                </a:solidFill>
              </a:rPr>
              <a:t>[Date we are shooting for.]</a:t>
            </a:r>
          </a:p>
        </p:txBody>
      </p:sp>
      <p:sp>
        <p:nvSpPr>
          <p:cNvPr id="536" name="Rounded Rectangle 535"/>
          <p:cNvSpPr/>
          <p:nvPr/>
        </p:nvSpPr>
        <p:spPr>
          <a:xfrm>
            <a:off x="4572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37" name="Rounded Rectangle 536"/>
          <p:cNvSpPr/>
          <p:nvPr/>
        </p:nvSpPr>
        <p:spPr>
          <a:xfrm>
            <a:off x="667512" y="5761872"/>
            <a:ext cx="737616"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BU COOs</a:t>
            </a:r>
          </a:p>
        </p:txBody>
      </p:sp>
      <p:sp>
        <p:nvSpPr>
          <p:cNvPr id="538" name="Rounded Rectangle 537"/>
          <p:cNvSpPr/>
          <p:nvPr/>
        </p:nvSpPr>
        <p:spPr>
          <a:xfrm>
            <a:off x="1487424" y="5761872"/>
            <a:ext cx="2193689"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Enterprise Project Management</a:t>
            </a:r>
          </a:p>
        </p:txBody>
      </p:sp>
      <p:sp>
        <p:nvSpPr>
          <p:cNvPr id="539" name="Rounded Rectangle 538"/>
          <p:cNvSpPr/>
          <p:nvPr/>
        </p:nvSpPr>
        <p:spPr>
          <a:xfrm>
            <a:off x="61710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0" name="Rounded Rectangle 539"/>
          <p:cNvSpPr/>
          <p:nvPr/>
        </p:nvSpPr>
        <p:spPr>
          <a:xfrm>
            <a:off x="6381312"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541" name="Rounded Rectangle 540"/>
          <p:cNvSpPr/>
          <p:nvPr/>
        </p:nvSpPr>
        <p:spPr>
          <a:xfrm>
            <a:off x="7333594"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542" name="TextBox 541"/>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25 · Delivery Excellence slide 13 (BU COOs and Enterprise Project Management co-lead)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9" name="TextBox 518"/>
          <p:cNvSpPr txBox="1"/>
          <p:nvPr/>
        </p:nvSpPr>
        <p:spPr>
          <a:xfrm>
            <a:off x="1115568" y="1170000"/>
            <a:ext cx="41605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520" name="TextBox 519"/>
          <p:cNvSpPr txBox="1"/>
          <p:nvPr/>
        </p:nvSpPr>
        <p:spPr>
          <a:xfrm>
            <a:off x="5486400" y="1170000"/>
            <a:ext cx="2743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521" name="TextBox 520"/>
          <p:cNvSpPr txBox="1"/>
          <p:nvPr/>
        </p:nvSpPr>
        <p:spPr>
          <a:xfrm>
            <a:off x="8458200" y="1170000"/>
            <a:ext cx="14173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Shooting for</a:t>
            </a:r>
          </a:p>
        </p:txBody>
      </p:sp>
      <p:sp>
        <p:nvSpPr>
          <p:cNvPr id="522" name="TextBox 521"/>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523" name="TextBox 522"/>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524" name="Rounded Rectangle 523"/>
          <p:cNvSpPr/>
          <p:nvPr/>
        </p:nvSpPr>
        <p:spPr>
          <a:xfrm>
            <a:off x="457200" y="1773504"/>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25" name="Oval 524"/>
          <p:cNvSpPr/>
          <p:nvPr/>
        </p:nvSpPr>
        <p:spPr>
          <a:xfrm>
            <a:off x="640080" y="2014643"/>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526" name="TextBox 525"/>
          <p:cNvSpPr txBox="1"/>
          <p:nvPr/>
        </p:nvSpPr>
        <p:spPr>
          <a:xfrm>
            <a:off x="1115568" y="1828368"/>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527" name="TextBox 526"/>
          <p:cNvSpPr txBox="1"/>
          <p:nvPr/>
        </p:nvSpPr>
        <p:spPr>
          <a:xfrm>
            <a:off x="5486400" y="1828368"/>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28" name="TextBox 527"/>
          <p:cNvSpPr txBox="1"/>
          <p:nvPr/>
        </p:nvSpPr>
        <p:spPr>
          <a:xfrm>
            <a:off x="8458200" y="1828368"/>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29" name="Rounded Rectangle 528"/>
          <p:cNvSpPr/>
          <p:nvPr/>
        </p:nvSpPr>
        <p:spPr>
          <a:xfrm>
            <a:off x="10012680" y="2042075"/>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30" name="Rounded Rectangle 529"/>
          <p:cNvSpPr/>
          <p:nvPr/>
        </p:nvSpPr>
        <p:spPr>
          <a:xfrm>
            <a:off x="457200" y="2644966"/>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1" name="Oval 530"/>
          <p:cNvSpPr/>
          <p:nvPr/>
        </p:nvSpPr>
        <p:spPr>
          <a:xfrm>
            <a:off x="640080" y="288610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532" name="TextBox 531"/>
          <p:cNvSpPr txBox="1"/>
          <p:nvPr/>
        </p:nvSpPr>
        <p:spPr>
          <a:xfrm>
            <a:off x="1115568" y="2699830"/>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533" name="TextBox 532"/>
          <p:cNvSpPr txBox="1"/>
          <p:nvPr/>
        </p:nvSpPr>
        <p:spPr>
          <a:xfrm>
            <a:off x="5486400" y="2699830"/>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34" name="TextBox 533"/>
          <p:cNvSpPr txBox="1"/>
          <p:nvPr/>
        </p:nvSpPr>
        <p:spPr>
          <a:xfrm>
            <a:off x="8458200" y="2699830"/>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35" name="Rounded Rectangle 534"/>
          <p:cNvSpPr/>
          <p:nvPr/>
        </p:nvSpPr>
        <p:spPr>
          <a:xfrm>
            <a:off x="10012680" y="291353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36" name="Rounded Rectangle 535"/>
          <p:cNvSpPr/>
          <p:nvPr/>
        </p:nvSpPr>
        <p:spPr>
          <a:xfrm>
            <a:off x="457200" y="3516428"/>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7" name="Oval 536"/>
          <p:cNvSpPr/>
          <p:nvPr/>
        </p:nvSpPr>
        <p:spPr>
          <a:xfrm>
            <a:off x="640080" y="375756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538" name="TextBox 537"/>
          <p:cNvSpPr txBox="1"/>
          <p:nvPr/>
        </p:nvSpPr>
        <p:spPr>
          <a:xfrm>
            <a:off x="1115568" y="3571292"/>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539" name="TextBox 538"/>
          <p:cNvSpPr txBox="1"/>
          <p:nvPr/>
        </p:nvSpPr>
        <p:spPr>
          <a:xfrm>
            <a:off x="5486400" y="3571292"/>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40" name="TextBox 539"/>
          <p:cNvSpPr txBox="1"/>
          <p:nvPr/>
        </p:nvSpPr>
        <p:spPr>
          <a:xfrm>
            <a:off x="8458200" y="3571292"/>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41" name="Rounded Rectangle 540"/>
          <p:cNvSpPr/>
          <p:nvPr/>
        </p:nvSpPr>
        <p:spPr>
          <a:xfrm>
            <a:off x="10012680" y="378499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42" name="TextBox 541"/>
          <p:cNvSpPr txBox="1"/>
          <p:nvPr/>
        </p:nvSpPr>
        <p:spPr>
          <a:xfrm>
            <a:off x="457200" y="440789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543" name="Rounded Rectangle 542"/>
          <p:cNvSpPr/>
          <p:nvPr/>
        </p:nvSpPr>
        <p:spPr>
          <a:xfrm>
            <a:off x="457200" y="4737074"/>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4" name="Oval 543"/>
          <p:cNvSpPr/>
          <p:nvPr/>
        </p:nvSpPr>
        <p:spPr>
          <a:xfrm>
            <a:off x="640080" y="4978213"/>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545" name="TextBox 544"/>
          <p:cNvSpPr txBox="1"/>
          <p:nvPr/>
        </p:nvSpPr>
        <p:spPr>
          <a:xfrm>
            <a:off x="1115568" y="4791938"/>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546" name="TextBox 545"/>
          <p:cNvSpPr txBox="1"/>
          <p:nvPr/>
        </p:nvSpPr>
        <p:spPr>
          <a:xfrm>
            <a:off x="5486400" y="4791938"/>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47" name="TextBox 546"/>
          <p:cNvSpPr txBox="1"/>
          <p:nvPr/>
        </p:nvSpPr>
        <p:spPr>
          <a:xfrm>
            <a:off x="8458200" y="4791938"/>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48" name="Rounded Rectangle 547"/>
          <p:cNvSpPr/>
          <p:nvPr/>
        </p:nvSpPr>
        <p:spPr>
          <a:xfrm>
            <a:off x="10012680" y="5005645"/>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49" name="Rounded Rectangle 548"/>
          <p:cNvSpPr/>
          <p:nvPr/>
        </p:nvSpPr>
        <p:spPr>
          <a:xfrm>
            <a:off x="457200" y="5608536"/>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50" name="Oval 549"/>
          <p:cNvSpPr/>
          <p:nvPr/>
        </p:nvSpPr>
        <p:spPr>
          <a:xfrm>
            <a:off x="640080" y="584967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551" name="TextBox 550"/>
          <p:cNvSpPr txBox="1"/>
          <p:nvPr/>
        </p:nvSpPr>
        <p:spPr>
          <a:xfrm>
            <a:off x="1115568" y="5663400"/>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552" name="TextBox 551"/>
          <p:cNvSpPr txBox="1"/>
          <p:nvPr/>
        </p:nvSpPr>
        <p:spPr>
          <a:xfrm>
            <a:off x="5486400" y="5663400"/>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53" name="TextBox 552"/>
          <p:cNvSpPr txBox="1"/>
          <p:nvPr/>
        </p:nvSpPr>
        <p:spPr>
          <a:xfrm>
            <a:off x="8458200" y="5663400"/>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54" name="Rounded Rectangle 553"/>
          <p:cNvSpPr/>
          <p:nvPr/>
        </p:nvSpPr>
        <p:spPr>
          <a:xfrm>
            <a:off x="10012680" y="587710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
        <p:nvSpPr>
          <p:cNvPr id="13" name="TextBox 12"/>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27 · Delivery Excellence slide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[Why this one, and why now? One or two sentences: what it costs us today.]</a:t>
            </a:r>
          </a:p>
        </p:txBody>
      </p:sp>
      <p:sp>
        <p:nvSpPr>
          <p:cNvPr id="9" name="Rounded Rectangle 8"/>
          <p:cNvSpPr/>
          <p:nvPr/>
        </p:nvSpPr>
        <p:spPr>
          <a:xfrm>
            <a:off x="457200" y="2570000"/>
            <a:ext cx="55638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What We Need To Solve</a:t>
            </a:r>
          </a:p>
          <a:p>
            <a:pPr algn="l">
              <a:spcAft>
                <a:spcPts val="500"/>
              </a:spcAft>
            </a:pPr>
            <a:r>
              <a:rPr sz="1250" b="0" i="0">
                <a:solidFill>
                  <a:srgbClr val="000000"/>
                </a:solidFill>
              </a:rPr>
              <a:t>One leadership dashboard, not just a data-reconciliation project.</a:t>
            </a:r>
          </a:p>
          <a:p>
            <a:pPr algn="l">
              <a:spcAft>
                <a:spcPts val="500"/>
              </a:spcAft>
            </a:pPr>
            <a:r>
              <a:rPr sz="1250" b="0" i="0">
                <a:solidFill>
                  <a:srgbClr val="000000"/>
                </a:solidFill>
              </a:rPr>
              <a:t>It needs to show revenue, margin, and capacity forecasts, manage rate cards and actuals-for-burn, and tie revenue recognition to operational reporting, all in a single page view.</a:t>
            </a:r>
          </a:p>
        </p:txBody>
      </p:sp>
      <p:sp>
        <p:nvSpPr>
          <p:cNvPr id="10" name="Rounded Rectangle 9"/>
          <p:cNvSpPr/>
          <p:nvPr/>
        </p:nvSpPr>
        <p:spPr>
          <a:xfrm>
            <a:off x="6171000" y="2570000"/>
            <a:ext cx="55638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Why?</a:t>
            </a:r>
          </a:p>
          <a:p>
            <a:pPr algn="l">
              <a:spcAft>
                <a:spcPts val="500"/>
              </a:spcAft>
            </a:pPr>
            <a:r>
              <a:rPr sz="1250" b="0" i="0">
                <a:solidFill>
                  <a:srgbClr val="000000"/>
                </a:solidFill>
              </a:rPr>
              <a:t>We’re running the business off lagging metrics or incomplete ones.  </a:t>
            </a:r>
            <a:r>
              <a:rPr sz="1250" b="0" i="0">
                <a:solidFill>
                  <a:srgbClr val="000000"/>
                </a:solidFill>
              </a:rPr>
              <a:t>Example: </a:t>
            </a:r>
            <a:r>
              <a:rPr sz="1250" b="0" i="0">
                <a:solidFill>
                  <a:srgbClr val="000000"/>
                </a:solidFill>
              </a:rPr>
              <a:t>We can see client or project margin but not practice margin. And costs live in a Finance spreadsheet that we see once a month.</a:t>
            </a:r>
          </a:p>
        </p:txBody>
      </p:sp>
      <p:sp>
        <p:nvSpPr>
          <p:cNvPr id="11" name="TextBox 10"/>
          <p:cNvSpPr txBox="1"/>
          <p:nvPr/>
        </p:nvSpPr>
        <p:spPr>
          <a:xfrm>
            <a:off x="457200" y="5170000"/>
            <a:ext cx="27432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So we need</a:t>
            </a:r>
          </a:p>
        </p:txBody>
      </p:sp>
      <p:sp>
        <p:nvSpPr>
          <p:cNvPr id="12" name="Rounded Rectangle 11"/>
          <p:cNvSpPr/>
          <p:nvPr/>
        </p:nvSpPr>
        <p:spPr>
          <a:xfrm>
            <a:off x="4572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3" name="Rounded Rectangle 12"/>
          <p:cNvSpPr/>
          <p:nvPr/>
        </p:nvSpPr>
        <p:spPr>
          <a:xfrm>
            <a:off x="42664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4" name="Rounded Rectangle 13"/>
          <p:cNvSpPr/>
          <p:nvPr/>
        </p:nvSpPr>
        <p:spPr>
          <a:xfrm>
            <a:off x="80756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5" name="TextBox 14"/>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27 · Delivery Excellence slide 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how we are going about it.]</a:t>
            </a:r>
          </a:p>
        </p:txBody>
      </p:sp>
      <p:sp>
        <p:nvSpPr>
          <p:cNvPr id="9" name="Rounded Rectangle 8"/>
          <p:cNvSpPr/>
          <p:nvPr/>
        </p:nvSpPr>
        <p:spPr>
          <a:xfrm>
            <a:off x="457200" y="1828368"/>
            <a:ext cx="1127760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14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05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332688"/>
            <a:ext cx="274440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[Milestone]</a:t>
            </a:r>
          </a:p>
        </p:txBody>
      </p:sp>
      <p:sp>
        <p:nvSpPr>
          <p:cNvPr id="13" name="Oval 12"/>
          <p:cNvSpPr/>
          <p:nvPr/>
        </p:nvSpPr>
        <p:spPr>
          <a:xfrm>
            <a:off x="4582360" y="405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332688"/>
            <a:ext cx="274440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[Milestone]</a:t>
            </a:r>
          </a:p>
        </p:txBody>
      </p:sp>
      <p:sp>
        <p:nvSpPr>
          <p:cNvPr id="15" name="Oval 14"/>
          <p:cNvSpPr/>
          <p:nvPr/>
        </p:nvSpPr>
        <p:spPr>
          <a:xfrm>
            <a:off x="7426760" y="405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332688"/>
            <a:ext cx="274440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[Milestone]</a:t>
            </a:r>
          </a:p>
        </p:txBody>
      </p:sp>
      <p:sp>
        <p:nvSpPr>
          <p:cNvPr id="17" name="Oval 16"/>
          <p:cNvSpPr/>
          <p:nvPr/>
        </p:nvSpPr>
        <p:spPr>
          <a:xfrm>
            <a:off x="10271160" y="405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332688"/>
            <a:ext cx="274440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100" b="1" i="0">
                <a:solidFill>
                  <a:srgbClr val="000000"/>
                </a:solidFill>
              </a:rPr>
              <a:t>MVP done</a:t>
            </a:r>
          </a:p>
          <a:p>
            <a:pPr algn="l">
              <a:spcAft>
                <a:spcPts val="500"/>
              </a:spcAft>
            </a:pPr>
            <a:r>
              <a:rPr sz="1100" b="0" i="1">
                <a:solidFill>
                  <a:srgbClr val="60607D"/>
                </a:solidFill>
              </a:rPr>
              <a:t>[Date we are shooting for.]</a:t>
            </a:r>
          </a:p>
        </p:txBody>
      </p:sp>
      <p:sp>
        <p:nvSpPr>
          <p:cNvPr id="19" name="Rounded Rectangle 18"/>
          <p:cNvSpPr/>
          <p:nvPr/>
        </p:nvSpPr>
        <p:spPr>
          <a:xfrm>
            <a:off x="4572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61872"/>
            <a:ext cx="671430"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[Name]</a:t>
            </a:r>
          </a:p>
        </p:txBody>
      </p:sp>
      <p:sp>
        <p:nvSpPr>
          <p:cNvPr id="21" name="Rounded Rectangle 20"/>
          <p:cNvSpPr/>
          <p:nvPr/>
        </p:nvSpPr>
        <p:spPr>
          <a:xfrm>
            <a:off x="1421238" y="5761872"/>
            <a:ext cx="671430"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[Name]</a:t>
            </a:r>
          </a:p>
        </p:txBody>
      </p:sp>
      <p:sp>
        <p:nvSpPr>
          <p:cNvPr id="22" name="Rounded Rectangle 21"/>
          <p:cNvSpPr/>
          <p:nvPr/>
        </p:nvSpPr>
        <p:spPr>
          <a:xfrm>
            <a:off x="61710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24" name="Rounded Rectangle 23"/>
          <p:cNvSpPr/>
          <p:nvPr/>
        </p:nvSpPr>
        <p:spPr>
          <a:xfrm>
            <a:off x="7333594"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25" name="TextBox 24"/>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27 · Delivery Excellence slide 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1605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486400" y="1170000"/>
            <a:ext cx="2743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8458200" y="1170000"/>
            <a:ext cx="14173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Shooting for</a:t>
            </a:r>
          </a:p>
        </p:txBody>
      </p:sp>
      <p:sp>
        <p:nvSpPr>
          <p:cNvPr id="11" name="TextBox 1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2014643"/>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16" name="TextBox 15"/>
          <p:cNvSpPr txBox="1"/>
          <p:nvPr/>
        </p:nvSpPr>
        <p:spPr>
          <a:xfrm>
            <a:off x="5486400" y="1828368"/>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17" name="TextBox 16"/>
          <p:cNvSpPr txBox="1"/>
          <p:nvPr/>
        </p:nvSpPr>
        <p:spPr>
          <a:xfrm>
            <a:off x="8458200" y="1828368"/>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18" name="Rounded Rectangle 17"/>
          <p:cNvSpPr/>
          <p:nvPr/>
        </p:nvSpPr>
        <p:spPr>
          <a:xfrm>
            <a:off x="10012680" y="2042075"/>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19" name="Rounded Rectangle 18"/>
          <p:cNvSpPr/>
          <p:nvPr/>
        </p:nvSpPr>
        <p:spPr>
          <a:xfrm>
            <a:off x="457200" y="2644966"/>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0" name="Oval 19"/>
          <p:cNvSpPr/>
          <p:nvPr/>
        </p:nvSpPr>
        <p:spPr>
          <a:xfrm>
            <a:off x="640080" y="288610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1" name="TextBox 20"/>
          <p:cNvSpPr txBox="1"/>
          <p:nvPr/>
        </p:nvSpPr>
        <p:spPr>
          <a:xfrm>
            <a:off x="1115568" y="2699830"/>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22" name="TextBox 21"/>
          <p:cNvSpPr txBox="1"/>
          <p:nvPr/>
        </p:nvSpPr>
        <p:spPr>
          <a:xfrm>
            <a:off x="5486400" y="2699830"/>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23" name="TextBox 22"/>
          <p:cNvSpPr txBox="1"/>
          <p:nvPr/>
        </p:nvSpPr>
        <p:spPr>
          <a:xfrm>
            <a:off x="8458200" y="2699830"/>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24" name="Rounded Rectangle 23"/>
          <p:cNvSpPr/>
          <p:nvPr/>
        </p:nvSpPr>
        <p:spPr>
          <a:xfrm>
            <a:off x="10012680" y="291353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25" name="Rounded Rectangle 24"/>
          <p:cNvSpPr/>
          <p:nvPr/>
        </p:nvSpPr>
        <p:spPr>
          <a:xfrm>
            <a:off x="457200" y="3516428"/>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6" name="Oval 25"/>
          <p:cNvSpPr/>
          <p:nvPr/>
        </p:nvSpPr>
        <p:spPr>
          <a:xfrm>
            <a:off x="640080" y="375756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7" name="TextBox 26"/>
          <p:cNvSpPr txBox="1"/>
          <p:nvPr/>
        </p:nvSpPr>
        <p:spPr>
          <a:xfrm>
            <a:off x="1115568" y="3571292"/>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28" name="TextBox 27"/>
          <p:cNvSpPr txBox="1"/>
          <p:nvPr/>
        </p:nvSpPr>
        <p:spPr>
          <a:xfrm>
            <a:off x="5486400" y="3571292"/>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29" name="TextBox 28"/>
          <p:cNvSpPr txBox="1"/>
          <p:nvPr/>
        </p:nvSpPr>
        <p:spPr>
          <a:xfrm>
            <a:off x="8458200" y="3571292"/>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30" name="Rounded Rectangle 29"/>
          <p:cNvSpPr/>
          <p:nvPr/>
        </p:nvSpPr>
        <p:spPr>
          <a:xfrm>
            <a:off x="10012680" y="378499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31" name="TextBox 30"/>
          <p:cNvSpPr txBox="1"/>
          <p:nvPr/>
        </p:nvSpPr>
        <p:spPr>
          <a:xfrm>
            <a:off x="457200" y="440789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32" name="Rounded Rectangle 31"/>
          <p:cNvSpPr/>
          <p:nvPr/>
        </p:nvSpPr>
        <p:spPr>
          <a:xfrm>
            <a:off x="457200" y="4737074"/>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3" name="Oval 32"/>
          <p:cNvSpPr/>
          <p:nvPr/>
        </p:nvSpPr>
        <p:spPr>
          <a:xfrm>
            <a:off x="640080" y="4978213"/>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4" name="TextBox 33"/>
          <p:cNvSpPr txBox="1"/>
          <p:nvPr/>
        </p:nvSpPr>
        <p:spPr>
          <a:xfrm>
            <a:off x="1115568" y="4791938"/>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35" name="TextBox 34"/>
          <p:cNvSpPr txBox="1"/>
          <p:nvPr/>
        </p:nvSpPr>
        <p:spPr>
          <a:xfrm>
            <a:off x="5486400" y="4791938"/>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36" name="TextBox 35"/>
          <p:cNvSpPr txBox="1"/>
          <p:nvPr/>
        </p:nvSpPr>
        <p:spPr>
          <a:xfrm>
            <a:off x="8458200" y="4791938"/>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37" name="Rounded Rectangle 36"/>
          <p:cNvSpPr/>
          <p:nvPr/>
        </p:nvSpPr>
        <p:spPr>
          <a:xfrm>
            <a:off x="10012680" y="5005645"/>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38" name="Rounded Rectangle 37"/>
          <p:cNvSpPr/>
          <p:nvPr/>
        </p:nvSpPr>
        <p:spPr>
          <a:xfrm>
            <a:off x="457200" y="5608536"/>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Oval 38"/>
          <p:cNvSpPr/>
          <p:nvPr/>
        </p:nvSpPr>
        <p:spPr>
          <a:xfrm>
            <a:off x="640080" y="584967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40" name="TextBox 39"/>
          <p:cNvSpPr txBox="1"/>
          <p:nvPr/>
        </p:nvSpPr>
        <p:spPr>
          <a:xfrm>
            <a:off x="1115568" y="5663400"/>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41" name="TextBox 40"/>
          <p:cNvSpPr txBox="1"/>
          <p:nvPr/>
        </p:nvSpPr>
        <p:spPr>
          <a:xfrm>
            <a:off x="5486400" y="5663400"/>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42" name="TextBox 41"/>
          <p:cNvSpPr txBox="1"/>
          <p:nvPr/>
        </p:nvSpPr>
        <p:spPr>
          <a:xfrm>
            <a:off x="8458200" y="5663400"/>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43" name="Rounded Rectangle 42"/>
          <p:cNvSpPr/>
          <p:nvPr/>
        </p:nvSpPr>
        <p:spPr>
          <a:xfrm>
            <a:off x="10012680" y="587710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[What has moved since last time. Use dates, not "recently".]</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[Next milestones, with real dates.]</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[What is in the way, including top risks and dependencies. And the specific ask: who, by when.]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
        <p:nvSpPr>
          <p:cNvPr id="13" name="TextBox 12"/>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29 · Delivery Excellence slide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[Why this one, and why now? One or two sentences: what it costs us today.]</a:t>
            </a:r>
          </a:p>
        </p:txBody>
      </p:sp>
      <p:sp>
        <p:nvSpPr>
          <p:cNvPr id="9" name="Rounded Rectangle 8"/>
          <p:cNvSpPr/>
          <p:nvPr/>
        </p:nvSpPr>
        <p:spPr>
          <a:xfrm>
            <a:off x="4572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What's happening today</a:t>
            </a:r>
          </a:p>
          <a:p>
            <a:pPr algn="l">
              <a:spcAft>
                <a:spcPts val="500"/>
              </a:spcAft>
            </a:pPr>
            <a:r>
              <a:rPr sz="1250" b="0" i="1">
                <a:solidFill>
                  <a:srgbClr val="60607D"/>
                </a:solidFill>
              </a:rPr>
              <a:t>[…]</a:t>
            </a:r>
          </a:p>
        </p:txBody>
      </p:sp>
      <p:sp>
        <p:nvSpPr>
          <p:cNvPr id="10" name="Rounded Rectangle 9"/>
          <p:cNvSpPr/>
          <p:nvPr/>
        </p:nvSpPr>
        <p:spPr>
          <a:xfrm>
            <a:off x="42664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As a result</a:t>
            </a:r>
          </a:p>
          <a:p>
            <a:pPr algn="l">
              <a:spcAft>
                <a:spcPts val="500"/>
              </a:spcAft>
            </a:pPr>
            <a:r>
              <a:rPr sz="1250" b="0" i="1">
                <a:solidFill>
                  <a:srgbClr val="60607D"/>
                </a:solidFill>
              </a:rPr>
              <a:t>[…]</a:t>
            </a:r>
          </a:p>
        </p:txBody>
      </p:sp>
      <p:sp>
        <p:nvSpPr>
          <p:cNvPr id="11" name="Rounded Rectangle 10"/>
          <p:cNvSpPr/>
          <p:nvPr/>
        </p:nvSpPr>
        <p:spPr>
          <a:xfrm>
            <a:off x="80756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And then</a:t>
            </a:r>
          </a:p>
          <a:p>
            <a:pPr algn="l">
              <a:spcAft>
                <a:spcPts val="500"/>
              </a:spcAft>
            </a:pPr>
            <a:r>
              <a:rPr sz="1250" b="0" i="1">
                <a:solidFill>
                  <a:srgbClr val="60607D"/>
                </a:solidFill>
              </a:rPr>
              <a:t>[…]</a:t>
            </a:r>
          </a:p>
        </p:txBody>
      </p:sp>
      <p:sp>
        <p:nvSpPr>
          <p:cNvPr id="12" name="TextBox 11"/>
          <p:cNvSpPr txBox="1"/>
          <p:nvPr/>
        </p:nvSpPr>
        <p:spPr>
          <a:xfrm>
            <a:off x="457200" y="5170000"/>
            <a:ext cx="27432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So we need</a:t>
            </a:r>
          </a:p>
        </p:txBody>
      </p:sp>
      <p:sp>
        <p:nvSpPr>
          <p:cNvPr id="13" name="Rounded Rectangle 12"/>
          <p:cNvSpPr/>
          <p:nvPr/>
        </p:nvSpPr>
        <p:spPr>
          <a:xfrm>
            <a:off x="4572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4" name="Rounded Rectangle 13"/>
          <p:cNvSpPr/>
          <p:nvPr/>
        </p:nvSpPr>
        <p:spPr>
          <a:xfrm>
            <a:off x="42664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5" name="Rounded Rectangle 14"/>
          <p:cNvSpPr/>
          <p:nvPr/>
        </p:nvSpPr>
        <p:spPr>
          <a:xfrm>
            <a:off x="80756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how we are going about it.]</a:t>
            </a:r>
          </a:p>
        </p:txBody>
      </p:sp>
      <p:sp>
        <p:nvSpPr>
          <p:cNvPr id="9" name="Rounded Rectangle 8"/>
          <p:cNvSpPr/>
          <p:nvPr/>
        </p:nvSpPr>
        <p:spPr>
          <a:xfrm>
            <a:off x="457200" y="1828368"/>
            <a:ext cx="274440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name]</a:t>
            </a:r>
          </a:p>
          <a:p>
            <a:pPr algn="l">
              <a:spcAft>
                <a:spcPts val="500"/>
              </a:spcAft>
            </a:pPr>
            <a:r>
              <a:rPr sz="1150" b="0" i="1">
                <a:solidFill>
                  <a:srgbClr val="60607D"/>
                </a:solidFill>
              </a:rPr>
              <a:t>[What it is, in plain words.]</a:t>
            </a:r>
          </a:p>
        </p:txBody>
      </p:sp>
      <p:sp>
        <p:nvSpPr>
          <p:cNvPr id="10" name="Rounded Rectangle 9"/>
          <p:cNvSpPr/>
          <p:nvPr/>
        </p:nvSpPr>
        <p:spPr>
          <a:xfrm>
            <a:off x="3301600" y="1828368"/>
            <a:ext cx="274440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name]</a:t>
            </a:r>
          </a:p>
          <a:p>
            <a:pPr algn="l">
              <a:spcAft>
                <a:spcPts val="500"/>
              </a:spcAft>
            </a:pPr>
            <a:r>
              <a:rPr sz="1150" b="0" i="1">
                <a:solidFill>
                  <a:srgbClr val="60607D"/>
                </a:solidFill>
              </a:rPr>
              <a:t>[What it is, in plain words.]</a:t>
            </a:r>
          </a:p>
        </p:txBody>
      </p:sp>
      <p:sp>
        <p:nvSpPr>
          <p:cNvPr id="11" name="Rounded Rectangle 10"/>
          <p:cNvSpPr/>
          <p:nvPr/>
        </p:nvSpPr>
        <p:spPr>
          <a:xfrm>
            <a:off x="6146000" y="1828368"/>
            <a:ext cx="274440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name]</a:t>
            </a:r>
          </a:p>
          <a:p>
            <a:pPr algn="l">
              <a:spcAft>
                <a:spcPts val="500"/>
              </a:spcAft>
            </a:pPr>
            <a:r>
              <a:rPr sz="1150" b="0" i="1">
                <a:solidFill>
                  <a:srgbClr val="60607D"/>
                </a:solidFill>
              </a:rPr>
              <a:t>[What it is, in plain words.]</a:t>
            </a:r>
          </a:p>
        </p:txBody>
      </p:sp>
      <p:sp>
        <p:nvSpPr>
          <p:cNvPr id="12" name="Rounded Rectangle 11"/>
          <p:cNvSpPr/>
          <p:nvPr/>
        </p:nvSpPr>
        <p:spPr>
          <a:xfrm>
            <a:off x="8990400" y="1828368"/>
            <a:ext cx="274440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name]</a:t>
            </a:r>
          </a:p>
          <a:p>
            <a:pPr algn="l">
              <a:spcAft>
                <a:spcPts val="500"/>
              </a:spcAft>
            </a:pPr>
            <a:r>
              <a:rPr sz="1150" b="0" i="1">
                <a:solidFill>
                  <a:srgbClr val="60607D"/>
                </a:solidFill>
              </a:rPr>
              <a:t>[What it is, in plain words.]</a:t>
            </a:r>
          </a:p>
        </p:txBody>
      </p:sp>
      <p:sp>
        <p:nvSpPr>
          <p:cNvPr id="13" name="Rectangle 12"/>
          <p:cNvSpPr/>
          <p:nvPr/>
        </p:nvSpPr>
        <p:spPr>
          <a:xfrm>
            <a:off x="1544960" y="4149808"/>
            <a:ext cx="9102080" cy="19050"/>
          </a:xfrm>
          <a:prstGeom prst="rect">
            <a:avLst/>
          </a:prstGeom>
          <a:solidFill>
            <a:srgbClr val="D6D6DF"/>
          </a:solidFill>
          <a:ln>
            <a:noFill/>
          </a:ln>
        </p:spPr>
        <p:txBody>
          <a:bodyPr rtlCol="0" anchor="ctr"/>
          <a:lstStyle/>
          <a:p>
            <a:pPr algn="ctr"/>
          </a:p>
        </p:txBody>
      </p:sp>
      <p:sp>
        <p:nvSpPr>
          <p:cNvPr id="14" name="Oval 13"/>
          <p:cNvSpPr/>
          <p:nvPr/>
        </p:nvSpPr>
        <p:spPr>
          <a:xfrm>
            <a:off x="1453520" y="405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5720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This year</a:t>
            </a:r>
          </a:p>
          <a:p>
            <a:pPr algn="l">
              <a:spcAft>
                <a:spcPts val="500"/>
              </a:spcAft>
            </a:pPr>
            <a:r>
              <a:rPr sz="1100" b="0" i="0">
                <a:solidFill>
                  <a:srgbClr val="000000"/>
                </a:solidFill>
              </a:rPr>
              <a:t>We started with resource management, then stood up capacity planning.</a:t>
            </a:r>
          </a:p>
        </p:txBody>
      </p:sp>
      <p:sp>
        <p:nvSpPr>
          <p:cNvPr id="16" name="Oval 15"/>
          <p:cNvSpPr/>
          <p:nvPr/>
        </p:nvSpPr>
        <p:spPr>
          <a:xfrm>
            <a:off x="3729040" y="4058368"/>
            <a:ext cx="182880" cy="182880"/>
          </a:xfrm>
          <a:prstGeom prst="ellipse">
            <a:avLst/>
          </a:prstGeom>
          <a:solidFill>
            <a:srgbClr val="FFFFFF"/>
          </a:solidFill>
          <a:ln w="19050">
            <a:solidFill>
              <a:srgbClr val="000000"/>
            </a:solidFill>
          </a:ln>
        </p:spPr>
        <p:txBody>
          <a:bodyPr rtlCol="0" anchor="ctr"/>
          <a:lstStyle/>
          <a:p>
            <a:pPr algn="ctr"/>
          </a:p>
        </p:txBody>
      </p:sp>
      <p:sp>
        <p:nvSpPr>
          <p:cNvPr id="17" name="Rounded Rectangle 16"/>
          <p:cNvSpPr/>
          <p:nvPr/>
        </p:nvSpPr>
        <p:spPr>
          <a:xfrm>
            <a:off x="273272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900" b="1" i="0">
                <a:solidFill>
                  <a:srgbClr val="000000"/>
                </a:solidFill>
              </a:rPr>
              <a:t>Coming weeks</a:t>
            </a:r>
          </a:p>
          <a:p>
            <a:pPr algn="l">
              <a:spcAft>
                <a:spcPts val="500"/>
              </a:spcAft>
            </a:pPr>
            <a:r>
              <a:rPr sz="900" b="0" i="0">
                <a:solidFill>
                  <a:srgbClr val="000000"/>
                </a:solidFill>
              </a:rPr>
              <a:t>Like our other ops top priorities, we will build this out as an epic with stories underneath, so we can focus and prioritize.</a:t>
            </a:r>
          </a:p>
        </p:txBody>
      </p:sp>
      <p:sp>
        <p:nvSpPr>
          <p:cNvPr id="18" name="Oval 17"/>
          <p:cNvSpPr/>
          <p:nvPr/>
        </p:nvSpPr>
        <p:spPr>
          <a:xfrm>
            <a:off x="6004560" y="4058368"/>
            <a:ext cx="182880" cy="182880"/>
          </a:xfrm>
          <a:prstGeom prst="ellipse">
            <a:avLst/>
          </a:prstGeom>
          <a:solidFill>
            <a:srgbClr val="FFFFFF"/>
          </a:solidFill>
          <a:ln w="19050">
            <a:solidFill>
              <a:srgbClr val="000000"/>
            </a:solidFill>
          </a:ln>
        </p:spPr>
        <p:txBody>
          <a:bodyPr rtlCol="0" anchor="ctr"/>
          <a:lstStyle/>
          <a:p>
            <a:pPr algn="ctr"/>
          </a:p>
        </p:txBody>
      </p:sp>
      <p:sp>
        <p:nvSpPr>
          <p:cNvPr id="19" name="Rounded Rectangle 18"/>
          <p:cNvSpPr/>
          <p:nvPr/>
        </p:nvSpPr>
        <p:spPr>
          <a:xfrm>
            <a:off x="500824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00" b="1" i="0">
                <a:solidFill>
                  <a:srgbClr val="000000"/>
                </a:solidFill>
              </a:rPr>
              <a:t>Late October</a:t>
            </a:r>
          </a:p>
          <a:p>
            <a:pPr algn="l">
              <a:spcAft>
                <a:spcPts val="500"/>
              </a:spcAft>
            </a:pPr>
            <a:r>
              <a:rPr sz="800" b="0" i="0">
                <a:solidFill>
                  <a:srgbClr val="000000"/>
                </a:solidFill>
              </a:rPr>
              <a:t>FIRST FEATURES GO LIVE · FULL DEMO: Next Ops Town Hall</a:t>
            </a:r>
          </a:p>
          <a:p>
            <a:pPr algn="l">
              <a:spcAft>
                <a:spcPts val="400"/>
              </a:spcAft>
            </a:pPr>
            <a:r>
              <a:rPr sz="850" b="0" i="1">
                <a:solidFill>
                  <a:srgbClr val="60607D"/>
                </a:solidFill>
              </a:rPr>
              <a:t>See the complete experience in action.</a:t>
            </a:r>
          </a:p>
        </p:txBody>
      </p:sp>
      <p:sp>
        <p:nvSpPr>
          <p:cNvPr id="20" name="Oval 19"/>
          <p:cNvSpPr/>
          <p:nvPr/>
        </p:nvSpPr>
        <p:spPr>
          <a:xfrm>
            <a:off x="8280080" y="4058368"/>
            <a:ext cx="182880" cy="182880"/>
          </a:xfrm>
          <a:prstGeom prst="ellipse">
            <a:avLst/>
          </a:prstGeom>
          <a:solidFill>
            <a:srgbClr val="FFFFFF"/>
          </a:solidFill>
          <a:ln w="19050">
            <a:solidFill>
              <a:srgbClr val="000000"/>
            </a:solidFill>
          </a:ln>
        </p:spPr>
        <p:txBody>
          <a:bodyPr rtlCol="0" anchor="ctr"/>
          <a:lstStyle/>
          <a:p>
            <a:pPr algn="ctr"/>
          </a:p>
        </p:txBody>
      </p:sp>
      <p:sp>
        <p:nvSpPr>
          <p:cNvPr id="21" name="Rounded Rectangle 20"/>
          <p:cNvSpPr/>
          <p:nvPr/>
        </p:nvSpPr>
        <p:spPr>
          <a:xfrm>
            <a:off x="728376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900" b="1" i="0">
                <a:solidFill>
                  <a:srgbClr val="000000"/>
                </a:solidFill>
              </a:rPr>
              <a:t>Next year</a:t>
            </a:r>
          </a:p>
          <a:p>
            <a:pPr algn="l">
              <a:spcAft>
                <a:spcPts val="500"/>
              </a:spcAft>
            </a:pPr>
            <a:r>
              <a:rPr sz="900" b="0" i="0">
                <a:solidFill>
                  <a:srgbClr val="000000"/>
                </a:solidFill>
              </a:rPr>
              <a:t>Capacity planning becomes how we run things and our priority focus for enhancement, with resource management as its child.</a:t>
            </a:r>
          </a:p>
        </p:txBody>
      </p:sp>
      <p:sp>
        <p:nvSpPr>
          <p:cNvPr id="22" name="Oval 21"/>
          <p:cNvSpPr/>
          <p:nvPr/>
        </p:nvSpPr>
        <p:spPr>
          <a:xfrm>
            <a:off x="10555600" y="405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955928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100" b="1" i="0">
                <a:solidFill>
                  <a:srgbClr val="000000"/>
                </a:solidFill>
              </a:rPr>
              <a:t>MVP done</a:t>
            </a:r>
          </a:p>
          <a:p>
            <a:pPr algn="l">
              <a:spcAft>
                <a:spcPts val="500"/>
              </a:spcAft>
            </a:pPr>
            <a:r>
              <a:rPr sz="1100" b="0" i="1">
                <a:solidFill>
                  <a:srgbClr val="60607D"/>
                </a:solidFill>
              </a:rPr>
              <a:t>[Date we are shooting for.]</a:t>
            </a:r>
          </a:p>
        </p:txBody>
      </p:sp>
      <p:sp>
        <p:nvSpPr>
          <p:cNvPr id="24" name="Rounded Rectangle 23"/>
          <p:cNvSpPr/>
          <p:nvPr/>
        </p:nvSpPr>
        <p:spPr>
          <a:xfrm>
            <a:off x="4572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5" name="Rounded Rectangle 24"/>
          <p:cNvSpPr/>
          <p:nvPr/>
        </p:nvSpPr>
        <p:spPr>
          <a:xfrm>
            <a:off x="667512" y="5761872"/>
            <a:ext cx="671430"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[Name]</a:t>
            </a:r>
          </a:p>
        </p:txBody>
      </p:sp>
      <p:sp>
        <p:nvSpPr>
          <p:cNvPr id="26" name="Rounded Rectangle 25"/>
          <p:cNvSpPr/>
          <p:nvPr/>
        </p:nvSpPr>
        <p:spPr>
          <a:xfrm>
            <a:off x="1421238" y="5761872"/>
            <a:ext cx="671430"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[Name]</a:t>
            </a:r>
          </a:p>
        </p:txBody>
      </p:sp>
      <p:sp>
        <p:nvSpPr>
          <p:cNvPr id="27" name="Rounded Rectangle 26"/>
          <p:cNvSpPr/>
          <p:nvPr/>
        </p:nvSpPr>
        <p:spPr>
          <a:xfrm>
            <a:off x="61710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8" name="Rounded Rectangle 27"/>
          <p:cNvSpPr/>
          <p:nvPr/>
        </p:nvSpPr>
        <p:spPr>
          <a:xfrm>
            <a:off x="6381312"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29" name="Rounded Rectangle 28"/>
          <p:cNvSpPr/>
          <p:nvPr/>
        </p:nvSpPr>
        <p:spPr>
          <a:xfrm>
            <a:off x="7333594"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30" name="TextBox 29"/>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slides 29 and 33 · Delivery Excellence slide 26 (which says Mid-November, not Late October)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1605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486400" y="1170000"/>
            <a:ext cx="2743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8458200" y="1170000"/>
            <a:ext cx="14173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Shooting for</a:t>
            </a:r>
          </a:p>
        </p:txBody>
      </p:sp>
      <p:sp>
        <p:nvSpPr>
          <p:cNvPr id="11" name="TextBox 1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stories</a:t>
            </a:r>
          </a:p>
        </p:txBody>
      </p:sp>
      <p:sp>
        <p:nvSpPr>
          <p:cNvPr id="13" name="Rounded Rectangle 12"/>
          <p:cNvSpPr/>
          <p:nvPr/>
        </p:nvSpPr>
        <p:spPr>
          <a:xfrm>
            <a:off x="457200" y="1773504"/>
            <a:ext cx="11277600" cy="105156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2134692"/>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160520" cy="960120"/>
          </a:xfrm>
          <a:prstGeom prst="rect">
            <a:avLst/>
          </a:prstGeom>
          <a:noFill/>
        </p:spPr>
        <p:txBody>
          <a:bodyPr wrap="square" lIns="0" rIns="0" tIns="0" bIns="0" anchor="ctr">
            <a:spAutoFit/>
          </a:bodyPr>
          <a:lstStyle/>
          <a:p>
            <a:pPr algn="l">
              <a:spcBef>
                <a:spcPts val="400"/>
              </a:spcBef>
              <a:spcAft>
                <a:spcPts val="200"/>
              </a:spcAft>
            </a:pPr>
            <a:r>
              <a:rPr sz="850" b="1" i="0">
                <a:solidFill>
                  <a:srgbClr val="000000"/>
                </a:solidFill>
              </a:rPr>
              <a:t>Pillar 1: Know who we have</a:t>
            </a:r>
          </a:p>
          <a:p>
            <a:pPr algn="l">
              <a:spcAft>
                <a:spcPts val="500"/>
              </a:spcAft>
            </a:pPr>
            <a:r>
              <a:rPr sz="850" b="1" i="0">
                <a:solidFill>
                  <a:srgbClr val="000000"/>
                </a:solidFill>
              </a:rPr>
              <a:t>We need</a:t>
            </a:r>
            <a:r>
              <a:rPr sz="850" b="0" i="0">
                <a:solidFill>
                  <a:srgbClr val="000000"/>
                </a:solidFill>
              </a:rPr>
              <a:t> skills captured in one place we can search, </a:t>
            </a:r>
            <a:r>
              <a:rPr sz="850" b="1" i="0">
                <a:solidFill>
                  <a:srgbClr val="000000"/>
                </a:solidFill>
              </a:rPr>
              <a:t>so we can</a:t>
            </a:r>
            <a:r>
              <a:rPr sz="850" b="0" i="0">
                <a:solidFill>
                  <a:srgbClr val="000000"/>
                </a:solidFill>
              </a:rPr>
              <a:t> find the right person for a role across practices. </a:t>
            </a:r>
            <a:r>
              <a:rPr sz="850" b="1" i="0">
                <a:solidFill>
                  <a:srgbClr val="000000"/>
                </a:solidFill>
              </a:rPr>
              <a:t>The outcome:</a:t>
            </a:r>
            <a:r>
              <a:rPr sz="850" b="0" i="0">
                <a:solidFill>
                  <a:srgbClr val="000000"/>
                </a:solidFill>
              </a:rPr>
              <a:t> one trusted view of skills instead of separate sources.</a:t>
            </a:r>
          </a:p>
          <a:p>
            <a:pPr algn="l">
              <a:spcAft>
                <a:spcPts val="500"/>
              </a:spcAft>
            </a:pPr>
            <a:r>
              <a:rPr sz="850" b="0" i="0">
                <a:solidFill>
                  <a:srgbClr val="000000"/>
                </a:solidFill>
              </a:rPr>
              <a:t>A skills data pilot with about 100 opt-in people from each of two teams, on a LinkedIn skills taxonomy. We still need to define what we need from it.</a:t>
            </a:r>
          </a:p>
        </p:txBody>
      </p:sp>
      <p:sp>
        <p:nvSpPr>
          <p:cNvPr id="16" name="TextBox 15"/>
          <p:cNvSpPr txBox="1"/>
          <p:nvPr/>
        </p:nvSpPr>
        <p:spPr>
          <a:xfrm>
            <a:off x="5486400" y="1828368"/>
            <a:ext cx="2743200" cy="960120"/>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17" name="TextBox 16"/>
          <p:cNvSpPr txBox="1"/>
          <p:nvPr/>
        </p:nvSpPr>
        <p:spPr>
          <a:xfrm>
            <a:off x="8458200" y="1828368"/>
            <a:ext cx="1417320" cy="960120"/>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18" name="Rounded Rectangle 17"/>
          <p:cNvSpPr/>
          <p:nvPr/>
        </p:nvSpPr>
        <p:spPr>
          <a:xfrm>
            <a:off x="10012680" y="216212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Underway</a:t>
            </a:r>
          </a:p>
        </p:txBody>
      </p:sp>
      <p:sp>
        <p:nvSpPr>
          <p:cNvPr id="19" name="Rounded Rectangle 18"/>
          <p:cNvSpPr/>
          <p:nvPr/>
        </p:nvSpPr>
        <p:spPr>
          <a:xfrm>
            <a:off x="457200" y="2885064"/>
            <a:ext cx="11277600" cy="105156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0" name="Oval 19"/>
          <p:cNvSpPr/>
          <p:nvPr/>
        </p:nvSpPr>
        <p:spPr>
          <a:xfrm>
            <a:off x="640080" y="3246252"/>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1" name="TextBox 20"/>
          <p:cNvSpPr txBox="1"/>
          <p:nvPr/>
        </p:nvSpPr>
        <p:spPr>
          <a:xfrm>
            <a:off x="1115568" y="2939928"/>
            <a:ext cx="4160520" cy="960120"/>
          </a:xfrm>
          <a:prstGeom prst="rect">
            <a:avLst/>
          </a:prstGeom>
          <a:noFill/>
        </p:spPr>
        <p:txBody>
          <a:bodyPr wrap="square" lIns="0" rIns="0" tIns="0" bIns="0" anchor="ctr">
            <a:spAutoFit/>
          </a:bodyPr>
          <a:lstStyle/>
          <a:p>
            <a:pPr algn="l">
              <a:spcBef>
                <a:spcPts val="400"/>
              </a:spcBef>
              <a:spcAft>
                <a:spcPts val="200"/>
              </a:spcAft>
            </a:pPr>
            <a:r>
              <a:rPr sz="850" b="1" i="0">
                <a:solidFill>
                  <a:srgbClr val="000000"/>
                </a:solidFill>
              </a:rPr>
              <a:t>Pillar 2: See what is coming</a:t>
            </a:r>
          </a:p>
          <a:p>
            <a:pPr algn="l">
              <a:spcAft>
                <a:spcPts val="500"/>
              </a:spcAft>
            </a:pPr>
            <a:r>
              <a:rPr sz="850" b="1" i="0">
                <a:solidFill>
                  <a:srgbClr val="000000"/>
                </a:solidFill>
              </a:rPr>
              <a:t>We need </a:t>
            </a:r>
            <a:r>
              <a:rPr sz="850" b="0" i="0">
                <a:solidFill>
                  <a:srgbClr val="000000"/>
                </a:solidFill>
              </a:rPr>
              <a:t>to review SF stages to see the pipeline earlier, </a:t>
            </a:r>
            <a:r>
              <a:rPr sz="850" b="1" i="0">
                <a:solidFill>
                  <a:srgbClr val="000000"/>
                </a:solidFill>
              </a:rPr>
              <a:t>so we can </a:t>
            </a:r>
            <a:r>
              <a:rPr sz="850" b="0" i="0">
                <a:solidFill>
                  <a:srgbClr val="000000"/>
                </a:solidFill>
              </a:rPr>
              <a:t>plan people around demand with RM pulled in earlier in the process, not at signature. </a:t>
            </a:r>
            <a:r>
              <a:rPr sz="850" b="1" i="0">
                <a:solidFill>
                  <a:srgbClr val="000000"/>
                </a:solidFill>
              </a:rPr>
              <a:t>The outcome: </a:t>
            </a:r>
            <a:r>
              <a:rPr sz="850" b="0" i="0">
                <a:solidFill>
                  <a:srgbClr val="000000"/>
                </a:solidFill>
              </a:rPr>
              <a:t>teams that are ready to start instead of scrambling after signing.</a:t>
            </a:r>
          </a:p>
          <a:p>
            <a:pPr algn="l">
              <a:spcAft>
                <a:spcPts val="500"/>
              </a:spcAft>
            </a:pPr>
            <a:r>
              <a:rPr sz="85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22" name="TextBox 21"/>
          <p:cNvSpPr txBox="1"/>
          <p:nvPr/>
        </p:nvSpPr>
        <p:spPr>
          <a:xfrm>
            <a:off x="5486400" y="2939928"/>
            <a:ext cx="2743200" cy="960120"/>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23" name="TextBox 22"/>
          <p:cNvSpPr txBox="1"/>
          <p:nvPr/>
        </p:nvSpPr>
        <p:spPr>
          <a:xfrm>
            <a:off x="8458200" y="2939928"/>
            <a:ext cx="1417320" cy="960120"/>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24" name="TextBox 23"/>
          <p:cNvSpPr txBox="1"/>
          <p:nvPr/>
        </p:nvSpPr>
        <p:spPr>
          <a:xfrm>
            <a:off x="10012680" y="2939928"/>
            <a:ext cx="1600200" cy="960120"/>
          </a:xfrm>
          <a:prstGeom prst="rect">
            <a:avLst/>
          </a:prstGeom>
          <a:noFill/>
        </p:spPr>
        <p:txBody>
          <a:bodyPr wrap="square" lIns="0" rIns="0" tIns="0" bIns="0" anchor="ctr">
            <a:spAutoFit/>
          </a:bodyPr>
          <a:lstStyle/>
          <a:p>
            <a:pPr algn="l">
              <a:spcBef>
                <a:spcPts val="400"/>
              </a:spcBef>
              <a:spcAft>
                <a:spcPts val="500"/>
              </a:spcAft>
            </a:pPr>
            <a:r>
              <a:rPr sz="1000" b="1" i="0">
                <a:solidFill>
                  <a:srgbClr val="000000"/>
                </a:solidFill>
              </a:rPr>
              <a:t>Exploring: Smart Bench</a:t>
            </a:r>
          </a:p>
        </p:txBody>
      </p:sp>
      <p:sp>
        <p:nvSpPr>
          <p:cNvPr id="25" name="Rounded Rectangle 24"/>
          <p:cNvSpPr/>
          <p:nvPr/>
        </p:nvSpPr>
        <p:spPr>
          <a:xfrm>
            <a:off x="457200" y="3996624"/>
            <a:ext cx="11277600" cy="105156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6" name="Oval 25"/>
          <p:cNvSpPr/>
          <p:nvPr/>
        </p:nvSpPr>
        <p:spPr>
          <a:xfrm>
            <a:off x="640080" y="4357812"/>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7" name="TextBox 26"/>
          <p:cNvSpPr txBox="1"/>
          <p:nvPr/>
        </p:nvSpPr>
        <p:spPr>
          <a:xfrm>
            <a:off x="1115568" y="4051488"/>
            <a:ext cx="4160520" cy="960120"/>
          </a:xfrm>
          <a:prstGeom prst="rect">
            <a:avLst/>
          </a:prstGeom>
          <a:noFill/>
        </p:spPr>
        <p:txBody>
          <a:bodyPr wrap="square" lIns="0" rIns="0" tIns="0" bIns="0" anchor="ctr">
            <a:spAutoFit/>
          </a:bodyPr>
          <a:lstStyle/>
          <a:p>
            <a:pPr algn="l">
              <a:spcBef>
                <a:spcPts val="400"/>
              </a:spcBef>
              <a:spcAft>
                <a:spcPts val="200"/>
              </a:spcAft>
            </a:pPr>
            <a:r>
              <a:rPr sz="850" b="1" i="0">
                <a:solidFill>
                  <a:srgbClr val="000000"/>
                </a:solidFill>
              </a:rPr>
              <a:t>Pillar 3: One place to look</a:t>
            </a:r>
          </a:p>
          <a:p>
            <a:pPr algn="l">
              <a:spcAft>
                <a:spcPts val="500"/>
              </a:spcAft>
            </a:pPr>
            <a:r>
              <a:rPr sz="850" b="1" i="0">
                <a:solidFill>
                  <a:srgbClr val="000000"/>
                </a:solidFill>
              </a:rPr>
              <a:t>We need</a:t>
            </a:r>
            <a:r>
              <a:rPr sz="850" b="0" i="0">
                <a:solidFill>
                  <a:srgbClr val="000000"/>
                </a:solidFill>
              </a:rPr>
              <a:t> what we check today brought into one connected view, </a:t>
            </a:r>
            <a:r>
              <a:rPr sz="850" b="1" i="0">
                <a:solidFill>
                  <a:srgbClr val="000000"/>
                </a:solidFill>
              </a:rPr>
              <a:t>so we can</a:t>
            </a:r>
            <a:r>
              <a:rPr sz="850" b="0" i="0">
                <a:solidFill>
                  <a:srgbClr val="000000"/>
                </a:solidFill>
              </a:rPr>
              <a:t> move from insight to action with fewer places to look. </a:t>
            </a:r>
            <a:r>
              <a:rPr sz="850" b="1" i="0">
                <a:solidFill>
                  <a:srgbClr val="000000"/>
                </a:solidFill>
              </a:rPr>
              <a:t>The outcome:</a:t>
            </a:r>
            <a:r>
              <a:rPr sz="850" b="0" i="0">
                <a:solidFill>
                  <a:srgbClr val="000000"/>
                </a:solidFill>
              </a:rPr>
              <a:t> insight that points to the next move.</a:t>
            </a:r>
          </a:p>
          <a:p>
            <a:pPr algn="l">
              <a:spcAft>
                <a:spcPts val="500"/>
              </a:spcAft>
            </a:pPr>
            <a:r>
              <a:rPr sz="85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28" name="TextBox 27"/>
          <p:cNvSpPr txBox="1"/>
          <p:nvPr/>
        </p:nvSpPr>
        <p:spPr>
          <a:xfrm>
            <a:off x="5486400" y="4051488"/>
            <a:ext cx="2743200" cy="960120"/>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29" name="TextBox 28"/>
          <p:cNvSpPr txBox="1"/>
          <p:nvPr/>
        </p:nvSpPr>
        <p:spPr>
          <a:xfrm>
            <a:off x="8458200" y="4051488"/>
            <a:ext cx="1417320" cy="960120"/>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30" name="TextBox 29"/>
          <p:cNvSpPr txBox="1"/>
          <p:nvPr/>
        </p:nvSpPr>
        <p:spPr>
          <a:xfrm>
            <a:off x="10012680" y="4051488"/>
            <a:ext cx="1600200" cy="960120"/>
          </a:xfrm>
          <a:prstGeom prst="rect">
            <a:avLst/>
          </a:prstGeom>
          <a:noFill/>
        </p:spPr>
        <p:txBody>
          <a:bodyPr wrap="square" lIns="0" rIns="0" tIns="0" bIns="0" anchor="ctr">
            <a:spAutoFit/>
          </a:bodyPr>
          <a:lstStyle/>
          <a:p>
            <a:pPr algn="l">
              <a:spcBef>
                <a:spcPts val="400"/>
              </a:spcBef>
              <a:spcAft>
                <a:spcPts val="500"/>
              </a:spcAft>
            </a:pPr>
            <a:r>
              <a:rPr sz="1000" b="1" i="0">
                <a:solidFill>
                  <a:srgbClr val="000000"/>
                </a:solidFill>
              </a:rPr>
              <a:t>Being built: Romulus</a:t>
            </a:r>
          </a:p>
        </p:txBody>
      </p:sp>
      <p:sp>
        <p:nvSpPr>
          <p:cNvPr id="31" name="TextBox 30"/>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29 · Delivery Excellence slide 26 (pillar 2 wording differs)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
        <p:nvSpPr>
          <p:cNvPr id="11" name="TextBox 10"/>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32 · Delivery Excellence slide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
        <p:nvSpPr>
          <p:cNvPr id="13" name="TextBox 12"/>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33 · Delivery Excellence slide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[What has moved since last time. Use dates, not "recently".]</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[Next milestones, with real dates.]</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[What is in the way, including top risks and dependencies. And the specific ask: who, by when.]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We have a hard deadline and a business with real complexity underneath it. This two-phase plan is how we capture the knowledge, resolve ownership, and land a clean transition by year-end.</a:t>
            </a:r>
          </a:p>
        </p:txBody>
      </p:sp>
      <p:sp>
        <p:nvSpPr>
          <p:cNvPr id="13" name="TextBox 12"/>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550" b="1" i="0">
                <a:solidFill>
                  <a:srgbClr val="FFFFFF"/>
                </a:solidFill>
              </a:rPr>
              <a:t>Why this one, now:</a:t>
            </a:r>
            <a:r>
              <a:rPr sz="1550" b="0" i="0">
                <a:solidFill>
                  <a:srgbClr val="FFFFFF"/>
                </a:solidFill>
              </a:rPr>
              <a:t> 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What's happening today</a:t>
            </a:r>
          </a:p>
          <a:p>
            <a:pPr algn="l">
              <a:spcAft>
                <a:spcPts val="500"/>
              </a:spcAft>
            </a:pPr>
            <a:r>
              <a:rPr sz="1250" b="0" i="1">
                <a:solidFill>
                  <a:srgbClr val="60607D"/>
                </a:solidFill>
              </a:rPr>
              <a:t>[…]</a:t>
            </a:r>
          </a:p>
        </p:txBody>
      </p:sp>
      <p:sp>
        <p:nvSpPr>
          <p:cNvPr id="10" name="Rounded Rectangle 9"/>
          <p:cNvSpPr/>
          <p:nvPr/>
        </p:nvSpPr>
        <p:spPr>
          <a:xfrm>
            <a:off x="42664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As a result</a:t>
            </a:r>
          </a:p>
          <a:p>
            <a:pPr algn="l">
              <a:spcAft>
                <a:spcPts val="500"/>
              </a:spcAft>
            </a:pPr>
            <a:r>
              <a:rPr sz="1250" b="0" i="1">
                <a:solidFill>
                  <a:srgbClr val="60607D"/>
                </a:solidFill>
              </a:rPr>
              <a:t>[…]</a:t>
            </a:r>
          </a:p>
        </p:txBody>
      </p:sp>
      <p:sp>
        <p:nvSpPr>
          <p:cNvPr id="11" name="Rounded Rectangle 10"/>
          <p:cNvSpPr/>
          <p:nvPr/>
        </p:nvSpPr>
        <p:spPr>
          <a:xfrm>
            <a:off x="80756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And then</a:t>
            </a:r>
          </a:p>
          <a:p>
            <a:pPr algn="l">
              <a:spcAft>
                <a:spcPts val="500"/>
              </a:spcAft>
            </a:pPr>
            <a:r>
              <a:rPr sz="1250" b="0" i="1">
                <a:solidFill>
                  <a:srgbClr val="60607D"/>
                </a:solidFill>
              </a:rPr>
              <a:t>[…]</a:t>
            </a:r>
          </a:p>
        </p:txBody>
      </p:sp>
      <p:sp>
        <p:nvSpPr>
          <p:cNvPr id="12" name="TextBox 11"/>
          <p:cNvSpPr txBox="1"/>
          <p:nvPr/>
        </p:nvSpPr>
        <p:spPr>
          <a:xfrm>
            <a:off x="457200" y="5170000"/>
            <a:ext cx="27432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So we need</a:t>
            </a:r>
          </a:p>
        </p:txBody>
      </p:sp>
      <p:sp>
        <p:nvSpPr>
          <p:cNvPr id="13" name="Rounded Rectangle 12"/>
          <p:cNvSpPr/>
          <p:nvPr/>
        </p:nvSpPr>
        <p:spPr>
          <a:xfrm>
            <a:off x="4572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4" name="Rounded Rectangle 13"/>
          <p:cNvSpPr/>
          <p:nvPr/>
        </p:nvSpPr>
        <p:spPr>
          <a:xfrm>
            <a:off x="42664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5" name="Rounded Rectangle 14"/>
          <p:cNvSpPr/>
          <p:nvPr/>
        </p:nvSpPr>
        <p:spPr>
          <a:xfrm>
            <a:off x="80756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6" name="TextBox 15"/>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how we are going about it.]</a:t>
            </a:r>
          </a:p>
        </p:txBody>
      </p:sp>
      <p:sp>
        <p:nvSpPr>
          <p:cNvPr id="9" name="Rounded Rectangle 8"/>
          <p:cNvSpPr/>
          <p:nvPr/>
        </p:nvSpPr>
        <p:spPr>
          <a:xfrm>
            <a:off x="457200" y="1828368"/>
            <a:ext cx="3692533"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750" b="1" i="0">
                <a:solidFill>
                  <a:srgbClr val="000000"/>
                </a:solidFill>
              </a:rPr>
              <a:t>PHASE 1 · Intake, Validate, Plan · Sept 14 – Oct 16</a:t>
            </a:r>
          </a:p>
          <a:p>
            <a:pPr algn="l">
              <a:spcAft>
                <a:spcPts val="500"/>
              </a:spcAft>
            </a:pPr>
            <a:r>
              <a:rPr sz="750" b="0" i="0">
                <a:solidFill>
                  <a:srgbClr val="000000"/>
                </a:solidFill>
              </a:rPr>
              <a:t>Milestone: India trip Sept 25 – Oct 10 (AO)</a:t>
            </a:r>
          </a:p>
          <a:p>
            <a:pPr algn="l">
              <a:spcBef>
                <a:spcPts val="400"/>
              </a:spcBef>
              <a:spcAft>
                <a:spcPts val="500"/>
              </a:spcAft>
            </a:pPr>
            <a:r>
              <a:rPr sz="750" b="1" i="0">
                <a:solidFill>
                  <a:srgbClr val="000000"/>
                </a:solidFill>
              </a:rPr>
              <a:t>Role &amp; Org Mapping</a:t>
            </a:r>
          </a:p>
          <a:p>
            <a:pPr algn="l">
              <a:spcAft>
                <a:spcPts val="500"/>
              </a:spcAft>
            </a:pPr>
            <a:r>
              <a:rPr sz="750" b="0" i="0">
                <a:solidFill>
                  <a:srgbClr val="000000"/>
                </a:solidFill>
              </a:rPr>
              <a:t>Sessions with Naazneen's team to document formal and informal responsibilities, relationships, and escalation paths.</a:t>
            </a:r>
          </a:p>
          <a:p>
            <a:pPr algn="l">
              <a:spcBef>
                <a:spcPts val="400"/>
              </a:spcBef>
              <a:spcAft>
                <a:spcPts val="500"/>
              </a:spcAft>
            </a:pPr>
            <a:r>
              <a:rPr sz="750" b="1" i="0">
                <a:solidFill>
                  <a:srgbClr val="000000"/>
                </a:solidFill>
              </a:rPr>
              <a:t>Coverage &amp; Role Design</a:t>
            </a:r>
          </a:p>
          <a:p>
            <a:pPr algn="l">
              <a:spcAft>
                <a:spcPts val="500"/>
              </a:spcAft>
            </a:pPr>
            <a:r>
              <a:rPr sz="75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750" b="1" i="0">
                <a:solidFill>
                  <a:srgbClr val="000000"/>
                </a:solidFill>
              </a:rPr>
              <a:t>Alignment Prep</a:t>
            </a:r>
          </a:p>
          <a:p>
            <a:pPr algn="l">
              <a:spcAft>
                <a:spcPts val="500"/>
              </a:spcAft>
            </a:pPr>
            <a:r>
              <a:rPr sz="75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750" b="1" i="0">
                <a:solidFill>
                  <a:srgbClr val="000000"/>
                </a:solidFill>
              </a:rPr>
              <a:t>PHASE 2 · Align, Anchor, Execute · Oct 19 – Dec 20</a:t>
            </a:r>
          </a:p>
          <a:p>
            <a:pPr algn="l">
              <a:spcAft>
                <a:spcPts val="500"/>
              </a:spcAft>
            </a:pPr>
            <a:r>
              <a:rPr sz="750" b="0" i="0">
                <a:solidFill>
                  <a:srgbClr val="000000"/>
                </a:solidFill>
              </a:rPr>
              <a:t>Milestone: India trip mid-Nov (AO, Missy, Eric, McComas)</a:t>
            </a:r>
          </a:p>
          <a:p>
            <a:pPr algn="l">
              <a:spcBef>
                <a:spcPts val="400"/>
              </a:spcBef>
              <a:spcAft>
                <a:spcPts val="500"/>
              </a:spcAft>
            </a:pPr>
            <a:r>
              <a:rPr sz="750" b="1" i="0">
                <a:solidFill>
                  <a:srgbClr val="000000"/>
                </a:solidFill>
              </a:rPr>
              <a:t>Operating Model Decisions</a:t>
            </a:r>
          </a:p>
          <a:p>
            <a:pPr algn="l">
              <a:spcAft>
                <a:spcPts val="500"/>
              </a:spcAft>
            </a:pPr>
            <a:r>
              <a:rPr sz="750" b="0" i="0">
                <a:solidFill>
                  <a:srgbClr val="000000"/>
                </a:solidFill>
              </a:rPr>
              <a:t>Finalize market vs. India ownership of delivery escalation, solutioning participation, and shared governance.</a:t>
            </a:r>
          </a:p>
          <a:p>
            <a:pPr algn="l">
              <a:spcBef>
                <a:spcPts val="400"/>
              </a:spcBef>
              <a:spcAft>
                <a:spcPts val="500"/>
              </a:spcAft>
            </a:pPr>
            <a:r>
              <a:rPr sz="750" b="1" i="0">
                <a:solidFill>
                  <a:srgbClr val="000000"/>
                </a:solidFill>
              </a:rPr>
              <a:t>Leadership &amp; Talent Plan</a:t>
            </a:r>
          </a:p>
          <a:p>
            <a:pPr algn="l">
              <a:spcAft>
                <a:spcPts val="500"/>
              </a:spcAft>
            </a:pPr>
            <a:r>
              <a:rPr sz="750" b="0" i="0">
                <a:solidFill>
                  <a:srgbClr val="000000"/>
                </a:solidFill>
              </a:rPr>
              <a:t>Confirm critical role coverage, succession, recruiting priorities, and capability gaps.</a:t>
            </a:r>
          </a:p>
          <a:p>
            <a:pPr algn="l">
              <a:spcBef>
                <a:spcPts val="400"/>
              </a:spcBef>
              <a:spcAft>
                <a:spcPts val="500"/>
              </a:spcAft>
            </a:pPr>
            <a:r>
              <a:rPr sz="750" b="1" i="0">
                <a:solidFill>
                  <a:srgbClr val="000000"/>
                </a:solidFill>
              </a:rPr>
              <a:t>Execution &amp; Handoff</a:t>
            </a:r>
          </a:p>
          <a:p>
            <a:pPr algn="l">
              <a:spcAft>
                <a:spcPts val="500"/>
              </a:spcAft>
            </a:pPr>
            <a:r>
              <a:rPr sz="750" b="0" i="0">
                <a:solidFill>
                  <a:srgbClr val="000000"/>
                </a:solidFill>
              </a:rPr>
              <a:t>Complete transition activities and communications ahead of the 12/31 departure.</a:t>
            </a:r>
          </a:p>
        </p:txBody>
      </p:sp>
      <p:sp>
        <p:nvSpPr>
          <p:cNvPr id="11" name="Rounded Rectangle 10"/>
          <p:cNvSpPr/>
          <p:nvPr/>
        </p:nvSpPr>
        <p:spPr>
          <a:xfrm>
            <a:off x="8042266" y="1828368"/>
            <a:ext cx="3692533"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Extentia's Organic Revenue</a:t>
            </a:r>
          </a:p>
          <a:p>
            <a:pPr algn="l">
              <a:spcAft>
                <a:spcPts val="500"/>
              </a:spcAft>
            </a:pPr>
            <a:r>
              <a:rPr sz="115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14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05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332688"/>
            <a:ext cx="3692533"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a:p>
            <a:pPr algn="l">
              <a:spcAft>
                <a:spcPts val="400"/>
              </a:spcAft>
            </a:pPr>
            <a:r>
              <a:rPr sz="900" b="0" i="1">
                <a:solidFill>
                  <a:srgbClr val="60607D"/>
                </a:solidFill>
              </a:rPr>
              <a:t>Milestone: India trip Sept 25 – Oct 10 (AO)</a:t>
            </a:r>
          </a:p>
        </p:txBody>
      </p:sp>
      <p:sp>
        <p:nvSpPr>
          <p:cNvPr id="15" name="Oval 14"/>
          <p:cNvSpPr/>
          <p:nvPr/>
        </p:nvSpPr>
        <p:spPr>
          <a:xfrm>
            <a:off x="6004559" y="405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332688"/>
            <a:ext cx="3692533"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a:p>
            <a:pPr algn="l">
              <a:spcAft>
                <a:spcPts val="400"/>
              </a:spcAft>
            </a:pPr>
            <a:r>
              <a:rPr sz="900" b="0" i="1">
                <a:solidFill>
                  <a:srgbClr val="60607D"/>
                </a:solidFill>
              </a:rPr>
              <a:t>Milestone: India trip mid-Nov (AO, Missy, Eric, McComas)</a:t>
            </a:r>
          </a:p>
        </p:txBody>
      </p:sp>
      <p:sp>
        <p:nvSpPr>
          <p:cNvPr id="17" name="Oval 16"/>
          <p:cNvSpPr/>
          <p:nvPr/>
        </p:nvSpPr>
        <p:spPr>
          <a:xfrm>
            <a:off x="9797092" y="405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332688"/>
            <a:ext cx="3692533"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100" b="1" i="0">
                <a:solidFill>
                  <a:srgbClr val="000000"/>
                </a:solidFill>
              </a:rPr>
              <a:t>12/31</a:t>
            </a:r>
          </a:p>
          <a:p>
            <a:pPr algn="l">
              <a:spcAft>
                <a:spcPts val="500"/>
              </a:spcAft>
            </a:pPr>
            <a:r>
              <a:rPr sz="1100" b="0" i="1">
                <a:solidFill>
                  <a:srgbClr val="60607D"/>
                </a:solidFill>
              </a:rPr>
              <a:t>Naazneen departs.</a:t>
            </a:r>
          </a:p>
        </p:txBody>
      </p:sp>
      <p:sp>
        <p:nvSpPr>
          <p:cNvPr id="19" name="Rounded Rectangle 18"/>
          <p:cNvSpPr/>
          <p:nvPr/>
        </p:nvSpPr>
        <p:spPr>
          <a:xfrm>
            <a:off x="4572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61872"/>
            <a:ext cx="671430"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[Name]</a:t>
            </a:r>
          </a:p>
        </p:txBody>
      </p:sp>
      <p:sp>
        <p:nvSpPr>
          <p:cNvPr id="21" name="Rounded Rectangle 20"/>
          <p:cNvSpPr/>
          <p:nvPr/>
        </p:nvSpPr>
        <p:spPr>
          <a:xfrm>
            <a:off x="1421238" y="5761872"/>
            <a:ext cx="671430"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[Name]</a:t>
            </a:r>
          </a:p>
        </p:txBody>
      </p:sp>
      <p:sp>
        <p:nvSpPr>
          <p:cNvPr id="22" name="Rounded Rectangle 21"/>
          <p:cNvSpPr/>
          <p:nvPr/>
        </p:nvSpPr>
        <p:spPr>
          <a:xfrm>
            <a:off x="61710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24" name="Rounded Rectangle 23"/>
          <p:cNvSpPr/>
          <p:nvPr/>
        </p:nvSpPr>
        <p:spPr>
          <a:xfrm>
            <a:off x="7333594"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25" name="TextBox 24"/>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35 and divider slide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1605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486400" y="1170000"/>
            <a:ext cx="2743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8458200" y="1170000"/>
            <a:ext cx="14173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Shooting for</a:t>
            </a:r>
          </a:p>
        </p:txBody>
      </p:sp>
      <p:sp>
        <p:nvSpPr>
          <p:cNvPr id="11" name="TextBox 1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2014643"/>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16" name="TextBox 15"/>
          <p:cNvSpPr txBox="1"/>
          <p:nvPr/>
        </p:nvSpPr>
        <p:spPr>
          <a:xfrm>
            <a:off x="5486400" y="1828368"/>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17" name="TextBox 16"/>
          <p:cNvSpPr txBox="1"/>
          <p:nvPr/>
        </p:nvSpPr>
        <p:spPr>
          <a:xfrm>
            <a:off x="8458200" y="1828368"/>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18" name="Rounded Rectangle 17"/>
          <p:cNvSpPr/>
          <p:nvPr/>
        </p:nvSpPr>
        <p:spPr>
          <a:xfrm>
            <a:off x="10012680" y="2042075"/>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19" name="Rounded Rectangle 18"/>
          <p:cNvSpPr/>
          <p:nvPr/>
        </p:nvSpPr>
        <p:spPr>
          <a:xfrm>
            <a:off x="457200" y="2644966"/>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0" name="Oval 19"/>
          <p:cNvSpPr/>
          <p:nvPr/>
        </p:nvSpPr>
        <p:spPr>
          <a:xfrm>
            <a:off x="640080" y="288610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1" name="TextBox 20"/>
          <p:cNvSpPr txBox="1"/>
          <p:nvPr/>
        </p:nvSpPr>
        <p:spPr>
          <a:xfrm>
            <a:off x="1115568" y="2699830"/>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22" name="TextBox 21"/>
          <p:cNvSpPr txBox="1"/>
          <p:nvPr/>
        </p:nvSpPr>
        <p:spPr>
          <a:xfrm>
            <a:off x="5486400" y="2699830"/>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23" name="TextBox 22"/>
          <p:cNvSpPr txBox="1"/>
          <p:nvPr/>
        </p:nvSpPr>
        <p:spPr>
          <a:xfrm>
            <a:off x="8458200" y="2699830"/>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24" name="Rounded Rectangle 23"/>
          <p:cNvSpPr/>
          <p:nvPr/>
        </p:nvSpPr>
        <p:spPr>
          <a:xfrm>
            <a:off x="10012680" y="291353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25" name="Rounded Rectangle 24"/>
          <p:cNvSpPr/>
          <p:nvPr/>
        </p:nvSpPr>
        <p:spPr>
          <a:xfrm>
            <a:off x="457200" y="3516428"/>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6" name="Oval 25"/>
          <p:cNvSpPr/>
          <p:nvPr/>
        </p:nvSpPr>
        <p:spPr>
          <a:xfrm>
            <a:off x="640080" y="375756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7" name="TextBox 26"/>
          <p:cNvSpPr txBox="1"/>
          <p:nvPr/>
        </p:nvSpPr>
        <p:spPr>
          <a:xfrm>
            <a:off x="1115568" y="3571292"/>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28" name="TextBox 27"/>
          <p:cNvSpPr txBox="1"/>
          <p:nvPr/>
        </p:nvSpPr>
        <p:spPr>
          <a:xfrm>
            <a:off x="5486400" y="3571292"/>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29" name="TextBox 28"/>
          <p:cNvSpPr txBox="1"/>
          <p:nvPr/>
        </p:nvSpPr>
        <p:spPr>
          <a:xfrm>
            <a:off x="8458200" y="3571292"/>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30" name="Rounded Rectangle 29"/>
          <p:cNvSpPr/>
          <p:nvPr/>
        </p:nvSpPr>
        <p:spPr>
          <a:xfrm>
            <a:off x="10012680" y="378499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31" name="TextBox 30"/>
          <p:cNvSpPr txBox="1"/>
          <p:nvPr/>
        </p:nvSpPr>
        <p:spPr>
          <a:xfrm>
            <a:off x="457200" y="440789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32" name="Rounded Rectangle 31"/>
          <p:cNvSpPr/>
          <p:nvPr/>
        </p:nvSpPr>
        <p:spPr>
          <a:xfrm>
            <a:off x="457200" y="4737074"/>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3" name="Oval 32"/>
          <p:cNvSpPr/>
          <p:nvPr/>
        </p:nvSpPr>
        <p:spPr>
          <a:xfrm>
            <a:off x="640080" y="4978213"/>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4" name="TextBox 33"/>
          <p:cNvSpPr txBox="1"/>
          <p:nvPr/>
        </p:nvSpPr>
        <p:spPr>
          <a:xfrm>
            <a:off x="1115568" y="4791938"/>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35" name="TextBox 34"/>
          <p:cNvSpPr txBox="1"/>
          <p:nvPr/>
        </p:nvSpPr>
        <p:spPr>
          <a:xfrm>
            <a:off x="5486400" y="4791938"/>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36" name="TextBox 35"/>
          <p:cNvSpPr txBox="1"/>
          <p:nvPr/>
        </p:nvSpPr>
        <p:spPr>
          <a:xfrm>
            <a:off x="8458200" y="4791938"/>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37" name="Rounded Rectangle 36"/>
          <p:cNvSpPr/>
          <p:nvPr/>
        </p:nvSpPr>
        <p:spPr>
          <a:xfrm>
            <a:off x="10012680" y="5005645"/>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38" name="Rounded Rectangle 37"/>
          <p:cNvSpPr/>
          <p:nvPr/>
        </p:nvSpPr>
        <p:spPr>
          <a:xfrm>
            <a:off x="457200" y="5608536"/>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Oval 38"/>
          <p:cNvSpPr/>
          <p:nvPr/>
        </p:nvSpPr>
        <p:spPr>
          <a:xfrm>
            <a:off x="640080" y="584967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40" name="TextBox 39"/>
          <p:cNvSpPr txBox="1"/>
          <p:nvPr/>
        </p:nvSpPr>
        <p:spPr>
          <a:xfrm>
            <a:off x="1115568" y="5663400"/>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41" name="TextBox 40"/>
          <p:cNvSpPr txBox="1"/>
          <p:nvPr/>
        </p:nvSpPr>
        <p:spPr>
          <a:xfrm>
            <a:off x="5486400" y="5663400"/>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42" name="TextBox 41"/>
          <p:cNvSpPr txBox="1"/>
          <p:nvPr/>
        </p:nvSpPr>
        <p:spPr>
          <a:xfrm>
            <a:off x="8458200" y="5663400"/>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43" name="Rounded Rectangle 42"/>
          <p:cNvSpPr/>
          <p:nvPr/>
        </p:nvSpPr>
        <p:spPr>
          <a:xfrm>
            <a:off x="10012680" y="587710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
        <p:nvSpPr>
          <p:cNvPr id="12" name="TextBox 11"/>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[What has moved since last time. Use dates, not "recently".]</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[Next milestones, with real dates.]</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[What is in the way, including top risks and dependencies. And the specific ask: who, by when.]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[Why this one, and why now? One or two sentences: what it costs us today.]</a:t>
            </a:r>
          </a:p>
        </p:txBody>
      </p:sp>
      <p:sp>
        <p:nvSpPr>
          <p:cNvPr id="530" name="Rounded Rectangle 529"/>
          <p:cNvSpPr/>
          <p:nvPr/>
        </p:nvSpPr>
        <p:spPr>
          <a:xfrm>
            <a:off x="4572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What's happening today</a:t>
            </a:r>
          </a:p>
          <a:p>
            <a:pPr algn="l">
              <a:spcAft>
                <a:spcPts val="500"/>
              </a:spcAft>
            </a:pPr>
            <a:r>
              <a:rPr sz="1250" b="0" i="1">
                <a:solidFill>
                  <a:srgbClr val="60607D"/>
                </a:solidFill>
              </a:rPr>
              <a:t>[…]</a:t>
            </a:r>
          </a:p>
        </p:txBody>
      </p:sp>
      <p:sp>
        <p:nvSpPr>
          <p:cNvPr id="531" name="Rounded Rectangle 530"/>
          <p:cNvSpPr/>
          <p:nvPr/>
        </p:nvSpPr>
        <p:spPr>
          <a:xfrm>
            <a:off x="42664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As a result</a:t>
            </a:r>
          </a:p>
          <a:p>
            <a:pPr algn="l">
              <a:spcAft>
                <a:spcPts val="500"/>
              </a:spcAft>
            </a:pPr>
            <a:r>
              <a:rPr sz="1250" b="0" i="1">
                <a:solidFill>
                  <a:srgbClr val="60607D"/>
                </a:solidFill>
              </a:rPr>
              <a:t>[…]</a:t>
            </a:r>
          </a:p>
        </p:txBody>
      </p:sp>
      <p:sp>
        <p:nvSpPr>
          <p:cNvPr id="532" name="Rounded Rectangle 531"/>
          <p:cNvSpPr/>
          <p:nvPr/>
        </p:nvSpPr>
        <p:spPr>
          <a:xfrm>
            <a:off x="80756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And then</a:t>
            </a:r>
          </a:p>
          <a:p>
            <a:pPr algn="l">
              <a:spcAft>
                <a:spcPts val="500"/>
              </a:spcAft>
            </a:pPr>
            <a:r>
              <a:rPr sz="1250" b="0" i="1">
                <a:solidFill>
                  <a:srgbClr val="60607D"/>
                </a:solidFill>
              </a:rPr>
              <a:t>[…]</a:t>
            </a:r>
          </a:p>
        </p:txBody>
      </p:sp>
      <p:sp>
        <p:nvSpPr>
          <p:cNvPr id="533" name="TextBox 532"/>
          <p:cNvSpPr txBox="1"/>
          <p:nvPr/>
        </p:nvSpPr>
        <p:spPr>
          <a:xfrm>
            <a:off x="457200" y="5170000"/>
            <a:ext cx="27432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So we need</a:t>
            </a:r>
          </a:p>
        </p:txBody>
      </p:sp>
      <p:sp>
        <p:nvSpPr>
          <p:cNvPr id="534" name="Rounded Rectangle 533"/>
          <p:cNvSpPr/>
          <p:nvPr/>
        </p:nvSpPr>
        <p:spPr>
          <a:xfrm>
            <a:off x="4572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535" name="Rounded Rectangle 534"/>
          <p:cNvSpPr/>
          <p:nvPr/>
        </p:nvSpPr>
        <p:spPr>
          <a:xfrm>
            <a:off x="42664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536" name="Rounded Rectangle 535"/>
          <p:cNvSpPr/>
          <p:nvPr/>
        </p:nvSpPr>
        <p:spPr>
          <a:xfrm>
            <a:off x="80756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how we are going about it.]</a:t>
            </a:r>
          </a:p>
        </p:txBody>
      </p:sp>
      <p:sp>
        <p:nvSpPr>
          <p:cNvPr id="530" name="Rounded Rectangle 529"/>
          <p:cNvSpPr/>
          <p:nvPr/>
        </p:nvSpPr>
        <p:spPr>
          <a:xfrm>
            <a:off x="457200" y="1828368"/>
            <a:ext cx="1127760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What's behind the alias</a:t>
            </a:r>
          </a:p>
          <a:p>
            <a:pPr algn="l" marL="171450" indent="-171450">
              <a:spcAft>
                <a:spcPts val="500"/>
              </a:spcAft>
              <a:buFont typeface="Arial"/>
              <a:buChar char="•"/>
            </a:pPr>
            <a:r>
              <a:rPr sz="1150" b="0" i="0">
                <a:solidFill>
                  <a:srgbClr val="000000"/>
                </a:solidFill>
              </a:rPr>
              <a:t>Request is reviewed and assigned to a lead within the BU</a:t>
            </a:r>
          </a:p>
          <a:p>
            <a:pPr algn="l" marL="171450" indent="-171450">
              <a:spcAft>
                <a:spcPts val="500"/>
              </a:spcAft>
              <a:buFont typeface="Arial"/>
              <a:buChar char="•"/>
            </a:pPr>
            <a:r>
              <a:rPr sz="1150" b="0" i="0">
                <a:solidFill>
                  <a:srgbClr val="000000"/>
                </a:solidFill>
              </a:rPr>
              <a:t>Lead reaches out to gather more info, pulls in solutioning support, and ensures the request is handled — creds, calls, PT entry, etc.</a:t>
            </a:r>
          </a:p>
        </p:txBody>
      </p:sp>
      <p:sp>
        <p:nvSpPr>
          <p:cNvPr id="531" name="Rectangle 530"/>
          <p:cNvSpPr/>
          <p:nvPr/>
        </p:nvSpPr>
        <p:spPr>
          <a:xfrm>
            <a:off x="2303466" y="4149808"/>
            <a:ext cx="7585067" cy="19050"/>
          </a:xfrm>
          <a:prstGeom prst="rect">
            <a:avLst/>
          </a:prstGeom>
          <a:solidFill>
            <a:srgbClr val="D6D6DF"/>
          </a:solidFill>
          <a:ln>
            <a:noFill/>
          </a:ln>
        </p:spPr>
        <p:txBody>
          <a:bodyPr rtlCol="0" anchor="ctr"/>
          <a:lstStyle/>
          <a:p>
            <a:pPr algn="ctr"/>
          </a:p>
        </p:txBody>
      </p:sp>
      <p:sp>
        <p:nvSpPr>
          <p:cNvPr id="532" name="Oval 531"/>
          <p:cNvSpPr/>
          <p:nvPr/>
        </p:nvSpPr>
        <p:spPr>
          <a:xfrm>
            <a:off x="2212026" y="4058368"/>
            <a:ext cx="182880" cy="182880"/>
          </a:xfrm>
          <a:prstGeom prst="ellipse">
            <a:avLst/>
          </a:prstGeom>
          <a:solidFill>
            <a:srgbClr val="FFFFFF"/>
          </a:solidFill>
          <a:ln w="19050">
            <a:solidFill>
              <a:srgbClr val="000000"/>
            </a:solidFill>
          </a:ln>
        </p:spPr>
        <p:txBody>
          <a:bodyPr rtlCol="0" anchor="ctr"/>
          <a:lstStyle/>
          <a:p>
            <a:pPr algn="ctr"/>
          </a:p>
        </p:txBody>
      </p:sp>
      <p:sp>
        <p:nvSpPr>
          <p:cNvPr id="533" name="Rounded Rectangle 532"/>
          <p:cNvSpPr/>
          <p:nvPr/>
        </p:nvSpPr>
        <p:spPr>
          <a:xfrm>
            <a:off x="457200" y="4332688"/>
            <a:ext cx="3692533"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4" name="Oval 533"/>
          <p:cNvSpPr/>
          <p:nvPr/>
        </p:nvSpPr>
        <p:spPr>
          <a:xfrm>
            <a:off x="6004559" y="4058368"/>
            <a:ext cx="182880" cy="182880"/>
          </a:xfrm>
          <a:prstGeom prst="ellipse">
            <a:avLst/>
          </a:prstGeom>
          <a:solidFill>
            <a:srgbClr val="FFFFFF"/>
          </a:solidFill>
          <a:ln w="19050">
            <a:solidFill>
              <a:srgbClr val="000000"/>
            </a:solidFill>
          </a:ln>
        </p:spPr>
        <p:txBody>
          <a:bodyPr rtlCol="0" anchor="ctr"/>
          <a:lstStyle/>
          <a:p>
            <a:pPr algn="ctr"/>
          </a:p>
        </p:txBody>
      </p:sp>
      <p:sp>
        <p:nvSpPr>
          <p:cNvPr id="535" name="Rounded Rectangle 534"/>
          <p:cNvSpPr/>
          <p:nvPr/>
        </p:nvSpPr>
        <p:spPr>
          <a:xfrm>
            <a:off x="4249733" y="4332688"/>
            <a:ext cx="3692533"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36" name="Oval 535"/>
          <p:cNvSpPr/>
          <p:nvPr/>
        </p:nvSpPr>
        <p:spPr>
          <a:xfrm>
            <a:off x="9797092" y="4058368"/>
            <a:ext cx="182880" cy="182880"/>
          </a:xfrm>
          <a:prstGeom prst="ellipse">
            <a:avLst/>
          </a:prstGeom>
          <a:solidFill>
            <a:srgbClr val="FFFFFF"/>
          </a:solidFill>
          <a:ln w="19050">
            <a:solidFill>
              <a:srgbClr val="D6D6DF"/>
            </a:solidFill>
          </a:ln>
        </p:spPr>
        <p:txBody>
          <a:bodyPr rtlCol="0" anchor="ctr"/>
          <a:lstStyle/>
          <a:p>
            <a:pPr algn="ctr"/>
          </a:p>
        </p:txBody>
      </p:sp>
      <p:sp>
        <p:nvSpPr>
          <p:cNvPr id="537" name="Rounded Rectangle 536"/>
          <p:cNvSpPr/>
          <p:nvPr/>
        </p:nvSpPr>
        <p:spPr>
          <a:xfrm>
            <a:off x="8042266" y="4332688"/>
            <a:ext cx="3692533"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100" b="1" i="0">
                <a:solidFill>
                  <a:srgbClr val="000000"/>
                </a:solidFill>
              </a:rPr>
              <a:t>MVP done</a:t>
            </a:r>
          </a:p>
          <a:p>
            <a:pPr algn="l">
              <a:spcAft>
                <a:spcPts val="500"/>
              </a:spcAft>
            </a:pPr>
            <a:r>
              <a:rPr sz="1100" b="0" i="1">
                <a:solidFill>
                  <a:srgbClr val="60607D"/>
                </a:solidFill>
              </a:rPr>
              <a:t>[Date we are shooting for.]</a:t>
            </a:r>
          </a:p>
        </p:txBody>
      </p:sp>
      <p:sp>
        <p:nvSpPr>
          <p:cNvPr id="538" name="Rounded Rectangle 537"/>
          <p:cNvSpPr/>
          <p:nvPr/>
        </p:nvSpPr>
        <p:spPr>
          <a:xfrm>
            <a:off x="4572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39" name="Rounded Rectangle 538"/>
          <p:cNvSpPr/>
          <p:nvPr/>
        </p:nvSpPr>
        <p:spPr>
          <a:xfrm>
            <a:off x="667512" y="5761872"/>
            <a:ext cx="671430"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[Name]</a:t>
            </a:r>
          </a:p>
        </p:txBody>
      </p:sp>
      <p:sp>
        <p:nvSpPr>
          <p:cNvPr id="540" name="Rounded Rectangle 539"/>
          <p:cNvSpPr/>
          <p:nvPr/>
        </p:nvSpPr>
        <p:spPr>
          <a:xfrm>
            <a:off x="1421238" y="5761872"/>
            <a:ext cx="671430"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[Name]</a:t>
            </a:r>
          </a:p>
        </p:txBody>
      </p:sp>
      <p:sp>
        <p:nvSpPr>
          <p:cNvPr id="541" name="Rounded Rectangle 540"/>
          <p:cNvSpPr/>
          <p:nvPr/>
        </p:nvSpPr>
        <p:spPr>
          <a:xfrm>
            <a:off x="61710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2" name="Rounded Rectangle 541"/>
          <p:cNvSpPr/>
          <p:nvPr/>
        </p:nvSpPr>
        <p:spPr>
          <a:xfrm>
            <a:off x="6381312"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543" name="Rounded Rectangle 542"/>
          <p:cNvSpPr/>
          <p:nvPr/>
        </p:nvSpPr>
        <p:spPr>
          <a:xfrm>
            <a:off x="7333594"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544" name="TextBox 543"/>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38 · Delivery Excellence slide 17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9" name="TextBox 528"/>
          <p:cNvSpPr txBox="1"/>
          <p:nvPr/>
        </p:nvSpPr>
        <p:spPr>
          <a:xfrm>
            <a:off x="1115568" y="1170000"/>
            <a:ext cx="41605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530" name="TextBox 529"/>
          <p:cNvSpPr txBox="1"/>
          <p:nvPr/>
        </p:nvSpPr>
        <p:spPr>
          <a:xfrm>
            <a:off x="5486400" y="1170000"/>
            <a:ext cx="2743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531" name="TextBox 530"/>
          <p:cNvSpPr txBox="1"/>
          <p:nvPr/>
        </p:nvSpPr>
        <p:spPr>
          <a:xfrm>
            <a:off x="8458200" y="1170000"/>
            <a:ext cx="14173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Shooting for</a:t>
            </a:r>
          </a:p>
        </p:txBody>
      </p:sp>
      <p:sp>
        <p:nvSpPr>
          <p:cNvPr id="532" name="TextBox 531"/>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533" name="TextBox 532"/>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stories</a:t>
            </a:r>
          </a:p>
        </p:txBody>
      </p:sp>
      <p:sp>
        <p:nvSpPr>
          <p:cNvPr id="534" name="Rounded Rectangle 533"/>
          <p:cNvSpPr/>
          <p:nvPr/>
        </p:nvSpPr>
        <p:spPr>
          <a:xfrm>
            <a:off x="457200" y="1773504"/>
            <a:ext cx="11277600" cy="877299"/>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5" name="Oval 534"/>
          <p:cNvSpPr/>
          <p:nvPr/>
        </p:nvSpPr>
        <p:spPr>
          <a:xfrm>
            <a:off x="640080" y="204756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536" name="TextBox 535"/>
          <p:cNvSpPr txBox="1"/>
          <p:nvPr/>
        </p:nvSpPr>
        <p:spPr>
          <a:xfrm>
            <a:off x="1115568" y="1828368"/>
            <a:ext cx="4160520" cy="785859"/>
          </a:xfrm>
          <a:prstGeom prst="rect">
            <a:avLst/>
          </a:prstGeom>
          <a:noFill/>
        </p:spPr>
        <p:txBody>
          <a:bodyPr wrap="square" lIns="0" rIns="0" tIns="0" bIns="0" anchor="ctr">
            <a:spAutoFit/>
          </a:bodyPr>
          <a:lstStyle/>
          <a:p>
            <a:pPr algn="l">
              <a:spcBef>
                <a:spcPts val="400"/>
              </a:spcBef>
              <a:spcAft>
                <a:spcPts val="200"/>
              </a:spcAft>
            </a:pPr>
            <a:r>
              <a:rPr sz="950" b="1" i="0">
                <a:solidFill>
                  <a:srgbClr val="000000"/>
                </a:solidFill>
              </a:rPr>
              <a:t>Alias Creation</a:t>
            </a:r>
          </a:p>
          <a:p>
            <a:pPr algn="l">
              <a:spcAft>
                <a:spcPts val="500"/>
              </a:spcAft>
            </a:pPr>
            <a:r>
              <a:rPr sz="950" b="1" i="0">
                <a:solidFill>
                  <a:srgbClr val="000000"/>
                </a:solidFill>
              </a:rPr>
              <a:t>DDM_Opportunity@merkle.com</a:t>
            </a:r>
            <a:r>
              <a:rPr sz="950" b="0" i="0">
                <a:solidFill>
                  <a:srgbClr val="000000"/>
                </a:solidFill>
              </a:rPr>
              <a:t> and </a:t>
            </a:r>
            <a:r>
              <a:rPr sz="950" b="1" i="0">
                <a:solidFill>
                  <a:srgbClr val="000000"/>
                </a:solidFill>
              </a:rPr>
              <a:t>DBT_Opportunity@merkle.com</a:t>
            </a:r>
            <a:r>
              <a:rPr sz="950" b="0" i="0">
                <a:solidFill>
                  <a:srgbClr val="000000"/>
                </a:solidFill>
              </a:rPr>
              <a:t> are live, so requests reach the right BU SMEs without needing to know a matrix of names.</a:t>
            </a:r>
          </a:p>
        </p:txBody>
      </p:sp>
      <p:sp>
        <p:nvSpPr>
          <p:cNvPr id="537" name="TextBox 536"/>
          <p:cNvSpPr txBox="1"/>
          <p:nvPr/>
        </p:nvSpPr>
        <p:spPr>
          <a:xfrm>
            <a:off x="5486400" y="1828368"/>
            <a:ext cx="2743200" cy="785859"/>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38" name="TextBox 537"/>
          <p:cNvSpPr txBox="1"/>
          <p:nvPr/>
        </p:nvSpPr>
        <p:spPr>
          <a:xfrm>
            <a:off x="8458200" y="1828368"/>
            <a:ext cx="1417320" cy="785859"/>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39" name="Rounded Rectangle 538"/>
          <p:cNvSpPr/>
          <p:nvPr/>
        </p:nvSpPr>
        <p:spPr>
          <a:xfrm>
            <a:off x="10012680" y="207499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40" name="Rounded Rectangle 539"/>
          <p:cNvSpPr/>
          <p:nvPr/>
        </p:nvSpPr>
        <p:spPr>
          <a:xfrm>
            <a:off x="457200" y="2710803"/>
            <a:ext cx="11277600" cy="877299"/>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1" name="Oval 540"/>
          <p:cNvSpPr/>
          <p:nvPr/>
        </p:nvSpPr>
        <p:spPr>
          <a:xfrm>
            <a:off x="640080" y="298486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542" name="TextBox 541"/>
          <p:cNvSpPr txBox="1"/>
          <p:nvPr/>
        </p:nvSpPr>
        <p:spPr>
          <a:xfrm>
            <a:off x="1115568" y="2765667"/>
            <a:ext cx="4160520" cy="785859"/>
          </a:xfrm>
          <a:prstGeom prst="rect">
            <a:avLst/>
          </a:prstGeom>
          <a:noFill/>
        </p:spPr>
        <p:txBody>
          <a:bodyPr wrap="square" lIns="0" rIns="0" tIns="0" bIns="0" anchor="ctr">
            <a:spAutoFit/>
          </a:bodyPr>
          <a:lstStyle/>
          <a:p>
            <a:pPr algn="l">
              <a:spcBef>
                <a:spcPts val="400"/>
              </a:spcBef>
              <a:spcAft>
                <a:spcPts val="200"/>
              </a:spcAft>
            </a:pPr>
            <a:r>
              <a:rPr sz="850" b="1" i="0">
                <a:solidFill>
                  <a:srgbClr val="000000"/>
                </a:solidFill>
              </a:rPr>
              <a:t>Adoption</a:t>
            </a:r>
          </a:p>
          <a:p>
            <a:pPr algn="l" marL="171450" indent="-171450">
              <a:spcAft>
                <a:spcPts val="500"/>
              </a:spcAft>
              <a:buFont typeface="Arial"/>
              <a:buChar char="•"/>
            </a:pPr>
            <a:r>
              <a:rPr sz="850" b="0" i="0">
                <a:solidFill>
                  <a:srgbClr val="000000"/>
                </a:solidFill>
              </a:rPr>
              <a:t>C&amp;C has been informed of the alias and process</a:t>
            </a:r>
          </a:p>
          <a:p>
            <a:pPr algn="l" marL="171450" indent="-171450">
              <a:spcAft>
                <a:spcPts val="500"/>
              </a:spcAft>
              <a:buFont typeface="Arial"/>
              <a:buChar char="•"/>
            </a:pPr>
            <a:r>
              <a:rPr sz="850" b="0" i="0">
                <a:solidFill>
                  <a:srgbClr val="000000"/>
                </a:solidFill>
              </a:rPr>
              <a:t>Adoption has been slow: People still go to known individuals for help, cutting into BU visibility and ability to help</a:t>
            </a:r>
          </a:p>
        </p:txBody>
      </p:sp>
      <p:sp>
        <p:nvSpPr>
          <p:cNvPr id="543" name="TextBox 542"/>
          <p:cNvSpPr txBox="1"/>
          <p:nvPr/>
        </p:nvSpPr>
        <p:spPr>
          <a:xfrm>
            <a:off x="5486400" y="2765667"/>
            <a:ext cx="2743200" cy="785859"/>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44" name="TextBox 543"/>
          <p:cNvSpPr txBox="1"/>
          <p:nvPr/>
        </p:nvSpPr>
        <p:spPr>
          <a:xfrm>
            <a:off x="8458200" y="2765667"/>
            <a:ext cx="1417320" cy="785859"/>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45" name="Rounded Rectangle 544"/>
          <p:cNvSpPr/>
          <p:nvPr/>
        </p:nvSpPr>
        <p:spPr>
          <a:xfrm>
            <a:off x="10012680" y="3012292"/>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46" name="Rounded Rectangle 545"/>
          <p:cNvSpPr/>
          <p:nvPr/>
        </p:nvSpPr>
        <p:spPr>
          <a:xfrm>
            <a:off x="457200" y="3648102"/>
            <a:ext cx="11277600" cy="877299"/>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7" name="Oval 546"/>
          <p:cNvSpPr/>
          <p:nvPr/>
        </p:nvSpPr>
        <p:spPr>
          <a:xfrm>
            <a:off x="640080" y="392215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548" name="TextBox 547"/>
          <p:cNvSpPr txBox="1"/>
          <p:nvPr/>
        </p:nvSpPr>
        <p:spPr>
          <a:xfrm>
            <a:off x="1115568" y="3702966"/>
            <a:ext cx="4160520" cy="785859"/>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Leadership Ask</a:t>
            </a:r>
          </a:p>
          <a:p>
            <a:pPr algn="l" marL="171450" indent="-171450">
              <a:spcAft>
                <a:spcPts val="500"/>
              </a:spcAft>
              <a:buFont typeface="Arial"/>
              <a:buChar char="•"/>
            </a:pPr>
            <a:r>
              <a:rPr sz="1100" b="0" i="0">
                <a:solidFill>
                  <a:srgbClr val="000000"/>
                </a:solidFill>
              </a:rPr>
              <a:t>C&amp;C leadership support in redirecting request</a:t>
            </a:r>
          </a:p>
        </p:txBody>
      </p:sp>
      <p:sp>
        <p:nvSpPr>
          <p:cNvPr id="549" name="TextBox 548"/>
          <p:cNvSpPr txBox="1"/>
          <p:nvPr/>
        </p:nvSpPr>
        <p:spPr>
          <a:xfrm>
            <a:off x="5486400" y="3702966"/>
            <a:ext cx="2743200" cy="785859"/>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50" name="TextBox 549"/>
          <p:cNvSpPr txBox="1"/>
          <p:nvPr/>
        </p:nvSpPr>
        <p:spPr>
          <a:xfrm>
            <a:off x="8458200" y="3702966"/>
            <a:ext cx="1417320" cy="785859"/>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51" name="Rounded Rectangle 550"/>
          <p:cNvSpPr/>
          <p:nvPr/>
        </p:nvSpPr>
        <p:spPr>
          <a:xfrm>
            <a:off x="10012680" y="394959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52" name="Rounded Rectangle 551"/>
          <p:cNvSpPr/>
          <p:nvPr/>
        </p:nvSpPr>
        <p:spPr>
          <a:xfrm>
            <a:off x="457200" y="4585401"/>
            <a:ext cx="11277600" cy="877299"/>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53" name="Oval 552"/>
          <p:cNvSpPr/>
          <p:nvPr/>
        </p:nvSpPr>
        <p:spPr>
          <a:xfrm>
            <a:off x="640080" y="4859458"/>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554" name="TextBox 553"/>
          <p:cNvSpPr txBox="1"/>
          <p:nvPr/>
        </p:nvSpPr>
        <p:spPr>
          <a:xfrm>
            <a:off x="1115568" y="4640265"/>
            <a:ext cx="4160520" cy="785859"/>
          </a:xfrm>
          <a:prstGeom prst="rect">
            <a:avLst/>
          </a:prstGeom>
          <a:noFill/>
        </p:spPr>
        <p:txBody>
          <a:bodyPr wrap="square" lIns="0" rIns="0" tIns="0" bIns="0" anchor="ctr">
            <a:spAutoFit/>
          </a:bodyPr>
          <a:lstStyle/>
          <a:p>
            <a:pPr algn="l">
              <a:spcBef>
                <a:spcPts val="400"/>
              </a:spcBef>
              <a:spcAft>
                <a:spcPts val="200"/>
              </a:spcAft>
            </a:pPr>
            <a:r>
              <a:rPr sz="850" b="1" i="0">
                <a:solidFill>
                  <a:srgbClr val="000000"/>
                </a:solidFill>
              </a:rPr>
              <a:t>SME Case Request in SF – 10/16 target launch date</a:t>
            </a:r>
          </a:p>
          <a:p>
            <a:pPr algn="l">
              <a:spcAft>
                <a:spcPts val="500"/>
              </a:spcAft>
            </a:pPr>
            <a:r>
              <a:rPr sz="850" b="0" i="0">
                <a:solidFill>
                  <a:srgbClr val="000000"/>
                </a:solidFill>
              </a:rPr>
              <a:t>Updating the existing tool to cover more scenarios:</a:t>
            </a:r>
          </a:p>
          <a:p>
            <a:pPr algn="l" marL="171450" indent="-171450">
              <a:spcAft>
                <a:spcPts val="500"/>
              </a:spcAft>
              <a:buFont typeface="Arial"/>
              <a:buChar char="•"/>
            </a:pPr>
            <a:r>
              <a:rPr sz="850" b="0" i="0">
                <a:solidFill>
                  <a:srgbClr val="000000"/>
                </a:solidFill>
              </a:rPr>
              <a:t>New pursuit or deals under $500k</a:t>
            </a:r>
          </a:p>
          <a:p>
            <a:pPr algn="l" marL="171450" indent="-171450">
              <a:spcAft>
                <a:spcPts val="500"/>
              </a:spcAft>
              <a:buFont typeface="Arial"/>
              <a:buChar char="•"/>
            </a:pPr>
            <a:r>
              <a:rPr sz="850" b="0" i="0">
                <a:solidFill>
                  <a:srgbClr val="000000"/>
                </a:solidFill>
              </a:rPr>
              <a:t>Ad-hoc client request for a small new project</a:t>
            </a:r>
          </a:p>
          <a:p>
            <a:pPr algn="l" marL="171450" indent="-171450">
              <a:spcAft>
                <a:spcPts val="500"/>
              </a:spcAft>
              <a:buFont typeface="Arial"/>
              <a:buChar char="•"/>
            </a:pPr>
            <a:r>
              <a:rPr sz="850" b="0" i="0">
                <a:solidFill>
                  <a:srgbClr val="000000"/>
                </a:solidFill>
              </a:rPr>
              <a:t>Sprints involving multiple people</a:t>
            </a:r>
          </a:p>
          <a:p>
            <a:pPr algn="l" marL="171450" indent="-171450">
              <a:spcAft>
                <a:spcPts val="500"/>
              </a:spcAft>
              <a:buFont typeface="Arial"/>
              <a:buChar char="•"/>
            </a:pPr>
            <a:r>
              <a:rPr sz="850" b="0" i="0">
                <a:solidFill>
                  <a:srgbClr val="000000"/>
                </a:solidFill>
              </a:rPr>
              <a:t>Client exec-level meetings needing decks and materials</a:t>
            </a:r>
          </a:p>
          <a:p>
            <a:pPr algn="l" marL="171450" indent="-171450">
              <a:spcAft>
                <a:spcPts val="500"/>
              </a:spcAft>
              <a:buFont typeface="Arial"/>
              <a:buChar char="•"/>
            </a:pPr>
            <a:r>
              <a:rPr sz="850" b="0" i="0">
                <a:solidFill>
                  <a:srgbClr val="000000"/>
                </a:solidFill>
              </a:rPr>
              <a:t>Case studies, capability decks, etc.</a:t>
            </a:r>
          </a:p>
          <a:p>
            <a:pPr algn="l">
              <a:spcAft>
                <a:spcPts val="500"/>
              </a:spcAft>
            </a:pPr>
            <a:r>
              <a:rPr sz="850" b="0" i="0">
                <a:solidFill>
                  <a:srgbClr val="000000"/>
                </a:solidFill>
              </a:rPr>
              <a:t>Requests get emailed to the right alias AND land in a list for easy review and follow-up.</a:t>
            </a:r>
          </a:p>
        </p:txBody>
      </p:sp>
      <p:sp>
        <p:nvSpPr>
          <p:cNvPr id="555" name="TextBox 554"/>
          <p:cNvSpPr txBox="1"/>
          <p:nvPr/>
        </p:nvSpPr>
        <p:spPr>
          <a:xfrm>
            <a:off x="5486400" y="4640265"/>
            <a:ext cx="2743200" cy="785859"/>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56" name="TextBox 555"/>
          <p:cNvSpPr txBox="1"/>
          <p:nvPr/>
        </p:nvSpPr>
        <p:spPr>
          <a:xfrm>
            <a:off x="8458200" y="4640265"/>
            <a:ext cx="1417320" cy="785859"/>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57" name="Rounded Rectangle 556"/>
          <p:cNvSpPr/>
          <p:nvPr/>
        </p:nvSpPr>
        <p:spPr>
          <a:xfrm>
            <a:off x="10012680" y="4886890"/>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58" name="Rounded Rectangle 557"/>
          <p:cNvSpPr/>
          <p:nvPr/>
        </p:nvSpPr>
        <p:spPr>
          <a:xfrm>
            <a:off x="457200" y="5522700"/>
            <a:ext cx="11277600" cy="877299"/>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59" name="Oval 558"/>
          <p:cNvSpPr/>
          <p:nvPr/>
        </p:nvSpPr>
        <p:spPr>
          <a:xfrm>
            <a:off x="640080" y="579675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560" name="TextBox 559"/>
          <p:cNvSpPr txBox="1"/>
          <p:nvPr/>
        </p:nvSpPr>
        <p:spPr>
          <a:xfrm>
            <a:off x="1115568" y="5577564"/>
            <a:ext cx="4160520" cy="785859"/>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RACI Updates – 11/1 Estimated Rollout</a:t>
            </a:r>
          </a:p>
          <a:p>
            <a:pPr algn="l">
              <a:spcAft>
                <a:spcPts val="500"/>
              </a:spcAft>
            </a:pPr>
            <a:r>
              <a:rPr sz="1100" b="0" i="0">
                <a:solidFill>
                  <a:srgbClr val="000000"/>
                </a:solidFill>
              </a:rPr>
              <a:t>Underway, to clearly articulate roles and responsibilities for everyone involved in the intake process.</a:t>
            </a:r>
          </a:p>
        </p:txBody>
      </p:sp>
      <p:sp>
        <p:nvSpPr>
          <p:cNvPr id="561" name="TextBox 560"/>
          <p:cNvSpPr txBox="1"/>
          <p:nvPr/>
        </p:nvSpPr>
        <p:spPr>
          <a:xfrm>
            <a:off x="5486400" y="5577564"/>
            <a:ext cx="2743200" cy="785859"/>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562" name="TextBox 561"/>
          <p:cNvSpPr txBox="1"/>
          <p:nvPr/>
        </p:nvSpPr>
        <p:spPr>
          <a:xfrm>
            <a:off x="8458200" y="5577564"/>
            <a:ext cx="1417320" cy="785859"/>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563" name="Rounded Rectangle 562"/>
          <p:cNvSpPr/>
          <p:nvPr/>
        </p:nvSpPr>
        <p:spPr>
          <a:xfrm>
            <a:off x="10012680" y="582418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564" name="TextBox 563"/>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38 · Delivery Excellence slide 17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Deliverables go in, and a timeline and staffing plan come out. AI does the real work of generating the plan, and gets smarter from what we actually deliver.</a:t>
            </a:r>
          </a:p>
        </p:txBody>
      </p:sp>
      <p:sp>
        <p:nvSpPr>
          <p:cNvPr id="13" name="TextBox 12"/>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Delivery Excellence kickoff slide 19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[Why this one, and why now? One or two sentences: what it costs us today.]</a:t>
            </a:r>
          </a:p>
        </p:txBody>
      </p:sp>
      <p:sp>
        <p:nvSpPr>
          <p:cNvPr id="9" name="Rounded Rectangle 8"/>
          <p:cNvSpPr/>
          <p:nvPr/>
        </p:nvSpPr>
        <p:spPr>
          <a:xfrm>
            <a:off x="4572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What's happening today</a:t>
            </a:r>
          </a:p>
          <a:p>
            <a:pPr algn="l">
              <a:spcAft>
                <a:spcPts val="500"/>
              </a:spcAft>
            </a:pPr>
            <a:r>
              <a:rPr sz="1250" b="0" i="1">
                <a:solidFill>
                  <a:srgbClr val="60607D"/>
                </a:solidFill>
              </a:rPr>
              <a:t>[…]</a:t>
            </a:r>
          </a:p>
        </p:txBody>
      </p:sp>
      <p:sp>
        <p:nvSpPr>
          <p:cNvPr id="10" name="Rounded Rectangle 9"/>
          <p:cNvSpPr/>
          <p:nvPr/>
        </p:nvSpPr>
        <p:spPr>
          <a:xfrm>
            <a:off x="42664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As a result</a:t>
            </a:r>
          </a:p>
          <a:p>
            <a:pPr algn="l">
              <a:spcAft>
                <a:spcPts val="500"/>
              </a:spcAft>
            </a:pPr>
            <a:r>
              <a:rPr sz="1250" b="0" i="1">
                <a:solidFill>
                  <a:srgbClr val="60607D"/>
                </a:solidFill>
              </a:rPr>
              <a:t>[…]</a:t>
            </a:r>
          </a:p>
        </p:txBody>
      </p:sp>
      <p:sp>
        <p:nvSpPr>
          <p:cNvPr id="11" name="Rounded Rectangle 10"/>
          <p:cNvSpPr/>
          <p:nvPr/>
        </p:nvSpPr>
        <p:spPr>
          <a:xfrm>
            <a:off x="80756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And then</a:t>
            </a:r>
          </a:p>
          <a:p>
            <a:pPr algn="l">
              <a:spcAft>
                <a:spcPts val="500"/>
              </a:spcAft>
            </a:pPr>
            <a:r>
              <a:rPr sz="1250" b="0" i="1">
                <a:solidFill>
                  <a:srgbClr val="60607D"/>
                </a:solidFill>
              </a:rPr>
              <a:t>[…]</a:t>
            </a:r>
          </a:p>
        </p:txBody>
      </p:sp>
      <p:sp>
        <p:nvSpPr>
          <p:cNvPr id="12" name="TextBox 11"/>
          <p:cNvSpPr txBox="1"/>
          <p:nvPr/>
        </p:nvSpPr>
        <p:spPr>
          <a:xfrm>
            <a:off x="457200" y="5170000"/>
            <a:ext cx="27432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So we need</a:t>
            </a:r>
          </a:p>
        </p:txBody>
      </p:sp>
      <p:sp>
        <p:nvSpPr>
          <p:cNvPr id="13" name="Rounded Rectangle 12"/>
          <p:cNvSpPr/>
          <p:nvPr/>
        </p:nvSpPr>
        <p:spPr>
          <a:xfrm>
            <a:off x="4572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4" name="Rounded Rectangle 13"/>
          <p:cNvSpPr/>
          <p:nvPr/>
        </p:nvSpPr>
        <p:spPr>
          <a:xfrm>
            <a:off x="42664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5" name="Rounded Rectangle 14"/>
          <p:cNvSpPr/>
          <p:nvPr/>
        </p:nvSpPr>
        <p:spPr>
          <a:xfrm>
            <a:off x="80756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544960" y="414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05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[Milestone]</a:t>
            </a:r>
          </a:p>
        </p:txBody>
      </p:sp>
      <p:sp>
        <p:nvSpPr>
          <p:cNvPr id="15" name="Oval 14"/>
          <p:cNvSpPr/>
          <p:nvPr/>
        </p:nvSpPr>
        <p:spPr>
          <a:xfrm>
            <a:off x="3729040" y="405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73272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[Milestone]</a:t>
            </a:r>
          </a:p>
        </p:txBody>
      </p:sp>
      <p:sp>
        <p:nvSpPr>
          <p:cNvPr id="17" name="Oval 16"/>
          <p:cNvSpPr/>
          <p:nvPr/>
        </p:nvSpPr>
        <p:spPr>
          <a:xfrm>
            <a:off x="6004560" y="405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00824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[Milestone]</a:t>
            </a:r>
          </a:p>
        </p:txBody>
      </p:sp>
      <p:sp>
        <p:nvSpPr>
          <p:cNvPr id="19" name="Oval 18"/>
          <p:cNvSpPr/>
          <p:nvPr/>
        </p:nvSpPr>
        <p:spPr>
          <a:xfrm>
            <a:off x="8280080" y="405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728376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[Milestone]</a:t>
            </a:r>
          </a:p>
        </p:txBody>
      </p:sp>
      <p:sp>
        <p:nvSpPr>
          <p:cNvPr id="21" name="Oval 20"/>
          <p:cNvSpPr/>
          <p:nvPr/>
        </p:nvSpPr>
        <p:spPr>
          <a:xfrm>
            <a:off x="10555600" y="405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332688"/>
            <a:ext cx="2175520"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100" b="1" i="0">
                <a:solidFill>
                  <a:srgbClr val="000000"/>
                </a:solidFill>
              </a:rPr>
              <a:t>MVP done</a:t>
            </a:r>
          </a:p>
          <a:p>
            <a:pPr algn="l">
              <a:spcAft>
                <a:spcPts val="500"/>
              </a:spcAft>
            </a:pPr>
            <a:r>
              <a:rPr sz="1100" b="0" i="1">
                <a:solidFill>
                  <a:srgbClr val="60607D"/>
                </a:solidFill>
              </a:rPr>
              <a:t>[Date we are shooting for.]</a:t>
            </a:r>
          </a:p>
        </p:txBody>
      </p:sp>
      <p:sp>
        <p:nvSpPr>
          <p:cNvPr id="23" name="Rounded Rectangle 22"/>
          <p:cNvSpPr/>
          <p:nvPr/>
        </p:nvSpPr>
        <p:spPr>
          <a:xfrm>
            <a:off x="4572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61872"/>
            <a:ext cx="671430"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[Name]</a:t>
            </a:r>
          </a:p>
        </p:txBody>
      </p:sp>
      <p:sp>
        <p:nvSpPr>
          <p:cNvPr id="25" name="Rounded Rectangle 24"/>
          <p:cNvSpPr/>
          <p:nvPr/>
        </p:nvSpPr>
        <p:spPr>
          <a:xfrm>
            <a:off x="1421238" y="5761872"/>
            <a:ext cx="671430"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[Name]</a:t>
            </a:r>
          </a:p>
        </p:txBody>
      </p:sp>
      <p:sp>
        <p:nvSpPr>
          <p:cNvPr id="26" name="Rounded Rectangle 25"/>
          <p:cNvSpPr/>
          <p:nvPr/>
        </p:nvSpPr>
        <p:spPr>
          <a:xfrm>
            <a:off x="61710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28" name="Rounded Rectangle 27"/>
          <p:cNvSpPr/>
          <p:nvPr/>
        </p:nvSpPr>
        <p:spPr>
          <a:xfrm>
            <a:off x="7333594"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29" name="TextBox 28"/>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Delivery Excellence kickoff slide 19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1605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486400" y="1170000"/>
            <a:ext cx="2743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8458200" y="1170000"/>
            <a:ext cx="14173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Shooting for</a:t>
            </a:r>
          </a:p>
        </p:txBody>
      </p:sp>
      <p:sp>
        <p:nvSpPr>
          <p:cNvPr id="11" name="TextBox 1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2014643"/>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16" name="TextBox 15"/>
          <p:cNvSpPr txBox="1"/>
          <p:nvPr/>
        </p:nvSpPr>
        <p:spPr>
          <a:xfrm>
            <a:off x="5486400" y="1828368"/>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17" name="TextBox 16"/>
          <p:cNvSpPr txBox="1"/>
          <p:nvPr/>
        </p:nvSpPr>
        <p:spPr>
          <a:xfrm>
            <a:off x="8458200" y="1828368"/>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18" name="Rounded Rectangle 17"/>
          <p:cNvSpPr/>
          <p:nvPr/>
        </p:nvSpPr>
        <p:spPr>
          <a:xfrm>
            <a:off x="10012680" y="2042075"/>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19" name="Rounded Rectangle 18"/>
          <p:cNvSpPr/>
          <p:nvPr/>
        </p:nvSpPr>
        <p:spPr>
          <a:xfrm>
            <a:off x="457200" y="2644966"/>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0" name="Oval 19"/>
          <p:cNvSpPr/>
          <p:nvPr/>
        </p:nvSpPr>
        <p:spPr>
          <a:xfrm>
            <a:off x="640080" y="288610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1" name="TextBox 20"/>
          <p:cNvSpPr txBox="1"/>
          <p:nvPr/>
        </p:nvSpPr>
        <p:spPr>
          <a:xfrm>
            <a:off x="1115568" y="2699830"/>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22" name="TextBox 21"/>
          <p:cNvSpPr txBox="1"/>
          <p:nvPr/>
        </p:nvSpPr>
        <p:spPr>
          <a:xfrm>
            <a:off x="5486400" y="2699830"/>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23" name="TextBox 22"/>
          <p:cNvSpPr txBox="1"/>
          <p:nvPr/>
        </p:nvSpPr>
        <p:spPr>
          <a:xfrm>
            <a:off x="8458200" y="2699830"/>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24" name="Rounded Rectangle 23"/>
          <p:cNvSpPr/>
          <p:nvPr/>
        </p:nvSpPr>
        <p:spPr>
          <a:xfrm>
            <a:off x="10012680" y="291353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25" name="Rounded Rectangle 24"/>
          <p:cNvSpPr/>
          <p:nvPr/>
        </p:nvSpPr>
        <p:spPr>
          <a:xfrm>
            <a:off x="457200" y="3516428"/>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6" name="Oval 25"/>
          <p:cNvSpPr/>
          <p:nvPr/>
        </p:nvSpPr>
        <p:spPr>
          <a:xfrm>
            <a:off x="640080" y="375756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7" name="TextBox 26"/>
          <p:cNvSpPr txBox="1"/>
          <p:nvPr/>
        </p:nvSpPr>
        <p:spPr>
          <a:xfrm>
            <a:off x="1115568" y="3571292"/>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28" name="TextBox 27"/>
          <p:cNvSpPr txBox="1"/>
          <p:nvPr/>
        </p:nvSpPr>
        <p:spPr>
          <a:xfrm>
            <a:off x="5486400" y="3571292"/>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29" name="TextBox 28"/>
          <p:cNvSpPr txBox="1"/>
          <p:nvPr/>
        </p:nvSpPr>
        <p:spPr>
          <a:xfrm>
            <a:off x="8458200" y="3571292"/>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30" name="Rounded Rectangle 29"/>
          <p:cNvSpPr/>
          <p:nvPr/>
        </p:nvSpPr>
        <p:spPr>
          <a:xfrm>
            <a:off x="10012680" y="378499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31" name="TextBox 30"/>
          <p:cNvSpPr txBox="1"/>
          <p:nvPr/>
        </p:nvSpPr>
        <p:spPr>
          <a:xfrm>
            <a:off x="457200" y="440789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32" name="Rounded Rectangle 31"/>
          <p:cNvSpPr/>
          <p:nvPr/>
        </p:nvSpPr>
        <p:spPr>
          <a:xfrm>
            <a:off x="457200" y="4737074"/>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3" name="Oval 32"/>
          <p:cNvSpPr/>
          <p:nvPr/>
        </p:nvSpPr>
        <p:spPr>
          <a:xfrm>
            <a:off x="640080" y="4978213"/>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4" name="TextBox 33"/>
          <p:cNvSpPr txBox="1"/>
          <p:nvPr/>
        </p:nvSpPr>
        <p:spPr>
          <a:xfrm>
            <a:off x="1115568" y="4791938"/>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35" name="TextBox 34"/>
          <p:cNvSpPr txBox="1"/>
          <p:nvPr/>
        </p:nvSpPr>
        <p:spPr>
          <a:xfrm>
            <a:off x="5486400" y="4791938"/>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36" name="TextBox 35"/>
          <p:cNvSpPr txBox="1"/>
          <p:nvPr/>
        </p:nvSpPr>
        <p:spPr>
          <a:xfrm>
            <a:off x="8458200" y="4791938"/>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37" name="Rounded Rectangle 36"/>
          <p:cNvSpPr/>
          <p:nvPr/>
        </p:nvSpPr>
        <p:spPr>
          <a:xfrm>
            <a:off x="10012680" y="5005645"/>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38" name="Rounded Rectangle 37"/>
          <p:cNvSpPr/>
          <p:nvPr/>
        </p:nvSpPr>
        <p:spPr>
          <a:xfrm>
            <a:off x="457200" y="5608536"/>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Oval 38"/>
          <p:cNvSpPr/>
          <p:nvPr/>
        </p:nvSpPr>
        <p:spPr>
          <a:xfrm>
            <a:off x="640080" y="584967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40" name="TextBox 39"/>
          <p:cNvSpPr txBox="1"/>
          <p:nvPr/>
        </p:nvSpPr>
        <p:spPr>
          <a:xfrm>
            <a:off x="1115568" y="5663400"/>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41" name="TextBox 40"/>
          <p:cNvSpPr txBox="1"/>
          <p:nvPr/>
        </p:nvSpPr>
        <p:spPr>
          <a:xfrm>
            <a:off x="5486400" y="5663400"/>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42" name="TextBox 41"/>
          <p:cNvSpPr txBox="1"/>
          <p:nvPr/>
        </p:nvSpPr>
        <p:spPr>
          <a:xfrm>
            <a:off x="8458200" y="5663400"/>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43" name="Rounded Rectangle 42"/>
          <p:cNvSpPr/>
          <p:nvPr/>
        </p:nvSpPr>
        <p:spPr>
          <a:xfrm>
            <a:off x="10012680" y="587710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[What has moved since last time. Use dates, not "recently".]</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[Next milestones, with real dates.]</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[What is in the way, including top risks and dependencies. And the specific ask: who, by when.]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
        <p:nvSpPr>
          <p:cNvPr id="13" name="TextBox 12"/>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40 · Delivery Excellence slide 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1" i="0">
                <a:solidFill>
                  <a:srgbClr val="FFFFFF"/>
                </a:solidFill>
              </a:rPr>
              <a:t>Why this one, now:</a:t>
            </a:r>
            <a:r>
              <a:rPr sz="1600" b="0" i="0">
                <a:solidFill>
                  <a:srgbClr val="FFFFFF"/>
                </a:solidFill>
              </a:rPr>
              <a:t> 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What's happening today</a:t>
            </a:r>
          </a:p>
          <a:p>
            <a:pPr algn="l">
              <a:spcAft>
                <a:spcPts val="500"/>
              </a:spcAft>
            </a:pPr>
            <a:r>
              <a:rPr sz="1250" b="0" i="1">
                <a:solidFill>
                  <a:srgbClr val="60607D"/>
                </a:solidFill>
              </a:rPr>
              <a:t>[…]</a:t>
            </a:r>
          </a:p>
        </p:txBody>
      </p:sp>
      <p:sp>
        <p:nvSpPr>
          <p:cNvPr id="10" name="Rounded Rectangle 9"/>
          <p:cNvSpPr/>
          <p:nvPr/>
        </p:nvSpPr>
        <p:spPr>
          <a:xfrm>
            <a:off x="42664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As a result</a:t>
            </a:r>
          </a:p>
          <a:p>
            <a:pPr algn="l">
              <a:spcAft>
                <a:spcPts val="500"/>
              </a:spcAft>
            </a:pPr>
            <a:r>
              <a:rPr sz="1250" b="0" i="1">
                <a:solidFill>
                  <a:srgbClr val="60607D"/>
                </a:solidFill>
              </a:rPr>
              <a:t>[…]</a:t>
            </a:r>
          </a:p>
        </p:txBody>
      </p:sp>
      <p:sp>
        <p:nvSpPr>
          <p:cNvPr id="11" name="Rounded Rectangle 10"/>
          <p:cNvSpPr/>
          <p:nvPr/>
        </p:nvSpPr>
        <p:spPr>
          <a:xfrm>
            <a:off x="8075600" y="2570000"/>
            <a:ext cx="3659200" cy="24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And then</a:t>
            </a:r>
          </a:p>
          <a:p>
            <a:pPr algn="l">
              <a:spcAft>
                <a:spcPts val="500"/>
              </a:spcAft>
            </a:pPr>
            <a:r>
              <a:rPr sz="1250" b="0" i="1">
                <a:solidFill>
                  <a:srgbClr val="60607D"/>
                </a:solidFill>
              </a:rPr>
              <a:t>[…]</a:t>
            </a:r>
          </a:p>
        </p:txBody>
      </p:sp>
      <p:sp>
        <p:nvSpPr>
          <p:cNvPr id="12" name="TextBox 11"/>
          <p:cNvSpPr txBox="1"/>
          <p:nvPr/>
        </p:nvSpPr>
        <p:spPr>
          <a:xfrm>
            <a:off x="457200" y="5170000"/>
            <a:ext cx="27432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So we need</a:t>
            </a:r>
          </a:p>
        </p:txBody>
      </p:sp>
      <p:sp>
        <p:nvSpPr>
          <p:cNvPr id="13" name="Rounded Rectangle 12"/>
          <p:cNvSpPr/>
          <p:nvPr/>
        </p:nvSpPr>
        <p:spPr>
          <a:xfrm>
            <a:off x="4572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4" name="Rounded Rectangle 13"/>
          <p:cNvSpPr/>
          <p:nvPr/>
        </p:nvSpPr>
        <p:spPr>
          <a:xfrm>
            <a:off x="42664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5" name="Rounded Rectangle 14"/>
          <p:cNvSpPr/>
          <p:nvPr/>
        </p:nvSpPr>
        <p:spPr>
          <a:xfrm>
            <a:off x="8075600" y="5426032"/>
            <a:ext cx="3659200" cy="64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rIns="182880"/>
          <a:lstStyle/>
          <a:p>
            <a:pPr algn="l">
              <a:spcAft>
                <a:spcPts val="500"/>
              </a:spcAft>
            </a:pPr>
            <a:r>
              <a:rPr sz="1250" b="0" i="1">
                <a:solidFill>
                  <a:srgbClr val="60607D"/>
                </a:solidFill>
              </a:rPr>
              <a:t>[What we need]</a:t>
            </a:r>
          </a:p>
        </p:txBody>
      </p:sp>
      <p:sp>
        <p:nvSpPr>
          <p:cNvPr id="16" name="TextBox 15"/>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40 · Delivery Excellence slide 21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how we are going about it.]</a:t>
            </a:r>
          </a:p>
        </p:txBody>
      </p:sp>
      <p:sp>
        <p:nvSpPr>
          <p:cNvPr id="9" name="Rounded Rectangle 8"/>
          <p:cNvSpPr/>
          <p:nvPr/>
        </p:nvSpPr>
        <p:spPr>
          <a:xfrm>
            <a:off x="457200" y="1828368"/>
            <a:ext cx="558880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1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000" b="1" i="0">
                <a:solidFill>
                  <a:srgbClr val="000000"/>
                </a:solidFill>
              </a:rPr>
              <a:t>PHASE 2 · Execution on Changes: 11/2 – 12/24</a:t>
            </a:r>
          </a:p>
          <a:p>
            <a:pPr algn="l">
              <a:spcBef>
                <a:spcPts val="400"/>
              </a:spcBef>
              <a:spcAft>
                <a:spcPts val="500"/>
              </a:spcAft>
            </a:pPr>
            <a:r>
              <a:rPr sz="1000" b="1" i="0">
                <a:solidFill>
                  <a:srgbClr val="000000"/>
                </a:solidFill>
              </a:rPr>
              <a:t>Open Reqs</a:t>
            </a:r>
          </a:p>
          <a:p>
            <a:pPr algn="l">
              <a:spcAft>
                <a:spcPts val="500"/>
              </a:spcAft>
            </a:pPr>
            <a:r>
              <a:rPr sz="100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1000" b="1" i="0">
                <a:solidFill>
                  <a:srgbClr val="000000"/>
                </a:solidFill>
              </a:rPr>
              <a:t>Create Transition Plan</a:t>
            </a:r>
          </a:p>
          <a:p>
            <a:pPr algn="l">
              <a:spcAft>
                <a:spcPts val="500"/>
              </a:spcAft>
            </a:pPr>
            <a:r>
              <a:rPr sz="100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14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05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332688"/>
            <a:ext cx="3692533"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05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332688"/>
            <a:ext cx="3692533"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05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332688"/>
            <a:ext cx="3692533" cy="10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100" b="1" i="0">
                <a:solidFill>
                  <a:srgbClr val="000000"/>
                </a:solidFill>
              </a:rPr>
              <a:t>MVP done</a:t>
            </a:r>
          </a:p>
          <a:p>
            <a:pPr algn="l">
              <a:spcAft>
                <a:spcPts val="500"/>
              </a:spcAft>
            </a:pPr>
            <a:r>
              <a:rPr sz="1100" b="0" i="1">
                <a:solidFill>
                  <a:srgbClr val="60607D"/>
                </a:solidFill>
              </a:rPr>
              <a:t>[Date we are shooting for.]</a:t>
            </a:r>
          </a:p>
        </p:txBody>
      </p:sp>
      <p:sp>
        <p:nvSpPr>
          <p:cNvPr id="18" name="Rounded Rectangle 17"/>
          <p:cNvSpPr/>
          <p:nvPr/>
        </p:nvSpPr>
        <p:spPr>
          <a:xfrm>
            <a:off x="4572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61872"/>
            <a:ext cx="671430"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[Name]</a:t>
            </a:r>
          </a:p>
        </p:txBody>
      </p:sp>
      <p:sp>
        <p:nvSpPr>
          <p:cNvPr id="20" name="Rounded Rectangle 19"/>
          <p:cNvSpPr/>
          <p:nvPr/>
        </p:nvSpPr>
        <p:spPr>
          <a:xfrm>
            <a:off x="1421238" y="5761872"/>
            <a:ext cx="671430"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[Name]</a:t>
            </a:r>
          </a:p>
        </p:txBody>
      </p:sp>
      <p:sp>
        <p:nvSpPr>
          <p:cNvPr id="21" name="Rounded Rectangle 20"/>
          <p:cNvSpPr/>
          <p:nvPr/>
        </p:nvSpPr>
        <p:spPr>
          <a:xfrm>
            <a:off x="6171000" y="5432688"/>
            <a:ext cx="5563800" cy="9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23" name="Rounded Rectangle 22"/>
          <p:cNvSpPr/>
          <p:nvPr/>
        </p:nvSpPr>
        <p:spPr>
          <a:xfrm>
            <a:off x="7333594" y="5761872"/>
            <a:ext cx="869986"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[Partner]</a:t>
            </a:r>
          </a:p>
        </p:txBody>
      </p:sp>
      <p:sp>
        <p:nvSpPr>
          <p:cNvPr id="24" name="TextBox 23"/>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40 · Delivery Excellence slide 21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1605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486400" y="1170000"/>
            <a:ext cx="2743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8458200" y="1170000"/>
            <a:ext cx="141732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Shooting for</a:t>
            </a:r>
          </a:p>
        </p:txBody>
      </p:sp>
      <p:sp>
        <p:nvSpPr>
          <p:cNvPr id="11" name="TextBox 1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2014643"/>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16" name="TextBox 15"/>
          <p:cNvSpPr txBox="1"/>
          <p:nvPr/>
        </p:nvSpPr>
        <p:spPr>
          <a:xfrm>
            <a:off x="5486400" y="1828368"/>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17" name="TextBox 16"/>
          <p:cNvSpPr txBox="1"/>
          <p:nvPr/>
        </p:nvSpPr>
        <p:spPr>
          <a:xfrm>
            <a:off x="8458200" y="1828368"/>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18" name="Rounded Rectangle 17"/>
          <p:cNvSpPr/>
          <p:nvPr/>
        </p:nvSpPr>
        <p:spPr>
          <a:xfrm>
            <a:off x="10012680" y="2042075"/>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19" name="Rounded Rectangle 18"/>
          <p:cNvSpPr/>
          <p:nvPr/>
        </p:nvSpPr>
        <p:spPr>
          <a:xfrm>
            <a:off x="457200" y="2644966"/>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0" name="Oval 19"/>
          <p:cNvSpPr/>
          <p:nvPr/>
        </p:nvSpPr>
        <p:spPr>
          <a:xfrm>
            <a:off x="640080" y="288610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1" name="TextBox 20"/>
          <p:cNvSpPr txBox="1"/>
          <p:nvPr/>
        </p:nvSpPr>
        <p:spPr>
          <a:xfrm>
            <a:off x="1115568" y="2699830"/>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22" name="TextBox 21"/>
          <p:cNvSpPr txBox="1"/>
          <p:nvPr/>
        </p:nvSpPr>
        <p:spPr>
          <a:xfrm>
            <a:off x="5486400" y="2699830"/>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23" name="TextBox 22"/>
          <p:cNvSpPr txBox="1"/>
          <p:nvPr/>
        </p:nvSpPr>
        <p:spPr>
          <a:xfrm>
            <a:off x="8458200" y="2699830"/>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24" name="Rounded Rectangle 23"/>
          <p:cNvSpPr/>
          <p:nvPr/>
        </p:nvSpPr>
        <p:spPr>
          <a:xfrm>
            <a:off x="10012680" y="291353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25" name="Rounded Rectangle 24"/>
          <p:cNvSpPr/>
          <p:nvPr/>
        </p:nvSpPr>
        <p:spPr>
          <a:xfrm>
            <a:off x="457200" y="3516428"/>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6" name="Oval 25"/>
          <p:cNvSpPr/>
          <p:nvPr/>
        </p:nvSpPr>
        <p:spPr>
          <a:xfrm>
            <a:off x="640080" y="375756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7" name="TextBox 26"/>
          <p:cNvSpPr txBox="1"/>
          <p:nvPr/>
        </p:nvSpPr>
        <p:spPr>
          <a:xfrm>
            <a:off x="1115568" y="3571292"/>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28" name="TextBox 27"/>
          <p:cNvSpPr txBox="1"/>
          <p:nvPr/>
        </p:nvSpPr>
        <p:spPr>
          <a:xfrm>
            <a:off x="5486400" y="3571292"/>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29" name="TextBox 28"/>
          <p:cNvSpPr txBox="1"/>
          <p:nvPr/>
        </p:nvSpPr>
        <p:spPr>
          <a:xfrm>
            <a:off x="8458200" y="3571292"/>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30" name="Rounded Rectangle 29"/>
          <p:cNvSpPr/>
          <p:nvPr/>
        </p:nvSpPr>
        <p:spPr>
          <a:xfrm>
            <a:off x="10012680" y="378499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31" name="TextBox 30"/>
          <p:cNvSpPr txBox="1"/>
          <p:nvPr/>
        </p:nvSpPr>
        <p:spPr>
          <a:xfrm>
            <a:off x="457200" y="440789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32" name="Rounded Rectangle 31"/>
          <p:cNvSpPr/>
          <p:nvPr/>
        </p:nvSpPr>
        <p:spPr>
          <a:xfrm>
            <a:off x="457200" y="4737074"/>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3" name="Oval 32"/>
          <p:cNvSpPr/>
          <p:nvPr/>
        </p:nvSpPr>
        <p:spPr>
          <a:xfrm>
            <a:off x="640080" y="4978213"/>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4" name="TextBox 33"/>
          <p:cNvSpPr txBox="1"/>
          <p:nvPr/>
        </p:nvSpPr>
        <p:spPr>
          <a:xfrm>
            <a:off x="1115568" y="4791938"/>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35" name="TextBox 34"/>
          <p:cNvSpPr txBox="1"/>
          <p:nvPr/>
        </p:nvSpPr>
        <p:spPr>
          <a:xfrm>
            <a:off x="5486400" y="4791938"/>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36" name="TextBox 35"/>
          <p:cNvSpPr txBox="1"/>
          <p:nvPr/>
        </p:nvSpPr>
        <p:spPr>
          <a:xfrm>
            <a:off x="8458200" y="4791938"/>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37" name="Rounded Rectangle 36"/>
          <p:cNvSpPr/>
          <p:nvPr/>
        </p:nvSpPr>
        <p:spPr>
          <a:xfrm>
            <a:off x="10012680" y="5005645"/>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
        <p:nvSpPr>
          <p:cNvPr id="38" name="Rounded Rectangle 37"/>
          <p:cNvSpPr/>
          <p:nvPr/>
        </p:nvSpPr>
        <p:spPr>
          <a:xfrm>
            <a:off x="457200" y="5608536"/>
            <a:ext cx="11277600" cy="81146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Oval 38"/>
          <p:cNvSpPr/>
          <p:nvPr/>
        </p:nvSpPr>
        <p:spPr>
          <a:xfrm>
            <a:off x="640080" y="584967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40" name="TextBox 39"/>
          <p:cNvSpPr txBox="1"/>
          <p:nvPr/>
        </p:nvSpPr>
        <p:spPr>
          <a:xfrm>
            <a:off x="1115568" y="5663400"/>
            <a:ext cx="4160520" cy="720022"/>
          </a:xfrm>
          <a:prstGeom prst="rect">
            <a:avLst/>
          </a:prstGeom>
          <a:noFill/>
        </p:spPr>
        <p:txBody>
          <a:bodyPr wrap="square" lIns="0" rIns="0" tIns="0" bIns="0" anchor="ctr">
            <a:spAutoFit/>
          </a:bodyPr>
          <a:lstStyle/>
          <a:p>
            <a:pPr algn="l">
              <a:spcAft>
                <a:spcPts val="500"/>
              </a:spcAft>
            </a:pPr>
            <a:r>
              <a:rPr sz="1100" b="0" i="1">
                <a:solidFill>
                  <a:srgbClr val="60607D"/>
                </a:solidFill>
              </a:rPr>
              <a:t>[Story name]</a:t>
            </a:r>
          </a:p>
          <a:p>
            <a:pPr algn="l">
              <a:spcAft>
                <a:spcPts val="500"/>
              </a:spcAft>
            </a:pPr>
            <a:r>
              <a:rPr sz="1100" b="0" i="1">
                <a:solidFill>
                  <a:srgbClr val="60607D"/>
                </a:solidFill>
              </a:rPr>
              <a:t>[What it is, in plain words.]</a:t>
            </a:r>
          </a:p>
        </p:txBody>
      </p:sp>
      <p:sp>
        <p:nvSpPr>
          <p:cNvPr id="41" name="TextBox 40"/>
          <p:cNvSpPr txBox="1"/>
          <p:nvPr/>
        </p:nvSpPr>
        <p:spPr>
          <a:xfrm>
            <a:off x="5486400" y="5663400"/>
            <a:ext cx="2743200" cy="720022"/>
          </a:xfrm>
          <a:prstGeom prst="rect">
            <a:avLst/>
          </a:prstGeom>
          <a:noFill/>
        </p:spPr>
        <p:txBody>
          <a:bodyPr wrap="square" lIns="0" rIns="0" tIns="0" bIns="0" anchor="ctr">
            <a:spAutoFit/>
          </a:bodyPr>
          <a:lstStyle/>
          <a:p>
            <a:pPr algn="l">
              <a:spcAft>
                <a:spcPts val="500"/>
              </a:spcAft>
            </a:pPr>
            <a:r>
              <a:rPr sz="1050" b="0" i="1">
                <a:solidFill>
                  <a:srgbClr val="60607D"/>
                </a:solidFill>
              </a:rPr>
              <a:t>[How we will know it is working.]</a:t>
            </a:r>
          </a:p>
        </p:txBody>
      </p:sp>
      <p:sp>
        <p:nvSpPr>
          <p:cNvPr id="42" name="TextBox 41"/>
          <p:cNvSpPr txBox="1"/>
          <p:nvPr/>
        </p:nvSpPr>
        <p:spPr>
          <a:xfrm>
            <a:off x="8458200" y="5663400"/>
            <a:ext cx="1417320" cy="720022"/>
          </a:xfrm>
          <a:prstGeom prst="rect">
            <a:avLst/>
          </a:prstGeom>
          <a:noFill/>
        </p:spPr>
        <p:txBody>
          <a:bodyPr wrap="square" lIns="0" rIns="0" tIns="0" bIns="0" anchor="ctr">
            <a:spAutoFit/>
          </a:bodyPr>
          <a:lstStyle/>
          <a:p>
            <a:pPr algn="l">
              <a:spcAft>
                <a:spcPts val="500"/>
              </a:spcAft>
            </a:pPr>
            <a:r>
              <a:rPr sz="1050" b="0" i="1">
                <a:solidFill>
                  <a:srgbClr val="60607D"/>
                </a:solidFill>
              </a:rPr>
              <a:t>[Date]</a:t>
            </a:r>
          </a:p>
        </p:txBody>
      </p:sp>
      <p:sp>
        <p:nvSpPr>
          <p:cNvPr id="43" name="Rounded Rectangle 42"/>
          <p:cNvSpPr/>
          <p:nvPr/>
        </p:nvSpPr>
        <p:spPr>
          <a:xfrm>
            <a:off x="10012680" y="587710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[Status]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[What has moved since last time. Use dates, not "recently".]</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[Next milestones, with real dates.]</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[What is in the way, including top risks and dependencies. And the specific ask: who, by when.]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1 · COLUMNS · TEMPLATE · SUPPORTING DETAIL</a:t>
            </a:r>
          </a:p>
        </p:txBody>
      </p:sp>
      <p:sp>
        <p:nvSpPr>
          <p:cNvPr id="7" name="Rounded Rectangle 6"/>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[Two to four columns. Use for categories, options, models or examples: a name, a line on what it is, and a few key points.]</a:t>
            </a:r>
          </a:p>
        </p:txBody>
      </p:sp>
      <p:sp>
        <p:nvSpPr>
          <p:cNvPr id="8" name="Rounded Rectangle 7"/>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[Two to four columns. Use for categories, options, models or examples: a name, a line on what it is, and a few key points.]</a:t>
            </a:r>
          </a:p>
        </p:txBody>
      </p:sp>
      <p:sp>
        <p:nvSpPr>
          <p:cNvPr id="9" name="Rounded Rectangle 8"/>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[Two to four columns. Use for categories, options, models or examples: a name, a line on what it is, and a few key points.]</a:t>
            </a:r>
          </a:p>
        </p:txBody>
      </p:sp>
      <p:sp>
        <p:nvSpPr>
          <p:cNvPr id="10" name="Rounded Rectangle 9"/>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[Two to four columns. Use for categories, options, models or examples: a name, a line on what it is, and a few key points.]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
        <p:nvSpPr>
          <p:cNvPr id="42" name="TextBox 41"/>
          <p:cNvSpPr txBox="1"/>
          <p:nvPr/>
        </p:nvSpPr>
        <p:spPr>
          <a:xfrm>
            <a:off x="1051560" y="6492240"/>
            <a:ext cx="8686800" cy="201168"/>
          </a:xfrm>
          <a:prstGeom prst="rect">
            <a:avLst/>
          </a:prstGeom>
          <a:noFill/>
        </p:spPr>
        <p:txBody>
          <a:bodyPr wrap="none" lIns="0" rIns="0" tIns="0" bIns="0">
            <a:spAutoFit/>
          </a:bodyPr>
          <a:lstStyle/>
          <a:p>
            <a:r>
              <a:rPr sz="800" b="0" i="0">
                <a:solidFill>
                  <a:srgbClr val="60607D"/>
                </a:solidFill>
              </a:rPr>
              <a:t>Source: All Hands slide 16 (first six); Delivery Excellence kickoff slide 4 (Ops Transformation, Earlier Delivery)</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