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328" r:id="rId103"/>
    <p:sldId id="329" r:id="rId104"/>
    <p:sldId id="338" r:id="rId113"/>
    <p:sldId id="262" r:id="rId38"/>
    <p:sldId id="2147483647" r:id="rId19"/>
    <p:sldId id="256" r:id="rId18"/>
    <p:sldId id="265" r:id="rId17"/>
    <p:sldId id="266" r:id="rId41"/>
    <p:sldId id="268" r:id="rId43"/>
    <p:sldId id="267" r:id="rId42"/>
    <p:sldId id="257" r:id="rId20"/>
    <p:sldId id="330" r:id="rId105"/>
    <p:sldId id="263" r:id="rId39"/>
    <p:sldId id="258" r:id="rId21"/>
    <p:sldId id="269" r:id="rId44"/>
    <p:sldId id="270" r:id="rId45"/>
    <p:sldId id="271" r:id="rId46"/>
    <p:sldId id="259" r:id="rId22"/>
    <p:sldId id="331" r:id="rId106"/>
    <p:sldId id="272" r:id="rId47"/>
    <p:sldId id="273" r:id="rId48"/>
    <p:sldId id="274" r:id="rId49"/>
    <p:sldId id="275" r:id="rId50"/>
    <p:sldId id="276" r:id="rId51"/>
    <p:sldId id="277" r:id="rId52"/>
    <p:sldId id="332" r:id="rId107"/>
    <p:sldId id="278" r:id="rId53"/>
    <p:sldId id="279" r:id="rId54"/>
    <p:sldId id="280" r:id="rId55"/>
    <p:sldId id="281" r:id="rId56"/>
    <p:sldId id="282" r:id="rId57"/>
    <p:sldId id="283" r:id="rId58"/>
    <p:sldId id="284" r:id="rId59"/>
    <p:sldId id="285" r:id="rId60"/>
    <p:sldId id="333" r:id="rId108"/>
    <p:sldId id="286" r:id="rId61"/>
    <p:sldId id="287" r:id="rId62"/>
    <p:sldId id="288" r:id="rId63"/>
    <p:sldId id="289" r:id="rId64"/>
    <p:sldId id="290" r:id="rId65"/>
    <p:sldId id="291" r:id="rId66"/>
    <p:sldId id="292" r:id="rId67"/>
    <p:sldId id="334" r:id="rId109"/>
    <p:sldId id="264" r:id="rId40"/>
    <p:sldId id="260" r:id="rId23"/>
    <p:sldId id="293" r:id="rId68"/>
    <p:sldId id="294" r:id="rId69"/>
    <p:sldId id="295" r:id="rId70"/>
    <p:sldId id="261" r:id="rId24"/>
    <p:sldId id="335" r:id="rId110"/>
    <p:sldId id="296" r:id="rId71"/>
    <p:sldId id="297" r:id="rId72"/>
    <p:sldId id="298" r:id="rId73"/>
    <p:sldId id="299" r:id="rId74"/>
    <p:sldId id="300" r:id="rId75"/>
    <p:sldId id="301" r:id="rId76"/>
    <p:sldId id="336" r:id="rId111"/>
    <p:sldId id="302" r:id="rId77"/>
    <p:sldId id="303" r:id="rId78"/>
    <p:sldId id="304" r:id="rId79"/>
    <p:sldId id="305" r:id="rId80"/>
    <p:sldId id="306" r:id="rId81"/>
    <p:sldId id="307" r:id="rId82"/>
    <p:sldId id="337" r:id="rId112"/>
    <p:sldId id="308" r:id="rId83"/>
    <p:sldId id="309" r:id="rId84"/>
    <p:sldId id="310" r:id="rId85"/>
    <p:sldId id="311" r:id="rId86"/>
    <p:sldId id="312" r:id="rId87"/>
    <p:sldId id="313" r:id="rId88"/>
    <p:sldId id="314" r:id="rId89"/>
    <p:sldId id="315" r:id="rId90"/>
    <p:sldId id="316" r:id="rId91"/>
    <p:sldId id="317" r:id="rId92"/>
    <p:sldId id="318" r:id="rId93"/>
    <p:sldId id="319" r:id="rId94"/>
    <p:sldId id="320" r:id="rId95"/>
    <p:sldId id="321" r:id="rId96"/>
    <p:sldId id="322" r:id="rId97"/>
    <p:sldId id="323" r:id="rId98"/>
    <p:sldId id="324" r:id="rId99"/>
    <p:sldId id="325" r:id="rId100"/>
    <p:sldId id="326" r:id="rId101"/>
    <p:sldId id="327" r:id="rId102"/>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and guide" id="{1B4B59CC-27CD-4569-B218-7D41A932FDA1}">
          <p14:sldIdLst>
            <p14:sldId id="328"/>
            <p14:sldId id="329"/>
            <p14:sldId id="338"/>
          </p14:sldIdLst>
        </p14:section>
        <p14:section name="Deal-to-Delivery Playbook" id="{8F841B8A-8686-4093-A0C6-CD026F17E299}">
          <p14:sldIdLst>
            <p14:sldId id="262"/>
            <p14:sldId id="2147483647"/>
            <p14:sldId id="256"/>
            <p14:sldId id="265"/>
            <p14:sldId id="266"/>
            <p14:sldId id="268"/>
            <p14:sldId id="267"/>
            <p14:sldId id="257"/>
            <p14:sldId id="330"/>
          </p14:sldIdLst>
        </p14:section>
        <p14:section name="Accountability Framework" id="{0F8675DF-1E04-4A54-9E4D-8D576EEC0061}">
          <p14:sldIdLst>
            <p14:sldId id="263"/>
            <p14:sldId id="258"/>
            <p14:sldId id="269"/>
            <p14:sldId id="270"/>
            <p14:sldId id="271"/>
            <p14:sldId id="259"/>
            <p14:sldId id="331"/>
          </p14:sldIdLst>
        </p14:section>
        <p14:section name="Leadership Dashboards" id="{4DB6CFF8-53A7-4F2D-86C9-7C7BDA8AE6AD}">
          <p14:sldIdLst>
            <p14:sldId id="272"/>
            <p14:sldId id="273"/>
            <p14:sldId id="274"/>
            <p14:sldId id="275"/>
            <p14:sldId id="276"/>
            <p14:sldId id="277"/>
            <p14:sldId id="332"/>
          </p14:sldIdLst>
        </p14:section>
        <p14:section name="Capacity Planning &amp; Romulus" id="{9D8899F9-79BC-42B6-A6D3-1EFAD883665F}">
          <p14:sldIdLst>
            <p14:sldId id="278"/>
            <p14:sldId id="279"/>
            <p14:sldId id="280"/>
            <p14:sldId id="281"/>
            <p14:sldId id="282"/>
            <p14:sldId id="283"/>
            <p14:sldId id="284"/>
            <p14:sldId id="285"/>
            <p14:sldId id="333"/>
          </p14:sldIdLst>
        </p14:section>
        <p14:section name="DGS Leadership Transition" id="{DBD1A292-8359-4A52-AB49-C6C8FDFA95FC}">
          <p14:sldIdLst>
            <p14:sldId id="286"/>
            <p14:sldId id="287"/>
            <p14:sldId id="288"/>
            <p14:sldId id="289"/>
            <p14:sldId id="290"/>
            <p14:sldId id="291"/>
            <p14:sldId id="292"/>
            <p14:sldId id="334"/>
          </p14:sldIdLst>
        </p14:section>
        <p14:section name="Intake Updates" id="{96CF9BFB-64CA-48F8-BB6E-65F43DCB3735}">
          <p14:sldIdLst>
            <p14:sldId id="264"/>
            <p14:sldId id="260"/>
            <p14:sldId id="293"/>
            <p14:sldId id="294"/>
            <p14:sldId id="295"/>
            <p14:sldId id="261"/>
            <p14:sldId id="335"/>
          </p14:sldIdLst>
        </p14:section>
        <p14:section name="Ops Transformation: Rebuild Scoping &amp; Staffing" id="{1E674ECB-EDC9-4FFA-85E4-8C6D99D49C06}">
          <p14:sldIdLst>
            <p14:sldId id="296"/>
            <p14:sldId id="297"/>
            <p14:sldId id="298"/>
            <p14:sldId id="299"/>
            <p14:sldId id="300"/>
            <p14:sldId id="301"/>
            <p14:sldId id="336"/>
          </p14:sldIdLst>
        </p14:section>
        <p14:section name="Earlier Delivery &amp; Talent in Pursuits" id="{7405A831-4014-4A95-94A5-354208F57B38}">
          <p14:sldIdLst>
            <p14:sldId id="302"/>
            <p14:sldId id="303"/>
            <p14:sldId id="304"/>
            <p14:sldId id="305"/>
            <p14:sldId id="306"/>
            <p14:sldId id="307"/>
            <p14:sldId id="337"/>
          </p14:sldIdLst>
        </p14:section>
        <p14:section name="Supporting-detail layouts" id="{71FAB13F-2E6E-4A88-8D6B-2EBFBF2959C6}">
          <p14:sldIdLst>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1.xml"/><Relationship Id="rId18" Type="http://schemas.openxmlformats.org/officeDocument/2006/relationships/slide" Target="slides/slide10.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1.xml"/><Relationship Id="rId39" Type="http://schemas.openxmlformats.org/officeDocument/2006/relationships/slide" Target="slides/slide4.xml"/><Relationship Id="rId40" Type="http://schemas.openxmlformats.org/officeDocument/2006/relationships/slide" Target="slides/slide7.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slide" Target="slides/slide14.xml"/><Relationship Id="rId44" Type="http://schemas.openxmlformats.org/officeDocument/2006/relationships/slide" Target="slides/slide15.xml"/><Relationship Id="rId45" Type="http://schemas.openxmlformats.org/officeDocument/2006/relationships/slide" Target="slides/slide16.xml"/><Relationship Id="rId46" Type="http://schemas.openxmlformats.org/officeDocument/2006/relationships/slide" Target="slides/slide17.xml"/><Relationship Id="rId47" Type="http://schemas.openxmlformats.org/officeDocument/2006/relationships/slide" Target="slides/slide18.xml"/><Relationship Id="rId48" Type="http://schemas.openxmlformats.org/officeDocument/2006/relationships/slide" Target="slides/slide19.xml"/><Relationship Id="rId49" Type="http://schemas.openxmlformats.org/officeDocument/2006/relationships/slide" Target="slides/slide20.xml"/><Relationship Id="rId50" Type="http://schemas.openxmlformats.org/officeDocument/2006/relationships/slide" Target="slides/slide21.xml"/><Relationship Id="rId51" Type="http://schemas.openxmlformats.org/officeDocument/2006/relationships/slide" Target="slides/slide22.xml"/><Relationship Id="rId52" Type="http://schemas.openxmlformats.org/officeDocument/2006/relationships/slide" Target="slides/slide23.xml"/><Relationship Id="rId53" Type="http://schemas.openxmlformats.org/officeDocument/2006/relationships/slide" Target="slides/slide24.xml"/><Relationship Id="rId54" Type="http://schemas.openxmlformats.org/officeDocument/2006/relationships/slide" Target="slides/slide25.xml"/><Relationship Id="rId55" Type="http://schemas.openxmlformats.org/officeDocument/2006/relationships/slide" Target="slides/slide26.xml"/><Relationship Id="rId56" Type="http://schemas.openxmlformats.org/officeDocument/2006/relationships/slide" Target="slides/slide27.xml"/><Relationship Id="rId57" Type="http://schemas.openxmlformats.org/officeDocument/2006/relationships/slide" Target="slides/slide28.xml"/><Relationship Id="rId58" Type="http://schemas.openxmlformats.org/officeDocument/2006/relationships/slide" Target="slides/slide29.xml"/><Relationship Id="rId59" Type="http://schemas.openxmlformats.org/officeDocument/2006/relationships/slide" Target="slides/slide30.xml"/><Relationship Id="rId60" Type="http://schemas.openxmlformats.org/officeDocument/2006/relationships/slide" Target="slides/slide31.xml"/><Relationship Id="rId61" Type="http://schemas.openxmlformats.org/officeDocument/2006/relationships/slide" Target="slides/slide32.xml"/><Relationship Id="rId62" Type="http://schemas.openxmlformats.org/officeDocument/2006/relationships/slide" Target="slides/slide33.xml"/><Relationship Id="rId63" Type="http://schemas.openxmlformats.org/officeDocument/2006/relationships/slide" Target="slides/slide34.xml"/><Relationship Id="rId64" Type="http://schemas.openxmlformats.org/officeDocument/2006/relationships/slide" Target="slides/slide35.xml"/><Relationship Id="rId65" Type="http://schemas.openxmlformats.org/officeDocument/2006/relationships/slide" Target="slides/slide36.xml"/><Relationship Id="rId66" Type="http://schemas.openxmlformats.org/officeDocument/2006/relationships/slide" Target="slides/slide37.xml"/><Relationship Id="rId67" Type="http://schemas.openxmlformats.org/officeDocument/2006/relationships/slide" Target="slides/slide38.xml"/><Relationship Id="rId68" Type="http://schemas.openxmlformats.org/officeDocument/2006/relationships/slide" Target="slides/slide39.xml"/><Relationship Id="rId69" Type="http://schemas.openxmlformats.org/officeDocument/2006/relationships/slide" Target="slides/slide40.xml"/><Relationship Id="rId70" Type="http://schemas.openxmlformats.org/officeDocument/2006/relationships/slide" Target="slides/slide41.xml"/><Relationship Id="rId71" Type="http://schemas.openxmlformats.org/officeDocument/2006/relationships/slide" Target="slides/slide42.xml"/><Relationship Id="rId72" Type="http://schemas.openxmlformats.org/officeDocument/2006/relationships/slide" Target="slides/slide43.xml"/><Relationship Id="rId73" Type="http://schemas.openxmlformats.org/officeDocument/2006/relationships/slide" Target="slides/slide44.xml"/><Relationship Id="rId74" Type="http://schemas.openxmlformats.org/officeDocument/2006/relationships/slide" Target="slides/slide45.xml"/><Relationship Id="rId75" Type="http://schemas.openxmlformats.org/officeDocument/2006/relationships/slide" Target="slides/slide46.xml"/><Relationship Id="rId76" Type="http://schemas.openxmlformats.org/officeDocument/2006/relationships/slide" Target="slides/slide47.xml"/><Relationship Id="rId77" Type="http://schemas.openxmlformats.org/officeDocument/2006/relationships/slide" Target="slides/slide48.xml"/><Relationship Id="rId78" Type="http://schemas.openxmlformats.org/officeDocument/2006/relationships/slide" Target="slides/slide49.xml"/><Relationship Id="rId79" Type="http://schemas.openxmlformats.org/officeDocument/2006/relationships/slide" Target="slides/slide50.xml"/><Relationship Id="rId80" Type="http://schemas.openxmlformats.org/officeDocument/2006/relationships/slide" Target="slides/slide51.xml"/><Relationship Id="rId81" Type="http://schemas.openxmlformats.org/officeDocument/2006/relationships/slide" Target="slides/slide52.xml"/><Relationship Id="rId82" Type="http://schemas.openxmlformats.org/officeDocument/2006/relationships/slide" Target="slides/slide53.xml"/><Relationship Id="rId83" Type="http://schemas.openxmlformats.org/officeDocument/2006/relationships/slide" Target="slides/slide54.xml"/><Relationship Id="rId84" Type="http://schemas.openxmlformats.org/officeDocument/2006/relationships/slide" Target="slides/slide55.xml"/><Relationship Id="rId85" Type="http://schemas.openxmlformats.org/officeDocument/2006/relationships/slide" Target="slides/slide56.xml"/><Relationship Id="rId86" Type="http://schemas.openxmlformats.org/officeDocument/2006/relationships/slide" Target="slides/slide57.xml"/><Relationship Id="rId87" Type="http://schemas.openxmlformats.org/officeDocument/2006/relationships/slide" Target="slides/slide58.xml"/><Relationship Id="rId88" Type="http://schemas.openxmlformats.org/officeDocument/2006/relationships/slide" Target="slides/slide59.xml"/><Relationship Id="rId89" Type="http://schemas.openxmlformats.org/officeDocument/2006/relationships/slide" Target="slides/slide60.xml"/><Relationship Id="rId90" Type="http://schemas.openxmlformats.org/officeDocument/2006/relationships/slide" Target="slides/slide61.xml"/><Relationship Id="rId91" Type="http://schemas.openxmlformats.org/officeDocument/2006/relationships/slide" Target="slides/slide62.xml"/><Relationship Id="rId92" Type="http://schemas.openxmlformats.org/officeDocument/2006/relationships/slide" Target="slides/slide63.xml"/><Relationship Id="rId93" Type="http://schemas.openxmlformats.org/officeDocument/2006/relationships/slide" Target="slides/slide64.xml"/><Relationship Id="rId94" Type="http://schemas.openxmlformats.org/officeDocument/2006/relationships/slide" Target="slides/slide65.xml"/><Relationship Id="rId95" Type="http://schemas.openxmlformats.org/officeDocument/2006/relationships/slide" Target="slides/slide66.xml"/><Relationship Id="rId96" Type="http://schemas.openxmlformats.org/officeDocument/2006/relationships/slide" Target="slides/slide67.xml"/><Relationship Id="rId97" Type="http://schemas.openxmlformats.org/officeDocument/2006/relationships/slide" Target="slides/slide68.xml"/><Relationship Id="rId98" Type="http://schemas.openxmlformats.org/officeDocument/2006/relationships/slide" Target="slides/slide69.xml"/><Relationship Id="rId99" Type="http://schemas.openxmlformats.org/officeDocument/2006/relationships/slide" Target="slides/slide70.xml"/><Relationship Id="rId100" Type="http://schemas.openxmlformats.org/officeDocument/2006/relationships/slide" Target="slides/slide71.xml"/><Relationship Id="rId101" Type="http://schemas.openxmlformats.org/officeDocument/2006/relationships/slide" Target="slides/slide72.xml"/><Relationship Id="rId102" Type="http://schemas.openxmlformats.org/officeDocument/2006/relationships/slide" Target="slides/slide73.xml"/><Relationship Id="rId103" Type="http://schemas.openxmlformats.org/officeDocument/2006/relationships/slide" Target="slides/slide74.xml"/><Relationship Id="rId104" Type="http://schemas.openxmlformats.org/officeDocument/2006/relationships/slide" Target="slides/slide75.xml"/><Relationship Id="rId105" Type="http://schemas.openxmlformats.org/officeDocument/2006/relationships/slide" Target="slides/slide76.xml"/><Relationship Id="rId106" Type="http://schemas.openxmlformats.org/officeDocument/2006/relationships/slide" Target="slides/slide77.xml"/><Relationship Id="rId107" Type="http://schemas.openxmlformats.org/officeDocument/2006/relationships/slide" Target="slides/slide78.xml"/><Relationship Id="rId108" Type="http://schemas.openxmlformats.org/officeDocument/2006/relationships/slide" Target="slides/slide79.xml"/><Relationship Id="rId109" Type="http://schemas.openxmlformats.org/officeDocument/2006/relationships/slide" Target="slides/slide80.xml"/><Relationship Id="rId110" Type="http://schemas.openxmlformats.org/officeDocument/2006/relationships/slide" Target="slides/slide81.xml"/><Relationship Id="rId111" Type="http://schemas.openxmlformats.org/officeDocument/2006/relationships/slide" Target="slides/slide82.xml"/><Relationship Id="rId112" Type="http://schemas.openxmlformats.org/officeDocument/2006/relationships/slide" Target="slides/slide83.xml"/><Relationship Id="rId113" Type="http://schemas.openxmlformats.org/officeDocument/2006/relationships/slide" Target="slides/slide8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9.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2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0.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29.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2.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4.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38.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2.jpg"/><Relationship Id="rId4" Type="http://schemas.openxmlformats.org/officeDocument/2006/relationships/image" Target="../media/image10.jpg"/><Relationship Id="rId5" Type="http://schemas.openxmlformats.org/officeDocument/2006/relationships/image" Target="../media/image12.jpg"/><Relationship Id="rId6" Type="http://schemas.openxmlformats.org/officeDocument/2006/relationships/image" Target="../media/image1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3.jpg"/><Relationship Id="rId4" Type="http://schemas.openxmlformats.org/officeDocument/2006/relationships/image" Target="../media/image21.jpg"/><Relationship Id="rId5" Type="http://schemas.openxmlformats.org/officeDocument/2006/relationships/image" Target="../media/image23.jpg"/><Relationship Id="rId6" Type="http://schemas.openxmlformats.org/officeDocument/2006/relationships/image" Target="../media/image22.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4.jpg"/><Relationship Id="rId4" Type="http://schemas.openxmlformats.org/officeDocument/2006/relationships/image" Target="../media/image24.jpg"/><Relationship Id="rId5" Type="http://schemas.openxmlformats.org/officeDocument/2006/relationships/image" Target="../media/image26.jpg"/><Relationship Id="rId6" Type="http://schemas.openxmlformats.org/officeDocument/2006/relationships/image" Target="../media/image25.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 Id="rId6" Type="http://schemas.openxmlformats.org/officeDocument/2006/relationships/image" Target="../media/image48.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49.jpg"/><Relationship Id="rId4" Type="http://schemas.openxmlformats.org/officeDocument/2006/relationships/image" Target="../media/image27.jpg"/><Relationship Id="rId5" Type="http://schemas.openxmlformats.org/officeDocument/2006/relationships/image" Target="../media/image29.jpg"/><Relationship Id="rId6" Type="http://schemas.openxmlformats.org/officeDocument/2006/relationships/image" Target="../media/image28.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image" Target="../media/image50.jpg"/><Relationship Id="rId4" Type="http://schemas.openxmlformats.org/officeDocument/2006/relationships/image" Target="../media/image30.jpg"/><Relationship Id="rId5" Type="http://schemas.openxmlformats.org/officeDocument/2006/relationships/image" Target="../media/image32.jpg"/><Relationship Id="rId6" Type="http://schemas.openxmlformats.org/officeDocument/2006/relationships/image" Target="../media/image3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33.jpg"/><Relationship Id="rId3" Type="http://schemas.openxmlformats.org/officeDocument/2006/relationships/hyperlink" Target="https://globalappsportalnam.sharepoint.com/:t:/r/sites/MerkleCXMAmericasOperations2-OpsLeads/Shared%20Documents/Forms/AllItems.aspx?id=%2Fsites%2FMerkleCXMAmericasOperations2%2DOpsLeads%2FShared%20Documents%2F01%2DOps%20Priorities%2FPriorities%5FMaster%5FUpdate%5FGuide%2Emd&amp;parent=%2Fsites%2FMerkleCXMAmericasOperations2%2DOpsLeads%2FShared%20Documents%2F01%2DOps%20Priorities&amp;p=true&amp;share=cQoVXVzzOwu1S71HLMlQUgG9EgUCJraVVyvCnOlL9mFtEPuKD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1.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Deal to Delivery Playbook</a:t>
            </a:r>
          </a:p>
        </p:txBody>
      </p:sp>
      <p:sp>
        <p:nvSpPr>
          <p:cNvPr id="6" name="TextBox 5"/>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Chris McComas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000000"/>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000000"/>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13" name="Rounded Rectangle 51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4" name="Rounded Rectangle 51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ounded Rectangle 4"/>
          <p:cNvSpPr/>
          <p:nvPr/>
        </p:nvSpPr>
        <p:spPr>
          <a:xfrm>
            <a:off x="640080" y="2710000"/>
            <a:ext cx="7300000" cy="32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Accountability Framework</a:t>
            </a:r>
          </a:p>
        </p:txBody>
      </p:sp>
      <p:sp>
        <p:nvSpPr>
          <p:cNvPr id="3" name="TextBox 2"/>
          <p:cNvSpPr txBox="1"/>
          <p:nvPr/>
        </p:nvSpPr>
        <p:spPr>
          <a:xfrm>
            <a:off x="914400" y="29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John Ewen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D6D6D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D6D6D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23" name="Rounded Rectangle 52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000000"/>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4" name="Rounded Rectangle 52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icture 2" descr="div_p3.jpg"/>
          <p:cNvPicPr>
            <a:picLocks noChangeAspect="1"/>
          </p:cNvPicPr>
          <p:nvPr/>
        </p:nvPicPr>
        <p:blipFill>
          <a:blip r:embed="rId2"/>
          <a:stretch>
            <a:fillRect/>
          </a:stretch>
        </p:blipFill>
        <p:spPr>
          <a:xfrm>
            <a:off x="0" y="0"/>
            <a:ext cx="12192000" cy="6858000"/>
          </a:xfrm>
          <a:prstGeom prst="rect">
            <a:avLst/>
          </a:prstGeom>
        </p:spPr>
      </p:pic>
      <p:sp>
        <p:nvSpPr>
          <p:cNvPr id="4" name="Rectangle 3"/>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5" name="Rectangle 4"/>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3510000"/>
            <a:ext cx="7300000" cy="2460000"/>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900000"/>
            <a:ext cx="6300000" cy="3000000"/>
          </a:xfrm>
        </p:spPr>
        <p:txBody>
          <a:bodyPr anchor="b"/>
          <a:lstStyle/>
          <a:p>
            <a:r>
              <a:t>Intake Updates</a:t>
            </a:r>
          </a:p>
        </p:txBody>
      </p:sp>
      <p:sp>
        <p:nvSpPr>
          <p:cNvPr id="6" name="TextBox 5"/>
          <p:cNvSpPr txBox="1"/>
          <p:nvPr/>
        </p:nvSpPr>
        <p:spPr>
          <a:xfrm>
            <a:off x="914400" y="374000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7" name="TextBox 6"/>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i="0">
                <a:solidFill>
                  <a:srgbClr val="FFFFFF"/>
                </a:solidFill>
              </a:rPr>
              <a:t>Missy Foristall, Deana Derocha</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17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00000"/>
            <a:ext cx="8000000" cy="560000"/>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wrap="square" lIns="300000" tIns="70000" rIns="300000" bIns="70000" rtlCol="0" anchor="ctr">
            <a:noAutofit/>
          </a:bodyPr>
          <a:lstStyle/>
          <a:p>
            <a:pPr>
              <a:spcAft>
                <a:spcPts val="600"/>
              </a:spcAft>
            </a:pPr>
            <a:r>
              <a:rPr lang="en-US" sz="900" b="1">
                <a:solidFill>
                  <a:srgbClr val="D6D6DF"/>
                </a:solidFill>
              </a:rPr>
              <a:t>KEY TAKEAWAY</a:t>
            </a:r>
          </a:p>
          <a:p>
            <a:pPr marL="0" indent="0">
              <a:buNone/>
            </a:pPr>
            <a:r>
              <a:rPr lang="en-US" sz="15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a:solidFill>
                  <a:srgbClr val="000000"/>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wrap="square" lIns="215000" tIns="170000" rIns="190000" bIns="60000" rtlCol="0" anchor="t">
            <a:noAutofit/>
          </a:bodyPr>
          <a:lstStyle/>
          <a:p>
            <a:pPr>
              <a:spcAft>
                <a:spcPts val="300"/>
              </a:spcAft>
            </a:pPr>
            <a:r>
              <a:rPr lang="en-US" sz="1200" b="1" dirty="0">
                <a:solidFill>
                  <a:srgbClr val="D6D6D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D6D6D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533" name="Rounded Rectangle 532"/>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a:solidFill>
                  <a:srgbClr val="000000"/>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wrap="square" lIns="235000" tIns="200000" rIns="210000" bIns="90000" rtlCol="0" anchor="t">
            <a:noAutofit/>
          </a:bodyPr>
          <a:lstStyle/>
          <a:p>
            <a:pPr>
              <a:spcAft>
                <a:spcPts val="600"/>
              </a:spcAft>
            </a:pPr>
            <a:r>
              <a:rPr lang="en-US" sz="1200" b="1" dirty="0">
                <a:solidFill>
                  <a:srgbClr val="D6D6DF"/>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4" name="Rounded Rectangle 533"/>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Of the four, this is the most urgent to solve. Work is being sold in shapes we cannot staff or deliver, and that's costing us today — not a future risk. It's also our clearest answer to Play to Win's Delivery Excellence ask.</a:t>
            </a:r>
          </a:p>
        </p:txBody>
      </p:sp>
      <p:sp>
        <p:nvSpPr>
          <p:cNvPr id="510" name="Rounded Rectangle 50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There is no standardized, named set of delivery models, from which an individual or set of models is required to be declared at the point of sale, carried into contracting, enforced at staffing and used for delivery.</a:t>
            </a:r>
          </a:p>
          <a:p>
            <a:pPr algn="l" marL="171450" indent="-171450">
              <a:spcAft>
                <a:spcPts val="500"/>
              </a:spcAft>
              <a:buFont typeface="Arial"/>
              <a:buChar char="•"/>
            </a:pPr>
            <a:r>
              <a:rPr sz="1300" b="0" i="0">
                <a:solidFill>
                  <a:srgbClr val="000000"/>
                </a:solidFill>
              </a:rPr>
              <a:t>As a result, the delivery approach for any given engagement, or track within an engagement, is decided implicitly and independently by whoever happens to be making decisions at that moment (executives, Sales, CPs, Delivery leads, etc.), rather than through one shared educated decision.</a:t>
            </a:r>
          </a:p>
          <a:p>
            <a:pPr algn="l" marL="171450" indent="-171450">
              <a:spcAft>
                <a:spcPts val="500"/>
              </a:spcAft>
              <a:buFont typeface="Arial"/>
              <a:buChar char="•"/>
            </a:pPr>
            <a:r>
              <a:rPr sz="1300" b="0" i="0">
                <a:solidFill>
                  <a:srgbClr val="000000"/>
                </a:solidFill>
              </a:rPr>
              <a:t>When these implicit decisions disagree with the type of engagement or client expectation, often it is not fully understood until the symptoms are already visible to the client, or we are at a point that a pivot will require investment.</a:t>
            </a:r>
          </a:p>
        </p:txBody>
      </p:sp>
      <p:sp>
        <p:nvSpPr>
          <p:cNvPr id="511" name="Rounded Rectangle 51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We need a small set of authorized delivery models</a:t>
            </a:r>
          </a:p>
          <a:p>
            <a:pPr algn="l" marL="171450" indent="-171450">
              <a:spcAft>
                <a:spcPts val="500"/>
              </a:spcAft>
              <a:buFont typeface="Arial"/>
              <a:buChar char="•"/>
            </a:pPr>
            <a:r>
              <a:rPr sz="1300" b="0" i="0">
                <a:solidFill>
                  <a:srgbClr val="FFFFFF"/>
                </a:solidFill>
              </a:rPr>
              <a:t>That align approach, contract, and methodology standards</a:t>
            </a:r>
          </a:p>
          <a:p>
            <a:pPr algn="l" marL="171450" indent="-171450">
              <a:spcAft>
                <a:spcPts val="500"/>
              </a:spcAft>
              <a:buFont typeface="Arial"/>
              <a:buChar char="•"/>
            </a:pPr>
            <a:r>
              <a:rPr sz="1300" b="0" i="0">
                <a:solidFill>
                  <a:srgbClr val="FFFFFF"/>
                </a:solidFill>
              </a:rPr>
              <a:t>Allowing us to improve how we solution, estimate, and deliver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TextBox 50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engagement, and every track within a multi-track program, must have an explicitly named delivery model (chosen from a small, standard set) declared before review, staffing, etc. and checked at fixed intervals afterward. The model determines governance, staffing, and authority; it is not inferred after the fact by whoever is doing the work.</a:t>
            </a:r>
          </a:p>
        </p:txBody>
      </p:sp>
      <p:sp>
        <p:nvSpPr>
          <p:cNvPr id="510" name="Rounded Rectangle 509"/>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Delivery Models</a:t>
            </a:r>
          </a:p>
          <a:p>
            <a:pPr algn="l">
              <a:spcAft>
                <a:spcPts val="500"/>
              </a:spcAft>
            </a:pPr>
            <a:r>
              <a:rPr sz="1150" b="0" i="0">
                <a:solidFill>
                  <a:srgbClr val="000000"/>
                </a:solidFill>
              </a:rPr>
              <a:t>Every deal categorized at qualification into one of 5-6 core models, so pricing and staffing follow a known shape.</a:t>
            </a:r>
          </a:p>
        </p:txBody>
      </p:sp>
      <p:sp>
        <p:nvSpPr>
          <p:cNvPr id="511" name="Rounded Rectangle 510"/>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Contracts</a:t>
            </a:r>
          </a:p>
          <a:p>
            <a:pPr algn="l">
              <a:spcAft>
                <a:spcPts val="500"/>
              </a:spcAft>
            </a:pPr>
            <a:r>
              <a:rPr sz="1150" b="0" i="0">
                <a:solidFill>
                  <a:srgbClr val="000000"/>
                </a:solidFill>
              </a:rPr>
              <a:t>Terms, scope language, and billing matched to the chosen model — no more fixed price with no scope control.</a:t>
            </a:r>
          </a:p>
        </p:txBody>
      </p:sp>
      <p:sp>
        <p:nvSpPr>
          <p:cNvPr id="512" name="Rounded Rectangle 511"/>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Methodology Standards</a:t>
            </a:r>
          </a:p>
          <a:p>
            <a:pPr algn="l">
              <a:spcAft>
                <a:spcPts val="500"/>
              </a:spcAft>
            </a:pPr>
            <a:r>
              <a:rPr sz="1150" b="0" i="0">
                <a:solidFill>
                  <a:srgbClr val="000000"/>
                </a:solidFill>
              </a:rPr>
              <a:t>Clear working practices, so we guide clients into how we work instead of inheriting whatever mix they bring.</a:t>
            </a:r>
          </a:p>
        </p:txBody>
      </p:sp>
      <p:sp>
        <p:nvSpPr>
          <p:cNvPr id="513" name="Rounded Rectangle 512"/>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150" b="1" i="0">
                <a:solidFill>
                  <a:srgbClr val="000000"/>
                </a:solidFill>
              </a:rPr>
              <a:t>After the MVP</a:t>
            </a:r>
          </a:p>
          <a:p>
            <a:pPr algn="l">
              <a:spcAft>
                <a:spcPts val="500"/>
              </a:spcAft>
            </a:pPr>
            <a:r>
              <a:rPr sz="1150" b="0" i="0">
                <a:solidFill>
                  <a:srgbClr val="000000"/>
                </a:solidFill>
              </a:rPr>
              <a:t>Supported by AI: Estimation, Pricing, and Staffing follow once the MVP is solid.</a:t>
            </a:r>
          </a:p>
        </p:txBody>
      </p:sp>
      <p:sp>
        <p:nvSpPr>
          <p:cNvPr id="514" name="Rectangle 513"/>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515" name="Oval 514"/>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6" name="Rounded Rectangle 515"/>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16th</a:t>
            </a:r>
          </a:p>
          <a:p>
            <a:pPr algn="l">
              <a:spcAft>
                <a:spcPts val="500"/>
              </a:spcAft>
            </a:pPr>
            <a:r>
              <a:rPr sz="1100" b="0" i="0">
                <a:solidFill>
                  <a:srgbClr val="000000"/>
                </a:solidFill>
              </a:rPr>
              <a:t>Draft Models Gathered</a:t>
            </a:r>
          </a:p>
        </p:txBody>
      </p:sp>
      <p:sp>
        <p:nvSpPr>
          <p:cNvPr id="517" name="Oval 516"/>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518" name="Rounded Rectangle 517"/>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Week of Oct. 26th</a:t>
            </a:r>
          </a:p>
          <a:p>
            <a:pPr algn="l">
              <a:spcAft>
                <a:spcPts val="500"/>
              </a:spcAft>
            </a:pPr>
            <a:r>
              <a:rPr sz="1100" b="0" i="0">
                <a:solidFill>
                  <a:srgbClr val="000000"/>
                </a:solidFill>
              </a:rPr>
              <a:t>Base Model rationalization across groups</a:t>
            </a:r>
          </a:p>
        </p:txBody>
      </p:sp>
      <p:sp>
        <p:nvSpPr>
          <p:cNvPr id="519" name="Oval 518"/>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0" name="Rounded Rectangle 519"/>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23rd Shifting to Nov 6th</a:t>
            </a:r>
          </a:p>
          <a:p>
            <a:pPr algn="l">
              <a:spcAft>
                <a:spcPts val="500"/>
              </a:spcAft>
            </a:pPr>
            <a:r>
              <a:rPr sz="1100" b="0" i="0">
                <a:solidFill>
                  <a:srgbClr val="000000"/>
                </a:solidFill>
              </a:rPr>
              <a:t>Initial Models Well Defined</a:t>
            </a:r>
          </a:p>
        </p:txBody>
      </p:sp>
      <p:sp>
        <p:nvSpPr>
          <p:cNvPr id="521" name="Oval 520"/>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522" name="Rounded Rectangle 521"/>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Nov 13th</a:t>
            </a:r>
          </a:p>
          <a:p>
            <a:pPr algn="l">
              <a:spcAft>
                <a:spcPts val="500"/>
              </a:spcAft>
            </a:pPr>
            <a:r>
              <a:rPr sz="1100" b="0" i="0">
                <a:solidFill>
                  <a:srgbClr val="000000"/>
                </a:solidFill>
              </a:rPr>
              <a:t>1st Batch of Models &amp; Program "Stack" Guidance</a:t>
            </a:r>
          </a:p>
        </p:txBody>
      </p:sp>
      <p:sp>
        <p:nvSpPr>
          <p:cNvPr id="523" name="Oval 522"/>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24" name="Rounded Rectangle 523"/>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25" name="Rounded Rectangle 5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26" name="Rounded Rectangle 525"/>
          <p:cNvSpPr/>
          <p:nvPr/>
        </p:nvSpPr>
        <p:spPr>
          <a:xfrm>
            <a:off x="667512" y="5791872"/>
            <a:ext cx="4577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John</a:t>
            </a:r>
          </a:p>
        </p:txBody>
      </p:sp>
      <p:sp>
        <p:nvSpPr>
          <p:cNvPr id="527" name="Rounded Rectangle 526"/>
          <p:cNvSpPr/>
          <p:nvPr/>
        </p:nvSpPr>
        <p:spPr>
          <a:xfrm>
            <a:off x="1207530" y="5791872"/>
            <a:ext cx="517289"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Chris</a:t>
            </a:r>
          </a:p>
        </p:txBody>
      </p:sp>
      <p:sp>
        <p:nvSpPr>
          <p:cNvPr id="528" name="Rounded Rectangle 5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29" name="Rounded Rectangle 528"/>
          <p:cNvSpPr/>
          <p:nvPr/>
        </p:nvSpPr>
        <p:spPr>
          <a:xfrm>
            <a:off x="63813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30" name="Rounded Rectangle 529"/>
          <p:cNvSpPr/>
          <p:nvPr/>
        </p:nvSpPr>
        <p:spPr>
          <a:xfrm>
            <a:off x="7100030" y="5791872"/>
            <a:ext cx="10533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Delivery Leads</a:t>
            </a:r>
          </a:p>
        </p:txBody>
      </p:sp>
      <p:sp>
        <p:nvSpPr>
          <p:cNvPr id="531" name="Rounded Rectangle 530"/>
          <p:cNvSpPr/>
          <p:nvPr/>
        </p:nvSpPr>
        <p:spPr>
          <a:xfrm>
            <a:off x="8235714"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32" name="Rounded Rectangle 531"/>
          <p:cNvSpPr/>
          <p:nvPr/>
        </p:nvSpPr>
        <p:spPr>
          <a:xfrm>
            <a:off x="6381312" y="6102768"/>
            <a:ext cx="1708621"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Client &amp; Commercial teams</a:t>
            </a:r>
          </a:p>
        </p:txBody>
      </p:sp>
      <p:sp>
        <p:nvSpPr>
          <p:cNvPr id="533" name="Rounded Rectangle 532"/>
          <p:cNvSpPr/>
          <p:nvPr/>
        </p:nvSpPr>
        <p:spPr>
          <a:xfrm>
            <a:off x="8172229" y="6102768"/>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Finance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The recommendation: four rules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1</a:t>
            </a:r>
          </a:p>
          <a:p>
            <a:pPr algn="l">
              <a:spcBef>
                <a:spcPts val="400"/>
              </a:spcBef>
              <a:spcAft>
                <a:spcPts val="200"/>
              </a:spcAft>
            </a:pPr>
            <a:r>
              <a:rPr sz="1100" b="1" i="0">
                <a:solidFill>
                  <a:srgbClr val="000000"/>
                </a:solidFill>
              </a:rPr>
              <a:t>Standardize a small set of named models mapped to commercial structure</a:t>
            </a:r>
          </a:p>
          <a:p>
            <a:pPr algn="l">
              <a:spcAft>
                <a:spcPts val="500"/>
              </a:spcAft>
            </a:pPr>
            <a:r>
              <a:rPr sz="1100" b="0" i="0">
                <a:solidFill>
                  <a:srgbClr val="000000"/>
                </a:solidFill>
              </a:rPr>
              <a:t>No SOW is signed without a model name attached to it, and that name determines governance</a:t>
            </a:r>
          </a:p>
          <a:p>
            <a:pPr algn="l">
              <a:spcAft>
                <a:spcPts val="500"/>
              </a:spcAft>
            </a:pPr>
            <a:r>
              <a:rPr sz="1100" b="0" i="0">
                <a:solidFill>
                  <a:srgbClr val="000000"/>
                </a:solidFill>
              </a:rPr>
              <a:t>(e.g., gates vs. PI cadence vs. OKR-anchored backlog)</a:t>
            </a:r>
          </a:p>
        </p:txBody>
      </p:sp>
      <p:sp>
        <p:nvSpPr>
          <p:cNvPr id="510" name="Rounded Rectangle 509"/>
          <p:cNvSpPr/>
          <p:nvPr/>
        </p:nvSpPr>
        <p:spPr>
          <a:xfrm>
            <a:off x="33141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2</a:t>
            </a:r>
          </a:p>
          <a:p>
            <a:pPr algn="l">
              <a:spcBef>
                <a:spcPts val="400"/>
              </a:spcBef>
              <a:spcAft>
                <a:spcPts val="200"/>
              </a:spcAft>
            </a:pPr>
            <a:r>
              <a:rPr sz="1100" b="1" i="0">
                <a:solidFill>
                  <a:srgbClr val="000000"/>
                </a:solidFill>
              </a:rPr>
              <a:t>Treat multi-track programs as portfolios of clearly defined tracks mapped to a model, not one label stretched over the whole account.</a:t>
            </a:r>
          </a:p>
          <a:p>
            <a:pPr algn="l">
              <a:spcAft>
                <a:spcPts val="500"/>
              </a:spcAft>
            </a:pPr>
            <a:r>
              <a:rPr sz="1100" b="0" i="0">
                <a:solidFill>
                  <a:srgbClr val="000000"/>
                </a:solidFill>
              </a:rPr>
              <a:t>Program A:</a:t>
            </a:r>
          </a:p>
          <a:p>
            <a:pPr algn="l">
              <a:spcAft>
                <a:spcPts val="500"/>
              </a:spcAft>
            </a:pPr>
            <a:r>
              <a:rPr sz="1100" b="0" i="0">
                <a:solidFill>
                  <a:srgbClr val="000000"/>
                </a:solidFill>
              </a:rPr>
              <a:t>Track A: Model 1 (backcasted platform build) +Track B: Model 3 (outcomes based page performance improvement )+</a:t>
            </a:r>
          </a:p>
          <a:p>
            <a:pPr algn="l">
              <a:spcAft>
                <a:spcPts val="500"/>
              </a:spcAft>
            </a:pPr>
            <a:r>
              <a:rPr sz="1100" b="0" i="0">
                <a:solidFill>
                  <a:srgbClr val="000000"/>
                </a:solidFill>
              </a:rPr>
              <a:t>Track C: Model 2 (retainer - ops)</a:t>
            </a:r>
          </a:p>
        </p:txBody>
      </p:sp>
      <p:sp>
        <p:nvSpPr>
          <p:cNvPr id="511" name="Rounded Rectangle 510"/>
          <p:cNvSpPr/>
          <p:nvPr/>
        </p:nvSpPr>
        <p:spPr>
          <a:xfrm>
            <a:off x="61710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3</a:t>
            </a:r>
          </a:p>
          <a:p>
            <a:pPr algn="l">
              <a:spcBef>
                <a:spcPts val="400"/>
              </a:spcBef>
              <a:spcAft>
                <a:spcPts val="200"/>
              </a:spcAft>
            </a:pPr>
            <a:r>
              <a:rPr sz="1100" b="1" i="0">
                <a:solidFill>
                  <a:srgbClr val="000000"/>
                </a:solidFill>
              </a:rPr>
              <a:t>Require a kickoff certification.</a:t>
            </a:r>
          </a:p>
          <a:p>
            <a:pPr algn="l">
              <a:spcAft>
                <a:spcPts val="500"/>
              </a:spcAft>
            </a:pPr>
            <a:r>
              <a:rPr sz="1100" b="0" i="0">
                <a:solidFill>
                  <a:srgbClr val="000000"/>
                </a:solidFill>
              </a:rPr>
              <a:t>A named accountable role (Program or Account Lead and Delivery Lead) signs off, at kickoff and at defined checkpoints, that the working model, the staffing, and the contract still agree with each other. Shift from "escalate when it's already broken" into "check before it can break."</a:t>
            </a:r>
          </a:p>
        </p:txBody>
      </p:sp>
      <p:sp>
        <p:nvSpPr>
          <p:cNvPr id="512" name="Rounded Rectangle 511"/>
          <p:cNvSpPr/>
          <p:nvPr/>
        </p:nvSpPr>
        <p:spPr>
          <a:xfrm>
            <a:off x="9027900" y="1170000"/>
            <a:ext cx="2706900" cy="332571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Rule 4</a:t>
            </a:r>
          </a:p>
          <a:p>
            <a:pPr algn="l">
              <a:spcBef>
                <a:spcPts val="400"/>
              </a:spcBef>
              <a:spcAft>
                <a:spcPts val="200"/>
              </a:spcAft>
            </a:pPr>
            <a:r>
              <a:rPr sz="1100" b="1" i="0">
                <a:solidFill>
                  <a:srgbClr val="000000"/>
                </a:solidFill>
              </a:rPr>
              <a:t>Build leading indicators per model.</a:t>
            </a:r>
          </a:p>
          <a:p>
            <a:pPr algn="l">
              <a:spcAft>
                <a:spcPts val="500"/>
              </a:spcAft>
            </a:pPr>
            <a:r>
              <a:rPr sz="1100" b="0" i="0">
                <a:solidFill>
                  <a:srgbClr val="000000"/>
                </a:solidFill>
              </a:rPr>
              <a:t>Make drift visible in week 2 to 4 of a track instead of at the next executive review.</a:t>
            </a:r>
          </a:p>
          <a:p>
            <a:pPr algn="l">
              <a:spcAft>
                <a:spcPts val="500"/>
              </a:spcAft>
            </a:pPr>
            <a:r>
              <a:rPr sz="1100" b="0" i="0">
                <a:solidFill>
                  <a:srgbClr val="000000"/>
                </a:solidFill>
              </a:rPr>
              <a:t>Each model gets 3 to 4 checkable signals (e.g., for Model 1: is there a backcasted plan and is the client tracking to gates; for Model 2: is velocity being reported against contracted throughput)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07" name="Picture 506" descr="hero_p1.jpg"/>
          <p:cNvPicPr>
            <a:picLocks noChangeAspect="1"/>
          </p:cNvPicPr>
          <p:nvPr/>
        </p:nvPicPr>
        <p:blipFill>
          <a:blip r:embed="rId2"/>
          <a:stretch>
            <a:fillRect/>
          </a:stretch>
        </p:blipFill>
        <p:spPr>
          <a:xfrm>
            <a:off x="0" y="0"/>
            <a:ext cx="12192000" cy="1000000"/>
          </a:xfrm>
          <a:prstGeom prst="rect">
            <a:avLst/>
          </a:prstGeom>
        </p:spPr>
      </p:pic>
      <p:sp>
        <p:nvSpPr>
          <p:cNvPr id="508" name="Rectangle 507"/>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Delivery Models: the four starting models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DEAL-TO-DELIVERY PLAYBOOK · DETAIL</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Chris McComas</a:t>
            </a:r>
          </a:p>
        </p:txBody>
      </p:sp>
      <p:sp>
        <p:nvSpPr>
          <p:cNvPr id="509" name="Rounded Rectangle 50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1</a:t>
            </a:r>
          </a:p>
          <a:p>
            <a:pPr algn="l">
              <a:spcBef>
                <a:spcPts val="400"/>
              </a:spcBef>
              <a:spcAft>
                <a:spcPts val="200"/>
              </a:spcAft>
            </a:pPr>
            <a:r>
              <a:rPr sz="1100" b="1" i="0">
                <a:solidFill>
                  <a:srgbClr val="000000"/>
                </a:solidFill>
              </a:rPr>
              <a:t>Fixed Constraint Delivery</a:t>
            </a:r>
          </a:p>
          <a:p>
            <a:pPr algn="l">
              <a:spcAft>
                <a:spcPts val="500"/>
              </a:spcAft>
            </a:pPr>
            <a:r>
              <a:rPr sz="1100" b="0" i="0">
                <a:solidFill>
                  <a:srgbClr val="000000"/>
                </a:solidFill>
              </a:rPr>
              <a:t>A fixed constraint (budget, deadline, or scope) is set, and delivery is planned backward to it.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Backcasted plan is mandatory before build starts — no backcast, no green light</a:t>
            </a:r>
          </a:p>
          <a:p>
            <a:pPr algn="l" marL="171450" indent="-171450">
              <a:spcAft>
                <a:spcPts val="500"/>
              </a:spcAft>
              <a:buFont typeface="Arial"/>
              <a:buChar char="•"/>
            </a:pPr>
            <a:r>
              <a:rPr sz="1100" b="0" i="0">
                <a:solidFill>
                  <a:srgbClr val="000000"/>
                </a:solidFill>
              </a:rPr>
              <a:t>Scope is fixed and baselined at Gate 1; change flows through CR (constraint-impacting) or Scope Bank (parity swaps)</a:t>
            </a:r>
          </a:p>
          <a:p>
            <a:pPr algn="l" marL="171450" indent="-171450">
              <a:spcAft>
                <a:spcPts val="500"/>
              </a:spcAft>
              <a:buFont typeface="Arial"/>
              <a:buChar char="•"/>
            </a:pPr>
            <a:r>
              <a:rPr sz="1100" b="0" i="0">
                <a:solidFill>
                  <a:srgbClr val="000000"/>
                </a:solidFill>
              </a:rPr>
              <a:t>Phase-gated structure with formal sign-offs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Success is binary at the end: did it ship, on time, in budget, to spec</a:t>
            </a:r>
          </a:p>
        </p:txBody>
      </p:sp>
      <p:sp>
        <p:nvSpPr>
          <p:cNvPr id="510" name="Rounded Rectangle 50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2</a:t>
            </a:r>
          </a:p>
          <a:p>
            <a:pPr algn="l">
              <a:spcBef>
                <a:spcPts val="400"/>
              </a:spcBef>
              <a:spcAft>
                <a:spcPts val="200"/>
              </a:spcAft>
            </a:pPr>
            <a:r>
              <a:rPr sz="1100" b="1" i="0">
                <a:solidFill>
                  <a:srgbClr val="000000"/>
                </a:solidFill>
              </a:rPr>
              <a:t>Velocity Based Delivery</a:t>
            </a:r>
          </a:p>
          <a:p>
            <a:pPr algn="l">
              <a:spcAft>
                <a:spcPts val="500"/>
              </a:spcAft>
            </a:pPr>
            <a:r>
              <a:rPr sz="1100" b="0" i="0">
                <a:solidFill>
                  <a:srgbClr val="000000"/>
                </a:solidFill>
              </a:rPr>
              <a:t>A contracted team delivers at a predictable, measurable pace; value is demonstrated through throughput and periodic releases, not a fixed feature list.</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No fixed scope commitment — backlog is client-prioritized, reordered freely</a:t>
            </a:r>
          </a:p>
          <a:p>
            <a:pPr algn="l" marL="171450" indent="-171450">
              <a:spcAft>
                <a:spcPts val="500"/>
              </a:spcAft>
              <a:buFont typeface="Arial"/>
              <a:buChar char="•"/>
            </a:pPr>
            <a:r>
              <a:rPr sz="1100" b="0" i="0">
                <a:solidFill>
                  <a:srgbClr val="000000"/>
                </a:solidFill>
              </a:rPr>
              <a:t>Velocity baseline is established and defended</a:t>
            </a:r>
          </a:p>
          <a:p>
            <a:pPr algn="l" marL="171450" indent="-171450">
              <a:spcAft>
                <a:spcPts val="500"/>
              </a:spcAft>
              <a:buFont typeface="Arial"/>
              <a:buChar char="•"/>
            </a:pPr>
            <a:r>
              <a:rPr sz="1100" b="0" i="0">
                <a:solidFill>
                  <a:srgbClr val="000000"/>
                </a:solidFill>
              </a:rPr>
              <a:t>PI Planning cadence (8–10 weeks) anchors medium-term commitments</a:t>
            </a:r>
          </a:p>
          <a:p>
            <a:pPr algn="l" marL="171450" indent="-171450">
              <a:spcAft>
                <a:spcPts val="500"/>
              </a:spcAft>
              <a:buFont typeface="Arial"/>
              <a:buChar char="•"/>
            </a:pPr>
            <a:r>
              <a:rPr sz="1100" b="0" i="0">
                <a:solidFill>
                  <a:srgbClr val="000000"/>
                </a:solidFill>
              </a:rPr>
              <a:t>Squad Lead = Scrum Master</a:t>
            </a:r>
          </a:p>
          <a:p>
            <a:pPr algn="l" marL="171450" indent="-171450">
              <a:spcAft>
                <a:spcPts val="500"/>
              </a:spcAft>
              <a:buFont typeface="Arial"/>
              <a:buChar char="•"/>
            </a:pPr>
            <a:r>
              <a:rPr sz="1100" b="0" i="0">
                <a:solidFill>
                  <a:srgbClr val="000000"/>
                </a:solidFill>
              </a:rPr>
              <a:t>Contract states team capacity/pace is what's being bought — NOT a feature list</a:t>
            </a:r>
          </a:p>
        </p:txBody>
      </p:sp>
      <p:sp>
        <p:nvSpPr>
          <p:cNvPr id="511" name="Rounded Rectangle 51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3</a:t>
            </a:r>
          </a:p>
          <a:p>
            <a:pPr algn="l">
              <a:spcBef>
                <a:spcPts val="400"/>
              </a:spcBef>
              <a:spcAft>
                <a:spcPts val="200"/>
              </a:spcAft>
            </a:pPr>
            <a:r>
              <a:rPr sz="1100" b="1" i="0">
                <a:solidFill>
                  <a:srgbClr val="000000"/>
                </a:solidFill>
              </a:rPr>
              <a:t>Outcomes Based Delivery</a:t>
            </a:r>
          </a:p>
          <a:p>
            <a:pPr algn="l">
              <a:spcAft>
                <a:spcPts val="500"/>
              </a:spcAft>
            </a:pPr>
            <a:r>
              <a:rPr sz="1100" b="0" i="0">
                <a:solidFill>
                  <a:srgbClr val="000000"/>
                </a:solidFill>
              </a:rPr>
              <a:t>A strategic product partnership; the backlog exists to move measurable business outcomes, not just to ship features.</a:t>
            </a:r>
          </a:p>
          <a:p>
            <a:pPr algn="l">
              <a:spcBef>
                <a:spcPts val="400"/>
              </a:spcBef>
              <a:spcAft>
                <a:spcPts val="500"/>
              </a:spcAft>
            </a:pPr>
            <a:r>
              <a:rPr sz="1100" b="1" i="0">
                <a:solidFill>
                  <a:srgbClr val="000000"/>
                </a:solidFill>
              </a:rPr>
              <a:t>Key characteristics</a:t>
            </a:r>
          </a:p>
          <a:p>
            <a:pPr algn="l" marL="171450" indent="-171450">
              <a:spcAft>
                <a:spcPts val="500"/>
              </a:spcAft>
              <a:buFont typeface="Arial"/>
              <a:buChar char="•"/>
            </a:pPr>
            <a:r>
              <a:rPr sz="1100" b="0" i="0">
                <a:solidFill>
                  <a:srgbClr val="000000"/>
                </a:solidFill>
              </a:rPr>
              <a:t>POD Led = Product Owner, with real authority — decision rights and roadmap access should be contractually explicit</a:t>
            </a:r>
          </a:p>
          <a:p>
            <a:pPr algn="l" marL="171450" indent="-171450">
              <a:spcAft>
                <a:spcPts val="500"/>
              </a:spcAft>
              <a:buFont typeface="Arial"/>
              <a:buChar char="•"/>
            </a:pPr>
            <a:r>
              <a:rPr sz="1100" b="0" i="0">
                <a:solidFill>
                  <a:srgbClr val="000000"/>
                </a:solidFill>
              </a:rPr>
              <a:t>Every backlog item is anchored to an OKR before it enters a sprint</a:t>
            </a:r>
          </a:p>
          <a:p>
            <a:pPr algn="l" marL="171450" indent="-171450">
              <a:spcAft>
                <a:spcPts val="500"/>
              </a:spcAft>
              <a:buFont typeface="Arial"/>
              <a:buChar char="•"/>
            </a:pPr>
            <a:r>
              <a:rPr sz="1100" b="0" i="0">
                <a:solidFill>
                  <a:srgbClr val="000000"/>
                </a:solidFill>
              </a:rPr>
              <a:t>Client Product Owner co-owns the roadmap (not just consulted)</a:t>
            </a:r>
          </a:p>
          <a:p>
            <a:pPr algn="l" marL="171450" indent="-171450">
              <a:spcAft>
                <a:spcPts val="500"/>
              </a:spcAft>
              <a:buFont typeface="Arial"/>
              <a:buChar char="•"/>
            </a:pPr>
            <a:r>
              <a:rPr sz="1100" b="0" i="0">
                <a:solidFill>
                  <a:srgbClr val="000000"/>
                </a:solidFill>
              </a:rPr>
              <a:t>Continuous discovery is a funded, scheduled activity</a:t>
            </a:r>
          </a:p>
          <a:p>
            <a:pPr algn="l" marL="171450" indent="-171450">
              <a:spcAft>
                <a:spcPts val="500"/>
              </a:spcAft>
              <a:buFont typeface="Arial"/>
              <a:buChar char="•"/>
            </a:pPr>
            <a:r>
              <a:rPr sz="1100" b="0" i="0">
                <a:solidFill>
                  <a:srgbClr val="000000"/>
                </a:solidFill>
              </a:rPr>
              <a:t>Quarterly roadmap/OKR review with Exec Sponsor</a:t>
            </a:r>
          </a:p>
        </p:txBody>
      </p:sp>
      <p:sp>
        <p:nvSpPr>
          <p:cNvPr id="512" name="Rounded Rectangle 51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MODEL 4</a:t>
            </a:r>
          </a:p>
          <a:p>
            <a:pPr algn="l">
              <a:spcBef>
                <a:spcPts val="400"/>
              </a:spcBef>
              <a:spcAft>
                <a:spcPts val="200"/>
              </a:spcAft>
            </a:pPr>
            <a:r>
              <a:rPr sz="1000" b="1" i="0">
                <a:solidFill>
                  <a:srgbClr val="000000"/>
                </a:solidFill>
              </a:rPr>
              <a:t>Retainer(Site Support Example)</a:t>
            </a:r>
          </a:p>
          <a:p>
            <a:pPr algn="l">
              <a:spcAft>
                <a:spcPts val="500"/>
              </a:spcAft>
            </a:pPr>
            <a:r>
              <a:rPr sz="1000" b="0" i="0">
                <a:solidFill>
                  <a:srgbClr val="000000"/>
                </a:solidFill>
              </a:rPr>
              <a:t>Live Ops/Support retainer running and sustaining what's already been built. This is not new development, this is protecting existing value and responding to it.</a:t>
            </a:r>
          </a:p>
          <a:p>
            <a:pPr algn="l">
              <a:spcBef>
                <a:spcPts val="400"/>
              </a:spcBef>
              <a:spcAft>
                <a:spcPts val="500"/>
              </a:spcAft>
            </a:pPr>
            <a:r>
              <a:rPr sz="1000" b="1" i="0">
                <a:solidFill>
                  <a:srgbClr val="000000"/>
                </a:solidFill>
              </a:rPr>
              <a:t>Key characteristics</a:t>
            </a:r>
          </a:p>
          <a:p>
            <a:pPr algn="l" marL="171450" indent="-171450">
              <a:spcAft>
                <a:spcPts val="500"/>
              </a:spcAft>
              <a:buFont typeface="Arial"/>
              <a:buChar char="•"/>
            </a:pPr>
            <a:r>
              <a:rPr sz="1000" b="0" i="0">
                <a:solidFill>
                  <a:srgbClr val="000000"/>
                </a:solidFill>
              </a:rPr>
              <a:t>Scope is reactive + scheduled maintenance</a:t>
            </a:r>
          </a:p>
          <a:p>
            <a:pPr algn="l" marL="171450" indent="-171450">
              <a:spcAft>
                <a:spcPts val="500"/>
              </a:spcAft>
              <a:buFont typeface="Arial"/>
              <a:buChar char="•"/>
            </a:pPr>
            <a:r>
              <a:rPr sz="1000" b="0" i="0">
                <a:solidFill>
                  <a:srgbClr val="000000"/>
                </a:solidFill>
              </a:rPr>
              <a:t>Governed by SLAs (response/resolution time by severity)</a:t>
            </a:r>
          </a:p>
          <a:p>
            <a:pPr algn="l" marL="171450" indent="-171450">
              <a:spcAft>
                <a:spcPts val="500"/>
              </a:spcAft>
              <a:buFont typeface="Arial"/>
              <a:buChar char="•"/>
            </a:pPr>
            <a:r>
              <a:rPr sz="1000" b="0" i="0">
                <a:solidFill>
                  <a:srgbClr val="000000"/>
                </a:solidFill>
              </a:rPr>
              <a:t>Staffing is typically lighter-weight and more specialized (support engineers, on-call rotation)</a:t>
            </a:r>
          </a:p>
          <a:p>
            <a:pPr algn="l" marL="171450" indent="-171450">
              <a:spcAft>
                <a:spcPts val="500"/>
              </a:spcAft>
              <a:buFont typeface="Arial"/>
              <a:buChar char="•"/>
            </a:pPr>
            <a:r>
              <a:rPr sz="1000" b="0" i="0">
                <a:solidFill>
                  <a:srgbClr val="000000"/>
                </a:solidFill>
              </a:rPr>
              <a:t>Escalation tiers are explicit (L1/L2/L3)</a:t>
            </a:r>
          </a:p>
          <a:p>
            <a:pPr algn="l" marL="171450" indent="-171450">
              <a:spcAft>
                <a:spcPts val="500"/>
              </a:spcAft>
              <a:buFont typeface="Arial"/>
              <a:buChar char="•"/>
            </a:pPr>
            <a:r>
              <a:rPr sz="1000" b="0" i="0">
                <a:solidFill>
                  <a:srgbClr val="000000"/>
                </a:solidFill>
              </a:rPr>
              <a:t>Requires a clear boundary between support and enhancement (CR)</a:t>
            </a:r>
          </a:p>
          <a:p>
            <a:pPr algn="l" marL="171450" indent="-171450">
              <a:spcAft>
                <a:spcPts val="500"/>
              </a:spcAft>
              <a:buFont typeface="Arial"/>
              <a:buChar char="•"/>
            </a:pPr>
            <a:r>
              <a:rPr sz="1000" b="0" i="0">
                <a:solidFill>
                  <a:srgbClr val="000000"/>
                </a:solidFill>
              </a:rPr>
              <a:t>Often runs alongside another model (e.g., Model 3 team drives new value while Model 4 team keeps the lights 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20" name="Rounded Rectangle 51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To best support our integrated business units, we are refining how we manage accounts with multiple projects or multitrack projects to ensure project teams have precise leadership support, rather than running as one giant portfolio.</a:t>
            </a:r>
          </a:p>
        </p:txBody>
      </p:sp>
      <p:sp>
        <p:nvSpPr>
          <p:cNvPr id="521" name="Rounded Rectangle 52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TextBox 518"/>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We are launching a workstream to define standard delivery roles and establish clear, supportive project-level structures across all major accounts.</a:t>
            </a:r>
          </a:p>
        </p:txBody>
      </p:sp>
      <p:sp>
        <p:nvSpPr>
          <p:cNvPr id="520" name="Rounded Rectangle 519"/>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Accountability Clarified</a:t>
            </a:r>
          </a:p>
          <a:p>
            <a:pPr algn="l">
              <a:spcAft>
                <a:spcPts val="500"/>
              </a:spcAft>
            </a:pPr>
            <a:r>
              <a:rPr sz="850" b="0" i="0">
                <a:solidFill>
                  <a:srgbClr val="000000"/>
                </a:solidFill>
              </a:rPr>
              <a:t>We will define accountability for every project. For projects serviced by a single Delivery Center, this will be linear and familiar. For multitrack/multi-Delivery Center projects, alignment needs to be agreed to and enforced. This will inform everything from staffing to methodology to the role of escalation management and resolution.</a:t>
            </a:r>
          </a:p>
        </p:txBody>
      </p:sp>
      <p:sp>
        <p:nvSpPr>
          <p:cNvPr id="521" name="Rounded Rectangle 520"/>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Defining Essential Roles</a:t>
            </a:r>
          </a:p>
          <a:p>
            <a:pPr algn="l">
              <a:spcAft>
                <a:spcPts val="500"/>
              </a:spcAft>
            </a:pPr>
            <a:r>
              <a:rPr sz="850" b="0" i="0">
                <a:solidFill>
                  <a:srgbClr val="000000"/>
                </a:solidFill>
              </a:rPr>
              <a:t>As new accountability models are defined, new roles may be necessary. We will establish the essential delivery roles needed to support this model and clarify existing roles to avoid overlap and gaps.</a:t>
            </a:r>
          </a:p>
        </p:txBody>
      </p:sp>
      <p:sp>
        <p:nvSpPr>
          <p:cNvPr id="522" name="Rounded Rectangle 521"/>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50" b="1" i="0">
                <a:solidFill>
                  <a:srgbClr val="000000"/>
                </a:solidFill>
              </a:rPr>
              <a:t>Growth, Client Service and Executive Sponsorship</a:t>
            </a:r>
          </a:p>
          <a:p>
            <a:pPr algn="l">
              <a:spcAft>
                <a:spcPts val="500"/>
              </a:spcAft>
            </a:pPr>
            <a:r>
              <a:rPr sz="850" b="0" i="0">
                <a:solidFill>
                  <a:srgbClr val="000000"/>
                </a:solidFill>
              </a:rPr>
              <a:t>Delivery doesn’t happen in a vacuum. Successes and escalations will need to be tightly coupled with our Client Engagement model (Client Partners, Account Management) and Executive Sponsors. These partnerships will be evaluated for clarity, completeness and effectiveness with our modified delivery engine.</a:t>
            </a:r>
          </a:p>
        </p:txBody>
      </p:sp>
      <p:sp>
        <p:nvSpPr>
          <p:cNvPr id="523" name="Rounded Rectangle 522"/>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50" b="1" i="0">
                <a:solidFill>
                  <a:srgbClr val="000000"/>
                </a:solidFill>
              </a:rPr>
              <a:t>Change Management will be Key</a:t>
            </a:r>
          </a:p>
          <a:p>
            <a:pPr algn="l">
              <a:spcAft>
                <a:spcPts val="500"/>
              </a:spcAft>
            </a:pPr>
            <a:r>
              <a:rPr sz="850" b="0" i="0">
                <a:solidFill>
                  <a:srgbClr val="000000"/>
                </a:solidFill>
              </a:rPr>
              <a:t>These changes will represent modifications to our ways of working and new standards which we will need to taught, supported and enforced. Training and continuous improvement will be key to helping the organization embrace new structures and ensure we learn from what works.</a:t>
            </a:r>
          </a:p>
        </p:txBody>
      </p:sp>
      <p:sp>
        <p:nvSpPr>
          <p:cNvPr id="524" name="Rounded Rectangle 523"/>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50" b="1" i="0">
                <a:solidFill>
                  <a:srgbClr val="000000"/>
                </a:solidFill>
              </a:rPr>
              <a:t>Phased Rollout of Regular Reviews</a:t>
            </a:r>
          </a:p>
          <a:p>
            <a:pPr algn="l">
              <a:spcAft>
                <a:spcPts val="500"/>
              </a:spcAft>
            </a:pPr>
            <a:r>
              <a:rPr sz="850" b="0" i="0">
                <a:solidFill>
                  <a:srgbClr val="000000"/>
                </a:solidFill>
              </a:rPr>
              <a:t>Starting in Q4, we will establish a cadence of quarterly reviews to report on the accountability structure for multitrack programs. Each model will be assessed in terms of risk and opportunities for improvement. Additionally, high risk projects will be highlighted in ongoing Delivery Excellence meetings.</a:t>
            </a:r>
          </a:p>
        </p:txBody>
      </p:sp>
      <p:sp>
        <p:nvSpPr>
          <p:cNvPr id="525" name="Rectangle 52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526" name="Oval 52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527" name="Rounded Rectangle 52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28" name="Oval 52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529" name="Rounded Rectangle 52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0" name="Oval 52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531" name="Rounded Rectangle 53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2" name="Oval 53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533" name="Rounded Rectangle 53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4" name="Oval 53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535" name="Rounded Rectangle 53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6" name="Oval 53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537" name="Rounded Rectangle 53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538" name="Oval 53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539" name="Rounded Rectangle 53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540" name="Rounded Rectangle 53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1" name="Rounded Rectangle 540"/>
          <p:cNvSpPr/>
          <p:nvPr/>
        </p:nvSpPr>
        <p:spPr>
          <a:xfrm>
            <a:off x="667512" y="5791872"/>
            <a:ext cx="636422"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BU COOs</a:t>
            </a:r>
          </a:p>
        </p:txBody>
      </p:sp>
      <p:sp>
        <p:nvSpPr>
          <p:cNvPr id="542" name="Rounded Rectangle 541"/>
          <p:cNvSpPr/>
          <p:nvPr/>
        </p:nvSpPr>
        <p:spPr>
          <a:xfrm>
            <a:off x="1386230" y="5791872"/>
            <a:ext cx="1946888" cy="246888"/>
          </a:xfrm>
          <a:prstGeom prst="roundRect">
            <a:avLst>
              <a:gd name="adj" fmla="val 50000"/>
            </a:avLst>
          </a:prstGeom>
          <a:solidFill>
            <a:srgbClr val="FFFFFF"/>
          </a:solidFill>
          <a:ln w="12700">
            <a:solidFill>
              <a:srgbClr val="000000"/>
            </a:solidFill>
          </a:ln>
        </p:spPr>
        <p:txBody>
          <a:bodyPr rtlCol="0" anchor="ctr" wrap="none" lIns="0" rIns="0" tIns="0" bIns="0"/>
          <a:lstStyle/>
          <a:p>
            <a:pPr algn="ctr"/>
            <a:r>
              <a:rPr sz="900" b="1" i="0">
                <a:solidFill>
                  <a:srgbClr val="000000"/>
                </a:solidFill>
              </a:rPr>
              <a:t>Enterprise Project Management</a:t>
            </a:r>
          </a:p>
        </p:txBody>
      </p:sp>
      <p:sp>
        <p:nvSpPr>
          <p:cNvPr id="543" name="Rounded Rectangle 54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4" name="Rounded Rectangle 54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5" name="Rounded Rectangle 54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17" name="Picture 516" descr="hero_p2.jpg"/>
          <p:cNvPicPr>
            <a:picLocks noChangeAspect="1"/>
          </p:cNvPicPr>
          <p:nvPr/>
        </p:nvPicPr>
        <p:blipFill>
          <a:blip r:embed="rId2"/>
          <a:stretch>
            <a:fillRect/>
          </a:stretch>
        </p:blipFill>
        <p:spPr>
          <a:xfrm>
            <a:off x="0" y="0"/>
            <a:ext cx="12192000" cy="1000000"/>
          </a:xfrm>
          <a:prstGeom prst="rect">
            <a:avLst/>
          </a:prstGeom>
        </p:spPr>
      </p:pic>
      <p:sp>
        <p:nvSpPr>
          <p:cNvPr id="518" name="Rectangle 517"/>
          <p:cNvSpPr/>
          <p:nvPr/>
        </p:nvSpPr>
        <p:spPr>
          <a:xfrm>
            <a:off x="0" y="0"/>
            <a:ext cx="12192000" cy="1000000"/>
          </a:xfrm>
          <a:prstGeom prst="rect">
            <a:avLst/>
          </a:prstGeom>
          <a:gradFill rotWithShape="1">
            <a:gsLst>
              <a:gs pos="0">
                <a:srgbClr val="000000">
                  <a:alpha val="88000"/>
                </a:srgbClr>
              </a:gs>
              <a:gs pos="50000">
                <a:srgbClr val="000000">
                  <a:alpha val="72000"/>
                </a:srgbClr>
              </a:gs>
              <a:gs pos="100000">
                <a:srgbClr val="000000">
                  <a:alpha val="60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ACCOUNTABILITY FRAMEWORK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John Ewen</a:t>
            </a:r>
          </a:p>
        </p:txBody>
      </p:sp>
      <p:sp>
        <p:nvSpPr>
          <p:cNvPr id="519" name="Rounded Rectangle 51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20" name="Rounded Rectangle 51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21" name="Rounded Rectangle 52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22" name="Rounded Rectangle 52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ash.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Leadership Dashboards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 Dave Brabec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0">
                <a:solidFill>
                  <a:srgbClr val="000000"/>
                </a:solidFill>
              </a:rPr>
              <a:t>We lack a singular place for leaders to go to see the health of their business.</a:t>
            </a:r>
          </a:p>
          <a:p>
            <a:pPr algn="l">
              <a:spcAft>
                <a:spcPts val="500"/>
              </a:spcAft>
            </a:pPr>
            <a:r>
              <a:rPr sz="1150" b="0" i="0">
                <a:solidFill>
                  <a:srgbClr val="000000"/>
                </a:solidFill>
              </a:rPr>
              <a:t>Resource and financial data sit in separate systems, with no rate cards applied, no burn tracking, and no cross-BU revenue visibility (see Ugam/HelloWorld).</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400" b="1" i="0">
                <a:solidFill>
                  <a:srgbClr val="FFFFFF"/>
                </a:solidFill>
              </a:rPr>
              <a:t>One Set of Numbers: </a:t>
            </a:r>
            <a:r>
              <a:rPr sz="1400" b="1" i="0">
                <a:solidFill>
                  <a:srgbClr val="FFFFFF"/>
                </a:solidFill>
              </a:rPr>
              <a:t>One place to see the metrics that today live in too many reports — with AI doing the reconciliation, not a 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marL="171450" indent="-171450">
              <a:spcAft>
                <a:spcPts val="500"/>
              </a:spcAft>
              <a:buFont typeface="Arial"/>
              <a:buChar char="•"/>
            </a:pPr>
            <a:r>
              <a:rPr sz="1300" b="0" i="0">
                <a:solidFill>
                  <a:srgbClr val="000000"/>
                </a:solidFill>
              </a:rPr>
              <a:t>We’re running the business off lagging metrics or incomplete ones.  Example: We can see client or project margin but not practice margin. And costs live in a Finance spreadsheet that we see once a month.</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marL="171450" indent="-171450">
              <a:spcAft>
                <a:spcPts val="500"/>
              </a:spcAft>
              <a:buFont typeface="Arial"/>
              <a:buChar char="•"/>
            </a:pPr>
            <a:r>
              <a:rPr sz="1300" b="0" i="0">
                <a:solidFill>
                  <a:srgbClr val="FFFFFF"/>
                </a:solidFill>
              </a:rPr>
              <a:t>One leadership dashboard, not just a data-reconciliation project.</a:t>
            </a:r>
          </a:p>
          <a:p>
            <a:pPr algn="l" marL="171450" indent="-171450">
              <a:spcAft>
                <a:spcPts val="500"/>
              </a:spcAft>
              <a:buFont typeface="Arial"/>
              <a:buChar char="•"/>
            </a:pPr>
            <a:r>
              <a:rPr sz="1300" b="0" i="0">
                <a:solidFill>
                  <a:srgbClr val="FFFFFF"/>
                </a:solidFill>
              </a:rPr>
              <a:t>It needs to show revenue, margin, and capacity forecasts, manage rate cards and actuals-for-burn, and tie revenue recognition to operational reporting, all in a single page 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Preliminary Thoughts</a:t>
            </a:r>
          </a:p>
          <a:p>
            <a:pPr algn="l" marL="171450" indent="-171450">
              <a:spcAft>
                <a:spcPts val="500"/>
              </a:spcAft>
              <a:buFont typeface="Arial"/>
              <a:buChar char="•"/>
            </a:pPr>
            <a:r>
              <a:rPr sz="1150" b="0" i="0">
                <a:solidFill>
                  <a:srgbClr val="000000"/>
                </a:solidFill>
              </a:rPr>
              <a:t>Dashboard of key metrics by BU (margin, revenue actuals compared to budget), top clients, average client margin, </a:t>
            </a:r>
            <a:r>
              <a:rPr sz="1150" b="0" i="0">
                <a:solidFill>
                  <a:srgbClr val="000000"/>
                </a:solidFill>
              </a:rPr>
              <a:t>etc</a:t>
            </a:r>
            <a:r>
              <a:rPr sz="1150" b="0" i="0">
                <a:solidFill>
                  <a:srgbClr val="000000"/>
                </a:solidFill>
              </a:rPr>
              <a:t>, that can be broken down by practice, L3, etc.</a:t>
            </a:r>
          </a:p>
          <a:p>
            <a:pPr algn="l" marL="171450" indent="-171450">
              <a:spcAft>
                <a:spcPts val="500"/>
              </a:spcAft>
              <a:buFont typeface="Arial"/>
              <a:buChar char="•"/>
            </a:pPr>
            <a:r>
              <a:rPr sz="1150" b="0" i="0">
                <a:solidFill>
                  <a:srgbClr val="000000"/>
                </a:solidFill>
              </a:rPr>
              <a:t>Will link out to existing reports for more details – no need to recreate the wheel for all metrics.</a:t>
            </a:r>
          </a:p>
          <a:p>
            <a:pPr algn="l" marL="171450" indent="-171450">
              <a:spcAft>
                <a:spcPts val="500"/>
              </a:spcAft>
              <a:buFont typeface="Arial"/>
              <a:buChar char="•"/>
            </a:pPr>
            <a:r>
              <a:rPr sz="1150" b="0" i="0">
                <a:solidFill>
                  <a:srgbClr val="000000"/>
                </a:solidFill>
              </a:rPr>
              <a:t>May need to be locked down to only key leaders based on what is included.</a:t>
            </a:r>
          </a:p>
        </p:txBody>
      </p:sp>
      <p:sp>
        <p:nvSpPr>
          <p:cNvPr id="10" name="Rectangle 9"/>
          <p:cNvSpPr/>
          <p:nvPr/>
        </p:nvSpPr>
        <p:spPr>
          <a:xfrm>
            <a:off x="1829400" y="4379808"/>
            <a:ext cx="8533200" cy="19050"/>
          </a:xfrm>
          <a:prstGeom prst="rect">
            <a:avLst/>
          </a:prstGeom>
          <a:solidFill>
            <a:srgbClr val="D6D6DF"/>
          </a:solidFill>
          <a:ln>
            <a:noFill/>
          </a:ln>
        </p:spPr>
        <p:txBody>
          <a:bodyPr rtlCol="0" anchor="ctr"/>
          <a:lstStyle/>
          <a:p>
            <a:pPr algn="ctr"/>
          </a:p>
        </p:txBody>
      </p:sp>
      <p:sp>
        <p:nvSpPr>
          <p:cNvPr id="11" name="Oval 10"/>
          <p:cNvSpPr/>
          <p:nvPr/>
        </p:nvSpPr>
        <p:spPr>
          <a:xfrm>
            <a:off x="17379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45823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33016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74267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61460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10271160"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990400" y="4562688"/>
            <a:ext cx="274440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ash.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LEADERSHIP DASHBOARDS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ash.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Leadership Dashboards: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cap.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Capacity Planning &amp; Romulus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Bef>
                <a:spcPts val="400"/>
              </a:spcBef>
              <a:spcAft>
                <a:spcPts val="500"/>
              </a:spcAft>
            </a:pPr>
            <a:r>
              <a:rPr sz="1150" b="1" i="0">
                <a:solidFill>
                  <a:srgbClr val="FFFFFF"/>
                </a:solidFill>
              </a:rPr>
              <a:t>Move from insight to action: close the skills and bench visibility gap so we can staff ahead of demand.</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Next, we need further definition and to identify the dependencies that could block us. The three pillars are where our stories will come from, and we will shape them together with our other priorities (Leadership Dashboards, the Accountability Framework, the Deal-to-Delivery Playbook). Still coming, with more in the coming weeks.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900" b="1" i="0">
                <a:solidFill>
                  <a:srgbClr val="000000"/>
                </a:solidFill>
              </a:rPr>
              <a:t>Pillar 1: Know who we have</a:t>
            </a:r>
          </a:p>
          <a:p>
            <a:pPr algn="l">
              <a:spcAft>
                <a:spcPts val="500"/>
              </a:spcAft>
            </a:pPr>
            <a:r>
              <a:rPr sz="900" b="1" i="0">
                <a:solidFill>
                  <a:srgbClr val="000000"/>
                </a:solidFill>
              </a:rPr>
              <a:t>We need</a:t>
            </a:r>
            <a:r>
              <a:rPr sz="900" b="0" i="0">
                <a:solidFill>
                  <a:srgbClr val="000000"/>
                </a:solidFill>
              </a:rPr>
              <a:t> skills captured in one place we can search, </a:t>
            </a:r>
            <a:r>
              <a:rPr sz="900" b="1" i="0">
                <a:solidFill>
                  <a:srgbClr val="000000"/>
                </a:solidFill>
              </a:rPr>
              <a:t>so we can</a:t>
            </a:r>
            <a:r>
              <a:rPr sz="900" b="0" i="0">
                <a:solidFill>
                  <a:srgbClr val="000000"/>
                </a:solidFill>
              </a:rPr>
              <a:t> find the right person for a role across practices. </a:t>
            </a:r>
            <a:r>
              <a:rPr sz="900" b="1" i="0">
                <a:solidFill>
                  <a:srgbClr val="000000"/>
                </a:solidFill>
              </a:rPr>
              <a:t>The outcome:</a:t>
            </a:r>
            <a:r>
              <a:rPr sz="900" b="0" i="0">
                <a:solidFill>
                  <a:srgbClr val="000000"/>
                </a:solidFill>
              </a:rPr>
              <a:t> one trusted view of skills instead of separate sources.</a:t>
            </a:r>
          </a:p>
          <a:p>
            <a:pPr algn="l">
              <a:spcAft>
                <a:spcPts val="500"/>
              </a:spcAft>
            </a:pPr>
            <a:r>
              <a:rPr sz="900" b="0" i="0">
                <a:solidFill>
                  <a:srgbClr val="000000"/>
                </a:solidFill>
              </a:rPr>
              <a:t>A skills data pilot with about 100 opt-in people from each of two teams, on a LinkedIn skills taxonomy. We still need to define what we need from it.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900" b="1" i="0">
                <a:solidFill>
                  <a:srgbClr val="000000"/>
                </a:solidFill>
              </a:rPr>
              <a:t>Pillar 2: See what is coming</a:t>
            </a:r>
          </a:p>
          <a:p>
            <a:pPr algn="l">
              <a:spcAft>
                <a:spcPts val="500"/>
              </a:spcAft>
            </a:pPr>
            <a:r>
              <a:rPr sz="900" b="1" i="0">
                <a:solidFill>
                  <a:srgbClr val="000000"/>
                </a:solidFill>
              </a:rPr>
              <a:t>We need </a:t>
            </a:r>
            <a:r>
              <a:rPr sz="900" b="0" i="0">
                <a:solidFill>
                  <a:srgbClr val="000000"/>
                </a:solidFill>
              </a:rPr>
              <a:t>to review SF stages to see the pipeline earlier, </a:t>
            </a:r>
            <a:r>
              <a:rPr sz="900" b="1" i="0">
                <a:solidFill>
                  <a:srgbClr val="000000"/>
                </a:solidFill>
              </a:rPr>
              <a:t>so we can </a:t>
            </a:r>
            <a:r>
              <a:rPr sz="900" b="0" i="0">
                <a:solidFill>
                  <a:srgbClr val="000000"/>
                </a:solidFill>
              </a:rPr>
              <a:t>plan people around demand with RM pulled in earlier in the process, not at signature. </a:t>
            </a:r>
            <a:r>
              <a:rPr sz="900" b="1" i="0">
                <a:solidFill>
                  <a:srgbClr val="000000"/>
                </a:solidFill>
              </a:rPr>
              <a:t>The outcome: </a:t>
            </a:r>
            <a:r>
              <a:rPr sz="900" b="0" i="0">
                <a:solidFill>
                  <a:srgbClr val="000000"/>
                </a:solidFill>
              </a:rPr>
              <a:t>teams that are ready to start instead of scrambling after signing.</a:t>
            </a:r>
          </a:p>
          <a:p>
            <a:pPr algn="l">
              <a:spcAft>
                <a:spcPts val="500"/>
              </a:spcAft>
            </a:pPr>
            <a:r>
              <a:rPr sz="900" b="0" i="0">
                <a:solidFill>
                  <a:srgbClr val="000000"/>
                </a:solidFill>
              </a:rPr>
              <a:t>Smart Bench is a concept we are exploring. In plain terms: look ahead at what is likely to close, set clear rules for when we add or reduce capacity (hire, temporary help, or an outside partner), and plan how quickly people ramp on. What it means for us is still being defined.</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900" b="1" i="0">
                <a:solidFill>
                  <a:srgbClr val="000000"/>
                </a:solidFill>
              </a:rPr>
              <a:t>Pillar 3: One place to look</a:t>
            </a:r>
          </a:p>
          <a:p>
            <a:pPr algn="l">
              <a:spcAft>
                <a:spcPts val="500"/>
              </a:spcAft>
            </a:pPr>
            <a:r>
              <a:rPr sz="900" b="1" i="0">
                <a:solidFill>
                  <a:srgbClr val="000000"/>
                </a:solidFill>
              </a:rPr>
              <a:t>We need</a:t>
            </a:r>
            <a:r>
              <a:rPr sz="900" b="0" i="0">
                <a:solidFill>
                  <a:srgbClr val="000000"/>
                </a:solidFill>
              </a:rPr>
              <a:t> what we check today brought into one connected view, </a:t>
            </a:r>
            <a:r>
              <a:rPr sz="900" b="1" i="0">
                <a:solidFill>
                  <a:srgbClr val="000000"/>
                </a:solidFill>
              </a:rPr>
              <a:t>so we can</a:t>
            </a:r>
            <a:r>
              <a:rPr sz="900" b="0" i="0">
                <a:solidFill>
                  <a:srgbClr val="000000"/>
                </a:solidFill>
              </a:rPr>
              <a:t> move from insight to action with fewer places to look. </a:t>
            </a:r>
            <a:r>
              <a:rPr sz="900" b="1" i="0">
                <a:solidFill>
                  <a:srgbClr val="000000"/>
                </a:solidFill>
              </a:rPr>
              <a:t>The outcome:</a:t>
            </a:r>
            <a:r>
              <a:rPr sz="900" b="0" i="0">
                <a:solidFill>
                  <a:srgbClr val="000000"/>
                </a:solidFill>
              </a:rPr>
              <a:t> insight that points to the next move.</a:t>
            </a:r>
          </a:p>
          <a:p>
            <a:pPr algn="l">
              <a:spcAft>
                <a:spcPts val="500"/>
              </a:spcAft>
            </a:pPr>
            <a:r>
              <a:rPr sz="900" b="0" i="0">
                <a:solidFill>
                  <a:srgbClr val="000000"/>
                </a:solidFill>
              </a:rPr>
              <a:t>Today we check Salesforce, Workfront, pricing tools, spreadsheets, and SharePoint. Romulus is the tool we are building to help turn insight into action (next slide). It needs more feeding from the work in the other two pillars.</a:t>
            </a:r>
          </a:p>
        </p:txBody>
      </p:sp>
      <p:sp>
        <p:nvSpPr>
          <p:cNvPr id="12" name="Rectangle 11"/>
          <p:cNvSpPr/>
          <p:nvPr/>
        </p:nvSpPr>
        <p:spPr>
          <a:xfrm>
            <a:off x="1544960" y="4379808"/>
            <a:ext cx="9102080" cy="19050"/>
          </a:xfrm>
          <a:prstGeom prst="rect">
            <a:avLst/>
          </a:prstGeom>
          <a:solidFill>
            <a:srgbClr val="D6D6DF"/>
          </a:solidFill>
          <a:ln>
            <a:noFill/>
          </a:ln>
        </p:spPr>
        <p:txBody>
          <a:bodyPr rtlCol="0" anchor="ctr"/>
          <a:lstStyle/>
          <a:p>
            <a:pPr algn="ctr"/>
          </a:p>
        </p:txBody>
      </p:sp>
      <p:sp>
        <p:nvSpPr>
          <p:cNvPr id="13" name="Oval 12"/>
          <p:cNvSpPr/>
          <p:nvPr/>
        </p:nvSpPr>
        <p:spPr>
          <a:xfrm>
            <a:off x="1453520"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This year</a:t>
            </a:r>
          </a:p>
          <a:p>
            <a:pPr algn="l">
              <a:spcAft>
                <a:spcPts val="500"/>
              </a:spcAft>
            </a:pPr>
            <a:r>
              <a:rPr sz="850" b="0" i="0">
                <a:solidFill>
                  <a:srgbClr val="000000"/>
                </a:solidFill>
              </a:rPr>
              <a:t>We started with resource management, then stood up capacity planning.</a:t>
            </a:r>
          </a:p>
        </p:txBody>
      </p:sp>
      <p:sp>
        <p:nvSpPr>
          <p:cNvPr id="15" name="Oval 14"/>
          <p:cNvSpPr/>
          <p:nvPr/>
        </p:nvSpPr>
        <p:spPr>
          <a:xfrm>
            <a:off x="3729040"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273272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Coming weeks</a:t>
            </a:r>
          </a:p>
          <a:p>
            <a:pPr algn="l">
              <a:spcAft>
                <a:spcPts val="500"/>
              </a:spcAft>
            </a:pPr>
            <a:r>
              <a:rPr sz="850" b="0" i="0">
                <a:solidFill>
                  <a:srgbClr val="000000"/>
                </a:solidFill>
              </a:rPr>
              <a:t>Like our other ops top priorities, we will build this out as an epic with stories underneath, so we can focus and prioritize.</a:t>
            </a:r>
          </a:p>
        </p:txBody>
      </p:sp>
      <p:sp>
        <p:nvSpPr>
          <p:cNvPr id="17" name="Oval 16"/>
          <p:cNvSpPr/>
          <p:nvPr/>
        </p:nvSpPr>
        <p:spPr>
          <a:xfrm>
            <a:off x="6004560" y="4288368"/>
            <a:ext cx="182880" cy="182880"/>
          </a:xfrm>
          <a:prstGeom prst="ellipse">
            <a:avLst/>
          </a:prstGeom>
          <a:solidFill>
            <a:srgbClr val="FFFFFF"/>
          </a:solidFill>
          <a:ln w="19050">
            <a:solidFill>
              <a:srgbClr val="000000"/>
            </a:solidFill>
          </a:ln>
        </p:spPr>
        <p:txBody>
          <a:bodyPr rtlCol="0" anchor="ctr"/>
          <a:lstStyle/>
          <a:p>
            <a:pPr algn="ctr"/>
          </a:p>
        </p:txBody>
      </p:sp>
      <p:sp>
        <p:nvSpPr>
          <p:cNvPr id="18" name="Rounded Rectangle 17"/>
          <p:cNvSpPr/>
          <p:nvPr/>
        </p:nvSpPr>
        <p:spPr>
          <a:xfrm>
            <a:off x="500824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Late October</a:t>
            </a:r>
          </a:p>
          <a:p>
            <a:pPr algn="l">
              <a:spcAft>
                <a:spcPts val="500"/>
              </a:spcAft>
            </a:pPr>
            <a:r>
              <a:rPr sz="1100" b="0" i="0">
                <a:solidFill>
                  <a:srgbClr val="000000"/>
                </a:solidFill>
              </a:rPr>
              <a:t>FIRST FEATURES GO LIVE · FULL DEMO: Next Ops Town Hall</a:t>
            </a:r>
          </a:p>
        </p:txBody>
      </p:sp>
      <p:sp>
        <p:nvSpPr>
          <p:cNvPr id="19" name="Oval 18"/>
          <p:cNvSpPr/>
          <p:nvPr/>
        </p:nvSpPr>
        <p:spPr>
          <a:xfrm>
            <a:off x="8280080" y="4288368"/>
            <a:ext cx="182880" cy="182880"/>
          </a:xfrm>
          <a:prstGeom prst="ellipse">
            <a:avLst/>
          </a:prstGeom>
          <a:solidFill>
            <a:srgbClr val="FFFFFF"/>
          </a:solidFill>
          <a:ln w="19050">
            <a:solidFill>
              <a:srgbClr val="000000"/>
            </a:solidFill>
          </a:ln>
        </p:spPr>
        <p:txBody>
          <a:bodyPr rtlCol="0" anchor="ctr"/>
          <a:lstStyle/>
          <a:p>
            <a:pPr algn="ctr"/>
          </a:p>
        </p:txBody>
      </p:sp>
      <p:sp>
        <p:nvSpPr>
          <p:cNvPr id="20" name="Rounded Rectangle 19"/>
          <p:cNvSpPr/>
          <p:nvPr/>
        </p:nvSpPr>
        <p:spPr>
          <a:xfrm>
            <a:off x="728376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850" b="1" i="0">
                <a:solidFill>
                  <a:srgbClr val="000000"/>
                </a:solidFill>
              </a:rPr>
              <a:t>Next year</a:t>
            </a:r>
          </a:p>
          <a:p>
            <a:pPr algn="l">
              <a:spcAft>
                <a:spcPts val="500"/>
              </a:spcAft>
            </a:pPr>
            <a:r>
              <a:rPr sz="850" b="0" i="0">
                <a:solidFill>
                  <a:srgbClr val="000000"/>
                </a:solidFill>
              </a:rPr>
              <a:t>Capacity planning becomes how we run things and our priority focus for enhancement, with resource management as its child.</a:t>
            </a:r>
          </a:p>
        </p:txBody>
      </p:sp>
      <p:sp>
        <p:nvSpPr>
          <p:cNvPr id="21" name="Oval 20"/>
          <p:cNvSpPr/>
          <p:nvPr/>
        </p:nvSpPr>
        <p:spPr>
          <a:xfrm>
            <a:off x="105556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9559280" y="4562688"/>
            <a:ext cx="2175520"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23" name="Rounded Rectangle 22"/>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4" name="Rounded Rectangle 23"/>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5" name="Rounded Rectangle 24"/>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7" name="Rounded Rectangle 26"/>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8" name="Rounded Rectangle 27"/>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An operating system for resource management.</a:t>
            </a:r>
          </a:p>
        </p:txBody>
      </p:sp>
      <p:sp>
        <p:nvSpPr>
          <p:cNvPr id="9" name="Rounded Rectangle 8"/>
          <p:cNvSpPr/>
          <p:nvPr/>
        </p:nvSpPr>
        <p:spPr>
          <a:xfrm>
            <a:off x="457200" y="2620000"/>
            <a:ext cx="11277600" cy="173736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500"/>
              </a:spcAft>
            </a:pPr>
            <a:r>
              <a:rPr sz="1250" b="0" i="0">
                <a:solidFill>
                  <a:srgbClr val="000000"/>
                </a:solidFill>
              </a:rPr>
              <a:t>Romulus turns live demand, supply and financial data into a daily situation report — surfacing the staffing decisions a Resource Manager needs to make </a:t>
            </a:r>
            <a:r>
              <a:rPr sz="1250" b="1" i="0">
                <a:solidFill>
                  <a:srgbClr val="000000"/>
                </a:solidFill>
              </a:rPr>
              <a:t>before they're asked</a:t>
            </a:r>
            <a:r>
              <a:rPr sz="1250" b="0" i="0">
                <a:solidFill>
                  <a:srgbClr val="000000"/>
                </a:solidFill>
              </a:rPr>
              <a:t>. It's built to replace the spreadsheets, email chains, and tribal knowledge our business runs on today.</a:t>
            </a:r>
          </a:p>
          <a:p>
            <a:pPr algn="l">
              <a:spcAft>
                <a:spcPts val="400"/>
              </a:spcAft>
            </a:pPr>
            <a:r>
              <a:rPr sz="1050" b="0" i="1">
                <a:solidFill>
                  <a:srgbClr val="60607D"/>
                </a:solidFill>
              </a:rPr>
              <a:t>▲  This was the actual prompt that started it all  ▲</a:t>
            </a:r>
          </a:p>
        </p:txBody>
      </p:sp>
      <p:sp>
        <p:nvSpPr>
          <p:cNvPr id="10" name="Rounded Rectangle 9"/>
          <p:cNvSpPr/>
          <p:nvPr/>
        </p:nvSpPr>
        <p:spPr>
          <a:xfrm>
            <a:off x="457200" y="450736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Now here's the rest of the story….  In 3 minutes (or less)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cap.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What you can do with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CAPACITY PLANNING &amp; ROMULUS · RELEASE MOMENTUM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1</a:t>
            </a:r>
          </a:p>
          <a:p>
            <a:pPr algn="l">
              <a:spcBef>
                <a:spcPts val="400"/>
              </a:spcBef>
              <a:spcAft>
                <a:spcPts val="500"/>
              </a:spcAft>
            </a:pPr>
            <a:r>
              <a:rPr sz="1200" b="1" i="0">
                <a:solidFill>
                  <a:srgbClr val="000000"/>
                </a:solidFill>
              </a:rPr>
              <a:t>See today’s situation</a:t>
            </a:r>
          </a:p>
          <a:p>
            <a:pPr algn="l">
              <a:spcAft>
                <a:spcPts val="500"/>
              </a:spcAft>
            </a:pPr>
            <a:r>
              <a:rPr sz="1200" b="0" i="0">
                <a:solidFill>
                  <a:srgbClr val="000000"/>
                </a:solidFill>
              </a:rPr>
              <a:t>The morning briefing — overall health, the single most important finding, and the day’s top moves.</a:t>
            </a:r>
          </a:p>
        </p:txBody>
      </p:sp>
      <p:sp>
        <p:nvSpPr>
          <p:cNvPr id="9" name="Rounded Rectangle 8"/>
          <p:cNvSpPr/>
          <p:nvPr/>
        </p:nvSpPr>
        <p:spPr>
          <a:xfrm>
            <a:off x="274272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2</a:t>
            </a:r>
          </a:p>
          <a:p>
            <a:pPr algn="l">
              <a:spcBef>
                <a:spcPts val="400"/>
              </a:spcBef>
              <a:spcAft>
                <a:spcPts val="500"/>
              </a:spcAft>
            </a:pPr>
            <a:r>
              <a:rPr sz="1200" b="1" i="0">
                <a:solidFill>
                  <a:srgbClr val="000000"/>
                </a:solidFill>
              </a:rPr>
              <a:t>Suggest resources for open roles</a:t>
            </a:r>
          </a:p>
          <a:p>
            <a:pPr algn="l">
              <a:spcAft>
                <a:spcPts val="500"/>
              </a:spcAft>
            </a:pPr>
            <a:r>
              <a:rPr sz="1200" b="0" i="0">
                <a:solidFill>
                  <a:srgbClr val="000000"/>
                </a:solidFill>
              </a:rPr>
              <a:t>Ranked candidates with fit rationale, availability, and recent project history.</a:t>
            </a:r>
          </a:p>
        </p:txBody>
      </p:sp>
      <p:sp>
        <p:nvSpPr>
          <p:cNvPr id="10" name="Rounded Rectangle 9"/>
          <p:cNvSpPr/>
          <p:nvPr/>
        </p:nvSpPr>
        <p:spPr>
          <a:xfrm>
            <a:off x="502824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3</a:t>
            </a:r>
          </a:p>
          <a:p>
            <a:pPr algn="l">
              <a:spcBef>
                <a:spcPts val="400"/>
              </a:spcBef>
              <a:spcAft>
                <a:spcPts val="500"/>
              </a:spcAft>
            </a:pPr>
            <a:r>
              <a:rPr sz="1200" b="1" i="0">
                <a:solidFill>
                  <a:srgbClr val="000000"/>
                </a:solidFill>
              </a:rPr>
              <a:t>Run what-if scenarios</a:t>
            </a:r>
          </a:p>
          <a:p>
            <a:pPr algn="l">
              <a:spcAft>
                <a:spcPts val="500"/>
              </a:spcAft>
            </a:pPr>
            <a:r>
              <a:rPr sz="1200" b="0" i="0">
                <a:solidFill>
                  <a:srgbClr val="000000"/>
                </a:solidFill>
              </a:rPr>
              <a:t>Model a deal landing, a start date slipping, or filling from the bench — before committing.</a:t>
            </a:r>
          </a:p>
        </p:txBody>
      </p:sp>
      <p:sp>
        <p:nvSpPr>
          <p:cNvPr id="11" name="Rounded Rectangle 10"/>
          <p:cNvSpPr/>
          <p:nvPr/>
        </p:nvSpPr>
        <p:spPr>
          <a:xfrm>
            <a:off x="731376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4</a:t>
            </a:r>
          </a:p>
          <a:p>
            <a:pPr algn="l">
              <a:spcBef>
                <a:spcPts val="400"/>
              </a:spcBef>
              <a:spcAft>
                <a:spcPts val="500"/>
              </a:spcAft>
            </a:pPr>
            <a:r>
              <a:rPr sz="1200" b="1" i="0">
                <a:solidFill>
                  <a:srgbClr val="000000"/>
                </a:solidFill>
              </a:rPr>
              <a:t>Walk a decision through governance</a:t>
            </a:r>
          </a:p>
          <a:p>
            <a:pPr algn="l">
              <a:spcAft>
                <a:spcPts val="500"/>
              </a:spcAft>
            </a:pPr>
            <a:r>
              <a:rPr sz="1200" b="0" i="0">
                <a:solidFill>
                  <a:srgbClr val="000000"/>
                </a:solidFill>
              </a:rPr>
              <a:t>Approval stages with policy checks surfaced at each gate. Full audit trail.</a:t>
            </a:r>
          </a:p>
        </p:txBody>
      </p:sp>
      <p:sp>
        <p:nvSpPr>
          <p:cNvPr id="12" name="Rounded Rectangle 11"/>
          <p:cNvSpPr/>
          <p:nvPr/>
        </p:nvSpPr>
        <p:spPr>
          <a:xfrm>
            <a:off x="9599280" y="1170000"/>
            <a:ext cx="2135520" cy="237744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5</a:t>
            </a:r>
          </a:p>
          <a:p>
            <a:pPr algn="l">
              <a:spcBef>
                <a:spcPts val="400"/>
              </a:spcBef>
              <a:spcAft>
                <a:spcPts val="500"/>
              </a:spcAft>
            </a:pPr>
            <a:r>
              <a:rPr sz="1200" b="1" i="0">
                <a:solidFill>
                  <a:srgbClr val="000000"/>
                </a:solidFill>
              </a:rPr>
              <a:t>Ask in plain language</a:t>
            </a:r>
          </a:p>
          <a:p>
            <a:pPr algn="l">
              <a:spcAft>
                <a:spcPts val="500"/>
              </a:spcAft>
            </a:pPr>
            <a:r>
              <a:rPr sz="1200" b="0" i="0">
                <a:solidFill>
                  <a:srgbClr val="000000"/>
                </a:solidFill>
              </a:rPr>
              <a:t>A conversational assistant grounded in current, real data — not general knowledge.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cap.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Capacity Planning &amp; Romulus: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dg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3254095"/>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5400"/>
              <a:t>DGS Leadership Transition</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3162655"/>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Adam Organ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We have a hard deadline and a business with real complexity underneath it. This two-phase plan is how we capture the knowledge, resolve ownership, and land a clean transition by year-end.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550" b="1" i="0">
                <a:solidFill>
                  <a:srgbClr val="FFFFFF"/>
                </a:solidFill>
              </a:rPr>
              <a:t>Naazneen's departure on 12/31 is a fixed deadline, and her role covers more ground than any one market realizes — global delivery, market relationships, capability development, and financial oversight. This is a two-phase effort to capture what she knows and put durable ownership in place before she leaves.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PHASE 1 · Intake, Validate, Plan · Sept 14 – Oct 16</a:t>
            </a:r>
          </a:p>
          <a:p>
            <a:pPr algn="l">
              <a:spcAft>
                <a:spcPts val="500"/>
              </a:spcAft>
            </a:pPr>
            <a:r>
              <a:rPr sz="800" b="0" i="0">
                <a:solidFill>
                  <a:srgbClr val="000000"/>
                </a:solidFill>
              </a:rPr>
              <a:t>Milestone: India trip Sept 25 – Oct 10 (AO)</a:t>
            </a:r>
          </a:p>
          <a:p>
            <a:pPr algn="l">
              <a:spcBef>
                <a:spcPts val="400"/>
              </a:spcBef>
              <a:spcAft>
                <a:spcPts val="500"/>
              </a:spcAft>
            </a:pPr>
            <a:r>
              <a:rPr sz="800" b="1" i="0">
                <a:solidFill>
                  <a:srgbClr val="000000"/>
                </a:solidFill>
              </a:rPr>
              <a:t>Role &amp; Org Mapping</a:t>
            </a:r>
          </a:p>
          <a:p>
            <a:pPr algn="l">
              <a:spcAft>
                <a:spcPts val="500"/>
              </a:spcAft>
            </a:pPr>
            <a:r>
              <a:rPr sz="800" b="0" i="0">
                <a:solidFill>
                  <a:srgbClr val="000000"/>
                </a:solidFill>
              </a:rPr>
              <a:t>Sessions with Naazneen's team to document formal and informal responsibilities, relationships, and escalation paths.</a:t>
            </a:r>
          </a:p>
          <a:p>
            <a:pPr algn="l">
              <a:spcBef>
                <a:spcPts val="400"/>
              </a:spcBef>
              <a:spcAft>
                <a:spcPts val="500"/>
              </a:spcAft>
            </a:pPr>
            <a:r>
              <a:rPr sz="800" b="1" i="0">
                <a:solidFill>
                  <a:srgbClr val="000000"/>
                </a:solidFill>
              </a:rPr>
              <a:t>Coverage &amp; Role Design</a:t>
            </a:r>
          </a:p>
          <a:p>
            <a:pPr algn="l">
              <a:spcAft>
                <a:spcPts val="500"/>
              </a:spcAft>
            </a:pPr>
            <a:r>
              <a:rPr sz="800" b="0" i="0">
                <a:solidFill>
                  <a:srgbClr val="000000"/>
                </a:solidFill>
              </a:rPr>
              <a:t>Determine who — and # of people — are needed to take on what Naazneen has been doing. Separate the DBT-specific work from the broader set of responsibilities she carries.</a:t>
            </a:r>
          </a:p>
          <a:p>
            <a:pPr algn="l">
              <a:spcBef>
                <a:spcPts val="400"/>
              </a:spcBef>
              <a:spcAft>
                <a:spcPts val="500"/>
              </a:spcAft>
            </a:pPr>
            <a:r>
              <a:rPr sz="800" b="1" i="0">
                <a:solidFill>
                  <a:srgbClr val="000000"/>
                </a:solidFill>
              </a:rPr>
              <a:t>Alignment Prep</a:t>
            </a:r>
          </a:p>
          <a:p>
            <a:pPr algn="l">
              <a:spcAft>
                <a:spcPts val="500"/>
              </a:spcAft>
            </a:pPr>
            <a:r>
              <a:rPr sz="800" b="0" i="0">
                <a:solidFill>
                  <a:srgbClr val="000000"/>
                </a:solidFill>
              </a:rPr>
              <a:t>Establish scope, decision rights, and messaging ahead of wider stakeholder engagement.</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PHASE 2 · Align, Anchor, Execute · Oct 19 – Dec 20</a:t>
            </a:r>
          </a:p>
          <a:p>
            <a:pPr algn="l">
              <a:spcAft>
                <a:spcPts val="500"/>
              </a:spcAft>
            </a:pPr>
            <a:r>
              <a:rPr sz="800" b="0" i="0">
                <a:solidFill>
                  <a:srgbClr val="000000"/>
                </a:solidFill>
              </a:rPr>
              <a:t>Milestone: India trip mid-Nov (AO, Missy, Eric, McComas)</a:t>
            </a:r>
          </a:p>
          <a:p>
            <a:pPr algn="l">
              <a:spcBef>
                <a:spcPts val="400"/>
              </a:spcBef>
              <a:spcAft>
                <a:spcPts val="500"/>
              </a:spcAft>
            </a:pPr>
            <a:r>
              <a:rPr sz="800" b="1" i="0">
                <a:solidFill>
                  <a:srgbClr val="000000"/>
                </a:solidFill>
              </a:rPr>
              <a:t>Operating Model Decisions</a:t>
            </a:r>
          </a:p>
          <a:p>
            <a:pPr algn="l">
              <a:spcAft>
                <a:spcPts val="500"/>
              </a:spcAft>
            </a:pPr>
            <a:r>
              <a:rPr sz="800" b="0" i="0">
                <a:solidFill>
                  <a:srgbClr val="000000"/>
                </a:solidFill>
              </a:rPr>
              <a:t>Finalize market vs. India ownership of delivery escalation, solutioning participation, and shared governance.</a:t>
            </a:r>
          </a:p>
          <a:p>
            <a:pPr algn="l">
              <a:spcBef>
                <a:spcPts val="400"/>
              </a:spcBef>
              <a:spcAft>
                <a:spcPts val="500"/>
              </a:spcAft>
            </a:pPr>
            <a:r>
              <a:rPr sz="800" b="1" i="0">
                <a:solidFill>
                  <a:srgbClr val="000000"/>
                </a:solidFill>
              </a:rPr>
              <a:t>Leadership &amp; Talent Plan</a:t>
            </a:r>
          </a:p>
          <a:p>
            <a:pPr algn="l">
              <a:spcAft>
                <a:spcPts val="500"/>
              </a:spcAft>
            </a:pPr>
            <a:r>
              <a:rPr sz="800" b="0" i="0">
                <a:solidFill>
                  <a:srgbClr val="000000"/>
                </a:solidFill>
              </a:rPr>
              <a:t>Confirm critical role coverage, succession, recruiting priorities, and capability gaps.</a:t>
            </a:r>
          </a:p>
          <a:p>
            <a:pPr algn="l">
              <a:spcBef>
                <a:spcPts val="400"/>
              </a:spcBef>
              <a:spcAft>
                <a:spcPts val="500"/>
              </a:spcAft>
            </a:pPr>
            <a:r>
              <a:rPr sz="800" b="1" i="0">
                <a:solidFill>
                  <a:srgbClr val="000000"/>
                </a:solidFill>
              </a:rPr>
              <a:t>Execution &amp; Handoff</a:t>
            </a:r>
          </a:p>
          <a:p>
            <a:pPr algn="l">
              <a:spcAft>
                <a:spcPts val="500"/>
              </a:spcAft>
            </a:pPr>
            <a:r>
              <a:rPr sz="800" b="0" i="0">
                <a:solidFill>
                  <a:srgbClr val="000000"/>
                </a:solidFill>
              </a:rPr>
              <a:t>Complete transition activities and communications ahead of the 12/31 departure.</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Extentia's Organic Revenue</a:t>
            </a:r>
          </a:p>
          <a:p>
            <a:pPr algn="l">
              <a:spcAft>
                <a:spcPts val="500"/>
              </a:spcAft>
            </a:pPr>
            <a:r>
              <a:rPr sz="800" b="0" i="0">
                <a:solidFill>
                  <a:srgbClr val="000000"/>
                </a:solidFill>
              </a:rPr>
              <a:t>Multi-market structure (US, ANZ, India, UK) and P&amp;L ownership need to be resolved for 2027 — likely a longer runway than the core transition timeline. Tracking separately so it doesn't block Phase 1 &amp; 2 progress.</a:t>
            </a:r>
          </a:p>
        </p:txBody>
      </p:sp>
      <p:sp>
        <p:nvSpPr>
          <p:cNvPr id="12" name="Rectangle 11"/>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3" name="Oval 12"/>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4" name="Rounded Rectangle 13"/>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Sept 14 – Oct 16</a:t>
            </a:r>
          </a:p>
          <a:p>
            <a:pPr algn="l">
              <a:spcAft>
                <a:spcPts val="500"/>
              </a:spcAft>
            </a:pPr>
            <a:r>
              <a:rPr sz="1100" b="0" i="0">
                <a:solidFill>
                  <a:srgbClr val="000000"/>
                </a:solidFill>
              </a:rPr>
              <a:t>Phase 1: Intake, Validate, Plan</a:t>
            </a:r>
          </a:p>
        </p:txBody>
      </p:sp>
      <p:sp>
        <p:nvSpPr>
          <p:cNvPr id="15" name="Oval 14"/>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6" name="Rounded Rectangle 15"/>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Oct 19 – Dec 20</a:t>
            </a:r>
          </a:p>
          <a:p>
            <a:pPr algn="l">
              <a:spcAft>
                <a:spcPts val="500"/>
              </a:spcAft>
            </a:pPr>
            <a:r>
              <a:rPr sz="1100" b="0" i="0">
                <a:solidFill>
                  <a:srgbClr val="000000"/>
                </a:solidFill>
              </a:rPr>
              <a:t>Phase 2: Align, Anchor, Execute</a:t>
            </a:r>
          </a:p>
        </p:txBody>
      </p:sp>
      <p:sp>
        <p:nvSpPr>
          <p:cNvPr id="17" name="Oval 16"/>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12/31</a:t>
            </a:r>
          </a:p>
          <a:p>
            <a:pPr algn="l">
              <a:spcAft>
                <a:spcPts val="500"/>
              </a:spcAft>
            </a:pPr>
            <a:r>
              <a:rPr sz="1000" b="0" i="1">
                <a:solidFill>
                  <a:srgbClr val="60607D"/>
                </a:solidFill>
              </a:rPr>
              <a:t>Naazneen departs.</a:t>
            </a:r>
          </a:p>
        </p:txBody>
      </p:sp>
      <p:sp>
        <p:nvSpPr>
          <p:cNvPr id="19" name="Rounded Rectangle 1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0" name="Rounded Rectangle 1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2" name="Rounded Rectangle 2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3" name="Rounded Rectangle 2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4" name="Rounded Rectangle 2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dg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DGS LEADERSHIP TRANSITION · UNDERSTANDING NAAZNEEN’S ROLE AND PLANNING FOR THE FUTURE</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8" name="Rounded Rectangle 7"/>
          <p:cNvSpPr/>
          <p:nvPr/>
        </p:nvSpPr>
        <p:spPr>
          <a:xfrm>
            <a:off x="4572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Mapping Naazneen</a:t>
            </a:r>
          </a:p>
          <a:p>
            <a:pPr algn="l">
              <a:spcAft>
                <a:spcPts val="500"/>
              </a:spcAft>
            </a:pPr>
            <a:r>
              <a:rPr sz="1150" b="0" i="0">
                <a:solidFill>
                  <a:srgbClr val="000000"/>
                </a:solidFill>
              </a:rPr>
              <a:t>Over the course of the trip </a:t>
            </a:r>
            <a:r>
              <a:rPr sz="1150" b="0" i="0">
                <a:solidFill>
                  <a:srgbClr val="000000"/>
                </a:solidFill>
              </a:rPr>
              <a:t>I completed more than 30 intake interviews across DGS team members.  We covered:</a:t>
            </a:r>
          </a:p>
          <a:p>
            <a:pPr algn="l" marL="171450" indent="-171450">
              <a:spcAft>
                <a:spcPts val="500"/>
              </a:spcAft>
              <a:buFont typeface="Arial"/>
              <a:buChar char="•"/>
            </a:pPr>
            <a:r>
              <a:rPr sz="1150" b="0" i="0">
                <a:solidFill>
                  <a:srgbClr val="000000"/>
                </a:solidFill>
              </a:rPr>
              <a:t>Our ways of working</a:t>
            </a:r>
          </a:p>
          <a:p>
            <a:pPr algn="l" marL="171450" indent="-171450">
              <a:spcAft>
                <a:spcPts val="500"/>
              </a:spcAft>
              <a:buFont typeface="Arial"/>
              <a:buChar char="•"/>
            </a:pPr>
            <a:r>
              <a:rPr sz="1150" b="0" i="0">
                <a:solidFill>
                  <a:srgbClr val="000000"/>
                </a:solidFill>
              </a:rPr>
              <a:t>How resources are identified</a:t>
            </a:r>
          </a:p>
          <a:p>
            <a:pPr algn="l" marL="171450" indent="-171450">
              <a:spcAft>
                <a:spcPts val="500"/>
              </a:spcAft>
              <a:buFont typeface="Arial"/>
              <a:buChar char="•"/>
            </a:pPr>
            <a:r>
              <a:rPr sz="1150" b="0" i="0">
                <a:solidFill>
                  <a:srgbClr val="000000"/>
                </a:solidFill>
              </a:rPr>
              <a:t>How the are trained and deployed</a:t>
            </a:r>
          </a:p>
          <a:p>
            <a:pPr algn="l" marL="171450" indent="-171450">
              <a:spcAft>
                <a:spcPts val="500"/>
              </a:spcAft>
              <a:buFont typeface="Arial"/>
              <a:buChar char="•"/>
            </a:pPr>
            <a:r>
              <a:rPr sz="1150" b="0" i="0">
                <a:solidFill>
                  <a:srgbClr val="000000"/>
                </a:solidFill>
              </a:rPr>
              <a:t>How the build their careers</a:t>
            </a:r>
          </a:p>
        </p:txBody>
      </p:sp>
      <p:sp>
        <p:nvSpPr>
          <p:cNvPr id="9" name="Rounded Rectangle 8"/>
          <p:cNvSpPr/>
          <p:nvPr/>
        </p:nvSpPr>
        <p:spPr>
          <a:xfrm>
            <a:off x="33141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Understanding how they support CXM</a:t>
            </a:r>
          </a:p>
          <a:p>
            <a:pPr algn="l">
              <a:spcAft>
                <a:spcPts val="500"/>
              </a:spcAft>
            </a:pPr>
            <a:r>
              <a:rPr sz="1150" b="0" i="0">
                <a:solidFill>
                  <a:srgbClr val="000000"/>
                </a:solidFill>
              </a:rPr>
              <a:t>They view the US as a market, they don’t see the business units per se.  Which lead to conversations around:</a:t>
            </a:r>
          </a:p>
          <a:p>
            <a:pPr algn="l" marL="171450" indent="-171450">
              <a:spcAft>
                <a:spcPts val="500"/>
              </a:spcAft>
              <a:buFont typeface="Arial"/>
              <a:buChar char="•"/>
            </a:pPr>
            <a:r>
              <a:rPr sz="1150" b="0" i="0">
                <a:solidFill>
                  <a:srgbClr val="000000"/>
                </a:solidFill>
              </a:rPr>
              <a:t>They other markets and how they operate.</a:t>
            </a:r>
          </a:p>
          <a:p>
            <a:pPr algn="l" marL="171450" indent="-171450">
              <a:spcAft>
                <a:spcPts val="500"/>
              </a:spcAft>
              <a:buFont typeface="Arial"/>
              <a:buChar char="•"/>
            </a:pPr>
            <a:r>
              <a:rPr sz="1150" b="0" i="0">
                <a:solidFill>
                  <a:srgbClr val="000000"/>
                </a:solidFill>
              </a:rPr>
              <a:t>Organic projects beyond the markets</a:t>
            </a:r>
          </a:p>
          <a:p>
            <a:pPr algn="l" marL="171450" indent="-171450">
              <a:spcAft>
                <a:spcPts val="500"/>
              </a:spcAft>
              <a:buFont typeface="Arial"/>
              <a:buChar char="•"/>
            </a:pPr>
            <a:r>
              <a:rPr sz="1150" b="0" i="0">
                <a:solidFill>
                  <a:srgbClr val="000000"/>
                </a:solidFill>
              </a:rPr>
              <a:t>How they create craft communities</a:t>
            </a:r>
          </a:p>
        </p:txBody>
      </p:sp>
      <p:sp>
        <p:nvSpPr>
          <p:cNvPr id="10" name="Rounded Rectangle 9"/>
          <p:cNvSpPr/>
          <p:nvPr/>
        </p:nvSpPr>
        <p:spPr>
          <a:xfrm>
            <a:off x="61710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An interim model</a:t>
            </a:r>
          </a:p>
          <a:p>
            <a:pPr algn="l">
              <a:spcAft>
                <a:spcPts val="500"/>
              </a:spcAft>
            </a:pPr>
            <a:r>
              <a:rPr sz="1150" b="0" i="0">
                <a:solidFill>
                  <a:srgbClr val="000000"/>
                </a:solidFill>
              </a:rPr>
              <a:t>Naazneen’s departure creates a sizable hole in the business, but she has a good team of lieutenants</a:t>
            </a:r>
            <a:r>
              <a:rPr sz="1150" b="0" i="0">
                <a:solidFill>
                  <a:srgbClr val="000000"/>
                </a:solidFill>
              </a:rPr>
              <a:t>.</a:t>
            </a:r>
          </a:p>
          <a:p>
            <a:pPr algn="l" marL="171450" indent="-171450">
              <a:spcAft>
                <a:spcPts val="500"/>
              </a:spcAft>
              <a:buFont typeface="Arial"/>
              <a:buChar char="•"/>
            </a:pPr>
            <a:r>
              <a:rPr sz="1150" b="0" i="0">
                <a:solidFill>
                  <a:srgbClr val="000000"/>
                </a:solidFill>
              </a:rPr>
              <a:t>An interim model leveraging her lieutenants has been identified</a:t>
            </a:r>
          </a:p>
          <a:p>
            <a:pPr algn="l" marL="171450" indent="-171450">
              <a:spcAft>
                <a:spcPts val="500"/>
              </a:spcAft>
              <a:buFont typeface="Arial"/>
              <a:buChar char="•"/>
            </a:pPr>
            <a:r>
              <a:rPr sz="1150" b="0" i="0">
                <a:solidFill>
                  <a:srgbClr val="000000"/>
                </a:solidFill>
              </a:rPr>
              <a:t>Ongoing interviews for Naaz’s backfill.</a:t>
            </a:r>
          </a:p>
          <a:p>
            <a:pPr algn="l" marL="171450" indent="-171450">
              <a:spcAft>
                <a:spcPts val="500"/>
              </a:spcAft>
              <a:buFont typeface="Arial"/>
              <a:buChar char="•"/>
            </a:pPr>
            <a:r>
              <a:rPr sz="1150" b="0" i="0">
                <a:solidFill>
                  <a:srgbClr val="000000"/>
                </a:solidFill>
              </a:rPr>
              <a:t>Could be sometime in Q1 before the role I filled</a:t>
            </a:r>
          </a:p>
        </p:txBody>
      </p:sp>
      <p:sp>
        <p:nvSpPr>
          <p:cNvPr id="11" name="Rounded Rectangle 10"/>
          <p:cNvSpPr/>
          <p:nvPr/>
        </p:nvSpPr>
        <p:spPr>
          <a:xfrm>
            <a:off x="9027900" y="1170000"/>
            <a:ext cx="2706900" cy="3273653"/>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Back to India</a:t>
            </a:r>
          </a:p>
          <a:p>
            <a:pPr algn="l">
              <a:spcAft>
                <a:spcPts val="500"/>
              </a:spcAft>
            </a:pPr>
            <a:r>
              <a:rPr sz="1150" b="0" i="0">
                <a:solidFill>
                  <a:srgbClr val="000000"/>
                </a:solidFill>
              </a:rPr>
              <a:t>In mid-November, we’ll make another trip to India.  This trip will include:</a:t>
            </a:r>
          </a:p>
          <a:p>
            <a:pPr algn="l" marL="171450" indent="-171450">
              <a:spcAft>
                <a:spcPts val="500"/>
              </a:spcAft>
              <a:buFont typeface="Arial"/>
              <a:buChar char="•"/>
            </a:pPr>
            <a:r>
              <a:rPr sz="1150" b="0" i="0">
                <a:solidFill>
                  <a:srgbClr val="000000"/>
                </a:solidFill>
              </a:rPr>
              <a:t>Key leaders from DBT, Missy and AO</a:t>
            </a:r>
          </a:p>
          <a:p>
            <a:pPr algn="l" marL="171450" indent="-171450">
              <a:spcAft>
                <a:spcPts val="500"/>
              </a:spcAft>
              <a:buFont typeface="Arial"/>
              <a:buChar char="•"/>
            </a:pPr>
            <a:r>
              <a:rPr sz="1150" b="0" i="0">
                <a:solidFill>
                  <a:srgbClr val="000000"/>
                </a:solidFill>
              </a:rPr>
              <a:t>Care and feeding of the team through the transition.</a:t>
            </a:r>
          </a:p>
          <a:p>
            <a:pPr algn="l" marL="171450" indent="-171450">
              <a:spcAft>
                <a:spcPts val="500"/>
              </a:spcAft>
              <a:buFont typeface="Arial"/>
              <a:buChar char="•"/>
            </a:pPr>
            <a:r>
              <a:rPr sz="1150" b="0" i="0">
                <a:solidFill>
                  <a:srgbClr val="000000"/>
                </a:solidFill>
              </a:rPr>
              <a:t>Building toward the future with our ways of working and staffing.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dg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DGS Leadership Transition: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Adam Organ</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THE PROBLEM</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530" name="Rounded Rectangle 529"/>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531" name="Rounded Rectangle 530"/>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TextBox 528"/>
          <p:cNvSpPr txBox="1"/>
          <p:nvPr/>
        </p:nvSpPr>
        <p:spPr>
          <a:xfrm>
            <a:off x="457200" y="1170000"/>
            <a:ext cx="11277600" cy="457200"/>
          </a:xfrm>
          <a:prstGeom prst="rect">
            <a:avLst/>
          </a:prstGeom>
          <a:noFill/>
        </p:spPr>
        <p:txBody>
          <a:bodyPr wrap="square" lIns="0" rIns="0" tIns="0" bIns="0" anchor="t">
            <a:spAutoFit/>
          </a:bodyPr>
          <a:lstStyle/>
          <a:p>
            <a:pPr algn="l">
              <a:spcBef>
                <a:spcPts val="400"/>
              </a:spcBef>
              <a:spcAft>
                <a:spcPts val="500"/>
              </a:spcAft>
            </a:pPr>
            <a:r>
              <a:rPr sz="1050" b="1" i="0">
                <a:solidFill>
                  <a:srgbClr val="000000"/>
                </a:solidFill>
              </a:rPr>
              <a:t>What's behind the alias</a:t>
            </a:r>
          </a:p>
          <a:p>
            <a:pPr algn="l" marL="171450" indent="-171450">
              <a:spcAft>
                <a:spcPts val="500"/>
              </a:spcAft>
              <a:buFont typeface="Arial"/>
              <a:buChar char="•"/>
            </a:pPr>
            <a:r>
              <a:rPr sz="1050" b="0" i="0">
                <a:solidFill>
                  <a:srgbClr val="000000"/>
                </a:solidFill>
              </a:rPr>
              <a:t>Request is reviewed and assigned to a lead within the BU</a:t>
            </a:r>
          </a:p>
          <a:p>
            <a:pPr algn="l" marL="171450" indent="-171450">
              <a:spcAft>
                <a:spcPts val="500"/>
              </a:spcAft>
              <a:buFont typeface="Arial"/>
              <a:buChar char="•"/>
            </a:pPr>
            <a:r>
              <a:rPr sz="1050" b="0" i="0">
                <a:solidFill>
                  <a:srgbClr val="000000"/>
                </a:solidFill>
              </a:rPr>
              <a:t>Lead reaches out to gather more info, pulls in solutioning support, and ensures the request is handled — creds, calls, PT entry, etc.</a:t>
            </a:r>
          </a:p>
        </p:txBody>
      </p:sp>
      <p:sp>
        <p:nvSpPr>
          <p:cNvPr id="530" name="Rounded Rectangle 529"/>
          <p:cNvSpPr/>
          <p:nvPr/>
        </p:nvSpPr>
        <p:spPr>
          <a:xfrm>
            <a:off x="45720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00" b="1" i="0">
                <a:solidFill>
                  <a:srgbClr val="000000"/>
                </a:solidFill>
              </a:rPr>
              <a:t>Alias Creation</a:t>
            </a:r>
          </a:p>
          <a:p>
            <a:pPr algn="l">
              <a:spcAft>
                <a:spcPts val="500"/>
              </a:spcAft>
            </a:pPr>
            <a:r>
              <a:rPr sz="800" b="1" i="0">
                <a:solidFill>
                  <a:srgbClr val="000000"/>
                </a:solidFill>
              </a:rPr>
              <a:t>DDM_Opportunity@merkle.com</a:t>
            </a:r>
            <a:r>
              <a:rPr sz="800" b="0" i="0">
                <a:solidFill>
                  <a:srgbClr val="000000"/>
                </a:solidFill>
              </a:rPr>
              <a:t> and </a:t>
            </a:r>
            <a:r>
              <a:rPr sz="800" b="1" i="0">
                <a:solidFill>
                  <a:srgbClr val="000000"/>
                </a:solidFill>
              </a:rPr>
              <a:t>DBT_Opportunity@merkle.com</a:t>
            </a:r>
            <a:r>
              <a:rPr sz="800" b="0" i="0">
                <a:solidFill>
                  <a:srgbClr val="000000"/>
                </a:solidFill>
              </a:rPr>
              <a:t> are live, so requests reach the right BU SMEs without needing to know a matrix of names.</a:t>
            </a:r>
          </a:p>
        </p:txBody>
      </p:sp>
      <p:sp>
        <p:nvSpPr>
          <p:cNvPr id="531" name="Rounded Rectangle 530"/>
          <p:cNvSpPr/>
          <p:nvPr/>
        </p:nvSpPr>
        <p:spPr>
          <a:xfrm>
            <a:off x="273272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00" b="1" i="0">
                <a:solidFill>
                  <a:srgbClr val="000000"/>
                </a:solidFill>
              </a:rPr>
              <a:t>Adoption</a:t>
            </a:r>
          </a:p>
          <a:p>
            <a:pPr algn="l" marL="171450" indent="-171450">
              <a:spcAft>
                <a:spcPts val="500"/>
              </a:spcAft>
              <a:buFont typeface="Arial"/>
              <a:buChar char="•"/>
            </a:pPr>
            <a:r>
              <a:rPr sz="800" b="0" i="0">
                <a:solidFill>
                  <a:srgbClr val="000000"/>
                </a:solidFill>
              </a:rPr>
              <a:t>C&amp;C has been informed of the alias and process</a:t>
            </a:r>
          </a:p>
          <a:p>
            <a:pPr algn="l" marL="171450" indent="-171450">
              <a:spcAft>
                <a:spcPts val="500"/>
              </a:spcAft>
              <a:buFont typeface="Arial"/>
              <a:buChar char="•"/>
            </a:pPr>
            <a:r>
              <a:rPr sz="800" b="0" i="0">
                <a:solidFill>
                  <a:srgbClr val="000000"/>
                </a:solidFill>
              </a:rPr>
              <a:t>Adoption has been slow: People still go to known individuals for help, cutting into BU visibility and ability to help</a:t>
            </a:r>
          </a:p>
        </p:txBody>
      </p:sp>
      <p:sp>
        <p:nvSpPr>
          <p:cNvPr id="532" name="Rounded Rectangle 531"/>
          <p:cNvSpPr/>
          <p:nvPr/>
        </p:nvSpPr>
        <p:spPr>
          <a:xfrm>
            <a:off x="500824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800" b="1" i="0">
                <a:solidFill>
                  <a:srgbClr val="000000"/>
                </a:solidFill>
              </a:rPr>
              <a:t>Leadership Ask</a:t>
            </a:r>
          </a:p>
          <a:p>
            <a:pPr algn="l" marL="171450" indent="-171450">
              <a:spcAft>
                <a:spcPts val="500"/>
              </a:spcAft>
              <a:buFont typeface="Arial"/>
              <a:buChar char="•"/>
            </a:pPr>
            <a:r>
              <a:rPr sz="800" b="0" i="0">
                <a:solidFill>
                  <a:srgbClr val="000000"/>
                </a:solidFill>
              </a:rPr>
              <a:t>C&amp;C leadership support in redirecting request</a:t>
            </a:r>
          </a:p>
        </p:txBody>
      </p:sp>
      <p:sp>
        <p:nvSpPr>
          <p:cNvPr id="533" name="Rounded Rectangle 532"/>
          <p:cNvSpPr/>
          <p:nvPr/>
        </p:nvSpPr>
        <p:spPr>
          <a:xfrm>
            <a:off x="728376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800" b="1" i="0">
                <a:solidFill>
                  <a:srgbClr val="000000"/>
                </a:solidFill>
              </a:rPr>
              <a:t>SME Case Request in SF</a:t>
            </a:r>
          </a:p>
          <a:p>
            <a:pPr algn="l">
              <a:spcAft>
                <a:spcPts val="500"/>
              </a:spcAft>
            </a:pPr>
            <a:r>
              <a:rPr sz="800" b="0" i="0">
                <a:solidFill>
                  <a:srgbClr val="000000"/>
                </a:solidFill>
              </a:rPr>
              <a:t>Updating the existing tool to cover more scenarios:</a:t>
            </a:r>
          </a:p>
          <a:p>
            <a:pPr algn="l" marL="171450" indent="-171450">
              <a:spcAft>
                <a:spcPts val="500"/>
              </a:spcAft>
              <a:buFont typeface="Arial"/>
              <a:buChar char="•"/>
            </a:pPr>
            <a:r>
              <a:rPr sz="800" b="0" i="0">
                <a:solidFill>
                  <a:srgbClr val="000000"/>
                </a:solidFill>
              </a:rPr>
              <a:t>New pursuit or deals under $500k</a:t>
            </a:r>
          </a:p>
          <a:p>
            <a:pPr algn="l" marL="171450" indent="-171450">
              <a:spcAft>
                <a:spcPts val="500"/>
              </a:spcAft>
              <a:buFont typeface="Arial"/>
              <a:buChar char="•"/>
            </a:pPr>
            <a:r>
              <a:rPr sz="800" b="0" i="0">
                <a:solidFill>
                  <a:srgbClr val="000000"/>
                </a:solidFill>
              </a:rPr>
              <a:t>Ad-hoc client request for a small new project</a:t>
            </a:r>
          </a:p>
          <a:p>
            <a:pPr algn="l" marL="171450" indent="-171450">
              <a:spcAft>
                <a:spcPts val="500"/>
              </a:spcAft>
              <a:buFont typeface="Arial"/>
              <a:buChar char="•"/>
            </a:pPr>
            <a:r>
              <a:rPr sz="800" b="0" i="0">
                <a:solidFill>
                  <a:srgbClr val="000000"/>
                </a:solidFill>
              </a:rPr>
              <a:t>Sprints involving multiple people</a:t>
            </a:r>
          </a:p>
          <a:p>
            <a:pPr algn="l" marL="171450" indent="-171450">
              <a:spcAft>
                <a:spcPts val="500"/>
              </a:spcAft>
              <a:buFont typeface="Arial"/>
              <a:buChar char="•"/>
            </a:pPr>
            <a:r>
              <a:rPr sz="800" b="0" i="0">
                <a:solidFill>
                  <a:srgbClr val="000000"/>
                </a:solidFill>
              </a:rPr>
              <a:t>Client exec-level meetings needing decks and materials</a:t>
            </a:r>
          </a:p>
          <a:p>
            <a:pPr algn="l" marL="171450" indent="-171450">
              <a:spcAft>
                <a:spcPts val="500"/>
              </a:spcAft>
              <a:buFont typeface="Arial"/>
              <a:buChar char="•"/>
            </a:pPr>
            <a:r>
              <a:rPr sz="800" b="0" i="0">
                <a:solidFill>
                  <a:srgbClr val="000000"/>
                </a:solidFill>
              </a:rPr>
              <a:t>Case studies, capability decks, etc.</a:t>
            </a:r>
          </a:p>
        </p:txBody>
      </p:sp>
      <p:sp>
        <p:nvSpPr>
          <p:cNvPr id="534" name="Rounded Rectangle 533"/>
          <p:cNvSpPr/>
          <p:nvPr/>
        </p:nvSpPr>
        <p:spPr>
          <a:xfrm>
            <a:off x="9559280" y="2084400"/>
            <a:ext cx="2175520" cy="22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Bef>
                <a:spcPts val="400"/>
              </a:spcBef>
              <a:spcAft>
                <a:spcPts val="200"/>
              </a:spcAft>
            </a:pPr>
            <a:r>
              <a:rPr sz="800" b="1" i="0">
                <a:solidFill>
                  <a:srgbClr val="000000"/>
                </a:solidFill>
              </a:rPr>
              <a:t>RACI Updates</a:t>
            </a:r>
          </a:p>
          <a:p>
            <a:pPr algn="l">
              <a:spcAft>
                <a:spcPts val="500"/>
              </a:spcAft>
            </a:pPr>
            <a:r>
              <a:rPr sz="800" b="0" i="0">
                <a:solidFill>
                  <a:srgbClr val="000000"/>
                </a:solidFill>
              </a:rPr>
              <a:t>Underway, to clearly articulate roles and responsibilities for everyone involved in the intake process.</a:t>
            </a:r>
          </a:p>
        </p:txBody>
      </p:sp>
      <p:sp>
        <p:nvSpPr>
          <p:cNvPr id="535" name="Rectangle 534"/>
          <p:cNvSpPr/>
          <p:nvPr/>
        </p:nvSpPr>
        <p:spPr>
          <a:xfrm>
            <a:off x="2303466" y="4505840"/>
            <a:ext cx="7585067" cy="19050"/>
          </a:xfrm>
          <a:prstGeom prst="rect">
            <a:avLst/>
          </a:prstGeom>
          <a:solidFill>
            <a:srgbClr val="D6D6DF"/>
          </a:solidFill>
          <a:ln>
            <a:noFill/>
          </a:ln>
        </p:spPr>
        <p:txBody>
          <a:bodyPr rtlCol="0" anchor="ctr"/>
          <a:lstStyle/>
          <a:p>
            <a:pPr algn="ctr"/>
          </a:p>
        </p:txBody>
      </p:sp>
      <p:sp>
        <p:nvSpPr>
          <p:cNvPr id="536" name="Oval 535"/>
          <p:cNvSpPr/>
          <p:nvPr/>
        </p:nvSpPr>
        <p:spPr>
          <a:xfrm>
            <a:off x="2212026" y="4414400"/>
            <a:ext cx="182880" cy="182880"/>
          </a:xfrm>
          <a:prstGeom prst="ellipse">
            <a:avLst/>
          </a:prstGeom>
          <a:solidFill>
            <a:srgbClr val="FFFFFF"/>
          </a:solidFill>
          <a:ln w="19050">
            <a:solidFill>
              <a:srgbClr val="000000"/>
            </a:solidFill>
          </a:ln>
        </p:spPr>
        <p:txBody>
          <a:bodyPr rtlCol="0" anchor="ctr"/>
          <a:lstStyle/>
          <a:p>
            <a:pPr algn="ctr"/>
          </a:p>
        </p:txBody>
      </p:sp>
      <p:sp>
        <p:nvSpPr>
          <p:cNvPr id="537" name="Rounded Rectangle 536"/>
          <p:cNvSpPr/>
          <p:nvPr/>
        </p:nvSpPr>
        <p:spPr>
          <a:xfrm>
            <a:off x="457200"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10/16 target launch date</a:t>
            </a:r>
          </a:p>
          <a:p>
            <a:pPr algn="l">
              <a:spcAft>
                <a:spcPts val="500"/>
              </a:spcAft>
            </a:pPr>
            <a:r>
              <a:rPr sz="1100" b="0" i="0">
                <a:solidFill>
                  <a:srgbClr val="000000"/>
                </a:solidFill>
              </a:rPr>
              <a:t>SME Case Request in SF</a:t>
            </a:r>
          </a:p>
        </p:txBody>
      </p:sp>
      <p:sp>
        <p:nvSpPr>
          <p:cNvPr id="538" name="Oval 537"/>
          <p:cNvSpPr/>
          <p:nvPr/>
        </p:nvSpPr>
        <p:spPr>
          <a:xfrm>
            <a:off x="6004559" y="4414400"/>
            <a:ext cx="182880" cy="182880"/>
          </a:xfrm>
          <a:prstGeom prst="ellipse">
            <a:avLst/>
          </a:prstGeom>
          <a:solidFill>
            <a:srgbClr val="FFFFFF"/>
          </a:solidFill>
          <a:ln w="19050">
            <a:solidFill>
              <a:srgbClr val="000000"/>
            </a:solidFill>
          </a:ln>
        </p:spPr>
        <p:txBody>
          <a:bodyPr rtlCol="0" anchor="ctr"/>
          <a:lstStyle/>
          <a:p>
            <a:pPr algn="ctr"/>
          </a:p>
        </p:txBody>
      </p:sp>
      <p:sp>
        <p:nvSpPr>
          <p:cNvPr id="539" name="Rounded Rectangle 538"/>
          <p:cNvSpPr/>
          <p:nvPr/>
        </p:nvSpPr>
        <p:spPr>
          <a:xfrm>
            <a:off x="4249733"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11/1 Estimated Rollout</a:t>
            </a:r>
          </a:p>
          <a:p>
            <a:pPr algn="l">
              <a:spcAft>
                <a:spcPts val="500"/>
              </a:spcAft>
            </a:pPr>
            <a:r>
              <a:rPr sz="1100" b="0" i="0">
                <a:solidFill>
                  <a:srgbClr val="000000"/>
                </a:solidFill>
              </a:rPr>
              <a:t>RACI Updates</a:t>
            </a:r>
          </a:p>
        </p:txBody>
      </p:sp>
      <p:sp>
        <p:nvSpPr>
          <p:cNvPr id="540" name="Oval 539"/>
          <p:cNvSpPr/>
          <p:nvPr/>
        </p:nvSpPr>
        <p:spPr>
          <a:xfrm>
            <a:off x="9797092" y="4414400"/>
            <a:ext cx="182880" cy="182880"/>
          </a:xfrm>
          <a:prstGeom prst="ellipse">
            <a:avLst/>
          </a:prstGeom>
          <a:solidFill>
            <a:srgbClr val="FFFFFF"/>
          </a:solidFill>
          <a:ln w="19050">
            <a:solidFill>
              <a:srgbClr val="D6D6DF"/>
            </a:solidFill>
          </a:ln>
        </p:spPr>
        <p:txBody>
          <a:bodyPr rtlCol="0" anchor="ctr"/>
          <a:lstStyle/>
          <a:p>
            <a:pPr algn="ctr"/>
          </a:p>
        </p:txBody>
      </p:sp>
      <p:sp>
        <p:nvSpPr>
          <p:cNvPr id="541" name="Rounded Rectangle 540"/>
          <p:cNvSpPr/>
          <p:nvPr/>
        </p:nvSpPr>
        <p:spPr>
          <a:xfrm>
            <a:off x="8042266" y="4688720"/>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542" name="Rounded Rectangle 541"/>
          <p:cNvSpPr/>
          <p:nvPr/>
        </p:nvSpPr>
        <p:spPr>
          <a:xfrm>
            <a:off x="4572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543" name="Rounded Rectangle 542"/>
          <p:cNvSpPr/>
          <p:nvPr/>
        </p:nvSpPr>
        <p:spPr>
          <a:xfrm>
            <a:off x="667512"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4" name="Rounded Rectangle 543"/>
          <p:cNvSpPr/>
          <p:nvPr/>
        </p:nvSpPr>
        <p:spPr>
          <a:xfrm>
            <a:off x="2101029" y="5917904"/>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545" name="Rounded Rectangle 544"/>
          <p:cNvSpPr/>
          <p:nvPr/>
        </p:nvSpPr>
        <p:spPr>
          <a:xfrm>
            <a:off x="6171000" y="5588720"/>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546" name="Rounded Rectangle 545"/>
          <p:cNvSpPr/>
          <p:nvPr/>
        </p:nvSpPr>
        <p:spPr>
          <a:xfrm>
            <a:off x="6381312"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547" name="Rounded Rectangle 546"/>
          <p:cNvSpPr/>
          <p:nvPr/>
        </p:nvSpPr>
        <p:spPr>
          <a:xfrm>
            <a:off x="7755263" y="5917904"/>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27" name="Picture 526" descr="hero_p3.jpg"/>
          <p:cNvPicPr>
            <a:picLocks noChangeAspect="1"/>
          </p:cNvPicPr>
          <p:nvPr/>
        </p:nvPicPr>
        <p:blipFill>
          <a:blip r:embed="rId2"/>
          <a:stretch>
            <a:fillRect/>
          </a:stretch>
        </p:blipFill>
        <p:spPr>
          <a:xfrm>
            <a:off x="0" y="0"/>
            <a:ext cx="12192000" cy="1000000"/>
          </a:xfrm>
          <a:prstGeom prst="rect">
            <a:avLst/>
          </a:prstGeom>
        </p:spPr>
      </p:pic>
      <p:sp>
        <p:nvSpPr>
          <p:cNvPr id="528" name="Rectangle 527"/>
          <p:cNvSpPr/>
          <p:nvPr/>
        </p:nvSpPr>
        <p:spPr>
          <a:xfrm>
            <a:off x="0" y="0"/>
            <a:ext cx="12192000" cy="1000000"/>
          </a:xfrm>
          <a:prstGeom prst="rect">
            <a:avLst/>
          </a:prstGeom>
          <a:gradFill rotWithShape="1">
            <a:gsLst>
              <a:gs pos="0">
                <a:srgbClr val="000000">
                  <a:alpha val="90000"/>
                </a:srgbClr>
              </a:gs>
              <a:gs pos="50000">
                <a:srgbClr val="000000">
                  <a:alpha val="74000"/>
                </a:srgbClr>
              </a:gs>
              <a:gs pos="100000">
                <a:srgbClr val="000000">
                  <a:alpha val="62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INTAKE UPDATES · CLICK-DOWN · WHAT WE ARE CHANGING</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i="0">
                <a:solidFill>
                  <a:srgbClr val="FFFFFF"/>
                </a:solidFill>
                <a:cs typeface="+mn-cs"/>
              </a:rPr>
              <a:t>Missy Foristall, Deana Derocha</a:t>
            </a:r>
          </a:p>
        </p:txBody>
      </p:sp>
      <p:sp>
        <p:nvSpPr>
          <p:cNvPr id="529" name="Rounded Rectangle 528"/>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530" name="Rounded Rectangle 529"/>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531" name="Rounded Rectangle 530"/>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532" name="Rounded Rectangle 531"/>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ops.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Ops Transformation: Rebuild Scoping &amp; Staffing</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Dave Brabec</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Deliverables go in, and a timeline and staffing plan come out. AI does the real work of generating the plan, and gets smarter from what we actually deliver.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[Put here: one or two sentences on why now. What does waiting cost us?]</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This is a new ask, and we are still working through it. More to come.</a:t>
            </a:r>
          </a:p>
        </p:txBody>
      </p:sp>
      <p:sp>
        <p:nvSpPr>
          <p:cNvPr id="9" name="Rounded Rectangle 8"/>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150" b="1" i="0">
                <a:solidFill>
                  <a:srgbClr val="000000"/>
                </a:solidFill>
              </a:rPr>
              <a:t>Goes In</a:t>
            </a:r>
          </a:p>
          <a:p>
            <a:pPr algn="l">
              <a:spcBef>
                <a:spcPts val="400"/>
              </a:spcBef>
              <a:spcAft>
                <a:spcPts val="500"/>
              </a:spcAft>
            </a:pPr>
            <a:r>
              <a:rPr sz="1150" b="1" i="0">
                <a:solidFill>
                  <a:srgbClr val="000000"/>
                </a:solidFill>
              </a:rPr>
              <a:t>Deliverables</a:t>
            </a:r>
          </a:p>
        </p:txBody>
      </p:sp>
      <p:sp>
        <p:nvSpPr>
          <p:cNvPr id="10" name="Rounded Rectangle 9"/>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150" b="1" i="0">
                <a:solidFill>
                  <a:srgbClr val="000000"/>
                </a:solidFill>
              </a:rPr>
              <a:t>Ai Does The Real Work</a:t>
            </a:r>
          </a:p>
          <a:p>
            <a:pPr algn="l">
              <a:spcBef>
                <a:spcPts val="400"/>
              </a:spcBef>
              <a:spcAft>
                <a:spcPts val="500"/>
              </a:spcAft>
            </a:pPr>
            <a:r>
              <a:rPr sz="1150" b="1" i="0">
                <a:solidFill>
                  <a:srgbClr val="000000"/>
                </a:solidFill>
              </a:rPr>
              <a:t>Generating the plan</a:t>
            </a:r>
          </a:p>
        </p:txBody>
      </p:sp>
      <p:sp>
        <p:nvSpPr>
          <p:cNvPr id="11" name="Rounded Rectangle 10"/>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150" b="1" i="0">
                <a:solidFill>
                  <a:srgbClr val="000000"/>
                </a:solidFill>
              </a:rPr>
              <a:t>Comes Out</a:t>
            </a:r>
          </a:p>
          <a:p>
            <a:pPr algn="l">
              <a:spcBef>
                <a:spcPts val="400"/>
              </a:spcBef>
              <a:spcAft>
                <a:spcPts val="500"/>
              </a:spcAft>
            </a:pPr>
            <a:r>
              <a:rPr sz="1150" b="1" i="0">
                <a:solidFill>
                  <a:srgbClr val="000000"/>
                </a:solidFill>
              </a:rPr>
              <a:t>Timeline + staffing plan</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ps.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TRANSFORMATION: REBUILD SCOPING &amp; STAFFING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ops.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Ops Transformation: Rebuild Scoping &amp; Staffing: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Dave Brabec</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icture 3" descr="f_div_early.jpg"/>
          <p:cNvPicPr>
            <a:picLocks noChangeAspect="1"/>
          </p:cNvPicPr>
          <p:nvPr/>
        </p:nvPicPr>
        <p:blipFill>
          <a:blip r:embed="rId2"/>
          <a:stretch>
            <a:fillRect/>
          </a:stretch>
        </p:blipFill>
        <p:spPr>
          <a:xfrm>
            <a:off x="0" y="0"/>
            <a:ext cx="12192000" cy="6858000"/>
          </a:xfrm>
          <a:prstGeom prst="rect">
            <a:avLst/>
          </a:prstGeom>
        </p:spPr>
      </p:pic>
      <p:sp>
        <p:nvSpPr>
          <p:cNvPr id="5" name="Rectangle 4"/>
          <p:cNvSpPr/>
          <p:nvPr/>
        </p:nvSpPr>
        <p:spPr>
          <a:xfrm>
            <a:off x="0" y="0"/>
            <a:ext cx="12192000" cy="6858000"/>
          </a:xfrm>
          <a:prstGeom prst="rect">
            <a:avLst/>
          </a:prstGeom>
          <a:gradFill rotWithShape="1">
            <a:gsLst>
              <a:gs pos="0">
                <a:srgbClr val="000000">
                  <a:alpha val="90000"/>
                </a:srgbClr>
              </a:gs>
              <a:gs pos="42000">
                <a:srgbClr val="000000">
                  <a:alpha val="58000"/>
                </a:srgbClr>
              </a:gs>
              <a:gs pos="100000">
                <a:srgbClr val="000000">
                  <a:alpha val="26000"/>
                </a:srgbClr>
              </a:gs>
            </a:gsLst>
            <a:lin ang="0" scaled="0"/>
          </a:gradFill>
          <a:ln>
            <a:noFill/>
          </a:ln>
        </p:spPr>
        <p:txBody>
          <a:bodyPr rtlCol="0" anchor="ctr"/>
          <a:lstStyle/>
          <a:p>
            <a:pPr algn="ctr"/>
          </a:p>
        </p:txBody>
      </p:sp>
      <p:sp>
        <p:nvSpPr>
          <p:cNvPr id="6" name="Rectangle 5"/>
          <p:cNvSpPr/>
          <p:nvPr/>
        </p:nvSpPr>
        <p:spPr>
          <a:xfrm>
            <a:off x="0" y="0"/>
            <a:ext cx="12192000" cy="6858000"/>
          </a:xfrm>
          <a:prstGeom prst="rect">
            <a:avLst/>
          </a:prstGeom>
          <a:gradFill rotWithShape="1">
            <a:gsLst>
              <a:gs pos="0">
                <a:srgbClr val="000000">
                  <a:alpha val="0"/>
                </a:srgbClr>
              </a:gs>
              <a:gs pos="45000">
                <a:srgbClr val="000000">
                  <a:alpha val="10000"/>
                </a:srgbClr>
              </a:gs>
              <a:gs pos="100000">
                <a:srgbClr val="000000">
                  <a:alpha val="58000"/>
                </a:srgbClr>
              </a:gs>
            </a:gsLst>
            <a:lin ang="5400000" scaled="0"/>
          </a:gradFill>
          <a:ln>
            <a:noFill/>
          </a:ln>
        </p:spPr>
        <p:txBody>
          <a:bodyPr rtlCol="0" anchor="ctr"/>
          <a:lstStyle/>
          <a:p>
            <a:pPr algn="ctr"/>
          </a:p>
        </p:txBody>
      </p:sp>
      <p:sp>
        <p:nvSpPr>
          <p:cNvPr id="8" name="Rounded Rectangle 7"/>
          <p:cNvSpPr/>
          <p:nvPr/>
        </p:nvSpPr>
        <p:spPr>
          <a:xfrm>
            <a:off x="640080" y="685800"/>
            <a:ext cx="6583680" cy="2827376"/>
          </a:xfrm>
          <a:prstGeom prst="roundRect">
            <a:avLst>
              <a:gd name="adj" fmla="val 2500"/>
            </a:avLst>
          </a:prstGeom>
          <a:solidFill>
            <a:srgbClr val="000000">
              <a:alpha val="62000"/>
            </a:srgbClr>
          </a:solidFill>
          <a:ln>
            <a:noFill/>
          </a:ln>
        </p:spPr>
        <p:txBody>
          <a:bodyPr rtlCol="0" anchor="ctr"/>
          <a:lstStyle/>
          <a:p>
            <a:pPr algn="ctr"/>
          </a:p>
        </p:txBody>
      </p:sp>
      <p:sp>
        <p:nvSpPr>
          <p:cNvPr id="2" name="Title 1"/>
          <p:cNvSpPr>
            <a:spLocks noGrp="1"/>
          </p:cNvSpPr>
          <p:nvPr>
            <p:ph type="title"/>
          </p:nvPr>
        </p:nvSpPr>
        <p:spPr>
          <a:xfrm>
            <a:off x="914400" y="1316736"/>
            <a:ext cx="6400800" cy="2194560"/>
          </a:xfrm>
        </p:spPr>
        <p:txBody>
          <a:bodyPr anchor="t"/>
          <a:lstStyle/>
          <a:p>
            <a:r>
              <a:rPr sz="4000"/>
              <a:t>Earlier Delivery &amp; Talent in Pursuits</a:t>
            </a:r>
          </a:p>
        </p:txBody>
      </p:sp>
      <p:sp>
        <p:nvSpPr>
          <p:cNvPr id="3" name="Text Placeholder 2"/>
          <p:cNvSpPr>
            <a:spLocks noGrp="1"/>
          </p:cNvSpPr>
          <p:nvPr>
            <p:ph type="body" idx="15" sz="quarter"/>
          </p:nvPr>
        </p:nvSpPr>
        <p:spPr>
          <a:xfrm>
            <a:off x="914400" y="914400"/>
            <a:ext cx="6400800" cy="292608"/>
          </a:xfrm>
        </p:spPr>
        <p:txBody>
          <a:bodyPr/>
          <a:lstStyle/>
          <a:p>
            <a:r>
              <a:t>OPS PRIORITIES</a:t>
            </a:r>
          </a:p>
        </p:txBody>
      </p:sp>
      <p:sp>
        <p:nvSpPr>
          <p:cNvPr id="7" name="TextBox 6"/>
          <p:cNvSpPr txBox="1"/>
          <p:nvPr/>
        </p:nvSpPr>
        <p:spPr>
          <a:xfrm>
            <a:off x="914400" y="2735936"/>
            <a:ext cx="5943600" cy="548640"/>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D6D6DF"/>
                </a:solidFill>
              </a:rPr>
              <a:t>Owner(s)</a:t>
            </a:r>
          </a:p>
          <a:p>
            <a:pPr algn="l">
              <a:spcAft>
                <a:spcPts val="500"/>
              </a:spcAft>
            </a:pPr>
            <a:r>
              <a:rPr sz="1400" b="0" i="0">
                <a:solidFill>
                  <a:srgbClr val="D6D6DF"/>
                </a:solidFill>
              </a:rPr>
              <a:t>Missy Foristall, Deana Derocha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 · EXEC SUMMARY</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080000"/>
            <a:ext cx="5563800" cy="19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2026 Goal</a:t>
            </a:r>
          </a:p>
          <a:p>
            <a:pPr algn="l">
              <a:spcAft>
                <a:spcPts val="500"/>
              </a:spcAft>
            </a:pPr>
            <a:r>
              <a:rPr sz="1150" b="0" i="1">
                <a:solidFill>
                  <a:srgbClr val="D6D6DF"/>
                </a:solidFill>
              </a:rPr>
              <a:t>[Put here: the one thing we want to be true by the end of 2026.]</a:t>
            </a:r>
          </a:p>
          <a:p>
            <a:pPr algn="l">
              <a:spcAft>
                <a:spcPts val="500"/>
              </a:spcAft>
            </a:pPr>
            <a:r>
              <a:rPr sz="1150" b="0" i="1">
                <a:solidFill>
                  <a:srgbClr val="D6D6DF"/>
                </a:solidFill>
              </a:rPr>
              <a:t>[Why: everyone should know the finish line.]</a:t>
            </a:r>
          </a:p>
        </p:txBody>
      </p:sp>
      <p:sp>
        <p:nvSpPr>
          <p:cNvPr id="9" name="Rounded Rectangle 8"/>
          <p:cNvSpPr/>
          <p:nvPr/>
        </p:nvSpPr>
        <p:spPr>
          <a:xfrm>
            <a:off x="6171000" y="1080000"/>
            <a:ext cx="5563800" cy="19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The problem</a:t>
            </a:r>
          </a:p>
          <a:p>
            <a:pPr algn="l">
              <a:spcAft>
                <a:spcPts val="500"/>
              </a:spcAft>
            </a:pPr>
            <a:r>
              <a:rPr sz="1150" b="0" i="1">
                <a:solidFill>
                  <a:srgbClr val="60607D"/>
                </a:solidFill>
              </a:rPr>
              <a:t>[Put here: what is broken today, in plain words.]</a:t>
            </a:r>
          </a:p>
          <a:p>
            <a:pPr algn="l">
              <a:spcAft>
                <a:spcPts val="500"/>
              </a:spcAft>
            </a:pPr>
            <a:r>
              <a:rPr sz="1150" b="0" i="1">
                <a:solidFill>
                  <a:srgbClr val="60607D"/>
                </a:solidFill>
              </a:rPr>
              <a:t>[Why: people only back a fix if they can feel the problem.]</a:t>
            </a:r>
          </a:p>
        </p:txBody>
      </p:sp>
      <p:sp>
        <p:nvSpPr>
          <p:cNvPr id="10" name="Rounded Rectangle 9"/>
          <p:cNvSpPr/>
          <p:nvPr/>
        </p:nvSpPr>
        <p:spPr>
          <a:xfrm>
            <a:off x="457200" y="3130000"/>
            <a:ext cx="5563800" cy="22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we are changing</a:t>
            </a:r>
          </a:p>
          <a:p>
            <a:pPr algn="l">
              <a:spcAft>
                <a:spcPts val="500"/>
              </a:spcAft>
            </a:pPr>
            <a:r>
              <a:rPr sz="1150" b="0" i="1">
                <a:solidFill>
                  <a:srgbClr val="60607D"/>
                </a:solidFill>
              </a:rPr>
              <a:t>[Put here: what we will do differently. Use short bullets.]</a:t>
            </a:r>
          </a:p>
          <a:p>
            <a:pPr algn="l">
              <a:spcAft>
                <a:spcPts val="500"/>
              </a:spcAft>
            </a:pPr>
            <a:r>
              <a:rPr sz="1150" b="0" i="1">
                <a:solidFill>
                  <a:srgbClr val="60607D"/>
                </a:solidFill>
              </a:rPr>
              <a:t>[Why: it shows we have a plan, not just a worry.]</a:t>
            </a:r>
          </a:p>
        </p:txBody>
      </p:sp>
      <p:sp>
        <p:nvSpPr>
          <p:cNvPr id="11" name="Rounded Rectangle 10"/>
          <p:cNvSpPr/>
          <p:nvPr/>
        </p:nvSpPr>
        <p:spPr>
          <a:xfrm>
            <a:off x="6171000" y="3130000"/>
            <a:ext cx="5563800" cy="22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this unlocks</a:t>
            </a:r>
          </a:p>
          <a:p>
            <a:pPr algn="l">
              <a:spcAft>
                <a:spcPts val="500"/>
              </a:spcAft>
            </a:pPr>
            <a:r>
              <a:rPr sz="1150" b="0" i="1">
                <a:solidFill>
                  <a:srgbClr val="D6D6DF"/>
                </a:solidFill>
              </a:rPr>
              <a:t>[Put here: what gets better once this works.]</a:t>
            </a:r>
          </a:p>
          <a:p>
            <a:pPr algn="l">
              <a:spcAft>
                <a:spcPts val="500"/>
              </a:spcAft>
            </a:pPr>
            <a:r>
              <a:rPr sz="1150" b="0" i="1">
                <a:solidFill>
                  <a:srgbClr val="D6D6DF"/>
                </a:solidFill>
              </a:rPr>
              <a:t>[Why: it is the reason the effort is worth it.]</a:t>
            </a:r>
          </a:p>
        </p:txBody>
      </p:sp>
      <p:sp>
        <p:nvSpPr>
          <p:cNvPr id="12" name="Rounded Rectangle 11"/>
          <p:cNvSpPr/>
          <p:nvPr/>
        </p:nvSpPr>
        <p:spPr>
          <a:xfrm>
            <a:off x="457200" y="5510000"/>
            <a:ext cx="11277600" cy="89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Key takeaway</a:t>
            </a:r>
          </a:p>
          <a:p>
            <a:pPr algn="l"/>
            <a:r>
              <a:rPr sz="1200" b="1" i="0">
                <a:solidFill>
                  <a:srgbClr val="FFFFFF"/>
                </a:solidFill>
              </a:rPr>
              <a:t>Without clear roles tied to supporting pitch and pursuit, we continue to pull delivery resources that are fully allocated into conversations that they can't give the appropriate attention to. This will continue to be a problem until we get the right skillsets with the right availability identified and in place.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Why now</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THE PROBLEM</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11277600" cy="12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Bef>
                <a:spcPts val="400"/>
              </a:spcBef>
              <a:spcAft>
                <a:spcPts val="500"/>
              </a:spcAft>
            </a:pPr>
            <a:r>
              <a:rPr sz="1600" b="1" i="0">
                <a:solidFill>
                  <a:srgbClr val="FFFFFF"/>
                </a:solidFill>
              </a:rPr>
              <a:t>By bringing SME expertise into upfront deal evaluation, we can increase our win rate on the deal volume we're already capturing. Quick execution is essential to drive Q4 and 2027 revenue.</a:t>
            </a:r>
          </a:p>
        </p:txBody>
      </p:sp>
      <p:sp>
        <p:nvSpPr>
          <p:cNvPr id="9" name="Rounded Rectangle 8"/>
          <p:cNvSpPr/>
          <p:nvPr/>
        </p:nvSpPr>
        <p:spPr>
          <a:xfrm>
            <a:off x="457200" y="2570000"/>
            <a:ext cx="6541008" cy="36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What's happening today</a:t>
            </a:r>
          </a:p>
          <a:p>
            <a:pPr algn="l">
              <a:spcAft>
                <a:spcPts val="500"/>
              </a:spcAft>
            </a:pPr>
            <a:r>
              <a:rPr sz="1300" b="0" i="1">
                <a:solidFill>
                  <a:srgbClr val="60607D"/>
                </a:solidFill>
              </a:rPr>
              <a:t>[Put here: what is going on right now that makes this urgent. One bullet per point, add as many as you need.]</a:t>
            </a:r>
          </a:p>
          <a:p>
            <a:pPr algn="l">
              <a:spcAft>
                <a:spcPts val="500"/>
              </a:spcAft>
            </a:pPr>
            <a:r>
              <a:rPr sz="1300" b="0" i="1">
                <a:solidFill>
                  <a:srgbClr val="60607D"/>
                </a:solidFill>
              </a:rPr>
              <a:t>[Why: this is the reason to act now.]</a:t>
            </a:r>
          </a:p>
        </p:txBody>
      </p:sp>
      <p:sp>
        <p:nvSpPr>
          <p:cNvPr id="10" name="Rounded Rectangle 9"/>
          <p:cNvSpPr/>
          <p:nvPr/>
        </p:nvSpPr>
        <p:spPr>
          <a:xfrm>
            <a:off x="7148208" y="2570000"/>
            <a:ext cx="4586592" cy="368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So we need</a:t>
            </a:r>
          </a:p>
          <a:p>
            <a:pPr algn="l">
              <a:spcAft>
                <a:spcPts val="500"/>
              </a:spcAft>
            </a:pPr>
            <a:r>
              <a:rPr sz="1300" b="0" i="1">
                <a:solidFill>
                  <a:srgbClr val="D6D6DF"/>
                </a:solidFill>
              </a:rPr>
              <a:t>[Put here: what has to happen or be decided. One bullet per ask.]</a:t>
            </a:r>
          </a:p>
          <a:p>
            <a:pPr algn="l">
              <a:spcAft>
                <a:spcPts val="500"/>
              </a:spcAft>
            </a:pPr>
            <a:r>
              <a:rPr sz="1300" b="0" i="1">
                <a:solidFill>
                  <a:srgbClr val="D6D6DF"/>
                </a:solidFill>
              </a:rPr>
              <a:t>[Why: this turns the worry into a clear ask.]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TextBox 7"/>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9" name="Rounded Rectangle 8"/>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850" b="1" i="0">
                <a:solidFill>
                  <a:srgbClr val="000000"/>
                </a:solidFill>
              </a:rPr>
              <a:t>PHASE 1 · Planning and Discovery: Now – 10/30</a:t>
            </a:r>
          </a:p>
          <a:p>
            <a:pPr algn="l">
              <a:spcBef>
                <a:spcPts val="400"/>
              </a:spcBef>
              <a:spcAft>
                <a:spcPts val="500"/>
              </a:spcAft>
            </a:pPr>
            <a:r>
              <a:rPr sz="850" b="1" i="0">
                <a:solidFill>
                  <a:srgbClr val="000000"/>
                </a:solidFill>
              </a:rPr>
              <a:t>Define Roles Needed</a:t>
            </a:r>
          </a:p>
          <a:p>
            <a:pPr algn="l">
              <a:spcAft>
                <a:spcPts val="500"/>
              </a:spcAft>
            </a:pPr>
            <a:r>
              <a:rPr sz="850" b="0" i="0">
                <a:solidFill>
                  <a:srgbClr val="000000"/>
                </a:solidFill>
              </a:rPr>
              <a:t>Determine the specific roles need for pursuit support (alliance partner, skillset) along with allocations, roles and responsibilities</a:t>
            </a:r>
          </a:p>
          <a:p>
            <a:pPr algn="l">
              <a:spcBef>
                <a:spcPts val="400"/>
              </a:spcBef>
              <a:spcAft>
                <a:spcPts val="500"/>
              </a:spcAft>
            </a:pPr>
            <a:r>
              <a:rPr sz="850" b="1" i="0">
                <a:solidFill>
                  <a:srgbClr val="000000"/>
                </a:solidFill>
              </a:rPr>
              <a:t>Clarify if Internal or External Moves</a:t>
            </a:r>
          </a:p>
          <a:p>
            <a:pPr algn="l">
              <a:spcAft>
                <a:spcPts val="500"/>
              </a:spcAft>
            </a:pPr>
            <a:r>
              <a:rPr sz="850" b="0" i="0">
                <a:solidFill>
                  <a:srgbClr val="000000"/>
                </a:solidFill>
              </a:rPr>
              <a:t>Review existing team roster to see who can move to these new roles and where we need to hire</a:t>
            </a:r>
          </a:p>
          <a:p>
            <a:pPr algn="l">
              <a:spcBef>
                <a:spcPts val="400"/>
              </a:spcBef>
              <a:spcAft>
                <a:spcPts val="500"/>
              </a:spcAft>
            </a:pPr>
            <a:r>
              <a:rPr sz="850" b="1" i="0">
                <a:solidFill>
                  <a:srgbClr val="000000"/>
                </a:solidFill>
              </a:rPr>
              <a:t>Update Existing Org Structure</a:t>
            </a:r>
          </a:p>
          <a:p>
            <a:pPr algn="l">
              <a:spcAft>
                <a:spcPts val="500"/>
              </a:spcAft>
            </a:pPr>
            <a:r>
              <a:rPr sz="850" b="0" i="0">
                <a:solidFill>
                  <a:srgbClr val="000000"/>
                </a:solidFill>
              </a:rPr>
              <a:t>Update the existing org structure (as needed) to best support these roles and the pursuits</a:t>
            </a:r>
          </a:p>
        </p:txBody>
      </p:sp>
      <p:sp>
        <p:nvSpPr>
          <p:cNvPr id="10" name="Rounded Rectangle 9"/>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850" b="1" i="0">
                <a:solidFill>
                  <a:srgbClr val="000000"/>
                </a:solidFill>
              </a:rPr>
              <a:t>PHASE 2 · Execution on Changes: 11/2 – 12/24</a:t>
            </a:r>
          </a:p>
          <a:p>
            <a:pPr algn="l">
              <a:spcBef>
                <a:spcPts val="400"/>
              </a:spcBef>
              <a:spcAft>
                <a:spcPts val="500"/>
              </a:spcAft>
            </a:pPr>
            <a:r>
              <a:rPr sz="850" b="1" i="0">
                <a:solidFill>
                  <a:srgbClr val="000000"/>
                </a:solidFill>
              </a:rPr>
              <a:t>Open Reqs</a:t>
            </a:r>
          </a:p>
          <a:p>
            <a:pPr algn="l">
              <a:spcAft>
                <a:spcPts val="500"/>
              </a:spcAft>
            </a:pPr>
            <a:r>
              <a:rPr sz="850" b="0" i="0">
                <a:solidFill>
                  <a:srgbClr val="000000"/>
                </a:solidFill>
              </a:rPr>
              <a:t>Once aligned on the needs, prioritize needs and open reqs for the first set of new roles (or for backfills, if moving existing people into the new roles)</a:t>
            </a:r>
          </a:p>
          <a:p>
            <a:pPr algn="l">
              <a:spcBef>
                <a:spcPts val="400"/>
              </a:spcBef>
              <a:spcAft>
                <a:spcPts val="500"/>
              </a:spcAft>
            </a:pPr>
            <a:r>
              <a:rPr sz="850" b="1" i="0">
                <a:solidFill>
                  <a:srgbClr val="000000"/>
                </a:solidFill>
              </a:rPr>
              <a:t>Create Transition Plan</a:t>
            </a:r>
          </a:p>
          <a:p>
            <a:pPr algn="l">
              <a:spcAft>
                <a:spcPts val="500"/>
              </a:spcAft>
            </a:pPr>
            <a:r>
              <a:rPr sz="850" b="0" i="0">
                <a:solidFill>
                  <a:srgbClr val="000000"/>
                </a:solidFill>
              </a:rPr>
              <a:t>Identify any accounts that need to move to allow people to switch to a new role and create a 30/60 day transition plan</a:t>
            </a:r>
          </a:p>
        </p:txBody>
      </p:sp>
      <p:sp>
        <p:nvSpPr>
          <p:cNvPr id="11" name="Rectangle 10"/>
          <p:cNvSpPr/>
          <p:nvPr/>
        </p:nvSpPr>
        <p:spPr>
          <a:xfrm>
            <a:off x="2303466" y="4379808"/>
            <a:ext cx="7585067" cy="19050"/>
          </a:xfrm>
          <a:prstGeom prst="rect">
            <a:avLst/>
          </a:prstGeom>
          <a:solidFill>
            <a:srgbClr val="D6D6DF"/>
          </a:solidFill>
          <a:ln>
            <a:noFill/>
          </a:ln>
        </p:spPr>
        <p:txBody>
          <a:bodyPr rtlCol="0" anchor="ctr"/>
          <a:lstStyle/>
          <a:p>
            <a:pPr algn="ctr"/>
          </a:p>
        </p:txBody>
      </p:sp>
      <p:sp>
        <p:nvSpPr>
          <p:cNvPr id="12" name="Oval 11"/>
          <p:cNvSpPr/>
          <p:nvPr/>
        </p:nvSpPr>
        <p:spPr>
          <a:xfrm>
            <a:off x="2212026" y="4288368"/>
            <a:ext cx="182880" cy="182880"/>
          </a:xfrm>
          <a:prstGeom prst="ellipse">
            <a:avLst/>
          </a:prstGeom>
          <a:solidFill>
            <a:srgbClr val="FFFFFF"/>
          </a:solidFill>
          <a:ln w="19050">
            <a:solidFill>
              <a:srgbClr val="000000"/>
            </a:solidFill>
          </a:ln>
        </p:spPr>
        <p:txBody>
          <a:bodyPr rtlCol="0" anchor="ctr"/>
          <a:lstStyle/>
          <a:p>
            <a:pPr algn="ctr"/>
          </a:p>
        </p:txBody>
      </p:sp>
      <p:sp>
        <p:nvSpPr>
          <p:cNvPr id="13" name="Rounded Rectangle 12"/>
          <p:cNvSpPr/>
          <p:nvPr/>
        </p:nvSpPr>
        <p:spPr>
          <a:xfrm>
            <a:off x="457200"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Now – 10/30</a:t>
            </a:r>
          </a:p>
          <a:p>
            <a:pPr algn="l">
              <a:spcAft>
                <a:spcPts val="500"/>
              </a:spcAft>
            </a:pPr>
            <a:r>
              <a:rPr sz="1100" b="0" i="0">
                <a:solidFill>
                  <a:srgbClr val="000000"/>
                </a:solidFill>
              </a:rPr>
              <a:t>Planning and Discovery</a:t>
            </a:r>
          </a:p>
        </p:txBody>
      </p:sp>
      <p:sp>
        <p:nvSpPr>
          <p:cNvPr id="14" name="Oval 13"/>
          <p:cNvSpPr/>
          <p:nvPr/>
        </p:nvSpPr>
        <p:spPr>
          <a:xfrm>
            <a:off x="6004559" y="4288368"/>
            <a:ext cx="182880" cy="182880"/>
          </a:xfrm>
          <a:prstGeom prst="ellipse">
            <a:avLst/>
          </a:prstGeom>
          <a:solidFill>
            <a:srgbClr val="FFFFFF"/>
          </a:solidFill>
          <a:ln w="19050">
            <a:solidFill>
              <a:srgbClr val="000000"/>
            </a:solidFill>
          </a:ln>
        </p:spPr>
        <p:txBody>
          <a:bodyPr rtlCol="0" anchor="ctr"/>
          <a:lstStyle/>
          <a:p>
            <a:pPr algn="ctr"/>
          </a:p>
        </p:txBody>
      </p:sp>
      <p:sp>
        <p:nvSpPr>
          <p:cNvPr id="15" name="Rounded Rectangle 14"/>
          <p:cNvSpPr/>
          <p:nvPr/>
        </p:nvSpPr>
        <p:spPr>
          <a:xfrm>
            <a:off x="4249733"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400"/>
              </a:spcBef>
              <a:spcAft>
                <a:spcPts val="200"/>
              </a:spcAft>
            </a:pPr>
            <a:r>
              <a:rPr sz="1100" b="1" i="0">
                <a:solidFill>
                  <a:srgbClr val="000000"/>
                </a:solidFill>
              </a:rPr>
              <a:t>11/2 – 12/24</a:t>
            </a:r>
          </a:p>
          <a:p>
            <a:pPr algn="l">
              <a:spcAft>
                <a:spcPts val="500"/>
              </a:spcAft>
            </a:pPr>
            <a:r>
              <a:rPr sz="1100" b="0" i="0">
                <a:solidFill>
                  <a:srgbClr val="000000"/>
                </a:solidFill>
              </a:rPr>
              <a:t>Execution on Changes</a:t>
            </a:r>
          </a:p>
        </p:txBody>
      </p:sp>
      <p:sp>
        <p:nvSpPr>
          <p:cNvPr id="16" name="Oval 15"/>
          <p:cNvSpPr/>
          <p:nvPr/>
        </p:nvSpPr>
        <p:spPr>
          <a:xfrm>
            <a:off x="9797092"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8042266" y="4562688"/>
            <a:ext cx="3692533"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1000" b="1" i="0">
                <a:solidFill>
                  <a:srgbClr val="000000"/>
                </a:solidFill>
              </a:rPr>
              <a:t>MVP done</a:t>
            </a:r>
          </a:p>
          <a:p>
            <a:pPr algn="l">
              <a:spcAft>
                <a:spcPts val="500"/>
              </a:spcAft>
            </a:pPr>
            <a:r>
              <a:rPr sz="1000" b="0" i="1">
                <a:solidFill>
                  <a:srgbClr val="60607D"/>
                </a:solidFill>
              </a:rPr>
              <a:t>[Date we are shooting for.]</a:t>
            </a:r>
          </a:p>
        </p:txBody>
      </p:sp>
      <p:sp>
        <p:nvSpPr>
          <p:cNvPr id="18" name="Rounded Rectangle 1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19" name="Rounded Rectangle 1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0" name="Rounded Rectangle 1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1" name="Rounded Rectangle 2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2" name="Rounded Rectangle 2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3" name="Rounded Rectangle 2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earl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Adoption &amp; change management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EARLIER DELIVERY &amp; TALENT IN PURSUITS · CLICK-DOWN · WHAT WE ARE CHANGING</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8" name="Rounded Rectangle 7"/>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1. Strategy &amp; Alignment</a:t>
            </a:r>
          </a:p>
          <a:p>
            <a:pPr algn="l">
              <a:spcBef>
                <a:spcPts val="400"/>
              </a:spcBef>
              <a:spcAft>
                <a:spcPts val="200"/>
              </a:spcAft>
            </a:pPr>
            <a:r>
              <a:rPr sz="1300" b="1" i="0">
                <a:solidFill>
                  <a:srgbClr val="000000"/>
                </a:solidFill>
              </a:rPr>
              <a:t>The why</a:t>
            </a:r>
          </a:p>
          <a:p>
            <a:pPr algn="l">
              <a:spcAft>
                <a:spcPts val="500"/>
              </a:spcAft>
            </a:pPr>
            <a:r>
              <a:rPr sz="1300" b="0" i="1">
                <a:solidFill>
                  <a:srgbClr val="60607D"/>
                </a:solidFill>
              </a:rPr>
              <a:t>[The business reason for this change and the value it brings.]</a:t>
            </a:r>
          </a:p>
          <a:p>
            <a:pPr algn="l">
              <a:spcBef>
                <a:spcPts val="400"/>
              </a:spcBef>
              <a:spcAft>
                <a:spcPts val="200"/>
              </a:spcAft>
            </a:pPr>
            <a:r>
              <a:rPr sz="1300" b="1" i="0">
                <a:solidFill>
                  <a:srgbClr val="000000"/>
                </a:solidFill>
              </a:rPr>
              <a:t>Who is affected</a:t>
            </a:r>
          </a:p>
          <a:p>
            <a:pPr algn="l">
              <a:spcAft>
                <a:spcPts val="500"/>
              </a:spcAft>
            </a:pPr>
            <a:r>
              <a:rPr sz="1300" b="0" i="1">
                <a:solidFill>
                  <a:srgbClr val="60607D"/>
                </a:solidFill>
              </a:rPr>
              <a:t>[Who is impacted, how their day-to-day changes, and how much pushback to expect.]</a:t>
            </a:r>
          </a:p>
          <a:p>
            <a:pPr algn="l">
              <a:spcBef>
                <a:spcPts val="400"/>
              </a:spcBef>
              <a:spcAft>
                <a:spcPts val="200"/>
              </a:spcAft>
            </a:pPr>
            <a:r>
              <a:rPr sz="1300" b="1" i="0">
                <a:solidFill>
                  <a:srgbClr val="000000"/>
                </a:solidFill>
              </a:rPr>
              <a:t>Who is backing it</a:t>
            </a:r>
          </a:p>
          <a:p>
            <a:pPr algn="l">
              <a:spcAft>
                <a:spcPts val="500"/>
              </a:spcAft>
            </a:pPr>
            <a:r>
              <a:rPr sz="1300" b="0" i="1">
                <a:solidFill>
                  <a:srgbClr val="60607D"/>
                </a:solidFill>
              </a:rPr>
              <a:t>[Executive sponsors, approvers, and the champions who will drive adoption locally.]</a:t>
            </a:r>
          </a:p>
        </p:txBody>
      </p:sp>
      <p:sp>
        <p:nvSpPr>
          <p:cNvPr id="9" name="Rounded Rectangle 8"/>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2. Communications Plan</a:t>
            </a:r>
          </a:p>
          <a:p>
            <a:pPr algn="l">
              <a:spcBef>
                <a:spcPts val="400"/>
              </a:spcBef>
              <a:spcAft>
                <a:spcPts val="200"/>
              </a:spcAft>
            </a:pPr>
            <a:r>
              <a:rPr sz="1300" b="1" i="0">
                <a:solidFill>
                  <a:srgbClr val="000000"/>
                </a:solidFill>
              </a:rPr>
              <a:t>Core messages</a:t>
            </a:r>
          </a:p>
          <a:p>
            <a:pPr algn="l">
              <a:spcAft>
                <a:spcPts val="500"/>
              </a:spcAft>
            </a:pPr>
            <a:r>
              <a:rPr sz="1300" b="0" i="1">
                <a:solidFill>
                  <a:srgbClr val="60607D"/>
                </a:solidFill>
              </a:rPr>
              <a:t>[The standard talking points, tailored for each group that is affected.]</a:t>
            </a:r>
          </a:p>
          <a:p>
            <a:pPr algn="l">
              <a:spcBef>
                <a:spcPts val="400"/>
              </a:spcBef>
              <a:spcAft>
                <a:spcPts val="200"/>
              </a:spcAft>
            </a:pPr>
            <a:r>
              <a:rPr sz="1300" b="1" i="0">
                <a:solidFill>
                  <a:srgbClr val="000000"/>
                </a:solidFill>
              </a:rPr>
              <a:t>Channels</a:t>
            </a:r>
          </a:p>
          <a:p>
            <a:pPr algn="l">
              <a:spcAft>
                <a:spcPts val="500"/>
              </a:spcAft>
            </a:pPr>
            <a:r>
              <a:rPr sz="1300" b="0" i="1">
                <a:solidFill>
                  <a:srgbClr val="60607D"/>
                </a:solidFill>
              </a:rPr>
              <a:t>[Where we will say it: all-hands, email, internal portals, team meetings.]</a:t>
            </a:r>
          </a:p>
          <a:p>
            <a:pPr algn="l">
              <a:spcBef>
                <a:spcPts val="400"/>
              </a:spcBef>
              <a:spcAft>
                <a:spcPts val="200"/>
              </a:spcAft>
            </a:pPr>
            <a:r>
              <a:rPr sz="1300" b="1" i="0">
                <a:solidFill>
                  <a:srgbClr val="000000"/>
                </a:solidFill>
              </a:rPr>
              <a:t>Timing</a:t>
            </a:r>
          </a:p>
          <a:p>
            <a:pPr algn="l">
              <a:spcAft>
                <a:spcPts val="500"/>
              </a:spcAft>
            </a:pPr>
            <a:r>
              <a:rPr sz="1300" b="0" i="1">
                <a:solidFill>
                  <a:srgbClr val="60607D"/>
                </a:solidFill>
              </a:rPr>
              <a:t>[The schedule of announcements, teasers and reminders before and after launch.]</a:t>
            </a:r>
          </a:p>
        </p:txBody>
      </p:sp>
      <p:sp>
        <p:nvSpPr>
          <p:cNvPr id="10" name="Rounded Rectangle 9"/>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3. Enablement</a:t>
            </a:r>
          </a:p>
          <a:p>
            <a:pPr algn="l">
              <a:spcBef>
                <a:spcPts val="400"/>
              </a:spcBef>
              <a:spcAft>
                <a:spcPts val="200"/>
              </a:spcAft>
            </a:pPr>
            <a:r>
              <a:rPr sz="1300" b="1" i="0">
                <a:solidFill>
                  <a:srgbClr val="000000"/>
                </a:solidFill>
              </a:rPr>
              <a:t>Training</a:t>
            </a:r>
          </a:p>
          <a:p>
            <a:pPr algn="l">
              <a:spcAft>
                <a:spcPts val="500"/>
              </a:spcAft>
            </a:pPr>
            <a:r>
              <a:rPr sz="1300" b="0" i="1">
                <a:solidFill>
                  <a:srgbClr val="60607D"/>
                </a:solidFill>
              </a:rPr>
              <a:t>[How people will learn: live sessions, self-serve modules, documentation.]</a:t>
            </a:r>
          </a:p>
          <a:p>
            <a:pPr algn="l">
              <a:spcBef>
                <a:spcPts val="400"/>
              </a:spcBef>
              <a:spcAft>
                <a:spcPts val="200"/>
              </a:spcAft>
            </a:pPr>
            <a:r>
              <a:rPr sz="1300" b="1" i="0">
                <a:solidFill>
                  <a:srgbClr val="000000"/>
                </a:solidFill>
              </a:rPr>
              <a:t>Where to find things</a:t>
            </a:r>
          </a:p>
          <a:p>
            <a:pPr algn="l">
              <a:spcAft>
                <a:spcPts val="500"/>
              </a:spcAft>
            </a:pPr>
            <a:r>
              <a:rPr sz="1300" b="0" i="1">
                <a:solidFill>
                  <a:srgbClr val="60607D"/>
                </a:solidFill>
              </a:rPr>
              <a:t>[One place for user guides, quick reference cards and FAQs.]</a:t>
            </a:r>
          </a:p>
          <a:p>
            <a:pPr algn="l">
              <a:spcBef>
                <a:spcPts val="400"/>
              </a:spcBef>
              <a:spcAft>
                <a:spcPts val="200"/>
              </a:spcAft>
            </a:pPr>
            <a:r>
              <a:rPr sz="1300" b="1" i="0">
                <a:solidFill>
                  <a:srgbClr val="000000"/>
                </a:solidFill>
              </a:rPr>
              <a:t>Getting help</a:t>
            </a:r>
          </a:p>
          <a:p>
            <a:pPr algn="l">
              <a:spcAft>
                <a:spcPts val="500"/>
              </a:spcAft>
            </a:pPr>
            <a:r>
              <a:rPr sz="1300" b="0" i="1">
                <a:solidFill>
                  <a:srgbClr val="60607D"/>
                </a:solidFill>
              </a:rPr>
              <a:t>[Where people go when they get stuck during the rollout.]</a:t>
            </a:r>
          </a:p>
        </p:txBody>
      </p:sp>
      <p:sp>
        <p:nvSpPr>
          <p:cNvPr id="11" name="Rounded Rectangle 10"/>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4. Measuring &amp; Sustaining</a:t>
            </a:r>
          </a:p>
          <a:p>
            <a:pPr algn="l">
              <a:spcBef>
                <a:spcPts val="400"/>
              </a:spcBef>
              <a:spcAft>
                <a:spcPts val="200"/>
              </a:spcAft>
            </a:pPr>
            <a:r>
              <a:rPr sz="1300" b="1" i="0">
                <a:solidFill>
                  <a:srgbClr val="000000"/>
                </a:solidFill>
              </a:rPr>
              <a:t>Success measures</a:t>
            </a:r>
          </a:p>
          <a:p>
            <a:pPr algn="l">
              <a:spcAft>
                <a:spcPts val="500"/>
              </a:spcAft>
            </a:pPr>
            <a:r>
              <a:rPr sz="1300" b="0" i="1">
                <a:solidFill>
                  <a:srgbClr val="60607D"/>
                </a:solidFill>
              </a:rPr>
              <a:t>[The numbers that show healthy adoption, such as login rates, task completion and drop-off from the old way.]</a:t>
            </a:r>
          </a:p>
          <a:p>
            <a:pPr algn="l">
              <a:spcBef>
                <a:spcPts val="400"/>
              </a:spcBef>
              <a:spcAft>
                <a:spcPts val="200"/>
              </a:spcAft>
            </a:pPr>
            <a:r>
              <a:rPr sz="1300" b="1" i="0">
                <a:solidFill>
                  <a:srgbClr val="000000"/>
                </a:solidFill>
              </a:rPr>
              <a:t>Feedback</a:t>
            </a:r>
          </a:p>
          <a:p>
            <a:pPr algn="l">
              <a:spcAft>
                <a:spcPts val="500"/>
              </a:spcAft>
            </a:pPr>
            <a:r>
              <a:rPr sz="1300" b="0" i="1">
                <a:solidFill>
                  <a:srgbClr val="60607D"/>
                </a:solidFill>
              </a:rPr>
              <a:t>[How we capture friction and sentiment after launch so we can fix things quickly.]</a:t>
            </a:r>
          </a:p>
          <a:p>
            <a:pPr algn="l">
              <a:spcBef>
                <a:spcPts val="400"/>
              </a:spcBef>
              <a:spcAft>
                <a:spcPts val="200"/>
              </a:spcAft>
            </a:pPr>
            <a:r>
              <a:rPr sz="1300" b="1" i="0">
                <a:solidFill>
                  <a:srgbClr val="000000"/>
                </a:solidFill>
              </a:rPr>
              <a:t>Long-term owner</a:t>
            </a:r>
          </a:p>
          <a:p>
            <a:pPr algn="l">
              <a:spcAft>
                <a:spcPts val="500"/>
              </a:spcAft>
            </a:pPr>
            <a:r>
              <a:rPr sz="1300" b="0" i="1">
                <a:solidFill>
                  <a:srgbClr val="60607D"/>
                </a:solidFill>
              </a:rPr>
              <a:t>[Who owns ongoing updates, new-hire onboarding and keeping the process current.]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rail_early.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6" name="Rounded Rectangle 5"/>
          <p:cNvSpPr/>
          <p:nvPr/>
        </p:nvSpPr>
        <p:spPr>
          <a:xfrm>
            <a:off x="228600" y="228600"/>
            <a:ext cx="3200000" cy="6171400"/>
          </a:xfrm>
          <a:prstGeom prst="roundRect">
            <a:avLst>
              <a:gd name="adj" fmla="val 3600"/>
            </a:avLst>
          </a:prstGeom>
          <a:gradFill rotWithShape="1">
            <a:gsLst>
              <a:gs pos="0">
                <a:srgbClr val="000000">
                  <a:alpha val="68000"/>
                </a:srgbClr>
              </a:gs>
              <a:gs pos="45000">
                <a:srgbClr val="000000">
                  <a:alpha val="50000"/>
                </a:srgbClr>
              </a:gs>
              <a:gs pos="100000">
                <a:srgbClr val="000000">
                  <a:alpha val="82000"/>
                </a:srgbClr>
              </a:gs>
            </a:gsLst>
            <a:lin ang="5400000" scaled="0"/>
          </a:gradFill>
          <a:ln>
            <a:noFill/>
          </a:ln>
        </p:spPr>
        <p:txBody>
          <a:bodyPr rtlCol="0" anchor="ctr"/>
          <a:lstStyle/>
          <a:p>
            <a:pPr algn="ctr"/>
          </a:p>
        </p:txBody>
      </p:sp>
      <p:sp>
        <p:nvSpPr>
          <p:cNvPr id="7" name="Rounded Rectangle 6"/>
          <p:cNvSpPr/>
          <p:nvPr/>
        </p:nvSpPr>
        <p:spPr>
          <a:xfrm>
            <a:off x="378600" y="378600"/>
            <a:ext cx="2900000" cy="2050000"/>
          </a:xfrm>
          <a:prstGeom prst="roundRect">
            <a:avLst>
              <a:gd name="adj" fmla="val 5000"/>
            </a:avLst>
          </a:prstGeom>
          <a:solidFill>
            <a:srgbClr val="000000">
              <a:alpha val="62000"/>
            </a:srgbClr>
          </a:solidFill>
          <a:ln>
            <a:noFill/>
          </a:ln>
        </p:spPr>
        <p:txBody>
          <a:bodyPr rtlCol="0" anchor="ctr"/>
          <a:lstStyle/>
          <a:p>
            <a:pPr algn="ctr"/>
          </a:p>
        </p:txBody>
      </p:sp>
      <p:sp>
        <p:nvSpPr>
          <p:cNvPr id="3" name="Title 2"/>
          <p:cNvSpPr>
            <a:spLocks noGrp="1"/>
          </p:cNvSpPr>
          <p:nvPr>
            <p:ph type="title"/>
          </p:nvPr>
        </p:nvSpPr>
        <p:spPr>
          <a:xfrm>
            <a:off x="508600" y="868600"/>
            <a:ext cx="2640000" cy="2300000"/>
          </a:xfrm>
        </p:spPr>
        <p:txBody>
          <a:bodyPr/>
          <a:lstStyle/>
          <a:p>
            <a:r>
              <a:rPr sz="2000">
                <a:solidFill>
                  <a:srgbClr val="FFFFFF"/>
                </a:solidFill>
              </a:rPr>
              <a:t>Earlier Delivery &amp; Talent in Pursuits: Update</a:t>
            </a:r>
          </a:p>
        </p:txBody>
      </p:sp>
      <p:sp>
        <p:nvSpPr>
          <p:cNvPr id="4" name="Text Placeholder 3"/>
          <p:cNvSpPr>
            <a:spLocks noGrp="1"/>
          </p:cNvSpPr>
          <p:nvPr>
            <p:ph type="body" idx="12" sz="quarter"/>
          </p:nvPr>
        </p:nvSpPr>
        <p:spPr>
          <a:xfrm>
            <a:off x="508600" y="558600"/>
            <a:ext cx="2640000" cy="182880"/>
          </a:xfrm>
        </p:spPr>
        <p:txBody>
          <a:bodyPr/>
          <a:lstStyle/>
          <a:p>
            <a:r>
              <a:rPr>
                <a:solidFill>
                  <a:srgbClr val="0391F2"/>
                </a:solidFill>
              </a:rPr>
              <a:t>OPS PRIORITIES</a:t>
            </a:r>
          </a:p>
        </p:txBody>
      </p:sp>
      <p:sp>
        <p:nvSpPr>
          <p:cNvPr id="8" name="Rounded Rectangle 7"/>
          <p:cNvSpPr/>
          <p:nvPr/>
        </p:nvSpPr>
        <p:spPr>
          <a:xfrm>
            <a:off x="508600" y="5340000"/>
            <a:ext cx="2640000" cy="78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0">
                <a:solidFill>
                  <a:srgbClr val="D6D6DF"/>
                </a:solidFill>
              </a:rPr>
              <a:t>Missy Foristall, Deana Derocha</a:t>
            </a:r>
          </a:p>
        </p:txBody>
      </p:sp>
      <p:sp>
        <p:nvSpPr>
          <p:cNvPr id="9" name="Rounded Rectangle 8"/>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What has been accomplished</a:t>
            </a:r>
          </a:p>
          <a:p>
            <a:pPr algn="l">
              <a:spcAft>
                <a:spcPts val="500"/>
              </a:spcAft>
            </a:pPr>
            <a:r>
              <a:rPr sz="1300" b="0" i="1">
                <a:solidFill>
                  <a:srgbClr val="60607D"/>
                </a:solidFill>
              </a:rPr>
              <a:t>[Put here: what got done since last time. Use dates, not "recently". Why: shows real progress.]</a:t>
            </a:r>
          </a:p>
        </p:txBody>
      </p:sp>
      <p:sp>
        <p:nvSpPr>
          <p:cNvPr id="10" name="Rounded Rectangle 9"/>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000000"/>
                </a:solidFill>
              </a:rPr>
              <a:t>Next milestones</a:t>
            </a:r>
          </a:p>
          <a:p>
            <a:pPr algn="l">
              <a:spcAft>
                <a:spcPts val="500"/>
              </a:spcAft>
            </a:pPr>
            <a:r>
              <a:rPr sz="1300" b="0" i="1">
                <a:solidFill>
                  <a:srgbClr val="60607D"/>
                </a:solidFill>
              </a:rPr>
              <a:t>[Put here: what happens next, and by when. Why: people can hold us to it.]</a:t>
            </a:r>
          </a:p>
        </p:txBody>
      </p:sp>
      <p:sp>
        <p:nvSpPr>
          <p:cNvPr id="11" name="Rounded Rectangle 10"/>
          <p:cNvSpPr/>
          <p:nvPr/>
        </p:nvSpPr>
        <p:spPr>
          <a:xfrm>
            <a:off x="3628600" y="3778600"/>
            <a:ext cx="8334800" cy="2621400"/>
          </a:xfrm>
          <a:prstGeom prst="roundRect">
            <a:avLst>
              <a:gd name="adj" fmla="val 24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82880" rIns="182880" bIns="54864"/>
          <a:lstStyle/>
          <a:p>
            <a:pPr algn="l">
              <a:spcAft>
                <a:spcPts val="600"/>
              </a:spcAft>
            </a:pPr>
            <a:r>
              <a:rPr sz="1100" b="1" i="0" cap="all" spc="60">
                <a:solidFill>
                  <a:srgbClr val="D6D6DF"/>
                </a:solidFill>
              </a:rPr>
              <a:t>What is in our way / what we need from you</a:t>
            </a:r>
          </a:p>
          <a:p>
            <a:pPr algn="l">
              <a:spcAft>
                <a:spcPts val="500"/>
              </a:spcAft>
            </a:pPr>
            <a:r>
              <a:rPr sz="1300" b="0" i="1">
                <a:solidFill>
                  <a:srgbClr val="D6D6DF"/>
                </a:solidFill>
              </a:rPr>
              <a:t>[Put here: what is blocking us, and what we need from you. Say who, and by when. Why: this is how leaders can help.]</a:t>
            </a:r>
          </a:p>
        </p:txBody>
      </p:sp>
      <p:sp>
        <p:nvSpPr>
          <p:cNvPr id="12" name="Rounded Rectangle 11"/>
          <p:cNvSpPr/>
          <p:nvPr/>
        </p:nvSpPr>
        <p:spPr>
          <a:xfrm>
            <a:off x="508600" y="4920000"/>
            <a:ext cx="2640000" cy="33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tIns="20000" bIns="20000"/>
          <a:lstStyle/>
          <a:p>
            <a:pPr algn="l"/>
            <a:r>
              <a:rPr sz="900" b="1" i="0">
                <a:solidFill>
                  <a:srgbClr val="FFFFFF"/>
                </a:solidFill>
              </a:rPr>
              <a:t>Last updated: </a:t>
            </a:r>
            <a:r>
              <a:rPr sz="900" b="0" i="1">
                <a:solidFill>
                  <a:srgbClr val="D6D6DF"/>
                </a:solidFill>
              </a:rPr>
              <a:t>[date]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COLUMNS · SUPPORTING DETAIL</a:t>
            </a:r>
          </a:p>
        </p:txBody>
      </p:sp>
      <p:sp>
        <p:nvSpPr>
          <p:cNvPr id="7" name="Rounded Rectangle 6"/>
          <p:cNvSpPr/>
          <p:nvPr/>
        </p:nvSpPr>
        <p:spPr>
          <a:xfrm>
            <a:off x="4572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8" name="Rounded Rectangle 7"/>
          <p:cNvSpPr/>
          <p:nvPr/>
        </p:nvSpPr>
        <p:spPr>
          <a:xfrm>
            <a:off x="33141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9" name="Rounded Rectangle 8"/>
          <p:cNvSpPr/>
          <p:nvPr/>
        </p:nvSpPr>
        <p:spPr>
          <a:xfrm>
            <a:off x="61710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
        <p:nvSpPr>
          <p:cNvPr id="10" name="Rounded Rectangle 9"/>
          <p:cNvSpPr/>
          <p:nvPr/>
        </p:nvSpPr>
        <p:spPr>
          <a:xfrm>
            <a:off x="9027900" y="1170000"/>
            <a:ext cx="27069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[Use when there are 2 to 4 things side by side, like options, models or examples. Give each a name, a line on what it is, and a few key points.]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2 · PHASES AND DATES · TEMPLATE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1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Phase 2 · [Name] · [Dates]</a:t>
            </a:r>
          </a:p>
          <a:p>
            <a:pPr algn="l">
              <a:spcAft>
                <a:spcPts val="500"/>
              </a:spcAft>
            </a:pPr>
            <a:r>
              <a:rPr sz="1200" b="0" i="1">
                <a:solidFill>
                  <a:srgbClr val="60607D"/>
                </a:solidFill>
              </a:rPr>
              <a:t>[Milestone, if there is one.]</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a:p>
            <a:pPr algn="l">
              <a:spcBef>
                <a:spcPts val="400"/>
              </a:spcBef>
              <a:spcAft>
                <a:spcPts val="200"/>
              </a:spcAft>
            </a:pPr>
            <a:r>
              <a:rPr sz="1200" b="1" i="0">
                <a:solidFill>
                  <a:srgbClr val="000000"/>
                </a:solidFill>
              </a:rPr>
              <a:t>[Step]</a:t>
            </a:r>
          </a:p>
          <a:p>
            <a:pPr algn="l">
              <a:spcAft>
                <a:spcPts val="500"/>
              </a:spcAft>
            </a:pPr>
            <a:r>
              <a:rPr sz="1200" b="0" i="1">
                <a:solidFill>
                  <a:srgbClr val="60607D"/>
                </a:solidFill>
              </a:rPr>
              <a:t>[What happens, in plain words.]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3 · STATEMENT AND POINTS · SUPPORTING DETAIL</a:t>
            </a:r>
          </a:p>
        </p:txBody>
      </p:sp>
      <p:sp>
        <p:nvSpPr>
          <p:cNvPr id="7" name="Rounded Rectangle 6"/>
          <p:cNvSpPr/>
          <p:nvPr/>
        </p:nvSpPr>
        <p:spPr>
          <a:xfrm>
            <a:off x="457200" y="1170000"/>
            <a:ext cx="11277600" cy="1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ctr" wrap="square" lIns="274320" tIns="109728" rIns="274320" bIns="73152"/>
          <a:lstStyle/>
          <a:p>
            <a:pPr algn="l">
              <a:spcAft>
                <a:spcPts val="500"/>
              </a:spcAft>
            </a:pPr>
            <a:r>
              <a:rPr sz="1600" b="0" i="1">
                <a:solidFill>
                  <a:srgbClr val="D6D6DF"/>
                </a:solidFill>
              </a:rPr>
              <a:t>[One statement: the thing to take away.]</a:t>
            </a:r>
          </a:p>
        </p:txBody>
      </p:sp>
      <p:sp>
        <p:nvSpPr>
          <p:cNvPr id="8" name="Rounded Rectangle 7"/>
          <p:cNvSpPr/>
          <p:nvPr/>
        </p:nvSpPr>
        <p:spPr>
          <a:xfrm>
            <a:off x="4572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9" name="Rounded Rectangle 8"/>
          <p:cNvSpPr/>
          <p:nvPr/>
        </p:nvSpPr>
        <p:spPr>
          <a:xfrm>
            <a:off x="42664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0" name="Rounded Rectangle 9"/>
          <p:cNvSpPr/>
          <p:nvPr/>
        </p:nvSpPr>
        <p:spPr>
          <a:xfrm>
            <a:off x="8075600" y="2620000"/>
            <a:ext cx="3659200" cy="2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[Point]</a:t>
            </a:r>
          </a:p>
          <a:p>
            <a:pPr algn="l">
              <a:spcAft>
                <a:spcPts val="500"/>
              </a:spcAft>
            </a:pPr>
            <a:r>
              <a:rPr sz="1250" b="0" i="1">
                <a:solidFill>
                  <a:srgbClr val="60607D"/>
                </a:solidFill>
              </a:rPr>
              <a:t>[Supporting detail.]</a:t>
            </a:r>
          </a:p>
        </p:txBody>
      </p:sp>
      <p:sp>
        <p:nvSpPr>
          <p:cNvPr id="11" name="Rounded Rectangle 10"/>
          <p:cNvSpPr/>
          <p:nvPr/>
        </p:nvSpPr>
        <p:spPr>
          <a:xfrm>
            <a:off x="457200" y="5610000"/>
            <a:ext cx="11277600" cy="64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one closing line.]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LAYOUT 4 · FLOW · TEMPLATE · SUPPORTING DETAIL</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[One line on what the flow shows.]</a:t>
            </a:r>
          </a:p>
        </p:txBody>
      </p:sp>
      <p:sp>
        <p:nvSpPr>
          <p:cNvPr id="8" name="Rounded Rectangle 7"/>
          <p:cNvSpPr/>
          <p:nvPr/>
        </p:nvSpPr>
        <p:spPr>
          <a:xfrm>
            <a:off x="457200"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[Goes in]</a:t>
            </a:r>
          </a:p>
          <a:p>
            <a:pPr algn="l">
              <a:spcAft>
                <a:spcPts val="500"/>
              </a:spcAft>
            </a:pPr>
            <a:r>
              <a:rPr sz="1300" b="0" i="1">
                <a:solidFill>
                  <a:srgbClr val="60607D"/>
                </a:solidFill>
              </a:rPr>
              <a:t>[…]</a:t>
            </a:r>
          </a:p>
        </p:txBody>
      </p:sp>
      <p:sp>
        <p:nvSpPr>
          <p:cNvPr id="9" name="Right Arrow 8"/>
          <p:cNvSpPr/>
          <p:nvPr/>
        </p:nvSpPr>
        <p:spPr>
          <a:xfrm>
            <a:off x="3844733" y="2728640"/>
            <a:ext cx="520000" cy="280000"/>
          </a:xfrm>
          <a:prstGeom prst="rightArrow">
            <a:avLst/>
          </a:prstGeom>
          <a:solidFill>
            <a:srgbClr val="D6D6DF"/>
          </a:solidFill>
          <a:ln>
            <a:noFill/>
          </a:ln>
        </p:spPr>
        <p:txBody>
          <a:bodyPr rtlCol="0" anchor="ctr"/>
          <a:lstStyle/>
          <a:p>
            <a:pPr algn="ctr"/>
          </a:p>
        </p:txBody>
      </p:sp>
      <p:sp>
        <p:nvSpPr>
          <p:cNvPr id="10" name="Rounded Rectangle 9"/>
          <p:cNvSpPr/>
          <p:nvPr/>
        </p:nvSpPr>
        <p:spPr>
          <a:xfrm>
            <a:off x="4439733" y="1718640"/>
            <a:ext cx="3312533" cy="2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happens]</a:t>
            </a:r>
          </a:p>
          <a:p>
            <a:pPr algn="l">
              <a:spcAft>
                <a:spcPts val="500"/>
              </a:spcAft>
            </a:pPr>
            <a:r>
              <a:rPr sz="1300" b="0" i="1">
                <a:solidFill>
                  <a:srgbClr val="D6D6DF"/>
                </a:solidFill>
              </a:rPr>
              <a:t>[…]</a:t>
            </a:r>
          </a:p>
        </p:txBody>
      </p:sp>
      <p:sp>
        <p:nvSpPr>
          <p:cNvPr id="11" name="Right Arrow 10"/>
          <p:cNvSpPr/>
          <p:nvPr/>
        </p:nvSpPr>
        <p:spPr>
          <a:xfrm>
            <a:off x="7827266" y="2728640"/>
            <a:ext cx="52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8422266" y="1718640"/>
            <a:ext cx="3312533" cy="2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[Comes out]</a:t>
            </a:r>
          </a:p>
          <a:p>
            <a:pPr algn="l">
              <a:spcAft>
                <a:spcPts val="500"/>
              </a:spcAft>
            </a:pPr>
            <a:r>
              <a:rPr sz="1300" b="0" i="1">
                <a:solidFill>
                  <a:srgbClr val="60607D"/>
                </a:solidFill>
              </a:rPr>
              <a:t>[…]</a:t>
            </a:r>
          </a:p>
        </p:txBody>
      </p:sp>
      <p:sp>
        <p:nvSpPr>
          <p:cNvPr id="13" name="Rounded Rectangle 12"/>
          <p:cNvSpPr/>
          <p:nvPr/>
        </p:nvSpPr>
        <p:spPr>
          <a:xfrm>
            <a:off x="457200" y="5550000"/>
            <a:ext cx="11277600" cy="7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0" i="1">
                <a:solidFill>
                  <a:srgbClr val="D6D6DF"/>
                </a:solidFill>
              </a:rPr>
              <a:t>[Optional: a closing line, a status, or a caveat.]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1 STEP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12776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ectangle 8"/>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0" name="Oval 9"/>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1" name="Rounded Rectangle 10"/>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2" name="Oval 11"/>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4" name="Rounded Rectangle 23"/>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5" name="Rounded Rectangle 24"/>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6" name="Rounded Rectangle 25"/>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8" name="Rounded Rectangle 27"/>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29" name="Rounded Rectangle 28"/>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6146000" y="1828368"/>
            <a:ext cx="55888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ectangle 9"/>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1" name="Oval 10"/>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2" name="Rounded Rectangle 11"/>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3" name="Oval 12"/>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5" name="Rounded Rectangle 24"/>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6" name="Rounded Rectangle 25"/>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7" name="Rounded Rectangle 26"/>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29" name="Rounded Rectangle 28"/>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0" name="Rounded Rectangle 29"/>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4249733"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8042266" y="1828368"/>
            <a:ext cx="3692533"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ectangle 10"/>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2" name="Oval 11"/>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3" name="Rounded Rectangle 12"/>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4" name="Oval 13"/>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6" name="Rounded Rectangle 25"/>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7" name="Rounded Rectangle 26"/>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8" name="Rounded Rectangle 27"/>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0" name="Rounded Rectangle 29"/>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1" name="Rounded Rectangle 30"/>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4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33016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61460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8990400" y="1828368"/>
            <a:ext cx="274440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ectangle 11"/>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3" name="Oval 12"/>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4" name="Rounded Rectangle 13"/>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5" name="Oval 14"/>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7" name="Rounded Rectangle 26"/>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8" name="Rounded Rectangle 27"/>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29" name="Rounded Rectangle 28"/>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1" name="Rounded Rectangle 30"/>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2" name="Rounded Rectangle 31"/>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73272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500824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728376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9559280" y="1828368"/>
            <a:ext cx="2175520"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ectangle 12"/>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4" name="Oval 13"/>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5" name="Rounded Rectangle 14"/>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6" name="Oval 15"/>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8" name="Rounded Rectangle 27"/>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29" name="Rounded Rectangle 28"/>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0" name="Rounded Rectangle 29"/>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2" name="Rounded Rectangle 31"/>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3" name="Rounded Rectangle 32"/>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6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9" name="Rounded Rectangle 8"/>
          <p:cNvSpPr/>
          <p:nvPr/>
        </p:nvSpPr>
        <p:spPr>
          <a:xfrm>
            <a:off x="2353466"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0" name="Rounded Rectangle 9"/>
          <p:cNvSpPr/>
          <p:nvPr/>
        </p:nvSpPr>
        <p:spPr>
          <a:xfrm>
            <a:off x="4249732"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1" name="Rounded Rectangle 10"/>
          <p:cNvSpPr/>
          <p:nvPr/>
        </p:nvSpPr>
        <p:spPr>
          <a:xfrm>
            <a:off x="6145998"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2" name="Rounded Rectangle 11"/>
          <p:cNvSpPr/>
          <p:nvPr/>
        </p:nvSpPr>
        <p:spPr>
          <a:xfrm>
            <a:off x="8042264"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3" name="Rounded Rectangle 12"/>
          <p:cNvSpPr/>
          <p:nvPr/>
        </p:nvSpPr>
        <p:spPr>
          <a:xfrm>
            <a:off x="9938530" y="1828368"/>
            <a:ext cx="1796266" cy="23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150" b="0" i="1">
                <a:solidFill>
                  <a:srgbClr val="60607D"/>
                </a:solidFill>
              </a:rPr>
              <a:t>[Step or story name]</a:t>
            </a:r>
          </a:p>
          <a:p>
            <a:pPr algn="l">
              <a:spcAft>
                <a:spcPts val="500"/>
              </a:spcAft>
            </a:pPr>
            <a:r>
              <a:rPr sz="1150" b="0" i="1">
                <a:solidFill>
                  <a:srgbClr val="60607D"/>
                </a:solidFill>
              </a:rPr>
              <a:t>[Put here: what we do in this step, in a sentence or two.]</a:t>
            </a:r>
          </a:p>
        </p:txBody>
      </p:sp>
      <p:sp>
        <p:nvSpPr>
          <p:cNvPr id="14" name="Rectangle 13"/>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5" name="Oval 14"/>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6" name="Rounded Rectangle 15"/>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7" name="Oval 16"/>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29" name="Rounded Rectangle 28"/>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0" name="Rounded Rectangle 29"/>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1" name="Rounded Rectangle 30"/>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3" name="Rounded Rectangle 32"/>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4" name="Rounded Rectangle 33"/>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7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ectangle 14"/>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6" name="Oval 15"/>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7" name="Rounded Rectangle 16"/>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8" name="Oval 17"/>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19" name="Rounded Rectangle 18"/>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0" name="Oval 19"/>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1" name="Rounded Rectangle 20"/>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2" name="Oval 21"/>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3" name="Rounded Rectangle 22"/>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4" name="Oval 23"/>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5" name="Rounded Rectangle 24"/>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6" name="Oval 25"/>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7" name="Rounded Rectangle 26"/>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8" name="Oval 27"/>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29" name="Rounded Rectangle 28"/>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0" name="Rounded Rectangle 29"/>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1" name="Rounded Rectangle 30"/>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2" name="Rounded Rectangle 31"/>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4" name="Rounded Rectangle 33"/>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5" name="Rounded Rectangle 34"/>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we're going about it</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8 STEPS · CLICK-DOWN · WHAT WE ARE CHANGING</a:t>
            </a:r>
          </a:p>
        </p:txBody>
      </p:sp>
      <p:sp>
        <p:nvSpPr>
          <p:cNvPr id="7" name="TextBox 6"/>
          <p:cNvSpPr txBox="1"/>
          <p:nvPr/>
        </p:nvSpPr>
        <p:spPr>
          <a:xfrm>
            <a:off x="457200" y="1170000"/>
            <a:ext cx="11277600" cy="45720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how we are tackling this. The steps below fill in the detail.]</a:t>
            </a:r>
          </a:p>
        </p:txBody>
      </p:sp>
      <p:sp>
        <p:nvSpPr>
          <p:cNvPr id="8" name="Rounded Rectangle 7"/>
          <p:cNvSpPr/>
          <p:nvPr/>
        </p:nvSpPr>
        <p:spPr>
          <a:xfrm>
            <a:off x="4572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9" name="Rounded Rectangle 8"/>
          <p:cNvSpPr/>
          <p:nvPr/>
        </p:nvSpPr>
        <p:spPr>
          <a:xfrm>
            <a:off x="33016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0" name="Rounded Rectangle 9"/>
          <p:cNvSpPr/>
          <p:nvPr/>
        </p:nvSpPr>
        <p:spPr>
          <a:xfrm>
            <a:off x="61460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1" name="Rounded Rectangle 10"/>
          <p:cNvSpPr/>
          <p:nvPr/>
        </p:nvSpPr>
        <p:spPr>
          <a:xfrm>
            <a:off x="8990400" y="1828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2" name="Rounded Rectangle 11"/>
          <p:cNvSpPr/>
          <p:nvPr/>
        </p:nvSpPr>
        <p:spPr>
          <a:xfrm>
            <a:off x="4572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5</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3" name="Rounded Rectangle 12"/>
          <p:cNvSpPr/>
          <p:nvPr/>
        </p:nvSpPr>
        <p:spPr>
          <a:xfrm>
            <a:off x="33016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6</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4" name="Rounded Rectangle 13"/>
          <p:cNvSpPr/>
          <p:nvPr/>
        </p:nvSpPr>
        <p:spPr>
          <a:xfrm>
            <a:off x="61460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7</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5" name="Rounded Rectangle 14"/>
          <p:cNvSpPr/>
          <p:nvPr/>
        </p:nvSpPr>
        <p:spPr>
          <a:xfrm>
            <a:off x="8990400" y="3043368"/>
            <a:ext cx="2744400" cy="1115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8</a:t>
            </a:r>
          </a:p>
          <a:p>
            <a:pPr algn="l">
              <a:spcAft>
                <a:spcPts val="500"/>
              </a:spcAft>
            </a:pPr>
            <a:r>
              <a:rPr sz="1050" b="0" i="1">
                <a:solidFill>
                  <a:srgbClr val="60607D"/>
                </a:solidFill>
              </a:rPr>
              <a:t>[Step or story name]</a:t>
            </a:r>
          </a:p>
          <a:p>
            <a:pPr algn="l">
              <a:spcAft>
                <a:spcPts val="500"/>
              </a:spcAft>
            </a:pPr>
            <a:r>
              <a:rPr sz="1050" b="0" i="1">
                <a:solidFill>
                  <a:srgbClr val="60607D"/>
                </a:solidFill>
              </a:rPr>
              <a:t>[Put here: what we do in this step, in a sentence or two.]</a:t>
            </a:r>
          </a:p>
        </p:txBody>
      </p:sp>
      <p:sp>
        <p:nvSpPr>
          <p:cNvPr id="16" name="Rectangle 15"/>
          <p:cNvSpPr/>
          <p:nvPr/>
        </p:nvSpPr>
        <p:spPr>
          <a:xfrm>
            <a:off x="1219885" y="4379808"/>
            <a:ext cx="9752229" cy="19050"/>
          </a:xfrm>
          <a:prstGeom prst="rect">
            <a:avLst/>
          </a:prstGeom>
          <a:solidFill>
            <a:srgbClr val="D6D6DF"/>
          </a:solidFill>
          <a:ln>
            <a:noFill/>
          </a:ln>
        </p:spPr>
        <p:txBody>
          <a:bodyPr rtlCol="0" anchor="ctr"/>
          <a:lstStyle/>
          <a:p>
            <a:pPr algn="ctr"/>
          </a:p>
        </p:txBody>
      </p:sp>
      <p:sp>
        <p:nvSpPr>
          <p:cNvPr id="17" name="Oval 16"/>
          <p:cNvSpPr/>
          <p:nvPr/>
        </p:nvSpPr>
        <p:spPr>
          <a:xfrm>
            <a:off x="1128445" y="4288368"/>
            <a:ext cx="182880" cy="182880"/>
          </a:xfrm>
          <a:prstGeom prst="ellipse">
            <a:avLst/>
          </a:prstGeom>
          <a:solidFill>
            <a:srgbClr val="FFFFFF"/>
          </a:solidFill>
          <a:ln w="19050">
            <a:solidFill>
              <a:srgbClr val="D6D6DF"/>
            </a:solidFill>
          </a:ln>
        </p:spPr>
        <p:txBody>
          <a:bodyPr rtlCol="0" anchor="ctr"/>
          <a:lstStyle/>
          <a:p>
            <a:pPr algn="ctr"/>
          </a:p>
        </p:txBody>
      </p:sp>
      <p:sp>
        <p:nvSpPr>
          <p:cNvPr id="18" name="Rounded Rectangle 17"/>
          <p:cNvSpPr/>
          <p:nvPr/>
        </p:nvSpPr>
        <p:spPr>
          <a:xfrm>
            <a:off x="457200"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19" name="Oval 18"/>
          <p:cNvSpPr/>
          <p:nvPr/>
        </p:nvSpPr>
        <p:spPr>
          <a:xfrm>
            <a:off x="2753816" y="4288368"/>
            <a:ext cx="182880" cy="182880"/>
          </a:xfrm>
          <a:prstGeom prst="ellipse">
            <a:avLst/>
          </a:prstGeom>
          <a:solidFill>
            <a:srgbClr val="FFFFFF"/>
          </a:solidFill>
          <a:ln w="19050">
            <a:solidFill>
              <a:srgbClr val="D6D6DF"/>
            </a:solidFill>
          </a:ln>
        </p:spPr>
        <p:txBody>
          <a:bodyPr rtlCol="0" anchor="ctr"/>
          <a:lstStyle/>
          <a:p>
            <a:pPr algn="ctr"/>
          </a:p>
        </p:txBody>
      </p:sp>
      <p:sp>
        <p:nvSpPr>
          <p:cNvPr id="20" name="Rounded Rectangle 19"/>
          <p:cNvSpPr/>
          <p:nvPr/>
        </p:nvSpPr>
        <p:spPr>
          <a:xfrm>
            <a:off x="2082571"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1" name="Oval 20"/>
          <p:cNvSpPr/>
          <p:nvPr/>
        </p:nvSpPr>
        <p:spPr>
          <a:xfrm>
            <a:off x="4379187" y="4288368"/>
            <a:ext cx="182880" cy="182880"/>
          </a:xfrm>
          <a:prstGeom prst="ellipse">
            <a:avLst/>
          </a:prstGeom>
          <a:solidFill>
            <a:srgbClr val="FFFFFF"/>
          </a:solidFill>
          <a:ln w="19050">
            <a:solidFill>
              <a:srgbClr val="D6D6DF"/>
            </a:solidFill>
          </a:ln>
        </p:spPr>
        <p:txBody>
          <a:bodyPr rtlCol="0" anchor="ctr"/>
          <a:lstStyle/>
          <a:p>
            <a:pPr algn="ctr"/>
          </a:p>
        </p:txBody>
      </p:sp>
      <p:sp>
        <p:nvSpPr>
          <p:cNvPr id="22" name="Rounded Rectangle 21"/>
          <p:cNvSpPr/>
          <p:nvPr/>
        </p:nvSpPr>
        <p:spPr>
          <a:xfrm>
            <a:off x="3707942"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3" name="Oval 22"/>
          <p:cNvSpPr/>
          <p:nvPr/>
        </p:nvSpPr>
        <p:spPr>
          <a:xfrm>
            <a:off x="6004558" y="4288368"/>
            <a:ext cx="182880" cy="182880"/>
          </a:xfrm>
          <a:prstGeom prst="ellipse">
            <a:avLst/>
          </a:prstGeom>
          <a:solidFill>
            <a:srgbClr val="FFFFFF"/>
          </a:solidFill>
          <a:ln w="19050">
            <a:solidFill>
              <a:srgbClr val="D6D6DF"/>
            </a:solidFill>
          </a:ln>
        </p:spPr>
        <p:txBody>
          <a:bodyPr rtlCol="0" anchor="ctr"/>
          <a:lstStyle/>
          <a:p>
            <a:pPr algn="ctr"/>
          </a:p>
        </p:txBody>
      </p:sp>
      <p:sp>
        <p:nvSpPr>
          <p:cNvPr id="24" name="Rounded Rectangle 23"/>
          <p:cNvSpPr/>
          <p:nvPr/>
        </p:nvSpPr>
        <p:spPr>
          <a:xfrm>
            <a:off x="5333313"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5" name="Oval 24"/>
          <p:cNvSpPr/>
          <p:nvPr/>
        </p:nvSpPr>
        <p:spPr>
          <a:xfrm>
            <a:off x="7629929" y="4288368"/>
            <a:ext cx="182880" cy="182880"/>
          </a:xfrm>
          <a:prstGeom prst="ellipse">
            <a:avLst/>
          </a:prstGeom>
          <a:solidFill>
            <a:srgbClr val="FFFFFF"/>
          </a:solidFill>
          <a:ln w="19050">
            <a:solidFill>
              <a:srgbClr val="D6D6DF"/>
            </a:solidFill>
          </a:ln>
        </p:spPr>
        <p:txBody>
          <a:bodyPr rtlCol="0" anchor="ctr"/>
          <a:lstStyle/>
          <a:p>
            <a:pPr algn="ctr"/>
          </a:p>
        </p:txBody>
      </p:sp>
      <p:sp>
        <p:nvSpPr>
          <p:cNvPr id="26" name="Rounded Rectangle 25"/>
          <p:cNvSpPr/>
          <p:nvPr/>
        </p:nvSpPr>
        <p:spPr>
          <a:xfrm>
            <a:off x="6958684"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7" name="Oval 26"/>
          <p:cNvSpPr/>
          <p:nvPr/>
        </p:nvSpPr>
        <p:spPr>
          <a:xfrm>
            <a:off x="9255300" y="4288368"/>
            <a:ext cx="182880" cy="182880"/>
          </a:xfrm>
          <a:prstGeom prst="ellipse">
            <a:avLst/>
          </a:prstGeom>
          <a:solidFill>
            <a:srgbClr val="FFFFFF"/>
          </a:solidFill>
          <a:ln w="19050">
            <a:solidFill>
              <a:srgbClr val="D6D6DF"/>
            </a:solidFill>
          </a:ln>
        </p:spPr>
        <p:txBody>
          <a:bodyPr rtlCol="0" anchor="ctr"/>
          <a:lstStyle/>
          <a:p>
            <a:pPr algn="ctr"/>
          </a:p>
        </p:txBody>
      </p:sp>
      <p:sp>
        <p:nvSpPr>
          <p:cNvPr id="28" name="Rounded Rectangle 27"/>
          <p:cNvSpPr/>
          <p:nvPr/>
        </p:nvSpPr>
        <p:spPr>
          <a:xfrm>
            <a:off x="8584055"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Aft>
                <a:spcPts val="500"/>
              </a:spcAft>
            </a:pPr>
            <a:r>
              <a:rPr sz="1100" b="0" i="1">
                <a:solidFill>
                  <a:srgbClr val="60607D"/>
                </a:solidFill>
              </a:rPr>
              <a:t>[Date]</a:t>
            </a:r>
          </a:p>
          <a:p>
            <a:pPr algn="l">
              <a:spcAft>
                <a:spcPts val="500"/>
              </a:spcAft>
            </a:pPr>
            <a:r>
              <a:rPr sz="1100" b="0" i="1">
                <a:solidFill>
                  <a:srgbClr val="60607D"/>
                </a:solidFill>
              </a:rPr>
              <a:t>[What is done by then]</a:t>
            </a:r>
          </a:p>
        </p:txBody>
      </p:sp>
      <p:sp>
        <p:nvSpPr>
          <p:cNvPr id="29" name="Oval 28"/>
          <p:cNvSpPr/>
          <p:nvPr/>
        </p:nvSpPr>
        <p:spPr>
          <a:xfrm>
            <a:off x="10880671" y="4288368"/>
            <a:ext cx="182880" cy="182880"/>
          </a:xfrm>
          <a:prstGeom prst="ellipse">
            <a:avLst/>
          </a:prstGeom>
          <a:solidFill>
            <a:srgbClr val="FFFFFF"/>
          </a:solidFill>
          <a:ln w="19050">
            <a:solidFill>
              <a:srgbClr val="D6D6DF"/>
            </a:solidFill>
          </a:ln>
        </p:spPr>
        <p:txBody>
          <a:bodyPr rtlCol="0" anchor="ctr"/>
          <a:lstStyle/>
          <a:p>
            <a:pPr algn="ctr"/>
          </a:p>
        </p:txBody>
      </p:sp>
      <p:sp>
        <p:nvSpPr>
          <p:cNvPr id="30" name="Rounded Rectangle 29"/>
          <p:cNvSpPr/>
          <p:nvPr/>
        </p:nvSpPr>
        <p:spPr>
          <a:xfrm>
            <a:off x="10209426" y="4562688"/>
            <a:ext cx="1525371" cy="8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118872" tIns="73152" bIns="36576"/>
          <a:lstStyle/>
          <a:p>
            <a:pPr algn="l">
              <a:spcBef>
                <a:spcPts val="200"/>
              </a:spcBef>
              <a:spcAft>
                <a:spcPts val="200"/>
              </a:spcAft>
            </a:pPr>
            <a:r>
              <a:rPr sz="850" b="1" i="0" cap="all" spc="100">
                <a:solidFill>
                  <a:srgbClr val="60607D"/>
                </a:solidFill>
              </a:rPr>
              <a:t>The target</a:t>
            </a:r>
          </a:p>
          <a:p>
            <a:pPr algn="l">
              <a:spcBef>
                <a:spcPts val="400"/>
              </a:spcBef>
              <a:spcAft>
                <a:spcPts val="200"/>
              </a:spcAft>
            </a:pPr>
            <a:r>
              <a:rPr sz="850" b="1" i="0">
                <a:solidFill>
                  <a:srgbClr val="000000"/>
                </a:solidFill>
              </a:rPr>
              <a:t>MVP done</a:t>
            </a:r>
          </a:p>
          <a:p>
            <a:pPr algn="l">
              <a:spcAft>
                <a:spcPts val="500"/>
              </a:spcAft>
            </a:pPr>
            <a:r>
              <a:rPr sz="850" b="0" i="1">
                <a:solidFill>
                  <a:srgbClr val="60607D"/>
                </a:solidFill>
              </a:rPr>
              <a:t>[Date we are shooting for.]</a:t>
            </a:r>
          </a:p>
        </p:txBody>
      </p:sp>
      <p:sp>
        <p:nvSpPr>
          <p:cNvPr id="31" name="Rounded Rectangle 30"/>
          <p:cNvSpPr/>
          <p:nvPr/>
        </p:nvSpPr>
        <p:spPr>
          <a:xfrm>
            <a:off x="4572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Team</a:t>
            </a:r>
          </a:p>
        </p:txBody>
      </p:sp>
      <p:sp>
        <p:nvSpPr>
          <p:cNvPr id="32" name="Rounded Rectangle 31"/>
          <p:cNvSpPr/>
          <p:nvPr/>
        </p:nvSpPr>
        <p:spPr>
          <a:xfrm>
            <a:off x="667512"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3" name="Rounded Rectangle 32"/>
          <p:cNvSpPr/>
          <p:nvPr/>
        </p:nvSpPr>
        <p:spPr>
          <a:xfrm>
            <a:off x="2101029" y="5791872"/>
            <a:ext cx="1351221"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does the work]</a:t>
            </a:r>
          </a:p>
        </p:txBody>
      </p:sp>
      <p:sp>
        <p:nvSpPr>
          <p:cNvPr id="34" name="Rounded Rectangle 33"/>
          <p:cNvSpPr/>
          <p:nvPr/>
        </p:nvSpPr>
        <p:spPr>
          <a:xfrm>
            <a:off x="6171000" y="5462688"/>
            <a:ext cx="5563800" cy="93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91440" rIns="182880" bIns="36576"/>
          <a:lstStyle/>
          <a:p>
            <a:pPr algn="l">
              <a:spcAft>
                <a:spcPts val="600"/>
              </a:spcAft>
            </a:pPr>
            <a:r>
              <a:rPr sz="1100" b="1" i="0" cap="all" spc="60">
                <a:solidFill>
                  <a:srgbClr val="000000"/>
                </a:solidFill>
              </a:rPr>
              <a:t>Partners</a:t>
            </a:r>
          </a:p>
        </p:txBody>
      </p:sp>
      <p:sp>
        <p:nvSpPr>
          <p:cNvPr id="35" name="Rounded Rectangle 34"/>
          <p:cNvSpPr/>
          <p:nvPr/>
        </p:nvSpPr>
        <p:spPr>
          <a:xfrm>
            <a:off x="6381312"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6" name="Rounded Rectangle 35"/>
          <p:cNvSpPr/>
          <p:nvPr/>
        </p:nvSpPr>
        <p:spPr>
          <a:xfrm>
            <a:off x="7755263" y="5791872"/>
            <a:ext cx="1291655" cy="246888"/>
          </a:xfrm>
          <a:prstGeom prst="roundRect">
            <a:avLst>
              <a:gd name="adj" fmla="val 50000"/>
            </a:avLst>
          </a:prstGeom>
          <a:solidFill>
            <a:srgbClr val="FFFFFF"/>
          </a:solidFill>
          <a:ln w="12700">
            <a:solidFill>
              <a:srgbClr val="D6D6DF"/>
            </a:solidFill>
          </a:ln>
        </p:spPr>
        <p:txBody>
          <a:bodyPr rtlCol="0" anchor="ctr" wrap="none" lIns="0" rIns="0" tIns="0" bIns="0"/>
          <a:lstStyle/>
          <a:p>
            <a:pPr algn="ctr"/>
            <a:r>
              <a:rPr sz="900" b="0" i="1">
                <a:solidFill>
                  <a:srgbClr val="60607D"/>
                </a:solidFill>
              </a:rPr>
              <a:t>[Who we work with]</a:t>
            </a:r>
          </a:p>
        </p:txBody>
      </p:sp>
      <p:sp>
        <p:nvSpPr>
          <p:cNvPr id="37" name="Rounded Rectangle 3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2 COLUMNS · SUPPORTING DETAIL</a:t>
            </a:r>
          </a:p>
        </p:txBody>
      </p:sp>
      <p:sp>
        <p:nvSpPr>
          <p:cNvPr id="7" name="Rounded Rectangle 6"/>
          <p:cNvSpPr/>
          <p:nvPr/>
        </p:nvSpPr>
        <p:spPr>
          <a:xfrm>
            <a:off x="4572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6171000" y="1170000"/>
            <a:ext cx="55638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3 COLUMNS · SUPPORTING DETAIL</a:t>
            </a:r>
          </a:p>
        </p:txBody>
      </p:sp>
      <p:sp>
        <p:nvSpPr>
          <p:cNvPr id="7" name="Rounded Rectangle 6"/>
          <p:cNvSpPr/>
          <p:nvPr/>
        </p:nvSpPr>
        <p:spPr>
          <a:xfrm>
            <a:off x="4572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42664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8075600" y="1170000"/>
            <a:ext cx="365920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5 COLUMNS · SUPPORTING DETAIL</a:t>
            </a:r>
          </a:p>
        </p:txBody>
      </p:sp>
      <p:sp>
        <p:nvSpPr>
          <p:cNvPr id="7" name="Rounded Rectangle 6"/>
          <p:cNvSpPr/>
          <p:nvPr/>
        </p:nvSpPr>
        <p:spPr>
          <a:xfrm>
            <a:off x="45720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8" name="Rounded Rectangle 7"/>
          <p:cNvSpPr/>
          <p:nvPr/>
        </p:nvSpPr>
        <p:spPr>
          <a:xfrm>
            <a:off x="274272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9" name="Rounded Rectangle 8"/>
          <p:cNvSpPr/>
          <p:nvPr/>
        </p:nvSpPr>
        <p:spPr>
          <a:xfrm>
            <a:off x="502824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0" name="Rounded Rectangle 9"/>
          <p:cNvSpPr/>
          <p:nvPr/>
        </p:nvSpPr>
        <p:spPr>
          <a:xfrm>
            <a:off x="731376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1" name="Rounded Rectangle 10"/>
          <p:cNvSpPr/>
          <p:nvPr/>
        </p:nvSpPr>
        <p:spPr>
          <a:xfrm>
            <a:off x="9599280" y="1170000"/>
            <a:ext cx="2135520" cy="508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header]</a:t>
            </a:r>
          </a:p>
          <a:p>
            <a:pPr algn="l">
              <a:spcAft>
                <a:spcPts val="500"/>
              </a:spcAft>
            </a:pPr>
            <a:r>
              <a:rPr sz="1200" b="0" i="1">
                <a:solidFill>
                  <a:srgbClr val="60607D"/>
                </a:solidFill>
              </a:rPr>
              <a:t>[Put here: a name, a line on what it is, and a few key points.]</a:t>
            </a:r>
          </a:p>
        </p:txBody>
      </p:sp>
      <p:sp>
        <p:nvSpPr>
          <p:cNvPr id="12" name="Rounded Rectangle 11"/>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ROWS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167292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1" name="TextBox 10"/>
          <p:cNvSpPr txBox="1"/>
          <p:nvPr/>
        </p:nvSpPr>
        <p:spPr>
          <a:xfrm>
            <a:off x="3840480" y="167292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2" name="Rounded Rectangle 11"/>
          <p:cNvSpPr/>
          <p:nvPr/>
        </p:nvSpPr>
        <p:spPr>
          <a:xfrm>
            <a:off x="457200" y="2400432"/>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46152"/>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4" name="TextBox 13"/>
          <p:cNvSpPr txBox="1"/>
          <p:nvPr/>
        </p:nvSpPr>
        <p:spPr>
          <a:xfrm>
            <a:off x="3840480" y="2446152"/>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5" name="Rounded Rectangle 14"/>
          <p:cNvSpPr/>
          <p:nvPr/>
        </p:nvSpPr>
        <p:spPr>
          <a:xfrm>
            <a:off x="457200" y="3173664"/>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6" name="TextBox 15"/>
          <p:cNvSpPr txBox="1"/>
          <p:nvPr/>
        </p:nvSpPr>
        <p:spPr>
          <a:xfrm>
            <a:off x="685800" y="3219384"/>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17" name="TextBox 16"/>
          <p:cNvSpPr txBox="1"/>
          <p:nvPr/>
        </p:nvSpPr>
        <p:spPr>
          <a:xfrm>
            <a:off x="3840480" y="3219384"/>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18" name="Rounded Rectangle 17"/>
          <p:cNvSpPr/>
          <p:nvPr/>
        </p:nvSpPr>
        <p:spPr>
          <a:xfrm>
            <a:off x="457200" y="3946896"/>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85800" y="3992616"/>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0" name="TextBox 19"/>
          <p:cNvSpPr txBox="1"/>
          <p:nvPr/>
        </p:nvSpPr>
        <p:spPr>
          <a:xfrm>
            <a:off x="3840480" y="3992616"/>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1" name="Rounded Rectangle 20"/>
          <p:cNvSpPr/>
          <p:nvPr/>
        </p:nvSpPr>
        <p:spPr>
          <a:xfrm>
            <a:off x="457200" y="4720128"/>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4765848"/>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3" name="TextBox 22"/>
          <p:cNvSpPr txBox="1"/>
          <p:nvPr/>
        </p:nvSpPr>
        <p:spPr>
          <a:xfrm>
            <a:off x="3840480" y="4765848"/>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
        <p:nvSpPr>
          <p:cNvPr id="24" name="Rounded Rectangle 23"/>
          <p:cNvSpPr/>
          <p:nvPr/>
        </p:nvSpPr>
        <p:spPr>
          <a:xfrm>
            <a:off x="457200" y="5493360"/>
            <a:ext cx="11277600" cy="713232"/>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5539080"/>
            <a:ext cx="2926080" cy="621792"/>
          </a:xfrm>
          <a:prstGeom prst="rect">
            <a:avLst/>
          </a:prstGeom>
          <a:noFill/>
        </p:spPr>
        <p:txBody>
          <a:bodyPr wrap="square" lIns="0" rIns="0" tIns="0" bIns="0" anchor="ctr">
            <a:spAutoFit/>
          </a:bodyPr>
          <a:lstStyle/>
          <a:p>
            <a:pPr algn="l">
              <a:spcBef>
                <a:spcPts val="400"/>
              </a:spcBef>
              <a:spcAft>
                <a:spcPts val="200"/>
              </a:spcAft>
            </a:pPr>
            <a:r>
              <a:rPr sz="1250" b="1" i="0">
                <a:solidFill>
                  <a:srgbClr val="000000"/>
                </a:solidFill>
              </a:rPr>
              <a:t>[Add a heading]</a:t>
            </a:r>
          </a:p>
        </p:txBody>
      </p:sp>
      <p:sp>
        <p:nvSpPr>
          <p:cNvPr id="26" name="TextBox 25"/>
          <p:cNvSpPr txBox="1"/>
          <p:nvPr/>
        </p:nvSpPr>
        <p:spPr>
          <a:xfrm>
            <a:off x="3840480" y="5539080"/>
            <a:ext cx="7620000" cy="621792"/>
          </a:xfrm>
          <a:prstGeom prst="rect">
            <a:avLst/>
          </a:prstGeom>
          <a:noFill/>
        </p:spPr>
        <p:txBody>
          <a:bodyPr wrap="square" lIns="0" rIns="0" tIns="0" bIns="0" anchor="ctr">
            <a:spAutoFit/>
          </a:bodyPr>
          <a:lstStyle/>
          <a:p>
            <a:pPr algn="l">
              <a:spcAft>
                <a:spcPts val="500"/>
              </a:spcAft>
            </a:pPr>
            <a:r>
              <a:rPr sz="1150" b="0" i="1">
                <a:solidFill>
                  <a:srgbClr val="60607D"/>
                </a:solidFill>
              </a:rPr>
              <a:t>[Put here: the detail, in a sentence or two.]</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TABLE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TextBox 8"/>
          <p:cNvSpPr txBox="1"/>
          <p:nvPr/>
        </p:nvSpPr>
        <p:spPr>
          <a:xfrm>
            <a:off x="640080" y="1535760"/>
            <a:ext cx="30175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0" name="TextBox 9"/>
          <p:cNvSpPr txBox="1"/>
          <p:nvPr/>
        </p:nvSpPr>
        <p:spPr>
          <a:xfrm>
            <a:off x="374904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1" name="TextBox 10"/>
          <p:cNvSpPr txBox="1"/>
          <p:nvPr/>
        </p:nvSpPr>
        <p:spPr>
          <a:xfrm>
            <a:off x="6400800"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2" name="TextBox 11"/>
          <p:cNvSpPr txBox="1"/>
          <p:nvPr/>
        </p:nvSpPr>
        <p:spPr>
          <a:xfrm>
            <a:off x="9052559" y="1535760"/>
            <a:ext cx="2560320" cy="274320"/>
          </a:xfrm>
          <a:prstGeom prst="rect">
            <a:avLst/>
          </a:prstGeom>
          <a:noFill/>
        </p:spPr>
        <p:txBody>
          <a:bodyPr wrap="square" lIns="0" rIns="0" tIns="0" bIns="0" anchor="b">
            <a:spAutoFit/>
          </a:bodyPr>
          <a:lstStyle/>
          <a:p>
            <a:pPr algn="l">
              <a:spcBef>
                <a:spcPts val="200"/>
              </a:spcBef>
              <a:spcAft>
                <a:spcPts val="200"/>
              </a:spcAft>
            </a:pPr>
            <a:r>
              <a:rPr sz="850" b="1" i="0" cap="all" spc="100">
                <a:solidFill>
                  <a:srgbClr val="60607D"/>
                </a:solidFill>
              </a:rPr>
              <a:t>[Column]</a:t>
            </a:r>
          </a:p>
        </p:txBody>
      </p:sp>
      <p:sp>
        <p:nvSpPr>
          <p:cNvPr id="13" name="Rounded Rectangle 12"/>
          <p:cNvSpPr/>
          <p:nvPr/>
        </p:nvSpPr>
        <p:spPr>
          <a:xfrm>
            <a:off x="457200" y="186494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40080" y="191066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15" name="TextBox 14"/>
          <p:cNvSpPr txBox="1"/>
          <p:nvPr/>
        </p:nvSpPr>
        <p:spPr>
          <a:xfrm>
            <a:off x="374904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6" name="TextBox 15"/>
          <p:cNvSpPr txBox="1"/>
          <p:nvPr/>
        </p:nvSpPr>
        <p:spPr>
          <a:xfrm>
            <a:off x="6400800"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7" name="TextBox 16"/>
          <p:cNvSpPr txBox="1"/>
          <p:nvPr/>
        </p:nvSpPr>
        <p:spPr>
          <a:xfrm>
            <a:off x="9052559" y="191066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18" name="Rounded Rectangle 17"/>
          <p:cNvSpPr/>
          <p:nvPr/>
        </p:nvSpPr>
        <p:spPr>
          <a:xfrm>
            <a:off x="457200" y="2491872"/>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9" name="TextBox 18"/>
          <p:cNvSpPr txBox="1"/>
          <p:nvPr/>
        </p:nvSpPr>
        <p:spPr>
          <a:xfrm>
            <a:off x="640080" y="2537592"/>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0" name="TextBox 19"/>
          <p:cNvSpPr txBox="1"/>
          <p:nvPr/>
        </p:nvSpPr>
        <p:spPr>
          <a:xfrm>
            <a:off x="374904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1" name="TextBox 20"/>
          <p:cNvSpPr txBox="1"/>
          <p:nvPr/>
        </p:nvSpPr>
        <p:spPr>
          <a:xfrm>
            <a:off x="6400800"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2" name="TextBox 21"/>
          <p:cNvSpPr txBox="1"/>
          <p:nvPr/>
        </p:nvSpPr>
        <p:spPr>
          <a:xfrm>
            <a:off x="9052559" y="2537592"/>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3" name="Rounded Rectangle 22"/>
          <p:cNvSpPr/>
          <p:nvPr/>
        </p:nvSpPr>
        <p:spPr>
          <a:xfrm>
            <a:off x="457200" y="3118800"/>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4" name="TextBox 23"/>
          <p:cNvSpPr txBox="1"/>
          <p:nvPr/>
        </p:nvSpPr>
        <p:spPr>
          <a:xfrm>
            <a:off x="640080" y="3164520"/>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25" name="TextBox 24"/>
          <p:cNvSpPr txBox="1"/>
          <p:nvPr/>
        </p:nvSpPr>
        <p:spPr>
          <a:xfrm>
            <a:off x="374904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6" name="TextBox 25"/>
          <p:cNvSpPr txBox="1"/>
          <p:nvPr/>
        </p:nvSpPr>
        <p:spPr>
          <a:xfrm>
            <a:off x="6400800"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7" name="TextBox 26"/>
          <p:cNvSpPr txBox="1"/>
          <p:nvPr/>
        </p:nvSpPr>
        <p:spPr>
          <a:xfrm>
            <a:off x="9052559" y="3164520"/>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28" name="Rounded Rectangle 27"/>
          <p:cNvSpPr/>
          <p:nvPr/>
        </p:nvSpPr>
        <p:spPr>
          <a:xfrm>
            <a:off x="457200" y="3745728"/>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40080" y="3791448"/>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0" name="TextBox 29"/>
          <p:cNvSpPr txBox="1"/>
          <p:nvPr/>
        </p:nvSpPr>
        <p:spPr>
          <a:xfrm>
            <a:off x="374904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1" name="TextBox 30"/>
          <p:cNvSpPr txBox="1"/>
          <p:nvPr/>
        </p:nvSpPr>
        <p:spPr>
          <a:xfrm>
            <a:off x="6400800"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2" name="TextBox 31"/>
          <p:cNvSpPr txBox="1"/>
          <p:nvPr/>
        </p:nvSpPr>
        <p:spPr>
          <a:xfrm>
            <a:off x="9052559" y="3791448"/>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3" name="Rounded Rectangle 32"/>
          <p:cNvSpPr/>
          <p:nvPr/>
        </p:nvSpPr>
        <p:spPr>
          <a:xfrm>
            <a:off x="457200" y="4372656"/>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4" name="TextBox 33"/>
          <p:cNvSpPr txBox="1"/>
          <p:nvPr/>
        </p:nvSpPr>
        <p:spPr>
          <a:xfrm>
            <a:off x="640080" y="4418376"/>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35" name="TextBox 34"/>
          <p:cNvSpPr txBox="1"/>
          <p:nvPr/>
        </p:nvSpPr>
        <p:spPr>
          <a:xfrm>
            <a:off x="374904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6" name="TextBox 35"/>
          <p:cNvSpPr txBox="1"/>
          <p:nvPr/>
        </p:nvSpPr>
        <p:spPr>
          <a:xfrm>
            <a:off x="6400800"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7" name="TextBox 36"/>
          <p:cNvSpPr txBox="1"/>
          <p:nvPr/>
        </p:nvSpPr>
        <p:spPr>
          <a:xfrm>
            <a:off x="9052559" y="4418376"/>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38" name="Rounded Rectangle 37"/>
          <p:cNvSpPr/>
          <p:nvPr/>
        </p:nvSpPr>
        <p:spPr>
          <a:xfrm>
            <a:off x="457200" y="4999584"/>
            <a:ext cx="11277600" cy="566928"/>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40080" y="5045304"/>
            <a:ext cx="2971800" cy="475488"/>
          </a:xfrm>
          <a:prstGeom prst="rect">
            <a:avLst/>
          </a:prstGeom>
          <a:noFill/>
        </p:spPr>
        <p:txBody>
          <a:bodyPr wrap="square" lIns="0" rIns="0" tIns="0" bIns="0" anchor="ctr">
            <a:spAutoFit/>
          </a:bodyPr>
          <a:lstStyle/>
          <a:p>
            <a:pPr algn="l">
              <a:spcAft>
                <a:spcPts val="500"/>
              </a:spcAft>
            </a:pPr>
            <a:r>
              <a:rPr sz="1050" b="0" i="1">
                <a:solidFill>
                  <a:srgbClr val="60607D"/>
                </a:solidFill>
              </a:rPr>
              <a:t>[Row label]</a:t>
            </a:r>
          </a:p>
        </p:txBody>
      </p:sp>
      <p:sp>
        <p:nvSpPr>
          <p:cNvPr id="40" name="TextBox 39"/>
          <p:cNvSpPr txBox="1"/>
          <p:nvPr/>
        </p:nvSpPr>
        <p:spPr>
          <a:xfrm>
            <a:off x="374904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1" name="TextBox 40"/>
          <p:cNvSpPr txBox="1"/>
          <p:nvPr/>
        </p:nvSpPr>
        <p:spPr>
          <a:xfrm>
            <a:off x="6400800"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
        <p:nvSpPr>
          <p:cNvPr id="42" name="TextBox 41"/>
          <p:cNvSpPr txBox="1"/>
          <p:nvPr/>
        </p:nvSpPr>
        <p:spPr>
          <a:xfrm>
            <a:off x="9052559" y="5045304"/>
            <a:ext cx="2514600" cy="475488"/>
          </a:xfrm>
          <a:prstGeom prst="rect">
            <a:avLst/>
          </a:prstGeom>
          <a:noFill/>
        </p:spPr>
        <p:txBody>
          <a:bodyPr wrap="square" lIns="0" rIns="0" tIns="0" bIns="0" anchor="ctr">
            <a:spAutoFit/>
          </a:bodyPr>
          <a:lstStyle/>
          <a:p>
            <a:pPr algn="l">
              <a:spcAft>
                <a:spcPts val="500"/>
              </a:spcAft>
            </a:pPr>
            <a:r>
              <a:rPr sz="1050" b="0" i="1">
                <a:solidFill>
                  <a:srgbClr val="60607D"/>
                </a:solidFill>
              </a:rPr>
              <a:t>[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TWO SIDES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5228800" cy="33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[Side A: for example, how it works today]</a:t>
            </a:r>
          </a:p>
          <a:p>
            <a:pPr algn="l">
              <a:spcAft>
                <a:spcPts val="500"/>
              </a:spcAft>
            </a:pPr>
            <a:r>
              <a:rPr sz="1300" b="0" i="1">
                <a:solidFill>
                  <a:srgbClr val="60607D"/>
                </a:solidFill>
              </a:rPr>
              <a:t>[Put here: short bullets.]</a:t>
            </a:r>
          </a:p>
        </p:txBody>
      </p:sp>
      <p:sp>
        <p:nvSpPr>
          <p:cNvPr id="10" name="Rounded Rectangle 9"/>
          <p:cNvSpPr/>
          <p:nvPr/>
        </p:nvSpPr>
        <p:spPr>
          <a:xfrm>
            <a:off x="6506000" y="1627200"/>
            <a:ext cx="5228800" cy="330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[Side B: for example, how it will work]</a:t>
            </a:r>
          </a:p>
          <a:p>
            <a:pPr algn="l">
              <a:spcAft>
                <a:spcPts val="500"/>
              </a:spcAft>
            </a:pPr>
            <a:r>
              <a:rPr sz="1300" b="0" i="1">
                <a:solidFill>
                  <a:srgbClr val="D6D6DF"/>
                </a:solidFill>
              </a:rPr>
              <a:t>[Put here: short bullets.]</a:t>
            </a:r>
          </a:p>
        </p:txBody>
      </p:sp>
      <p:sp>
        <p:nvSpPr>
          <p:cNvPr id="11" name="Right Arrow 10"/>
          <p:cNvSpPr/>
          <p:nvPr/>
        </p:nvSpPr>
        <p:spPr>
          <a:xfrm>
            <a:off x="5836000" y="3137200"/>
            <a:ext cx="670000" cy="280000"/>
          </a:xfrm>
          <a:prstGeom prst="rightArrow">
            <a:avLst/>
          </a:prstGeom>
          <a:solidFill>
            <a:srgbClr val="D6D6DF"/>
          </a:solidFill>
          <a:ln>
            <a:noFill/>
          </a:ln>
        </p:spPr>
        <p:txBody>
          <a:bodyPr rtlCol="0" anchor="ctr"/>
          <a:lstStyle/>
          <a:p>
            <a:pPr algn="ctr"/>
          </a:p>
        </p:txBody>
      </p:sp>
      <p:sp>
        <p:nvSpPr>
          <p:cNvPr id="12" name="Rounded Rectangle 11"/>
          <p:cNvSpPr/>
          <p:nvPr/>
        </p:nvSpPr>
        <p:spPr>
          <a:xfrm>
            <a:off x="457200" y="5450000"/>
            <a:ext cx="11277600" cy="8000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900" b="1" i="0" cap="all" spc="100">
                <a:solidFill>
                  <a:srgbClr val="D6D6DF"/>
                </a:solidFill>
              </a:rPr>
              <a:t>So what</a:t>
            </a:r>
          </a:p>
          <a:p>
            <a:pPr algn="l"/>
            <a:r>
              <a:rPr sz="1400" b="0" i="1">
                <a:solidFill>
                  <a:srgbClr val="D6D6DF"/>
                </a:solidFill>
              </a:rPr>
              <a:t>[Optional: the one thing to take away from the comparison.]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CARD GRID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0" name="Rounded Rectangle 9"/>
          <p:cNvSpPr/>
          <p:nvPr/>
        </p:nvSpPr>
        <p:spPr>
          <a:xfrm>
            <a:off x="42664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1" name="Rounded Rectangle 10"/>
          <p:cNvSpPr/>
          <p:nvPr/>
        </p:nvSpPr>
        <p:spPr>
          <a:xfrm>
            <a:off x="8075600" y="16272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2" name="Rounded Rectangle 11"/>
          <p:cNvSpPr/>
          <p:nvPr/>
        </p:nvSpPr>
        <p:spPr>
          <a:xfrm>
            <a:off x="4572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3" name="Rounded Rectangle 12"/>
          <p:cNvSpPr/>
          <p:nvPr/>
        </p:nvSpPr>
        <p:spPr>
          <a:xfrm>
            <a:off x="42664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
        <p:nvSpPr>
          <p:cNvPr id="14" name="Rounded Rectangle 13"/>
          <p:cNvSpPr/>
          <p:nvPr/>
        </p:nvSpPr>
        <p:spPr>
          <a:xfrm>
            <a:off x="8075600" y="4013600"/>
            <a:ext cx="3659200" cy="22364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[Add a heading]</a:t>
            </a:r>
          </a:p>
          <a:p>
            <a:pPr algn="l">
              <a:spcAft>
                <a:spcPts val="500"/>
              </a:spcAft>
            </a:pPr>
            <a:r>
              <a:rPr sz="1200" b="0" i="1">
                <a:solidFill>
                  <a:srgbClr val="60607D"/>
                </a:solidFill>
              </a:rPr>
              <a:t>[Put here: a line or two, or a few bullets.]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[Add a header]</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TEMPLATE · IMAGE WITH CALLOUTS · SUPPORTING DETAIL</a:t>
            </a:r>
          </a:p>
        </p:txBody>
      </p:sp>
      <p:sp>
        <p:nvSpPr>
          <p:cNvPr id="7" name="Rounded Rectangle 6"/>
          <p:cNvSpPr/>
          <p:nvPr/>
        </p:nvSpPr>
        <p:spPr>
          <a:xfrm>
            <a:off x="8330000" y="250000"/>
            <a:ext cx="3404800" cy="450000"/>
          </a:xfrm>
          <a:prstGeom prst="roundRect">
            <a:avLst>
              <a:gd name="adj" fmla="val 28000"/>
            </a:avLst>
          </a:prstGeom>
          <a:solidFill>
            <a:srgbClr val="000000">
              <a:alpha val="72000"/>
            </a:srgbClr>
          </a:solidFill>
          <a:ln w="9525">
            <a:solidFill>
              <a:srgbClr val="FFFFFF">
                <a:alpha val="45000"/>
              </a:srgbClr>
            </a:solidFill>
          </a:ln>
        </p:spPr>
        <p:txBody>
          <a:bodyPr rtlCol="0" anchor="ctr" wrap="square" lIns="150000" rIns="120000"/>
          <a:lstStyle/>
          <a:p>
            <a:pPr algn="l"/>
            <a:r>
              <a:rPr sz="1050" b="1" i="0">
                <a:solidFill>
                  <a:srgbClr val="FFFFFF"/>
                </a:solidFill>
              </a:rPr>
              <a:t>Owner(s)</a:t>
            </a:r>
          </a:p>
          <a:p>
            <a:pPr algn="l"/>
            <a:r>
              <a:rPr sz="900" b="0" i="1">
                <a:solidFill>
                  <a:srgbClr val="D6D6DF"/>
                </a:solidFill>
              </a:rPr>
              <a:t>[Names]</a:t>
            </a:r>
          </a:p>
        </p:txBody>
      </p:sp>
      <p:sp>
        <p:nvSpPr>
          <p:cNvPr id="8" name="TextBox 7"/>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250" b="0" i="1">
                <a:solidFill>
                  <a:srgbClr val="60607D"/>
                </a:solidFill>
              </a:rPr>
              <a:t>[Put here: one line on what this slide shows.]</a:t>
            </a:r>
          </a:p>
        </p:txBody>
      </p:sp>
      <p:sp>
        <p:nvSpPr>
          <p:cNvPr id="9" name="Rounded Rectangle 8"/>
          <p:cNvSpPr/>
          <p:nvPr/>
        </p:nvSpPr>
        <p:spPr>
          <a:xfrm>
            <a:off x="457200" y="1627200"/>
            <a:ext cx="6949440" cy="4622800"/>
          </a:xfrm>
          <a:prstGeom prst="roundRect">
            <a:avLst>
              <a:gd name="adj" fmla="val 2400"/>
            </a:avLst>
          </a:prstGeom>
          <a:solidFill>
            <a:srgbClr val="FFFFFF"/>
          </a:solidFill>
          <a:ln w="19050">
            <a:solidFill>
              <a:srgbClr val="D6D6DF"/>
            </a:solidFill>
            <a:prstDash val="dash"/>
          </a:ln>
        </p:spPr>
        <p:txBody>
          <a:bodyPr rtlCol="0" anchor="ctr"/>
          <a:lstStyle/>
          <a:p>
            <a:pPr algn="ctr"/>
            <a:r>
              <a:rPr sz="1400" b="0" i="1">
                <a:solidFill>
                  <a:srgbClr val="60607D"/>
                </a:solidFill>
              </a:rPr>
              <a:t>[Paste a screenshot or image here]</a:t>
            </a:r>
          </a:p>
        </p:txBody>
      </p:sp>
      <p:sp>
        <p:nvSpPr>
          <p:cNvPr id="10" name="Oval 9"/>
          <p:cNvSpPr/>
          <p:nvPr/>
        </p:nvSpPr>
        <p:spPr>
          <a:xfrm>
            <a:off x="7726680" y="1672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1</a:t>
            </a:r>
          </a:p>
        </p:txBody>
      </p:sp>
      <p:sp>
        <p:nvSpPr>
          <p:cNvPr id="11" name="TextBox 10"/>
          <p:cNvSpPr txBox="1"/>
          <p:nvPr/>
        </p:nvSpPr>
        <p:spPr>
          <a:xfrm>
            <a:off x="8183880" y="1627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2" name="Oval 11"/>
          <p:cNvSpPr/>
          <p:nvPr/>
        </p:nvSpPr>
        <p:spPr>
          <a:xfrm>
            <a:off x="7726680" y="2815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2</a:t>
            </a:r>
          </a:p>
        </p:txBody>
      </p:sp>
      <p:sp>
        <p:nvSpPr>
          <p:cNvPr id="13" name="TextBox 12"/>
          <p:cNvSpPr txBox="1"/>
          <p:nvPr/>
        </p:nvSpPr>
        <p:spPr>
          <a:xfrm>
            <a:off x="8183880" y="2770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4" name="Oval 13"/>
          <p:cNvSpPr/>
          <p:nvPr/>
        </p:nvSpPr>
        <p:spPr>
          <a:xfrm>
            <a:off x="7726680" y="3958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3</a:t>
            </a:r>
          </a:p>
        </p:txBody>
      </p:sp>
      <p:sp>
        <p:nvSpPr>
          <p:cNvPr id="15" name="TextBox 14"/>
          <p:cNvSpPr txBox="1"/>
          <p:nvPr/>
        </p:nvSpPr>
        <p:spPr>
          <a:xfrm>
            <a:off x="8183880" y="3913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
        <p:nvSpPr>
          <p:cNvPr id="16" name="Oval 15"/>
          <p:cNvSpPr/>
          <p:nvPr/>
        </p:nvSpPr>
        <p:spPr>
          <a:xfrm>
            <a:off x="7726680" y="5101920"/>
            <a:ext cx="329184" cy="329184"/>
          </a:xfrm>
          <a:prstGeom prst="ellipse">
            <a:avLst/>
          </a:prstGeom>
          <a:solidFill>
            <a:srgbClr val="000000"/>
          </a:solidFill>
          <a:ln>
            <a:noFill/>
          </a:ln>
        </p:spPr>
        <p:txBody>
          <a:bodyPr rtlCol="0" anchor="ctr" lIns="0" rIns="0" tIns="0" bIns="0"/>
          <a:lstStyle/>
          <a:p>
            <a:pPr algn="ctr"/>
            <a:r>
              <a:rPr sz="1100" b="1" i="0">
                <a:solidFill>
                  <a:srgbClr val="FFFFFF"/>
                </a:solidFill>
              </a:rPr>
              <a:t>4</a:t>
            </a:r>
          </a:p>
        </p:txBody>
      </p:sp>
      <p:sp>
        <p:nvSpPr>
          <p:cNvPr id="17" name="TextBox 16"/>
          <p:cNvSpPr txBox="1"/>
          <p:nvPr/>
        </p:nvSpPr>
        <p:spPr>
          <a:xfrm>
            <a:off x="8183880" y="5056200"/>
            <a:ext cx="3505200" cy="1005840"/>
          </a:xfrm>
          <a:prstGeom prst="rect">
            <a:avLst/>
          </a:prstGeom>
          <a:noFill/>
        </p:spPr>
        <p:txBody>
          <a:bodyPr wrap="square" lIns="0" rIns="0" tIns="0" bIns="0" anchor="t">
            <a:spAutoFit/>
          </a:bodyPr>
          <a:lstStyle/>
          <a:p>
            <a:pPr algn="l">
              <a:spcBef>
                <a:spcPts val="400"/>
              </a:spcBef>
              <a:spcAft>
                <a:spcPts val="200"/>
              </a:spcAft>
            </a:pPr>
            <a:r>
              <a:rPr sz="1100" b="1" i="0">
                <a:solidFill>
                  <a:srgbClr val="000000"/>
                </a:solidFill>
              </a:rPr>
              <a:t>[What to look at]</a:t>
            </a:r>
          </a:p>
          <a:p>
            <a:pPr algn="l">
              <a:spcAft>
                <a:spcPts val="500"/>
              </a:spcAft>
            </a:pPr>
            <a:r>
              <a:rPr sz="1100" b="0" i="1">
                <a:solidFill>
                  <a:srgbClr val="60607D"/>
                </a:solidFill>
              </a:rPr>
              <a:t>[Put here: one or two lines on what this part shows.]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5" name="Picture 4" descr="f_hero_overview.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Where We're Focusing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OPS PRIORITIES</a:t>
            </a:r>
          </a:p>
        </p:txBody>
      </p:sp>
      <p:sp>
        <p:nvSpPr>
          <p:cNvPr id="7" name="TextBox 6"/>
          <p:cNvSpPr txBox="1"/>
          <p:nvPr/>
        </p:nvSpPr>
        <p:spPr>
          <a:xfrm>
            <a:off x="457200" y="1188720"/>
            <a:ext cx="11277600" cy="457200"/>
          </a:xfrm>
          <a:prstGeom prst="rect">
            <a:avLst/>
          </a:prstGeom>
          <a:noFill/>
        </p:spPr>
        <p:txBody>
          <a:bodyPr wrap="square" lIns="0" rIns="0" tIns="0" bIns="0" anchor="t">
            <a:spAutoFit/>
          </a:bodyPr>
          <a:lstStyle/>
          <a:p>
            <a:pPr algn="l">
              <a:spcAft>
                <a:spcPts val="500"/>
              </a:spcAft>
            </a:pPr>
            <a:r>
              <a:rPr sz="1150" b="0" i="0">
                <a:solidFill>
                  <a:srgbClr val="000000"/>
                </a:solidFill>
              </a:rPr>
              <a:t>Top priorities, agreed as a team. Together, this is how we answer Play to Win's Delivery Excellence and Operational Review asks. We're tackling one epic at a time, starting with the Deal-to-Delivery Playbook, and moving to the next once it has real momentum.</a:t>
            </a:r>
          </a:p>
        </p:txBody>
      </p:sp>
      <p:sp>
        <p:nvSpPr>
          <p:cNvPr id="8" name="TextBox 7"/>
          <p:cNvSpPr txBox="1"/>
          <p:nvPr/>
        </p:nvSpPr>
        <p:spPr>
          <a:xfrm>
            <a:off x="457200" y="1737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TOP 4 PRIORITIES</a:t>
            </a:r>
          </a:p>
        </p:txBody>
      </p:sp>
      <p:sp>
        <p:nvSpPr>
          <p:cNvPr id="9" name="Rounded Rectangle 8"/>
          <p:cNvSpPr/>
          <p:nvPr/>
        </p:nvSpPr>
        <p:spPr>
          <a:xfrm>
            <a:off x="457200" y="1975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0" name="TextBox 9"/>
          <p:cNvSpPr txBox="1"/>
          <p:nvPr/>
        </p:nvSpPr>
        <p:spPr>
          <a:xfrm>
            <a:off x="685800" y="2039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Deal-to-Delivery Playbook</a:t>
            </a:r>
          </a:p>
        </p:txBody>
      </p:sp>
      <p:sp>
        <p:nvSpPr>
          <p:cNvPr id="11" name="TextBox 10"/>
          <p:cNvSpPr txBox="1"/>
          <p:nvPr/>
        </p:nvSpPr>
        <p:spPr>
          <a:xfrm>
            <a:off x="3566160" y="2029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Work is sold in shapes we cannot staff or deliver.</a:t>
            </a:r>
          </a:p>
        </p:txBody>
      </p:sp>
      <p:sp>
        <p:nvSpPr>
          <p:cNvPr id="12" name="Rounded Rectangle 11"/>
          <p:cNvSpPr/>
          <p:nvPr/>
        </p:nvSpPr>
        <p:spPr>
          <a:xfrm>
            <a:off x="10363200" y="2066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13" name="Rounded Rectangle 12"/>
          <p:cNvSpPr/>
          <p:nvPr/>
        </p:nvSpPr>
        <p:spPr>
          <a:xfrm>
            <a:off x="457200" y="2468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4" name="TextBox 13"/>
          <p:cNvSpPr txBox="1"/>
          <p:nvPr/>
        </p:nvSpPr>
        <p:spPr>
          <a:xfrm>
            <a:off x="685800" y="2532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Accountability Framework</a:t>
            </a:r>
          </a:p>
        </p:txBody>
      </p:sp>
      <p:sp>
        <p:nvSpPr>
          <p:cNvPr id="15" name="TextBox 14"/>
          <p:cNvSpPr txBox="1"/>
          <p:nvPr/>
        </p:nvSpPr>
        <p:spPr>
          <a:xfrm>
            <a:off x="3566160" y="2523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Define accountability for every project, with clear delivery roles, executive sponsorship, and regular reviews that highlight high risk projects.</a:t>
            </a:r>
          </a:p>
        </p:txBody>
      </p:sp>
      <p:sp>
        <p:nvSpPr>
          <p:cNvPr id="16" name="Rounded Rectangle 15"/>
          <p:cNvSpPr/>
          <p:nvPr/>
        </p:nvSpPr>
        <p:spPr>
          <a:xfrm>
            <a:off x="10363200" y="2560320"/>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17" name="Rounded Rectangle 16"/>
          <p:cNvSpPr/>
          <p:nvPr/>
        </p:nvSpPr>
        <p:spPr>
          <a:xfrm>
            <a:off x="457200" y="2962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8" name="TextBox 17"/>
          <p:cNvSpPr txBox="1"/>
          <p:nvPr/>
        </p:nvSpPr>
        <p:spPr>
          <a:xfrm>
            <a:off x="685800" y="3026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Leadership Dashboards</a:t>
            </a:r>
          </a:p>
        </p:txBody>
      </p:sp>
      <p:sp>
        <p:nvSpPr>
          <p:cNvPr id="19" name="TextBox 18"/>
          <p:cNvSpPr txBox="1"/>
          <p:nvPr/>
        </p:nvSpPr>
        <p:spPr>
          <a:xfrm>
            <a:off x="3566160" y="3017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One leadership dashboard — shoring, chargeability, margin, capacity, forecast, rate cards, burn, and revenue recognition.</a:t>
            </a:r>
          </a:p>
        </p:txBody>
      </p:sp>
      <p:sp>
        <p:nvSpPr>
          <p:cNvPr id="20" name="Rounded Rectangle 19"/>
          <p:cNvSpPr/>
          <p:nvPr/>
        </p:nvSpPr>
        <p:spPr>
          <a:xfrm>
            <a:off x="10363200" y="3054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1" name="Rounded Rectangle 20"/>
          <p:cNvSpPr/>
          <p:nvPr/>
        </p:nvSpPr>
        <p:spPr>
          <a:xfrm>
            <a:off x="457200" y="3456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2" name="TextBox 21"/>
          <p:cNvSpPr txBox="1"/>
          <p:nvPr/>
        </p:nvSpPr>
        <p:spPr>
          <a:xfrm>
            <a:off x="685800" y="3520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Capacity Planning &amp; Romulus</a:t>
            </a:r>
          </a:p>
        </p:txBody>
      </p:sp>
      <p:sp>
        <p:nvSpPr>
          <p:cNvPr id="23" name="TextBox 22"/>
          <p:cNvSpPr txBox="1"/>
          <p:nvPr/>
        </p:nvSpPr>
        <p:spPr>
          <a:xfrm>
            <a:off x="3566160" y="3511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Closing the skills and bench visibility gap so we can staff ahead of demand.</a:t>
            </a:r>
          </a:p>
        </p:txBody>
      </p:sp>
      <p:sp>
        <p:nvSpPr>
          <p:cNvPr id="24" name="Rounded Rectangle 23"/>
          <p:cNvSpPr/>
          <p:nvPr/>
        </p:nvSpPr>
        <p:spPr>
          <a:xfrm>
            <a:off x="10363200" y="3547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Next</a:t>
            </a:r>
          </a:p>
        </p:txBody>
      </p:sp>
      <p:sp>
        <p:nvSpPr>
          <p:cNvPr id="25" name="TextBox 24"/>
          <p:cNvSpPr txBox="1"/>
          <p:nvPr/>
        </p:nvSpPr>
        <p:spPr>
          <a:xfrm>
            <a:off x="457200" y="4023360"/>
            <a:ext cx="5486400" cy="182880"/>
          </a:xfrm>
          <a:prstGeom prst="rect">
            <a:avLst/>
          </a:prstGeom>
          <a:noFill/>
        </p:spPr>
        <p:txBody>
          <a:bodyPr wrap="square" lIns="0" rIns="0" tIns="0" bIns="0" anchor="t">
            <a:spAutoFit/>
          </a:bodyPr>
          <a:lstStyle/>
          <a:p>
            <a:pPr algn="l">
              <a:spcAft>
                <a:spcPts val="600"/>
              </a:spcAft>
            </a:pPr>
            <a:r>
              <a:rPr sz="1100" b="1" i="0" cap="all" spc="60">
                <a:solidFill>
                  <a:srgbClr val="000000"/>
                </a:solidFill>
              </a:rPr>
              <a:t>ALSO SHORT-TERM · OTHER INITIATIVES</a:t>
            </a:r>
          </a:p>
        </p:txBody>
      </p:sp>
      <p:sp>
        <p:nvSpPr>
          <p:cNvPr id="26" name="Rounded Rectangle 25"/>
          <p:cNvSpPr/>
          <p:nvPr/>
        </p:nvSpPr>
        <p:spPr>
          <a:xfrm>
            <a:off x="457200" y="4261104"/>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7" name="TextBox 26"/>
          <p:cNvSpPr txBox="1"/>
          <p:nvPr/>
        </p:nvSpPr>
        <p:spPr>
          <a:xfrm>
            <a:off x="685800" y="4325112"/>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DGS Leadership Transition</a:t>
            </a:r>
          </a:p>
        </p:txBody>
      </p:sp>
      <p:sp>
        <p:nvSpPr>
          <p:cNvPr id="28" name="TextBox 27"/>
          <p:cNvSpPr txBox="1"/>
          <p:nvPr/>
        </p:nvSpPr>
        <p:spPr>
          <a:xfrm>
            <a:off x="3566160" y="4315968"/>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Naazneen departs 12/31 — two-phase effort to map dependencies, resolve Extentia's operating model, and set leadership coverage.</a:t>
            </a:r>
          </a:p>
        </p:txBody>
      </p:sp>
      <p:sp>
        <p:nvSpPr>
          <p:cNvPr id="29" name="Rounded Rectangle 28"/>
          <p:cNvSpPr/>
          <p:nvPr/>
        </p:nvSpPr>
        <p:spPr>
          <a:xfrm>
            <a:off x="10363200" y="4352544"/>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Focus now</a:t>
            </a:r>
          </a:p>
        </p:txBody>
      </p:sp>
      <p:sp>
        <p:nvSpPr>
          <p:cNvPr id="30" name="Rounded Rectangle 29"/>
          <p:cNvSpPr/>
          <p:nvPr/>
        </p:nvSpPr>
        <p:spPr>
          <a:xfrm>
            <a:off x="457200" y="4754880"/>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1" name="TextBox 30"/>
          <p:cNvSpPr txBox="1"/>
          <p:nvPr/>
        </p:nvSpPr>
        <p:spPr>
          <a:xfrm>
            <a:off x="685800" y="4818888"/>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Intake Updates</a:t>
            </a:r>
          </a:p>
        </p:txBody>
      </p:sp>
      <p:sp>
        <p:nvSpPr>
          <p:cNvPr id="32" name="TextBox 31"/>
          <p:cNvSpPr txBox="1"/>
          <p:nvPr/>
        </p:nvSpPr>
        <p:spPr>
          <a:xfrm>
            <a:off x="3566160" y="4809744"/>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Upstream of Delivery Models — alias routing is live; SME case request tool and RACI updates underway to close adoption gaps.</a:t>
            </a:r>
          </a:p>
        </p:txBody>
      </p:sp>
      <p:sp>
        <p:nvSpPr>
          <p:cNvPr id="33" name="Rounded Rectangle 32"/>
          <p:cNvSpPr/>
          <p:nvPr/>
        </p:nvSpPr>
        <p:spPr>
          <a:xfrm>
            <a:off x="10363200" y="4846320"/>
            <a:ext cx="1188720" cy="274320"/>
          </a:xfrm>
          <a:prstGeom prst="roundRect">
            <a:avLst>
              <a:gd name="adj" fmla="val 50000"/>
            </a:avLst>
          </a:prstGeom>
          <a:solidFill>
            <a:srgbClr val="000000"/>
          </a:solidFill>
          <a:ln>
            <a:noFill/>
          </a:ln>
        </p:spPr>
        <p:txBody>
          <a:bodyPr rtlCol="0" anchor="ctr" lIns="0" rIns="0" tIns="0" bIns="0"/>
          <a:lstStyle/>
          <a:p>
            <a:pPr algn="ctr"/>
            <a:r>
              <a:rPr sz="800" b="1" i="0" cap="all" spc="60">
                <a:solidFill>
                  <a:srgbClr val="FFFFFF"/>
                </a:solidFill>
              </a:rPr>
              <a:t>In Motion</a:t>
            </a:r>
          </a:p>
        </p:txBody>
      </p:sp>
      <p:sp>
        <p:nvSpPr>
          <p:cNvPr id="34" name="Rounded Rectangle 33"/>
          <p:cNvSpPr/>
          <p:nvPr/>
        </p:nvSpPr>
        <p:spPr>
          <a:xfrm>
            <a:off x="457200" y="5248656"/>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5" name="TextBox 34"/>
          <p:cNvSpPr txBox="1"/>
          <p:nvPr/>
        </p:nvSpPr>
        <p:spPr>
          <a:xfrm>
            <a:off x="685800" y="5312664"/>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Ops Transformation: Rebuild Scoping &amp; Staffing</a:t>
            </a:r>
          </a:p>
        </p:txBody>
      </p:sp>
      <p:sp>
        <p:nvSpPr>
          <p:cNvPr id="36" name="TextBox 35"/>
          <p:cNvSpPr txBox="1"/>
          <p:nvPr/>
        </p:nvSpPr>
        <p:spPr>
          <a:xfrm>
            <a:off x="3566160" y="5303520"/>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Deliverables go in, and a timeline and staffing plan come out, with AI doing real work and learning from what we deliver.</a:t>
            </a:r>
          </a:p>
        </p:txBody>
      </p:sp>
      <p:sp>
        <p:nvSpPr>
          <p:cNvPr id="37" name="Rounded Rectangle 36"/>
          <p:cNvSpPr/>
          <p:nvPr/>
        </p:nvSpPr>
        <p:spPr>
          <a:xfrm>
            <a:off x="10363200" y="5340096"/>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Taking shape</a:t>
            </a:r>
          </a:p>
        </p:txBody>
      </p:sp>
      <p:sp>
        <p:nvSpPr>
          <p:cNvPr id="38" name="Rounded Rectangle 37"/>
          <p:cNvSpPr/>
          <p:nvPr/>
        </p:nvSpPr>
        <p:spPr>
          <a:xfrm>
            <a:off x="457200" y="5742432"/>
            <a:ext cx="11277600" cy="457200"/>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39" name="TextBox 38"/>
          <p:cNvSpPr txBox="1"/>
          <p:nvPr/>
        </p:nvSpPr>
        <p:spPr>
          <a:xfrm>
            <a:off x="685800" y="5806440"/>
            <a:ext cx="2743200" cy="457200"/>
          </a:xfrm>
          <a:prstGeom prst="rect">
            <a:avLst/>
          </a:prstGeom>
          <a:noFill/>
        </p:spPr>
        <p:txBody>
          <a:bodyPr wrap="square" lIns="0" rIns="0" tIns="0" bIns="0" anchor="t">
            <a:spAutoFit/>
          </a:bodyPr>
          <a:lstStyle/>
          <a:p>
            <a:pPr algn="l">
              <a:spcBef>
                <a:spcPts val="400"/>
              </a:spcBef>
              <a:spcAft>
                <a:spcPts val="500"/>
              </a:spcAft>
            </a:pPr>
            <a:r>
              <a:rPr sz="1100" b="1" i="0">
                <a:solidFill>
                  <a:srgbClr val="000000"/>
                </a:solidFill>
              </a:rPr>
              <a:t>Earlier Delivery &amp; Talent in Pursuits</a:t>
            </a:r>
          </a:p>
        </p:txBody>
      </p:sp>
      <p:sp>
        <p:nvSpPr>
          <p:cNvPr id="40" name="TextBox 39"/>
          <p:cNvSpPr txBox="1"/>
          <p:nvPr/>
        </p:nvSpPr>
        <p:spPr>
          <a:xfrm>
            <a:off x="3566160" y="5797296"/>
            <a:ext cx="5852160" cy="457200"/>
          </a:xfrm>
          <a:prstGeom prst="rect">
            <a:avLst/>
          </a:prstGeom>
          <a:noFill/>
        </p:spPr>
        <p:txBody>
          <a:bodyPr wrap="square" lIns="0" rIns="0" tIns="0" bIns="0" anchor="t">
            <a:spAutoFit/>
          </a:bodyPr>
          <a:lstStyle/>
          <a:p>
            <a:pPr algn="l">
              <a:spcAft>
                <a:spcPts val="500"/>
              </a:spcAft>
            </a:pPr>
            <a:r>
              <a:rPr sz="900" b="0" i="0">
                <a:solidFill>
                  <a:srgbClr val="000000"/>
                </a:solidFill>
              </a:rPr>
              <a:t>Bring SME expertise into upfront deal evaluation to lift our win rate on the deals we already capture.</a:t>
            </a:r>
          </a:p>
        </p:txBody>
      </p:sp>
      <p:sp>
        <p:nvSpPr>
          <p:cNvPr id="41" name="Rounded Rectangle 40"/>
          <p:cNvSpPr/>
          <p:nvPr/>
        </p:nvSpPr>
        <p:spPr>
          <a:xfrm>
            <a:off x="10363200" y="5833872"/>
            <a:ext cx="1188720" cy="274320"/>
          </a:xfrm>
          <a:prstGeom prst="roundRect">
            <a:avLst>
              <a:gd name="adj" fmla="val 50000"/>
            </a:avLst>
          </a:prstGeom>
          <a:solidFill>
            <a:srgbClr val="FFFFFF"/>
          </a:solidFill>
          <a:ln w="12700">
            <a:solidFill>
              <a:srgbClr val="000000"/>
            </a:solidFill>
          </a:ln>
        </p:spPr>
        <p:txBody>
          <a:bodyPr rtlCol="0" anchor="ctr" lIns="0" rIns="0" tIns="0" bIns="0"/>
          <a:lstStyle/>
          <a:p>
            <a:pPr algn="ctr"/>
            <a:r>
              <a:rPr sz="800" b="1" i="0" cap="all" spc="60">
                <a:solidFill>
                  <a:srgbClr val="000000"/>
                </a:solidFill>
              </a:rPr>
              <a:t>Quick win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How to fill this in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Every priority gets the same six slides. If you do not know something yet, leave the prompt in place. Blank is fine. Do not guess.</a:t>
            </a:r>
          </a:p>
        </p:txBody>
      </p:sp>
      <p:sp>
        <p:nvSpPr>
          <p:cNvPr id="8" name="Rounded Rectangle 7"/>
          <p:cNvSpPr/>
          <p:nvPr/>
        </p:nvSpPr>
        <p:spPr>
          <a:xfrm>
            <a:off x="457200" y="167292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9" name="TextBox 8"/>
          <p:cNvSpPr txBox="1"/>
          <p:nvPr/>
        </p:nvSpPr>
        <p:spPr>
          <a:xfrm>
            <a:off x="685800" y="173692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1. Divider</a:t>
            </a:r>
          </a:p>
        </p:txBody>
      </p:sp>
      <p:sp>
        <p:nvSpPr>
          <p:cNvPr id="10" name="TextBox 9"/>
          <p:cNvSpPr txBox="1"/>
          <p:nvPr/>
        </p:nvSpPr>
        <p:spPr>
          <a:xfrm>
            <a:off x="2926080" y="173692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name of the priority and who owns it.</a:t>
            </a:r>
          </a:p>
        </p:txBody>
      </p:sp>
      <p:sp>
        <p:nvSpPr>
          <p:cNvPr id="11" name="TextBox 10"/>
          <p:cNvSpPr txBox="1"/>
          <p:nvPr/>
        </p:nvSpPr>
        <p:spPr>
          <a:xfrm>
            <a:off x="8046720" y="173692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Everyone knows whose job this is.</a:t>
            </a:r>
          </a:p>
        </p:txBody>
      </p:sp>
      <p:sp>
        <p:nvSpPr>
          <p:cNvPr id="12" name="Rounded Rectangle 11"/>
          <p:cNvSpPr/>
          <p:nvPr/>
        </p:nvSpPr>
        <p:spPr>
          <a:xfrm>
            <a:off x="457200" y="2349576"/>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3" name="TextBox 12"/>
          <p:cNvSpPr txBox="1"/>
          <p:nvPr/>
        </p:nvSpPr>
        <p:spPr>
          <a:xfrm>
            <a:off x="685800" y="2413584"/>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2. Exec summary</a:t>
            </a:r>
          </a:p>
        </p:txBody>
      </p:sp>
      <p:sp>
        <p:nvSpPr>
          <p:cNvPr id="14" name="TextBox 13"/>
          <p:cNvSpPr txBox="1"/>
          <p:nvPr/>
        </p:nvSpPr>
        <p:spPr>
          <a:xfrm>
            <a:off x="2926080" y="2413584"/>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Goal, problem, what we are changing, what it unlocks, and one key takeaway.</a:t>
            </a:r>
          </a:p>
        </p:txBody>
      </p:sp>
      <p:sp>
        <p:nvSpPr>
          <p:cNvPr id="15" name="TextBox 14"/>
          <p:cNvSpPr txBox="1"/>
          <p:nvPr/>
        </p:nvSpPr>
        <p:spPr>
          <a:xfrm>
            <a:off x="8046720" y="2413584"/>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If someone reads only one slide, this is it.</a:t>
            </a:r>
          </a:p>
        </p:txBody>
      </p:sp>
      <p:sp>
        <p:nvSpPr>
          <p:cNvPr id="16" name="Rounded Rectangle 15"/>
          <p:cNvSpPr/>
          <p:nvPr/>
        </p:nvSpPr>
        <p:spPr>
          <a:xfrm>
            <a:off x="457200" y="3026232"/>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17" name="TextBox 16"/>
          <p:cNvSpPr txBox="1"/>
          <p:nvPr/>
        </p:nvSpPr>
        <p:spPr>
          <a:xfrm>
            <a:off x="685800" y="3090240"/>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3. Why now</a:t>
            </a:r>
          </a:p>
        </p:txBody>
      </p:sp>
      <p:sp>
        <p:nvSpPr>
          <p:cNvPr id="18" name="TextBox 17"/>
          <p:cNvSpPr txBox="1"/>
          <p:nvPr/>
        </p:nvSpPr>
        <p:spPr>
          <a:xfrm>
            <a:off x="2926080" y="3090240"/>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Why now: why it cannot wait. A bullet for each reason, then what we need.</a:t>
            </a:r>
          </a:p>
        </p:txBody>
      </p:sp>
      <p:sp>
        <p:nvSpPr>
          <p:cNvPr id="19" name="TextBox 18"/>
          <p:cNvSpPr txBox="1"/>
          <p:nvPr/>
        </p:nvSpPr>
        <p:spPr>
          <a:xfrm>
            <a:off x="8046720" y="3090240"/>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Leaders back things that feel urgent and clear.</a:t>
            </a:r>
          </a:p>
        </p:txBody>
      </p:sp>
      <p:sp>
        <p:nvSpPr>
          <p:cNvPr id="20" name="Rounded Rectangle 19"/>
          <p:cNvSpPr/>
          <p:nvPr/>
        </p:nvSpPr>
        <p:spPr>
          <a:xfrm>
            <a:off x="457200" y="3702888"/>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1" name="TextBox 20"/>
          <p:cNvSpPr txBox="1"/>
          <p:nvPr/>
        </p:nvSpPr>
        <p:spPr>
          <a:xfrm>
            <a:off x="685800" y="3766896"/>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4. How we are going about it</a:t>
            </a:r>
          </a:p>
        </p:txBody>
      </p:sp>
      <p:sp>
        <p:nvSpPr>
          <p:cNvPr id="22" name="TextBox 21"/>
          <p:cNvSpPr txBox="1"/>
          <p:nvPr/>
        </p:nvSpPr>
        <p:spPr>
          <a:xfrm>
            <a:off x="2926080" y="3766896"/>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The steps or stories, a timeline with real dates, who is on the team, and who we partner with.</a:t>
            </a:r>
          </a:p>
        </p:txBody>
      </p:sp>
      <p:sp>
        <p:nvSpPr>
          <p:cNvPr id="23" name="TextBox 22"/>
          <p:cNvSpPr txBox="1"/>
          <p:nvPr/>
        </p:nvSpPr>
        <p:spPr>
          <a:xfrm>
            <a:off x="8046720" y="3766896"/>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Shows there is a plan and a date to hold us to.</a:t>
            </a:r>
          </a:p>
        </p:txBody>
      </p:sp>
      <p:sp>
        <p:nvSpPr>
          <p:cNvPr id="24" name="Rounded Rectangle 23"/>
          <p:cNvSpPr/>
          <p:nvPr/>
        </p:nvSpPr>
        <p:spPr>
          <a:xfrm>
            <a:off x="457200" y="4379544"/>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5" name="TextBox 24"/>
          <p:cNvSpPr txBox="1"/>
          <p:nvPr/>
        </p:nvSpPr>
        <p:spPr>
          <a:xfrm>
            <a:off x="685800" y="4443552"/>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5. Adoption &amp; change management</a:t>
            </a:r>
          </a:p>
        </p:txBody>
      </p:sp>
      <p:sp>
        <p:nvSpPr>
          <p:cNvPr id="26" name="TextBox 25"/>
          <p:cNvSpPr txBox="1"/>
          <p:nvPr/>
        </p:nvSpPr>
        <p:spPr>
          <a:xfrm>
            <a:off x="2926080" y="4443552"/>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A plan for the four things that make a change stick: strategy, communications, enablement, and measuring.</a:t>
            </a:r>
          </a:p>
        </p:txBody>
      </p:sp>
      <p:sp>
        <p:nvSpPr>
          <p:cNvPr id="27" name="TextBox 26"/>
          <p:cNvSpPr txBox="1"/>
          <p:nvPr/>
        </p:nvSpPr>
        <p:spPr>
          <a:xfrm>
            <a:off x="8046720" y="4443552"/>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A change only works if people actually adopt it.</a:t>
            </a:r>
          </a:p>
        </p:txBody>
      </p:sp>
      <p:sp>
        <p:nvSpPr>
          <p:cNvPr id="28" name="Rounded Rectangle 27"/>
          <p:cNvSpPr/>
          <p:nvPr/>
        </p:nvSpPr>
        <p:spPr>
          <a:xfrm>
            <a:off x="457200" y="5056200"/>
            <a:ext cx="11277600" cy="636656"/>
          </a:xfrm>
          <a:prstGeom prst="roundRect">
            <a:avLst>
              <a:gd name="adj" fmla="val 90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ctr"/>
          </a:p>
        </p:txBody>
      </p:sp>
      <p:sp>
        <p:nvSpPr>
          <p:cNvPr id="29" name="TextBox 28"/>
          <p:cNvSpPr txBox="1"/>
          <p:nvPr/>
        </p:nvSpPr>
        <p:spPr>
          <a:xfrm>
            <a:off x="685800" y="5120208"/>
            <a:ext cx="2103120" cy="676656"/>
          </a:xfrm>
          <a:prstGeom prst="rect">
            <a:avLst/>
          </a:prstGeom>
          <a:noFill/>
        </p:spPr>
        <p:txBody>
          <a:bodyPr wrap="square" lIns="0" rIns="0" tIns="0" bIns="0" anchor="t">
            <a:spAutoFit/>
          </a:bodyPr>
          <a:lstStyle/>
          <a:p>
            <a:pPr algn="l">
              <a:spcBef>
                <a:spcPts val="400"/>
              </a:spcBef>
              <a:spcAft>
                <a:spcPts val="500"/>
              </a:spcAft>
            </a:pPr>
            <a:r>
              <a:rPr sz="1200" b="1" i="0">
                <a:solidFill>
                  <a:srgbClr val="000000"/>
                </a:solidFill>
              </a:rPr>
              <a:t>6. Update</a:t>
            </a:r>
          </a:p>
        </p:txBody>
      </p:sp>
      <p:sp>
        <p:nvSpPr>
          <p:cNvPr id="30" name="TextBox 29"/>
          <p:cNvSpPr txBox="1"/>
          <p:nvPr/>
        </p:nvSpPr>
        <p:spPr>
          <a:xfrm>
            <a:off x="2926080" y="5120208"/>
            <a:ext cx="493776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Put here</a:t>
            </a:r>
          </a:p>
          <a:p>
            <a:pPr algn="l">
              <a:spcAft>
                <a:spcPts val="500"/>
              </a:spcAft>
            </a:pPr>
            <a:r>
              <a:rPr sz="1050" b="0" i="0">
                <a:solidFill>
                  <a:srgbClr val="000000"/>
                </a:solidFill>
              </a:rPr>
              <a:t>What got done, what is next, and what is in our way or what we need from you.</a:t>
            </a:r>
          </a:p>
        </p:txBody>
      </p:sp>
      <p:sp>
        <p:nvSpPr>
          <p:cNvPr id="31" name="TextBox 30"/>
          <p:cNvSpPr txBox="1"/>
          <p:nvPr/>
        </p:nvSpPr>
        <p:spPr>
          <a:xfrm>
            <a:off x="8046720" y="5120208"/>
            <a:ext cx="3383280" cy="676656"/>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Why it matters</a:t>
            </a:r>
          </a:p>
          <a:p>
            <a:pPr algn="l">
              <a:spcAft>
                <a:spcPts val="500"/>
              </a:spcAft>
            </a:pPr>
            <a:r>
              <a:rPr sz="1050" b="0" i="0">
                <a:solidFill>
                  <a:srgbClr val="000000"/>
                </a:solidFill>
              </a:rPr>
              <a:t>It keeps everyone current and tells leaders how to help.</a:t>
            </a:r>
          </a:p>
        </p:txBody>
      </p:sp>
      <p:sp>
        <p:nvSpPr>
          <p:cNvPr id="32" name="Rounded Rectangle 31"/>
          <p:cNvSpPr/>
          <p:nvPr/>
        </p:nvSpPr>
        <p:spPr>
          <a:xfrm>
            <a:off x="457200" y="5806008"/>
            <a:ext cx="11277600" cy="457200"/>
          </a:xfrm>
          <a:prstGeom prst="roundRect">
            <a:avLst>
              <a:gd name="adj" fmla="val 6000"/>
            </a:avLst>
          </a:prstGeom>
          <a:solidFill>
            <a:srgbClr val="000000"/>
          </a:solidFill>
          <a:ln>
            <a:noFill/>
          </a:ln>
          <a:effectLst>
            <a:outerShdw blurRad="190500" dist="50800" dir="5400000" algn="t" rotWithShape="0">
              <a:srgbClr val="000000">
                <a:alpha val="13000"/>
              </a:srgbClr>
            </a:outerShdw>
          </a:effectLst>
        </p:spPr>
        <p:txBody>
          <a:bodyPr rtlCol="0" anchor="ctr" wrap="square" lIns="300000" rIns="300000" tIns="50000" bIns="50000"/>
          <a:lstStyle/>
          <a:p>
            <a:pPr algn="l"/>
            <a:r>
              <a:rPr sz="1400" b="1" i="0">
                <a:solidFill>
                  <a:srgbClr val="FFFFFF"/>
                </a:solidFill>
              </a:rPr>
              <a:t>Need more detail on something? Add a supporting-detail slide from the four layouts at the end.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Deal-to-Delivery Playbook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2d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d2d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d2d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d2d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Accountability Framework</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acc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acc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acc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library.jpg"/>
          <p:cNvPicPr>
            <a:picLocks noChangeAspect="1"/>
          </p:cNvPicPr>
          <p:nvPr/>
        </p:nvPicPr>
        <p:blipFill>
          <a:blip r:embed="rId2"/>
          <a:stretch>
            <a:fillRect/>
          </a:stretch>
        </p:blipFill>
        <p:spPr>
          <a:xfrm>
            <a:off x="457200" y="4663008"/>
            <a:ext cx="10972800" cy="900000"/>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Leadership Dashboards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ash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ash.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ash.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ash.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Capacity Planning &amp; Romulus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cap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cap.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cap.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cap.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DGS Leadership Transition</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dg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dg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dg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dg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Images: Intake Updates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intake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imgs_intake_Div.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imgs_intake_Upd.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imgs_intake_hdr.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Ops Transformation: Rebuild Scoping &amp; Staffing</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ops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ops.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ops.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ops.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200">
                <a:solidFill>
                  <a:srgbClr val="FFFFFF"/>
                </a:solidFill>
              </a:rPr>
              <a:t>Images: Earlier Delivery &amp; Talent in Pursuits</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HIDDEN SLIDE · IMAGES FOR THIS PRIORITY</a:t>
            </a:r>
          </a:p>
        </p:txBody>
      </p:sp>
      <p:sp>
        <p:nvSpPr>
          <p:cNvPr id="7" name="TextBox 6"/>
          <p:cNvSpPr txBox="1"/>
          <p:nvPr/>
        </p:nvSpPr>
        <p:spPr>
          <a:xfrm>
            <a:off x="457200" y="1150000"/>
            <a:ext cx="11277600" cy="365760"/>
          </a:xfrm>
          <a:prstGeom prst="rect">
            <a:avLst/>
          </a:prstGeom>
          <a:noFill/>
        </p:spPr>
        <p:txBody>
          <a:bodyPr wrap="square" lIns="0" rIns="0" tIns="0" bIns="0" anchor="t">
            <a:spAutoFit/>
          </a:bodyPr>
          <a:lstStyle/>
          <a:p>
            <a:pPr algn="l">
              <a:spcAft>
                <a:spcPts val="500"/>
              </a:spcAft>
            </a:pPr>
            <a:r>
              <a:rPr sz="1100" b="0" i="0">
                <a:solidFill>
                  <a:srgbClr val="000000"/>
                </a:solidFill>
              </a:rPr>
              <a:t>One image for this priority. Use it on the divider, the header band and the update panel so people always know which priority they are in. This slide is hidden: it does not show when presenting.</a:t>
            </a:r>
          </a:p>
        </p:txBody>
      </p:sp>
      <p:sp>
        <p:nvSpPr>
          <p:cNvPr id="8" name="TextBox 7"/>
          <p:cNvSpPr txBox="1"/>
          <p:nvPr/>
        </p:nvSpPr>
        <p:spPr>
          <a:xfrm>
            <a:off x="45720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Source image</a:t>
            </a:r>
          </a:p>
        </p:txBody>
      </p:sp>
      <p:pic>
        <p:nvPicPr>
          <p:cNvPr id="9" name="Picture 8" descr="f_imgs_early_Sou.jpg"/>
          <p:cNvPicPr>
            <a:picLocks noChangeAspect="1"/>
          </p:cNvPicPr>
          <p:nvPr/>
        </p:nvPicPr>
        <p:blipFill>
          <a:blip r:embed="rId3"/>
          <a:stretch>
            <a:fillRect/>
          </a:stretch>
        </p:blipFill>
        <p:spPr>
          <a:xfrm>
            <a:off x="457200" y="1864944"/>
            <a:ext cx="3840480" cy="2377440"/>
          </a:xfrm>
          <a:prstGeom prst="rect">
            <a:avLst/>
          </a:prstGeom>
        </p:spPr>
      </p:pic>
      <p:sp>
        <p:nvSpPr>
          <p:cNvPr id="10" name="TextBox 9"/>
          <p:cNvSpPr txBox="1"/>
          <p:nvPr/>
        </p:nvSpPr>
        <p:spPr>
          <a:xfrm>
            <a:off x="4617720" y="1627200"/>
            <a:ext cx="384048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Divider</a:t>
            </a:r>
          </a:p>
        </p:txBody>
      </p:sp>
      <p:pic>
        <p:nvPicPr>
          <p:cNvPr id="11" name="Picture 10" descr="f_div_early.jpg"/>
          <p:cNvPicPr>
            <a:picLocks noChangeAspect="1"/>
          </p:cNvPicPr>
          <p:nvPr/>
        </p:nvPicPr>
        <p:blipFill>
          <a:blip r:embed="rId4"/>
          <a:stretch>
            <a:fillRect/>
          </a:stretch>
        </p:blipFill>
        <p:spPr>
          <a:xfrm>
            <a:off x="4617720" y="1864944"/>
            <a:ext cx="3840480" cy="2157984"/>
          </a:xfrm>
          <a:prstGeom prst="rect">
            <a:avLst/>
          </a:prstGeom>
        </p:spPr>
      </p:pic>
      <p:sp>
        <p:nvSpPr>
          <p:cNvPr id="12" name="TextBox 11"/>
          <p:cNvSpPr txBox="1"/>
          <p:nvPr/>
        </p:nvSpPr>
        <p:spPr>
          <a:xfrm>
            <a:off x="8778240" y="1627200"/>
            <a:ext cx="123444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Update panel</a:t>
            </a:r>
          </a:p>
        </p:txBody>
      </p:sp>
      <p:pic>
        <p:nvPicPr>
          <p:cNvPr id="13" name="Picture 12" descr="f_rail_early.jpg"/>
          <p:cNvPicPr>
            <a:picLocks noChangeAspect="1"/>
          </p:cNvPicPr>
          <p:nvPr/>
        </p:nvPicPr>
        <p:blipFill>
          <a:blip r:embed="rId5"/>
          <a:stretch>
            <a:fillRect/>
          </a:stretch>
        </p:blipFill>
        <p:spPr>
          <a:xfrm>
            <a:off x="8778240" y="1864944"/>
            <a:ext cx="1234440" cy="2377440"/>
          </a:xfrm>
          <a:prstGeom prst="rect">
            <a:avLst/>
          </a:prstGeom>
        </p:spPr>
      </p:pic>
      <p:sp>
        <p:nvSpPr>
          <p:cNvPr id="14" name="TextBox 13"/>
          <p:cNvSpPr txBox="1"/>
          <p:nvPr/>
        </p:nvSpPr>
        <p:spPr>
          <a:xfrm>
            <a:off x="457200" y="4425264"/>
            <a:ext cx="2743200" cy="201168"/>
          </a:xfrm>
          <a:prstGeom prst="rect">
            <a:avLst/>
          </a:prstGeom>
          <a:noFill/>
        </p:spPr>
        <p:txBody>
          <a:bodyPr wrap="square" lIns="0" rIns="0" tIns="0" bIns="0" anchor="t">
            <a:spAutoFit/>
          </a:bodyPr>
          <a:lstStyle/>
          <a:p>
            <a:pPr algn="l">
              <a:spcBef>
                <a:spcPts val="200"/>
              </a:spcBef>
              <a:spcAft>
                <a:spcPts val="200"/>
              </a:spcAft>
            </a:pPr>
            <a:r>
              <a:rPr sz="850" b="1" i="0" cap="all" spc="100">
                <a:solidFill>
                  <a:srgbClr val="60607D"/>
                </a:solidFill>
              </a:rPr>
              <a:t>Header band</a:t>
            </a:r>
          </a:p>
        </p:txBody>
      </p:sp>
      <p:pic>
        <p:nvPicPr>
          <p:cNvPr id="15" name="Picture 14" descr="f_hero_early.jpg"/>
          <p:cNvPicPr>
            <a:picLocks noChangeAspect="1"/>
          </p:cNvPicPr>
          <p:nvPr/>
        </p:nvPicPr>
        <p:blipFill>
          <a:blip r:embed="rId6"/>
          <a:stretch>
            <a:fillRect/>
          </a:stretch>
        </p:blipFill>
        <p:spPr>
          <a:xfrm>
            <a:off x="457200" y="4663008"/>
            <a:ext cx="10972800" cy="900000"/>
          </a:xfrm>
          <a:prstGeom prst="rect">
            <a:avLst/>
          </a:prstGeom>
        </p:spPr>
      </p:pic>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pic>
        <p:nvPicPr>
          <p:cNvPr id="5" name="Picture 4" descr="f_hero_library.jpg"/>
          <p:cNvPicPr>
            <a:picLocks noChangeAspect="1"/>
          </p:cNvPicPr>
          <p:nvPr/>
        </p:nvPicPr>
        <p:blipFill>
          <a:blip r:embed="rId2"/>
          <a:stretch>
            <a:fillRect/>
          </a:stretch>
        </p:blipFill>
        <p:spPr>
          <a:xfrm>
            <a:off x="0" y="0"/>
            <a:ext cx="12192000" cy="1000000"/>
          </a:xfrm>
          <a:prstGeom prst="rect">
            <a:avLst/>
          </a:prstGeom>
        </p:spPr>
      </p:pic>
      <p:sp>
        <p:nvSpPr>
          <p:cNvPr id="6" name="Rectangle 5"/>
          <p:cNvSpPr/>
          <p:nvPr/>
        </p:nvSpPr>
        <p:spPr>
          <a:xfrm>
            <a:off x="0" y="0"/>
            <a:ext cx="12192000" cy="1000000"/>
          </a:xfrm>
          <a:prstGeom prst="rect">
            <a:avLst/>
          </a:prstGeom>
          <a:gradFill rotWithShape="1">
            <a:gsLst>
              <a:gs pos="0">
                <a:srgbClr val="000000">
                  <a:alpha val="92000"/>
                </a:srgbClr>
              </a:gs>
              <a:gs pos="50000">
                <a:srgbClr val="000000">
                  <a:alpha val="78000"/>
                </a:srgbClr>
              </a:gs>
              <a:gs pos="100000">
                <a:srgbClr val="000000">
                  <a:alpha val="66000"/>
                </a:srgbClr>
              </a:gs>
            </a:gsLst>
            <a:lin ang="0" scaled="0"/>
          </a:gradFill>
          <a:ln>
            <a:noFill/>
          </a:ln>
        </p:spPr>
        <p:txBody>
          <a:bodyPr rtlCol="0" anchor="ctr"/>
          <a:lstStyle/>
          <a:p>
            <a:pPr algn="ctr"/>
          </a:p>
        </p:txBody>
      </p:sp>
      <p:sp>
        <p:nvSpPr>
          <p:cNvPr id="3" name="Title 2"/>
          <p:cNvSpPr>
            <a:spLocks noGrp="1"/>
          </p:cNvSpPr>
          <p:nvPr>
            <p:ph type="title"/>
          </p:nvPr>
        </p:nvSpPr>
        <p:spPr>
          <a:xfrm>
            <a:off x="457200" y="300000"/>
            <a:ext cx="8000000" cy="560000"/>
          </a:xfrm>
        </p:spPr>
        <p:txBody>
          <a:bodyPr/>
          <a:lstStyle/>
          <a:p>
            <a:r>
              <a:rPr sz="2800">
                <a:solidFill>
                  <a:srgbClr val="FFFFFF"/>
                </a:solidFill>
              </a:rPr>
              <a:t>Update your section with Claude</a:t>
            </a:r>
          </a:p>
        </p:txBody>
      </p:sp>
      <p:sp>
        <p:nvSpPr>
          <p:cNvPr id="4" name="Text Placeholder 3"/>
          <p:cNvSpPr>
            <a:spLocks noGrp="1"/>
          </p:cNvSpPr>
          <p:nvPr>
            <p:ph type="body" idx="12" sz="quarter"/>
          </p:nvPr>
        </p:nvSpPr>
        <p:spPr>
          <a:xfrm>
            <a:off x="457200" y="170000"/>
            <a:ext cx="8000000" cy="182880"/>
          </a:xfrm>
        </p:spPr>
        <p:txBody>
          <a:bodyPr/>
          <a:lstStyle/>
          <a:p>
            <a:r>
              <a:rPr>
                <a:solidFill>
                  <a:srgbClr val="0391F2"/>
                </a:solidFill>
              </a:rPr>
              <a:t>HOW TO USE THIS TEMPLATE</a:t>
            </a:r>
          </a:p>
        </p:txBody>
      </p:sp>
      <p:sp>
        <p:nvSpPr>
          <p:cNvPr id="7" name="TextBox 6"/>
          <p:cNvSpPr txBox="1"/>
          <p:nvPr/>
        </p:nvSpPr>
        <p:spPr>
          <a:xfrm>
            <a:off x="457200" y="1150000"/>
            <a:ext cx="11277600" cy="457200"/>
          </a:xfrm>
          <a:prstGeom prst="rect">
            <a:avLst/>
          </a:prstGeom>
          <a:noFill/>
        </p:spPr>
        <p:txBody>
          <a:bodyPr wrap="square" lIns="0" rIns="0" tIns="0" bIns="0" anchor="t">
            <a:spAutoFit/>
          </a:bodyPr>
          <a:lstStyle/>
          <a:p>
            <a:pPr algn="l">
              <a:spcAft>
                <a:spcPts val="500"/>
              </a:spcAft>
            </a:pPr>
            <a:r>
              <a:rPr sz="1250" b="0" i="0">
                <a:solidFill>
                  <a:srgbClr val="000000"/>
                </a:solidFill>
              </a:rPr>
              <a:t>You do not have to build slides. Give Claude your notes and it hands back your section, ready to paste into this deck.</a:t>
            </a:r>
          </a:p>
        </p:txBody>
      </p:sp>
      <p:sp>
        <p:nvSpPr>
          <p:cNvPr id="8" name="Rounded Rectangle 7"/>
          <p:cNvSpPr/>
          <p:nvPr/>
        </p:nvSpPr>
        <p:spPr>
          <a:xfrm>
            <a:off x="4572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1</a:t>
            </a:r>
          </a:p>
          <a:p>
            <a:pPr algn="l">
              <a:spcBef>
                <a:spcPts val="400"/>
              </a:spcBef>
              <a:spcAft>
                <a:spcPts val="200"/>
              </a:spcAft>
            </a:pPr>
            <a:r>
              <a:rPr sz="1250" b="1" i="0">
                <a:solidFill>
                  <a:srgbClr val="000000"/>
                </a:solidFill>
              </a:rPr>
              <a:t>Set up once</a:t>
            </a:r>
          </a:p>
          <a:p>
            <a:pPr algn="l">
              <a:spcAft>
                <a:spcPts val="500"/>
              </a:spcAft>
            </a:pPr>
            <a:r>
              <a:rPr sz="1250" b="0" i="0">
                <a:solidFill>
                  <a:srgbClr val="000000"/>
                </a:solidFill>
              </a:rPr>
              <a:t>Make a Claude project. Add two files: this deck (Priorities_Master.pptx) and the update guide. Use the Use this MD button below.</a:t>
            </a:r>
          </a:p>
        </p:txBody>
      </p:sp>
      <p:sp>
        <p:nvSpPr>
          <p:cNvPr id="9" name="Rounded Rectangle 8"/>
          <p:cNvSpPr/>
          <p:nvPr/>
        </p:nvSpPr>
        <p:spPr>
          <a:xfrm>
            <a:off x="33141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2</a:t>
            </a:r>
          </a:p>
          <a:p>
            <a:pPr algn="l">
              <a:spcBef>
                <a:spcPts val="400"/>
              </a:spcBef>
              <a:spcAft>
                <a:spcPts val="200"/>
              </a:spcAft>
            </a:pPr>
            <a:r>
              <a:rPr sz="1250" b="1" i="0">
                <a:solidFill>
                  <a:srgbClr val="000000"/>
                </a:solidFill>
              </a:rPr>
              <a:t>Say which priority</a:t>
            </a:r>
          </a:p>
          <a:p>
            <a:pPr algn="l">
              <a:spcAft>
                <a:spcPts val="500"/>
              </a:spcAft>
            </a:pPr>
            <a:r>
              <a:rPr sz="1250" b="0" i="0">
                <a:solidFill>
                  <a:srgbClr val="000000"/>
                </a:solidFill>
              </a:rPr>
              <a:t>Name your priority exactly as it appears in this deck. Then say what you want: fill my section, update my Update slide, fix something, or add detail.</a:t>
            </a:r>
          </a:p>
        </p:txBody>
      </p:sp>
      <p:sp>
        <p:nvSpPr>
          <p:cNvPr id="10" name="Rounded Rectangle 9"/>
          <p:cNvSpPr/>
          <p:nvPr/>
        </p:nvSpPr>
        <p:spPr>
          <a:xfrm>
            <a:off x="61710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3</a:t>
            </a:r>
          </a:p>
          <a:p>
            <a:pPr algn="l">
              <a:spcBef>
                <a:spcPts val="400"/>
              </a:spcBef>
              <a:spcAft>
                <a:spcPts val="200"/>
              </a:spcAft>
            </a:pPr>
            <a:r>
              <a:rPr sz="1250" b="1" i="0">
                <a:solidFill>
                  <a:srgbClr val="000000"/>
                </a:solidFill>
              </a:rPr>
              <a:t>Give it your notes</a:t>
            </a:r>
          </a:p>
          <a:p>
            <a:pPr algn="l">
              <a:spcAft>
                <a:spcPts val="500"/>
              </a:spcAft>
            </a:pPr>
            <a:r>
              <a:rPr sz="1250" b="0" i="0">
                <a:solidFill>
                  <a:srgbClr val="000000"/>
                </a:solidFill>
              </a:rPr>
              <a:t>Paste notes, an email, a transcript, anything. Claude fills the boxes in the template and asks if something is missing. It never makes things up.</a:t>
            </a:r>
          </a:p>
        </p:txBody>
      </p:sp>
      <p:sp>
        <p:nvSpPr>
          <p:cNvPr id="11" name="Rounded Rectangle 10"/>
          <p:cNvSpPr/>
          <p:nvPr/>
        </p:nvSpPr>
        <p:spPr>
          <a:xfrm>
            <a:off x="9027900" y="1718640"/>
            <a:ext cx="2706900" cy="270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Bef>
                <a:spcPts val="200"/>
              </a:spcBef>
              <a:spcAft>
                <a:spcPts val="200"/>
              </a:spcAft>
            </a:pPr>
            <a:r>
              <a:rPr sz="850" b="1" i="0" cap="all" spc="100">
                <a:solidFill>
                  <a:srgbClr val="60607D"/>
                </a:solidFill>
              </a:rPr>
              <a:t>Step 4</a:t>
            </a:r>
          </a:p>
          <a:p>
            <a:pPr algn="l">
              <a:spcBef>
                <a:spcPts val="400"/>
              </a:spcBef>
              <a:spcAft>
                <a:spcPts val="200"/>
              </a:spcAft>
            </a:pPr>
            <a:r>
              <a:rPr sz="1250" b="1" i="0">
                <a:solidFill>
                  <a:srgbClr val="000000"/>
                </a:solidFill>
              </a:rPr>
              <a:t>Copy it back in</a:t>
            </a:r>
          </a:p>
          <a:p>
            <a:pPr algn="l">
              <a:spcAft>
                <a:spcPts val="500"/>
              </a:spcAft>
            </a:pPr>
            <a:r>
              <a:rPr sz="1250" b="0" i="0">
                <a:solidFill>
                  <a:srgbClr val="000000"/>
                </a:solidFill>
              </a:rPr>
              <a:t>Claude returns only your section as a small PowerPoint file. Open this deck, delete your old slides, paste the new ones in the same place.</a:t>
            </a:r>
          </a:p>
        </p:txBody>
      </p:sp>
      <p:sp>
        <p:nvSpPr>
          <p:cNvPr id="12" name="Rounded Rectangle 11"/>
          <p:cNvSpPr/>
          <p:nvPr/>
        </p:nvSpPr>
        <p:spPr>
          <a:xfrm>
            <a:off x="457200" y="4568640"/>
            <a:ext cx="5563800" cy="1050000"/>
          </a:xfrm>
          <a:prstGeom prst="roundRect">
            <a:avLst>
              <a:gd name="adj" fmla="val 3200"/>
            </a:avLst>
          </a:prstGeom>
          <a:solidFill>
            <a:srgbClr val="FFFFFF"/>
          </a:solidFill>
          <a:ln w="9525">
            <a:solidFill>
              <a:srgbClr val="D6D6DF"/>
            </a:solid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000000"/>
                </a:solidFill>
              </a:rPr>
              <a:t>What Claude will do</a:t>
            </a:r>
          </a:p>
          <a:p>
            <a:pPr algn="l" marL="171450" indent="-171450">
              <a:spcAft>
                <a:spcPts val="500"/>
              </a:spcAft>
              <a:buFont typeface="Arial"/>
              <a:buChar char="•"/>
            </a:pPr>
            <a:r>
              <a:rPr sz="900" b="0" i="0">
                <a:solidFill>
                  <a:srgbClr val="000000"/>
                </a:solidFill>
              </a:rPr>
              <a:t>Fit your content into the template boxes, shorten wording to fit, and put today's date on the Update slide.</a:t>
            </a:r>
          </a:p>
          <a:p>
            <a:pPr algn="l" marL="171450" indent="-171450">
              <a:spcAft>
                <a:spcPts val="500"/>
              </a:spcAft>
              <a:buFont typeface="Arial"/>
              <a:buChar char="•"/>
            </a:pPr>
            <a:r>
              <a:rPr sz="900" b="0" i="0">
                <a:solidFill>
                  <a:srgbClr val="000000"/>
                </a:solidFill>
              </a:rPr>
              <a:t>Propose extra detail slides in the same style. It adds them only if you say yes.</a:t>
            </a:r>
          </a:p>
        </p:txBody>
      </p:sp>
      <p:sp>
        <p:nvSpPr>
          <p:cNvPr id="13" name="Rounded Rectangle 12"/>
          <p:cNvSpPr/>
          <p:nvPr/>
        </p:nvSpPr>
        <p:spPr>
          <a:xfrm>
            <a:off x="6171000" y="4568640"/>
            <a:ext cx="5563800" cy="1050000"/>
          </a:xfrm>
          <a:prstGeom prst="roundRect">
            <a:avLst>
              <a:gd name="adj" fmla="val 3200"/>
            </a:avLst>
          </a:prstGeom>
          <a:solidFill>
            <a:srgbClr val="000000"/>
          </a:solidFill>
          <a:ln>
            <a:noFill/>
          </a:ln>
          <a:effectLst>
            <a:outerShdw blurRad="190500" dist="50800" dir="5400000" algn="t" rotWithShape="0">
              <a:srgbClr val="000000">
                <a:alpha val="13000"/>
              </a:srgbClr>
            </a:outerShdw>
          </a:effectLst>
        </p:spPr>
        <p:txBody>
          <a:bodyPr rtlCol="0" anchor="t" wrap="square" lIns="210312" tIns="155448" rIns="182880" bIns="73152"/>
          <a:lstStyle/>
          <a:p>
            <a:pPr algn="l">
              <a:spcAft>
                <a:spcPts val="600"/>
              </a:spcAft>
            </a:pPr>
            <a:r>
              <a:rPr sz="1100" b="1" i="0" cap="all" spc="60">
                <a:solidFill>
                  <a:srgbClr val="D6D6DF"/>
                </a:solidFill>
              </a:rPr>
              <a:t>What Claude will not do</a:t>
            </a:r>
          </a:p>
          <a:p>
            <a:pPr algn="l" marL="171450" indent="-171450">
              <a:spcAft>
                <a:spcPts val="500"/>
              </a:spcAft>
              <a:buFont typeface="Arial"/>
              <a:buChar char="•"/>
            </a:pPr>
            <a:r>
              <a:rPr sz="950" b="0" i="0">
                <a:solidFill>
                  <a:srgbClr val="FFFFFF"/>
                </a:solidFill>
              </a:rPr>
              <a:t>Change the template, other priorities, or the look of the six standard slides.</a:t>
            </a:r>
          </a:p>
          <a:p>
            <a:pPr algn="l" marL="171450" indent="-171450">
              <a:spcAft>
                <a:spcPts val="500"/>
              </a:spcAft>
              <a:buFont typeface="Arial"/>
              <a:buChar char="•"/>
            </a:pPr>
            <a:r>
              <a:rPr sz="950" b="0" i="0">
                <a:solidFill>
                  <a:srgbClr val="FFFFFF"/>
                </a:solidFill>
              </a:rPr>
              <a:t>Invent dates, names, numbers or owners. Anything unknown stays blank.</a:t>
            </a:r>
          </a:p>
        </p:txBody>
      </p:sp>
      <p:sp>
        <p:nvSpPr>
          <p:cNvPr id="14" name="Rounded Rectangle 13">
            <a:hlinkClick r:id="rId3"/>
          </p:cNvPr>
          <p:cNvSpPr/>
          <p:nvPr/>
        </p:nvSpPr>
        <p:spPr>
          <a:xfrm>
            <a:off x="457200" y="5800000"/>
            <a:ext cx="3291840" cy="411480"/>
          </a:xfrm>
          <a:prstGeom prst="roundRect">
            <a:avLst>
              <a:gd name="adj" fmla="val 50000"/>
            </a:avLst>
          </a:prstGeom>
          <a:solidFill>
            <a:srgbClr val="000000"/>
          </a:solidFill>
          <a:ln>
            <a:noFill/>
          </a:ln>
        </p:spPr>
        <p:txBody>
          <a:bodyPr rtlCol="0" anchor="ctr" lIns="0" rIns="0" tIns="0" bIns="0"/>
          <a:lstStyle/>
          <a:p>
            <a:pPr algn="ctr"/>
            <a:r>
              <a:rPr sz="1200" b="1" i="0">
                <a:solidFill>
                  <a:srgbClr val="FFFFFF"/>
                </a:solidFill>
              </a:rPr>
              <a:t>Use this MD</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