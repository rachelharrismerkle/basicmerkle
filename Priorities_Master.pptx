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13" r:id="rId88"/>
    <p:sldId id="314" r:id="rId89"/>
    <p:sldId id="262" r:id="rId38"/>
    <p:sldId id="2147483647" r:id="rId19"/>
    <p:sldId id="256" r:id="rId18"/>
    <p:sldId id="265" r:id="rId17"/>
    <p:sldId id="266" r:id="rId41"/>
    <p:sldId id="268" r:id="rId43"/>
    <p:sldId id="267" r:id="rId42"/>
    <p:sldId id="257" r:id="rId20"/>
    <p:sldId id="315" r:id="rId90"/>
    <p:sldId id="263" r:id="rId39"/>
    <p:sldId id="258" r:id="rId21"/>
    <p:sldId id="269" r:id="rId44"/>
    <p:sldId id="270" r:id="rId45"/>
    <p:sldId id="271" r:id="rId46"/>
    <p:sldId id="259" r:id="rId22"/>
    <p:sldId id="316" r:id="rId91"/>
    <p:sldId id="272" r:id="rId47"/>
    <p:sldId id="273" r:id="rId48"/>
    <p:sldId id="274" r:id="rId49"/>
    <p:sldId id="275" r:id="rId50"/>
    <p:sldId id="276" r:id="rId51"/>
    <p:sldId id="277" r:id="rId52"/>
    <p:sldId id="317" r:id="rId92"/>
    <p:sldId id="278" r:id="rId53"/>
    <p:sldId id="279" r:id="rId54"/>
    <p:sldId id="280" r:id="rId55"/>
    <p:sldId id="281" r:id="rId56"/>
    <p:sldId id="282" r:id="rId57"/>
    <p:sldId id="283" r:id="rId58"/>
    <p:sldId id="284" r:id="rId59"/>
    <p:sldId id="285" r:id="rId60"/>
    <p:sldId id="318" r:id="rId93"/>
    <p:sldId id="286" r:id="rId61"/>
    <p:sldId id="287" r:id="rId62"/>
    <p:sldId id="288" r:id="rId63"/>
    <p:sldId id="289" r:id="rId64"/>
    <p:sldId id="290" r:id="rId65"/>
    <p:sldId id="291" r:id="rId66"/>
    <p:sldId id="292" r:id="rId67"/>
    <p:sldId id="319" r:id="rId94"/>
    <p:sldId id="264" r:id="rId40"/>
    <p:sldId id="260" r:id="rId23"/>
    <p:sldId id="293" r:id="rId68"/>
    <p:sldId id="294" r:id="rId69"/>
    <p:sldId id="295" r:id="rId70"/>
    <p:sldId id="261" r:id="rId24"/>
    <p:sldId id="320" r:id="rId95"/>
    <p:sldId id="296" r:id="rId71"/>
    <p:sldId id="297" r:id="rId72"/>
    <p:sldId id="298" r:id="rId73"/>
    <p:sldId id="299" r:id="rId74"/>
    <p:sldId id="300" r:id="rId75"/>
    <p:sldId id="301" r:id="rId76"/>
    <p:sldId id="321" r:id="rId96"/>
    <p:sldId id="302" r:id="rId77"/>
    <p:sldId id="303" r:id="rId78"/>
    <p:sldId id="304" r:id="rId79"/>
    <p:sldId id="305" r:id="rId80"/>
    <p:sldId id="306" r:id="rId81"/>
    <p:sldId id="307" r:id="rId82"/>
    <p:sldId id="322" r:id="rId97"/>
    <p:sldId id="308" r:id="rId83"/>
    <p:sldId id="309" r:id="rId84"/>
    <p:sldId id="310" r:id="rId85"/>
    <p:sldId id="311" r:id="rId86"/>
    <p:sldId id="312" r:id="rId87"/>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D048FC42-09F1-4E25-A90D-309413F7C21D}">
          <p14:sldIdLst>
            <p14:sldId id="313"/>
            <p14:sldId id="314"/>
          </p14:sldIdLst>
        </p14:section>
        <p14:section name="Deal-to-Delivery Playbook" id="{1510CE89-029B-4040-B62A-8B5C23097B63}">
          <p14:sldIdLst>
            <p14:sldId id="262"/>
            <p14:sldId id="2147483647"/>
            <p14:sldId id="256"/>
            <p14:sldId id="265"/>
            <p14:sldId id="266"/>
            <p14:sldId id="268"/>
            <p14:sldId id="267"/>
            <p14:sldId id="257"/>
            <p14:sldId id="315"/>
          </p14:sldIdLst>
        </p14:section>
        <p14:section name="Accountability Framework" id="{B576A8D7-004F-4712-8E1E-EC631CDA1A5F}">
          <p14:sldIdLst>
            <p14:sldId id="263"/>
            <p14:sldId id="258"/>
            <p14:sldId id="269"/>
            <p14:sldId id="270"/>
            <p14:sldId id="271"/>
            <p14:sldId id="259"/>
            <p14:sldId id="316"/>
          </p14:sldIdLst>
        </p14:section>
        <p14:section name="Leadership Dashboards" id="{E6210106-9EAB-4C91-8A08-0DEB49E35A21}">
          <p14:sldIdLst>
            <p14:sldId id="272"/>
            <p14:sldId id="273"/>
            <p14:sldId id="274"/>
            <p14:sldId id="275"/>
            <p14:sldId id="276"/>
            <p14:sldId id="277"/>
            <p14:sldId id="317"/>
          </p14:sldIdLst>
        </p14:section>
        <p14:section name="Capacity Planning &amp; Romulus" id="{29E6FF5C-1249-47F4-85CC-B8FCD26E88EE}">
          <p14:sldIdLst>
            <p14:sldId id="278"/>
            <p14:sldId id="279"/>
            <p14:sldId id="280"/>
            <p14:sldId id="281"/>
            <p14:sldId id="282"/>
            <p14:sldId id="283"/>
            <p14:sldId id="284"/>
            <p14:sldId id="285"/>
            <p14:sldId id="318"/>
          </p14:sldIdLst>
        </p14:section>
        <p14:section name="DGS Leadership Transition" id="{254F4CED-83D6-4B0B-8318-D1AE0CD21A84}">
          <p14:sldIdLst>
            <p14:sldId id="286"/>
            <p14:sldId id="287"/>
            <p14:sldId id="288"/>
            <p14:sldId id="289"/>
            <p14:sldId id="290"/>
            <p14:sldId id="291"/>
            <p14:sldId id="292"/>
            <p14:sldId id="319"/>
          </p14:sldIdLst>
        </p14:section>
        <p14:section name="Intake Updates" id="{0AEFDC37-74E8-48D6-99A0-4D8EB81B2938}">
          <p14:sldIdLst>
            <p14:sldId id="264"/>
            <p14:sldId id="260"/>
            <p14:sldId id="293"/>
            <p14:sldId id="294"/>
            <p14:sldId id="295"/>
            <p14:sldId id="261"/>
            <p14:sldId id="320"/>
          </p14:sldIdLst>
        </p14:section>
        <p14:section name="Ops Transformation: Rebuild Scoping &amp; Staffing" id="{7866B163-1370-4A24-959D-90EF6EC60733}">
          <p14:sldIdLst>
            <p14:sldId id="296"/>
            <p14:sldId id="297"/>
            <p14:sldId id="298"/>
            <p14:sldId id="299"/>
            <p14:sldId id="300"/>
            <p14:sldId id="301"/>
            <p14:sldId id="321"/>
          </p14:sldIdLst>
        </p14:section>
        <p14:section name="Earlier Delivery &amp; Talent in Pursuits" id="{E93C0440-F32F-4CBD-9F10-2AF3A9C05B13}">
          <p14:sldIdLst>
            <p14:sldId id="302"/>
            <p14:sldId id="303"/>
            <p14:sldId id="304"/>
            <p14:sldId id="305"/>
            <p14:sldId id="306"/>
            <p14:sldId id="307"/>
            <p14:sldId id="322"/>
          </p14:sldIdLst>
        </p14:section>
        <p14:section name="Supporting-detail layouts" id="{1370C7B5-0360-4A43-A02F-129CE7F1B4DF}">
          <p14:sldIdLst>
            <p14:sldId id="308"/>
            <p14:sldId id="309"/>
            <p14:sldId id="310"/>
            <p14:sldId id="311"/>
            <p14:sldId id="312"/>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Defining Essential Roles</a:t>
            </a:r>
          </a:p>
          <a:p>
            <a:pPr algn="l">
              <a:spcAft>
                <a:spcPts val="500"/>
              </a:spcAft>
            </a:pPr>
            <a:r>
              <a:rPr sz="10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900" b="1" i="0">
                <a:solidFill>
                  <a:srgbClr val="000000"/>
                </a:solidFill>
              </a:rPr>
              <a:t>Change Management will be Key</a:t>
            </a:r>
          </a:p>
          <a:p>
            <a:pPr algn="l">
              <a:spcAft>
                <a:spcPts val="500"/>
              </a:spcAft>
            </a:pPr>
            <a:r>
              <a:rPr sz="90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26" name="Oval 525"/>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36" name="Rounded Rectangle 53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7" name="Rounded Rectangle 536"/>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8" name="Rounded Rectangle 537"/>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9" name="Rounded Rectangle 53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0" name="Rounded Rectangle 53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1" name="Rounded Rectangle 54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00" b="1" i="0">
                <a:solidFill>
                  <a:srgbClr val="000000"/>
                </a:solidFill>
              </a:rPr>
              <a:t>Pillar 1: Know who we have</a:t>
            </a:r>
          </a:p>
          <a:p>
            <a:pPr algn="l">
              <a:spcAft>
                <a:spcPts val="500"/>
              </a:spcAft>
            </a:pPr>
            <a:r>
              <a:rPr sz="1100" b="1" i="0">
                <a:solidFill>
                  <a:srgbClr val="000000"/>
                </a:solidFill>
              </a:rPr>
              <a:t>We need</a:t>
            </a:r>
            <a:r>
              <a:rPr sz="1100" b="0" i="0">
                <a:solidFill>
                  <a:srgbClr val="000000"/>
                </a:solidFill>
              </a:rPr>
              <a:t> skills captured in one place we can search, </a:t>
            </a:r>
            <a:r>
              <a:rPr sz="1100" b="1" i="0">
                <a:solidFill>
                  <a:srgbClr val="000000"/>
                </a:solidFill>
              </a:rPr>
              <a:t>so we can</a:t>
            </a:r>
            <a:r>
              <a:rPr sz="1100" b="0" i="0">
                <a:solidFill>
                  <a:srgbClr val="000000"/>
                </a:solidFill>
              </a:rPr>
              <a:t> find the right person for a role across practices. </a:t>
            </a:r>
            <a:r>
              <a:rPr sz="1100" b="1" i="0">
                <a:solidFill>
                  <a:srgbClr val="000000"/>
                </a:solidFill>
              </a:rPr>
              <a:t>The outcome:</a:t>
            </a:r>
            <a:r>
              <a:rPr sz="1100" b="0" i="0">
                <a:solidFill>
                  <a:srgbClr val="000000"/>
                </a:solidFill>
              </a:rPr>
              <a:t> one trusted view of skills instead of separate sources.</a:t>
            </a:r>
          </a:p>
          <a:p>
            <a:pPr algn="l">
              <a:spcAft>
                <a:spcPts val="500"/>
              </a:spcAft>
            </a:pPr>
            <a:r>
              <a:rPr sz="11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000" b="1" i="0">
                <a:solidFill>
                  <a:srgbClr val="000000"/>
                </a:solidFill>
              </a:rPr>
              <a:t>Pillar 3: One place to look</a:t>
            </a:r>
          </a:p>
          <a:p>
            <a:pPr algn="l">
              <a:spcAft>
                <a:spcPts val="500"/>
              </a:spcAft>
            </a:pPr>
            <a:r>
              <a:rPr sz="1000" b="1" i="0">
                <a:solidFill>
                  <a:srgbClr val="000000"/>
                </a:solidFill>
              </a:rPr>
              <a:t>We need</a:t>
            </a:r>
            <a:r>
              <a:rPr sz="1000" b="0" i="0">
                <a:solidFill>
                  <a:srgbClr val="000000"/>
                </a:solidFill>
              </a:rPr>
              <a:t> what we check today brought into one connected view, </a:t>
            </a:r>
            <a:r>
              <a:rPr sz="1000" b="1" i="0">
                <a:solidFill>
                  <a:srgbClr val="000000"/>
                </a:solidFill>
              </a:rPr>
              <a:t>so we can</a:t>
            </a:r>
            <a:r>
              <a:rPr sz="1000" b="0" i="0">
                <a:solidFill>
                  <a:srgbClr val="000000"/>
                </a:solidFill>
              </a:rPr>
              <a:t> move from insight to action with fewer places to look. </a:t>
            </a:r>
            <a:r>
              <a:rPr sz="1000" b="1" i="0">
                <a:solidFill>
                  <a:srgbClr val="000000"/>
                </a:solidFill>
              </a:rPr>
              <a:t>The outcome:</a:t>
            </a:r>
            <a:r>
              <a:rPr sz="1000" b="0" i="0">
                <a:solidFill>
                  <a:srgbClr val="000000"/>
                </a:solidFill>
              </a:rPr>
              <a:t> insight that points to the next move.</a:t>
            </a:r>
          </a:p>
          <a:p>
            <a:pPr algn="l">
              <a:spcAft>
                <a:spcPts val="500"/>
              </a:spcAft>
            </a:pPr>
            <a:r>
              <a:rPr sz="10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Extentia's Organic Revenue</a:t>
            </a:r>
          </a:p>
          <a:p>
            <a:pPr algn="l">
              <a:spcAft>
                <a:spcPts val="500"/>
              </a:spcAft>
            </a:pPr>
            <a:r>
              <a:rPr sz="115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Alias Creation</a:t>
            </a:r>
          </a:p>
          <a:p>
            <a:pPr algn="l">
              <a:spcAft>
                <a:spcPts val="500"/>
              </a:spcAft>
            </a:pPr>
            <a:r>
              <a:rPr sz="1150" b="1" i="0">
                <a:solidFill>
                  <a:srgbClr val="000000"/>
                </a:solidFill>
              </a:rPr>
              <a:t>DDM_Opportunity@merkle.com</a:t>
            </a:r>
            <a:r>
              <a:rPr sz="1150" b="0" i="0">
                <a:solidFill>
                  <a:srgbClr val="000000"/>
                </a:solidFill>
              </a:rPr>
              <a:t> and </a:t>
            </a:r>
            <a:r>
              <a:rPr sz="1150" b="1" i="0">
                <a:solidFill>
                  <a:srgbClr val="000000"/>
                </a:solidFill>
              </a:rPr>
              <a:t>DBT_Opportunity@merkle.com</a:t>
            </a:r>
            <a:r>
              <a:rPr sz="115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Adoption</a:t>
            </a:r>
          </a:p>
          <a:p>
            <a:pPr algn="l" marL="171450" indent="-171450">
              <a:spcAft>
                <a:spcPts val="500"/>
              </a:spcAft>
              <a:buFont typeface="Arial"/>
              <a:buChar char="•"/>
            </a:pPr>
            <a:r>
              <a:rPr sz="1050" b="0" i="0">
                <a:solidFill>
                  <a:srgbClr val="000000"/>
                </a:solidFill>
              </a:rPr>
              <a:t>C&amp;C has been informed of the alias and process</a:t>
            </a:r>
          </a:p>
          <a:p>
            <a:pPr algn="l" marL="171450" indent="-171450">
              <a:spcAft>
                <a:spcPts val="500"/>
              </a:spcAft>
              <a:buFont typeface="Arial"/>
              <a:buChar char="•"/>
            </a:pPr>
            <a:r>
              <a:rPr sz="105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Leadership Ask</a:t>
            </a:r>
          </a:p>
          <a:p>
            <a:pPr algn="l" marL="171450" indent="-171450">
              <a:spcAft>
                <a:spcPts val="500"/>
              </a:spcAft>
              <a:buFont typeface="Arial"/>
              <a:buChar char="•"/>
            </a:pPr>
            <a:r>
              <a:rPr sz="115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1150" b="1" i="0">
                <a:solidFill>
                  <a:srgbClr val="000000"/>
                </a:solidFill>
              </a:rPr>
              <a:t>RACI Updates</a:t>
            </a:r>
          </a:p>
          <a:p>
            <a:pPr algn="l">
              <a:spcAft>
                <a:spcPts val="500"/>
              </a:spcAft>
            </a:pPr>
            <a:r>
              <a:rPr sz="115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PHASE 2 · Execution on Changes: 11/2 – 12/24</a:t>
            </a:r>
          </a:p>
          <a:p>
            <a:pPr algn="l">
              <a:spcBef>
                <a:spcPts val="400"/>
              </a:spcBef>
              <a:spcAft>
                <a:spcPts val="500"/>
              </a:spcAft>
            </a:pPr>
            <a:r>
              <a:rPr sz="1150" b="1" i="0">
                <a:solidFill>
                  <a:srgbClr val="000000"/>
                </a:solidFill>
              </a:rPr>
              <a:t>Open Reqs</a:t>
            </a:r>
          </a:p>
          <a:p>
            <a:pPr algn="l">
              <a:spcAft>
                <a:spcPts val="500"/>
              </a:spcAft>
            </a:pPr>
            <a:r>
              <a:rPr sz="11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1150" b="1" i="0">
                <a:solidFill>
                  <a:srgbClr val="000000"/>
                </a:solidFill>
              </a:rPr>
              <a:t>Create Transition Plan</a:t>
            </a:r>
          </a:p>
          <a:p>
            <a:pPr algn="l">
              <a:spcAft>
                <a:spcPts val="500"/>
              </a:spcAft>
            </a:pPr>
            <a:r>
              <a:rPr sz="11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5 · UP TO 8 STEPS · TEMPLATE · SUPPORTING DETAIL</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Delete any step you do not need.]</a:t>
            </a:r>
          </a:p>
        </p:txBody>
      </p:sp>
      <p:sp>
        <p:nvSpPr>
          <p:cNvPr id="8" name="Rounded Rectangle 7"/>
          <p:cNvSpPr/>
          <p:nvPr/>
        </p:nvSpPr>
        <p:spPr>
          <a:xfrm>
            <a:off x="457200" y="162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9" name="TextBox 8"/>
          <p:cNvSpPr txBox="1"/>
          <p:nvPr/>
        </p:nvSpPr>
        <p:spPr>
          <a:xfrm>
            <a:off x="2378640" y="167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1</a:t>
            </a:r>
          </a:p>
        </p:txBody>
      </p:sp>
      <p:sp>
        <p:nvSpPr>
          <p:cNvPr id="10" name="Rounded Rectangle 9"/>
          <p:cNvSpPr/>
          <p:nvPr/>
        </p:nvSpPr>
        <p:spPr>
          <a:xfrm>
            <a:off x="3301600" y="162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11" name="TextBox 10"/>
          <p:cNvSpPr txBox="1"/>
          <p:nvPr/>
        </p:nvSpPr>
        <p:spPr>
          <a:xfrm>
            <a:off x="5223040" y="167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2</a:t>
            </a:r>
          </a:p>
        </p:txBody>
      </p:sp>
      <p:sp>
        <p:nvSpPr>
          <p:cNvPr id="12" name="Rounded Rectangle 11"/>
          <p:cNvSpPr/>
          <p:nvPr/>
        </p:nvSpPr>
        <p:spPr>
          <a:xfrm>
            <a:off x="6146000" y="162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13" name="TextBox 12"/>
          <p:cNvSpPr txBox="1"/>
          <p:nvPr/>
        </p:nvSpPr>
        <p:spPr>
          <a:xfrm>
            <a:off x="8067440" y="167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3</a:t>
            </a:r>
          </a:p>
        </p:txBody>
      </p:sp>
      <p:sp>
        <p:nvSpPr>
          <p:cNvPr id="14" name="Rounded Rectangle 13"/>
          <p:cNvSpPr/>
          <p:nvPr/>
        </p:nvSpPr>
        <p:spPr>
          <a:xfrm>
            <a:off x="8990400" y="162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15" name="TextBox 14"/>
          <p:cNvSpPr txBox="1"/>
          <p:nvPr/>
        </p:nvSpPr>
        <p:spPr>
          <a:xfrm>
            <a:off x="10911840" y="167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4</a:t>
            </a:r>
          </a:p>
        </p:txBody>
      </p:sp>
      <p:sp>
        <p:nvSpPr>
          <p:cNvPr id="16" name="Rounded Rectangle 15"/>
          <p:cNvSpPr/>
          <p:nvPr/>
        </p:nvSpPr>
        <p:spPr>
          <a:xfrm>
            <a:off x="457200" y="397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17" name="TextBox 16"/>
          <p:cNvSpPr txBox="1"/>
          <p:nvPr/>
        </p:nvSpPr>
        <p:spPr>
          <a:xfrm>
            <a:off x="2378640" y="402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5</a:t>
            </a:r>
          </a:p>
        </p:txBody>
      </p:sp>
      <p:sp>
        <p:nvSpPr>
          <p:cNvPr id="18" name="Rounded Rectangle 17"/>
          <p:cNvSpPr/>
          <p:nvPr/>
        </p:nvSpPr>
        <p:spPr>
          <a:xfrm>
            <a:off x="3301600" y="397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19" name="TextBox 18"/>
          <p:cNvSpPr txBox="1"/>
          <p:nvPr/>
        </p:nvSpPr>
        <p:spPr>
          <a:xfrm>
            <a:off x="5223040" y="402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6</a:t>
            </a:r>
          </a:p>
        </p:txBody>
      </p:sp>
      <p:sp>
        <p:nvSpPr>
          <p:cNvPr id="20" name="Rounded Rectangle 19"/>
          <p:cNvSpPr/>
          <p:nvPr/>
        </p:nvSpPr>
        <p:spPr>
          <a:xfrm>
            <a:off x="6146000" y="397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21" name="TextBox 20"/>
          <p:cNvSpPr txBox="1"/>
          <p:nvPr/>
        </p:nvSpPr>
        <p:spPr>
          <a:xfrm>
            <a:off x="8067440" y="402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7</a:t>
            </a:r>
          </a:p>
        </p:txBody>
      </p:sp>
      <p:sp>
        <p:nvSpPr>
          <p:cNvPr id="22" name="Rounded Rectangle 21"/>
          <p:cNvSpPr/>
          <p:nvPr/>
        </p:nvSpPr>
        <p:spPr>
          <a:xfrm>
            <a:off x="8990400" y="3977200"/>
            <a:ext cx="2744400" cy="22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150" b="0" i="1">
                <a:solidFill>
                  <a:srgbClr val="60607D"/>
                </a:solidFill>
              </a:rPr>
              <a:t>[Step name]</a:t>
            </a:r>
          </a:p>
          <a:p>
            <a:pPr algn="l">
              <a:spcAft>
                <a:spcPts val="500"/>
              </a:spcAft>
            </a:pPr>
            <a:r>
              <a:rPr sz="1150" b="0" i="1">
                <a:solidFill>
                  <a:srgbClr val="60607D"/>
                </a:solidFill>
              </a:rPr>
              <a:t>[Put here: what we do in this step, in a sentence or two.]</a:t>
            </a:r>
          </a:p>
        </p:txBody>
      </p:sp>
      <p:sp>
        <p:nvSpPr>
          <p:cNvPr id="23" name="TextBox 22"/>
          <p:cNvSpPr txBox="1"/>
          <p:nvPr/>
        </p:nvSpPr>
        <p:spPr>
          <a:xfrm>
            <a:off x="10911840" y="4022920"/>
            <a:ext cx="731520" cy="731520"/>
          </a:xfrm>
          <a:prstGeom prst="rect">
            <a:avLst/>
          </a:prstGeom>
          <a:noFill/>
        </p:spPr>
        <p:txBody>
          <a:bodyPr wrap="square" lIns="0" rIns="0" tIns="0" bIns="0" anchor="t">
            <a:spAutoFit/>
          </a:bodyPr>
          <a:lstStyle/>
          <a:p>
            <a:pPr algn="r">
              <a:spcBef>
                <a:spcPts val="400"/>
              </a:spcBef>
              <a:spcAft>
                <a:spcPts val="500"/>
              </a:spcAft>
            </a:pPr>
            <a:r>
              <a:rPr sz="4000" b="1" i="0">
                <a:solidFill>
                  <a:srgbClr val="D6D6DF"/>
                </a:solidFill>
              </a:rPr>
              <a:t>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