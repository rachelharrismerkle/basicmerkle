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28" r:id="rId103"/>
    <p:sldId id="329" r:id="rId104"/>
    <p:sldId id="262" r:id="rId38"/>
    <p:sldId id="2147483647" r:id="rId19"/>
    <p:sldId id="256" r:id="rId18"/>
    <p:sldId id="265" r:id="rId17"/>
    <p:sldId id="266" r:id="rId41"/>
    <p:sldId id="268" r:id="rId43"/>
    <p:sldId id="267" r:id="rId42"/>
    <p:sldId id="257" r:id="rId20"/>
    <p:sldId id="330" r:id="rId105"/>
    <p:sldId id="263" r:id="rId39"/>
    <p:sldId id="258" r:id="rId21"/>
    <p:sldId id="269" r:id="rId44"/>
    <p:sldId id="270" r:id="rId45"/>
    <p:sldId id="271" r:id="rId46"/>
    <p:sldId id="259" r:id="rId22"/>
    <p:sldId id="331" r:id="rId106"/>
    <p:sldId id="272" r:id="rId47"/>
    <p:sldId id="273" r:id="rId48"/>
    <p:sldId id="274" r:id="rId49"/>
    <p:sldId id="275" r:id="rId50"/>
    <p:sldId id="276" r:id="rId51"/>
    <p:sldId id="277" r:id="rId52"/>
    <p:sldId id="332" r:id="rId107"/>
    <p:sldId id="278" r:id="rId53"/>
    <p:sldId id="279" r:id="rId54"/>
    <p:sldId id="280" r:id="rId55"/>
    <p:sldId id="281" r:id="rId56"/>
    <p:sldId id="282" r:id="rId57"/>
    <p:sldId id="283" r:id="rId58"/>
    <p:sldId id="284" r:id="rId59"/>
    <p:sldId id="285" r:id="rId60"/>
    <p:sldId id="333" r:id="rId108"/>
    <p:sldId id="286" r:id="rId61"/>
    <p:sldId id="287" r:id="rId62"/>
    <p:sldId id="288" r:id="rId63"/>
    <p:sldId id="289" r:id="rId64"/>
    <p:sldId id="290" r:id="rId65"/>
    <p:sldId id="291" r:id="rId66"/>
    <p:sldId id="292" r:id="rId67"/>
    <p:sldId id="334" r:id="rId109"/>
    <p:sldId id="264" r:id="rId40"/>
    <p:sldId id="260" r:id="rId23"/>
    <p:sldId id="293" r:id="rId68"/>
    <p:sldId id="294" r:id="rId69"/>
    <p:sldId id="295" r:id="rId70"/>
    <p:sldId id="261" r:id="rId24"/>
    <p:sldId id="335" r:id="rId110"/>
    <p:sldId id="296" r:id="rId71"/>
    <p:sldId id="297" r:id="rId72"/>
    <p:sldId id="298" r:id="rId73"/>
    <p:sldId id="299" r:id="rId74"/>
    <p:sldId id="300" r:id="rId75"/>
    <p:sldId id="301" r:id="rId76"/>
    <p:sldId id="336" r:id="rId111"/>
    <p:sldId id="302" r:id="rId77"/>
    <p:sldId id="303" r:id="rId78"/>
    <p:sldId id="304" r:id="rId79"/>
    <p:sldId id="305" r:id="rId80"/>
    <p:sldId id="306" r:id="rId81"/>
    <p:sldId id="307" r:id="rId82"/>
    <p:sldId id="337" r:id="rId112"/>
    <p:sldId id="308" r:id="rId83"/>
    <p:sldId id="309" r:id="rId84"/>
    <p:sldId id="310" r:id="rId85"/>
    <p:sldId id="311" r:id="rId86"/>
    <p:sldId id="312" r:id="rId87"/>
    <p:sldId id="313" r:id="rId88"/>
    <p:sldId id="314" r:id="rId89"/>
    <p:sldId id="315" r:id="rId90"/>
    <p:sldId id="316" r:id="rId91"/>
    <p:sldId id="317" r:id="rId92"/>
    <p:sldId id="318" r:id="rId93"/>
    <p:sldId id="319" r:id="rId94"/>
    <p:sldId id="320" r:id="rId95"/>
    <p:sldId id="321" r:id="rId96"/>
    <p:sldId id="322" r:id="rId97"/>
    <p:sldId id="323" r:id="rId98"/>
    <p:sldId id="324" r:id="rId99"/>
    <p:sldId id="325" r:id="rId100"/>
    <p:sldId id="326" r:id="rId101"/>
    <p:sldId id="327" r:id="rId102"/>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1BA2188B-E88F-4098-A1F0-CDD44283BA4A}">
          <p14:sldIdLst>
            <p14:sldId id="328"/>
            <p14:sldId id="329"/>
          </p14:sldIdLst>
        </p14:section>
        <p14:section name="Deal-to-Delivery Playbook" id="{AC1A6E78-53D0-480E-B8AF-1A774DFC5ABA}">
          <p14:sldIdLst>
            <p14:sldId id="262"/>
            <p14:sldId id="2147483647"/>
            <p14:sldId id="256"/>
            <p14:sldId id="265"/>
            <p14:sldId id="266"/>
            <p14:sldId id="268"/>
            <p14:sldId id="267"/>
            <p14:sldId id="257"/>
            <p14:sldId id="330"/>
          </p14:sldIdLst>
        </p14:section>
        <p14:section name="Accountability Framework" id="{79C55AEA-ECCA-40EC-807C-BFE77DA7CDE2}">
          <p14:sldIdLst>
            <p14:sldId id="263"/>
            <p14:sldId id="258"/>
            <p14:sldId id="269"/>
            <p14:sldId id="270"/>
            <p14:sldId id="271"/>
            <p14:sldId id="259"/>
            <p14:sldId id="331"/>
          </p14:sldIdLst>
        </p14:section>
        <p14:section name="Leadership Dashboards" id="{1C0B907C-13B5-4150-883C-37C2D10356EF}">
          <p14:sldIdLst>
            <p14:sldId id="272"/>
            <p14:sldId id="273"/>
            <p14:sldId id="274"/>
            <p14:sldId id="275"/>
            <p14:sldId id="276"/>
            <p14:sldId id="277"/>
            <p14:sldId id="332"/>
          </p14:sldIdLst>
        </p14:section>
        <p14:section name="Capacity Planning &amp; Romulus" id="{2D85660C-D285-45EA-8029-EBD6D63F7273}">
          <p14:sldIdLst>
            <p14:sldId id="278"/>
            <p14:sldId id="279"/>
            <p14:sldId id="280"/>
            <p14:sldId id="281"/>
            <p14:sldId id="282"/>
            <p14:sldId id="283"/>
            <p14:sldId id="284"/>
            <p14:sldId id="285"/>
            <p14:sldId id="333"/>
          </p14:sldIdLst>
        </p14:section>
        <p14:section name="DGS Leadership Transition" id="{62CE63AD-C18C-4054-9B10-C8A48E1DC145}">
          <p14:sldIdLst>
            <p14:sldId id="286"/>
            <p14:sldId id="287"/>
            <p14:sldId id="288"/>
            <p14:sldId id="289"/>
            <p14:sldId id="290"/>
            <p14:sldId id="291"/>
            <p14:sldId id="292"/>
            <p14:sldId id="334"/>
          </p14:sldIdLst>
        </p14:section>
        <p14:section name="Intake Updates" id="{F507A6FB-5D68-42A3-874B-454C6499E22B}">
          <p14:sldIdLst>
            <p14:sldId id="264"/>
            <p14:sldId id="260"/>
            <p14:sldId id="293"/>
            <p14:sldId id="294"/>
            <p14:sldId id="295"/>
            <p14:sldId id="261"/>
            <p14:sldId id="335"/>
          </p14:sldIdLst>
        </p14:section>
        <p14:section name="Ops Transformation: Rebuild Scoping &amp; Staffing" id="{057743AA-2FEE-48F9-85E9-FD468728F4FF}">
          <p14:sldIdLst>
            <p14:sldId id="296"/>
            <p14:sldId id="297"/>
            <p14:sldId id="298"/>
            <p14:sldId id="299"/>
            <p14:sldId id="300"/>
            <p14:sldId id="301"/>
            <p14:sldId id="336"/>
          </p14:sldIdLst>
        </p14:section>
        <p14:section name="Earlier Delivery &amp; Talent in Pursuits" id="{734871B4-B5C3-40EE-815F-9A4236E57883}">
          <p14:sldIdLst>
            <p14:sldId id="302"/>
            <p14:sldId id="303"/>
            <p14:sldId id="304"/>
            <p14:sldId id="305"/>
            <p14:sldId id="306"/>
            <p14:sldId id="307"/>
            <p14:sldId id="337"/>
          </p14:sldIdLst>
        </p14:section>
        <p14:section name="Supporting-detail layouts" id="{882F6A01-48F5-4FFE-A867-BE6479E9F035}">
          <p14:sldIdLst>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 Id="rId98" Type="http://schemas.openxmlformats.org/officeDocument/2006/relationships/slide" Target="slides/slide69.xml"/><Relationship Id="rId99" Type="http://schemas.openxmlformats.org/officeDocument/2006/relationships/slide" Target="slides/slide70.xml"/><Relationship Id="rId100" Type="http://schemas.openxmlformats.org/officeDocument/2006/relationships/slide" Target="slides/slide71.xml"/><Relationship Id="rId101" Type="http://schemas.openxmlformats.org/officeDocument/2006/relationships/slide" Target="slides/slide72.xml"/><Relationship Id="rId102" Type="http://schemas.openxmlformats.org/officeDocument/2006/relationships/slide" Target="slides/slide73.xml"/><Relationship Id="rId103" Type="http://schemas.openxmlformats.org/officeDocument/2006/relationships/slide" Target="slides/slide74.xml"/><Relationship Id="rId104" Type="http://schemas.openxmlformats.org/officeDocument/2006/relationships/slide" Target="slides/slide75.xml"/><Relationship Id="rId105" Type="http://schemas.openxmlformats.org/officeDocument/2006/relationships/slide" Target="slides/slide76.xml"/><Relationship Id="rId106" Type="http://schemas.openxmlformats.org/officeDocument/2006/relationships/slide" Target="slides/slide77.xml"/><Relationship Id="rId107" Type="http://schemas.openxmlformats.org/officeDocument/2006/relationships/slide" Target="slides/slide78.xml"/><Relationship Id="rId108" Type="http://schemas.openxmlformats.org/officeDocument/2006/relationships/slide" Target="slides/slide79.xml"/><Relationship Id="rId109" Type="http://schemas.openxmlformats.org/officeDocument/2006/relationships/slide" Target="slides/slide80.xml"/><Relationship Id="rId110" Type="http://schemas.openxmlformats.org/officeDocument/2006/relationships/slide" Target="slides/slide81.xml"/><Relationship Id="rId111" Type="http://schemas.openxmlformats.org/officeDocument/2006/relationships/slide" Target="slides/slide82.xml"/><Relationship Id="rId112" Type="http://schemas.openxmlformats.org/officeDocument/2006/relationships/slide" Target="slides/slide8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4.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38.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9.jpg"/><Relationship Id="rId4" Type="http://schemas.openxmlformats.org/officeDocument/2006/relationships/image" Target="../media/image40.jpg"/><Relationship Id="rId5" Type="http://schemas.openxmlformats.org/officeDocument/2006/relationships/image" Target="../media/image41.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2.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3.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 Id="rId6" Type="http://schemas.openxmlformats.org/officeDocument/2006/relationships/image" Target="../media/image48.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9.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0.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Chris McComas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4" name="Rounded Rectangle 51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4" name="Rounded Rectangle 52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Deana Derocha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4" name="Rounded Rectangle 53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4577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John</a:t>
            </a:r>
          </a:p>
        </p:txBody>
      </p:sp>
      <p:sp>
        <p:nvSpPr>
          <p:cNvPr id="527" name="Rounded Rectangle 526"/>
          <p:cNvSpPr/>
          <p:nvPr/>
        </p:nvSpPr>
        <p:spPr>
          <a:xfrm>
            <a:off x="1207530" y="5791872"/>
            <a:ext cx="517289"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30" name="Rounded Rectangle 529"/>
          <p:cNvSpPr/>
          <p:nvPr/>
        </p:nvSpPr>
        <p:spPr>
          <a:xfrm>
            <a:off x="7100030" y="5791872"/>
            <a:ext cx="10533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Delivery Leads</a:t>
            </a:r>
          </a:p>
        </p:txBody>
      </p:sp>
      <p:sp>
        <p:nvSpPr>
          <p:cNvPr id="531" name="Rounded Rectangle 530"/>
          <p:cNvSpPr/>
          <p:nvPr/>
        </p:nvSpPr>
        <p:spPr>
          <a:xfrm>
            <a:off x="8235714"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32" name="Rounded Rectangle 531"/>
          <p:cNvSpPr/>
          <p:nvPr/>
        </p:nvSpPr>
        <p:spPr>
          <a:xfrm>
            <a:off x="6381312" y="6102768"/>
            <a:ext cx="1708621"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Client &amp; Commercial teams</a:t>
            </a:r>
          </a:p>
        </p:txBody>
      </p:sp>
      <p:sp>
        <p:nvSpPr>
          <p:cNvPr id="533" name="Rounded Rectangle 532"/>
          <p:cNvSpPr/>
          <p:nvPr/>
        </p:nvSpPr>
        <p:spPr>
          <a:xfrm>
            <a:off x="8172229" y="6102768"/>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Defining Essential Roles</a:t>
            </a:r>
          </a:p>
          <a:p>
            <a:pPr algn="l">
              <a:spcAft>
                <a:spcPts val="500"/>
              </a:spcAft>
            </a:pPr>
            <a:r>
              <a:rPr sz="8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50" b="1" i="0">
                <a:solidFill>
                  <a:srgbClr val="000000"/>
                </a:solidFill>
              </a:rPr>
              <a:t>Change Management will be Key</a:t>
            </a:r>
          </a:p>
          <a:p>
            <a:pPr algn="l">
              <a:spcAft>
                <a:spcPts val="500"/>
              </a:spcAft>
            </a:pPr>
            <a:r>
              <a:rPr sz="85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526" name="Oval 52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6" name="Oval 53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7" name="Rounded Rectangle 53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8" name="Oval 53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539" name="Rounded Rectangle 53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540" name="Rounded Rectangle 53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1" name="Rounded Rectangle 540"/>
          <p:cNvSpPr/>
          <p:nvPr/>
        </p:nvSpPr>
        <p:spPr>
          <a:xfrm>
            <a:off x="6675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42" name="Rounded Rectangle 541"/>
          <p:cNvSpPr/>
          <p:nvPr/>
        </p:nvSpPr>
        <p:spPr>
          <a:xfrm>
            <a:off x="1386230"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43" name="Rounded Rectangle 54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4" name="Rounded Rectangle 54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5" name="Rounded Rectangle 54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20" name="Rounded Rectangle 51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21" name="Rounded Rectangle 52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22" name="Rounded Rectangle 52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 Dave Brabec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900" b="1" i="0">
                <a:solidFill>
                  <a:srgbClr val="000000"/>
                </a:solidFill>
              </a:rPr>
              <a:t>Pillar 1: Know who we have</a:t>
            </a:r>
          </a:p>
          <a:p>
            <a:pPr algn="l">
              <a:spcAft>
                <a:spcPts val="500"/>
              </a:spcAft>
            </a:pPr>
            <a:r>
              <a:rPr sz="900" b="1" i="0">
                <a:solidFill>
                  <a:srgbClr val="000000"/>
                </a:solidFill>
              </a:rPr>
              <a:t>We need</a:t>
            </a:r>
            <a:r>
              <a:rPr sz="900" b="0" i="0">
                <a:solidFill>
                  <a:srgbClr val="000000"/>
                </a:solidFill>
              </a:rPr>
              <a:t> skills captured in one place we can search, </a:t>
            </a:r>
            <a:r>
              <a:rPr sz="900" b="1" i="0">
                <a:solidFill>
                  <a:srgbClr val="000000"/>
                </a:solidFill>
              </a:rPr>
              <a:t>so we can</a:t>
            </a:r>
            <a:r>
              <a:rPr sz="900" b="0" i="0">
                <a:solidFill>
                  <a:srgbClr val="000000"/>
                </a:solidFill>
              </a:rPr>
              <a:t> find the right person for a role across practices. </a:t>
            </a:r>
            <a:r>
              <a:rPr sz="900" b="1" i="0">
                <a:solidFill>
                  <a:srgbClr val="000000"/>
                </a:solidFill>
              </a:rPr>
              <a:t>The outcome:</a:t>
            </a:r>
            <a:r>
              <a:rPr sz="900" b="0" i="0">
                <a:solidFill>
                  <a:srgbClr val="000000"/>
                </a:solidFill>
              </a:rPr>
              <a:t> one trusted view of skills instead of separate sources.</a:t>
            </a:r>
          </a:p>
          <a:p>
            <a:pPr algn="l">
              <a:spcAft>
                <a:spcPts val="500"/>
              </a:spcAft>
            </a:pPr>
            <a:r>
              <a:rPr sz="9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900" b="1" i="0">
                <a:solidFill>
                  <a:srgbClr val="000000"/>
                </a:solidFill>
              </a:rPr>
              <a:t>Pillar 3: One place to look</a:t>
            </a:r>
          </a:p>
          <a:p>
            <a:pPr algn="l">
              <a:spcAft>
                <a:spcPts val="500"/>
              </a:spcAft>
            </a:pPr>
            <a:r>
              <a:rPr sz="900" b="1" i="0">
                <a:solidFill>
                  <a:srgbClr val="000000"/>
                </a:solidFill>
              </a:rPr>
              <a:t>We need</a:t>
            </a:r>
            <a:r>
              <a:rPr sz="900" b="0" i="0">
                <a:solidFill>
                  <a:srgbClr val="000000"/>
                </a:solidFill>
              </a:rPr>
              <a:t> what we check today brought into one connected view, </a:t>
            </a:r>
            <a:r>
              <a:rPr sz="900" b="1" i="0">
                <a:solidFill>
                  <a:srgbClr val="000000"/>
                </a:solidFill>
              </a:rPr>
              <a:t>so we can</a:t>
            </a:r>
            <a:r>
              <a:rPr sz="900" b="0" i="0">
                <a:solidFill>
                  <a:srgbClr val="000000"/>
                </a:solidFill>
              </a:rPr>
              <a:t> move from insight to action with fewer places to look. </a:t>
            </a:r>
            <a:r>
              <a:rPr sz="900" b="1" i="0">
                <a:solidFill>
                  <a:srgbClr val="000000"/>
                </a:solidFill>
              </a:rPr>
              <a:t>The outcome:</a:t>
            </a:r>
            <a:r>
              <a:rPr sz="900" b="0" i="0">
                <a:solidFill>
                  <a:srgbClr val="000000"/>
                </a:solidFill>
              </a:rPr>
              <a:t> insight that points to the next move.</a:t>
            </a:r>
          </a:p>
          <a:p>
            <a:pPr algn="l">
              <a:spcAft>
                <a:spcPts val="500"/>
              </a:spcAft>
            </a:pPr>
            <a:r>
              <a:rPr sz="9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5" name="Rounded Rectangle 24"/>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8" name="Rounded Rectangle 27"/>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Extentia's Organic Revenue</a:t>
            </a:r>
          </a:p>
          <a:p>
            <a:pPr algn="l">
              <a:spcAft>
                <a:spcPts val="500"/>
              </a:spcAft>
            </a:pPr>
            <a:r>
              <a:rPr sz="80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Alias Creation</a:t>
            </a:r>
          </a:p>
          <a:p>
            <a:pPr algn="l">
              <a:spcAft>
                <a:spcPts val="500"/>
              </a:spcAft>
            </a:pPr>
            <a:r>
              <a:rPr sz="800" b="1" i="0">
                <a:solidFill>
                  <a:srgbClr val="000000"/>
                </a:solidFill>
              </a:rPr>
              <a:t>DDM_Opportunity@merkle.com</a:t>
            </a:r>
            <a:r>
              <a:rPr sz="800" b="0" i="0">
                <a:solidFill>
                  <a:srgbClr val="000000"/>
                </a:solidFill>
              </a:rPr>
              <a:t> and </a:t>
            </a:r>
            <a:r>
              <a:rPr sz="800" b="1" i="0">
                <a:solidFill>
                  <a:srgbClr val="000000"/>
                </a:solidFill>
              </a:rPr>
              <a:t>DBT_Opportunity@merkle.com</a:t>
            </a:r>
            <a:r>
              <a:rPr sz="80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Adoption</a:t>
            </a:r>
          </a:p>
          <a:p>
            <a:pPr algn="l" marL="171450" indent="-171450">
              <a:spcAft>
                <a:spcPts val="500"/>
              </a:spcAft>
              <a:buFont typeface="Arial"/>
              <a:buChar char="•"/>
            </a:pPr>
            <a:r>
              <a:rPr sz="800" b="0" i="0">
                <a:solidFill>
                  <a:srgbClr val="000000"/>
                </a:solidFill>
              </a:rPr>
              <a:t>C&amp;C has been informed of the alias and process</a:t>
            </a:r>
          </a:p>
          <a:p>
            <a:pPr algn="l" marL="171450" indent="-171450">
              <a:spcAft>
                <a:spcPts val="500"/>
              </a:spcAft>
              <a:buFont typeface="Arial"/>
              <a:buChar char="•"/>
            </a:pPr>
            <a:r>
              <a:rPr sz="80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Leadership Ask</a:t>
            </a:r>
          </a:p>
          <a:p>
            <a:pPr algn="l" marL="171450" indent="-171450">
              <a:spcAft>
                <a:spcPts val="500"/>
              </a:spcAft>
              <a:buFont typeface="Arial"/>
              <a:buChar char="•"/>
            </a:pPr>
            <a:r>
              <a:rPr sz="80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00" b="1" i="0">
                <a:solidFill>
                  <a:srgbClr val="000000"/>
                </a:solidFill>
              </a:rPr>
              <a:t>RACI Updates</a:t>
            </a:r>
          </a:p>
          <a:p>
            <a:pPr algn="l">
              <a:spcAft>
                <a:spcPts val="500"/>
              </a:spcAft>
            </a:pPr>
            <a:r>
              <a:rPr sz="80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4" name="Rounded Rectangle 543"/>
          <p:cNvSpPr/>
          <p:nvPr/>
        </p:nvSpPr>
        <p:spPr>
          <a:xfrm>
            <a:off x="2101029"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7" name="Rounded Rectangle 546"/>
          <p:cNvSpPr/>
          <p:nvPr/>
        </p:nvSpPr>
        <p:spPr>
          <a:xfrm>
            <a:off x="7755263"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30" name="Rounded Rectangle 52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31" name="Rounded Rectangle 53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32" name="Rounded Rectangle 53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Dave Brabec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PHASE 2 · Execution on Changes: 11/2 – 12/24</a:t>
            </a:r>
          </a:p>
          <a:p>
            <a:pPr algn="l">
              <a:spcBef>
                <a:spcPts val="400"/>
              </a:spcBef>
              <a:spcAft>
                <a:spcPts val="500"/>
              </a:spcAft>
            </a:pPr>
            <a:r>
              <a:rPr sz="850" b="1" i="0">
                <a:solidFill>
                  <a:srgbClr val="000000"/>
                </a:solidFill>
              </a:rPr>
              <a:t>Open Reqs</a:t>
            </a:r>
          </a:p>
          <a:p>
            <a:pPr algn="l">
              <a:spcAft>
                <a:spcPts val="500"/>
              </a:spcAft>
            </a:pPr>
            <a:r>
              <a:rPr sz="8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850" b="1" i="0">
                <a:solidFill>
                  <a:srgbClr val="000000"/>
                </a:solidFill>
              </a:rPr>
              <a:t>Create Transition Plan</a:t>
            </a:r>
          </a:p>
          <a:p>
            <a:pPr algn="l">
              <a:spcAft>
                <a:spcPts val="500"/>
              </a:spcAft>
            </a:pPr>
            <a:r>
              <a:rPr sz="8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0" name="Rounded Rectangle 1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3" name="Rounded Rectangle 2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COLUMNS · SUPPORTING DETAIL</a:t>
            </a:r>
          </a:p>
        </p:txBody>
      </p:sp>
      <p:sp>
        <p:nvSpPr>
          <p:cNvPr id="7" name="Rounded Rectangle 6"/>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1 STEP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ectangle 8"/>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0" name="Oval 9"/>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1" name="Rounded Rectangle 10"/>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2" name="Oval 11"/>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4" name="Rounded Rectangle 23"/>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5" name="Rounded Rectangle 24"/>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8" name="Rounded Rectangle 27"/>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9" name="Rounded Rectangle 28"/>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ectangle 9"/>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1" name="Oval 10"/>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5" name="Rounded Rectangle 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6" name="Rounded Rectangle 25"/>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9" name="Rounded Rectangle 28"/>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ectangle 10"/>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2" name="Oval 11"/>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6" name="Rounded Rectangle 2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7" name="Rounded Rectangle 26"/>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0" name="Rounded Rectangle 29"/>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ectangle 12"/>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4" name="Oval 13"/>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8" name="Rounded Rectangle 2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9" name="Rounded Rectangle 2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2" name="Rounded Rectangle 3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6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353466"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4249732"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6145998"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8042264"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ounded Rectangle 12"/>
          <p:cNvSpPr/>
          <p:nvPr/>
        </p:nvSpPr>
        <p:spPr>
          <a:xfrm>
            <a:off x="993853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4" name="Rectangle 13"/>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5" name="Oval 14"/>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9" name="Rounded Rectangle 2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0" name="Rounded Rectangle 2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3" name="Rounded Rectangle 3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7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ectangle 1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6" name="Oval 1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8" name="Oval 2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9" name="Rounded Rectangle 2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0" name="Rounded Rectangle 2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1" name="Rounded Rectangle 30"/>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4" name="Rounded Rectangle 3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8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ounded Rectangle 14"/>
          <p:cNvSpPr/>
          <p:nvPr/>
        </p:nvSpPr>
        <p:spPr>
          <a:xfrm>
            <a:off x="89904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8</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6" name="Rectangle 15"/>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7" name="Oval 16"/>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9" name="Oval 28"/>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30" name="Rounded Rectangle 29"/>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1" name="Rounded Rectangle 30"/>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2" name="Rounded Rectangle 31"/>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4" name="Rounded Rectangle 33"/>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5" name="Rounded Rectangle 34"/>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7" name="Rounded Rectangle 3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COLUMNS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COLUMNS · SUPPORTING DETAIL</a:t>
            </a:r>
          </a:p>
        </p:txBody>
      </p:sp>
      <p:sp>
        <p:nvSpPr>
          <p:cNvPr id="7" name="Rounded Rectangle 6"/>
          <p:cNvSpPr/>
          <p:nvPr/>
        </p:nvSpPr>
        <p:spPr>
          <a:xfrm>
            <a:off x="4572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42664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0756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COLUMNS · SUPPORTING DETAIL</a:t>
            </a:r>
          </a:p>
        </p:txBody>
      </p:sp>
      <p:sp>
        <p:nvSpPr>
          <p:cNvPr id="7" name="Rounded Rectangle 6"/>
          <p:cNvSpPr/>
          <p:nvPr/>
        </p:nvSpPr>
        <p:spPr>
          <a:xfrm>
            <a:off x="45720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274272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502824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731376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1" name="Rounded Rectangle 10"/>
          <p:cNvSpPr/>
          <p:nvPr/>
        </p:nvSpPr>
        <p:spPr>
          <a:xfrm>
            <a:off x="959928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2" name="Rounded Rectangle 1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ROWS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167292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1" name="TextBox 10"/>
          <p:cNvSpPr txBox="1"/>
          <p:nvPr/>
        </p:nvSpPr>
        <p:spPr>
          <a:xfrm>
            <a:off x="3840480" y="167292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2" name="Rounded Rectangle 11"/>
          <p:cNvSpPr/>
          <p:nvPr/>
        </p:nvSpPr>
        <p:spPr>
          <a:xfrm>
            <a:off x="457200" y="2400432"/>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46152"/>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4" name="TextBox 13"/>
          <p:cNvSpPr txBox="1"/>
          <p:nvPr/>
        </p:nvSpPr>
        <p:spPr>
          <a:xfrm>
            <a:off x="3840480" y="2446152"/>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5" name="Rounded Rectangle 14"/>
          <p:cNvSpPr/>
          <p:nvPr/>
        </p:nvSpPr>
        <p:spPr>
          <a:xfrm>
            <a:off x="457200" y="3173664"/>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6" name="TextBox 15"/>
          <p:cNvSpPr txBox="1"/>
          <p:nvPr/>
        </p:nvSpPr>
        <p:spPr>
          <a:xfrm>
            <a:off x="685800" y="3219384"/>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7" name="TextBox 16"/>
          <p:cNvSpPr txBox="1"/>
          <p:nvPr/>
        </p:nvSpPr>
        <p:spPr>
          <a:xfrm>
            <a:off x="3840480" y="3219384"/>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8" name="Rounded Rectangle 17"/>
          <p:cNvSpPr/>
          <p:nvPr/>
        </p:nvSpPr>
        <p:spPr>
          <a:xfrm>
            <a:off x="457200" y="3946896"/>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85800" y="3992616"/>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0" name="TextBox 19"/>
          <p:cNvSpPr txBox="1"/>
          <p:nvPr/>
        </p:nvSpPr>
        <p:spPr>
          <a:xfrm>
            <a:off x="3840480" y="3992616"/>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1" name="Rounded Rectangle 20"/>
          <p:cNvSpPr/>
          <p:nvPr/>
        </p:nvSpPr>
        <p:spPr>
          <a:xfrm>
            <a:off x="457200" y="4720128"/>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4765848"/>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3" name="TextBox 22"/>
          <p:cNvSpPr txBox="1"/>
          <p:nvPr/>
        </p:nvSpPr>
        <p:spPr>
          <a:xfrm>
            <a:off x="3840480" y="4765848"/>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4" name="Rounded Rectangle 23"/>
          <p:cNvSpPr/>
          <p:nvPr/>
        </p:nvSpPr>
        <p:spPr>
          <a:xfrm>
            <a:off x="457200" y="549336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553908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6" name="TextBox 25"/>
          <p:cNvSpPr txBox="1"/>
          <p:nvPr/>
        </p:nvSpPr>
        <p:spPr>
          <a:xfrm>
            <a:off x="3840480" y="553908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TABLE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TextBox 8"/>
          <p:cNvSpPr txBox="1"/>
          <p:nvPr/>
        </p:nvSpPr>
        <p:spPr>
          <a:xfrm>
            <a:off x="640080" y="1535760"/>
            <a:ext cx="30175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0" name="TextBox 9"/>
          <p:cNvSpPr txBox="1"/>
          <p:nvPr/>
        </p:nvSpPr>
        <p:spPr>
          <a:xfrm>
            <a:off x="374904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1" name="TextBox 10"/>
          <p:cNvSpPr txBox="1"/>
          <p:nvPr/>
        </p:nvSpPr>
        <p:spPr>
          <a:xfrm>
            <a:off x="640080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2" name="TextBox 11"/>
          <p:cNvSpPr txBox="1"/>
          <p:nvPr/>
        </p:nvSpPr>
        <p:spPr>
          <a:xfrm>
            <a:off x="9052559"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3" name="Rounded Rectangle 12"/>
          <p:cNvSpPr/>
          <p:nvPr/>
        </p:nvSpPr>
        <p:spPr>
          <a:xfrm>
            <a:off x="457200" y="186494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40080" y="191066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15" name="TextBox 14"/>
          <p:cNvSpPr txBox="1"/>
          <p:nvPr/>
        </p:nvSpPr>
        <p:spPr>
          <a:xfrm>
            <a:off x="374904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6" name="TextBox 15"/>
          <p:cNvSpPr txBox="1"/>
          <p:nvPr/>
        </p:nvSpPr>
        <p:spPr>
          <a:xfrm>
            <a:off x="640080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7" name="TextBox 16"/>
          <p:cNvSpPr txBox="1"/>
          <p:nvPr/>
        </p:nvSpPr>
        <p:spPr>
          <a:xfrm>
            <a:off x="9052559"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8" name="Rounded Rectangle 17"/>
          <p:cNvSpPr/>
          <p:nvPr/>
        </p:nvSpPr>
        <p:spPr>
          <a:xfrm>
            <a:off x="457200" y="2491872"/>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40080" y="2537592"/>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0" name="TextBox 19"/>
          <p:cNvSpPr txBox="1"/>
          <p:nvPr/>
        </p:nvSpPr>
        <p:spPr>
          <a:xfrm>
            <a:off x="374904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1" name="TextBox 20"/>
          <p:cNvSpPr txBox="1"/>
          <p:nvPr/>
        </p:nvSpPr>
        <p:spPr>
          <a:xfrm>
            <a:off x="640080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2" name="TextBox 21"/>
          <p:cNvSpPr txBox="1"/>
          <p:nvPr/>
        </p:nvSpPr>
        <p:spPr>
          <a:xfrm>
            <a:off x="9052559"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3" name="Rounded Rectangle 22"/>
          <p:cNvSpPr/>
          <p:nvPr/>
        </p:nvSpPr>
        <p:spPr>
          <a:xfrm>
            <a:off x="457200" y="3118800"/>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TextBox 23"/>
          <p:cNvSpPr txBox="1"/>
          <p:nvPr/>
        </p:nvSpPr>
        <p:spPr>
          <a:xfrm>
            <a:off x="640080" y="3164520"/>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5" name="TextBox 24"/>
          <p:cNvSpPr txBox="1"/>
          <p:nvPr/>
        </p:nvSpPr>
        <p:spPr>
          <a:xfrm>
            <a:off x="374904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6" name="TextBox 25"/>
          <p:cNvSpPr txBox="1"/>
          <p:nvPr/>
        </p:nvSpPr>
        <p:spPr>
          <a:xfrm>
            <a:off x="640080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7" name="TextBox 26"/>
          <p:cNvSpPr txBox="1"/>
          <p:nvPr/>
        </p:nvSpPr>
        <p:spPr>
          <a:xfrm>
            <a:off x="9052559"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8" name="Rounded Rectangle 27"/>
          <p:cNvSpPr/>
          <p:nvPr/>
        </p:nvSpPr>
        <p:spPr>
          <a:xfrm>
            <a:off x="457200" y="3745728"/>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40080" y="3791448"/>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0" name="TextBox 29"/>
          <p:cNvSpPr txBox="1"/>
          <p:nvPr/>
        </p:nvSpPr>
        <p:spPr>
          <a:xfrm>
            <a:off x="374904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1" name="TextBox 30"/>
          <p:cNvSpPr txBox="1"/>
          <p:nvPr/>
        </p:nvSpPr>
        <p:spPr>
          <a:xfrm>
            <a:off x="640080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2" name="TextBox 31"/>
          <p:cNvSpPr txBox="1"/>
          <p:nvPr/>
        </p:nvSpPr>
        <p:spPr>
          <a:xfrm>
            <a:off x="9052559"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3" name="Rounded Rectangle 32"/>
          <p:cNvSpPr/>
          <p:nvPr/>
        </p:nvSpPr>
        <p:spPr>
          <a:xfrm>
            <a:off x="457200" y="4372656"/>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4" name="TextBox 33"/>
          <p:cNvSpPr txBox="1"/>
          <p:nvPr/>
        </p:nvSpPr>
        <p:spPr>
          <a:xfrm>
            <a:off x="640080" y="4418376"/>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5" name="TextBox 34"/>
          <p:cNvSpPr txBox="1"/>
          <p:nvPr/>
        </p:nvSpPr>
        <p:spPr>
          <a:xfrm>
            <a:off x="374904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6" name="TextBox 35"/>
          <p:cNvSpPr txBox="1"/>
          <p:nvPr/>
        </p:nvSpPr>
        <p:spPr>
          <a:xfrm>
            <a:off x="640080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7" name="TextBox 36"/>
          <p:cNvSpPr txBox="1"/>
          <p:nvPr/>
        </p:nvSpPr>
        <p:spPr>
          <a:xfrm>
            <a:off x="9052559"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8" name="Rounded Rectangle 37"/>
          <p:cNvSpPr/>
          <p:nvPr/>
        </p:nvSpPr>
        <p:spPr>
          <a:xfrm>
            <a:off x="457200" y="499958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40080" y="504530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40" name="TextBox 39"/>
          <p:cNvSpPr txBox="1"/>
          <p:nvPr/>
        </p:nvSpPr>
        <p:spPr>
          <a:xfrm>
            <a:off x="374904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1" name="TextBox 40"/>
          <p:cNvSpPr txBox="1"/>
          <p:nvPr/>
        </p:nvSpPr>
        <p:spPr>
          <a:xfrm>
            <a:off x="640080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2" name="TextBox 41"/>
          <p:cNvSpPr txBox="1"/>
          <p:nvPr/>
        </p:nvSpPr>
        <p:spPr>
          <a:xfrm>
            <a:off x="9052559"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TWO SIDES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5228800" cy="3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[Side A: for example, how it works today]</a:t>
            </a:r>
          </a:p>
          <a:p>
            <a:pPr algn="l">
              <a:spcAft>
                <a:spcPts val="500"/>
              </a:spcAft>
            </a:pPr>
            <a:r>
              <a:rPr sz="1300" b="0" i="1">
                <a:solidFill>
                  <a:srgbClr val="60607D"/>
                </a:solidFill>
              </a:rPr>
              <a:t>[Put here: short bullets.]</a:t>
            </a:r>
          </a:p>
        </p:txBody>
      </p:sp>
      <p:sp>
        <p:nvSpPr>
          <p:cNvPr id="10" name="Rounded Rectangle 9"/>
          <p:cNvSpPr/>
          <p:nvPr/>
        </p:nvSpPr>
        <p:spPr>
          <a:xfrm>
            <a:off x="6506000" y="1627200"/>
            <a:ext cx="5228800" cy="3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[Side B: for example, how it will work]</a:t>
            </a:r>
          </a:p>
          <a:p>
            <a:pPr algn="l">
              <a:spcAft>
                <a:spcPts val="500"/>
              </a:spcAft>
            </a:pPr>
            <a:r>
              <a:rPr sz="1300" b="0" i="1">
                <a:solidFill>
                  <a:srgbClr val="D6D6DF"/>
                </a:solidFill>
              </a:rPr>
              <a:t>[Put here: short bullets.]</a:t>
            </a:r>
          </a:p>
        </p:txBody>
      </p:sp>
      <p:sp>
        <p:nvSpPr>
          <p:cNvPr id="11" name="Right Arrow 10"/>
          <p:cNvSpPr/>
          <p:nvPr/>
        </p:nvSpPr>
        <p:spPr>
          <a:xfrm>
            <a:off x="5836000" y="3137200"/>
            <a:ext cx="67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457200" y="5450000"/>
            <a:ext cx="11277600" cy="8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So what</a:t>
            </a:r>
          </a:p>
          <a:p>
            <a:pPr algn="l"/>
            <a:r>
              <a:rPr sz="1400" b="0" i="1">
                <a:solidFill>
                  <a:srgbClr val="D6D6DF"/>
                </a:solidFill>
              </a:rPr>
              <a:t>[Optional: the one thing to take away from the comparison.]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CARD GRID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0" name="Rounded Rectangle 9"/>
          <p:cNvSpPr/>
          <p:nvPr/>
        </p:nvSpPr>
        <p:spPr>
          <a:xfrm>
            <a:off x="42664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1" name="Rounded Rectangle 10"/>
          <p:cNvSpPr/>
          <p:nvPr/>
        </p:nvSpPr>
        <p:spPr>
          <a:xfrm>
            <a:off x="80756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2" name="Rounded Rectangle 11"/>
          <p:cNvSpPr/>
          <p:nvPr/>
        </p:nvSpPr>
        <p:spPr>
          <a:xfrm>
            <a:off x="4572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3" name="Rounded Rectangle 12"/>
          <p:cNvSpPr/>
          <p:nvPr/>
        </p:nvSpPr>
        <p:spPr>
          <a:xfrm>
            <a:off x="42664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4" name="Rounded Rectangle 13"/>
          <p:cNvSpPr/>
          <p:nvPr/>
        </p:nvSpPr>
        <p:spPr>
          <a:xfrm>
            <a:off x="80756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IMAGE WITH CALLOUTS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6949440" cy="4622800"/>
          </a:xfrm>
          <a:prstGeom prst="roundRect">
            <a:avLst>
              <a:gd name="adj" fmla="val 2400"/>
            </a:avLst>
          </a:prstGeom>
          <a:solidFill>
            <a:srgbClr val="FFFFFF"/>
          </a:solidFill>
          <a:ln w="19050">
            <a:solidFill>
              <a:srgbClr val="D6D6DF"/>
            </a:solidFill>
            <a:prstDash val="dash"/>
          </a:ln>
        </p:spPr>
        <p:txBody>
          <a:bodyPr rtlCol="0" anchor="ctr"/>
          <a:lstStyle/>
          <a:p>
            <a:pPr algn="ctr"/>
            <a:r>
              <a:rPr sz="1400" b="0" i="1">
                <a:solidFill>
                  <a:srgbClr val="60607D"/>
                </a:solidFill>
              </a:rPr>
              <a:t>[Paste a screenshot or image here]</a:t>
            </a:r>
          </a:p>
        </p:txBody>
      </p:sp>
      <p:sp>
        <p:nvSpPr>
          <p:cNvPr id="10" name="Oval 9"/>
          <p:cNvSpPr/>
          <p:nvPr/>
        </p:nvSpPr>
        <p:spPr>
          <a:xfrm>
            <a:off x="7726680" y="1672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1" name="TextBox 10"/>
          <p:cNvSpPr txBox="1"/>
          <p:nvPr/>
        </p:nvSpPr>
        <p:spPr>
          <a:xfrm>
            <a:off x="8183880" y="1627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2" name="Oval 11"/>
          <p:cNvSpPr/>
          <p:nvPr/>
        </p:nvSpPr>
        <p:spPr>
          <a:xfrm>
            <a:off x="7726680" y="2815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13" name="TextBox 12"/>
          <p:cNvSpPr txBox="1"/>
          <p:nvPr/>
        </p:nvSpPr>
        <p:spPr>
          <a:xfrm>
            <a:off x="8183880" y="2770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4" name="Oval 13"/>
          <p:cNvSpPr/>
          <p:nvPr/>
        </p:nvSpPr>
        <p:spPr>
          <a:xfrm>
            <a:off x="7726680" y="3958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15" name="TextBox 14"/>
          <p:cNvSpPr txBox="1"/>
          <p:nvPr/>
        </p:nvSpPr>
        <p:spPr>
          <a:xfrm>
            <a:off x="8183880" y="3913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6" name="Oval 15"/>
          <p:cNvSpPr/>
          <p:nvPr/>
        </p:nvSpPr>
        <p:spPr>
          <a:xfrm>
            <a:off x="7726680" y="5101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17" name="TextBox 16"/>
          <p:cNvSpPr txBox="1"/>
          <p:nvPr/>
        </p:nvSpPr>
        <p:spPr>
          <a:xfrm>
            <a:off x="8183880" y="5056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Adoption &amp; change management</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A plan for the four things that make a change stick: strategy, communications, enablement, and measuring.</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change only works if people actually adopt it.</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